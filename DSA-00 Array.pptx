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2" r:id="rId3"/>
    <p:sldId id="257" r:id="rId4"/>
    <p:sldId id="259" r:id="rId5"/>
    <p:sldId id="260" r:id="rId6"/>
    <p:sldId id="258" r:id="rId7"/>
    <p:sldId id="261" r:id="rId8"/>
    <p:sldId id="262" r:id="rId9"/>
    <p:sldId id="263" r:id="rId10"/>
    <p:sldId id="264" r:id="rId11"/>
    <p:sldId id="265" r:id="rId12"/>
    <p:sldId id="273" r:id="rId13"/>
    <p:sldId id="274" r:id="rId14"/>
    <p:sldId id="275" r:id="rId15"/>
    <p:sldId id="276" r:id="rId16"/>
    <p:sldId id="266" r:id="rId17"/>
    <p:sldId id="267" r:id="rId18"/>
    <p:sldId id="268" r:id="rId19"/>
    <p:sldId id="269" r:id="rId20"/>
    <p:sldId id="270" r:id="rId21"/>
    <p:sldId id="271"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305" r:id="rId42"/>
    <p:sldId id="304" r:id="rId43"/>
    <p:sldId id="306" r:id="rId44"/>
    <p:sldId id="296" r:id="rId45"/>
    <p:sldId id="297" r:id="rId46"/>
    <p:sldId id="298" r:id="rId47"/>
    <p:sldId id="299" r:id="rId48"/>
    <p:sldId id="300" r:id="rId49"/>
    <p:sldId id="301" r:id="rId50"/>
    <p:sldId id="302" r:id="rId51"/>
    <p:sldId id="303"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476"/>
  </p:normalViewPr>
  <p:slideViewPr>
    <p:cSldViewPr snapToGrid="0">
      <p:cViewPr varScale="1">
        <p:scale>
          <a:sx n="84" d="100"/>
          <a:sy n="84" d="100"/>
        </p:scale>
        <p:origin x="11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3DA9-E962-4670-597E-4C9CD6E412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8A4FBF-5D81-57BE-89DE-B6FA9BF84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41C1BF3-77AA-DB2E-1DF0-59825E936C91}"/>
              </a:ext>
            </a:extLst>
          </p:cNvPr>
          <p:cNvSpPr>
            <a:spLocks noGrp="1"/>
          </p:cNvSpPr>
          <p:nvPr>
            <p:ph type="dt" sz="half" idx="10"/>
          </p:nvPr>
        </p:nvSpPr>
        <p:spPr/>
        <p:txBody>
          <a:bodyPr/>
          <a:lstStyle/>
          <a:p>
            <a:fld id="{A0723D25-A2BC-274F-A813-3B06A34CD740}" type="datetimeFigureOut">
              <a:rPr lang="en-US" smtClean="0"/>
              <a:t>2/23/26</a:t>
            </a:fld>
            <a:endParaRPr lang="en-US"/>
          </a:p>
        </p:txBody>
      </p:sp>
      <p:sp>
        <p:nvSpPr>
          <p:cNvPr id="5" name="Footer Placeholder 4">
            <a:extLst>
              <a:ext uri="{FF2B5EF4-FFF2-40B4-BE49-F238E27FC236}">
                <a16:creationId xmlns:a16="http://schemas.microsoft.com/office/drawing/2014/main" id="{CE3CE1A2-B778-3FDB-D880-08BE937EC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08238-AAA3-EB3D-2030-44EF2A37997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45142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67AC-4F97-8FBD-F886-632779C39B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2DEEFE-F85E-366F-23C8-D0A0CF0DE75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05F2CC-507C-6795-51B2-16D8369183A2}"/>
              </a:ext>
            </a:extLst>
          </p:cNvPr>
          <p:cNvSpPr>
            <a:spLocks noGrp="1"/>
          </p:cNvSpPr>
          <p:nvPr>
            <p:ph type="dt" sz="half" idx="10"/>
          </p:nvPr>
        </p:nvSpPr>
        <p:spPr/>
        <p:txBody>
          <a:bodyPr/>
          <a:lstStyle/>
          <a:p>
            <a:fld id="{A0723D25-A2BC-274F-A813-3B06A34CD740}" type="datetimeFigureOut">
              <a:rPr lang="en-US" smtClean="0"/>
              <a:t>2/23/26</a:t>
            </a:fld>
            <a:endParaRPr lang="en-US"/>
          </a:p>
        </p:txBody>
      </p:sp>
      <p:sp>
        <p:nvSpPr>
          <p:cNvPr id="5" name="Footer Placeholder 4">
            <a:extLst>
              <a:ext uri="{FF2B5EF4-FFF2-40B4-BE49-F238E27FC236}">
                <a16:creationId xmlns:a16="http://schemas.microsoft.com/office/drawing/2014/main" id="{30FB82C6-AB76-B50D-7079-FDBED2613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78F90-9858-319E-2D9B-7BED7DF7566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558895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A475C-D161-EE28-37F5-01CB65945D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B58EAF-9EA6-FAC9-DA83-5EE92332DB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6AD692-8F1E-78AF-D6FB-97D1B99B1904}"/>
              </a:ext>
            </a:extLst>
          </p:cNvPr>
          <p:cNvSpPr>
            <a:spLocks noGrp="1"/>
          </p:cNvSpPr>
          <p:nvPr>
            <p:ph type="dt" sz="half" idx="10"/>
          </p:nvPr>
        </p:nvSpPr>
        <p:spPr/>
        <p:txBody>
          <a:bodyPr/>
          <a:lstStyle/>
          <a:p>
            <a:fld id="{A0723D25-A2BC-274F-A813-3B06A34CD740}" type="datetimeFigureOut">
              <a:rPr lang="en-US" smtClean="0"/>
              <a:t>2/23/26</a:t>
            </a:fld>
            <a:endParaRPr lang="en-US"/>
          </a:p>
        </p:txBody>
      </p:sp>
      <p:sp>
        <p:nvSpPr>
          <p:cNvPr id="5" name="Footer Placeholder 4">
            <a:extLst>
              <a:ext uri="{FF2B5EF4-FFF2-40B4-BE49-F238E27FC236}">
                <a16:creationId xmlns:a16="http://schemas.microsoft.com/office/drawing/2014/main" id="{3DD4BDEE-322C-86FB-1990-5B3835015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36F1F5-8E08-10FB-70B6-3E0EE445BF80}"/>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2937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B37A-3FC4-9E76-E7FD-2835B53B9EB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E7647AC-F0F5-A131-8418-3C843D871C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6D75A3F-F688-26A1-0A51-DE674F9FDF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98B083-258B-212A-DEA0-7D0C49DAFA6B}"/>
              </a:ext>
            </a:extLst>
          </p:cNvPr>
          <p:cNvSpPr>
            <a:spLocks noGrp="1"/>
          </p:cNvSpPr>
          <p:nvPr>
            <p:ph type="dt" sz="half" idx="10"/>
          </p:nvPr>
        </p:nvSpPr>
        <p:spPr/>
        <p:txBody>
          <a:bodyPr/>
          <a:lstStyle/>
          <a:p>
            <a:fld id="{A0723D25-A2BC-274F-A813-3B06A34CD740}" type="datetimeFigureOut">
              <a:rPr lang="en-US" smtClean="0"/>
              <a:t>2/23/26</a:t>
            </a:fld>
            <a:endParaRPr lang="en-US"/>
          </a:p>
        </p:txBody>
      </p:sp>
      <p:sp>
        <p:nvSpPr>
          <p:cNvPr id="6" name="Footer Placeholder 5">
            <a:extLst>
              <a:ext uri="{FF2B5EF4-FFF2-40B4-BE49-F238E27FC236}">
                <a16:creationId xmlns:a16="http://schemas.microsoft.com/office/drawing/2014/main" id="{CB592C50-0793-6A57-870E-22B7BD618C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D6423-EEDD-EBD2-1637-86B04459E90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370706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1BA5-617B-7CDB-72DD-34B6798B3B1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C80CCF-7651-8CCF-9517-5870109B8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D4BCFD4-2E93-06B8-C482-0D21CC1EBE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660270-A358-7E87-C238-0769FE0FB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8E7A0AE-4CFF-347C-E881-82620BD145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B7C6E51-FCC1-52F4-C78F-B887C1FA308A}"/>
              </a:ext>
            </a:extLst>
          </p:cNvPr>
          <p:cNvSpPr>
            <a:spLocks noGrp="1"/>
          </p:cNvSpPr>
          <p:nvPr>
            <p:ph type="dt" sz="half" idx="10"/>
          </p:nvPr>
        </p:nvSpPr>
        <p:spPr/>
        <p:txBody>
          <a:bodyPr/>
          <a:lstStyle/>
          <a:p>
            <a:fld id="{A0723D25-A2BC-274F-A813-3B06A34CD740}" type="datetimeFigureOut">
              <a:rPr lang="en-US" smtClean="0"/>
              <a:t>2/23/26</a:t>
            </a:fld>
            <a:endParaRPr lang="en-US"/>
          </a:p>
        </p:txBody>
      </p:sp>
      <p:sp>
        <p:nvSpPr>
          <p:cNvPr id="8" name="Footer Placeholder 7">
            <a:extLst>
              <a:ext uri="{FF2B5EF4-FFF2-40B4-BE49-F238E27FC236}">
                <a16:creationId xmlns:a16="http://schemas.microsoft.com/office/drawing/2014/main" id="{BE576F17-2F94-52B2-6671-B20FA66ACE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1D5A75-636E-B0D0-E178-8EAFE094029B}"/>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882323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FB98-7E1E-0B36-4C0F-D927C13AD6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8F3EE1B-ED62-BEF9-34E2-222A596BDF57}"/>
              </a:ext>
            </a:extLst>
          </p:cNvPr>
          <p:cNvSpPr>
            <a:spLocks noGrp="1"/>
          </p:cNvSpPr>
          <p:nvPr>
            <p:ph type="dt" sz="half" idx="10"/>
          </p:nvPr>
        </p:nvSpPr>
        <p:spPr/>
        <p:txBody>
          <a:bodyPr/>
          <a:lstStyle/>
          <a:p>
            <a:fld id="{A0723D25-A2BC-274F-A813-3B06A34CD740}" type="datetimeFigureOut">
              <a:rPr lang="en-US" smtClean="0"/>
              <a:t>2/23/26</a:t>
            </a:fld>
            <a:endParaRPr lang="en-US"/>
          </a:p>
        </p:txBody>
      </p:sp>
      <p:sp>
        <p:nvSpPr>
          <p:cNvPr id="4" name="Footer Placeholder 3">
            <a:extLst>
              <a:ext uri="{FF2B5EF4-FFF2-40B4-BE49-F238E27FC236}">
                <a16:creationId xmlns:a16="http://schemas.microsoft.com/office/drawing/2014/main" id="{DFF261D6-18DB-9A91-C126-DD2F5E2E45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059ADF-81AA-2B42-2EBB-820240321765}"/>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865106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1D2292-CA5F-4083-1A9A-EB2B58E19240}"/>
              </a:ext>
            </a:extLst>
          </p:cNvPr>
          <p:cNvSpPr>
            <a:spLocks noGrp="1"/>
          </p:cNvSpPr>
          <p:nvPr>
            <p:ph type="dt" sz="half" idx="10"/>
          </p:nvPr>
        </p:nvSpPr>
        <p:spPr/>
        <p:txBody>
          <a:bodyPr/>
          <a:lstStyle/>
          <a:p>
            <a:fld id="{A0723D25-A2BC-274F-A813-3B06A34CD740}" type="datetimeFigureOut">
              <a:rPr lang="en-US" smtClean="0"/>
              <a:t>2/23/26</a:t>
            </a:fld>
            <a:endParaRPr lang="en-US"/>
          </a:p>
        </p:txBody>
      </p:sp>
      <p:sp>
        <p:nvSpPr>
          <p:cNvPr id="3" name="Footer Placeholder 2">
            <a:extLst>
              <a:ext uri="{FF2B5EF4-FFF2-40B4-BE49-F238E27FC236}">
                <a16:creationId xmlns:a16="http://schemas.microsoft.com/office/drawing/2014/main" id="{8F12B3B1-82D6-97E3-D949-FFB7FA90F6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19118-D5E2-7F99-490E-D0B7E1DF8A4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59130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26D8-8282-46D6-DCD3-C429D78063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A29B8B-7B37-8054-3412-78ED6298B2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93CB76E-5538-EFF5-3840-3F95921DE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469B70-8065-08A4-BEA2-BEB45F6659CA}"/>
              </a:ext>
            </a:extLst>
          </p:cNvPr>
          <p:cNvSpPr>
            <a:spLocks noGrp="1"/>
          </p:cNvSpPr>
          <p:nvPr>
            <p:ph type="dt" sz="half" idx="10"/>
          </p:nvPr>
        </p:nvSpPr>
        <p:spPr/>
        <p:txBody>
          <a:bodyPr/>
          <a:lstStyle/>
          <a:p>
            <a:fld id="{A0723D25-A2BC-274F-A813-3B06A34CD740}" type="datetimeFigureOut">
              <a:rPr lang="en-US" smtClean="0"/>
              <a:t>2/23/26</a:t>
            </a:fld>
            <a:endParaRPr lang="en-US"/>
          </a:p>
        </p:txBody>
      </p:sp>
      <p:sp>
        <p:nvSpPr>
          <p:cNvPr id="6" name="Footer Placeholder 5">
            <a:extLst>
              <a:ext uri="{FF2B5EF4-FFF2-40B4-BE49-F238E27FC236}">
                <a16:creationId xmlns:a16="http://schemas.microsoft.com/office/drawing/2014/main" id="{0969013F-2801-2160-2F4C-465578780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1CEC8-65E3-3969-42AC-F0ED6B13F508}"/>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601936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61C37-17AA-33E3-0390-EA606A3581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B43312D-93EC-9C8A-CE05-8F6E26D5B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453B4D-6A39-F2C2-0AC5-90587FC97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2A5798-F966-6273-EF24-8C2072EB6630}"/>
              </a:ext>
            </a:extLst>
          </p:cNvPr>
          <p:cNvSpPr>
            <a:spLocks noGrp="1"/>
          </p:cNvSpPr>
          <p:nvPr>
            <p:ph type="dt" sz="half" idx="10"/>
          </p:nvPr>
        </p:nvSpPr>
        <p:spPr/>
        <p:txBody>
          <a:bodyPr/>
          <a:lstStyle/>
          <a:p>
            <a:fld id="{A0723D25-A2BC-274F-A813-3B06A34CD740}" type="datetimeFigureOut">
              <a:rPr lang="en-US" smtClean="0"/>
              <a:t>2/23/26</a:t>
            </a:fld>
            <a:endParaRPr lang="en-US"/>
          </a:p>
        </p:txBody>
      </p:sp>
      <p:sp>
        <p:nvSpPr>
          <p:cNvPr id="6" name="Footer Placeholder 5">
            <a:extLst>
              <a:ext uri="{FF2B5EF4-FFF2-40B4-BE49-F238E27FC236}">
                <a16:creationId xmlns:a16="http://schemas.microsoft.com/office/drawing/2014/main" id="{8FA438AC-0EF4-6EFF-7122-AA7AF380C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B676E-8BCB-855E-469D-77726A6708B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472573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BF2D-DC52-AB82-D456-A9F7669986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75B52E-7C17-9742-93F2-6FBCC7C9AF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F82469-B56D-D697-74FA-E8852CA9F19B}"/>
              </a:ext>
            </a:extLst>
          </p:cNvPr>
          <p:cNvSpPr>
            <a:spLocks noGrp="1"/>
          </p:cNvSpPr>
          <p:nvPr>
            <p:ph type="dt" sz="half" idx="10"/>
          </p:nvPr>
        </p:nvSpPr>
        <p:spPr/>
        <p:txBody>
          <a:bodyPr/>
          <a:lstStyle/>
          <a:p>
            <a:fld id="{A0723D25-A2BC-274F-A813-3B06A34CD740}" type="datetimeFigureOut">
              <a:rPr lang="en-US" smtClean="0"/>
              <a:t>2/23/26</a:t>
            </a:fld>
            <a:endParaRPr lang="en-US"/>
          </a:p>
        </p:txBody>
      </p:sp>
      <p:sp>
        <p:nvSpPr>
          <p:cNvPr id="5" name="Footer Placeholder 4">
            <a:extLst>
              <a:ext uri="{FF2B5EF4-FFF2-40B4-BE49-F238E27FC236}">
                <a16:creationId xmlns:a16="http://schemas.microsoft.com/office/drawing/2014/main" id="{BA63B3DD-0851-EDC4-7258-094C58713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433DF-7287-31EC-DC3D-5EF75C9DE25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06682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12A4E-DB63-F42E-FEFE-81BF1DF702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05DC2C-31FB-BE5D-E312-3459A2BF67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695E30-A15F-0592-C0C0-D84705897AB9}"/>
              </a:ext>
            </a:extLst>
          </p:cNvPr>
          <p:cNvSpPr>
            <a:spLocks noGrp="1"/>
          </p:cNvSpPr>
          <p:nvPr>
            <p:ph type="dt" sz="half" idx="10"/>
          </p:nvPr>
        </p:nvSpPr>
        <p:spPr/>
        <p:txBody>
          <a:bodyPr/>
          <a:lstStyle/>
          <a:p>
            <a:fld id="{A0723D25-A2BC-274F-A813-3B06A34CD740}" type="datetimeFigureOut">
              <a:rPr lang="en-US" smtClean="0"/>
              <a:t>2/23/26</a:t>
            </a:fld>
            <a:endParaRPr lang="en-US"/>
          </a:p>
        </p:txBody>
      </p:sp>
      <p:sp>
        <p:nvSpPr>
          <p:cNvPr id="5" name="Footer Placeholder 4">
            <a:extLst>
              <a:ext uri="{FF2B5EF4-FFF2-40B4-BE49-F238E27FC236}">
                <a16:creationId xmlns:a16="http://schemas.microsoft.com/office/drawing/2014/main" id="{2923656B-61F3-0BFE-4769-187DCA8F8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27752-34F9-D1E1-FF95-25144EC8A666}"/>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49783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CA833E-D2CB-6565-D916-D9A794C0DF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EA88AD-984A-6993-4F53-7E5A42031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22DD2F-4490-A570-F314-42C5AE24F8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723D25-A2BC-274F-A813-3B06A34CD740}" type="datetimeFigureOut">
              <a:rPr lang="en-US" smtClean="0"/>
              <a:t>2/23/26</a:t>
            </a:fld>
            <a:endParaRPr lang="en-US"/>
          </a:p>
        </p:txBody>
      </p:sp>
      <p:sp>
        <p:nvSpPr>
          <p:cNvPr id="5" name="Footer Placeholder 4">
            <a:extLst>
              <a:ext uri="{FF2B5EF4-FFF2-40B4-BE49-F238E27FC236}">
                <a16:creationId xmlns:a16="http://schemas.microsoft.com/office/drawing/2014/main" id="{20975424-8CF4-072B-CAE3-58BD17272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E590F5-3CB3-DFF2-DE46-0A76F551A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E5FEBB-C89D-0C42-8AB8-154526A1FE25}" type="slidenum">
              <a:rPr lang="en-US" smtClean="0"/>
              <a:t>‹#›</a:t>
            </a:fld>
            <a:endParaRPr lang="en-US"/>
          </a:p>
        </p:txBody>
      </p:sp>
    </p:spTree>
    <p:extLst>
      <p:ext uri="{BB962C8B-B14F-4D97-AF65-F5344CB8AC3E}">
        <p14:creationId xmlns:p14="http://schemas.microsoft.com/office/powerpoint/2010/main" val="2120847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040E-2D3D-6833-C463-92F398723407}"/>
              </a:ext>
            </a:extLst>
          </p:cNvPr>
          <p:cNvSpPr>
            <a:spLocks noGrp="1"/>
          </p:cNvSpPr>
          <p:nvPr>
            <p:ph type="ctrTitle"/>
          </p:nvPr>
        </p:nvSpPr>
        <p:spPr/>
        <p:txBody>
          <a:bodyPr/>
          <a:lstStyle/>
          <a:p>
            <a:r>
              <a:rPr lang="en-US" dirty="0"/>
              <a:t>Understanding Array in Java</a:t>
            </a:r>
          </a:p>
        </p:txBody>
      </p:sp>
      <p:sp>
        <p:nvSpPr>
          <p:cNvPr id="3" name="Subtitle 2">
            <a:extLst>
              <a:ext uri="{FF2B5EF4-FFF2-40B4-BE49-F238E27FC236}">
                <a16:creationId xmlns:a16="http://schemas.microsoft.com/office/drawing/2014/main" id="{850E0D38-6295-EB40-A50D-CED5DB05B4BF}"/>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381946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DFA10-4A43-B9F8-27EF-FF531CBE4961}"/>
              </a:ext>
            </a:extLst>
          </p:cNvPr>
          <p:cNvSpPr>
            <a:spLocks noGrp="1"/>
          </p:cNvSpPr>
          <p:nvPr>
            <p:ph type="title"/>
          </p:nvPr>
        </p:nvSpPr>
        <p:spPr/>
        <p:txBody>
          <a:bodyPr/>
          <a:lstStyle/>
          <a:p>
            <a:r>
              <a:rPr lang="en-IN" b="1" i="0" dirty="0">
                <a:effectLst/>
                <a:latin typeface="Google Sans"/>
              </a:rPr>
              <a:t>Core Concepts</a:t>
            </a:r>
            <a:endParaRPr lang="en-US" dirty="0"/>
          </a:p>
        </p:txBody>
      </p:sp>
      <p:sp>
        <p:nvSpPr>
          <p:cNvPr id="3" name="Content Placeholder 2">
            <a:extLst>
              <a:ext uri="{FF2B5EF4-FFF2-40B4-BE49-F238E27FC236}">
                <a16:creationId xmlns:a16="http://schemas.microsoft.com/office/drawing/2014/main" id="{B09366B9-E64B-6717-A1AE-6D0128D119D0}"/>
              </a:ext>
            </a:extLst>
          </p:cNvPr>
          <p:cNvSpPr>
            <a:spLocks noGrp="1"/>
          </p:cNvSpPr>
          <p:nvPr>
            <p:ph idx="1"/>
          </p:nvPr>
        </p:nvSpPr>
        <p:spPr/>
        <p:txBody>
          <a:bodyPr>
            <a:normAutofit fontScale="70000" lnSpcReduction="20000"/>
          </a:bodyPr>
          <a:lstStyle/>
          <a:p>
            <a:pPr algn="l">
              <a:buFont typeface="Arial" panose="020B0604020202020204" pitchFamily="34" charset="0"/>
              <a:buChar char="•"/>
            </a:pPr>
            <a:r>
              <a:rPr lang="en-IN" b="1" i="0" dirty="0">
                <a:effectLst/>
                <a:latin typeface="Google Sans"/>
              </a:rPr>
              <a:t>Homogeneous Data</a:t>
            </a:r>
            <a:r>
              <a:rPr lang="en-IN" b="0" i="0" dirty="0">
                <a:effectLst/>
                <a:latin typeface="Google Sans"/>
              </a:rPr>
              <a:t> Arrays can only store elements of a single, consistent type, which can be either primitive data types (like int, char, </a:t>
            </a:r>
            <a:r>
              <a:rPr lang="en-IN" b="0" i="0" dirty="0" err="1">
                <a:effectLst/>
                <a:latin typeface="Google Sans"/>
              </a:rPr>
              <a:t>boolean</a:t>
            </a:r>
            <a:r>
              <a:rPr lang="en-IN" b="0" i="0" dirty="0">
                <a:effectLst/>
                <a:latin typeface="Google Sans"/>
              </a:rPr>
              <a:t>) or objects (like String, Integer, or user-defined classes).</a:t>
            </a:r>
          </a:p>
          <a:p>
            <a:pPr algn="l">
              <a:buFont typeface="Arial" panose="020B0604020202020204" pitchFamily="34" charset="0"/>
              <a:buChar char="•"/>
            </a:pPr>
            <a:endParaRPr lang="en-IN" b="1" i="0" dirty="0">
              <a:effectLst/>
              <a:latin typeface="Google Sans"/>
            </a:endParaRPr>
          </a:p>
          <a:p>
            <a:pPr algn="l">
              <a:buFont typeface="Arial" panose="020B0604020202020204" pitchFamily="34" charset="0"/>
              <a:buChar char="•"/>
            </a:pPr>
            <a:r>
              <a:rPr lang="en-IN" b="1" i="0" dirty="0">
                <a:effectLst/>
                <a:latin typeface="Google Sans"/>
              </a:rPr>
              <a:t>Fixed Size</a:t>
            </a:r>
            <a:r>
              <a:rPr lang="en-IN" b="0" i="0" dirty="0">
                <a:effectLst/>
                <a:latin typeface="Google Sans"/>
              </a:rPr>
              <a:t> The size of an array is determined when it is created (instantiated) and cannot be changed afterward. To use a dynamic, resizable collection, the </a:t>
            </a:r>
            <a:r>
              <a:rPr lang="en-IN" b="0" i="0" dirty="0" err="1">
                <a:effectLst/>
                <a:latin typeface="Google Sans"/>
              </a:rPr>
              <a:t>ArrayList</a:t>
            </a:r>
            <a:r>
              <a:rPr lang="en-IN" b="0" i="0" dirty="0">
                <a:effectLst/>
                <a:latin typeface="Google Sans"/>
              </a:rPr>
              <a:t> class is recommended.</a:t>
            </a:r>
          </a:p>
          <a:p>
            <a:pPr algn="l">
              <a:buFont typeface="Arial" panose="020B0604020202020204" pitchFamily="34" charset="0"/>
              <a:buChar char="•"/>
            </a:pPr>
            <a:endParaRPr lang="en-IN" b="1" i="0" dirty="0">
              <a:effectLst/>
              <a:latin typeface="Google Sans"/>
            </a:endParaRPr>
          </a:p>
          <a:p>
            <a:pPr algn="l">
              <a:buFont typeface="Arial" panose="020B0604020202020204" pitchFamily="34" charset="0"/>
              <a:buChar char="•"/>
            </a:pPr>
            <a:r>
              <a:rPr lang="en-IN" b="1" i="0" dirty="0">
                <a:effectLst/>
                <a:latin typeface="Google Sans"/>
              </a:rPr>
              <a:t>Zero-Indexed</a:t>
            </a:r>
            <a:r>
              <a:rPr lang="en-IN" b="0" i="0" dirty="0">
                <a:effectLst/>
                <a:latin typeface="Google Sans"/>
              </a:rPr>
              <a:t> The first element of an array is accessed using index 0, the second at index 1, and so on, up to </a:t>
            </a:r>
            <a:r>
              <a:rPr lang="en-IN" b="0" i="0" dirty="0" err="1">
                <a:effectLst/>
                <a:latin typeface="Google Sans"/>
              </a:rPr>
              <a:t>array.length</a:t>
            </a:r>
            <a:r>
              <a:rPr lang="en-IN" b="0" i="0" dirty="0">
                <a:effectLst/>
                <a:latin typeface="Google Sans"/>
              </a:rPr>
              <a:t> - 1.</a:t>
            </a:r>
          </a:p>
          <a:p>
            <a:pPr algn="l">
              <a:buFont typeface="Arial" panose="020B0604020202020204" pitchFamily="34" charset="0"/>
              <a:buChar char="•"/>
            </a:pPr>
            <a:endParaRPr lang="en-IN" b="1" i="0" dirty="0">
              <a:effectLst/>
              <a:latin typeface="Google Sans"/>
            </a:endParaRPr>
          </a:p>
          <a:p>
            <a:pPr algn="l">
              <a:buFont typeface="Arial" panose="020B0604020202020204" pitchFamily="34" charset="0"/>
              <a:buChar char="•"/>
            </a:pPr>
            <a:r>
              <a:rPr lang="en-IN" b="1" i="0" dirty="0">
                <a:effectLst/>
                <a:latin typeface="Google Sans"/>
              </a:rPr>
              <a:t>Objects in Java</a:t>
            </a:r>
            <a:r>
              <a:rPr lang="en-IN" b="0" i="0" dirty="0">
                <a:effectLst/>
                <a:latin typeface="Google Sans"/>
              </a:rPr>
              <a:t> Arrays are objects and implicitly inherit from </a:t>
            </a:r>
            <a:r>
              <a:rPr lang="en-IN" b="0" i="0" dirty="0" err="1">
                <a:effectLst/>
                <a:latin typeface="Google Sans"/>
              </a:rPr>
              <a:t>java.lang.Object</a:t>
            </a:r>
            <a:r>
              <a:rPr lang="en-IN" b="0" i="0" dirty="0">
                <a:effectLst/>
                <a:latin typeface="Google Sans"/>
              </a:rPr>
              <a:t>. Memory for arrays is dynamically allocated on the heap segment. </a:t>
            </a:r>
          </a:p>
          <a:p>
            <a:br>
              <a:rPr lang="en-IN" dirty="0"/>
            </a:br>
            <a:endParaRPr lang="en-US" dirty="0"/>
          </a:p>
        </p:txBody>
      </p:sp>
    </p:spTree>
    <p:extLst>
      <p:ext uri="{BB962C8B-B14F-4D97-AF65-F5344CB8AC3E}">
        <p14:creationId xmlns:p14="http://schemas.microsoft.com/office/powerpoint/2010/main" val="3197140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599E5-9864-A463-606A-23D47F6DED16}"/>
              </a:ext>
            </a:extLst>
          </p:cNvPr>
          <p:cNvSpPr>
            <a:spLocks noGrp="1"/>
          </p:cNvSpPr>
          <p:nvPr>
            <p:ph type="title"/>
          </p:nvPr>
        </p:nvSpPr>
        <p:spPr/>
        <p:txBody>
          <a:bodyPr/>
          <a:lstStyle/>
          <a:p>
            <a:r>
              <a:rPr lang="en-US" dirty="0"/>
              <a:t>Array in Java </a:t>
            </a:r>
          </a:p>
        </p:txBody>
      </p:sp>
      <p:sp>
        <p:nvSpPr>
          <p:cNvPr id="3" name="Content Placeholder 2">
            <a:extLst>
              <a:ext uri="{FF2B5EF4-FFF2-40B4-BE49-F238E27FC236}">
                <a16:creationId xmlns:a16="http://schemas.microsoft.com/office/drawing/2014/main" id="{510C448B-A6D7-9061-DDF0-450EC33A12C1}"/>
              </a:ext>
            </a:extLst>
          </p:cNvPr>
          <p:cNvSpPr>
            <a:spLocks noGrp="1"/>
          </p:cNvSpPr>
          <p:nvPr>
            <p:ph idx="1"/>
          </p:nvPr>
        </p:nvSpPr>
        <p:spPr/>
        <p:txBody>
          <a:bodyPr>
            <a:normAutofit/>
          </a:bodyPr>
          <a:lstStyle/>
          <a:p>
            <a:r>
              <a:rPr lang="en-IN" dirty="0"/>
              <a:t>In Java, you can declare an array in several ways, often combining the declaration with allocation and initialization. Arrays in Java are objects with a fixed size once created</a:t>
            </a:r>
            <a:r>
              <a:rPr lang="en-IN" dirty="0">
                <a:latin typeface="Google Sans"/>
              </a:rPr>
              <a:t>.</a:t>
            </a:r>
          </a:p>
          <a:p>
            <a:r>
              <a:rPr lang="en-IN" dirty="0">
                <a:effectLst/>
                <a:latin typeface="Google Sans"/>
              </a:rPr>
              <a:t>The main ways to declare a single-dimensional array are:</a:t>
            </a:r>
          </a:p>
          <a:p>
            <a:pPr algn="l">
              <a:buFont typeface="Arial" panose="020B0604020202020204" pitchFamily="34" charset="0"/>
              <a:buChar char="•"/>
            </a:pPr>
            <a:r>
              <a:rPr lang="en-IN" b="1" i="0" dirty="0">
                <a:effectLst/>
                <a:latin typeface="Google Sans"/>
              </a:rPr>
              <a:t>Declaration Only</a:t>
            </a:r>
            <a:br>
              <a:rPr lang="en-IN" b="0" i="0" dirty="0">
                <a:effectLst/>
                <a:latin typeface="Google Sans"/>
              </a:rPr>
            </a:br>
            <a:r>
              <a:rPr lang="en-IN" b="0" i="0" dirty="0">
                <a:effectLst/>
                <a:latin typeface="Google Sans"/>
              </a:rPr>
              <a:t>This approach declares a variable as an array type but does not create the actual array object or allocate memory.</a:t>
            </a:r>
          </a:p>
          <a:p>
            <a:r>
              <a:rPr lang="en-IN" b="0" i="1" dirty="0">
                <a:effectLst/>
                <a:latin typeface="Google Sans"/>
              </a:rPr>
              <a:t>Example: int[] numbers;</a:t>
            </a:r>
            <a:br>
              <a:rPr lang="en-IN" b="0" i="0" dirty="0">
                <a:effectLst/>
                <a:latin typeface="Google Sans"/>
              </a:rPr>
            </a:br>
            <a:endParaRPr lang="en-IN" b="0" i="0" dirty="0">
              <a:effectLst/>
              <a:latin typeface="Google Sans"/>
            </a:endParaRPr>
          </a:p>
          <a:p>
            <a:endParaRPr lang="en-US" dirty="0"/>
          </a:p>
        </p:txBody>
      </p:sp>
      <p:pic>
        <p:nvPicPr>
          <p:cNvPr id="4" name="Picture 3">
            <a:extLst>
              <a:ext uri="{FF2B5EF4-FFF2-40B4-BE49-F238E27FC236}">
                <a16:creationId xmlns:a16="http://schemas.microsoft.com/office/drawing/2014/main" id="{C99C2A32-F52A-4EA0-5532-492FA054D13D}"/>
              </a:ext>
            </a:extLst>
          </p:cNvPr>
          <p:cNvPicPr>
            <a:picLocks noChangeAspect="1"/>
          </p:cNvPicPr>
          <p:nvPr/>
        </p:nvPicPr>
        <p:blipFill>
          <a:blip r:embed="rId2"/>
          <a:stretch>
            <a:fillRect/>
          </a:stretch>
        </p:blipFill>
        <p:spPr>
          <a:xfrm>
            <a:off x="7806244" y="4586288"/>
            <a:ext cx="3395155" cy="2125662"/>
          </a:xfrm>
          <a:prstGeom prst="rect">
            <a:avLst/>
          </a:prstGeom>
        </p:spPr>
      </p:pic>
    </p:spTree>
    <p:extLst>
      <p:ext uri="{BB962C8B-B14F-4D97-AF65-F5344CB8AC3E}">
        <p14:creationId xmlns:p14="http://schemas.microsoft.com/office/powerpoint/2010/main" val="3931498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7FAFD-F677-585E-108A-B6495F3D3EF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8660E5-1324-A1F0-63A8-2E03A88E9E17}"/>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38DCCA16-B208-3B6A-6356-4362DFE3ED73}"/>
              </a:ext>
            </a:extLst>
          </p:cNvPr>
          <p:cNvPicPr>
            <a:picLocks noChangeAspect="1"/>
          </p:cNvPicPr>
          <p:nvPr/>
        </p:nvPicPr>
        <p:blipFill>
          <a:blip r:embed="rId2"/>
          <a:stretch>
            <a:fillRect/>
          </a:stretch>
        </p:blipFill>
        <p:spPr>
          <a:xfrm>
            <a:off x="1471612" y="365125"/>
            <a:ext cx="9248775" cy="6335474"/>
          </a:xfrm>
          <a:prstGeom prst="rect">
            <a:avLst/>
          </a:prstGeom>
        </p:spPr>
      </p:pic>
    </p:spTree>
    <p:extLst>
      <p:ext uri="{BB962C8B-B14F-4D97-AF65-F5344CB8AC3E}">
        <p14:creationId xmlns:p14="http://schemas.microsoft.com/office/powerpoint/2010/main" val="3210365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B6BBE-CCB6-E4B9-50E0-2A50CE9CE8F2}"/>
              </a:ext>
            </a:extLst>
          </p:cNvPr>
          <p:cNvSpPr>
            <a:spLocks noGrp="1"/>
          </p:cNvSpPr>
          <p:nvPr>
            <p:ph type="title"/>
          </p:nvPr>
        </p:nvSpPr>
        <p:spPr/>
        <p:txBody>
          <a:bodyPr/>
          <a:lstStyle/>
          <a:p>
            <a:endParaRPr lang="en-US"/>
          </a:p>
        </p:txBody>
      </p:sp>
      <p:graphicFrame>
        <p:nvGraphicFramePr>
          <p:cNvPr id="6" name="Content Placeholder 5">
            <a:extLst>
              <a:ext uri="{FF2B5EF4-FFF2-40B4-BE49-F238E27FC236}">
                <a16:creationId xmlns:a16="http://schemas.microsoft.com/office/drawing/2014/main" id="{C45FC15C-BBFD-DF81-4ACA-7CCE6DA478FF}"/>
              </a:ext>
            </a:extLst>
          </p:cNvPr>
          <p:cNvGraphicFramePr>
            <a:graphicFrameLocks noGrp="1"/>
          </p:cNvGraphicFramePr>
          <p:nvPr>
            <p:ph idx="1"/>
            <p:extLst>
              <p:ext uri="{D42A27DB-BD31-4B8C-83A1-F6EECF244321}">
                <p14:modId xmlns:p14="http://schemas.microsoft.com/office/powerpoint/2010/main" val="1997106150"/>
              </p:ext>
            </p:extLst>
          </p:nvPr>
        </p:nvGraphicFramePr>
        <p:xfrm>
          <a:off x="0" y="0"/>
          <a:ext cx="12192000" cy="68580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3630363465"/>
                    </a:ext>
                  </a:extLst>
                </a:gridCol>
                <a:gridCol w="2438400">
                  <a:extLst>
                    <a:ext uri="{9D8B030D-6E8A-4147-A177-3AD203B41FA5}">
                      <a16:colId xmlns:a16="http://schemas.microsoft.com/office/drawing/2014/main" val="2599779942"/>
                    </a:ext>
                  </a:extLst>
                </a:gridCol>
                <a:gridCol w="1862203">
                  <a:extLst>
                    <a:ext uri="{9D8B030D-6E8A-4147-A177-3AD203B41FA5}">
                      <a16:colId xmlns:a16="http://schemas.microsoft.com/office/drawing/2014/main" val="2837262708"/>
                    </a:ext>
                  </a:extLst>
                </a:gridCol>
                <a:gridCol w="3933172">
                  <a:extLst>
                    <a:ext uri="{9D8B030D-6E8A-4147-A177-3AD203B41FA5}">
                      <a16:colId xmlns:a16="http://schemas.microsoft.com/office/drawing/2014/main" val="1951410623"/>
                    </a:ext>
                  </a:extLst>
                </a:gridCol>
                <a:gridCol w="1519825">
                  <a:extLst>
                    <a:ext uri="{9D8B030D-6E8A-4147-A177-3AD203B41FA5}">
                      <a16:colId xmlns:a16="http://schemas.microsoft.com/office/drawing/2014/main" val="855958437"/>
                    </a:ext>
                  </a:extLst>
                </a:gridCol>
              </a:tblGrid>
              <a:tr h="672923">
                <a:tc>
                  <a:txBody>
                    <a:bodyPr/>
                    <a:lstStyle/>
                    <a:p>
                      <a:r>
                        <a:rPr lang="en-US" dirty="0"/>
                        <a:t>Datatype</a:t>
                      </a:r>
                    </a:p>
                  </a:txBody>
                  <a:tcPr/>
                </a:tc>
                <a:tc>
                  <a:txBody>
                    <a:bodyPr/>
                    <a:lstStyle/>
                    <a:p>
                      <a:r>
                        <a:rPr lang="en-US" dirty="0"/>
                        <a:t>Description</a:t>
                      </a:r>
                    </a:p>
                  </a:txBody>
                  <a:tcPr/>
                </a:tc>
                <a:tc>
                  <a:txBody>
                    <a:bodyPr/>
                    <a:lstStyle/>
                    <a:p>
                      <a:r>
                        <a:rPr lang="en-US" dirty="0"/>
                        <a:t>Size</a:t>
                      </a:r>
                    </a:p>
                  </a:txBody>
                  <a:tcPr/>
                </a:tc>
                <a:tc>
                  <a:txBody>
                    <a:bodyPr/>
                    <a:lstStyle/>
                    <a:p>
                      <a:r>
                        <a:rPr lang="en-US" dirty="0"/>
                        <a:t>Range</a:t>
                      </a:r>
                    </a:p>
                  </a:txBody>
                  <a:tcPr/>
                </a:tc>
                <a:tc>
                  <a:txBody>
                    <a:bodyPr/>
                    <a:lstStyle/>
                    <a:p>
                      <a:r>
                        <a:rPr lang="en-US" dirty="0"/>
                        <a:t>Default Value</a:t>
                      </a:r>
                    </a:p>
                  </a:txBody>
                  <a:tcPr/>
                </a:tc>
                <a:extLst>
                  <a:ext uri="{0D108BD9-81ED-4DB2-BD59-A6C34878D82A}">
                    <a16:rowId xmlns:a16="http://schemas.microsoft.com/office/drawing/2014/main" val="4023289845"/>
                  </a:ext>
                </a:extLst>
              </a:tr>
              <a:tr h="525159">
                <a:tc>
                  <a:txBody>
                    <a:bodyPr/>
                    <a:lstStyle/>
                    <a:p>
                      <a:r>
                        <a:rPr lang="en-US" dirty="0"/>
                        <a:t>Byte</a:t>
                      </a:r>
                    </a:p>
                  </a:txBody>
                  <a:tcPr/>
                </a:tc>
                <a:tc>
                  <a:txBody>
                    <a:bodyPr/>
                    <a:lstStyle/>
                    <a:p>
                      <a:r>
                        <a:rPr lang="en-US" dirty="0"/>
                        <a:t>8 bits signed integer</a:t>
                      </a:r>
                    </a:p>
                  </a:txBody>
                  <a:tcPr/>
                </a:tc>
                <a:tc>
                  <a:txBody>
                    <a:bodyPr/>
                    <a:lstStyle/>
                    <a:p>
                      <a:r>
                        <a:rPr lang="en-US" dirty="0"/>
                        <a:t>1 byte</a:t>
                      </a:r>
                    </a:p>
                  </a:txBody>
                  <a:tcPr/>
                </a:tc>
                <a:tc>
                  <a:txBody>
                    <a:bodyPr/>
                    <a:lstStyle/>
                    <a:p>
                      <a:r>
                        <a:rPr lang="en-US" dirty="0"/>
                        <a:t>-128 to 127</a:t>
                      </a:r>
                    </a:p>
                  </a:txBody>
                  <a:tcPr/>
                </a:tc>
                <a:tc>
                  <a:txBody>
                    <a:bodyPr/>
                    <a:lstStyle/>
                    <a:p>
                      <a:r>
                        <a:rPr lang="en-US" dirty="0"/>
                        <a:t>0</a:t>
                      </a:r>
                    </a:p>
                  </a:txBody>
                  <a:tcPr/>
                </a:tc>
                <a:extLst>
                  <a:ext uri="{0D108BD9-81ED-4DB2-BD59-A6C34878D82A}">
                    <a16:rowId xmlns:a16="http://schemas.microsoft.com/office/drawing/2014/main" val="2344784006"/>
                  </a:ext>
                </a:extLst>
              </a:tr>
              <a:tr h="526750">
                <a:tc>
                  <a:txBody>
                    <a:bodyPr/>
                    <a:lstStyle/>
                    <a:p>
                      <a:r>
                        <a:rPr lang="en-US" dirty="0"/>
                        <a:t>Short</a:t>
                      </a:r>
                    </a:p>
                  </a:txBody>
                  <a:tcPr/>
                </a:tc>
                <a:tc>
                  <a:txBody>
                    <a:bodyPr/>
                    <a:lstStyle/>
                    <a:p>
                      <a:r>
                        <a:rPr lang="en-US" dirty="0"/>
                        <a:t>32 bits signed integer</a:t>
                      </a:r>
                    </a:p>
                  </a:txBody>
                  <a:tcPr/>
                </a:tc>
                <a:tc>
                  <a:txBody>
                    <a:bodyPr/>
                    <a:lstStyle/>
                    <a:p>
                      <a:r>
                        <a:rPr lang="en-US" dirty="0"/>
                        <a:t>4 bytes</a:t>
                      </a:r>
                    </a:p>
                  </a:txBody>
                  <a:tcPr/>
                </a:tc>
                <a:tc>
                  <a:txBody>
                    <a:bodyPr/>
                    <a:lstStyle/>
                    <a:p>
                      <a:r>
                        <a:rPr lang="en-IN" sz="1800" b="0" i="0" kern="1200" dirty="0">
                          <a:solidFill>
                            <a:schemeClr val="dk1"/>
                          </a:solidFill>
                          <a:effectLst/>
                          <a:latin typeface="+mn-lt"/>
                          <a:ea typeface="+mn-ea"/>
                          <a:cs typeface="+mn-cs"/>
                        </a:rPr>
                        <a:t>-32,768 to 32,767</a:t>
                      </a:r>
                      <a:endParaRPr lang="en-US" dirty="0"/>
                    </a:p>
                  </a:txBody>
                  <a:tcPr/>
                </a:tc>
                <a:tc>
                  <a:txBody>
                    <a:bodyPr/>
                    <a:lstStyle/>
                    <a:p>
                      <a:r>
                        <a:rPr lang="en-US" dirty="0"/>
                        <a:t>0</a:t>
                      </a:r>
                    </a:p>
                  </a:txBody>
                  <a:tcPr/>
                </a:tc>
                <a:extLst>
                  <a:ext uri="{0D108BD9-81ED-4DB2-BD59-A6C34878D82A}">
                    <a16:rowId xmlns:a16="http://schemas.microsoft.com/office/drawing/2014/main" val="836453089"/>
                  </a:ext>
                </a:extLst>
              </a:tr>
              <a:tr h="566256">
                <a:tc>
                  <a:txBody>
                    <a:bodyPr/>
                    <a:lstStyle/>
                    <a:p>
                      <a:r>
                        <a:rPr lang="en-US" dirty="0"/>
                        <a:t>Int</a:t>
                      </a:r>
                    </a:p>
                  </a:txBody>
                  <a:tcPr/>
                </a:tc>
                <a:tc>
                  <a:txBody>
                    <a:bodyPr/>
                    <a:lstStyle/>
                    <a:p>
                      <a:r>
                        <a:rPr lang="en-US" dirty="0"/>
                        <a:t>32 bits signed integer</a:t>
                      </a:r>
                    </a:p>
                  </a:txBody>
                  <a:tcPr/>
                </a:tc>
                <a:tc>
                  <a:txBody>
                    <a:bodyPr/>
                    <a:lstStyle/>
                    <a:p>
                      <a:r>
                        <a:rPr lang="en-US" dirty="0"/>
                        <a:t>4 bytes</a:t>
                      </a:r>
                    </a:p>
                  </a:txBody>
                  <a:tcPr/>
                </a:tc>
                <a:tc>
                  <a:txBody>
                    <a:bodyPr/>
                    <a:lstStyle/>
                    <a:p>
                      <a:r>
                        <a:rPr lang="en-IN" sz="1800" b="0" i="0" kern="1200" dirty="0">
                          <a:solidFill>
                            <a:schemeClr val="dk1"/>
                          </a:solidFill>
                          <a:effectLst/>
                          <a:latin typeface="+mn-lt"/>
                          <a:ea typeface="+mn-ea"/>
                          <a:cs typeface="+mn-cs"/>
                        </a:rPr>
                        <a:t>-2,147,483,648 to 2,147,483,647</a:t>
                      </a:r>
                      <a:endParaRPr lang="en-US" dirty="0"/>
                    </a:p>
                  </a:txBody>
                  <a:tcPr/>
                </a:tc>
                <a:tc>
                  <a:txBody>
                    <a:bodyPr/>
                    <a:lstStyle/>
                    <a:p>
                      <a:r>
                        <a:rPr lang="en-US" dirty="0"/>
                        <a:t>0</a:t>
                      </a:r>
                    </a:p>
                  </a:txBody>
                  <a:tcPr/>
                </a:tc>
                <a:extLst>
                  <a:ext uri="{0D108BD9-81ED-4DB2-BD59-A6C34878D82A}">
                    <a16:rowId xmlns:a16="http://schemas.microsoft.com/office/drawing/2014/main" val="939862931"/>
                  </a:ext>
                </a:extLst>
              </a:tr>
              <a:tr h="1119344">
                <a:tc>
                  <a:txBody>
                    <a:bodyPr/>
                    <a:lstStyle/>
                    <a:p>
                      <a:r>
                        <a:rPr lang="en-US" dirty="0"/>
                        <a:t>Long</a:t>
                      </a:r>
                    </a:p>
                  </a:txBody>
                  <a:tcPr/>
                </a:tc>
                <a:tc>
                  <a:txBody>
                    <a:bodyPr/>
                    <a:lstStyle/>
                    <a:p>
                      <a:r>
                        <a:rPr lang="en-US" dirty="0"/>
                        <a:t>64 bits signed integer</a:t>
                      </a:r>
                    </a:p>
                  </a:txBody>
                  <a:tcPr/>
                </a:tc>
                <a:tc>
                  <a:txBody>
                    <a:bodyPr/>
                    <a:lstStyle/>
                    <a:p>
                      <a:r>
                        <a:rPr lang="en-US" dirty="0"/>
                        <a:t>8 bytes</a:t>
                      </a:r>
                    </a:p>
                  </a:txBody>
                  <a:tcPr/>
                </a:tc>
                <a:tc>
                  <a:txBody>
                    <a:bodyPr/>
                    <a:lstStyle/>
                    <a:p>
                      <a:r>
                        <a:rPr lang="en-IN" sz="1800" b="0" i="0" kern="1200" dirty="0">
                          <a:solidFill>
                            <a:schemeClr val="dk1"/>
                          </a:solidFill>
                          <a:effectLst/>
                          <a:latin typeface="+mn-lt"/>
                          <a:ea typeface="+mn-ea"/>
                          <a:cs typeface="+mn-cs"/>
                        </a:rPr>
                        <a:t>-9,223,372,036,854,775,808 to 9,223,372,036,854,775,807</a:t>
                      </a:r>
                      <a:endParaRPr lang="en-US" dirty="0"/>
                    </a:p>
                  </a:txBody>
                  <a:tcPr/>
                </a:tc>
                <a:tc>
                  <a:txBody>
                    <a:bodyPr/>
                    <a:lstStyle/>
                    <a:p>
                      <a:r>
                        <a:rPr lang="en-US" dirty="0"/>
                        <a:t>0L</a:t>
                      </a:r>
                    </a:p>
                  </a:txBody>
                  <a:tcPr/>
                </a:tc>
                <a:extLst>
                  <a:ext uri="{0D108BD9-81ED-4DB2-BD59-A6C34878D82A}">
                    <a16:rowId xmlns:a16="http://schemas.microsoft.com/office/drawing/2014/main" val="2129935244"/>
                  </a:ext>
                </a:extLst>
              </a:tr>
              <a:tr h="1140404">
                <a:tc>
                  <a:txBody>
                    <a:bodyPr/>
                    <a:lstStyle/>
                    <a:p>
                      <a:r>
                        <a:rPr lang="en-US" dirty="0"/>
                        <a:t>Float</a:t>
                      </a:r>
                    </a:p>
                  </a:txBody>
                  <a:tcPr/>
                </a:tc>
                <a:tc>
                  <a:txBody>
                    <a:bodyPr/>
                    <a:lstStyle/>
                    <a:p>
                      <a:r>
                        <a:rPr lang="en-IN" sz="1800" b="0" i="0" kern="1200" dirty="0">
                          <a:solidFill>
                            <a:schemeClr val="dk1"/>
                          </a:solidFill>
                          <a:effectLst/>
                          <a:latin typeface="+mn-lt"/>
                          <a:ea typeface="+mn-ea"/>
                          <a:cs typeface="+mn-cs"/>
                        </a:rPr>
                        <a:t>32-bit single-precision floating-point number</a:t>
                      </a:r>
                      <a:endParaRPr lang="en-US" dirty="0"/>
                    </a:p>
                  </a:txBody>
                  <a:tcPr/>
                </a:tc>
                <a:tc>
                  <a:txBody>
                    <a:bodyPr/>
                    <a:lstStyle/>
                    <a:p>
                      <a:r>
                        <a:rPr lang="en-US" dirty="0"/>
                        <a:t>4 bytes</a:t>
                      </a:r>
                    </a:p>
                  </a:txBody>
                  <a:tcPr/>
                </a:tc>
                <a:tc>
                  <a:txBody>
                    <a:bodyPr/>
                    <a:lstStyle/>
                    <a:p>
                      <a:r>
                        <a:rPr lang="en-IN" sz="1800" b="0" i="0" kern="1200" dirty="0">
                          <a:solidFill>
                            <a:schemeClr val="dk1"/>
                          </a:solidFill>
                          <a:effectLst/>
                          <a:latin typeface="+mn-lt"/>
                          <a:ea typeface="+mn-ea"/>
                          <a:cs typeface="+mn-cs"/>
                        </a:rPr>
                        <a:t>Sufficient for 6 to 7 decimal digits of precision</a:t>
                      </a:r>
                      <a:endParaRPr lang="en-US" dirty="0"/>
                    </a:p>
                  </a:txBody>
                  <a:tcPr/>
                </a:tc>
                <a:tc>
                  <a:txBody>
                    <a:bodyPr/>
                    <a:lstStyle/>
                    <a:p>
                      <a:r>
                        <a:rPr lang="en-US" dirty="0"/>
                        <a:t>0.0f</a:t>
                      </a:r>
                    </a:p>
                  </a:txBody>
                  <a:tcPr/>
                </a:tc>
                <a:extLst>
                  <a:ext uri="{0D108BD9-81ED-4DB2-BD59-A6C34878D82A}">
                    <a16:rowId xmlns:a16="http://schemas.microsoft.com/office/drawing/2014/main" val="2854224923"/>
                  </a:ext>
                </a:extLst>
              </a:tr>
              <a:tr h="961318">
                <a:tc>
                  <a:txBody>
                    <a:bodyPr/>
                    <a:lstStyle/>
                    <a:p>
                      <a:r>
                        <a:rPr lang="en-US" dirty="0"/>
                        <a:t>Double</a:t>
                      </a:r>
                    </a:p>
                  </a:txBody>
                  <a:tcPr/>
                </a:tc>
                <a:tc>
                  <a:txBody>
                    <a:bodyPr/>
                    <a:lstStyle/>
                    <a:p>
                      <a:r>
                        <a:rPr lang="en-IN" sz="1800" b="0" i="0" kern="1200" dirty="0">
                          <a:solidFill>
                            <a:schemeClr val="dk1"/>
                          </a:solidFill>
                          <a:effectLst/>
                          <a:latin typeface="+mn-lt"/>
                          <a:ea typeface="+mn-ea"/>
                          <a:cs typeface="+mn-cs"/>
                        </a:rPr>
                        <a:t>64-bit double-precision floating-point number</a:t>
                      </a:r>
                      <a:endParaRPr lang="en-US" dirty="0"/>
                    </a:p>
                  </a:txBody>
                  <a:tcPr/>
                </a:tc>
                <a:tc>
                  <a:txBody>
                    <a:bodyPr/>
                    <a:lstStyle/>
                    <a:p>
                      <a:r>
                        <a:rPr lang="en-US" dirty="0"/>
                        <a:t>8 bytes</a:t>
                      </a:r>
                    </a:p>
                  </a:txBody>
                  <a:tcPr/>
                </a:tc>
                <a:tc>
                  <a:txBody>
                    <a:bodyPr/>
                    <a:lstStyle/>
                    <a:p>
                      <a:r>
                        <a:rPr lang="en-IN" sz="1800" b="0" i="0" kern="1200" dirty="0">
                          <a:solidFill>
                            <a:schemeClr val="dk1"/>
                          </a:solidFill>
                          <a:effectLst/>
                          <a:latin typeface="+mn-lt"/>
                          <a:ea typeface="+mn-ea"/>
                          <a:cs typeface="+mn-cs"/>
                        </a:rPr>
                        <a:t>Sufficient for 15 to 16 decimal digits of precision</a:t>
                      </a:r>
                      <a:endParaRPr lang="en-US" dirty="0"/>
                    </a:p>
                  </a:txBody>
                  <a:tcPr/>
                </a:tc>
                <a:tc>
                  <a:txBody>
                    <a:bodyPr/>
                    <a:lstStyle/>
                    <a:p>
                      <a:r>
                        <a:rPr lang="en-US" dirty="0"/>
                        <a:t>0.0d</a:t>
                      </a:r>
                    </a:p>
                  </a:txBody>
                  <a:tcPr/>
                </a:tc>
                <a:extLst>
                  <a:ext uri="{0D108BD9-81ED-4DB2-BD59-A6C34878D82A}">
                    <a16:rowId xmlns:a16="http://schemas.microsoft.com/office/drawing/2014/main" val="3864374289"/>
                  </a:ext>
                </a:extLst>
              </a:tr>
              <a:tr h="672923">
                <a:tc>
                  <a:txBody>
                    <a:bodyPr/>
                    <a:lstStyle/>
                    <a:p>
                      <a:r>
                        <a:rPr lang="en-US" dirty="0"/>
                        <a:t>Boolean</a:t>
                      </a:r>
                    </a:p>
                  </a:txBody>
                  <a:tcPr/>
                </a:tc>
                <a:tc>
                  <a:txBody>
                    <a:bodyPr/>
                    <a:lstStyle/>
                    <a:p>
                      <a:r>
                        <a:rPr lang="en-IN" sz="1800" b="0" i="0" kern="1200" dirty="0">
                          <a:solidFill>
                            <a:schemeClr val="dk1"/>
                          </a:solidFill>
                          <a:effectLst/>
                          <a:latin typeface="+mn-lt"/>
                          <a:ea typeface="+mn-ea"/>
                          <a:cs typeface="+mn-cs"/>
                        </a:rPr>
                        <a:t>Logical values</a:t>
                      </a:r>
                      <a:endParaRPr lang="en-US" dirty="0"/>
                    </a:p>
                  </a:txBody>
                  <a:tcPr/>
                </a:tc>
                <a:tc>
                  <a:txBody>
                    <a:bodyPr/>
                    <a:lstStyle/>
                    <a:p>
                      <a:r>
                        <a:rPr lang="en-IN" sz="1800" b="0" i="0" kern="1200" dirty="0">
                          <a:solidFill>
                            <a:schemeClr val="dk1"/>
                          </a:solidFill>
                          <a:effectLst/>
                          <a:latin typeface="+mn-lt"/>
                          <a:ea typeface="+mn-ea"/>
                          <a:cs typeface="+mn-cs"/>
                        </a:rPr>
                        <a:t>JVM dependent (approx. 1 bit)</a:t>
                      </a:r>
                      <a:endParaRPr lang="en-US" dirty="0"/>
                    </a:p>
                  </a:txBody>
                  <a:tcPr/>
                </a:tc>
                <a:tc>
                  <a:txBody>
                    <a:bodyPr/>
                    <a:lstStyle/>
                    <a:p>
                      <a:r>
                        <a:rPr lang="en-US" dirty="0"/>
                        <a:t>True or false</a:t>
                      </a:r>
                    </a:p>
                  </a:txBody>
                  <a:tcPr/>
                </a:tc>
                <a:tc>
                  <a:txBody>
                    <a:bodyPr/>
                    <a:lstStyle/>
                    <a:p>
                      <a:r>
                        <a:rPr lang="en-US" dirty="0"/>
                        <a:t>False</a:t>
                      </a:r>
                    </a:p>
                  </a:txBody>
                  <a:tcPr/>
                </a:tc>
                <a:extLst>
                  <a:ext uri="{0D108BD9-81ED-4DB2-BD59-A6C34878D82A}">
                    <a16:rowId xmlns:a16="http://schemas.microsoft.com/office/drawing/2014/main" val="1139363805"/>
                  </a:ext>
                </a:extLst>
              </a:tr>
              <a:tr h="672923">
                <a:tc>
                  <a:txBody>
                    <a:bodyPr/>
                    <a:lstStyle/>
                    <a:p>
                      <a:r>
                        <a:rPr lang="en-US" dirty="0"/>
                        <a:t>Char</a:t>
                      </a:r>
                    </a:p>
                  </a:txBody>
                  <a:tcPr/>
                </a:tc>
                <a:tc>
                  <a:txBody>
                    <a:bodyPr/>
                    <a:lstStyle/>
                    <a:p>
                      <a:r>
                        <a:rPr lang="en-IN" sz="1800" b="0" i="0" kern="1200" dirty="0">
                          <a:solidFill>
                            <a:schemeClr val="dk1"/>
                          </a:solidFill>
                          <a:effectLst/>
                          <a:latin typeface="+mn-lt"/>
                          <a:ea typeface="+mn-ea"/>
                          <a:cs typeface="+mn-cs"/>
                        </a:rPr>
                        <a:t>Single 16-bit Unicode character</a:t>
                      </a:r>
                      <a:endParaRPr lang="en-US" dirty="0"/>
                    </a:p>
                  </a:txBody>
                  <a:tcPr/>
                </a:tc>
                <a:tc>
                  <a:txBody>
                    <a:bodyPr/>
                    <a:lstStyle/>
                    <a:p>
                      <a:r>
                        <a:rPr lang="en-US" dirty="0"/>
                        <a:t>2 bytes</a:t>
                      </a:r>
                    </a:p>
                  </a:txBody>
                  <a:tcPr/>
                </a:tc>
                <a:tc>
                  <a:txBody>
                    <a:bodyPr/>
                    <a:lstStyle/>
                    <a:p>
                      <a:r>
                        <a:rPr lang="en-IN" dirty="0"/>
                        <a:t>\u0000</a:t>
                      </a:r>
                      <a:r>
                        <a:rPr lang="en-IN" sz="1800" b="0" i="0" kern="1200" dirty="0">
                          <a:solidFill>
                            <a:schemeClr val="dk1"/>
                          </a:solidFill>
                          <a:effectLst/>
                          <a:latin typeface="+mn-lt"/>
                          <a:ea typeface="+mn-ea"/>
                          <a:cs typeface="+mn-cs"/>
                        </a:rPr>
                        <a:t> to </a:t>
                      </a:r>
                      <a:r>
                        <a:rPr lang="en-IN" dirty="0"/>
                        <a:t>\</a:t>
                      </a:r>
                      <a:r>
                        <a:rPr lang="en-IN" dirty="0" err="1"/>
                        <a:t>uffff</a:t>
                      </a:r>
                      <a:r>
                        <a:rPr lang="en-IN" sz="1800" b="0" i="0" kern="1200" dirty="0">
                          <a:solidFill>
                            <a:schemeClr val="dk1"/>
                          </a:solidFill>
                          <a:effectLst/>
                          <a:latin typeface="+mn-lt"/>
                          <a:ea typeface="+mn-ea"/>
                          <a:cs typeface="+mn-cs"/>
                        </a:rPr>
                        <a:t> (0 to 65,535)</a:t>
                      </a:r>
                      <a:endParaRPr lang="en-US" dirty="0"/>
                    </a:p>
                  </a:txBody>
                  <a:tcPr/>
                </a:tc>
                <a:tc>
                  <a:txBody>
                    <a:bodyPr/>
                    <a:lstStyle/>
                    <a:p>
                      <a:r>
                        <a:rPr lang="en-IN" sz="1800" b="0" i="0" kern="1200" dirty="0">
                          <a:solidFill>
                            <a:schemeClr val="dk1"/>
                          </a:solidFill>
                          <a:effectLst/>
                          <a:latin typeface="+mn-lt"/>
                          <a:ea typeface="+mn-ea"/>
                          <a:cs typeface="+mn-cs"/>
                        </a:rPr>
                        <a:t>\u0000</a:t>
                      </a:r>
                      <a:endParaRPr lang="en-US" dirty="0"/>
                    </a:p>
                  </a:txBody>
                  <a:tcPr/>
                </a:tc>
                <a:extLst>
                  <a:ext uri="{0D108BD9-81ED-4DB2-BD59-A6C34878D82A}">
                    <a16:rowId xmlns:a16="http://schemas.microsoft.com/office/drawing/2014/main" val="2006696716"/>
                  </a:ext>
                </a:extLst>
              </a:tr>
            </a:tbl>
          </a:graphicData>
        </a:graphic>
      </p:graphicFrame>
    </p:spTree>
    <p:extLst>
      <p:ext uri="{BB962C8B-B14F-4D97-AF65-F5344CB8AC3E}">
        <p14:creationId xmlns:p14="http://schemas.microsoft.com/office/powerpoint/2010/main" val="1021143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F8B35-720B-C772-A8E5-4C9B0CB7075C}"/>
              </a:ext>
            </a:extLst>
          </p:cNvPr>
          <p:cNvSpPr>
            <a:spLocks noGrp="1"/>
          </p:cNvSpPr>
          <p:nvPr>
            <p:ph type="title"/>
          </p:nvPr>
        </p:nvSpPr>
        <p:spPr/>
        <p:txBody>
          <a:bodyPr/>
          <a:lstStyle/>
          <a:p>
            <a:r>
              <a:rPr lang="en-US" dirty="0"/>
              <a:t>Array in Java </a:t>
            </a:r>
          </a:p>
        </p:txBody>
      </p:sp>
      <p:sp>
        <p:nvSpPr>
          <p:cNvPr id="3" name="Content Placeholder 2">
            <a:extLst>
              <a:ext uri="{FF2B5EF4-FFF2-40B4-BE49-F238E27FC236}">
                <a16:creationId xmlns:a16="http://schemas.microsoft.com/office/drawing/2014/main" id="{7B4CC527-0ABF-EBE7-6DD4-A3CBA57E481E}"/>
              </a:ext>
            </a:extLst>
          </p:cNvPr>
          <p:cNvSpPr>
            <a:spLocks noGrp="1"/>
          </p:cNvSpPr>
          <p:nvPr>
            <p:ph idx="1"/>
          </p:nvPr>
        </p:nvSpPr>
        <p:spPr/>
        <p:txBody>
          <a:bodyPr/>
          <a:lstStyle/>
          <a:p>
            <a:pPr algn="l">
              <a:buFont typeface="Arial" panose="020B0604020202020204" pitchFamily="34" charset="0"/>
              <a:buChar char="•"/>
            </a:pPr>
            <a:r>
              <a:rPr lang="en-IN" b="1" i="0" dirty="0">
                <a:effectLst/>
                <a:latin typeface="Google Sans"/>
              </a:rPr>
              <a:t>Declaration and Memory Allocation (without immediate values)</a:t>
            </a:r>
            <a:br>
              <a:rPr lang="en-IN" b="0" i="0" dirty="0">
                <a:effectLst/>
                <a:latin typeface="Google Sans"/>
              </a:rPr>
            </a:br>
            <a:r>
              <a:rPr lang="en-IN" b="0" i="0" dirty="0">
                <a:effectLst/>
                <a:latin typeface="Google Sans"/>
              </a:rPr>
              <a:t>This method declares the array and allocates memory for a specific number of elements using the new keyword. The elements are automatically initialized to default values (e.g., 0 for int, null for objects, false for </a:t>
            </a:r>
            <a:r>
              <a:rPr lang="en-IN" b="0" i="0" dirty="0" err="1">
                <a:effectLst/>
                <a:latin typeface="Google Sans"/>
              </a:rPr>
              <a:t>boolean</a:t>
            </a:r>
            <a:r>
              <a:rPr lang="en-IN" b="0" i="0" dirty="0">
                <a:effectLst/>
                <a:latin typeface="Google Sans"/>
              </a:rPr>
              <a:t>).</a:t>
            </a:r>
          </a:p>
          <a:p>
            <a:endParaRPr lang="en-US" dirty="0"/>
          </a:p>
        </p:txBody>
      </p:sp>
      <p:pic>
        <p:nvPicPr>
          <p:cNvPr id="5" name="Picture 4">
            <a:extLst>
              <a:ext uri="{FF2B5EF4-FFF2-40B4-BE49-F238E27FC236}">
                <a16:creationId xmlns:a16="http://schemas.microsoft.com/office/drawing/2014/main" id="{BBAFBBB9-F00E-5DFE-695C-3CAA6565BCF1}"/>
              </a:ext>
            </a:extLst>
          </p:cNvPr>
          <p:cNvPicPr>
            <a:picLocks noChangeAspect="1"/>
          </p:cNvPicPr>
          <p:nvPr/>
        </p:nvPicPr>
        <p:blipFill>
          <a:blip r:embed="rId2"/>
          <a:stretch>
            <a:fillRect/>
          </a:stretch>
        </p:blipFill>
        <p:spPr>
          <a:xfrm>
            <a:off x="1266825" y="4001294"/>
            <a:ext cx="7772400" cy="2696929"/>
          </a:xfrm>
          <a:prstGeom prst="rect">
            <a:avLst/>
          </a:prstGeom>
        </p:spPr>
      </p:pic>
    </p:spTree>
    <p:extLst>
      <p:ext uri="{BB962C8B-B14F-4D97-AF65-F5344CB8AC3E}">
        <p14:creationId xmlns:p14="http://schemas.microsoft.com/office/powerpoint/2010/main" val="1191637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61729-3D19-DA5D-24AC-C3A4B7921691}"/>
              </a:ext>
            </a:extLst>
          </p:cNvPr>
          <p:cNvSpPr>
            <a:spLocks noGrp="1"/>
          </p:cNvSpPr>
          <p:nvPr>
            <p:ph type="title"/>
          </p:nvPr>
        </p:nvSpPr>
        <p:spPr/>
        <p:txBody>
          <a:bodyPr/>
          <a:lstStyle/>
          <a:p>
            <a:r>
              <a:rPr lang="en-US" dirty="0"/>
              <a:t>Array in Java</a:t>
            </a:r>
          </a:p>
        </p:txBody>
      </p:sp>
      <p:sp>
        <p:nvSpPr>
          <p:cNvPr id="3" name="Content Placeholder 2">
            <a:extLst>
              <a:ext uri="{FF2B5EF4-FFF2-40B4-BE49-F238E27FC236}">
                <a16:creationId xmlns:a16="http://schemas.microsoft.com/office/drawing/2014/main" id="{D2366366-AC84-F895-DEFC-B2917EC5787E}"/>
              </a:ext>
            </a:extLst>
          </p:cNvPr>
          <p:cNvSpPr>
            <a:spLocks noGrp="1"/>
          </p:cNvSpPr>
          <p:nvPr>
            <p:ph idx="1"/>
          </p:nvPr>
        </p:nvSpPr>
        <p:spPr/>
        <p:txBody>
          <a:bodyPr/>
          <a:lstStyle/>
          <a:p>
            <a:r>
              <a:rPr lang="en-IN" b="1" i="0" dirty="0">
                <a:effectLst/>
                <a:latin typeface="Google Sans"/>
              </a:rPr>
              <a:t>Declaration and Initialization using an Array Literal (Shortcut Syntax)</a:t>
            </a:r>
            <a:br>
              <a:rPr lang="en-IN" dirty="0"/>
            </a:br>
            <a:r>
              <a:rPr lang="en-IN" b="0" i="0" dirty="0">
                <a:effectLst/>
                <a:latin typeface="Google Sans"/>
              </a:rPr>
              <a:t>This is the most common and concise way when you know the values beforehand. The size of the array is determined implicitly by the number of values provided in the curly braces </a:t>
            </a:r>
            <a:r>
              <a:rPr lang="en-IN" dirty="0"/>
              <a:t>{}</a:t>
            </a:r>
            <a:r>
              <a:rPr lang="en-IN" b="0" i="0" dirty="0">
                <a:effectLst/>
                <a:latin typeface="Google Sans"/>
              </a:rPr>
              <a:t>. The </a:t>
            </a:r>
            <a:r>
              <a:rPr lang="en-IN" dirty="0"/>
              <a:t>new</a:t>
            </a:r>
            <a:r>
              <a:rPr lang="en-IN" b="0" i="0" dirty="0">
                <a:effectLst/>
                <a:latin typeface="Google Sans"/>
              </a:rPr>
              <a:t> keyword is optional in this specific context.</a:t>
            </a:r>
            <a:endParaRPr lang="en-US" dirty="0"/>
          </a:p>
        </p:txBody>
      </p:sp>
      <p:pic>
        <p:nvPicPr>
          <p:cNvPr id="4" name="Picture 3">
            <a:extLst>
              <a:ext uri="{FF2B5EF4-FFF2-40B4-BE49-F238E27FC236}">
                <a16:creationId xmlns:a16="http://schemas.microsoft.com/office/drawing/2014/main" id="{261FB832-440B-56DE-3FF2-356BD688A24C}"/>
              </a:ext>
            </a:extLst>
          </p:cNvPr>
          <p:cNvPicPr>
            <a:picLocks noChangeAspect="1"/>
          </p:cNvPicPr>
          <p:nvPr/>
        </p:nvPicPr>
        <p:blipFill>
          <a:blip r:embed="rId2"/>
          <a:stretch>
            <a:fillRect/>
          </a:stretch>
        </p:blipFill>
        <p:spPr>
          <a:xfrm>
            <a:off x="1172293" y="4142008"/>
            <a:ext cx="7772400" cy="2034955"/>
          </a:xfrm>
          <a:prstGeom prst="rect">
            <a:avLst/>
          </a:prstGeom>
        </p:spPr>
      </p:pic>
    </p:spTree>
    <p:extLst>
      <p:ext uri="{BB962C8B-B14F-4D97-AF65-F5344CB8AC3E}">
        <p14:creationId xmlns:p14="http://schemas.microsoft.com/office/powerpoint/2010/main" val="4252443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9E43F-8F68-8EC6-3461-6962D3767A12}"/>
              </a:ext>
            </a:extLst>
          </p:cNvPr>
          <p:cNvSpPr>
            <a:spLocks noGrp="1"/>
          </p:cNvSpPr>
          <p:nvPr>
            <p:ph type="title"/>
          </p:nvPr>
        </p:nvSpPr>
        <p:spPr/>
        <p:txBody>
          <a:bodyPr/>
          <a:lstStyle/>
          <a:p>
            <a:r>
              <a:rPr lang="en-US" dirty="0"/>
              <a:t>Array in Java</a:t>
            </a:r>
          </a:p>
        </p:txBody>
      </p:sp>
      <p:sp>
        <p:nvSpPr>
          <p:cNvPr id="3" name="Content Placeholder 2">
            <a:extLst>
              <a:ext uri="{FF2B5EF4-FFF2-40B4-BE49-F238E27FC236}">
                <a16:creationId xmlns:a16="http://schemas.microsoft.com/office/drawing/2014/main" id="{BFF6D077-FA20-419D-0546-58561030E1FB}"/>
              </a:ext>
            </a:extLst>
          </p:cNvPr>
          <p:cNvSpPr>
            <a:spLocks noGrp="1"/>
          </p:cNvSpPr>
          <p:nvPr>
            <p:ph idx="1"/>
          </p:nvPr>
        </p:nvSpPr>
        <p:spPr/>
        <p:txBody>
          <a:bodyPr/>
          <a:lstStyle/>
          <a:p>
            <a:r>
              <a:rPr lang="en-IN" b="1" i="0" dirty="0">
                <a:effectLst/>
                <a:latin typeface="Google Sans"/>
              </a:rPr>
              <a:t>Declaration and Initialization using new with an Array Literal</a:t>
            </a:r>
            <a:br>
              <a:rPr lang="en-IN" dirty="0"/>
            </a:br>
            <a:r>
              <a:rPr lang="en-IN" b="0" i="0" dirty="0">
                <a:effectLst/>
                <a:latin typeface="Google Sans"/>
              </a:rPr>
              <a:t>This method is similar to the shortcut but explicitly uses the </a:t>
            </a:r>
            <a:r>
              <a:rPr lang="en-IN" dirty="0"/>
              <a:t>new</a:t>
            </a:r>
            <a:r>
              <a:rPr lang="en-IN" b="0" i="0" dirty="0">
                <a:effectLst/>
                <a:latin typeface="Google Sans"/>
              </a:rPr>
              <a:t> keyword. This syntax is required if you declare the array variable first and initialize it later, or when passing an array as an anonymous argument to a method.</a:t>
            </a:r>
            <a:endParaRPr lang="en-US" dirty="0"/>
          </a:p>
        </p:txBody>
      </p:sp>
      <p:pic>
        <p:nvPicPr>
          <p:cNvPr id="4" name="Picture 3">
            <a:extLst>
              <a:ext uri="{FF2B5EF4-FFF2-40B4-BE49-F238E27FC236}">
                <a16:creationId xmlns:a16="http://schemas.microsoft.com/office/drawing/2014/main" id="{9E96B4CF-F31C-3EDE-D024-2E7A247FD864}"/>
              </a:ext>
            </a:extLst>
          </p:cNvPr>
          <p:cNvPicPr>
            <a:picLocks noChangeAspect="1"/>
          </p:cNvPicPr>
          <p:nvPr/>
        </p:nvPicPr>
        <p:blipFill>
          <a:blip r:embed="rId2"/>
          <a:stretch>
            <a:fillRect/>
          </a:stretch>
        </p:blipFill>
        <p:spPr>
          <a:xfrm>
            <a:off x="1109467" y="4001294"/>
            <a:ext cx="7772400" cy="1787900"/>
          </a:xfrm>
          <a:prstGeom prst="rect">
            <a:avLst/>
          </a:prstGeom>
        </p:spPr>
      </p:pic>
    </p:spTree>
    <p:extLst>
      <p:ext uri="{BB962C8B-B14F-4D97-AF65-F5344CB8AC3E}">
        <p14:creationId xmlns:p14="http://schemas.microsoft.com/office/powerpoint/2010/main" val="574725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1D398-0F0C-1508-79D2-081F942D5985}"/>
              </a:ext>
            </a:extLst>
          </p:cNvPr>
          <p:cNvSpPr>
            <a:spLocks noGrp="1"/>
          </p:cNvSpPr>
          <p:nvPr>
            <p:ph type="title"/>
          </p:nvPr>
        </p:nvSpPr>
        <p:spPr/>
        <p:txBody>
          <a:bodyPr/>
          <a:lstStyle/>
          <a:p>
            <a:r>
              <a:rPr lang="en-US" dirty="0"/>
              <a:t>Array in Java</a:t>
            </a:r>
          </a:p>
        </p:txBody>
      </p:sp>
      <p:sp>
        <p:nvSpPr>
          <p:cNvPr id="3" name="Content Placeholder 2">
            <a:extLst>
              <a:ext uri="{FF2B5EF4-FFF2-40B4-BE49-F238E27FC236}">
                <a16:creationId xmlns:a16="http://schemas.microsoft.com/office/drawing/2014/main" id="{4569383B-7F45-795D-72D3-E95962201246}"/>
              </a:ext>
            </a:extLst>
          </p:cNvPr>
          <p:cNvSpPr>
            <a:spLocks noGrp="1"/>
          </p:cNvSpPr>
          <p:nvPr>
            <p:ph idx="1"/>
          </p:nvPr>
        </p:nvSpPr>
        <p:spPr/>
        <p:txBody>
          <a:bodyPr/>
          <a:lstStyle/>
          <a:p>
            <a:pPr algn="l"/>
            <a:r>
              <a:rPr lang="en-IN" b="0" i="0" dirty="0">
                <a:effectLst/>
                <a:latin typeface="Google Sans"/>
              </a:rPr>
              <a:t>For multidimensional arrays, you use similar patterns with multiple sets of brackets: </a:t>
            </a:r>
          </a:p>
          <a:p>
            <a:pPr algn="l">
              <a:buFont typeface="Arial" panose="020B0604020202020204" pitchFamily="34" charset="0"/>
              <a:buChar char="•"/>
            </a:pPr>
            <a:r>
              <a:rPr lang="en-IN" b="1" i="0" dirty="0">
                <a:effectLst/>
                <a:latin typeface="Google Sans"/>
              </a:rPr>
              <a:t>Two-Dimensional Array Examples</a:t>
            </a:r>
            <a:endParaRPr lang="en-IN" b="0" i="0" dirty="0">
              <a:effectLst/>
              <a:latin typeface="Google Sans"/>
            </a:endParaRPr>
          </a:p>
          <a:p>
            <a:endParaRPr lang="en-US" dirty="0"/>
          </a:p>
        </p:txBody>
      </p:sp>
      <p:pic>
        <p:nvPicPr>
          <p:cNvPr id="4" name="Picture 3">
            <a:extLst>
              <a:ext uri="{FF2B5EF4-FFF2-40B4-BE49-F238E27FC236}">
                <a16:creationId xmlns:a16="http://schemas.microsoft.com/office/drawing/2014/main" id="{34C1BDC0-0B44-0000-17F0-EBF06C5B8954}"/>
              </a:ext>
            </a:extLst>
          </p:cNvPr>
          <p:cNvPicPr>
            <a:picLocks noChangeAspect="1"/>
          </p:cNvPicPr>
          <p:nvPr/>
        </p:nvPicPr>
        <p:blipFill>
          <a:blip r:embed="rId2"/>
          <a:stretch>
            <a:fillRect/>
          </a:stretch>
        </p:blipFill>
        <p:spPr>
          <a:xfrm>
            <a:off x="1152525" y="3429000"/>
            <a:ext cx="9917906" cy="1943100"/>
          </a:xfrm>
          <a:prstGeom prst="rect">
            <a:avLst/>
          </a:prstGeom>
        </p:spPr>
      </p:pic>
    </p:spTree>
    <p:extLst>
      <p:ext uri="{BB962C8B-B14F-4D97-AF65-F5344CB8AC3E}">
        <p14:creationId xmlns:p14="http://schemas.microsoft.com/office/powerpoint/2010/main" val="3437233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176B9-5F72-B95F-BD98-9677396A331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91BED8-90D9-33FA-3115-E149524C7FCA}"/>
              </a:ext>
            </a:extLst>
          </p:cNvPr>
          <p:cNvSpPr>
            <a:spLocks noGrp="1"/>
          </p:cNvSpPr>
          <p:nvPr>
            <p:ph idx="1"/>
          </p:nvPr>
        </p:nvSpPr>
        <p:spPr/>
        <p:txBody>
          <a:bodyPr/>
          <a:lstStyle/>
          <a:p>
            <a:r>
              <a:rPr lang="en-IN" b="1" dirty="0">
                <a:effectLst/>
              </a:rPr>
              <a:t>Method 1: Initialization at Declaration</a:t>
            </a:r>
          </a:p>
          <a:p>
            <a:r>
              <a:rPr lang="en-IN" dirty="0">
                <a:effectLst/>
              </a:rPr>
              <a:t>You can initialize an array at the time of declaration using curly braces {} with the values separated by commas.</a:t>
            </a:r>
          </a:p>
          <a:p>
            <a:r>
              <a:rPr lang="en-IN" b="1" dirty="0">
                <a:effectLst/>
              </a:rPr>
              <a:t>Syntax</a:t>
            </a:r>
          </a:p>
          <a:p>
            <a:pPr algn="l"/>
            <a:r>
              <a:rPr lang="en-IN" b="0" i="0" dirty="0" err="1">
                <a:solidFill>
                  <a:srgbClr val="657B83"/>
                </a:solidFill>
                <a:effectLst/>
                <a:latin typeface="Consolas" panose="020B0609020204030204" pitchFamily="49" charset="0"/>
              </a:rPr>
              <a:t>dataType</a:t>
            </a:r>
            <a:r>
              <a:rPr lang="en-IN" b="0" i="0" dirty="0">
                <a:solidFill>
                  <a:srgbClr val="586E75"/>
                </a:solidFill>
                <a:effectLst/>
                <a:latin typeface="Consolas" panose="020B0609020204030204" pitchFamily="49" charset="0"/>
              </a:rPr>
              <a:t>[]</a:t>
            </a:r>
            <a:r>
              <a:rPr lang="en-IN" b="0" i="0" dirty="0">
                <a:solidFill>
                  <a:srgbClr val="657B83"/>
                </a:solidFill>
                <a:effectLst/>
                <a:latin typeface="Consolas" panose="020B0609020204030204" pitchFamily="49" charset="0"/>
              </a:rPr>
              <a:t> </a:t>
            </a:r>
            <a:r>
              <a:rPr lang="en-IN" b="0" i="0" dirty="0" err="1">
                <a:solidFill>
                  <a:srgbClr val="657B83"/>
                </a:solidFill>
                <a:effectLst/>
                <a:latin typeface="Consolas" panose="020B0609020204030204" pitchFamily="49" charset="0"/>
              </a:rPr>
              <a:t>arrayName</a:t>
            </a:r>
            <a:r>
              <a:rPr lang="en-IN" b="0" i="0" dirty="0">
                <a:solidFill>
                  <a:srgbClr val="657B83"/>
                </a:solidFill>
                <a:effectLst/>
                <a:latin typeface="Consolas" panose="020B0609020204030204" pitchFamily="49" charset="0"/>
              </a:rPr>
              <a:t> = </a:t>
            </a:r>
            <a:r>
              <a:rPr lang="en-IN" b="0" i="0" dirty="0">
                <a:solidFill>
                  <a:srgbClr val="586E75"/>
                </a:solidFill>
                <a:effectLst/>
                <a:latin typeface="Consolas" panose="020B0609020204030204" pitchFamily="49" charset="0"/>
              </a:rPr>
              <a:t>{</a:t>
            </a:r>
            <a:r>
              <a:rPr lang="en-IN" b="0" i="0" dirty="0">
                <a:solidFill>
                  <a:srgbClr val="657B83"/>
                </a:solidFill>
                <a:effectLst/>
                <a:latin typeface="Consolas" panose="020B0609020204030204" pitchFamily="49" charset="0"/>
              </a:rPr>
              <a:t>value1</a:t>
            </a:r>
            <a:r>
              <a:rPr lang="en-IN" b="0" i="0" dirty="0">
                <a:solidFill>
                  <a:srgbClr val="586E75"/>
                </a:solidFill>
                <a:effectLst/>
                <a:latin typeface="Consolas" panose="020B0609020204030204" pitchFamily="49" charset="0"/>
              </a:rPr>
              <a:t>,</a:t>
            </a:r>
            <a:r>
              <a:rPr lang="en-IN" b="0" i="0" dirty="0">
                <a:solidFill>
                  <a:srgbClr val="657B83"/>
                </a:solidFill>
                <a:effectLst/>
                <a:latin typeface="Consolas" panose="020B0609020204030204" pitchFamily="49" charset="0"/>
              </a:rPr>
              <a:t> value2</a:t>
            </a:r>
            <a:r>
              <a:rPr lang="en-IN" b="0" i="0" dirty="0">
                <a:solidFill>
                  <a:srgbClr val="586E75"/>
                </a:solidFill>
                <a:effectLst/>
                <a:latin typeface="Consolas" panose="020B0609020204030204" pitchFamily="49" charset="0"/>
              </a:rPr>
              <a:t>,</a:t>
            </a:r>
            <a:r>
              <a:rPr lang="en-IN" b="0" i="0" dirty="0">
                <a:solidFill>
                  <a:srgbClr val="657B83"/>
                </a:solidFill>
                <a:effectLst/>
                <a:latin typeface="Consolas" panose="020B0609020204030204" pitchFamily="49" charset="0"/>
              </a:rPr>
              <a:t> ...</a:t>
            </a:r>
            <a:r>
              <a:rPr lang="en-IN" b="0" i="0" dirty="0">
                <a:solidFill>
                  <a:srgbClr val="586E75"/>
                </a:solidFill>
                <a:effectLst/>
                <a:latin typeface="Consolas" panose="020B0609020204030204" pitchFamily="49" charset="0"/>
              </a:rPr>
              <a:t>,</a:t>
            </a:r>
            <a:r>
              <a:rPr lang="en-IN" b="0" i="0" dirty="0">
                <a:solidFill>
                  <a:srgbClr val="657B83"/>
                </a:solidFill>
                <a:effectLst/>
                <a:latin typeface="Consolas" panose="020B0609020204030204" pitchFamily="49" charset="0"/>
              </a:rPr>
              <a:t> </a:t>
            </a:r>
            <a:r>
              <a:rPr lang="en-IN" b="0" i="0" dirty="0" err="1">
                <a:solidFill>
                  <a:srgbClr val="657B83"/>
                </a:solidFill>
                <a:effectLst/>
                <a:latin typeface="Consolas" panose="020B0609020204030204" pitchFamily="49" charset="0"/>
              </a:rPr>
              <a:t>valueN</a:t>
            </a:r>
            <a:r>
              <a:rPr lang="en-IN" b="0" i="0" dirty="0">
                <a:solidFill>
                  <a:srgbClr val="586E75"/>
                </a:solidFill>
                <a:effectLst/>
                <a:latin typeface="Consolas" panose="020B0609020204030204" pitchFamily="49" charset="0"/>
              </a:rPr>
              <a:t>};</a:t>
            </a:r>
            <a:r>
              <a:rPr lang="en-IN" b="0" i="0" dirty="0">
                <a:solidFill>
                  <a:srgbClr val="657B83"/>
                </a:solidFill>
                <a:effectLst/>
                <a:latin typeface="Consolas" panose="020B0609020204030204" pitchFamily="49" charset="0"/>
              </a:rPr>
              <a:t> </a:t>
            </a:r>
          </a:p>
          <a:p>
            <a:pPr algn="l"/>
            <a:br>
              <a:rPr lang="en-IN" b="1" i="0" cap="all" dirty="0">
                <a:solidFill>
                  <a:srgbClr val="5D6A77"/>
                </a:solidFill>
                <a:effectLst/>
                <a:latin typeface="Studio-Feixen-Sans"/>
              </a:rPr>
            </a:br>
            <a:endParaRPr lang="en-IN" b="1" i="0" cap="all" dirty="0">
              <a:solidFill>
                <a:srgbClr val="5D6A77"/>
              </a:solidFill>
              <a:effectLst/>
              <a:latin typeface="Studio-Feixen-Sans"/>
            </a:endParaRPr>
          </a:p>
          <a:p>
            <a:endParaRPr lang="en-US" dirty="0"/>
          </a:p>
        </p:txBody>
      </p:sp>
      <p:pic>
        <p:nvPicPr>
          <p:cNvPr id="4" name="Picture 3">
            <a:extLst>
              <a:ext uri="{FF2B5EF4-FFF2-40B4-BE49-F238E27FC236}">
                <a16:creationId xmlns:a16="http://schemas.microsoft.com/office/drawing/2014/main" id="{52E1CF70-5D8B-8127-D93B-5B8468777877}"/>
              </a:ext>
            </a:extLst>
          </p:cNvPr>
          <p:cNvPicPr>
            <a:picLocks noChangeAspect="1"/>
          </p:cNvPicPr>
          <p:nvPr/>
        </p:nvPicPr>
        <p:blipFill>
          <a:blip r:embed="rId2"/>
          <a:stretch>
            <a:fillRect/>
          </a:stretch>
        </p:blipFill>
        <p:spPr>
          <a:xfrm>
            <a:off x="3068029" y="4197567"/>
            <a:ext cx="7772400" cy="2493900"/>
          </a:xfrm>
          <a:prstGeom prst="rect">
            <a:avLst/>
          </a:prstGeom>
        </p:spPr>
      </p:pic>
    </p:spTree>
    <p:extLst>
      <p:ext uri="{BB962C8B-B14F-4D97-AF65-F5344CB8AC3E}">
        <p14:creationId xmlns:p14="http://schemas.microsoft.com/office/powerpoint/2010/main" val="4004378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1B1E4-F52E-C827-FB7E-F1EFD97EE6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46CE8A6-6DF9-1785-527B-35264F58E9A2}"/>
              </a:ext>
            </a:extLst>
          </p:cNvPr>
          <p:cNvSpPr>
            <a:spLocks noGrp="1"/>
          </p:cNvSpPr>
          <p:nvPr>
            <p:ph idx="1"/>
          </p:nvPr>
        </p:nvSpPr>
        <p:spPr/>
        <p:txBody>
          <a:bodyPr/>
          <a:lstStyle/>
          <a:p>
            <a:pPr algn="l"/>
            <a:r>
              <a:rPr lang="en-IN" b="1" i="0" dirty="0">
                <a:solidFill>
                  <a:srgbClr val="05192D"/>
                </a:solidFill>
                <a:effectLst/>
                <a:latin typeface="Studio-Feixen-Sans"/>
              </a:rPr>
              <a:t>Method 2: Using the new Keyword</a:t>
            </a:r>
          </a:p>
          <a:p>
            <a:pPr algn="l"/>
            <a:r>
              <a:rPr lang="en-IN" b="0" i="0" dirty="0">
                <a:solidFill>
                  <a:srgbClr val="05192D"/>
                </a:solidFill>
                <a:effectLst/>
                <a:latin typeface="Studio-Feixen-Sans"/>
              </a:rPr>
              <a:t>You can also use the new keyword to allocate memory for the array and then assign values to each index.</a:t>
            </a:r>
          </a:p>
          <a:p>
            <a:pPr algn="l"/>
            <a:r>
              <a:rPr lang="en-IN" b="1" i="0" dirty="0">
                <a:solidFill>
                  <a:srgbClr val="05192D"/>
                </a:solidFill>
                <a:effectLst/>
                <a:latin typeface="Studio-Feixen-Sans"/>
              </a:rPr>
              <a:t>Syntax: </a:t>
            </a:r>
            <a:r>
              <a:rPr lang="en-IN" dirty="0" err="1">
                <a:effectLst/>
              </a:rPr>
              <a:t>dataType</a:t>
            </a:r>
            <a:r>
              <a:rPr lang="en-IN" dirty="0">
                <a:solidFill>
                  <a:srgbClr val="586E75"/>
                </a:solidFill>
                <a:effectLst/>
              </a:rPr>
              <a:t>[]</a:t>
            </a:r>
            <a:r>
              <a:rPr lang="en-IN" dirty="0">
                <a:effectLst/>
              </a:rPr>
              <a:t> </a:t>
            </a:r>
            <a:r>
              <a:rPr lang="en-IN" dirty="0" err="1">
                <a:effectLst/>
              </a:rPr>
              <a:t>arrayName</a:t>
            </a:r>
            <a:r>
              <a:rPr lang="en-IN" dirty="0">
                <a:effectLst/>
              </a:rPr>
              <a:t> = </a:t>
            </a:r>
            <a:r>
              <a:rPr lang="en-IN" dirty="0">
                <a:solidFill>
                  <a:srgbClr val="008031"/>
                </a:solidFill>
                <a:effectLst/>
              </a:rPr>
              <a:t>new</a:t>
            </a:r>
            <a:r>
              <a:rPr lang="en-IN" dirty="0">
                <a:effectLst/>
              </a:rPr>
              <a:t> </a:t>
            </a:r>
            <a:r>
              <a:rPr lang="en-IN" dirty="0" err="1">
                <a:solidFill>
                  <a:srgbClr val="B58900"/>
                </a:solidFill>
                <a:effectLst/>
              </a:rPr>
              <a:t>dataType</a:t>
            </a:r>
            <a:r>
              <a:rPr lang="en-IN" dirty="0">
                <a:solidFill>
                  <a:srgbClr val="586E75"/>
                </a:solidFill>
                <a:effectLst/>
              </a:rPr>
              <a:t>[</a:t>
            </a:r>
            <a:r>
              <a:rPr lang="en-IN" dirty="0" err="1">
                <a:effectLst/>
              </a:rPr>
              <a:t>arraySize</a:t>
            </a:r>
            <a:r>
              <a:rPr lang="en-IN" dirty="0">
                <a:solidFill>
                  <a:srgbClr val="586E75"/>
                </a:solidFill>
                <a:effectLst/>
              </a:rPr>
              <a:t>];</a:t>
            </a:r>
            <a:endParaRPr lang="en-IN" dirty="0">
              <a:effectLst/>
            </a:endParaRPr>
          </a:p>
          <a:p>
            <a:endParaRPr lang="en-US" dirty="0"/>
          </a:p>
        </p:txBody>
      </p:sp>
      <p:pic>
        <p:nvPicPr>
          <p:cNvPr id="4" name="Picture 3">
            <a:extLst>
              <a:ext uri="{FF2B5EF4-FFF2-40B4-BE49-F238E27FC236}">
                <a16:creationId xmlns:a16="http://schemas.microsoft.com/office/drawing/2014/main" id="{C766F31E-6593-3423-D00D-A4BE21E1987E}"/>
              </a:ext>
            </a:extLst>
          </p:cNvPr>
          <p:cNvPicPr>
            <a:picLocks noChangeAspect="1"/>
          </p:cNvPicPr>
          <p:nvPr/>
        </p:nvPicPr>
        <p:blipFill>
          <a:blip r:embed="rId2"/>
          <a:stretch>
            <a:fillRect/>
          </a:stretch>
        </p:blipFill>
        <p:spPr>
          <a:xfrm>
            <a:off x="7829550" y="3650316"/>
            <a:ext cx="4362450" cy="3207684"/>
          </a:xfrm>
          <a:prstGeom prst="rect">
            <a:avLst/>
          </a:prstGeom>
        </p:spPr>
      </p:pic>
    </p:spTree>
    <p:extLst>
      <p:ext uri="{BB962C8B-B14F-4D97-AF65-F5344CB8AC3E}">
        <p14:creationId xmlns:p14="http://schemas.microsoft.com/office/powerpoint/2010/main" val="3286681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EE826-EBC2-BFD4-0C9A-E3F5DF702F78}"/>
              </a:ext>
            </a:extLst>
          </p:cNvPr>
          <p:cNvSpPr>
            <a:spLocks noGrp="1"/>
          </p:cNvSpPr>
          <p:nvPr>
            <p:ph type="title"/>
          </p:nvPr>
        </p:nvSpPr>
        <p:spPr/>
        <p:txBody>
          <a:bodyPr/>
          <a:lstStyle/>
          <a:p>
            <a:r>
              <a:rPr lang="en-IN" b="1" i="0" dirty="0">
                <a:effectLst/>
                <a:latin typeface="Google Sans"/>
              </a:rPr>
              <a:t>Accessing and Modifying Elements</a:t>
            </a:r>
            <a:endParaRPr lang="en-US" dirty="0"/>
          </a:p>
        </p:txBody>
      </p:sp>
      <p:sp>
        <p:nvSpPr>
          <p:cNvPr id="3" name="Content Placeholder 2">
            <a:extLst>
              <a:ext uri="{FF2B5EF4-FFF2-40B4-BE49-F238E27FC236}">
                <a16:creationId xmlns:a16="http://schemas.microsoft.com/office/drawing/2014/main" id="{38F79618-A5B0-0DEB-DCB1-7BF566ACF553}"/>
              </a:ext>
            </a:extLst>
          </p:cNvPr>
          <p:cNvSpPr>
            <a:spLocks noGrp="1"/>
          </p:cNvSpPr>
          <p:nvPr>
            <p:ph idx="1"/>
          </p:nvPr>
        </p:nvSpPr>
        <p:spPr/>
        <p:txBody>
          <a:bodyPr/>
          <a:lstStyle/>
          <a:p>
            <a:pPr algn="l"/>
            <a:r>
              <a:rPr lang="en-IN" b="0" i="0" dirty="0">
                <a:effectLst/>
                <a:latin typeface="Google Sans"/>
              </a:rPr>
              <a:t>Elements are accessed or modified using their index within square brackets: </a:t>
            </a:r>
          </a:p>
          <a:p>
            <a:pPr algn="l"/>
            <a:endParaRPr lang="en-IN" dirty="0">
              <a:latin typeface="Google Sans"/>
            </a:endParaRPr>
          </a:p>
          <a:p>
            <a:br>
              <a:rPr lang="en-IN" dirty="0"/>
            </a:br>
            <a:endParaRPr lang="en-IN" b="0" i="0" dirty="0">
              <a:effectLst/>
              <a:latin typeface="Google Sans"/>
            </a:endParaRPr>
          </a:p>
          <a:p>
            <a:endParaRPr lang="en-US" dirty="0"/>
          </a:p>
        </p:txBody>
      </p:sp>
      <p:pic>
        <p:nvPicPr>
          <p:cNvPr id="4" name="Picture 3">
            <a:extLst>
              <a:ext uri="{FF2B5EF4-FFF2-40B4-BE49-F238E27FC236}">
                <a16:creationId xmlns:a16="http://schemas.microsoft.com/office/drawing/2014/main" id="{A0142E76-EC3A-79ED-2C92-6065B37DAB59}"/>
              </a:ext>
            </a:extLst>
          </p:cNvPr>
          <p:cNvPicPr>
            <a:picLocks noChangeAspect="1"/>
          </p:cNvPicPr>
          <p:nvPr/>
        </p:nvPicPr>
        <p:blipFill>
          <a:blip r:embed="rId2"/>
          <a:stretch>
            <a:fillRect/>
          </a:stretch>
        </p:blipFill>
        <p:spPr>
          <a:xfrm>
            <a:off x="2976888" y="2877849"/>
            <a:ext cx="7248525" cy="3980151"/>
          </a:xfrm>
          <a:prstGeom prst="rect">
            <a:avLst/>
          </a:prstGeom>
        </p:spPr>
      </p:pic>
    </p:spTree>
    <p:extLst>
      <p:ext uri="{BB962C8B-B14F-4D97-AF65-F5344CB8AC3E}">
        <p14:creationId xmlns:p14="http://schemas.microsoft.com/office/powerpoint/2010/main" val="3407790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640CD-C842-855F-1CBB-B04532DEDFF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B87E4FA-06D9-1689-C0BF-876B25F62C44}"/>
              </a:ext>
            </a:extLst>
          </p:cNvPr>
          <p:cNvSpPr>
            <a:spLocks noGrp="1"/>
          </p:cNvSpPr>
          <p:nvPr>
            <p:ph idx="1"/>
          </p:nvPr>
        </p:nvSpPr>
        <p:spPr/>
        <p:txBody>
          <a:bodyPr/>
          <a:lstStyle/>
          <a:p>
            <a:r>
              <a:rPr lang="en-IN" b="0" i="0" dirty="0">
                <a:effectLst/>
                <a:latin typeface="Google Sans"/>
              </a:rPr>
              <a:t>Accessing an invalid index (negative or greater than/equal to the array's length) will result in an </a:t>
            </a:r>
            <a:r>
              <a:rPr lang="en-IN" b="0" i="0" dirty="0" err="1">
                <a:effectLst/>
                <a:latin typeface="Google Sans"/>
              </a:rPr>
              <a:t>ArrayIndexOutOfBoundsException</a:t>
            </a:r>
            <a:r>
              <a:rPr lang="en-IN" b="0" i="0" dirty="0">
                <a:effectLst/>
                <a:latin typeface="Google Sans"/>
              </a:rPr>
              <a:t> at runtime. </a:t>
            </a:r>
          </a:p>
          <a:p>
            <a:endParaRPr lang="en-US" dirty="0"/>
          </a:p>
        </p:txBody>
      </p:sp>
    </p:spTree>
    <p:extLst>
      <p:ext uri="{BB962C8B-B14F-4D97-AF65-F5344CB8AC3E}">
        <p14:creationId xmlns:p14="http://schemas.microsoft.com/office/powerpoint/2010/main" val="76694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EBA2A-BA89-3033-1228-7EFA0786882D}"/>
              </a:ext>
            </a:extLst>
          </p:cNvPr>
          <p:cNvSpPr>
            <a:spLocks noGrp="1"/>
          </p:cNvSpPr>
          <p:nvPr>
            <p:ph type="title"/>
          </p:nvPr>
        </p:nvSpPr>
        <p:spPr/>
        <p:txBody>
          <a:bodyPr/>
          <a:lstStyle/>
          <a:p>
            <a:r>
              <a:rPr lang="en-IN" b="1" dirty="0">
                <a:effectLst/>
                <a:latin typeface="Google Sans"/>
              </a:rPr>
              <a:t>Iterating Through Arrays</a:t>
            </a:r>
            <a:endParaRPr lang="en-US" dirty="0"/>
          </a:p>
        </p:txBody>
      </p:sp>
      <p:sp>
        <p:nvSpPr>
          <p:cNvPr id="3" name="Content Placeholder 2">
            <a:extLst>
              <a:ext uri="{FF2B5EF4-FFF2-40B4-BE49-F238E27FC236}">
                <a16:creationId xmlns:a16="http://schemas.microsoft.com/office/drawing/2014/main" id="{FDBD0247-9029-6899-70CB-09D2E57F72F8}"/>
              </a:ext>
            </a:extLst>
          </p:cNvPr>
          <p:cNvSpPr>
            <a:spLocks noGrp="1"/>
          </p:cNvSpPr>
          <p:nvPr>
            <p:ph idx="1"/>
          </p:nvPr>
        </p:nvSpPr>
        <p:spPr/>
        <p:txBody>
          <a:bodyPr/>
          <a:lstStyle/>
          <a:p>
            <a:r>
              <a:rPr lang="en-IN" dirty="0">
                <a:effectLst/>
                <a:latin typeface="Google Sans"/>
              </a:rPr>
              <a:t>Arrays are often processed using loops: </a:t>
            </a:r>
          </a:p>
          <a:p>
            <a:pPr algn="l">
              <a:buFont typeface="Arial" panose="020B0604020202020204" pitchFamily="34" charset="0"/>
              <a:buChar char="•"/>
            </a:pPr>
            <a:r>
              <a:rPr lang="en-IN" b="1" i="0" dirty="0">
                <a:effectLst/>
                <a:latin typeface="Google Sans"/>
              </a:rPr>
              <a:t>Standard for loop (for index control):</a:t>
            </a:r>
            <a:br>
              <a:rPr lang="en-IN" b="0" i="0" dirty="0">
                <a:effectLst/>
                <a:latin typeface="Google Sans"/>
              </a:rPr>
            </a:br>
            <a:endParaRPr lang="en-IN" b="0" i="0" dirty="0">
              <a:effectLst/>
              <a:latin typeface="Google Sans"/>
            </a:endParaRPr>
          </a:p>
          <a:p>
            <a:endParaRPr lang="en-US" dirty="0"/>
          </a:p>
        </p:txBody>
      </p:sp>
      <p:pic>
        <p:nvPicPr>
          <p:cNvPr id="4" name="Picture 3">
            <a:extLst>
              <a:ext uri="{FF2B5EF4-FFF2-40B4-BE49-F238E27FC236}">
                <a16:creationId xmlns:a16="http://schemas.microsoft.com/office/drawing/2014/main" id="{D3AA8EC6-92E7-FA47-B13A-6E8D0EB163BC}"/>
              </a:ext>
            </a:extLst>
          </p:cNvPr>
          <p:cNvPicPr>
            <a:picLocks noChangeAspect="1"/>
          </p:cNvPicPr>
          <p:nvPr/>
        </p:nvPicPr>
        <p:blipFill>
          <a:blip r:embed="rId2"/>
          <a:stretch>
            <a:fillRect/>
          </a:stretch>
        </p:blipFill>
        <p:spPr>
          <a:xfrm>
            <a:off x="1166812" y="3146081"/>
            <a:ext cx="8804672" cy="2326031"/>
          </a:xfrm>
          <a:prstGeom prst="rect">
            <a:avLst/>
          </a:prstGeom>
        </p:spPr>
      </p:pic>
    </p:spTree>
    <p:extLst>
      <p:ext uri="{BB962C8B-B14F-4D97-AF65-F5344CB8AC3E}">
        <p14:creationId xmlns:p14="http://schemas.microsoft.com/office/powerpoint/2010/main" val="2765185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253ED-F310-F8A8-544A-2F5AF6F95B16}"/>
              </a:ext>
            </a:extLst>
          </p:cNvPr>
          <p:cNvSpPr>
            <a:spLocks noGrp="1"/>
          </p:cNvSpPr>
          <p:nvPr>
            <p:ph type="title"/>
          </p:nvPr>
        </p:nvSpPr>
        <p:spPr/>
        <p:txBody>
          <a:bodyPr/>
          <a:lstStyle/>
          <a:p>
            <a:r>
              <a:rPr lang="en-IN" b="1" dirty="0">
                <a:effectLst/>
                <a:latin typeface="Google Sans"/>
              </a:rPr>
              <a:t>Iterating Through Arrays</a:t>
            </a:r>
            <a:endParaRPr lang="en-US" dirty="0"/>
          </a:p>
        </p:txBody>
      </p:sp>
      <p:sp>
        <p:nvSpPr>
          <p:cNvPr id="3" name="Content Placeholder 2">
            <a:extLst>
              <a:ext uri="{FF2B5EF4-FFF2-40B4-BE49-F238E27FC236}">
                <a16:creationId xmlns:a16="http://schemas.microsoft.com/office/drawing/2014/main" id="{AE7444AC-A6CB-7EC4-1CB3-60FA5CFBD8F2}"/>
              </a:ext>
            </a:extLst>
          </p:cNvPr>
          <p:cNvSpPr>
            <a:spLocks noGrp="1"/>
          </p:cNvSpPr>
          <p:nvPr>
            <p:ph idx="1"/>
          </p:nvPr>
        </p:nvSpPr>
        <p:spPr/>
        <p:txBody>
          <a:bodyPr/>
          <a:lstStyle/>
          <a:p>
            <a:r>
              <a:rPr lang="en-IN" b="1" i="0" dirty="0">
                <a:effectLst/>
                <a:latin typeface="Google Sans"/>
              </a:rPr>
              <a:t>Enhanced for-each loop (for simpler iteration over values):</a:t>
            </a:r>
            <a:br>
              <a:rPr lang="en-IN" b="0" i="0" dirty="0">
                <a:effectLst/>
                <a:latin typeface="Google Sans"/>
              </a:rPr>
            </a:br>
            <a:endParaRPr lang="en-IN" b="0" i="0" dirty="0">
              <a:effectLst/>
              <a:latin typeface="Google Sans"/>
            </a:endParaRPr>
          </a:p>
          <a:p>
            <a:endParaRPr lang="en-US" dirty="0"/>
          </a:p>
        </p:txBody>
      </p:sp>
      <p:pic>
        <p:nvPicPr>
          <p:cNvPr id="4" name="Picture 3">
            <a:extLst>
              <a:ext uri="{FF2B5EF4-FFF2-40B4-BE49-F238E27FC236}">
                <a16:creationId xmlns:a16="http://schemas.microsoft.com/office/drawing/2014/main" id="{E6EA9D3A-453C-2AA7-175B-C885D8954C0B}"/>
              </a:ext>
            </a:extLst>
          </p:cNvPr>
          <p:cNvPicPr>
            <a:picLocks noChangeAspect="1"/>
          </p:cNvPicPr>
          <p:nvPr/>
        </p:nvPicPr>
        <p:blipFill>
          <a:blip r:embed="rId2"/>
          <a:stretch>
            <a:fillRect/>
          </a:stretch>
        </p:blipFill>
        <p:spPr>
          <a:xfrm>
            <a:off x="1238250" y="2444904"/>
            <a:ext cx="7772400" cy="3112779"/>
          </a:xfrm>
          <a:prstGeom prst="rect">
            <a:avLst/>
          </a:prstGeom>
        </p:spPr>
      </p:pic>
    </p:spTree>
    <p:extLst>
      <p:ext uri="{BB962C8B-B14F-4D97-AF65-F5344CB8AC3E}">
        <p14:creationId xmlns:p14="http://schemas.microsoft.com/office/powerpoint/2010/main" val="3740439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B8B56-7F5C-F79C-6DE7-69279643600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B38F19-C46B-7EE8-74A4-E581ED57BC5E}"/>
              </a:ext>
            </a:extLst>
          </p:cNvPr>
          <p:cNvSpPr>
            <a:spLocks noGrp="1"/>
          </p:cNvSpPr>
          <p:nvPr>
            <p:ph idx="1"/>
          </p:nvPr>
        </p:nvSpPr>
        <p:spPr/>
        <p:txBody>
          <a:bodyPr/>
          <a:lstStyle/>
          <a:p>
            <a:r>
              <a:rPr lang="en-IN" b="1" i="0" dirty="0">
                <a:solidFill>
                  <a:srgbClr val="05192D"/>
                </a:solidFill>
                <a:effectLst/>
                <a:latin typeface="Studio-Feixen-Sans"/>
              </a:rPr>
              <a:t>Use Arrays Utility Class</a:t>
            </a:r>
            <a:r>
              <a:rPr lang="en-IN" b="0" i="0" dirty="0">
                <a:solidFill>
                  <a:srgbClr val="05192D"/>
                </a:solidFill>
                <a:effectLst/>
                <a:latin typeface="Studio-Feixen-Sans"/>
              </a:rPr>
              <a:t>: Java provides the </a:t>
            </a:r>
            <a:r>
              <a:rPr lang="en-IN" b="0" i="0" dirty="0" err="1">
                <a:solidFill>
                  <a:srgbClr val="05192D"/>
                </a:solidFill>
                <a:effectLst/>
                <a:latin typeface="Studio-Feixen-Sans"/>
              </a:rPr>
              <a:t>java.util.Arrays</a:t>
            </a:r>
            <a:r>
              <a:rPr lang="en-IN" b="0" i="0" dirty="0">
                <a:solidFill>
                  <a:srgbClr val="05192D"/>
                </a:solidFill>
                <a:effectLst/>
                <a:latin typeface="Studio-Feixen-Sans"/>
              </a:rPr>
              <a:t> class with utility methods for array manipulation, such as sort(), fill(), and </a:t>
            </a:r>
            <a:r>
              <a:rPr lang="en-IN" b="0" i="0" dirty="0" err="1">
                <a:solidFill>
                  <a:srgbClr val="05192D"/>
                </a:solidFill>
                <a:effectLst/>
                <a:latin typeface="Studio-Feixen-Sans"/>
              </a:rPr>
              <a:t>toString</a:t>
            </a:r>
            <a:r>
              <a:rPr lang="en-IN" b="0" i="0" dirty="0">
                <a:solidFill>
                  <a:srgbClr val="05192D"/>
                </a:solidFill>
                <a:effectLst/>
                <a:latin typeface="Studio-Feixen-Sans"/>
              </a:rPr>
              <a:t>() for easy handling of arrays.</a:t>
            </a:r>
          </a:p>
          <a:p>
            <a:endParaRPr lang="en-US" dirty="0"/>
          </a:p>
        </p:txBody>
      </p:sp>
    </p:spTree>
    <p:extLst>
      <p:ext uri="{BB962C8B-B14F-4D97-AF65-F5344CB8AC3E}">
        <p14:creationId xmlns:p14="http://schemas.microsoft.com/office/powerpoint/2010/main" val="4051529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134FD-4F75-D126-362E-DEFD5A17B891}"/>
              </a:ext>
            </a:extLst>
          </p:cNvPr>
          <p:cNvSpPr>
            <a:spLocks noGrp="1"/>
          </p:cNvSpPr>
          <p:nvPr>
            <p:ph type="title"/>
          </p:nvPr>
        </p:nvSpPr>
        <p:spPr/>
        <p:txBody>
          <a:bodyPr/>
          <a:lstStyle/>
          <a:p>
            <a:r>
              <a:rPr lang="en-IN" b="1" i="0" dirty="0">
                <a:effectLst/>
                <a:latin typeface="Google Sans"/>
              </a:rPr>
              <a:t>Core Array Operations</a:t>
            </a:r>
            <a:endParaRPr lang="en-US" dirty="0"/>
          </a:p>
        </p:txBody>
      </p:sp>
      <p:sp>
        <p:nvSpPr>
          <p:cNvPr id="3" name="Content Placeholder 2">
            <a:extLst>
              <a:ext uri="{FF2B5EF4-FFF2-40B4-BE49-F238E27FC236}">
                <a16:creationId xmlns:a16="http://schemas.microsoft.com/office/drawing/2014/main" id="{24A29CC7-0690-ECF7-36FE-148803DF8E3A}"/>
              </a:ext>
            </a:extLst>
          </p:cNvPr>
          <p:cNvSpPr>
            <a:spLocks noGrp="1"/>
          </p:cNvSpPr>
          <p:nvPr>
            <p:ph idx="1"/>
          </p:nvPr>
        </p:nvSpPr>
        <p:spPr/>
        <p:txBody>
          <a:bodyPr>
            <a:normAutofit fontScale="92500" lnSpcReduction="20000"/>
          </a:bodyPr>
          <a:lstStyle/>
          <a:p>
            <a:pPr algn="l"/>
            <a:r>
              <a:rPr lang="en-IN" b="0" i="0" dirty="0">
                <a:effectLst/>
                <a:latin typeface="Google Sans"/>
              </a:rPr>
              <a:t>The primary operations on arrays in Java involve managing and manipulating their elements: </a:t>
            </a:r>
          </a:p>
          <a:p>
            <a:pPr algn="l">
              <a:buFont typeface="Arial" panose="020B0604020202020204" pitchFamily="34" charset="0"/>
              <a:buChar char="•"/>
            </a:pPr>
            <a:r>
              <a:rPr lang="en-IN" b="1" i="0" dirty="0">
                <a:effectLst/>
                <a:latin typeface="Google Sans"/>
              </a:rPr>
              <a:t>Declaration:</a:t>
            </a:r>
            <a:r>
              <a:rPr lang="en-IN" b="0" i="0" dirty="0">
                <a:effectLst/>
                <a:latin typeface="Google Sans"/>
              </a:rPr>
              <a:t> Declaring an array creates a reference variable that can point to an array object.</a:t>
            </a:r>
          </a:p>
          <a:p>
            <a:r>
              <a:rPr lang="en-US" dirty="0"/>
              <a:t>int[] numbers; // The preferred Java style</a:t>
            </a:r>
          </a:p>
          <a:p>
            <a:endParaRPr lang="en-US" dirty="0"/>
          </a:p>
          <a:p>
            <a:r>
              <a:rPr lang="en-IN" b="1" i="0" dirty="0">
                <a:effectLst/>
                <a:latin typeface="Google Sans"/>
              </a:rPr>
              <a:t>Initialization (Allocation):</a:t>
            </a:r>
            <a:r>
              <a:rPr lang="en-IN" b="0" i="0" dirty="0">
                <a:effectLst/>
                <a:latin typeface="Google Sans"/>
              </a:rPr>
              <a:t> This is where memory is allocated for the array using the </a:t>
            </a:r>
            <a:r>
              <a:rPr lang="en-IN" dirty="0"/>
              <a:t>new</a:t>
            </a:r>
            <a:r>
              <a:rPr lang="en-IN" b="0" i="0" dirty="0">
                <a:effectLst/>
                <a:latin typeface="Google Sans"/>
              </a:rPr>
              <a:t> keyword, and its size is determined. Elements are automatically initialized to default values (e.g., </a:t>
            </a:r>
            <a:r>
              <a:rPr lang="en-IN" dirty="0"/>
              <a:t>0</a:t>
            </a:r>
            <a:r>
              <a:rPr lang="en-IN" b="0" i="0" dirty="0">
                <a:effectLst/>
                <a:latin typeface="Google Sans"/>
              </a:rPr>
              <a:t> for </a:t>
            </a:r>
            <a:r>
              <a:rPr lang="en-IN" dirty="0"/>
              <a:t>int</a:t>
            </a:r>
            <a:r>
              <a:rPr lang="en-IN" b="0" i="0" dirty="0">
                <a:effectLst/>
                <a:latin typeface="Google Sans"/>
              </a:rPr>
              <a:t>, </a:t>
            </a:r>
            <a:r>
              <a:rPr lang="en-IN" dirty="0"/>
              <a:t>null</a:t>
            </a:r>
            <a:r>
              <a:rPr lang="en-IN" b="0" i="0" dirty="0">
                <a:effectLst/>
                <a:latin typeface="Google Sans"/>
              </a:rPr>
              <a:t> for objects).</a:t>
            </a:r>
          </a:p>
          <a:p>
            <a:r>
              <a:rPr lang="en-US" dirty="0"/>
              <a:t>numbers = new int[5];</a:t>
            </a:r>
          </a:p>
          <a:p>
            <a:r>
              <a:rPr lang="en-US" dirty="0"/>
              <a:t>// Combined declaration and initialization</a:t>
            </a:r>
          </a:p>
          <a:p>
            <a:r>
              <a:rPr lang="en-US" dirty="0"/>
              <a:t>int[] age = {12, 4, 5, 2, 5};</a:t>
            </a:r>
          </a:p>
          <a:p>
            <a:endParaRPr lang="en-US" dirty="0"/>
          </a:p>
        </p:txBody>
      </p:sp>
    </p:spTree>
    <p:extLst>
      <p:ext uri="{BB962C8B-B14F-4D97-AF65-F5344CB8AC3E}">
        <p14:creationId xmlns:p14="http://schemas.microsoft.com/office/powerpoint/2010/main" val="2532669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3421C-282A-7AC6-B610-06F034751E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C6F89DD-ED17-E091-E09A-2577525CE897}"/>
              </a:ext>
            </a:extLst>
          </p:cNvPr>
          <p:cNvSpPr>
            <a:spLocks noGrp="1"/>
          </p:cNvSpPr>
          <p:nvPr>
            <p:ph idx="1"/>
          </p:nvPr>
        </p:nvSpPr>
        <p:spPr/>
        <p:txBody>
          <a:bodyPr/>
          <a:lstStyle/>
          <a:p>
            <a:r>
              <a:rPr lang="en-IN" b="1" i="0" dirty="0">
                <a:effectLst/>
                <a:latin typeface="Google Sans"/>
              </a:rPr>
              <a:t>Accessing Elements:</a:t>
            </a:r>
            <a:r>
              <a:rPr lang="en-IN" b="0" i="0" dirty="0">
                <a:effectLst/>
                <a:latin typeface="Google Sans"/>
              </a:rPr>
              <a:t> Elements are accessed using a zero-based index within square brackets [].</a:t>
            </a:r>
            <a:br>
              <a:rPr lang="en-IN" b="0" i="0" dirty="0">
                <a:effectLst/>
                <a:latin typeface="Google Sans"/>
              </a:rPr>
            </a:br>
            <a:endParaRPr lang="en-IN" b="0" i="0" dirty="0">
              <a:effectLst/>
              <a:latin typeface="Google Sans"/>
            </a:endParaRPr>
          </a:p>
          <a:p>
            <a:r>
              <a:rPr lang="en-US" dirty="0"/>
              <a:t>int </a:t>
            </a:r>
            <a:r>
              <a:rPr lang="en-US" dirty="0" err="1"/>
              <a:t>firstNumber</a:t>
            </a:r>
            <a:r>
              <a:rPr lang="en-US" dirty="0"/>
              <a:t> = age[0]; // Accesses the first element (12)</a:t>
            </a:r>
          </a:p>
          <a:p>
            <a:endParaRPr lang="en-US" dirty="0"/>
          </a:p>
          <a:p>
            <a:r>
              <a:rPr lang="en-IN" b="1" i="0" dirty="0">
                <a:effectLst/>
                <a:latin typeface="Google Sans"/>
              </a:rPr>
              <a:t>Updating Elements:</a:t>
            </a:r>
            <a:r>
              <a:rPr lang="en-IN" b="0" i="0" dirty="0">
                <a:effectLst/>
                <a:latin typeface="Google Sans"/>
              </a:rPr>
              <a:t> The value of an element at a specific index can be changed by assigning a new value to it.</a:t>
            </a:r>
            <a:br>
              <a:rPr lang="en-IN" b="0" i="0" dirty="0">
                <a:effectLst/>
                <a:latin typeface="Google Sans"/>
              </a:rPr>
            </a:br>
            <a:endParaRPr lang="en-IN" b="0" i="0" dirty="0">
              <a:effectLst/>
              <a:latin typeface="Google Sans"/>
            </a:endParaRPr>
          </a:p>
          <a:p>
            <a:r>
              <a:rPr lang="en-US" dirty="0"/>
              <a:t>age[0] = 20; // Changes the first element to 20</a:t>
            </a:r>
          </a:p>
          <a:p>
            <a:endParaRPr lang="en-US" dirty="0"/>
          </a:p>
        </p:txBody>
      </p:sp>
    </p:spTree>
    <p:extLst>
      <p:ext uri="{BB962C8B-B14F-4D97-AF65-F5344CB8AC3E}">
        <p14:creationId xmlns:p14="http://schemas.microsoft.com/office/powerpoint/2010/main" val="14384263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8CB96-700F-08D7-1C5D-F071574B6F6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8AD453A-02C1-CEBF-2D42-3EAE9A727AC9}"/>
              </a:ext>
            </a:extLst>
          </p:cNvPr>
          <p:cNvSpPr>
            <a:spLocks noGrp="1"/>
          </p:cNvSpPr>
          <p:nvPr>
            <p:ph idx="1"/>
          </p:nvPr>
        </p:nvSpPr>
        <p:spPr/>
        <p:txBody>
          <a:bodyPr>
            <a:normAutofit fontScale="70000" lnSpcReduction="20000"/>
          </a:bodyPr>
          <a:lstStyle/>
          <a:p>
            <a:r>
              <a:rPr lang="en-IN" b="1" i="0" dirty="0">
                <a:effectLst/>
                <a:latin typeface="Google Sans"/>
              </a:rPr>
              <a:t>Traversal:</a:t>
            </a:r>
            <a:r>
              <a:rPr lang="en-IN" b="0" i="0" dirty="0">
                <a:effectLst/>
                <a:latin typeface="Google Sans"/>
              </a:rPr>
              <a:t> Iterating through all elements, typically using a for loop or an enhanced for-each loop.</a:t>
            </a:r>
            <a:br>
              <a:rPr lang="en-IN" b="0" i="0" dirty="0">
                <a:effectLst/>
                <a:latin typeface="Google Sans"/>
              </a:rPr>
            </a:br>
            <a:endParaRPr lang="en-IN" b="0" i="0" dirty="0">
              <a:effectLst/>
              <a:latin typeface="Google Sans"/>
            </a:endParaRPr>
          </a:p>
          <a:p>
            <a:r>
              <a:rPr lang="en-US" dirty="0"/>
              <a:t>// Using a for-each loop</a:t>
            </a:r>
          </a:p>
          <a:p>
            <a:r>
              <a:rPr lang="en-US" dirty="0"/>
              <a:t>for (int value : age) {</a:t>
            </a:r>
          </a:p>
          <a:p>
            <a:r>
              <a:rPr lang="en-US" dirty="0"/>
              <a:t>    </a:t>
            </a:r>
            <a:r>
              <a:rPr lang="en-US" dirty="0" err="1"/>
              <a:t>System.out.println</a:t>
            </a:r>
            <a:r>
              <a:rPr lang="en-US" dirty="0"/>
              <a:t>(value);</a:t>
            </a:r>
          </a:p>
          <a:p>
            <a:r>
              <a:rPr lang="en-US" dirty="0"/>
              <a:t>}</a:t>
            </a:r>
          </a:p>
          <a:p>
            <a:r>
              <a:rPr lang="en-US" dirty="0"/>
              <a:t>// Using a standard for loop</a:t>
            </a:r>
          </a:p>
          <a:p>
            <a:r>
              <a:rPr lang="en-US" dirty="0"/>
              <a:t>for (int </a:t>
            </a:r>
            <a:r>
              <a:rPr lang="en-US" dirty="0" err="1"/>
              <a:t>i</a:t>
            </a:r>
            <a:r>
              <a:rPr lang="en-US" dirty="0"/>
              <a:t> = 0; </a:t>
            </a:r>
            <a:r>
              <a:rPr lang="en-US" dirty="0" err="1"/>
              <a:t>i</a:t>
            </a:r>
            <a:r>
              <a:rPr lang="en-US" dirty="0"/>
              <a:t> &lt; </a:t>
            </a:r>
            <a:r>
              <a:rPr lang="en-US" dirty="0" err="1"/>
              <a:t>age.length</a:t>
            </a:r>
            <a:r>
              <a:rPr lang="en-US" dirty="0"/>
              <a:t>; </a:t>
            </a:r>
            <a:r>
              <a:rPr lang="en-US" dirty="0" err="1"/>
              <a:t>i</a:t>
            </a:r>
            <a:r>
              <a:rPr lang="en-US" dirty="0"/>
              <a:t>++) {</a:t>
            </a:r>
          </a:p>
          <a:p>
            <a:r>
              <a:rPr lang="en-US" dirty="0"/>
              <a:t>    </a:t>
            </a:r>
            <a:r>
              <a:rPr lang="en-US" dirty="0" err="1"/>
              <a:t>System.out.println</a:t>
            </a:r>
            <a:r>
              <a:rPr lang="en-US" dirty="0"/>
              <a:t>(age[</a:t>
            </a:r>
            <a:r>
              <a:rPr lang="en-US" dirty="0" err="1"/>
              <a:t>i</a:t>
            </a:r>
            <a:r>
              <a:rPr lang="en-US" dirty="0"/>
              <a:t>]);</a:t>
            </a:r>
          </a:p>
          <a:p>
            <a:r>
              <a:rPr lang="en-US" dirty="0"/>
              <a:t>}</a:t>
            </a:r>
          </a:p>
          <a:p>
            <a:r>
              <a:rPr lang="en-IN" b="1" i="0" dirty="0">
                <a:effectLst/>
                <a:latin typeface="Google Sans"/>
              </a:rPr>
              <a:t>Length:</a:t>
            </a:r>
            <a:r>
              <a:rPr lang="en-IN" b="0" i="0" dirty="0">
                <a:effectLst/>
                <a:latin typeface="Google Sans"/>
              </a:rPr>
              <a:t> The number of elements an array can hold is accessed using the length property.</a:t>
            </a:r>
            <a:br>
              <a:rPr lang="en-IN" b="0" i="0" dirty="0">
                <a:effectLst/>
                <a:latin typeface="Google Sans"/>
              </a:rPr>
            </a:br>
            <a:endParaRPr lang="en-IN" b="0" i="0" dirty="0">
              <a:effectLst/>
              <a:latin typeface="Google Sans"/>
            </a:endParaRPr>
          </a:p>
          <a:p>
            <a:r>
              <a:rPr lang="en-US" dirty="0"/>
              <a:t>int size = </a:t>
            </a:r>
            <a:r>
              <a:rPr lang="en-US" dirty="0" err="1"/>
              <a:t>age.length</a:t>
            </a:r>
            <a:r>
              <a:rPr lang="en-US" dirty="0"/>
              <a:t>; // size will be 5</a:t>
            </a:r>
          </a:p>
          <a:p>
            <a:endParaRPr lang="en-US" dirty="0"/>
          </a:p>
        </p:txBody>
      </p:sp>
    </p:spTree>
    <p:extLst>
      <p:ext uri="{BB962C8B-B14F-4D97-AF65-F5344CB8AC3E}">
        <p14:creationId xmlns:p14="http://schemas.microsoft.com/office/powerpoint/2010/main" val="1017040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CD0DF-086D-9BB3-ADA9-2741CBD1514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B1C268-7B2C-0E6A-B115-245B51C7AB3C}"/>
              </a:ext>
            </a:extLst>
          </p:cNvPr>
          <p:cNvSpPr>
            <a:spLocks noGrp="1"/>
          </p:cNvSpPr>
          <p:nvPr>
            <p:ph idx="1"/>
          </p:nvPr>
        </p:nvSpPr>
        <p:spPr/>
        <p:txBody>
          <a:bodyPr>
            <a:normAutofit fontScale="92500" lnSpcReduction="10000"/>
          </a:bodyPr>
          <a:lstStyle/>
          <a:p>
            <a:r>
              <a:rPr lang="en-IN" b="1" dirty="0">
                <a:effectLst/>
                <a:latin typeface="Google Sans"/>
              </a:rPr>
              <a:t>Utility Operations with </a:t>
            </a:r>
            <a:r>
              <a:rPr lang="en-IN" b="1" dirty="0" err="1">
                <a:effectLst/>
                <a:latin typeface="Google Sans"/>
              </a:rPr>
              <a:t>java.util.Arrays</a:t>
            </a:r>
            <a:r>
              <a:rPr lang="en-IN" b="1" dirty="0">
                <a:effectLst/>
                <a:latin typeface="Google Sans"/>
              </a:rPr>
              <a:t> </a:t>
            </a:r>
          </a:p>
          <a:p>
            <a:r>
              <a:rPr lang="en-IN" dirty="0">
                <a:effectLst/>
                <a:latin typeface="Google Sans"/>
              </a:rPr>
              <a:t>Java provides the powerful </a:t>
            </a:r>
            <a:r>
              <a:rPr lang="en-IN" dirty="0" err="1">
                <a:effectLst/>
                <a:latin typeface="Google Sans"/>
              </a:rPr>
              <a:t>java.util.Arrays</a:t>
            </a:r>
            <a:r>
              <a:rPr lang="en-IN" dirty="0">
                <a:effectLst/>
                <a:latin typeface="Google Sans"/>
              </a:rPr>
              <a:t> class to simplify common array operations. </a:t>
            </a:r>
          </a:p>
          <a:p>
            <a:pPr algn="l">
              <a:buFont typeface="Arial" panose="020B0604020202020204" pitchFamily="34" charset="0"/>
              <a:buChar char="•"/>
            </a:pPr>
            <a:r>
              <a:rPr lang="en-IN" b="1" i="0" dirty="0">
                <a:effectLst/>
                <a:latin typeface="Google Sans"/>
              </a:rPr>
              <a:t>Sorting:</a:t>
            </a:r>
            <a:r>
              <a:rPr lang="en-IN" b="0" i="0" dirty="0">
                <a:effectLst/>
                <a:latin typeface="Google Sans"/>
              </a:rPr>
              <a:t> Arranges elements in ascending order.</a:t>
            </a:r>
            <a:br>
              <a:rPr lang="en-IN" b="0" i="0" dirty="0">
                <a:effectLst/>
                <a:latin typeface="Google Sans"/>
              </a:rPr>
            </a:br>
            <a:endParaRPr lang="en-IN" b="0" i="0" dirty="0">
              <a:effectLst/>
              <a:latin typeface="Google Sans"/>
            </a:endParaRPr>
          </a:p>
          <a:p>
            <a:r>
              <a:rPr lang="en-US" dirty="0"/>
              <a:t>import </a:t>
            </a:r>
            <a:r>
              <a:rPr lang="en-US" dirty="0" err="1"/>
              <a:t>java.util.Arrays</a:t>
            </a:r>
            <a:r>
              <a:rPr lang="en-US" dirty="0"/>
              <a:t>;</a:t>
            </a:r>
          </a:p>
          <a:p>
            <a:r>
              <a:rPr lang="en-US" dirty="0" err="1"/>
              <a:t>Arrays.sort</a:t>
            </a:r>
            <a:r>
              <a:rPr lang="en-US" dirty="0"/>
              <a:t>(age); // Sorts the 'age' array</a:t>
            </a:r>
          </a:p>
          <a:p>
            <a:r>
              <a:rPr lang="en-IN" b="1" i="0" dirty="0">
                <a:effectLst/>
                <a:latin typeface="Google Sans"/>
              </a:rPr>
              <a:t>Searching:</a:t>
            </a:r>
            <a:r>
              <a:rPr lang="en-IN" b="0" i="0" dirty="0">
                <a:effectLst/>
                <a:latin typeface="Google Sans"/>
              </a:rPr>
              <a:t> The </a:t>
            </a:r>
            <a:r>
              <a:rPr lang="en-IN" b="0" i="0" dirty="0" err="1">
                <a:effectLst/>
                <a:latin typeface="Google Sans"/>
              </a:rPr>
              <a:t>binarySearch</a:t>
            </a:r>
            <a:r>
              <a:rPr lang="en-IN" b="0" i="0" dirty="0">
                <a:effectLst/>
                <a:latin typeface="Google Sans"/>
              </a:rPr>
              <a:t>() method efficiently finds the index of a value in a </a:t>
            </a:r>
            <a:r>
              <a:rPr lang="en-IN" b="0" i="1" dirty="0">
                <a:effectLst/>
                <a:latin typeface="Google Sans"/>
              </a:rPr>
              <a:t>sorted</a:t>
            </a:r>
            <a:r>
              <a:rPr lang="en-IN" b="0" i="0" dirty="0">
                <a:effectLst/>
                <a:latin typeface="Google Sans"/>
              </a:rPr>
              <a:t> array.</a:t>
            </a:r>
            <a:br>
              <a:rPr lang="en-IN" b="0" i="0" dirty="0">
                <a:effectLst/>
                <a:latin typeface="Google Sans"/>
              </a:rPr>
            </a:br>
            <a:endParaRPr lang="en-IN" b="0" i="0" dirty="0">
              <a:effectLst/>
              <a:latin typeface="Google Sans"/>
            </a:endParaRPr>
          </a:p>
          <a:p>
            <a:r>
              <a:rPr lang="en-US" dirty="0"/>
              <a:t>int index = </a:t>
            </a:r>
            <a:r>
              <a:rPr lang="en-US" dirty="0" err="1"/>
              <a:t>Arrays.binarySearch</a:t>
            </a:r>
            <a:r>
              <a:rPr lang="en-US" dirty="0"/>
              <a:t>(age, 5); // Finds the index of the value 5</a:t>
            </a:r>
          </a:p>
          <a:p>
            <a:endParaRPr lang="en-US" dirty="0"/>
          </a:p>
        </p:txBody>
      </p:sp>
    </p:spTree>
    <p:extLst>
      <p:ext uri="{BB962C8B-B14F-4D97-AF65-F5344CB8AC3E}">
        <p14:creationId xmlns:p14="http://schemas.microsoft.com/office/powerpoint/2010/main" val="3012525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BD162-40A6-0A27-1291-4D32ADDB9B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2EE680C-BBB6-7564-0FA5-B010623B9029}"/>
              </a:ext>
            </a:extLst>
          </p:cNvPr>
          <p:cNvSpPr>
            <a:spLocks noGrp="1"/>
          </p:cNvSpPr>
          <p:nvPr>
            <p:ph idx="1"/>
          </p:nvPr>
        </p:nvSpPr>
        <p:spPr/>
        <p:txBody>
          <a:bodyPr>
            <a:normAutofit fontScale="70000" lnSpcReduction="20000"/>
          </a:bodyPr>
          <a:lstStyle/>
          <a:p>
            <a:r>
              <a:rPr lang="en-IN" b="1" i="0" dirty="0">
                <a:effectLst/>
                <a:latin typeface="Google Sans"/>
              </a:rPr>
              <a:t>Copying/Cloning:</a:t>
            </a:r>
            <a:r>
              <a:rPr lang="en-IN" b="0" i="0" dirty="0">
                <a:effectLst/>
                <a:latin typeface="Google Sans"/>
              </a:rPr>
              <a:t> Creates a new array with the same elements.</a:t>
            </a:r>
            <a:br>
              <a:rPr lang="en-IN" b="0" i="0" dirty="0">
                <a:effectLst/>
                <a:latin typeface="Google Sans"/>
              </a:rPr>
            </a:br>
            <a:endParaRPr lang="en-IN" b="0" i="0" dirty="0">
              <a:effectLst/>
              <a:latin typeface="Google Sans"/>
            </a:endParaRPr>
          </a:p>
          <a:p>
            <a:r>
              <a:rPr lang="en-US" dirty="0"/>
              <a:t>int[] </a:t>
            </a:r>
            <a:r>
              <a:rPr lang="en-US" dirty="0" err="1"/>
              <a:t>newAge</a:t>
            </a:r>
            <a:r>
              <a:rPr lang="en-US" dirty="0"/>
              <a:t> = </a:t>
            </a:r>
            <a:r>
              <a:rPr lang="en-US" dirty="0" err="1"/>
              <a:t>age.clone</a:t>
            </a:r>
            <a:r>
              <a:rPr lang="en-US" dirty="0"/>
              <a:t>();</a:t>
            </a:r>
          </a:p>
          <a:p>
            <a:r>
              <a:rPr lang="en-US" dirty="0"/>
              <a:t>// Alternatively, using </a:t>
            </a:r>
            <a:r>
              <a:rPr lang="en-US" dirty="0" err="1"/>
              <a:t>Arrays.copyOf</a:t>
            </a:r>
            <a:r>
              <a:rPr lang="en-US" dirty="0"/>
              <a:t>()</a:t>
            </a:r>
          </a:p>
          <a:p>
            <a:r>
              <a:rPr lang="en-US" dirty="0"/>
              <a:t>int[] </a:t>
            </a:r>
            <a:r>
              <a:rPr lang="en-US" dirty="0" err="1"/>
              <a:t>copiedAge</a:t>
            </a:r>
            <a:r>
              <a:rPr lang="en-US" dirty="0"/>
              <a:t> = </a:t>
            </a:r>
            <a:r>
              <a:rPr lang="en-US" dirty="0" err="1"/>
              <a:t>Arrays.copyOf</a:t>
            </a:r>
            <a:r>
              <a:rPr lang="en-US" dirty="0"/>
              <a:t>(age, </a:t>
            </a:r>
            <a:r>
              <a:rPr lang="en-US" dirty="0" err="1"/>
              <a:t>age.length</a:t>
            </a:r>
            <a:r>
              <a:rPr lang="en-US" dirty="0"/>
              <a:t>);</a:t>
            </a:r>
          </a:p>
          <a:p>
            <a:endParaRPr lang="en-IN" b="1" i="0" dirty="0">
              <a:effectLst/>
              <a:latin typeface="Google Sans"/>
            </a:endParaRPr>
          </a:p>
          <a:p>
            <a:r>
              <a:rPr lang="en-IN" b="1" i="0" dirty="0">
                <a:effectLst/>
                <a:latin typeface="Google Sans"/>
              </a:rPr>
              <a:t>Filling:</a:t>
            </a:r>
            <a:r>
              <a:rPr lang="en-IN" b="0" i="0" dirty="0">
                <a:effectLst/>
                <a:latin typeface="Google Sans"/>
              </a:rPr>
              <a:t> Assigns a specific value to all elements of an array.</a:t>
            </a:r>
            <a:br>
              <a:rPr lang="en-IN" b="0" i="0" dirty="0">
                <a:effectLst/>
                <a:latin typeface="Google Sans"/>
              </a:rPr>
            </a:br>
            <a:endParaRPr lang="en-IN" b="0" i="0" dirty="0">
              <a:effectLst/>
              <a:latin typeface="Google Sans"/>
            </a:endParaRPr>
          </a:p>
          <a:p>
            <a:r>
              <a:rPr lang="en-US" dirty="0" err="1"/>
              <a:t>Arrays.fill</a:t>
            </a:r>
            <a:r>
              <a:rPr lang="en-US" dirty="0"/>
              <a:t>(</a:t>
            </a:r>
            <a:r>
              <a:rPr lang="en-US" dirty="0" err="1"/>
              <a:t>newAge</a:t>
            </a:r>
            <a:r>
              <a:rPr lang="en-US" dirty="0"/>
              <a:t>, 10); // Fills </a:t>
            </a:r>
            <a:r>
              <a:rPr lang="en-US" dirty="0" err="1"/>
              <a:t>newAge</a:t>
            </a:r>
            <a:r>
              <a:rPr lang="en-US" dirty="0"/>
              <a:t> array with the value 10</a:t>
            </a:r>
          </a:p>
          <a:p>
            <a:endParaRPr lang="en-IN" b="1" i="0" dirty="0">
              <a:effectLst/>
              <a:latin typeface="Google Sans"/>
            </a:endParaRPr>
          </a:p>
          <a:p>
            <a:r>
              <a:rPr lang="en-IN" b="1" i="0" dirty="0">
                <a:effectLst/>
                <a:latin typeface="Google Sans"/>
              </a:rPr>
              <a:t>Converting to String:</a:t>
            </a:r>
            <a:r>
              <a:rPr lang="en-IN" b="0" i="0" dirty="0">
                <a:effectLst/>
                <a:latin typeface="Google Sans"/>
              </a:rPr>
              <a:t> Provides a readable string representation of the array's contents, which is useful for printing and debugging.</a:t>
            </a:r>
            <a:br>
              <a:rPr lang="en-IN" b="0" i="0" dirty="0">
                <a:effectLst/>
                <a:latin typeface="Google Sans"/>
              </a:rPr>
            </a:br>
            <a:endParaRPr lang="en-IN" b="0" i="0" dirty="0">
              <a:effectLst/>
              <a:latin typeface="Google Sans"/>
            </a:endParaRPr>
          </a:p>
          <a:p>
            <a:r>
              <a:rPr lang="en-US" dirty="0" err="1"/>
              <a:t>System.out.println</a:t>
            </a:r>
            <a:r>
              <a:rPr lang="en-US" dirty="0"/>
              <a:t>(</a:t>
            </a:r>
            <a:r>
              <a:rPr lang="en-US" dirty="0" err="1"/>
              <a:t>Arrays.toString</a:t>
            </a:r>
            <a:r>
              <a:rPr lang="en-US" dirty="0"/>
              <a:t>(age)); // e.g., "[2, 4, 5, 5, 12]"</a:t>
            </a:r>
          </a:p>
          <a:p>
            <a:endParaRPr lang="en-US" dirty="0"/>
          </a:p>
        </p:txBody>
      </p:sp>
    </p:spTree>
    <p:extLst>
      <p:ext uri="{BB962C8B-B14F-4D97-AF65-F5344CB8AC3E}">
        <p14:creationId xmlns:p14="http://schemas.microsoft.com/office/powerpoint/2010/main" val="17070323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84BB5-78C7-8E35-F7C3-723D94EC3F52}"/>
              </a:ext>
            </a:extLst>
          </p:cNvPr>
          <p:cNvSpPr>
            <a:spLocks noGrp="1"/>
          </p:cNvSpPr>
          <p:nvPr>
            <p:ph type="title"/>
          </p:nvPr>
        </p:nvSpPr>
        <p:spPr/>
        <p:txBody>
          <a:bodyPr/>
          <a:lstStyle/>
          <a:p>
            <a:r>
              <a:rPr lang="en-US" dirty="0"/>
              <a:t>Java Array in Competitive Programming</a:t>
            </a:r>
          </a:p>
        </p:txBody>
      </p:sp>
      <p:sp>
        <p:nvSpPr>
          <p:cNvPr id="3" name="Content Placeholder 2">
            <a:extLst>
              <a:ext uri="{FF2B5EF4-FFF2-40B4-BE49-F238E27FC236}">
                <a16:creationId xmlns:a16="http://schemas.microsoft.com/office/drawing/2014/main" id="{2A874FC7-E045-5D32-2F51-C26BA7133514}"/>
              </a:ext>
            </a:extLst>
          </p:cNvPr>
          <p:cNvSpPr>
            <a:spLocks noGrp="1"/>
          </p:cNvSpPr>
          <p:nvPr>
            <p:ph idx="1"/>
          </p:nvPr>
        </p:nvSpPr>
        <p:spPr/>
        <p:txBody>
          <a:bodyPr/>
          <a:lstStyle/>
          <a:p>
            <a:pPr algn="l"/>
            <a:r>
              <a:rPr lang="en-IN" b="0" i="0" dirty="0">
                <a:effectLst/>
                <a:latin typeface="Google Sans"/>
              </a:rPr>
              <a:t>In competitive programming, Java arrays are a fundamental and highly efficient data structure, prized for their </a:t>
            </a:r>
            <a:r>
              <a:rPr lang="en-IN" b="1" i="0" dirty="0">
                <a:effectLst/>
                <a:latin typeface="Google Sans"/>
              </a:rPr>
              <a:t>fast, constant-time (O(1)) random access</a:t>
            </a:r>
            <a:r>
              <a:rPr lang="en-IN" b="0" i="0" dirty="0">
                <a:effectLst/>
                <a:latin typeface="Google Sans"/>
              </a:rPr>
              <a:t> to elements. They are used as the foundation for various algorithms and other data structures like </a:t>
            </a:r>
            <a:r>
              <a:rPr lang="en-IN" b="0" i="0" dirty="0" err="1">
                <a:effectLst/>
                <a:latin typeface="Google Sans"/>
              </a:rPr>
              <a:t>ArrayList</a:t>
            </a:r>
            <a:r>
              <a:rPr lang="en-IN" b="0" i="0" dirty="0">
                <a:effectLst/>
                <a:latin typeface="Google Sans"/>
              </a:rPr>
              <a:t>, but their fixed size requires careful memory management and can make insertions/deletions slow. </a:t>
            </a:r>
          </a:p>
          <a:p>
            <a:br>
              <a:rPr lang="en-IN" dirty="0"/>
            </a:br>
            <a:endParaRPr lang="en-US" dirty="0"/>
          </a:p>
        </p:txBody>
      </p:sp>
    </p:spTree>
    <p:extLst>
      <p:ext uri="{BB962C8B-B14F-4D97-AF65-F5344CB8AC3E}">
        <p14:creationId xmlns:p14="http://schemas.microsoft.com/office/powerpoint/2010/main" val="7599852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0D949-2A94-7016-C13F-79EE83FDAB33}"/>
              </a:ext>
            </a:extLst>
          </p:cNvPr>
          <p:cNvSpPr>
            <a:spLocks noGrp="1"/>
          </p:cNvSpPr>
          <p:nvPr>
            <p:ph type="title"/>
          </p:nvPr>
        </p:nvSpPr>
        <p:spPr/>
        <p:txBody>
          <a:bodyPr>
            <a:normAutofit/>
          </a:bodyPr>
          <a:lstStyle/>
          <a:p>
            <a:r>
              <a:rPr lang="en-IN" b="1" i="0" dirty="0">
                <a:effectLst/>
                <a:latin typeface="Google Sans"/>
              </a:rPr>
              <a:t>Key Characteristics in Competitive Programming</a:t>
            </a:r>
            <a:endParaRPr lang="en-US" dirty="0"/>
          </a:p>
        </p:txBody>
      </p:sp>
      <p:sp>
        <p:nvSpPr>
          <p:cNvPr id="3" name="Content Placeholder 2">
            <a:extLst>
              <a:ext uri="{FF2B5EF4-FFF2-40B4-BE49-F238E27FC236}">
                <a16:creationId xmlns:a16="http://schemas.microsoft.com/office/drawing/2014/main" id="{B03A0913-1BA4-5F2F-504C-F3FDC3AC5566}"/>
              </a:ext>
            </a:extLst>
          </p:cNvPr>
          <p:cNvSpPr>
            <a:spLocks noGrp="1"/>
          </p:cNvSpPr>
          <p:nvPr>
            <p:ph idx="1"/>
          </p:nvPr>
        </p:nvSpPr>
        <p:spPr/>
        <p:txBody>
          <a:bodyPr>
            <a:normAutofit fontScale="77500" lnSpcReduction="20000"/>
          </a:bodyPr>
          <a:lstStyle/>
          <a:p>
            <a:pPr algn="l">
              <a:buFont typeface="Arial" panose="020B0604020202020204" pitchFamily="34" charset="0"/>
              <a:buChar char="•"/>
            </a:pPr>
            <a:r>
              <a:rPr lang="en-IN" b="1" i="0" dirty="0">
                <a:effectLst/>
                <a:latin typeface="Google Sans"/>
              </a:rPr>
              <a:t>Speed and Efficiency:</a:t>
            </a:r>
            <a:r>
              <a:rPr lang="en-IN" b="0" i="0" dirty="0">
                <a:effectLst/>
                <a:latin typeface="Google Sans"/>
              </a:rPr>
              <a:t> Arrays offer O(1) time complexity for accessing and modifying elements by index due to their contiguous memory allocation. This is a critical advantage in performance-sensitive scenarios where solutions must meet strict time limits.</a:t>
            </a:r>
          </a:p>
          <a:p>
            <a:pPr algn="l">
              <a:buFont typeface="Arial" panose="020B0604020202020204" pitchFamily="34" charset="0"/>
              <a:buChar char="•"/>
            </a:pPr>
            <a:r>
              <a:rPr lang="en-IN" b="1" i="0" dirty="0">
                <a:effectLst/>
                <a:latin typeface="Google Sans"/>
              </a:rPr>
              <a:t>Fixed Size:</a:t>
            </a:r>
            <a:r>
              <a:rPr lang="en-IN" b="0" i="0" dirty="0">
                <a:effectLst/>
                <a:latin typeface="Google Sans"/>
              </a:rPr>
              <a:t> A significant characteristic of Java arrays is their fixed length once created. This means dynamic resizing (like in </a:t>
            </a:r>
            <a:r>
              <a:rPr lang="en-IN" b="0" i="0" dirty="0" err="1">
                <a:effectLst/>
                <a:latin typeface="Google Sans"/>
              </a:rPr>
              <a:t>ArrayList</a:t>
            </a:r>
            <a:r>
              <a:rPr lang="en-IN" b="0" i="0" dirty="0">
                <a:effectLst/>
                <a:latin typeface="Google Sans"/>
              </a:rPr>
              <a:t>) requires creating a new, larger array and copying all elements, an O(n) operation that can be time-consuming during a contest.</a:t>
            </a:r>
          </a:p>
          <a:p>
            <a:pPr algn="l">
              <a:buFont typeface="Arial" panose="020B0604020202020204" pitchFamily="34" charset="0"/>
              <a:buChar char="•"/>
            </a:pPr>
            <a:r>
              <a:rPr lang="en-IN" b="1" i="0" dirty="0">
                <a:effectLst/>
                <a:latin typeface="Google Sans"/>
              </a:rPr>
              <a:t>Memory Management:</a:t>
            </a:r>
            <a:r>
              <a:rPr lang="en-IN" b="0" i="0" dirty="0">
                <a:effectLst/>
                <a:latin typeface="Google Sans"/>
              </a:rPr>
              <a:t> Arrays of primitive types (like int, long) store the values directly in contiguous memory, making them memory-efficient and cache-friendly. Arrays of objects store only the references contiguously, with the actual objects stored elsewhere in the heap.</a:t>
            </a:r>
          </a:p>
          <a:p>
            <a:pPr algn="l">
              <a:buFont typeface="Arial" panose="020B0604020202020204" pitchFamily="34" charset="0"/>
              <a:buChar char="•"/>
            </a:pPr>
            <a:r>
              <a:rPr lang="en-IN" b="1" i="0" dirty="0">
                <a:effectLst/>
                <a:latin typeface="Google Sans"/>
              </a:rPr>
              <a:t>Utility Class:</a:t>
            </a:r>
            <a:r>
              <a:rPr lang="en-IN" b="0" i="0" dirty="0">
                <a:effectLst/>
                <a:latin typeface="Google Sans"/>
              </a:rPr>
              <a:t> The </a:t>
            </a:r>
            <a:r>
              <a:rPr lang="en-IN" b="0" i="0" dirty="0" err="1">
                <a:effectLst/>
                <a:latin typeface="Google Sans"/>
              </a:rPr>
              <a:t>java.util.Arrays</a:t>
            </a:r>
            <a:r>
              <a:rPr lang="en-IN" b="0" i="0" dirty="0">
                <a:effectLst/>
                <a:latin typeface="Google Sans"/>
              </a:rPr>
              <a:t> class provides several static methods for common operations like sort(), </a:t>
            </a:r>
            <a:r>
              <a:rPr lang="en-IN" b="0" i="0" dirty="0" err="1">
                <a:effectLst/>
                <a:latin typeface="Google Sans"/>
              </a:rPr>
              <a:t>binarySearch</a:t>
            </a:r>
            <a:r>
              <a:rPr lang="en-IN" b="0" i="0" dirty="0">
                <a:effectLst/>
                <a:latin typeface="Google Sans"/>
              </a:rPr>
              <a:t>(), fill(), and </a:t>
            </a:r>
            <a:r>
              <a:rPr lang="en-IN" b="0" i="0" dirty="0" err="1">
                <a:effectLst/>
                <a:latin typeface="Google Sans"/>
              </a:rPr>
              <a:t>toString</a:t>
            </a:r>
            <a:r>
              <a:rPr lang="en-IN" b="0" i="0" dirty="0">
                <a:effectLst/>
                <a:latin typeface="Google Sans"/>
              </a:rPr>
              <a:t>(), which save time and reduce boilerplate code. </a:t>
            </a:r>
          </a:p>
          <a:p>
            <a:br>
              <a:rPr lang="en-IN" dirty="0"/>
            </a:br>
            <a:endParaRPr lang="en-US" dirty="0"/>
          </a:p>
        </p:txBody>
      </p:sp>
    </p:spTree>
    <p:extLst>
      <p:ext uri="{BB962C8B-B14F-4D97-AF65-F5344CB8AC3E}">
        <p14:creationId xmlns:p14="http://schemas.microsoft.com/office/powerpoint/2010/main" val="5885390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7B61F-63CA-0040-EE1A-55AF80932549}"/>
              </a:ext>
            </a:extLst>
          </p:cNvPr>
          <p:cNvSpPr>
            <a:spLocks noGrp="1"/>
          </p:cNvSpPr>
          <p:nvPr>
            <p:ph type="title"/>
          </p:nvPr>
        </p:nvSpPr>
        <p:spPr/>
        <p:txBody>
          <a:bodyPr/>
          <a:lstStyle/>
          <a:p>
            <a:r>
              <a:rPr lang="en-IN" b="1" i="0" dirty="0">
                <a:effectLst/>
                <a:latin typeface="Google Sans"/>
              </a:rPr>
              <a:t>Essential Techniques and Usage</a:t>
            </a:r>
            <a:endParaRPr lang="en-US" dirty="0"/>
          </a:p>
        </p:txBody>
      </p:sp>
      <p:sp>
        <p:nvSpPr>
          <p:cNvPr id="3" name="Content Placeholder 2">
            <a:extLst>
              <a:ext uri="{FF2B5EF4-FFF2-40B4-BE49-F238E27FC236}">
                <a16:creationId xmlns:a16="http://schemas.microsoft.com/office/drawing/2014/main" id="{57C44D00-1F9F-2632-F7A2-D38F8DEC5261}"/>
              </a:ext>
            </a:extLst>
          </p:cNvPr>
          <p:cNvSpPr>
            <a:spLocks noGrp="1"/>
          </p:cNvSpPr>
          <p:nvPr>
            <p:ph idx="1"/>
          </p:nvPr>
        </p:nvSpPr>
        <p:spPr/>
        <p:txBody>
          <a:bodyPr>
            <a:normAutofit fontScale="70000" lnSpcReduction="20000"/>
          </a:bodyPr>
          <a:lstStyle/>
          <a:p>
            <a:pPr algn="l">
              <a:buFont typeface="Arial" panose="020B0604020202020204" pitchFamily="34" charset="0"/>
              <a:buChar char="•"/>
            </a:pPr>
            <a:r>
              <a:rPr lang="en-IN" b="1" i="0" dirty="0">
                <a:effectLst/>
                <a:latin typeface="Google Sans"/>
              </a:rPr>
              <a:t>Frequency Counting:</a:t>
            </a:r>
            <a:r>
              <a:rPr lang="en-IN" b="0" i="0" dirty="0">
                <a:effectLst/>
                <a:latin typeface="Google Sans"/>
              </a:rPr>
              <a:t> Arrays are ideal for counting element frequencies efficiently when the range of values is limited (e.g., using element values as indices in a count array).</a:t>
            </a:r>
          </a:p>
          <a:p>
            <a:pPr algn="l">
              <a:buFont typeface="Arial" panose="020B0604020202020204" pitchFamily="34" charset="0"/>
              <a:buChar char="•"/>
            </a:pPr>
            <a:r>
              <a:rPr lang="en-IN" b="1" i="0" dirty="0">
                <a:effectLst/>
                <a:latin typeface="Google Sans"/>
              </a:rPr>
              <a:t>Prefix Sums and Sliding Window:</a:t>
            </a:r>
            <a:r>
              <a:rPr lang="en-IN" b="0" i="0" dirty="0">
                <a:effectLst/>
                <a:latin typeface="Google Sans"/>
              </a:rPr>
              <a:t> These popular algorithm techniques rely heavily on the fast, indexed access of arrays to pre-compute values or iterate through subarrays efficiently.</a:t>
            </a:r>
          </a:p>
          <a:p>
            <a:pPr algn="l">
              <a:buFont typeface="Arial" panose="020B0604020202020204" pitchFamily="34" charset="0"/>
              <a:buChar char="•"/>
            </a:pPr>
            <a:r>
              <a:rPr lang="en-IN" b="1" i="0" dirty="0">
                <a:effectLst/>
                <a:latin typeface="Google Sans"/>
              </a:rPr>
              <a:t>Matrix Operations:</a:t>
            </a:r>
            <a:r>
              <a:rPr lang="en-IN" b="0" i="0" dirty="0">
                <a:effectLst/>
                <a:latin typeface="Google Sans"/>
              </a:rPr>
              <a:t> Two-dimensional arrays (matrices) are commonly used to represent grids, graphs (adjacency matrices), and tabular data for problems involving dynamic programming or grid traversals.</a:t>
            </a:r>
          </a:p>
          <a:p>
            <a:pPr algn="l">
              <a:buFont typeface="Arial" panose="020B0604020202020204" pitchFamily="34" charset="0"/>
              <a:buChar char="•"/>
            </a:pPr>
            <a:r>
              <a:rPr lang="en-IN" b="1" i="0" dirty="0">
                <a:effectLst/>
                <a:latin typeface="Google Sans"/>
              </a:rPr>
              <a:t>Sorting:</a:t>
            </a:r>
            <a:r>
              <a:rPr lang="en-IN" b="0" i="0" dirty="0">
                <a:effectLst/>
                <a:latin typeface="Google Sans"/>
              </a:rPr>
              <a:t> While </a:t>
            </a:r>
            <a:r>
              <a:rPr lang="en-IN" b="0" i="0" dirty="0" err="1">
                <a:effectLst/>
                <a:latin typeface="Google Sans"/>
              </a:rPr>
              <a:t>Arrays.sort</a:t>
            </a:r>
            <a:r>
              <a:rPr lang="en-IN" b="0" i="0" dirty="0">
                <a:effectLst/>
                <a:latin typeface="Google Sans"/>
              </a:rPr>
              <a:t>() is convenient, be mindful that for primitive types it uses a Quicksort variation which has a worst-case time complexity of O(n²), potentially leading to a Time Limit Exceeded (TLE) error on certain test cases.</a:t>
            </a:r>
          </a:p>
          <a:p>
            <a:pPr marL="742950" lvl="1" indent="-285750" algn="l">
              <a:buFont typeface="Arial" panose="020B0604020202020204" pitchFamily="34" charset="0"/>
              <a:buChar char="•"/>
            </a:pPr>
            <a:r>
              <a:rPr lang="en-IN" b="0" i="0" dirty="0">
                <a:effectLst/>
                <a:latin typeface="Google Sans"/>
              </a:rPr>
              <a:t>To mitigate the Quicksort worst-case issue, one can use the object wrapper class (e.g., Long instead of long) as </a:t>
            </a:r>
            <a:r>
              <a:rPr lang="en-IN" b="0" i="0" dirty="0" err="1">
                <a:effectLst/>
                <a:latin typeface="Google Sans"/>
              </a:rPr>
              <a:t>Arrays.sort</a:t>
            </a:r>
            <a:r>
              <a:rPr lang="en-IN" b="0" i="0" dirty="0">
                <a:effectLst/>
                <a:latin typeface="Google Sans"/>
              </a:rPr>
              <a:t>() on object arrays uses a stable </a:t>
            </a:r>
            <a:r>
              <a:rPr lang="en-IN" b="0" i="0" dirty="0" err="1">
                <a:effectLst/>
                <a:latin typeface="Google Sans"/>
              </a:rPr>
              <a:t>Mergesort</a:t>
            </a:r>
            <a:r>
              <a:rPr lang="en-IN" b="0" i="0" dirty="0">
                <a:effectLst/>
                <a:latin typeface="Google Sans"/>
              </a:rPr>
              <a:t> with a guaranteed O(n log n) worst-case runtime.</a:t>
            </a:r>
          </a:p>
          <a:p>
            <a:pPr algn="l">
              <a:buFont typeface="Arial" panose="020B0604020202020204" pitchFamily="34" charset="0"/>
              <a:buChar char="•"/>
            </a:pPr>
            <a:r>
              <a:rPr lang="en-IN" b="1" i="0" dirty="0">
                <a:effectLst/>
                <a:latin typeface="Google Sans"/>
              </a:rPr>
              <a:t>Input Processing:</a:t>
            </a:r>
            <a:r>
              <a:rPr lang="en-IN" b="0" i="0" dirty="0">
                <a:effectLst/>
                <a:latin typeface="Google Sans"/>
              </a:rPr>
              <a:t> For competitive programming, efficient input reading for arrays often involves using Java 8 streams or a custom Scanner/</a:t>
            </a:r>
            <a:r>
              <a:rPr lang="en-IN" b="0" i="0" dirty="0" err="1">
                <a:effectLst/>
                <a:latin typeface="Google Sans"/>
              </a:rPr>
              <a:t>BufferedReader</a:t>
            </a:r>
            <a:r>
              <a:rPr lang="en-IN" b="0" i="0" dirty="0">
                <a:effectLst/>
                <a:latin typeface="Google Sans"/>
              </a:rPr>
              <a:t> setup to quickly parse input strings into integer arrays. </a:t>
            </a:r>
          </a:p>
          <a:p>
            <a:endParaRPr lang="en-US" dirty="0"/>
          </a:p>
        </p:txBody>
      </p:sp>
    </p:spTree>
    <p:extLst>
      <p:ext uri="{BB962C8B-B14F-4D97-AF65-F5344CB8AC3E}">
        <p14:creationId xmlns:p14="http://schemas.microsoft.com/office/powerpoint/2010/main" val="5452139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DAA95-F63A-8695-8D55-D18FCAF858AB}"/>
              </a:ext>
            </a:extLst>
          </p:cNvPr>
          <p:cNvSpPr>
            <a:spLocks noGrp="1"/>
          </p:cNvSpPr>
          <p:nvPr>
            <p:ph type="title"/>
          </p:nvPr>
        </p:nvSpPr>
        <p:spPr/>
        <p:txBody>
          <a:bodyPr>
            <a:normAutofit/>
          </a:bodyPr>
          <a:lstStyle/>
          <a:p>
            <a:r>
              <a:rPr lang="en-IN" b="1" i="0" dirty="0">
                <a:effectLst/>
                <a:latin typeface="Google Sans"/>
              </a:rPr>
              <a:t>Summary of Common Operations</a:t>
            </a:r>
            <a:endParaRPr lang="en-US" dirty="0"/>
          </a:p>
        </p:txBody>
      </p:sp>
      <p:graphicFrame>
        <p:nvGraphicFramePr>
          <p:cNvPr id="5" name="Content Placeholder 4">
            <a:extLst>
              <a:ext uri="{FF2B5EF4-FFF2-40B4-BE49-F238E27FC236}">
                <a16:creationId xmlns:a16="http://schemas.microsoft.com/office/drawing/2014/main" id="{A10E57AD-BC25-CA99-5A43-B3427232DF89}"/>
              </a:ext>
            </a:extLst>
          </p:cNvPr>
          <p:cNvGraphicFramePr>
            <a:graphicFrameLocks noGrp="1"/>
          </p:cNvGraphicFramePr>
          <p:nvPr>
            <p:ph idx="1"/>
            <p:extLst>
              <p:ext uri="{D42A27DB-BD31-4B8C-83A1-F6EECF244321}">
                <p14:modId xmlns:p14="http://schemas.microsoft.com/office/powerpoint/2010/main" val="2448266777"/>
              </p:ext>
            </p:extLst>
          </p:nvPr>
        </p:nvGraphicFramePr>
        <p:xfrm>
          <a:off x="838200" y="1825625"/>
          <a:ext cx="10515597" cy="330708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57194223"/>
                    </a:ext>
                  </a:extLst>
                </a:gridCol>
                <a:gridCol w="1857376">
                  <a:extLst>
                    <a:ext uri="{9D8B030D-6E8A-4147-A177-3AD203B41FA5}">
                      <a16:colId xmlns:a16="http://schemas.microsoft.com/office/drawing/2014/main" val="118519793"/>
                    </a:ext>
                  </a:extLst>
                </a:gridCol>
                <a:gridCol w="5153022">
                  <a:extLst>
                    <a:ext uri="{9D8B030D-6E8A-4147-A177-3AD203B41FA5}">
                      <a16:colId xmlns:a16="http://schemas.microsoft.com/office/drawing/2014/main" val="3533577471"/>
                    </a:ext>
                  </a:extLst>
                </a:gridCol>
              </a:tblGrid>
              <a:tr h="370840">
                <a:tc>
                  <a:txBody>
                    <a:bodyPr/>
                    <a:lstStyle/>
                    <a:p>
                      <a:r>
                        <a:rPr lang="en-US" dirty="0"/>
                        <a:t>Operations</a:t>
                      </a:r>
                    </a:p>
                  </a:txBody>
                  <a:tcPr/>
                </a:tc>
                <a:tc>
                  <a:txBody>
                    <a:bodyPr/>
                    <a:lstStyle/>
                    <a:p>
                      <a:r>
                        <a:rPr lang="en-US" dirty="0"/>
                        <a:t>Time Complexity </a:t>
                      </a:r>
                      <a:r>
                        <a:rPr lang="en-US" dirty="0" err="1"/>
                        <a:t>Avarage</a:t>
                      </a:r>
                      <a:r>
                        <a:rPr lang="en-US" dirty="0"/>
                        <a:t> Case</a:t>
                      </a:r>
                    </a:p>
                  </a:txBody>
                  <a:tcPr/>
                </a:tc>
                <a:tc>
                  <a:txBody>
                    <a:bodyPr/>
                    <a:lstStyle/>
                    <a:p>
                      <a:r>
                        <a:rPr lang="en-US" dirty="0"/>
                        <a:t>Notes</a:t>
                      </a:r>
                    </a:p>
                  </a:txBody>
                  <a:tcPr/>
                </a:tc>
                <a:extLst>
                  <a:ext uri="{0D108BD9-81ED-4DB2-BD59-A6C34878D82A}">
                    <a16:rowId xmlns:a16="http://schemas.microsoft.com/office/drawing/2014/main" val="3466864589"/>
                  </a:ext>
                </a:extLst>
              </a:tr>
              <a:tr h="370840">
                <a:tc>
                  <a:txBody>
                    <a:bodyPr/>
                    <a:lstStyle/>
                    <a:p>
                      <a:r>
                        <a:rPr lang="en-IN" sz="1800" b="0" i="0" kern="1200" dirty="0">
                          <a:solidFill>
                            <a:schemeClr val="dk1"/>
                          </a:solidFill>
                          <a:effectLst/>
                          <a:latin typeface="+mn-lt"/>
                          <a:ea typeface="+mn-ea"/>
                          <a:cs typeface="+mn-cs"/>
                        </a:rPr>
                        <a:t>Access element by index</a:t>
                      </a:r>
                      <a:endParaRPr lang="en-US" dirty="0"/>
                    </a:p>
                  </a:txBody>
                  <a:tcPr/>
                </a:tc>
                <a:tc>
                  <a:txBody>
                    <a:bodyPr/>
                    <a:lstStyle/>
                    <a:p>
                      <a:r>
                        <a:rPr lang="en-US" dirty="0"/>
                        <a:t>O(1)</a:t>
                      </a:r>
                    </a:p>
                  </a:txBody>
                  <a:tcPr/>
                </a:tc>
                <a:tc>
                  <a:txBody>
                    <a:bodyPr/>
                    <a:lstStyle/>
                    <a:p>
                      <a:r>
                        <a:rPr lang="en-IN" sz="1800" b="0" i="0" kern="1200" dirty="0">
                          <a:solidFill>
                            <a:schemeClr val="dk1"/>
                          </a:solidFill>
                          <a:effectLst/>
                          <a:latin typeface="+mn-lt"/>
                          <a:ea typeface="+mn-ea"/>
                          <a:cs typeface="+mn-cs"/>
                        </a:rPr>
                        <a:t>Very fast due to direct memory access.</a:t>
                      </a:r>
                      <a:endParaRPr lang="en-US" dirty="0"/>
                    </a:p>
                  </a:txBody>
                  <a:tcPr/>
                </a:tc>
                <a:extLst>
                  <a:ext uri="{0D108BD9-81ED-4DB2-BD59-A6C34878D82A}">
                    <a16:rowId xmlns:a16="http://schemas.microsoft.com/office/drawing/2014/main" val="4208000098"/>
                  </a:ext>
                </a:extLst>
              </a:tr>
              <a:tr h="370840">
                <a:tc>
                  <a:txBody>
                    <a:bodyPr/>
                    <a:lstStyle/>
                    <a:p>
                      <a:r>
                        <a:rPr lang="en-IN" sz="1800" b="0" i="0" kern="1200" dirty="0">
                          <a:solidFill>
                            <a:schemeClr val="dk1"/>
                          </a:solidFill>
                          <a:effectLst/>
                          <a:latin typeface="+mn-lt"/>
                          <a:ea typeface="+mn-ea"/>
                          <a:cs typeface="+mn-cs"/>
                        </a:rPr>
                        <a:t>Search (Linear)</a:t>
                      </a:r>
                      <a:endParaRPr lang="en-US" dirty="0"/>
                    </a:p>
                  </a:txBody>
                  <a:tcPr/>
                </a:tc>
                <a:tc>
                  <a:txBody>
                    <a:bodyPr/>
                    <a:lstStyle/>
                    <a:p>
                      <a:r>
                        <a:rPr lang="en-US" dirty="0"/>
                        <a:t>O(n)</a:t>
                      </a:r>
                    </a:p>
                  </a:txBody>
                  <a:tcPr/>
                </a:tc>
                <a:tc>
                  <a:txBody>
                    <a:bodyPr/>
                    <a:lstStyle/>
                    <a:p>
                      <a:r>
                        <a:rPr lang="en-IN" sz="1800" b="0" i="0" kern="1200" dirty="0">
                          <a:solidFill>
                            <a:schemeClr val="dk1"/>
                          </a:solidFill>
                          <a:effectLst/>
                          <a:latin typeface="+mn-lt"/>
                          <a:ea typeface="+mn-ea"/>
                          <a:cs typeface="+mn-cs"/>
                        </a:rPr>
                        <a:t>Simple traversal is linear time.</a:t>
                      </a:r>
                      <a:endParaRPr lang="en-US" dirty="0"/>
                    </a:p>
                  </a:txBody>
                  <a:tcPr/>
                </a:tc>
                <a:extLst>
                  <a:ext uri="{0D108BD9-81ED-4DB2-BD59-A6C34878D82A}">
                    <a16:rowId xmlns:a16="http://schemas.microsoft.com/office/drawing/2014/main" val="3356090781"/>
                  </a:ext>
                </a:extLst>
              </a:tr>
              <a:tr h="370840">
                <a:tc>
                  <a:txBody>
                    <a:bodyPr/>
                    <a:lstStyle/>
                    <a:p>
                      <a:r>
                        <a:rPr lang="en-IN" sz="1800" b="0" i="0" kern="1200" dirty="0">
                          <a:solidFill>
                            <a:schemeClr val="dk1"/>
                          </a:solidFill>
                          <a:effectLst/>
                          <a:latin typeface="+mn-lt"/>
                          <a:ea typeface="+mn-ea"/>
                          <a:cs typeface="+mn-cs"/>
                        </a:rPr>
                        <a:t>Search (Binary)</a:t>
                      </a:r>
                      <a:endParaRPr lang="en-US" dirty="0"/>
                    </a:p>
                  </a:txBody>
                  <a:tcPr/>
                </a:tc>
                <a:tc>
                  <a:txBody>
                    <a:bodyPr/>
                    <a:lstStyle/>
                    <a:p>
                      <a:r>
                        <a:rPr lang="en-US" dirty="0"/>
                        <a:t>O(</a:t>
                      </a:r>
                      <a:r>
                        <a:rPr lang="en-US" dirty="0" err="1"/>
                        <a:t>logn</a:t>
                      </a:r>
                      <a:r>
                        <a:rPr lang="en-US" dirty="0"/>
                        <a:t>)</a:t>
                      </a:r>
                    </a:p>
                  </a:txBody>
                  <a:tcPr/>
                </a:tc>
                <a:tc>
                  <a:txBody>
                    <a:bodyPr/>
                    <a:lstStyle/>
                    <a:p>
                      <a:r>
                        <a:rPr lang="en-IN" sz="1800" b="0" i="0" kern="1200" dirty="0">
                          <a:solidFill>
                            <a:schemeClr val="dk1"/>
                          </a:solidFill>
                          <a:effectLst/>
                          <a:latin typeface="+mn-lt"/>
                          <a:ea typeface="+mn-ea"/>
                          <a:cs typeface="+mn-cs"/>
                        </a:rPr>
                        <a:t>Requires a sorted array; use </a:t>
                      </a:r>
                      <a:r>
                        <a:rPr lang="en-IN" dirty="0" err="1"/>
                        <a:t>Arrays.binarySearch</a:t>
                      </a:r>
                      <a:r>
                        <a:rPr lang="en-IN" dirty="0"/>
                        <a:t>()</a:t>
                      </a:r>
                      <a:r>
                        <a:rPr lang="en-IN" sz="1800" b="0" i="0" kern="1200" dirty="0">
                          <a:solidFill>
                            <a:schemeClr val="dk1"/>
                          </a:solidFill>
                          <a:effectLst/>
                          <a:latin typeface="+mn-lt"/>
                          <a:ea typeface="+mn-ea"/>
                          <a:cs typeface="+mn-cs"/>
                        </a:rPr>
                        <a:t>.</a:t>
                      </a:r>
                      <a:endParaRPr lang="en-US" dirty="0"/>
                    </a:p>
                  </a:txBody>
                  <a:tcPr/>
                </a:tc>
                <a:extLst>
                  <a:ext uri="{0D108BD9-81ED-4DB2-BD59-A6C34878D82A}">
                    <a16:rowId xmlns:a16="http://schemas.microsoft.com/office/drawing/2014/main" val="3963663798"/>
                  </a:ext>
                </a:extLst>
              </a:tr>
              <a:tr h="370840">
                <a:tc>
                  <a:txBody>
                    <a:bodyPr/>
                    <a:lstStyle/>
                    <a:p>
                      <a:r>
                        <a:rPr lang="en-IN" sz="1800" b="0" i="0" kern="1200" dirty="0">
                          <a:solidFill>
                            <a:schemeClr val="dk1"/>
                          </a:solidFill>
                          <a:effectLst/>
                          <a:latin typeface="+mn-lt"/>
                          <a:ea typeface="+mn-ea"/>
                          <a:cs typeface="+mn-cs"/>
                        </a:rPr>
                        <a:t>Insertion/Deletion</a:t>
                      </a:r>
                      <a:endParaRPr lang="en-US" dirty="0"/>
                    </a:p>
                  </a:txBody>
                  <a:tcPr/>
                </a:tc>
                <a:tc>
                  <a:txBody>
                    <a:bodyPr/>
                    <a:lstStyle/>
                    <a:p>
                      <a:r>
                        <a:rPr lang="en-US" dirty="0"/>
                        <a:t>O(n)</a:t>
                      </a:r>
                    </a:p>
                  </a:txBody>
                  <a:tcPr/>
                </a:tc>
                <a:tc>
                  <a:txBody>
                    <a:bodyPr/>
                    <a:lstStyle/>
                    <a:p>
                      <a:r>
                        <a:rPr lang="en-IN" sz="1800" b="0" i="0" kern="1200" dirty="0">
                          <a:solidFill>
                            <a:schemeClr val="dk1"/>
                          </a:solidFill>
                          <a:effectLst/>
                          <a:latin typeface="+mn-lt"/>
                          <a:ea typeface="+mn-ea"/>
                          <a:cs typeface="+mn-cs"/>
                        </a:rPr>
                        <a:t>Elements must be shifted to accommodate the change.</a:t>
                      </a:r>
                      <a:endParaRPr lang="en-US" dirty="0"/>
                    </a:p>
                  </a:txBody>
                  <a:tcPr/>
                </a:tc>
                <a:extLst>
                  <a:ext uri="{0D108BD9-81ED-4DB2-BD59-A6C34878D82A}">
                    <a16:rowId xmlns:a16="http://schemas.microsoft.com/office/drawing/2014/main" val="2832326644"/>
                  </a:ext>
                </a:extLst>
              </a:tr>
              <a:tr h="370840">
                <a:tc>
                  <a:txBody>
                    <a:bodyPr/>
                    <a:lstStyle/>
                    <a:p>
                      <a:r>
                        <a:rPr lang="en-IN" sz="1800" b="0" i="0" kern="1200" dirty="0">
                          <a:solidFill>
                            <a:schemeClr val="dk1"/>
                          </a:solidFill>
                          <a:effectLst/>
                          <a:latin typeface="+mn-lt"/>
                          <a:ea typeface="+mn-ea"/>
                          <a:cs typeface="+mn-cs"/>
                        </a:rPr>
                        <a:t>Sorting</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a:t>
                      </a:r>
                      <a:r>
                        <a:rPr lang="en-US" dirty="0" err="1"/>
                        <a:t>logn</a:t>
                      </a:r>
                      <a:r>
                        <a:rPr lang="en-US" dirty="0"/>
                        <a:t>)</a:t>
                      </a:r>
                    </a:p>
                    <a:p>
                      <a:endParaRPr lang="en-US" dirty="0"/>
                    </a:p>
                  </a:txBody>
                  <a:tcPr/>
                </a:tc>
                <a:tc>
                  <a:txBody>
                    <a:bodyPr/>
                    <a:lstStyle/>
                    <a:p>
                      <a:r>
                        <a:rPr lang="en-IN" dirty="0" err="1"/>
                        <a:t>Arrays.sort</a:t>
                      </a:r>
                      <a:r>
                        <a:rPr lang="en-IN" dirty="0"/>
                        <a:t>()</a:t>
                      </a:r>
                      <a:r>
                        <a:rPr lang="en-IN" sz="1800" b="0" i="0" kern="1200" dirty="0">
                          <a:solidFill>
                            <a:schemeClr val="dk1"/>
                          </a:solidFill>
                          <a:effectLst/>
                          <a:latin typeface="+mn-lt"/>
                          <a:ea typeface="+mn-ea"/>
                          <a:cs typeface="+mn-cs"/>
                        </a:rPr>
                        <a:t> is efficient, but be mindful of worst-case scenarios with primitives.</a:t>
                      </a:r>
                      <a:endParaRPr lang="en-US" dirty="0"/>
                    </a:p>
                  </a:txBody>
                  <a:tcPr/>
                </a:tc>
                <a:extLst>
                  <a:ext uri="{0D108BD9-81ED-4DB2-BD59-A6C34878D82A}">
                    <a16:rowId xmlns:a16="http://schemas.microsoft.com/office/drawing/2014/main" val="4179789073"/>
                  </a:ext>
                </a:extLst>
              </a:tr>
            </a:tbl>
          </a:graphicData>
        </a:graphic>
      </p:graphicFrame>
      <p:sp>
        <p:nvSpPr>
          <p:cNvPr id="6" name="TextBox 5">
            <a:extLst>
              <a:ext uri="{FF2B5EF4-FFF2-40B4-BE49-F238E27FC236}">
                <a16:creationId xmlns:a16="http://schemas.microsoft.com/office/drawing/2014/main" id="{89570D3D-F8A9-F716-00CC-EA7B4DDE8765}"/>
              </a:ext>
            </a:extLst>
          </p:cNvPr>
          <p:cNvSpPr txBox="1"/>
          <p:nvPr/>
        </p:nvSpPr>
        <p:spPr>
          <a:xfrm>
            <a:off x="0" y="5903893"/>
            <a:ext cx="12381466" cy="954107"/>
          </a:xfrm>
          <a:prstGeom prst="rect">
            <a:avLst/>
          </a:prstGeom>
          <a:noFill/>
        </p:spPr>
        <p:txBody>
          <a:bodyPr wrap="none" rtlCol="0">
            <a:spAutoFit/>
          </a:bodyPr>
          <a:lstStyle/>
          <a:p>
            <a:pPr algn="l" rtl="0"/>
            <a:r>
              <a:rPr lang="en-IN" sz="2800" b="0" i="0" dirty="0">
                <a:effectLst/>
                <a:latin typeface="Google Sans"/>
              </a:rPr>
              <a:t>Mastering array manipulation and understanding their performance trade-offs </a:t>
            </a:r>
          </a:p>
          <a:p>
            <a:pPr algn="l" rtl="0"/>
            <a:r>
              <a:rPr lang="en-IN" sz="2800" b="0" i="0" dirty="0">
                <a:effectLst/>
                <a:latin typeface="Google Sans"/>
              </a:rPr>
              <a:t>is crucial for success in coding interviews and competitive programming challenges. </a:t>
            </a:r>
          </a:p>
        </p:txBody>
      </p:sp>
    </p:spTree>
    <p:extLst>
      <p:ext uri="{BB962C8B-B14F-4D97-AF65-F5344CB8AC3E}">
        <p14:creationId xmlns:p14="http://schemas.microsoft.com/office/powerpoint/2010/main" val="1127824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F5963-66AC-5D0F-728D-7F43E31E7DEC}"/>
              </a:ext>
            </a:extLst>
          </p:cNvPr>
          <p:cNvSpPr>
            <a:spLocks noGrp="1"/>
          </p:cNvSpPr>
          <p:nvPr>
            <p:ph type="title"/>
          </p:nvPr>
        </p:nvSpPr>
        <p:spPr/>
        <p:txBody>
          <a:bodyPr/>
          <a:lstStyle/>
          <a:p>
            <a:r>
              <a:rPr lang="en-US" dirty="0"/>
              <a:t>Array Class in Java</a:t>
            </a:r>
          </a:p>
        </p:txBody>
      </p:sp>
      <p:sp>
        <p:nvSpPr>
          <p:cNvPr id="3" name="Content Placeholder 2">
            <a:extLst>
              <a:ext uri="{FF2B5EF4-FFF2-40B4-BE49-F238E27FC236}">
                <a16:creationId xmlns:a16="http://schemas.microsoft.com/office/drawing/2014/main" id="{D50BAFE7-D773-87A7-8794-D03A76D6C614}"/>
              </a:ext>
            </a:extLst>
          </p:cNvPr>
          <p:cNvSpPr>
            <a:spLocks noGrp="1"/>
          </p:cNvSpPr>
          <p:nvPr>
            <p:ph idx="1"/>
          </p:nvPr>
        </p:nvSpPr>
        <p:spPr/>
        <p:txBody>
          <a:bodyPr/>
          <a:lstStyle/>
          <a:p>
            <a:pPr algn="l"/>
            <a:r>
              <a:rPr lang="en-IN" b="0" i="0" dirty="0">
                <a:effectLst/>
                <a:latin typeface="Google Sans"/>
              </a:rPr>
              <a:t>The primary array utility class in Java is </a:t>
            </a:r>
            <a:r>
              <a:rPr lang="en-IN" b="0" i="0" dirty="0" err="1">
                <a:effectLst/>
                <a:latin typeface="Google Sans"/>
              </a:rPr>
              <a:t>java.util.Arrays</a:t>
            </a:r>
            <a:r>
              <a:rPr lang="en-IN" b="0" i="0" dirty="0">
                <a:effectLst/>
                <a:latin typeface="Google Sans"/>
              </a:rPr>
              <a:t>, which provides a comprehensive set of static methods for common operations on arrays, such as sorting, searching, comparing, and converting them to strings. </a:t>
            </a:r>
          </a:p>
          <a:p>
            <a:br>
              <a:rPr lang="en-IN" dirty="0"/>
            </a:br>
            <a:endParaRPr lang="en-US" dirty="0"/>
          </a:p>
        </p:txBody>
      </p:sp>
    </p:spTree>
    <p:extLst>
      <p:ext uri="{BB962C8B-B14F-4D97-AF65-F5344CB8AC3E}">
        <p14:creationId xmlns:p14="http://schemas.microsoft.com/office/powerpoint/2010/main" val="4289868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99768-5C1D-C198-FB19-CC35457B3DF8}"/>
              </a:ext>
            </a:extLst>
          </p:cNvPr>
          <p:cNvSpPr>
            <a:spLocks noGrp="1"/>
          </p:cNvSpPr>
          <p:nvPr>
            <p:ph type="title"/>
          </p:nvPr>
        </p:nvSpPr>
        <p:spPr/>
        <p:txBody>
          <a:bodyPr/>
          <a:lstStyle/>
          <a:p>
            <a:r>
              <a:rPr lang="en-IN" b="1" i="0" dirty="0">
                <a:effectLst/>
                <a:latin typeface="Google Sans"/>
              </a:rPr>
              <a:t>Key Features of </a:t>
            </a:r>
            <a:r>
              <a:rPr lang="en-IN" b="1" i="0" dirty="0" err="1">
                <a:effectLst/>
                <a:latin typeface="Google Sans"/>
              </a:rPr>
              <a:t>java.util.Arrays</a:t>
            </a:r>
            <a:endParaRPr lang="en-US" dirty="0"/>
          </a:p>
        </p:txBody>
      </p:sp>
      <p:sp>
        <p:nvSpPr>
          <p:cNvPr id="3" name="Content Placeholder 2">
            <a:extLst>
              <a:ext uri="{FF2B5EF4-FFF2-40B4-BE49-F238E27FC236}">
                <a16:creationId xmlns:a16="http://schemas.microsoft.com/office/drawing/2014/main" id="{2954C4E1-7209-BE29-D511-FCCF38EDC1F3}"/>
              </a:ext>
            </a:extLst>
          </p:cNvPr>
          <p:cNvSpPr>
            <a:spLocks noGrp="1"/>
          </p:cNvSpPr>
          <p:nvPr>
            <p:ph idx="1"/>
          </p:nvPr>
        </p:nvSpPr>
        <p:spPr/>
        <p:txBody>
          <a:bodyPr>
            <a:normAutofit lnSpcReduction="10000"/>
          </a:bodyPr>
          <a:lstStyle/>
          <a:p>
            <a:pPr algn="l">
              <a:buFont typeface="Arial" panose="020B0604020202020204" pitchFamily="34" charset="0"/>
              <a:buChar char="•"/>
            </a:pPr>
            <a:r>
              <a:rPr lang="en-IN" b="1" i="0" dirty="0">
                <a:effectLst/>
                <a:latin typeface="Google Sans"/>
              </a:rPr>
              <a:t>Static Methods</a:t>
            </a:r>
            <a:r>
              <a:rPr lang="en-IN" b="0" i="0" dirty="0">
                <a:effectLst/>
                <a:latin typeface="Google Sans"/>
              </a:rPr>
              <a:t>: All methods in the class are static, meaning you call them directly using the class name, e.g., </a:t>
            </a:r>
            <a:r>
              <a:rPr lang="en-IN" b="0" i="0" dirty="0" err="1">
                <a:effectLst/>
                <a:latin typeface="Google Sans"/>
              </a:rPr>
              <a:t>Arrays.sort</a:t>
            </a:r>
            <a:r>
              <a:rPr lang="en-IN" b="0" i="0" dirty="0">
                <a:effectLst/>
                <a:latin typeface="Google Sans"/>
              </a:rPr>
              <a:t>(</a:t>
            </a:r>
            <a:r>
              <a:rPr lang="en-IN" b="0" i="0" dirty="0" err="1">
                <a:effectLst/>
                <a:latin typeface="Google Sans"/>
              </a:rPr>
              <a:t>myArray</a:t>
            </a:r>
            <a:r>
              <a:rPr lang="en-IN" b="0" i="0" dirty="0">
                <a:effectLst/>
                <a:latin typeface="Google Sans"/>
              </a:rPr>
              <a:t>). This class cannot be instantiated.</a:t>
            </a:r>
          </a:p>
          <a:p>
            <a:pPr algn="l">
              <a:buFont typeface="Arial" panose="020B0604020202020204" pitchFamily="34" charset="0"/>
              <a:buChar char="•"/>
            </a:pPr>
            <a:r>
              <a:rPr lang="en-IN" b="1" i="0" dirty="0">
                <a:effectLst/>
                <a:latin typeface="Google Sans"/>
              </a:rPr>
              <a:t>Overloaded Methods</a:t>
            </a:r>
            <a:r>
              <a:rPr lang="en-IN" b="0" i="0" dirty="0">
                <a:effectLst/>
                <a:latin typeface="Google Sans"/>
              </a:rPr>
              <a:t>: Most methods are overloaded to handle all primitive data types (like int, double, char, etc.) as well as object types.</a:t>
            </a:r>
          </a:p>
          <a:p>
            <a:pPr algn="l">
              <a:buFont typeface="Arial" panose="020B0604020202020204" pitchFamily="34" charset="0"/>
              <a:buChar char="•"/>
            </a:pPr>
            <a:r>
              <a:rPr lang="en-IN" b="1" i="0" dirty="0">
                <a:effectLst/>
                <a:latin typeface="Google Sans"/>
              </a:rPr>
              <a:t>Efficiency</a:t>
            </a:r>
            <a:r>
              <a:rPr lang="en-IN" b="0" i="0" dirty="0">
                <a:effectLst/>
                <a:latin typeface="Google Sans"/>
              </a:rPr>
              <a:t>: These methods are optimized (e.g., sort uses a highly efficient dual-pivot Quicksort for primitives and a stable merge sort for objects). </a:t>
            </a:r>
          </a:p>
          <a:p>
            <a:br>
              <a:rPr lang="en-IN" dirty="0"/>
            </a:br>
            <a:endParaRPr lang="en-US" dirty="0"/>
          </a:p>
        </p:txBody>
      </p:sp>
    </p:spTree>
    <p:extLst>
      <p:ext uri="{BB962C8B-B14F-4D97-AF65-F5344CB8AC3E}">
        <p14:creationId xmlns:p14="http://schemas.microsoft.com/office/powerpoint/2010/main" val="7690349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32B96-A126-8A59-FF57-2E5129BCCBF4}"/>
              </a:ext>
            </a:extLst>
          </p:cNvPr>
          <p:cNvSpPr>
            <a:spLocks noGrp="1"/>
          </p:cNvSpPr>
          <p:nvPr>
            <p:ph type="title"/>
          </p:nvPr>
        </p:nvSpPr>
        <p:spPr/>
        <p:txBody>
          <a:bodyPr/>
          <a:lstStyle/>
          <a:p>
            <a:r>
              <a:rPr lang="en-IN" b="1" i="0" dirty="0">
                <a:effectLst/>
                <a:latin typeface="Google Sans"/>
              </a:rPr>
              <a:t>Common Methods</a:t>
            </a:r>
            <a:endParaRPr lang="en-US" dirty="0"/>
          </a:p>
        </p:txBody>
      </p:sp>
      <p:sp>
        <p:nvSpPr>
          <p:cNvPr id="3" name="Content Placeholder 2">
            <a:extLst>
              <a:ext uri="{FF2B5EF4-FFF2-40B4-BE49-F238E27FC236}">
                <a16:creationId xmlns:a16="http://schemas.microsoft.com/office/drawing/2014/main" id="{45EF6167-1DC6-D834-0103-BC52F6E50247}"/>
              </a:ext>
            </a:extLst>
          </p:cNvPr>
          <p:cNvSpPr>
            <a:spLocks noGrp="1"/>
          </p:cNvSpPr>
          <p:nvPr>
            <p:ph idx="1"/>
          </p:nvPr>
        </p:nvSpPr>
        <p:spPr/>
        <p:txBody>
          <a:bodyPr>
            <a:normAutofit fontScale="85000" lnSpcReduction="20000"/>
          </a:bodyPr>
          <a:lstStyle/>
          <a:p>
            <a:pPr algn="l"/>
            <a:r>
              <a:rPr lang="en-IN" b="0" i="0" dirty="0">
                <a:effectLst/>
                <a:latin typeface="Google Sans"/>
              </a:rPr>
              <a:t>Here are some of the most frequently used methods available in the </a:t>
            </a:r>
            <a:r>
              <a:rPr lang="en-IN" b="0" i="0" dirty="0" err="1">
                <a:effectLst/>
                <a:latin typeface="Google Sans"/>
              </a:rPr>
              <a:t>java.util.Arrays</a:t>
            </a:r>
            <a:r>
              <a:rPr lang="en-IN" b="0" i="0" dirty="0">
                <a:effectLst/>
                <a:latin typeface="Google Sans"/>
              </a:rPr>
              <a:t> class:</a:t>
            </a:r>
          </a:p>
          <a:p>
            <a:pPr algn="l">
              <a:buFont typeface="Arial" panose="020B0604020202020204" pitchFamily="34" charset="0"/>
              <a:buChar char="•"/>
            </a:pPr>
            <a:r>
              <a:rPr lang="en-IN" b="1" i="0" dirty="0">
                <a:effectLst/>
                <a:latin typeface="Google Sans"/>
              </a:rPr>
              <a:t>sort()</a:t>
            </a:r>
            <a:r>
              <a:rPr lang="en-IN" b="0" i="0" dirty="0">
                <a:effectLst/>
                <a:latin typeface="Google Sans"/>
              </a:rPr>
              <a:t>: Sorts the elements of an array in ascending order. Overloaded versions allow sorting an entire array or a specific range, and for object arrays, a custom Comparator can be provided.</a:t>
            </a:r>
          </a:p>
          <a:p>
            <a:pPr algn="l">
              <a:buFont typeface="Arial" panose="020B0604020202020204" pitchFamily="34" charset="0"/>
              <a:buChar char="•"/>
            </a:pPr>
            <a:r>
              <a:rPr lang="en-IN" b="1" i="0" dirty="0" err="1">
                <a:effectLst/>
                <a:latin typeface="Google Sans"/>
              </a:rPr>
              <a:t>binarySearch</a:t>
            </a:r>
            <a:r>
              <a:rPr lang="en-IN" b="1" i="0" dirty="0">
                <a:effectLst/>
                <a:latin typeface="Google Sans"/>
              </a:rPr>
              <a:t>()</a:t>
            </a:r>
            <a:r>
              <a:rPr lang="en-IN" b="0" i="0" dirty="0">
                <a:effectLst/>
                <a:latin typeface="Google Sans"/>
              </a:rPr>
              <a:t>: Searches for a specified value in a </a:t>
            </a:r>
            <a:r>
              <a:rPr lang="en-IN" b="1" i="0" dirty="0">
                <a:effectLst/>
                <a:latin typeface="Google Sans"/>
              </a:rPr>
              <a:t>sorted</a:t>
            </a:r>
            <a:r>
              <a:rPr lang="en-IN" b="0" i="0" dirty="0">
                <a:effectLst/>
                <a:latin typeface="Google Sans"/>
              </a:rPr>
              <a:t> array using the binary search algorithm. It returns the index of the element if found, or a negative value indicating the insertion point if not found.</a:t>
            </a:r>
          </a:p>
          <a:p>
            <a:pPr algn="l">
              <a:buFont typeface="Arial" panose="020B0604020202020204" pitchFamily="34" charset="0"/>
              <a:buChar char="•"/>
            </a:pPr>
            <a:r>
              <a:rPr lang="en-IN" b="1" i="0" dirty="0" err="1">
                <a:effectLst/>
                <a:latin typeface="Google Sans"/>
              </a:rPr>
              <a:t>toString</a:t>
            </a:r>
            <a:r>
              <a:rPr lang="en-IN" b="1" i="0" dirty="0">
                <a:effectLst/>
                <a:latin typeface="Google Sans"/>
              </a:rPr>
              <a:t>()</a:t>
            </a:r>
            <a:r>
              <a:rPr lang="en-IN" b="0" i="0" dirty="0">
                <a:effectLst/>
                <a:latin typeface="Google Sans"/>
              </a:rPr>
              <a:t>: Returns a string representation of the contents of the array, which is helpful for printing and debugging. It presents the elements within square brackets, separated by commas (e.g., [1, 2, 3]).</a:t>
            </a:r>
          </a:p>
          <a:p>
            <a:pPr algn="l">
              <a:buFont typeface="Arial" panose="020B0604020202020204" pitchFamily="34" charset="0"/>
              <a:buChar char="•"/>
            </a:pPr>
            <a:r>
              <a:rPr lang="en-IN" b="1" i="0" dirty="0">
                <a:effectLst/>
                <a:latin typeface="Google Sans"/>
              </a:rPr>
              <a:t>equals()</a:t>
            </a:r>
            <a:r>
              <a:rPr lang="en-IN" b="0" i="0" dirty="0">
                <a:effectLst/>
                <a:latin typeface="Google Sans"/>
              </a:rPr>
              <a:t>: Compares two arrays to determine if they are equal based on their contents. Two arrays are considered equal if they contain the same number of elements and all corresponding pairs of elements are equal.</a:t>
            </a:r>
          </a:p>
          <a:p>
            <a:pPr algn="l">
              <a:buFont typeface="Arial" panose="020B0604020202020204" pitchFamily="34" charset="0"/>
              <a:buChar char="•"/>
            </a:pPr>
            <a:endParaRPr lang="en-IN" b="0" i="0" dirty="0">
              <a:effectLst/>
              <a:latin typeface="Google Sans"/>
            </a:endParaRPr>
          </a:p>
        </p:txBody>
      </p:sp>
    </p:spTree>
    <p:extLst>
      <p:ext uri="{BB962C8B-B14F-4D97-AF65-F5344CB8AC3E}">
        <p14:creationId xmlns:p14="http://schemas.microsoft.com/office/powerpoint/2010/main" val="39095634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9AAFF-DF03-64F9-356D-C680D0BACA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C68E5-1C68-DBA0-BDC2-D399C2DE6B69}"/>
              </a:ext>
            </a:extLst>
          </p:cNvPr>
          <p:cNvSpPr>
            <a:spLocks noGrp="1"/>
          </p:cNvSpPr>
          <p:nvPr>
            <p:ph type="title"/>
          </p:nvPr>
        </p:nvSpPr>
        <p:spPr/>
        <p:txBody>
          <a:bodyPr/>
          <a:lstStyle/>
          <a:p>
            <a:r>
              <a:rPr lang="en-IN" b="1" i="0" dirty="0">
                <a:effectLst/>
                <a:latin typeface="Google Sans"/>
              </a:rPr>
              <a:t>Common Methods</a:t>
            </a:r>
            <a:endParaRPr lang="en-US" dirty="0"/>
          </a:p>
        </p:txBody>
      </p:sp>
      <p:sp>
        <p:nvSpPr>
          <p:cNvPr id="3" name="Content Placeholder 2">
            <a:extLst>
              <a:ext uri="{FF2B5EF4-FFF2-40B4-BE49-F238E27FC236}">
                <a16:creationId xmlns:a16="http://schemas.microsoft.com/office/drawing/2014/main" id="{5F83BD8A-5816-D6F6-263B-E20D58D6274B}"/>
              </a:ext>
            </a:extLst>
          </p:cNvPr>
          <p:cNvSpPr>
            <a:spLocks noGrp="1"/>
          </p:cNvSpPr>
          <p:nvPr>
            <p:ph idx="1"/>
          </p:nvPr>
        </p:nvSpPr>
        <p:spPr/>
        <p:txBody>
          <a:bodyPr>
            <a:normAutofit fontScale="85000" lnSpcReduction="20000"/>
          </a:bodyPr>
          <a:lstStyle/>
          <a:p>
            <a:pPr algn="l"/>
            <a:endParaRPr lang="en-IN" b="0" i="0" dirty="0">
              <a:effectLst/>
              <a:latin typeface="Google Sans"/>
            </a:endParaRPr>
          </a:p>
          <a:p>
            <a:pPr algn="l">
              <a:buFont typeface="Arial" panose="020B0604020202020204" pitchFamily="34" charset="0"/>
              <a:buChar char="•"/>
            </a:pPr>
            <a:r>
              <a:rPr lang="en-IN" b="1" i="0" dirty="0" err="1">
                <a:effectLst/>
                <a:latin typeface="Google Sans"/>
              </a:rPr>
              <a:t>deepEquals</a:t>
            </a:r>
            <a:r>
              <a:rPr lang="en-IN" b="1" i="0" dirty="0">
                <a:effectLst/>
                <a:latin typeface="Google Sans"/>
              </a:rPr>
              <a:t>()</a:t>
            </a:r>
            <a:r>
              <a:rPr lang="en-IN" b="0" i="0" dirty="0">
                <a:effectLst/>
                <a:latin typeface="Google Sans"/>
              </a:rPr>
              <a:t>: Similar to equals(), but designed for comparing the contents of multi-dimensional arrays.</a:t>
            </a:r>
          </a:p>
          <a:p>
            <a:pPr algn="l">
              <a:buFont typeface="Arial" panose="020B0604020202020204" pitchFamily="34" charset="0"/>
              <a:buChar char="•"/>
            </a:pPr>
            <a:r>
              <a:rPr lang="en-IN" b="1" i="0" dirty="0">
                <a:effectLst/>
                <a:latin typeface="Google Sans"/>
              </a:rPr>
              <a:t>fill()</a:t>
            </a:r>
            <a:r>
              <a:rPr lang="en-IN" b="0" i="0" dirty="0">
                <a:effectLst/>
                <a:latin typeface="Google Sans"/>
              </a:rPr>
              <a:t>: Fills all elements of an array (or a specified range) with a given static value.</a:t>
            </a:r>
          </a:p>
          <a:p>
            <a:pPr algn="l">
              <a:buFont typeface="Arial" panose="020B0604020202020204" pitchFamily="34" charset="0"/>
              <a:buChar char="•"/>
            </a:pPr>
            <a:r>
              <a:rPr lang="en-IN" b="1" i="0" dirty="0" err="1">
                <a:effectLst/>
                <a:latin typeface="Google Sans"/>
              </a:rPr>
              <a:t>copyOf</a:t>
            </a:r>
            <a:r>
              <a:rPr lang="en-IN" b="1" i="0" dirty="0">
                <a:effectLst/>
                <a:latin typeface="Google Sans"/>
              </a:rPr>
              <a:t>() and </a:t>
            </a:r>
            <a:r>
              <a:rPr lang="en-IN" b="1" i="0" dirty="0" err="1">
                <a:effectLst/>
                <a:latin typeface="Google Sans"/>
              </a:rPr>
              <a:t>copyOfRange</a:t>
            </a:r>
            <a:r>
              <a:rPr lang="en-IN" b="1" i="0" dirty="0">
                <a:effectLst/>
                <a:latin typeface="Google Sans"/>
              </a:rPr>
              <a:t>()</a:t>
            </a:r>
            <a:r>
              <a:rPr lang="en-IN" b="0" i="0" dirty="0">
                <a:effectLst/>
                <a:latin typeface="Google Sans"/>
              </a:rPr>
              <a:t>: Creates a new array that is a copy of the original array, optionally truncating or padding with default values to meet a specified length.</a:t>
            </a:r>
          </a:p>
          <a:p>
            <a:pPr algn="l">
              <a:buFont typeface="Arial" panose="020B0604020202020204" pitchFamily="34" charset="0"/>
              <a:buChar char="•"/>
            </a:pPr>
            <a:r>
              <a:rPr lang="en-IN" b="1" i="0" dirty="0" err="1">
                <a:effectLst/>
                <a:latin typeface="Google Sans"/>
              </a:rPr>
              <a:t>asList</a:t>
            </a:r>
            <a:r>
              <a:rPr lang="en-IN" b="1" i="0" dirty="0">
                <a:effectLst/>
                <a:latin typeface="Google Sans"/>
              </a:rPr>
              <a:t>()</a:t>
            </a:r>
            <a:r>
              <a:rPr lang="en-IN" b="0" i="0" dirty="0">
                <a:effectLst/>
                <a:latin typeface="Google Sans"/>
              </a:rPr>
              <a:t>: Converts an array into a fixed-size List. This list is "backed" by the original array, meaning changes in the list are reflected in the array and vice versa. The size of the list cannot be changed (adding or removing elements throws an </a:t>
            </a:r>
            <a:r>
              <a:rPr lang="en-IN" b="0" i="0" dirty="0" err="1">
                <a:effectLst/>
                <a:latin typeface="Google Sans"/>
              </a:rPr>
              <a:t>UnsupportedOperationException</a:t>
            </a:r>
            <a:r>
              <a:rPr lang="en-IN" b="0" i="0" dirty="0">
                <a:effectLst/>
                <a:latin typeface="Google Sans"/>
              </a:rPr>
              <a:t>).</a:t>
            </a:r>
          </a:p>
          <a:p>
            <a:pPr algn="l">
              <a:buFont typeface="Arial" panose="020B0604020202020204" pitchFamily="34" charset="0"/>
              <a:buChar char="•"/>
            </a:pPr>
            <a:r>
              <a:rPr lang="en-IN" b="1" i="0" dirty="0">
                <a:effectLst/>
                <a:latin typeface="Google Sans"/>
              </a:rPr>
              <a:t>stream()</a:t>
            </a:r>
            <a:r>
              <a:rPr lang="en-IN" b="0" i="0" dirty="0">
                <a:effectLst/>
                <a:latin typeface="Google Sans"/>
              </a:rPr>
              <a:t>: Returns a sequential Stream with the array as its source (available since Java 8). </a:t>
            </a:r>
          </a:p>
        </p:txBody>
      </p:sp>
    </p:spTree>
    <p:extLst>
      <p:ext uri="{BB962C8B-B14F-4D97-AF65-F5344CB8AC3E}">
        <p14:creationId xmlns:p14="http://schemas.microsoft.com/office/powerpoint/2010/main" val="15805672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0B857-A217-F15F-D1B2-A5B24C031FC2}"/>
              </a:ext>
            </a:extLst>
          </p:cNvPr>
          <p:cNvSpPr>
            <a:spLocks noGrp="1"/>
          </p:cNvSpPr>
          <p:nvPr>
            <p:ph type="title"/>
          </p:nvPr>
        </p:nvSpPr>
        <p:spPr/>
        <p:txBody>
          <a:bodyPr/>
          <a:lstStyle/>
          <a:p>
            <a:r>
              <a:rPr lang="en-US" dirty="0"/>
              <a:t>Insert Operations in Array</a:t>
            </a:r>
          </a:p>
        </p:txBody>
      </p:sp>
      <p:sp>
        <p:nvSpPr>
          <p:cNvPr id="3" name="Content Placeholder 2">
            <a:extLst>
              <a:ext uri="{FF2B5EF4-FFF2-40B4-BE49-F238E27FC236}">
                <a16:creationId xmlns:a16="http://schemas.microsoft.com/office/drawing/2014/main" id="{5DC323E0-685F-986F-902A-1F24ED364777}"/>
              </a:ext>
            </a:extLst>
          </p:cNvPr>
          <p:cNvSpPr>
            <a:spLocks noGrp="1"/>
          </p:cNvSpPr>
          <p:nvPr>
            <p:ph idx="1"/>
          </p:nvPr>
        </p:nvSpPr>
        <p:spPr/>
        <p:txBody>
          <a:bodyPr>
            <a:normAutofit lnSpcReduction="10000"/>
          </a:bodyPr>
          <a:lstStyle/>
          <a:p>
            <a:r>
              <a:rPr lang="en-IN" dirty="0"/>
              <a:t>In Java, arrays have a </a:t>
            </a:r>
            <a:r>
              <a:rPr lang="en-IN" b="1" dirty="0"/>
              <a:t>fixed size</a:t>
            </a:r>
            <a:r>
              <a:rPr lang="en-IN" dirty="0"/>
              <a:t> once they are created. This means you cannot "grow" a standard array. To perform an insertion, you typically need to ensure the array has enough "empty" slots (often initialized to zero or null) or create a new, larger array to hold the extra data.</a:t>
            </a:r>
          </a:p>
          <a:p>
            <a:r>
              <a:rPr lang="en-IN" b="1" dirty="0"/>
              <a:t>Important Concepts</a:t>
            </a:r>
          </a:p>
          <a:p>
            <a:pPr>
              <a:buFont typeface="Arial" panose="020B0604020202020204" pitchFamily="34" charset="0"/>
              <a:buChar char="•"/>
            </a:pPr>
            <a:r>
              <a:rPr lang="en-IN" b="1" dirty="0"/>
              <a:t>Capacity:</a:t>
            </a:r>
            <a:r>
              <a:rPr lang="en-IN" dirty="0"/>
              <a:t> The total size of the array (e.g., </a:t>
            </a:r>
            <a:r>
              <a:rPr lang="en-IN" dirty="0" err="1"/>
              <a:t>arr.length</a:t>
            </a:r>
            <a:r>
              <a:rPr lang="en-IN" dirty="0"/>
              <a:t>).</a:t>
            </a:r>
          </a:p>
          <a:p>
            <a:pPr>
              <a:buFont typeface="Arial" panose="020B0604020202020204" pitchFamily="34" charset="0"/>
              <a:buChar char="•"/>
            </a:pPr>
            <a:r>
              <a:rPr lang="en-IN" b="1" dirty="0"/>
              <a:t>Size:</a:t>
            </a:r>
            <a:r>
              <a:rPr lang="en-IN" dirty="0"/>
              <a:t> The number of actual elements currently stored in the array.</a:t>
            </a:r>
          </a:p>
          <a:p>
            <a:pPr>
              <a:buFont typeface="Arial" panose="020B0604020202020204" pitchFamily="34" charset="0"/>
              <a:buChar char="•"/>
            </a:pPr>
            <a:r>
              <a:rPr lang="en-IN" b="1" dirty="0"/>
              <a:t>Shifting:</a:t>
            </a:r>
            <a:r>
              <a:rPr lang="en-IN" dirty="0"/>
              <a:t> When you insert an element in the middle or at the start, you must move the existing elements to the right to make room.</a:t>
            </a:r>
          </a:p>
        </p:txBody>
      </p:sp>
    </p:spTree>
    <p:extLst>
      <p:ext uri="{BB962C8B-B14F-4D97-AF65-F5344CB8AC3E}">
        <p14:creationId xmlns:p14="http://schemas.microsoft.com/office/powerpoint/2010/main" val="7146363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5E597-9D2D-E40B-515F-1828E31EAF95}"/>
              </a:ext>
            </a:extLst>
          </p:cNvPr>
          <p:cNvSpPr>
            <a:spLocks noGrp="1"/>
          </p:cNvSpPr>
          <p:nvPr>
            <p:ph type="title"/>
          </p:nvPr>
        </p:nvSpPr>
        <p:spPr/>
        <p:txBody>
          <a:bodyPr/>
          <a:lstStyle/>
          <a:p>
            <a:r>
              <a:rPr lang="en-IN" b="1" dirty="0"/>
              <a:t>Insertion at a </a:t>
            </a:r>
            <a:r>
              <a:rPr lang="en-IN" b="1"/>
              <a:t>Specific Index</a:t>
            </a:r>
            <a:endParaRPr lang="en-US" dirty="0"/>
          </a:p>
        </p:txBody>
      </p:sp>
      <p:sp>
        <p:nvSpPr>
          <p:cNvPr id="3" name="Content Placeholder 2">
            <a:extLst>
              <a:ext uri="{FF2B5EF4-FFF2-40B4-BE49-F238E27FC236}">
                <a16:creationId xmlns:a16="http://schemas.microsoft.com/office/drawing/2014/main" id="{CF589F6E-9826-FA96-939D-82BB8F328658}"/>
              </a:ext>
            </a:extLst>
          </p:cNvPr>
          <p:cNvSpPr>
            <a:spLocks noGrp="1"/>
          </p:cNvSpPr>
          <p:nvPr>
            <p:ph idx="1"/>
          </p:nvPr>
        </p:nvSpPr>
        <p:spPr/>
        <p:txBody>
          <a:bodyPr/>
          <a:lstStyle/>
          <a:p>
            <a:r>
              <a:rPr lang="en-IN" dirty="0"/>
              <a:t>To insert an element at a specific index, you must shift all elements from that index one position to the right.</a:t>
            </a:r>
          </a:p>
          <a:p>
            <a:endParaRPr lang="en-US" dirty="0"/>
          </a:p>
        </p:txBody>
      </p:sp>
      <p:pic>
        <p:nvPicPr>
          <p:cNvPr id="4" name="Picture 3">
            <a:extLst>
              <a:ext uri="{FF2B5EF4-FFF2-40B4-BE49-F238E27FC236}">
                <a16:creationId xmlns:a16="http://schemas.microsoft.com/office/drawing/2014/main" id="{496970E7-5D59-2419-774F-C40D4FCCE992}"/>
              </a:ext>
            </a:extLst>
          </p:cNvPr>
          <p:cNvPicPr>
            <a:picLocks noChangeAspect="1"/>
          </p:cNvPicPr>
          <p:nvPr/>
        </p:nvPicPr>
        <p:blipFill>
          <a:blip r:embed="rId2"/>
          <a:stretch>
            <a:fillRect/>
          </a:stretch>
        </p:blipFill>
        <p:spPr>
          <a:xfrm>
            <a:off x="2805926" y="2792185"/>
            <a:ext cx="5323227" cy="3918857"/>
          </a:xfrm>
          <a:prstGeom prst="rect">
            <a:avLst/>
          </a:prstGeom>
        </p:spPr>
      </p:pic>
    </p:spTree>
    <p:extLst>
      <p:ext uri="{BB962C8B-B14F-4D97-AF65-F5344CB8AC3E}">
        <p14:creationId xmlns:p14="http://schemas.microsoft.com/office/powerpoint/2010/main" val="3955202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6D42C-B5F4-45C2-4799-72B821747438}"/>
              </a:ext>
            </a:extLst>
          </p:cNvPr>
          <p:cNvSpPr>
            <a:spLocks noGrp="1"/>
          </p:cNvSpPr>
          <p:nvPr>
            <p:ph type="title"/>
          </p:nvPr>
        </p:nvSpPr>
        <p:spPr/>
        <p:txBody>
          <a:bodyPr/>
          <a:lstStyle/>
          <a:p>
            <a:r>
              <a:rPr lang="en-IN" b="1" dirty="0">
                <a:effectLst/>
                <a:latin typeface="Google Sans"/>
              </a:rPr>
              <a:t>Insertion at the Beginning</a:t>
            </a:r>
            <a:endParaRPr lang="en-US" dirty="0"/>
          </a:p>
        </p:txBody>
      </p:sp>
      <p:sp>
        <p:nvSpPr>
          <p:cNvPr id="3" name="Content Placeholder 2">
            <a:extLst>
              <a:ext uri="{FF2B5EF4-FFF2-40B4-BE49-F238E27FC236}">
                <a16:creationId xmlns:a16="http://schemas.microsoft.com/office/drawing/2014/main" id="{6DB01439-896A-4E47-8215-90903B4D4606}"/>
              </a:ext>
            </a:extLst>
          </p:cNvPr>
          <p:cNvSpPr>
            <a:spLocks noGrp="1"/>
          </p:cNvSpPr>
          <p:nvPr>
            <p:ph idx="1"/>
          </p:nvPr>
        </p:nvSpPr>
        <p:spPr/>
        <p:txBody>
          <a:bodyPr/>
          <a:lstStyle/>
          <a:p>
            <a:r>
              <a:rPr lang="en-IN" dirty="0">
                <a:effectLst/>
                <a:latin typeface="Google Sans Text"/>
              </a:rPr>
              <a:t>This is a specific case of index insertion where the index is always 0. It is the most "</a:t>
            </a:r>
            <a:r>
              <a:rPr lang="en-IN" b="1" dirty="0">
                <a:effectLst/>
                <a:latin typeface="Google Sans Text"/>
              </a:rPr>
              <a:t>expensive</a:t>
            </a:r>
            <a:r>
              <a:rPr lang="en-IN" dirty="0">
                <a:effectLst/>
                <a:latin typeface="Google Sans Text"/>
              </a:rPr>
              <a:t>" operation because </a:t>
            </a:r>
            <a:r>
              <a:rPr lang="en-IN" b="1" dirty="0">
                <a:effectLst/>
                <a:latin typeface="Google Sans Text"/>
              </a:rPr>
              <a:t>every</a:t>
            </a:r>
            <a:r>
              <a:rPr lang="en-IN" dirty="0">
                <a:effectLst/>
                <a:latin typeface="Google Sans Text"/>
              </a:rPr>
              <a:t> existing element must be shifted.</a:t>
            </a:r>
          </a:p>
          <a:p>
            <a:pPr>
              <a:buFont typeface="Arial" panose="020B0604020202020204" pitchFamily="34" charset="0"/>
              <a:buChar char="•"/>
            </a:pPr>
            <a:r>
              <a:rPr lang="en-IN" b="1" dirty="0">
                <a:effectLst/>
                <a:latin typeface="Google Sans Text"/>
              </a:rPr>
              <a:t>Time Complexity:</a:t>
            </a:r>
            <a:r>
              <a:rPr lang="en-IN" dirty="0">
                <a:effectLst/>
                <a:latin typeface="Google Sans Text"/>
              </a:rPr>
              <a:t> O(n)</a:t>
            </a:r>
          </a:p>
          <a:p>
            <a:pPr>
              <a:buFont typeface="Arial" panose="020B0604020202020204" pitchFamily="34" charset="0"/>
              <a:buChar char="•"/>
            </a:pPr>
            <a:r>
              <a:rPr lang="en-IN" b="1" dirty="0">
                <a:effectLst/>
                <a:latin typeface="Google Sans Text"/>
              </a:rPr>
              <a:t>Logic:</a:t>
            </a:r>
            <a:r>
              <a:rPr lang="en-IN" dirty="0">
                <a:effectLst/>
                <a:latin typeface="Google Sans Text"/>
              </a:rPr>
              <a:t> Start from the last element and move it to </a:t>
            </a:r>
            <a:r>
              <a:rPr lang="en-IN" dirty="0" err="1">
                <a:effectLst/>
                <a:latin typeface="Google Sans Text"/>
              </a:rPr>
              <a:t>i</a:t>
            </a:r>
            <a:r>
              <a:rPr lang="en-IN" dirty="0">
                <a:effectLst/>
                <a:latin typeface="Google Sans Text"/>
              </a:rPr>
              <a:t> + 1 until you reach index 0.</a:t>
            </a:r>
          </a:p>
          <a:p>
            <a:endParaRPr lang="en-US" dirty="0"/>
          </a:p>
        </p:txBody>
      </p:sp>
      <p:pic>
        <p:nvPicPr>
          <p:cNvPr id="4" name="Picture 3">
            <a:extLst>
              <a:ext uri="{FF2B5EF4-FFF2-40B4-BE49-F238E27FC236}">
                <a16:creationId xmlns:a16="http://schemas.microsoft.com/office/drawing/2014/main" id="{E3562763-BA3F-9C59-BCB7-F2204B021F8A}"/>
              </a:ext>
            </a:extLst>
          </p:cNvPr>
          <p:cNvPicPr>
            <a:picLocks noChangeAspect="1"/>
          </p:cNvPicPr>
          <p:nvPr/>
        </p:nvPicPr>
        <p:blipFill>
          <a:blip r:embed="rId2"/>
          <a:stretch>
            <a:fillRect/>
          </a:stretch>
        </p:blipFill>
        <p:spPr>
          <a:xfrm>
            <a:off x="2625931" y="4218249"/>
            <a:ext cx="7772400" cy="2451861"/>
          </a:xfrm>
          <a:prstGeom prst="rect">
            <a:avLst/>
          </a:prstGeom>
        </p:spPr>
      </p:pic>
    </p:spTree>
    <p:extLst>
      <p:ext uri="{BB962C8B-B14F-4D97-AF65-F5344CB8AC3E}">
        <p14:creationId xmlns:p14="http://schemas.microsoft.com/office/powerpoint/2010/main" val="20172156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9F968-8D39-22B0-3661-2EC002DDB60A}"/>
              </a:ext>
            </a:extLst>
          </p:cNvPr>
          <p:cNvSpPr>
            <a:spLocks noGrp="1"/>
          </p:cNvSpPr>
          <p:nvPr>
            <p:ph type="title"/>
          </p:nvPr>
        </p:nvSpPr>
        <p:spPr/>
        <p:txBody>
          <a:bodyPr/>
          <a:lstStyle/>
          <a:p>
            <a:r>
              <a:rPr lang="en-IN" b="1" dirty="0">
                <a:effectLst/>
                <a:latin typeface="Google Sans"/>
              </a:rPr>
              <a:t>Insertion at the End</a:t>
            </a:r>
            <a:endParaRPr lang="en-US" dirty="0"/>
          </a:p>
        </p:txBody>
      </p:sp>
      <p:sp>
        <p:nvSpPr>
          <p:cNvPr id="3" name="Content Placeholder 2">
            <a:extLst>
              <a:ext uri="{FF2B5EF4-FFF2-40B4-BE49-F238E27FC236}">
                <a16:creationId xmlns:a16="http://schemas.microsoft.com/office/drawing/2014/main" id="{3FB00BB9-87D3-3959-EE9D-6F2D778D50A3}"/>
              </a:ext>
            </a:extLst>
          </p:cNvPr>
          <p:cNvSpPr>
            <a:spLocks noGrp="1"/>
          </p:cNvSpPr>
          <p:nvPr>
            <p:ph idx="1"/>
          </p:nvPr>
        </p:nvSpPr>
        <p:spPr/>
        <p:txBody>
          <a:bodyPr/>
          <a:lstStyle/>
          <a:p>
            <a:r>
              <a:rPr lang="en-IN" dirty="0">
                <a:effectLst/>
                <a:latin typeface="Google Sans Text"/>
              </a:rPr>
              <a:t>This is the most efficient insertion, provided the array has enough capacity. No shifting is required.</a:t>
            </a:r>
          </a:p>
          <a:p>
            <a:pPr>
              <a:buFont typeface="Arial" panose="020B0604020202020204" pitchFamily="34" charset="0"/>
              <a:buChar char="•"/>
            </a:pPr>
            <a:r>
              <a:rPr lang="en-IN" b="1" dirty="0">
                <a:effectLst/>
                <a:latin typeface="Google Sans Text"/>
              </a:rPr>
              <a:t>Time Complexity:</a:t>
            </a:r>
            <a:r>
              <a:rPr lang="en-IN" dirty="0">
                <a:effectLst/>
                <a:latin typeface="Google Sans Text"/>
              </a:rPr>
              <a:t> O(1)</a:t>
            </a:r>
          </a:p>
          <a:p>
            <a:pPr>
              <a:buFont typeface="Arial" panose="020B0604020202020204" pitchFamily="34" charset="0"/>
              <a:buChar char="•"/>
            </a:pPr>
            <a:r>
              <a:rPr lang="en-IN" b="1" dirty="0">
                <a:effectLst/>
                <a:latin typeface="Google Sans Text"/>
              </a:rPr>
              <a:t>Logic:</a:t>
            </a:r>
            <a:r>
              <a:rPr lang="en-IN" dirty="0">
                <a:effectLst/>
                <a:latin typeface="Google Sans Text"/>
              </a:rPr>
              <a:t> Simply place the element at the current size index.</a:t>
            </a:r>
          </a:p>
          <a:p>
            <a:endParaRPr lang="en-US" dirty="0"/>
          </a:p>
        </p:txBody>
      </p:sp>
      <p:pic>
        <p:nvPicPr>
          <p:cNvPr id="6" name="Picture 5">
            <a:extLst>
              <a:ext uri="{FF2B5EF4-FFF2-40B4-BE49-F238E27FC236}">
                <a16:creationId xmlns:a16="http://schemas.microsoft.com/office/drawing/2014/main" id="{19E159B5-D6A3-34C3-0392-DCB8F01CD7BA}"/>
              </a:ext>
            </a:extLst>
          </p:cNvPr>
          <p:cNvPicPr>
            <a:picLocks noChangeAspect="1"/>
          </p:cNvPicPr>
          <p:nvPr/>
        </p:nvPicPr>
        <p:blipFill>
          <a:blip r:embed="rId2"/>
          <a:stretch>
            <a:fillRect/>
          </a:stretch>
        </p:blipFill>
        <p:spPr>
          <a:xfrm>
            <a:off x="2209800" y="4001294"/>
            <a:ext cx="7772400" cy="1916482"/>
          </a:xfrm>
          <a:prstGeom prst="rect">
            <a:avLst/>
          </a:prstGeom>
        </p:spPr>
      </p:pic>
    </p:spTree>
    <p:extLst>
      <p:ext uri="{BB962C8B-B14F-4D97-AF65-F5344CB8AC3E}">
        <p14:creationId xmlns:p14="http://schemas.microsoft.com/office/powerpoint/2010/main" val="5305434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113FC-DE5E-DA46-8056-715E1051667C}"/>
              </a:ext>
            </a:extLst>
          </p:cNvPr>
          <p:cNvSpPr>
            <a:spLocks noGrp="1"/>
          </p:cNvSpPr>
          <p:nvPr>
            <p:ph type="title"/>
          </p:nvPr>
        </p:nvSpPr>
        <p:spPr/>
        <p:txBody>
          <a:bodyPr/>
          <a:lstStyle/>
          <a:p>
            <a:r>
              <a:rPr lang="en-IN" b="1" dirty="0"/>
              <a:t>Handling a Full Array (Dynamic Resizing)</a:t>
            </a:r>
            <a:endParaRPr lang="en-US" dirty="0"/>
          </a:p>
        </p:txBody>
      </p:sp>
      <p:sp>
        <p:nvSpPr>
          <p:cNvPr id="3" name="Content Placeholder 2">
            <a:extLst>
              <a:ext uri="{FF2B5EF4-FFF2-40B4-BE49-F238E27FC236}">
                <a16:creationId xmlns:a16="http://schemas.microsoft.com/office/drawing/2014/main" id="{59123A7E-9491-49A6-4A4A-513B4BCAA5D2}"/>
              </a:ext>
            </a:extLst>
          </p:cNvPr>
          <p:cNvSpPr>
            <a:spLocks noGrp="1"/>
          </p:cNvSpPr>
          <p:nvPr>
            <p:ph idx="1"/>
          </p:nvPr>
        </p:nvSpPr>
        <p:spPr/>
        <p:txBody>
          <a:bodyPr/>
          <a:lstStyle/>
          <a:p>
            <a:r>
              <a:rPr lang="en-IN" dirty="0"/>
              <a:t>If the array is full (size == </a:t>
            </a:r>
            <a:r>
              <a:rPr lang="en-IN" dirty="0" err="1"/>
              <a:t>arr.length</a:t>
            </a:r>
            <a:r>
              <a:rPr lang="en-IN" dirty="0"/>
              <a:t>), you must create a new array with more capacity and copy the old elements over before inserting.</a:t>
            </a:r>
          </a:p>
          <a:p>
            <a:r>
              <a:rPr lang="en-IN" b="1" dirty="0"/>
              <a:t>Java Implementation (Using </a:t>
            </a:r>
            <a:r>
              <a:rPr lang="en-IN" b="1" dirty="0" err="1"/>
              <a:t>Arrays.copyOf</a:t>
            </a:r>
            <a:r>
              <a:rPr lang="en-IN" b="1" dirty="0"/>
              <a:t>)</a:t>
            </a:r>
          </a:p>
          <a:p>
            <a:endParaRPr lang="en-US" dirty="0"/>
          </a:p>
        </p:txBody>
      </p:sp>
      <p:pic>
        <p:nvPicPr>
          <p:cNvPr id="4" name="Picture 3">
            <a:extLst>
              <a:ext uri="{FF2B5EF4-FFF2-40B4-BE49-F238E27FC236}">
                <a16:creationId xmlns:a16="http://schemas.microsoft.com/office/drawing/2014/main" id="{9447F3F5-2F37-B051-1A7A-E83211A3B11F}"/>
              </a:ext>
            </a:extLst>
          </p:cNvPr>
          <p:cNvPicPr>
            <a:picLocks noChangeAspect="1"/>
          </p:cNvPicPr>
          <p:nvPr/>
        </p:nvPicPr>
        <p:blipFill>
          <a:blip r:embed="rId2"/>
          <a:stretch>
            <a:fillRect/>
          </a:stretch>
        </p:blipFill>
        <p:spPr>
          <a:xfrm>
            <a:off x="4400550" y="3565472"/>
            <a:ext cx="6753616" cy="3292528"/>
          </a:xfrm>
          <a:prstGeom prst="rect">
            <a:avLst/>
          </a:prstGeom>
        </p:spPr>
      </p:pic>
    </p:spTree>
    <p:extLst>
      <p:ext uri="{BB962C8B-B14F-4D97-AF65-F5344CB8AC3E}">
        <p14:creationId xmlns:p14="http://schemas.microsoft.com/office/powerpoint/2010/main" val="288141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AB6BB-CB19-4A10-E302-C05D9045D4DD}"/>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129DBDF0-4EF7-A27A-9DDD-6FED81425F8D}"/>
              </a:ext>
            </a:extLst>
          </p:cNvPr>
          <p:cNvGraphicFramePr>
            <a:graphicFrameLocks noGrp="1"/>
          </p:cNvGraphicFramePr>
          <p:nvPr>
            <p:ph idx="1"/>
            <p:extLst>
              <p:ext uri="{D42A27DB-BD31-4B8C-83A1-F6EECF244321}">
                <p14:modId xmlns:p14="http://schemas.microsoft.com/office/powerpoint/2010/main" val="1557058540"/>
              </p:ext>
            </p:extLst>
          </p:nvPr>
        </p:nvGraphicFramePr>
        <p:xfrm>
          <a:off x="838200" y="1825625"/>
          <a:ext cx="10515597" cy="148336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246991175"/>
                    </a:ext>
                  </a:extLst>
                </a:gridCol>
                <a:gridCol w="3505199">
                  <a:extLst>
                    <a:ext uri="{9D8B030D-6E8A-4147-A177-3AD203B41FA5}">
                      <a16:colId xmlns:a16="http://schemas.microsoft.com/office/drawing/2014/main" val="1349174359"/>
                    </a:ext>
                  </a:extLst>
                </a:gridCol>
                <a:gridCol w="3505199">
                  <a:extLst>
                    <a:ext uri="{9D8B030D-6E8A-4147-A177-3AD203B41FA5}">
                      <a16:colId xmlns:a16="http://schemas.microsoft.com/office/drawing/2014/main" val="141183842"/>
                    </a:ext>
                  </a:extLst>
                </a:gridCol>
              </a:tblGrid>
              <a:tr h="370840">
                <a:tc>
                  <a:txBody>
                    <a:bodyPr/>
                    <a:lstStyle/>
                    <a:p>
                      <a:r>
                        <a:rPr lang="en-US" dirty="0"/>
                        <a:t>Operation</a:t>
                      </a:r>
                    </a:p>
                  </a:txBody>
                  <a:tcPr/>
                </a:tc>
                <a:tc>
                  <a:txBody>
                    <a:bodyPr/>
                    <a:lstStyle/>
                    <a:p>
                      <a:r>
                        <a:rPr lang="en-US" dirty="0"/>
                        <a:t>Shift Required</a:t>
                      </a:r>
                    </a:p>
                  </a:txBody>
                  <a:tcPr/>
                </a:tc>
                <a:tc>
                  <a:txBody>
                    <a:bodyPr/>
                    <a:lstStyle/>
                    <a:p>
                      <a:r>
                        <a:rPr lang="en-US" dirty="0"/>
                        <a:t>Time Complexity</a:t>
                      </a:r>
                    </a:p>
                  </a:txBody>
                  <a:tcPr/>
                </a:tc>
                <a:extLst>
                  <a:ext uri="{0D108BD9-81ED-4DB2-BD59-A6C34878D82A}">
                    <a16:rowId xmlns:a16="http://schemas.microsoft.com/office/drawing/2014/main" val="2504433638"/>
                  </a:ext>
                </a:extLst>
              </a:tr>
              <a:tr h="370840">
                <a:tc>
                  <a:txBody>
                    <a:bodyPr/>
                    <a:lstStyle/>
                    <a:p>
                      <a:r>
                        <a:rPr lang="en-US" dirty="0" err="1"/>
                        <a:t>InsertAtBegin</a:t>
                      </a:r>
                      <a:endParaRPr lang="en-US" dirty="0"/>
                    </a:p>
                  </a:txBody>
                  <a:tcPr/>
                </a:tc>
                <a:tc>
                  <a:txBody>
                    <a:bodyPr/>
                    <a:lstStyle/>
                    <a:p>
                      <a:r>
                        <a:rPr lang="en-US" dirty="0"/>
                        <a:t>Yes (all elements)</a:t>
                      </a:r>
                    </a:p>
                  </a:txBody>
                  <a:tcPr/>
                </a:tc>
                <a:tc>
                  <a:txBody>
                    <a:bodyPr/>
                    <a:lstStyle/>
                    <a:p>
                      <a:r>
                        <a:rPr lang="en-US" dirty="0"/>
                        <a:t>O(n)</a:t>
                      </a:r>
                    </a:p>
                  </a:txBody>
                  <a:tcPr/>
                </a:tc>
                <a:extLst>
                  <a:ext uri="{0D108BD9-81ED-4DB2-BD59-A6C34878D82A}">
                    <a16:rowId xmlns:a16="http://schemas.microsoft.com/office/drawing/2014/main" val="1069273270"/>
                  </a:ext>
                </a:extLst>
              </a:tr>
              <a:tr h="370840">
                <a:tc>
                  <a:txBody>
                    <a:bodyPr/>
                    <a:lstStyle/>
                    <a:p>
                      <a:r>
                        <a:rPr lang="en-US" dirty="0" err="1"/>
                        <a:t>InsertAtEnd</a:t>
                      </a:r>
                      <a:endParaRPr lang="en-US" dirty="0"/>
                    </a:p>
                  </a:txBody>
                  <a:tcPr/>
                </a:tc>
                <a:tc>
                  <a:txBody>
                    <a:bodyPr/>
                    <a:lstStyle/>
                    <a:p>
                      <a:r>
                        <a:rPr lang="en-US" dirty="0"/>
                        <a:t>No</a:t>
                      </a:r>
                    </a:p>
                  </a:txBody>
                  <a:tcPr/>
                </a:tc>
                <a:tc>
                  <a:txBody>
                    <a:bodyPr/>
                    <a:lstStyle/>
                    <a:p>
                      <a:r>
                        <a:rPr lang="en-US" dirty="0"/>
                        <a:t>O(1)</a:t>
                      </a:r>
                    </a:p>
                  </a:txBody>
                  <a:tcPr/>
                </a:tc>
                <a:extLst>
                  <a:ext uri="{0D108BD9-81ED-4DB2-BD59-A6C34878D82A}">
                    <a16:rowId xmlns:a16="http://schemas.microsoft.com/office/drawing/2014/main" val="54038734"/>
                  </a:ext>
                </a:extLst>
              </a:tr>
              <a:tr h="370840">
                <a:tc>
                  <a:txBody>
                    <a:bodyPr/>
                    <a:lstStyle/>
                    <a:p>
                      <a:r>
                        <a:rPr lang="en-US" dirty="0" err="1"/>
                        <a:t>InsertAtIndex</a:t>
                      </a:r>
                      <a:endParaRPr lang="en-US" dirty="0"/>
                    </a:p>
                  </a:txBody>
                  <a:tcPr/>
                </a:tc>
                <a:tc>
                  <a:txBody>
                    <a:bodyPr/>
                    <a:lstStyle/>
                    <a:p>
                      <a:r>
                        <a:rPr lang="en-US" dirty="0"/>
                        <a:t>Yes (elements from k to n)</a:t>
                      </a:r>
                    </a:p>
                  </a:txBody>
                  <a:tcPr/>
                </a:tc>
                <a:tc>
                  <a:txBody>
                    <a:bodyPr/>
                    <a:lstStyle/>
                    <a:p>
                      <a:r>
                        <a:rPr lang="en-US" dirty="0"/>
                        <a:t>O(n)</a:t>
                      </a:r>
                    </a:p>
                  </a:txBody>
                  <a:tcPr/>
                </a:tc>
                <a:extLst>
                  <a:ext uri="{0D108BD9-81ED-4DB2-BD59-A6C34878D82A}">
                    <a16:rowId xmlns:a16="http://schemas.microsoft.com/office/drawing/2014/main" val="2820333167"/>
                  </a:ext>
                </a:extLst>
              </a:tr>
            </a:tbl>
          </a:graphicData>
        </a:graphic>
      </p:graphicFrame>
    </p:spTree>
    <p:extLst>
      <p:ext uri="{BB962C8B-B14F-4D97-AF65-F5344CB8AC3E}">
        <p14:creationId xmlns:p14="http://schemas.microsoft.com/office/powerpoint/2010/main" val="22757969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EEC31-CD8E-965B-B5A1-617EF0C4B149}"/>
              </a:ext>
            </a:extLst>
          </p:cNvPr>
          <p:cNvSpPr>
            <a:spLocks noGrp="1"/>
          </p:cNvSpPr>
          <p:nvPr>
            <p:ph type="title"/>
          </p:nvPr>
        </p:nvSpPr>
        <p:spPr/>
        <p:txBody>
          <a:bodyPr/>
          <a:lstStyle/>
          <a:p>
            <a:r>
              <a:rPr lang="en-US" dirty="0"/>
              <a:t>Delete Operations in Array</a:t>
            </a:r>
          </a:p>
        </p:txBody>
      </p:sp>
      <p:sp>
        <p:nvSpPr>
          <p:cNvPr id="3" name="Content Placeholder 2">
            <a:extLst>
              <a:ext uri="{FF2B5EF4-FFF2-40B4-BE49-F238E27FC236}">
                <a16:creationId xmlns:a16="http://schemas.microsoft.com/office/drawing/2014/main" id="{BFEF32D8-1510-FB43-64EB-F23671739A05}"/>
              </a:ext>
            </a:extLst>
          </p:cNvPr>
          <p:cNvSpPr>
            <a:spLocks noGrp="1"/>
          </p:cNvSpPr>
          <p:nvPr>
            <p:ph idx="1"/>
          </p:nvPr>
        </p:nvSpPr>
        <p:spPr/>
        <p:txBody>
          <a:bodyPr/>
          <a:lstStyle/>
          <a:p>
            <a:r>
              <a:rPr lang="en-IN" dirty="0"/>
              <a:t>Deletion in a standard Java array is the opposite of insertion. Since arrays have a </a:t>
            </a:r>
            <a:r>
              <a:rPr lang="en-IN" b="1" dirty="0"/>
              <a:t>fixed size</a:t>
            </a:r>
            <a:r>
              <a:rPr lang="en-IN" dirty="0"/>
              <a:t>, you cannot truly "remove" a slot. Instead, you overwrite the element to be deleted by shifting all subsequent elements one position to the left.</a:t>
            </a:r>
          </a:p>
          <a:p>
            <a:r>
              <a:rPr lang="en-IN" b="1" dirty="0"/>
              <a:t>Key Logic: The "Shift"</a:t>
            </a:r>
          </a:p>
          <a:p>
            <a:r>
              <a:rPr lang="en-IN" dirty="0"/>
              <a:t>When you delete an element from the middle or the beginning, you create a "hole." To maintain the array's integrity, every element to the right of the deleted item must move left by one index.</a:t>
            </a:r>
          </a:p>
          <a:p>
            <a:endParaRPr lang="en-US" dirty="0"/>
          </a:p>
        </p:txBody>
      </p:sp>
    </p:spTree>
    <p:extLst>
      <p:ext uri="{BB962C8B-B14F-4D97-AF65-F5344CB8AC3E}">
        <p14:creationId xmlns:p14="http://schemas.microsoft.com/office/powerpoint/2010/main" val="29386558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D5017-9EF7-EDF0-41F3-FA885146CF0E}"/>
              </a:ext>
            </a:extLst>
          </p:cNvPr>
          <p:cNvSpPr>
            <a:spLocks noGrp="1"/>
          </p:cNvSpPr>
          <p:nvPr>
            <p:ph type="title"/>
          </p:nvPr>
        </p:nvSpPr>
        <p:spPr/>
        <p:txBody>
          <a:bodyPr/>
          <a:lstStyle/>
          <a:p>
            <a:r>
              <a:rPr lang="en-IN" b="1" dirty="0">
                <a:effectLst/>
                <a:latin typeface="Google Sans"/>
              </a:rPr>
              <a:t>Deletion at a Specific Index</a:t>
            </a:r>
            <a:endParaRPr lang="en-US" dirty="0"/>
          </a:p>
        </p:txBody>
      </p:sp>
      <p:sp>
        <p:nvSpPr>
          <p:cNvPr id="3" name="Content Placeholder 2">
            <a:extLst>
              <a:ext uri="{FF2B5EF4-FFF2-40B4-BE49-F238E27FC236}">
                <a16:creationId xmlns:a16="http://schemas.microsoft.com/office/drawing/2014/main" id="{DB49E851-EE44-069B-B494-33E00C8123F5}"/>
              </a:ext>
            </a:extLst>
          </p:cNvPr>
          <p:cNvSpPr>
            <a:spLocks noGrp="1"/>
          </p:cNvSpPr>
          <p:nvPr>
            <p:ph idx="1"/>
          </p:nvPr>
        </p:nvSpPr>
        <p:spPr/>
        <p:txBody>
          <a:bodyPr/>
          <a:lstStyle/>
          <a:p>
            <a:r>
              <a:rPr lang="en-IN" dirty="0">
                <a:effectLst/>
                <a:latin typeface="Google Sans Text"/>
              </a:rPr>
              <a:t>This is the most common deletion operation. You specify which position you want to clear, and the array collapses to fill it.</a:t>
            </a:r>
          </a:p>
          <a:p>
            <a:pPr>
              <a:buFont typeface="Arial" panose="020B0604020202020204" pitchFamily="34" charset="0"/>
              <a:buChar char="•"/>
            </a:pPr>
            <a:r>
              <a:rPr lang="en-IN" b="1" dirty="0">
                <a:effectLst/>
                <a:latin typeface="Google Sans Text"/>
              </a:rPr>
              <a:t>Time Complexity:</a:t>
            </a:r>
            <a:r>
              <a:rPr lang="en-IN" dirty="0">
                <a:effectLst/>
                <a:latin typeface="Google Sans Text"/>
              </a:rPr>
              <a:t> $O(n)$ (because you may have to shift almost all elements).</a:t>
            </a:r>
          </a:p>
          <a:p>
            <a:pPr>
              <a:buFont typeface="Arial" panose="020B0604020202020204" pitchFamily="34" charset="0"/>
              <a:buChar char="•"/>
            </a:pPr>
            <a:r>
              <a:rPr lang="en-IN" b="1" dirty="0">
                <a:effectLst/>
                <a:latin typeface="Google Sans Text"/>
              </a:rPr>
              <a:t>Logic:</a:t>
            </a:r>
            <a:r>
              <a:rPr lang="en-IN" dirty="0">
                <a:effectLst/>
                <a:latin typeface="Google Sans Text"/>
              </a:rPr>
              <a:t> Start at the </a:t>
            </a:r>
            <a:r>
              <a:rPr lang="en-IN" dirty="0" err="1">
                <a:effectLst/>
                <a:latin typeface="Google Sans Text"/>
              </a:rPr>
              <a:t>targetIndex</a:t>
            </a:r>
            <a:r>
              <a:rPr lang="en-IN" dirty="0">
                <a:effectLst/>
                <a:latin typeface="Google Sans Text"/>
              </a:rPr>
              <a:t> and set </a:t>
            </a:r>
            <a:r>
              <a:rPr lang="en-IN" dirty="0" err="1">
                <a:effectLst/>
                <a:latin typeface="Google Sans Text"/>
              </a:rPr>
              <a:t>arr</a:t>
            </a:r>
            <a:r>
              <a:rPr lang="en-IN" dirty="0">
                <a:effectLst/>
                <a:latin typeface="Google Sans Text"/>
              </a:rPr>
              <a:t>[</a:t>
            </a:r>
            <a:r>
              <a:rPr lang="en-IN" dirty="0" err="1">
                <a:effectLst/>
                <a:latin typeface="Google Sans Text"/>
              </a:rPr>
              <a:t>i</a:t>
            </a:r>
            <a:r>
              <a:rPr lang="en-IN" dirty="0">
                <a:effectLst/>
                <a:latin typeface="Google Sans Text"/>
              </a:rPr>
              <a:t>] = </a:t>
            </a:r>
            <a:r>
              <a:rPr lang="en-IN" dirty="0" err="1">
                <a:effectLst/>
                <a:latin typeface="Google Sans Text"/>
              </a:rPr>
              <a:t>arr</a:t>
            </a:r>
            <a:r>
              <a:rPr lang="en-IN" dirty="0">
                <a:effectLst/>
                <a:latin typeface="Google Sans Text"/>
              </a:rPr>
              <a:t>[</a:t>
            </a:r>
            <a:r>
              <a:rPr lang="en-IN" dirty="0" err="1">
                <a:effectLst/>
                <a:latin typeface="Google Sans Text"/>
              </a:rPr>
              <a:t>i</a:t>
            </a:r>
            <a:r>
              <a:rPr lang="en-IN" dirty="0">
                <a:effectLst/>
                <a:latin typeface="Google Sans Text"/>
              </a:rPr>
              <a:t> + 1].</a:t>
            </a:r>
          </a:p>
          <a:p>
            <a:endParaRPr lang="en-US" dirty="0"/>
          </a:p>
        </p:txBody>
      </p:sp>
    </p:spTree>
    <p:extLst>
      <p:ext uri="{BB962C8B-B14F-4D97-AF65-F5344CB8AC3E}">
        <p14:creationId xmlns:p14="http://schemas.microsoft.com/office/powerpoint/2010/main" val="20999319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90EF0-C34E-AC92-2681-018EED776F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4022A3-5354-DD03-5292-ECC330A03EF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50DDC53E-DF74-2D7B-0562-67E9B6C6F250}"/>
              </a:ext>
            </a:extLst>
          </p:cNvPr>
          <p:cNvPicPr>
            <a:picLocks noChangeAspect="1"/>
          </p:cNvPicPr>
          <p:nvPr/>
        </p:nvPicPr>
        <p:blipFill>
          <a:blip r:embed="rId2"/>
          <a:stretch>
            <a:fillRect/>
          </a:stretch>
        </p:blipFill>
        <p:spPr>
          <a:xfrm>
            <a:off x="2209800" y="1057466"/>
            <a:ext cx="7772400" cy="4743068"/>
          </a:xfrm>
          <a:prstGeom prst="rect">
            <a:avLst/>
          </a:prstGeom>
        </p:spPr>
      </p:pic>
    </p:spTree>
    <p:extLst>
      <p:ext uri="{BB962C8B-B14F-4D97-AF65-F5344CB8AC3E}">
        <p14:creationId xmlns:p14="http://schemas.microsoft.com/office/powerpoint/2010/main" val="14981583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20301-5C98-B2ED-846F-A88B262D8A1A}"/>
              </a:ext>
            </a:extLst>
          </p:cNvPr>
          <p:cNvSpPr>
            <a:spLocks noGrp="1"/>
          </p:cNvSpPr>
          <p:nvPr>
            <p:ph type="title"/>
          </p:nvPr>
        </p:nvSpPr>
        <p:spPr/>
        <p:txBody>
          <a:bodyPr/>
          <a:lstStyle/>
          <a:p>
            <a:r>
              <a:rPr lang="en-IN" b="1" dirty="0">
                <a:effectLst/>
                <a:latin typeface="Google Sans"/>
              </a:rPr>
              <a:t>Deletion at the Beginning</a:t>
            </a:r>
            <a:endParaRPr lang="en-US" dirty="0"/>
          </a:p>
        </p:txBody>
      </p:sp>
      <p:sp>
        <p:nvSpPr>
          <p:cNvPr id="3" name="Content Placeholder 2">
            <a:extLst>
              <a:ext uri="{FF2B5EF4-FFF2-40B4-BE49-F238E27FC236}">
                <a16:creationId xmlns:a16="http://schemas.microsoft.com/office/drawing/2014/main" id="{EFCB0C50-A565-0AE1-C72B-533B3ED8159E}"/>
              </a:ext>
            </a:extLst>
          </p:cNvPr>
          <p:cNvSpPr>
            <a:spLocks noGrp="1"/>
          </p:cNvSpPr>
          <p:nvPr>
            <p:ph idx="1"/>
          </p:nvPr>
        </p:nvSpPr>
        <p:spPr/>
        <p:txBody>
          <a:bodyPr/>
          <a:lstStyle/>
          <a:p>
            <a:r>
              <a:rPr lang="en-IN" dirty="0">
                <a:effectLst/>
                <a:latin typeface="Google Sans Text"/>
              </a:rPr>
              <a:t>This is the most expensive type of deletion because every single element in the array must be moved.</a:t>
            </a:r>
          </a:p>
          <a:p>
            <a:pPr>
              <a:buFont typeface="Arial" panose="020B0604020202020204" pitchFamily="34" charset="0"/>
              <a:buChar char="•"/>
            </a:pPr>
            <a:r>
              <a:rPr lang="en-IN" b="1" dirty="0">
                <a:effectLst/>
                <a:latin typeface="Google Sans Text"/>
              </a:rPr>
              <a:t>Time Complexity:</a:t>
            </a:r>
            <a:r>
              <a:rPr lang="en-IN" dirty="0">
                <a:effectLst/>
                <a:latin typeface="Google Sans Text"/>
              </a:rPr>
              <a:t> O(n)</a:t>
            </a:r>
          </a:p>
          <a:p>
            <a:pPr>
              <a:buFont typeface="Arial" panose="020B0604020202020204" pitchFamily="34" charset="0"/>
              <a:buChar char="•"/>
            </a:pPr>
            <a:r>
              <a:rPr lang="en-IN" b="1" dirty="0">
                <a:effectLst/>
                <a:latin typeface="Google Sans Text"/>
              </a:rPr>
              <a:t>Logic:</a:t>
            </a:r>
            <a:r>
              <a:rPr lang="en-IN" dirty="0">
                <a:effectLst/>
                <a:latin typeface="Google Sans Text"/>
              </a:rPr>
              <a:t> Loop from index 0 to size - 2, pulling the value from </a:t>
            </a:r>
            <a:r>
              <a:rPr lang="en-IN" dirty="0" err="1">
                <a:effectLst/>
                <a:latin typeface="Google Sans Text"/>
              </a:rPr>
              <a:t>i</a:t>
            </a:r>
            <a:r>
              <a:rPr lang="en-IN" dirty="0">
                <a:effectLst/>
                <a:latin typeface="Google Sans Text"/>
              </a:rPr>
              <a:t> + 1 into </a:t>
            </a:r>
            <a:r>
              <a:rPr lang="en-IN" dirty="0" err="1">
                <a:effectLst/>
                <a:latin typeface="Google Sans Text"/>
              </a:rPr>
              <a:t>i</a:t>
            </a:r>
            <a:r>
              <a:rPr lang="en-IN" dirty="0">
                <a:effectLst/>
                <a:latin typeface="Google Sans Text"/>
              </a:rPr>
              <a:t>.</a:t>
            </a:r>
          </a:p>
          <a:p>
            <a:endParaRPr lang="en-US" dirty="0"/>
          </a:p>
        </p:txBody>
      </p:sp>
      <p:pic>
        <p:nvPicPr>
          <p:cNvPr id="4" name="Picture 3">
            <a:extLst>
              <a:ext uri="{FF2B5EF4-FFF2-40B4-BE49-F238E27FC236}">
                <a16:creationId xmlns:a16="http://schemas.microsoft.com/office/drawing/2014/main" id="{9AC4EF9F-7B15-B0B2-5D8F-9637D07A38CE}"/>
              </a:ext>
            </a:extLst>
          </p:cNvPr>
          <p:cNvPicPr>
            <a:picLocks noChangeAspect="1"/>
          </p:cNvPicPr>
          <p:nvPr/>
        </p:nvPicPr>
        <p:blipFill>
          <a:blip r:embed="rId2"/>
          <a:stretch>
            <a:fillRect/>
          </a:stretch>
        </p:blipFill>
        <p:spPr>
          <a:xfrm>
            <a:off x="2791869" y="3830684"/>
            <a:ext cx="7772400" cy="2916472"/>
          </a:xfrm>
          <a:prstGeom prst="rect">
            <a:avLst/>
          </a:prstGeom>
        </p:spPr>
      </p:pic>
    </p:spTree>
    <p:extLst>
      <p:ext uri="{BB962C8B-B14F-4D97-AF65-F5344CB8AC3E}">
        <p14:creationId xmlns:p14="http://schemas.microsoft.com/office/powerpoint/2010/main" val="42559145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E8D51-26D9-FE8D-C08F-4FA0E78EBC35}"/>
              </a:ext>
            </a:extLst>
          </p:cNvPr>
          <p:cNvSpPr>
            <a:spLocks noGrp="1"/>
          </p:cNvSpPr>
          <p:nvPr>
            <p:ph type="title"/>
          </p:nvPr>
        </p:nvSpPr>
        <p:spPr/>
        <p:txBody>
          <a:bodyPr/>
          <a:lstStyle/>
          <a:p>
            <a:r>
              <a:rPr lang="en-IN" b="1" dirty="0">
                <a:effectLst/>
                <a:latin typeface="Google Sans"/>
              </a:rPr>
              <a:t>Deletion at the End</a:t>
            </a:r>
            <a:endParaRPr lang="en-US" dirty="0"/>
          </a:p>
        </p:txBody>
      </p:sp>
      <p:sp>
        <p:nvSpPr>
          <p:cNvPr id="3" name="Content Placeholder 2">
            <a:extLst>
              <a:ext uri="{FF2B5EF4-FFF2-40B4-BE49-F238E27FC236}">
                <a16:creationId xmlns:a16="http://schemas.microsoft.com/office/drawing/2014/main" id="{E0F3CAC3-9450-5992-DD84-E2753B220EC3}"/>
              </a:ext>
            </a:extLst>
          </p:cNvPr>
          <p:cNvSpPr>
            <a:spLocks noGrp="1"/>
          </p:cNvSpPr>
          <p:nvPr>
            <p:ph idx="1"/>
          </p:nvPr>
        </p:nvSpPr>
        <p:spPr/>
        <p:txBody>
          <a:bodyPr/>
          <a:lstStyle/>
          <a:p>
            <a:r>
              <a:rPr lang="en-IN" dirty="0">
                <a:effectLst/>
                <a:latin typeface="Google Sans Text"/>
              </a:rPr>
              <a:t>This is the most efficient deletion. You don't actually need to move any data; you simply stop tracking the last element.</a:t>
            </a:r>
          </a:p>
          <a:p>
            <a:pPr>
              <a:buFont typeface="Arial" panose="020B0604020202020204" pitchFamily="34" charset="0"/>
              <a:buChar char="•"/>
            </a:pPr>
            <a:r>
              <a:rPr lang="en-IN" b="1" dirty="0">
                <a:effectLst/>
                <a:latin typeface="Google Sans Text"/>
              </a:rPr>
              <a:t>Time Complexity:</a:t>
            </a:r>
            <a:r>
              <a:rPr lang="en-IN" dirty="0">
                <a:effectLst/>
                <a:latin typeface="Google Sans Text"/>
              </a:rPr>
              <a:t> O(1)</a:t>
            </a:r>
          </a:p>
          <a:p>
            <a:pPr>
              <a:buFont typeface="Arial" panose="020B0604020202020204" pitchFamily="34" charset="0"/>
              <a:buChar char="•"/>
            </a:pPr>
            <a:r>
              <a:rPr lang="en-IN" b="1" dirty="0">
                <a:effectLst/>
                <a:latin typeface="Google Sans Text"/>
              </a:rPr>
              <a:t>Logic:</a:t>
            </a:r>
            <a:r>
              <a:rPr lang="en-IN" dirty="0">
                <a:effectLst/>
                <a:latin typeface="Google Sans Text"/>
              </a:rPr>
              <a:t> Just decrement the size counter.</a:t>
            </a:r>
          </a:p>
          <a:p>
            <a:endParaRPr lang="en-US" dirty="0"/>
          </a:p>
        </p:txBody>
      </p:sp>
      <p:pic>
        <p:nvPicPr>
          <p:cNvPr id="4" name="Picture 3">
            <a:extLst>
              <a:ext uri="{FF2B5EF4-FFF2-40B4-BE49-F238E27FC236}">
                <a16:creationId xmlns:a16="http://schemas.microsoft.com/office/drawing/2014/main" id="{5AF7AC03-18AF-CBF5-A9EC-6668E80FD30C}"/>
              </a:ext>
            </a:extLst>
          </p:cNvPr>
          <p:cNvPicPr>
            <a:picLocks noChangeAspect="1"/>
          </p:cNvPicPr>
          <p:nvPr/>
        </p:nvPicPr>
        <p:blipFill>
          <a:blip r:embed="rId2"/>
          <a:stretch>
            <a:fillRect/>
          </a:stretch>
        </p:blipFill>
        <p:spPr>
          <a:xfrm>
            <a:off x="3581400" y="3782156"/>
            <a:ext cx="7772400" cy="2918681"/>
          </a:xfrm>
          <a:prstGeom prst="rect">
            <a:avLst/>
          </a:prstGeom>
        </p:spPr>
      </p:pic>
    </p:spTree>
    <p:extLst>
      <p:ext uri="{BB962C8B-B14F-4D97-AF65-F5344CB8AC3E}">
        <p14:creationId xmlns:p14="http://schemas.microsoft.com/office/powerpoint/2010/main" val="34342996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91E15-EA8A-9D9C-D932-1E872EB585B3}"/>
              </a:ext>
            </a:extLst>
          </p:cNvPr>
          <p:cNvSpPr>
            <a:spLocks noGrp="1"/>
          </p:cNvSpPr>
          <p:nvPr>
            <p:ph type="title"/>
          </p:nvPr>
        </p:nvSpPr>
        <p:spPr/>
        <p:txBody>
          <a:bodyPr/>
          <a:lstStyle/>
          <a:p>
            <a:r>
              <a:rPr lang="en-US" dirty="0"/>
              <a:t>Stack</a:t>
            </a:r>
          </a:p>
        </p:txBody>
      </p:sp>
      <p:sp>
        <p:nvSpPr>
          <p:cNvPr id="3" name="Content Placeholder 2">
            <a:extLst>
              <a:ext uri="{FF2B5EF4-FFF2-40B4-BE49-F238E27FC236}">
                <a16:creationId xmlns:a16="http://schemas.microsoft.com/office/drawing/2014/main" id="{30ECDF87-8380-ECCA-5DA1-1EBEA0BEE3A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834236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18B08-0F0C-95EF-E5AA-855BBA29C7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6059AC-E18F-AD8A-19D9-3407382AF2D7}"/>
              </a:ext>
            </a:extLst>
          </p:cNvPr>
          <p:cNvSpPr>
            <a:spLocks noGrp="1"/>
          </p:cNvSpPr>
          <p:nvPr>
            <p:ph idx="1"/>
          </p:nvPr>
        </p:nvSpPr>
        <p:spPr/>
        <p:txBody>
          <a:bodyPr/>
          <a:lstStyle/>
          <a:p>
            <a:endParaRPr lang="en-US"/>
          </a:p>
        </p:txBody>
      </p:sp>
      <p:pic>
        <p:nvPicPr>
          <p:cNvPr id="2050" name="Picture 2" descr="stack data structure by Emmanuel Ayinde">
            <a:extLst>
              <a:ext uri="{FF2B5EF4-FFF2-40B4-BE49-F238E27FC236}">
                <a16:creationId xmlns:a16="http://schemas.microsoft.com/office/drawing/2014/main" id="{A7EBFADC-6FDD-3188-4F1F-3A44F32171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7475" y="0"/>
            <a:ext cx="68754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44635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9D886-B189-2562-5F8D-491A6591EC23}"/>
              </a:ext>
            </a:extLst>
          </p:cNvPr>
          <p:cNvSpPr>
            <a:spLocks noGrp="1"/>
          </p:cNvSpPr>
          <p:nvPr>
            <p:ph type="title"/>
          </p:nvPr>
        </p:nvSpPr>
        <p:spPr/>
        <p:txBody>
          <a:bodyPr>
            <a:normAutofit/>
          </a:bodyPr>
          <a:lstStyle/>
          <a:p>
            <a:r>
              <a:rPr lang="en-IN" b="1" i="0" dirty="0">
                <a:solidFill>
                  <a:srgbClr val="171717"/>
                </a:solidFill>
                <a:effectLst/>
                <a:latin typeface="-apple-system"/>
              </a:rPr>
              <a:t>Real-World Applications </a:t>
            </a:r>
            <a:r>
              <a:rPr lang="en-IN" b="1" i="0">
                <a:solidFill>
                  <a:srgbClr val="171717"/>
                </a:solidFill>
                <a:effectLst/>
                <a:latin typeface="-apple-system"/>
              </a:rPr>
              <a:t>of Stacks</a:t>
            </a:r>
            <a:endParaRPr lang="en-US" dirty="0"/>
          </a:p>
        </p:txBody>
      </p:sp>
      <p:sp>
        <p:nvSpPr>
          <p:cNvPr id="3" name="Content Placeholder 2">
            <a:extLst>
              <a:ext uri="{FF2B5EF4-FFF2-40B4-BE49-F238E27FC236}">
                <a16:creationId xmlns:a16="http://schemas.microsoft.com/office/drawing/2014/main" id="{4D4F03B1-2FB9-C979-F4D0-3DD0C0BAC244}"/>
              </a:ext>
            </a:extLst>
          </p:cNvPr>
          <p:cNvSpPr>
            <a:spLocks noGrp="1"/>
          </p:cNvSpPr>
          <p:nvPr>
            <p:ph idx="1"/>
          </p:nvPr>
        </p:nvSpPr>
        <p:spPr/>
        <p:txBody>
          <a:bodyPr>
            <a:normAutofit fontScale="85000" lnSpcReduction="10000"/>
          </a:bodyPr>
          <a:lstStyle/>
          <a:p>
            <a:pPr algn="l">
              <a:buFont typeface="+mj-lt"/>
              <a:buAutoNum type="arabicPeriod"/>
            </a:pPr>
            <a:r>
              <a:rPr lang="en-IN" b="1" i="0" dirty="0">
                <a:solidFill>
                  <a:srgbClr val="171717"/>
                </a:solidFill>
                <a:effectLst/>
                <a:latin typeface="-apple-system"/>
              </a:rPr>
              <a:t>Undo Functionality</a:t>
            </a:r>
            <a:r>
              <a:rPr lang="en-IN" b="0" i="0" dirty="0">
                <a:solidFill>
                  <a:srgbClr val="171717"/>
                </a:solidFill>
                <a:effectLst/>
                <a:latin typeface="-apple-system"/>
              </a:rPr>
              <a:t>: In text editors or graphic design software, each action is pushed onto a stack. When you hit "undo," the most recent action is popped off the stack and reversed.</a:t>
            </a:r>
          </a:p>
          <a:p>
            <a:pPr algn="l">
              <a:buFont typeface="+mj-lt"/>
              <a:buAutoNum type="arabicPeriod"/>
            </a:pPr>
            <a:r>
              <a:rPr lang="en-IN" b="1" i="0" dirty="0">
                <a:solidFill>
                  <a:srgbClr val="171717"/>
                </a:solidFill>
                <a:effectLst/>
                <a:latin typeface="-apple-system"/>
              </a:rPr>
              <a:t>Browser History</a:t>
            </a:r>
            <a:r>
              <a:rPr lang="en-IN" b="0" i="0" dirty="0">
                <a:solidFill>
                  <a:srgbClr val="171717"/>
                </a:solidFill>
                <a:effectLst/>
                <a:latin typeface="-apple-system"/>
              </a:rPr>
              <a:t>: When you visit a new page, it's pushed onto a stack. The "back" button pops the current page off the stack, revealing the previous one.</a:t>
            </a:r>
          </a:p>
          <a:p>
            <a:pPr algn="l">
              <a:buFont typeface="+mj-lt"/>
              <a:buAutoNum type="arabicPeriod"/>
            </a:pPr>
            <a:r>
              <a:rPr lang="en-IN" b="1" i="0" dirty="0">
                <a:solidFill>
                  <a:srgbClr val="171717"/>
                </a:solidFill>
                <a:effectLst/>
                <a:latin typeface="-apple-system"/>
              </a:rPr>
              <a:t>Function Call Stack</a:t>
            </a:r>
            <a:r>
              <a:rPr lang="en-IN" b="0" i="0" dirty="0">
                <a:solidFill>
                  <a:srgbClr val="171717"/>
                </a:solidFill>
                <a:effectLst/>
                <a:latin typeface="-apple-system"/>
              </a:rPr>
              <a:t>: In programming languages, function calls are managed using a stack. When a function is called, it's pushed onto the call stack. When it returns, it's popped off.</a:t>
            </a:r>
          </a:p>
          <a:p>
            <a:pPr algn="l">
              <a:buFont typeface="+mj-lt"/>
              <a:buAutoNum type="arabicPeriod"/>
            </a:pPr>
            <a:r>
              <a:rPr lang="en-IN" b="1" i="0" dirty="0">
                <a:solidFill>
                  <a:srgbClr val="171717"/>
                </a:solidFill>
                <a:effectLst/>
                <a:latin typeface="-apple-system"/>
              </a:rPr>
              <a:t>Expression Evaluation</a:t>
            </a:r>
            <a:r>
              <a:rPr lang="en-IN" b="0" i="0" dirty="0">
                <a:solidFill>
                  <a:srgbClr val="171717"/>
                </a:solidFill>
                <a:effectLst/>
                <a:latin typeface="-apple-system"/>
              </a:rPr>
              <a:t>: Stacks are used to evaluate arithmetic expressions, especially those in postfix notation.</a:t>
            </a:r>
          </a:p>
          <a:p>
            <a:pPr algn="l">
              <a:buFont typeface="+mj-lt"/>
              <a:buAutoNum type="arabicPeriod"/>
            </a:pPr>
            <a:r>
              <a:rPr lang="en-IN" b="1" i="0" dirty="0">
                <a:solidFill>
                  <a:srgbClr val="171717"/>
                </a:solidFill>
                <a:effectLst/>
                <a:latin typeface="-apple-system"/>
              </a:rPr>
              <a:t>Backtracking Algorithms</a:t>
            </a:r>
            <a:r>
              <a:rPr lang="en-IN" b="0" i="0" dirty="0">
                <a:solidFill>
                  <a:srgbClr val="171717"/>
                </a:solidFill>
                <a:effectLst/>
                <a:latin typeface="-apple-system"/>
              </a:rPr>
              <a:t>: In problems like maze-solving or puzzle-solving, stacks can keep track of the path taken, allowing easy backtracking when needed.</a:t>
            </a:r>
          </a:p>
          <a:p>
            <a:endParaRPr lang="en-US" dirty="0"/>
          </a:p>
        </p:txBody>
      </p:sp>
    </p:spTree>
    <p:extLst>
      <p:ext uri="{BB962C8B-B14F-4D97-AF65-F5344CB8AC3E}">
        <p14:creationId xmlns:p14="http://schemas.microsoft.com/office/powerpoint/2010/main" val="25358142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8CD9A-F36E-D747-2676-350641772240}"/>
              </a:ext>
            </a:extLst>
          </p:cNvPr>
          <p:cNvSpPr>
            <a:spLocks noGrp="1"/>
          </p:cNvSpPr>
          <p:nvPr>
            <p:ph type="title"/>
          </p:nvPr>
        </p:nvSpPr>
        <p:spPr/>
        <p:txBody>
          <a:bodyPr/>
          <a:lstStyle/>
          <a:p>
            <a:r>
              <a:rPr lang="en-US" dirty="0"/>
              <a:t>Queue Data Structure</a:t>
            </a:r>
          </a:p>
        </p:txBody>
      </p:sp>
      <p:sp>
        <p:nvSpPr>
          <p:cNvPr id="3" name="Content Placeholder 2">
            <a:extLst>
              <a:ext uri="{FF2B5EF4-FFF2-40B4-BE49-F238E27FC236}">
                <a16:creationId xmlns:a16="http://schemas.microsoft.com/office/drawing/2014/main" id="{C35427BD-8240-3B89-88DA-D12BC24930A7}"/>
              </a:ext>
            </a:extLst>
          </p:cNvPr>
          <p:cNvSpPr>
            <a:spLocks noGrp="1"/>
          </p:cNvSpPr>
          <p:nvPr>
            <p:ph idx="1"/>
          </p:nvPr>
        </p:nvSpPr>
        <p:spPr/>
        <p:txBody>
          <a:bodyPr/>
          <a:lstStyle/>
          <a:p>
            <a:pPr algn="l"/>
            <a:r>
              <a:rPr lang="en-IN" b="0" i="0" dirty="0">
                <a:effectLst/>
                <a:latin typeface="source-serif-pro"/>
              </a:rPr>
              <a:t>A queue is a linear data structure that follows the First-In-First-Out (FIFO) principle, where elements are inserted at the rear and removed from the front. This ordering ensures that the oldest elements are processed first, making queues ideal for scenarios such as task scheduling, event handling, and resource allocation.</a:t>
            </a:r>
          </a:p>
          <a:p>
            <a:br>
              <a:rPr lang="en-IN" dirty="0"/>
            </a:br>
            <a:endParaRPr lang="en-US" dirty="0"/>
          </a:p>
        </p:txBody>
      </p:sp>
    </p:spTree>
    <p:extLst>
      <p:ext uri="{BB962C8B-B14F-4D97-AF65-F5344CB8AC3E}">
        <p14:creationId xmlns:p14="http://schemas.microsoft.com/office/powerpoint/2010/main" val="31174023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4508C-1F81-CC88-D210-7C04818FA62C}"/>
              </a:ext>
            </a:extLst>
          </p:cNvPr>
          <p:cNvSpPr>
            <a:spLocks noGrp="1"/>
          </p:cNvSpPr>
          <p:nvPr>
            <p:ph type="title"/>
          </p:nvPr>
        </p:nvSpPr>
        <p:spPr/>
        <p:txBody>
          <a:bodyPr/>
          <a:lstStyle/>
          <a:p>
            <a:r>
              <a:rPr lang="en-IN" b="1" i="0" dirty="0">
                <a:effectLst/>
                <a:latin typeface="ui-sans-serif"/>
              </a:rPr>
              <a:t>Types of Queues</a:t>
            </a:r>
            <a:endParaRPr lang="en-US" dirty="0"/>
          </a:p>
        </p:txBody>
      </p:sp>
      <p:sp>
        <p:nvSpPr>
          <p:cNvPr id="3" name="Content Placeholder 2">
            <a:extLst>
              <a:ext uri="{FF2B5EF4-FFF2-40B4-BE49-F238E27FC236}">
                <a16:creationId xmlns:a16="http://schemas.microsoft.com/office/drawing/2014/main" id="{80CF26ED-2D88-0AB1-97CF-2E941A6C0B92}"/>
              </a:ext>
            </a:extLst>
          </p:cNvPr>
          <p:cNvSpPr>
            <a:spLocks noGrp="1"/>
          </p:cNvSpPr>
          <p:nvPr>
            <p:ph idx="1"/>
          </p:nvPr>
        </p:nvSpPr>
        <p:spPr/>
        <p:txBody>
          <a:bodyPr/>
          <a:lstStyle/>
          <a:p>
            <a:pPr algn="l">
              <a:buFont typeface="+mj-lt"/>
              <a:buAutoNum type="arabicPeriod"/>
            </a:pPr>
            <a:r>
              <a:rPr lang="en-IN" b="0" i="0" dirty="0">
                <a:effectLst/>
                <a:latin typeface="source-serif-pro"/>
              </a:rPr>
              <a:t>Linear Queue: A basic queue where elements are stored in a linear fashion and accessed sequentially.</a:t>
            </a:r>
          </a:p>
          <a:p>
            <a:pPr algn="l">
              <a:buFont typeface="+mj-lt"/>
              <a:buAutoNum type="arabicPeriod"/>
            </a:pPr>
            <a:r>
              <a:rPr lang="en-IN" b="0" i="0" dirty="0">
                <a:effectLst/>
                <a:latin typeface="source-serif-pro"/>
              </a:rPr>
              <a:t>Circular Queue: A queue with a fixed-size buffer that wraps around when the rear reaches the end, enabling efficient use of memory.</a:t>
            </a:r>
          </a:p>
          <a:p>
            <a:pPr algn="l">
              <a:buFont typeface="+mj-lt"/>
              <a:buAutoNum type="arabicPeriod"/>
            </a:pPr>
            <a:r>
              <a:rPr lang="en-IN" b="0" i="0" dirty="0">
                <a:effectLst/>
                <a:latin typeface="source-serif-pro"/>
              </a:rPr>
              <a:t>Priority Queue: A specialized queue where elements are dequeued based on their priority level, rather than the order of insertion.</a:t>
            </a:r>
          </a:p>
          <a:p>
            <a:endParaRPr lang="en-US" dirty="0"/>
          </a:p>
        </p:txBody>
      </p:sp>
    </p:spTree>
    <p:extLst>
      <p:ext uri="{BB962C8B-B14F-4D97-AF65-F5344CB8AC3E}">
        <p14:creationId xmlns:p14="http://schemas.microsoft.com/office/powerpoint/2010/main" val="17377071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598C1-E57B-5BD1-9E1E-4290C3782816}"/>
              </a:ext>
            </a:extLst>
          </p:cNvPr>
          <p:cNvSpPr>
            <a:spLocks noGrp="1"/>
          </p:cNvSpPr>
          <p:nvPr>
            <p:ph type="title"/>
          </p:nvPr>
        </p:nvSpPr>
        <p:spPr/>
        <p:txBody>
          <a:bodyPr/>
          <a:lstStyle/>
          <a:p>
            <a:r>
              <a:rPr lang="en-IN" b="1" i="0" dirty="0">
                <a:effectLst/>
                <a:latin typeface="ui-sans-serif"/>
              </a:rPr>
              <a:t>Basic Operations on Queues:</a:t>
            </a:r>
            <a:endParaRPr lang="en-US" dirty="0"/>
          </a:p>
        </p:txBody>
      </p:sp>
      <p:sp>
        <p:nvSpPr>
          <p:cNvPr id="3" name="Content Placeholder 2">
            <a:extLst>
              <a:ext uri="{FF2B5EF4-FFF2-40B4-BE49-F238E27FC236}">
                <a16:creationId xmlns:a16="http://schemas.microsoft.com/office/drawing/2014/main" id="{A3F67F70-838E-E19C-7B0E-AF6851421A0A}"/>
              </a:ext>
            </a:extLst>
          </p:cNvPr>
          <p:cNvSpPr>
            <a:spLocks noGrp="1"/>
          </p:cNvSpPr>
          <p:nvPr>
            <p:ph idx="1"/>
          </p:nvPr>
        </p:nvSpPr>
        <p:spPr/>
        <p:txBody>
          <a:bodyPr/>
          <a:lstStyle/>
          <a:p>
            <a:pPr algn="l">
              <a:buFont typeface="+mj-lt"/>
              <a:buAutoNum type="arabicPeriod"/>
            </a:pPr>
            <a:r>
              <a:rPr lang="en-IN" b="0" i="0" dirty="0">
                <a:effectLst/>
                <a:latin typeface="source-serif-pro"/>
              </a:rPr>
              <a:t>Enqueue() : Adding an element to the rear of the queue.</a:t>
            </a:r>
          </a:p>
          <a:p>
            <a:endParaRPr lang="en-US" dirty="0"/>
          </a:p>
        </p:txBody>
      </p:sp>
    </p:spTree>
    <p:extLst>
      <p:ext uri="{BB962C8B-B14F-4D97-AF65-F5344CB8AC3E}">
        <p14:creationId xmlns:p14="http://schemas.microsoft.com/office/powerpoint/2010/main" val="35802377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A50E7-4B9A-41C1-8072-FA765F581B2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8D110A3-FA5B-E256-1051-C8FD7C336802}"/>
              </a:ext>
            </a:extLst>
          </p:cNvPr>
          <p:cNvSpPr>
            <a:spLocks noGrp="1"/>
          </p:cNvSpPr>
          <p:nvPr>
            <p:ph idx="1"/>
          </p:nvPr>
        </p:nvSpPr>
        <p:spPr/>
        <p:txBody>
          <a:bodyPr/>
          <a:lstStyle/>
          <a:p>
            <a:pPr algn="l"/>
            <a:r>
              <a:rPr lang="en-IN" b="0" i="0" dirty="0">
                <a:effectLst/>
                <a:latin typeface="source-serif-pro"/>
              </a:rPr>
              <a:t>2. Dequeue() : Removing an element from the front of the queue.</a:t>
            </a:r>
          </a:p>
          <a:p>
            <a:br>
              <a:rPr lang="en-IN" dirty="0"/>
            </a:br>
            <a:endParaRPr lang="en-US" dirty="0"/>
          </a:p>
        </p:txBody>
      </p:sp>
    </p:spTree>
    <p:extLst>
      <p:ext uri="{BB962C8B-B14F-4D97-AF65-F5344CB8AC3E}">
        <p14:creationId xmlns:p14="http://schemas.microsoft.com/office/powerpoint/2010/main" val="38999105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2909F-A2F9-4221-3FB6-08152BBC36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AFFAAA3-23ED-777D-744E-383D0F1DC9AE}"/>
              </a:ext>
            </a:extLst>
          </p:cNvPr>
          <p:cNvSpPr>
            <a:spLocks noGrp="1"/>
          </p:cNvSpPr>
          <p:nvPr>
            <p:ph idx="1"/>
          </p:nvPr>
        </p:nvSpPr>
        <p:spPr/>
        <p:txBody>
          <a:bodyPr/>
          <a:lstStyle/>
          <a:p>
            <a:pPr algn="l"/>
            <a:r>
              <a:rPr lang="en-IN" b="0" i="0" dirty="0">
                <a:effectLst/>
                <a:latin typeface="source-serif-pro"/>
              </a:rPr>
              <a:t>3. Traverse() : Iterating through the queue to access and process each element sequentially.</a:t>
            </a:r>
          </a:p>
          <a:p>
            <a:br>
              <a:rPr lang="en-IN" dirty="0"/>
            </a:br>
            <a:endParaRPr lang="en-US" dirty="0"/>
          </a:p>
        </p:txBody>
      </p:sp>
    </p:spTree>
    <p:extLst>
      <p:ext uri="{BB962C8B-B14F-4D97-AF65-F5344CB8AC3E}">
        <p14:creationId xmlns:p14="http://schemas.microsoft.com/office/powerpoint/2010/main" val="16196158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1C06A-FD85-E3E9-77AA-DA8020F4B0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1E35D67-7AB4-E722-E032-20CE8037C3AB}"/>
              </a:ext>
            </a:extLst>
          </p:cNvPr>
          <p:cNvSpPr>
            <a:spLocks noGrp="1"/>
          </p:cNvSpPr>
          <p:nvPr>
            <p:ph idx="1"/>
          </p:nvPr>
        </p:nvSpPr>
        <p:spPr/>
        <p:txBody>
          <a:bodyPr/>
          <a:lstStyle/>
          <a:p>
            <a:pPr algn="l"/>
            <a:r>
              <a:rPr lang="en-IN" b="0" i="0" dirty="0">
                <a:effectLst/>
                <a:latin typeface="source-serif-pro"/>
              </a:rPr>
              <a:t>4. </a:t>
            </a:r>
            <a:r>
              <a:rPr lang="en-IN" b="0" i="0" dirty="0" err="1">
                <a:effectLst/>
                <a:latin typeface="source-serif-pro"/>
              </a:rPr>
              <a:t>isEmpty</a:t>
            </a:r>
            <a:r>
              <a:rPr lang="en-IN" b="0" i="0" dirty="0">
                <a:effectLst/>
                <a:latin typeface="source-serif-pro"/>
              </a:rPr>
              <a:t>() : This is our own customized function to see whether the queue is empty or not.</a:t>
            </a:r>
          </a:p>
          <a:p>
            <a:br>
              <a:rPr lang="en-IN" dirty="0"/>
            </a:br>
            <a:endParaRPr lang="en-US" dirty="0"/>
          </a:p>
        </p:txBody>
      </p:sp>
    </p:spTree>
    <p:extLst>
      <p:ext uri="{BB962C8B-B14F-4D97-AF65-F5344CB8AC3E}">
        <p14:creationId xmlns:p14="http://schemas.microsoft.com/office/powerpoint/2010/main" val="7460101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C6177-E2F7-FA1B-59E5-2775E099C723}"/>
              </a:ext>
            </a:extLst>
          </p:cNvPr>
          <p:cNvSpPr>
            <a:spLocks noGrp="1"/>
          </p:cNvSpPr>
          <p:nvPr>
            <p:ph type="title"/>
          </p:nvPr>
        </p:nvSpPr>
        <p:spPr/>
        <p:txBody>
          <a:bodyPr/>
          <a:lstStyle/>
          <a:p>
            <a:r>
              <a:rPr lang="en-US" dirty="0"/>
              <a:t>Practical Implementation </a:t>
            </a:r>
          </a:p>
        </p:txBody>
      </p:sp>
      <p:sp>
        <p:nvSpPr>
          <p:cNvPr id="3" name="Content Placeholder 2">
            <a:extLst>
              <a:ext uri="{FF2B5EF4-FFF2-40B4-BE49-F238E27FC236}">
                <a16:creationId xmlns:a16="http://schemas.microsoft.com/office/drawing/2014/main" id="{F69805A1-BB6C-5CB7-A0DA-813AB38F270E}"/>
              </a:ext>
            </a:extLst>
          </p:cNvPr>
          <p:cNvSpPr>
            <a:spLocks noGrp="1"/>
          </p:cNvSpPr>
          <p:nvPr>
            <p:ph idx="1"/>
          </p:nvPr>
        </p:nvSpPr>
        <p:spPr/>
        <p:txBody>
          <a:bodyPr/>
          <a:lstStyle/>
          <a:p>
            <a:pPr algn="l"/>
            <a:r>
              <a:rPr lang="en-IN" b="0" i="0" dirty="0">
                <a:effectLst/>
                <a:latin typeface="source-serif-pro"/>
              </a:rPr>
              <a:t>Queues find applications in various domains, including:</a:t>
            </a:r>
          </a:p>
          <a:p>
            <a:pPr algn="l">
              <a:buFont typeface="Arial" panose="020B0604020202020204" pitchFamily="34" charset="0"/>
              <a:buChar char="•"/>
            </a:pPr>
            <a:r>
              <a:rPr lang="en-IN" b="0" i="0" dirty="0">
                <a:effectLst/>
                <a:latin typeface="source-serif-pro"/>
              </a:rPr>
              <a:t>Operating Systems: Task scheduling, process management, and I/O request handling.</a:t>
            </a:r>
          </a:p>
          <a:p>
            <a:pPr algn="l">
              <a:buFont typeface="Arial" panose="020B0604020202020204" pitchFamily="34" charset="0"/>
              <a:buChar char="•"/>
            </a:pPr>
            <a:r>
              <a:rPr lang="en-IN" b="0" i="0" dirty="0">
                <a:effectLst/>
                <a:latin typeface="source-serif-pro"/>
              </a:rPr>
              <a:t>Networking: Packet switching, message queuing, and congestion control.</a:t>
            </a:r>
          </a:p>
          <a:p>
            <a:pPr algn="l">
              <a:buFont typeface="Arial" panose="020B0604020202020204" pitchFamily="34" charset="0"/>
              <a:buChar char="•"/>
            </a:pPr>
            <a:r>
              <a:rPr lang="en-IN" b="0" i="0" dirty="0">
                <a:effectLst/>
                <a:latin typeface="source-serif-pro"/>
              </a:rPr>
              <a:t>Data Structures: Implementing other abstract data types such as stacks and trees.</a:t>
            </a:r>
          </a:p>
          <a:p>
            <a:endParaRPr lang="en-US" dirty="0"/>
          </a:p>
        </p:txBody>
      </p:sp>
    </p:spTree>
    <p:extLst>
      <p:ext uri="{BB962C8B-B14F-4D97-AF65-F5344CB8AC3E}">
        <p14:creationId xmlns:p14="http://schemas.microsoft.com/office/powerpoint/2010/main" val="20684938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E14F8-5F5B-C056-02F6-A59699E4B745}"/>
              </a:ext>
            </a:extLst>
          </p:cNvPr>
          <p:cNvSpPr>
            <a:spLocks noGrp="1"/>
          </p:cNvSpPr>
          <p:nvPr>
            <p:ph type="title"/>
          </p:nvPr>
        </p:nvSpPr>
        <p:spPr/>
        <p:txBody>
          <a:bodyPr/>
          <a:lstStyle/>
          <a:p>
            <a:r>
              <a:rPr lang="en-IN" b="1" i="0" dirty="0">
                <a:effectLst/>
                <a:latin typeface="ui-sans-serif"/>
              </a:rPr>
              <a:t>Best Practices and Considerations</a:t>
            </a:r>
            <a:endParaRPr lang="en-US" dirty="0"/>
          </a:p>
        </p:txBody>
      </p:sp>
      <p:sp>
        <p:nvSpPr>
          <p:cNvPr id="3" name="Content Placeholder 2">
            <a:extLst>
              <a:ext uri="{FF2B5EF4-FFF2-40B4-BE49-F238E27FC236}">
                <a16:creationId xmlns:a16="http://schemas.microsoft.com/office/drawing/2014/main" id="{09D65179-5646-8A1D-8DC4-BE2407E89DFE}"/>
              </a:ext>
            </a:extLst>
          </p:cNvPr>
          <p:cNvSpPr>
            <a:spLocks noGrp="1"/>
          </p:cNvSpPr>
          <p:nvPr>
            <p:ph idx="1"/>
          </p:nvPr>
        </p:nvSpPr>
        <p:spPr/>
        <p:txBody>
          <a:bodyPr>
            <a:normAutofit lnSpcReduction="10000"/>
          </a:bodyPr>
          <a:lstStyle/>
          <a:p>
            <a:pPr algn="l"/>
            <a:r>
              <a:rPr lang="en-IN" b="0" i="0" dirty="0">
                <a:effectLst/>
                <a:latin typeface="source-serif-pro"/>
              </a:rPr>
              <a:t>When working with queues, it's essential to consider:</a:t>
            </a:r>
          </a:p>
          <a:p>
            <a:pPr algn="l">
              <a:buFont typeface="+mj-lt"/>
              <a:buAutoNum type="arabicPeriod"/>
            </a:pPr>
            <a:r>
              <a:rPr lang="en-IN" b="0" i="0" dirty="0">
                <a:effectLst/>
                <a:latin typeface="source-serif-pro"/>
              </a:rPr>
              <a:t>Synchronization: Implementing thread-safe operations for concurrent access in multi-threaded environments.</a:t>
            </a:r>
          </a:p>
          <a:p>
            <a:pPr algn="l">
              <a:buFont typeface="+mj-lt"/>
              <a:buAutoNum type="arabicPeriod"/>
            </a:pPr>
            <a:r>
              <a:rPr lang="en-IN" b="0" i="0" dirty="0">
                <a:effectLst/>
                <a:latin typeface="source-serif-pro"/>
              </a:rPr>
              <a:t>Memory Management: Proper allocation and deallocation of memory to avoid memory leaks and buffer overflows.</a:t>
            </a:r>
          </a:p>
          <a:p>
            <a:pPr algn="l">
              <a:buFont typeface="+mj-lt"/>
              <a:buAutoNum type="arabicPeriod"/>
            </a:pPr>
            <a:r>
              <a:rPr lang="en-IN" b="0" i="0" dirty="0">
                <a:effectLst/>
                <a:latin typeface="source-serif-pro"/>
              </a:rPr>
              <a:t>Performance Optimization: Implementing efficient algorithms and data structures for enqueueing, </a:t>
            </a:r>
            <a:r>
              <a:rPr lang="en-IN" b="0" i="0" dirty="0" err="1">
                <a:effectLst/>
                <a:latin typeface="source-serif-pro"/>
              </a:rPr>
              <a:t>dequeueing</a:t>
            </a:r>
            <a:r>
              <a:rPr lang="en-IN" b="0" i="0" dirty="0">
                <a:effectLst/>
                <a:latin typeface="source-serif-pro"/>
              </a:rPr>
              <a:t>, and traversal operations.</a:t>
            </a:r>
          </a:p>
          <a:p>
            <a:pPr algn="l">
              <a:buFont typeface="+mj-lt"/>
              <a:buAutoNum type="arabicPeriod"/>
            </a:pPr>
            <a:r>
              <a:rPr lang="en-IN" b="0" i="0" dirty="0">
                <a:effectLst/>
                <a:latin typeface="source-serif-pro"/>
              </a:rPr>
              <a:t>Error Handling: Handling edge cases such as queue underflow and overflow gracefully to ensure robustness and reliability.</a:t>
            </a:r>
          </a:p>
          <a:p>
            <a:endParaRPr lang="en-US" dirty="0"/>
          </a:p>
        </p:txBody>
      </p:sp>
    </p:spTree>
    <p:extLst>
      <p:ext uri="{BB962C8B-B14F-4D97-AF65-F5344CB8AC3E}">
        <p14:creationId xmlns:p14="http://schemas.microsoft.com/office/powerpoint/2010/main" val="608556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2189</TotalTime>
  <Words>3392</Words>
  <Application>Microsoft Macintosh PowerPoint</Application>
  <PresentationFormat>Widescreen</PresentationFormat>
  <Paragraphs>272</Paragraphs>
  <Slides>51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51</vt:i4>
      </vt:variant>
    </vt:vector>
  </HeadingPairs>
  <TitlesOfParts>
    <vt:vector size="62" baseType="lpstr">
      <vt:lpstr>-apple-system</vt:lpstr>
      <vt:lpstr>Aptos</vt:lpstr>
      <vt:lpstr>Aptos Display</vt:lpstr>
      <vt:lpstr>Arial</vt:lpstr>
      <vt:lpstr>Consolas</vt:lpstr>
      <vt:lpstr>Google Sans</vt:lpstr>
      <vt:lpstr>Google Sans Text</vt:lpstr>
      <vt:lpstr>source-serif-pro</vt:lpstr>
      <vt:lpstr>Studio-Feixen-Sans</vt:lpstr>
      <vt:lpstr>ui-sans-serif</vt:lpstr>
      <vt:lpstr>Office Theme</vt:lpstr>
      <vt:lpstr>Understanding Array in Java</vt:lpstr>
      <vt:lpstr>Core Concepts</vt:lpstr>
      <vt:lpstr>Array in Java </vt:lpstr>
      <vt:lpstr>PowerPoint Presentation</vt:lpstr>
      <vt:lpstr>PowerPoint Presentation</vt:lpstr>
      <vt:lpstr>Array in Java </vt:lpstr>
      <vt:lpstr>Array in Java</vt:lpstr>
      <vt:lpstr>Array in Java</vt:lpstr>
      <vt:lpstr>Array in Java</vt:lpstr>
      <vt:lpstr>PowerPoint Presentation</vt:lpstr>
      <vt:lpstr>PowerPoint Presentation</vt:lpstr>
      <vt:lpstr>Accessing and Modifying Elements</vt:lpstr>
      <vt:lpstr>PowerPoint Presentation</vt:lpstr>
      <vt:lpstr>Iterating Through Arrays</vt:lpstr>
      <vt:lpstr>Iterating Through Arrays</vt:lpstr>
      <vt:lpstr>PowerPoint Presentation</vt:lpstr>
      <vt:lpstr>Core Array Operations</vt:lpstr>
      <vt:lpstr>PowerPoint Presentation</vt:lpstr>
      <vt:lpstr>PowerPoint Presentation</vt:lpstr>
      <vt:lpstr>PowerPoint Presentation</vt:lpstr>
      <vt:lpstr>PowerPoint Presentation</vt:lpstr>
      <vt:lpstr>Java Array in Competitive Programming</vt:lpstr>
      <vt:lpstr>Key Characteristics in Competitive Programming</vt:lpstr>
      <vt:lpstr>Essential Techniques and Usage</vt:lpstr>
      <vt:lpstr>Summary of Common Operations</vt:lpstr>
      <vt:lpstr>Array Class in Java</vt:lpstr>
      <vt:lpstr>Key Features of java.util.Arrays</vt:lpstr>
      <vt:lpstr>Common Methods</vt:lpstr>
      <vt:lpstr>Common Methods</vt:lpstr>
      <vt:lpstr>Insert Operations in Array</vt:lpstr>
      <vt:lpstr>Insertion at a Specific Index</vt:lpstr>
      <vt:lpstr>Insertion at the Beginning</vt:lpstr>
      <vt:lpstr>Insertion at the End</vt:lpstr>
      <vt:lpstr>Handling a Full Array (Dynamic Resizing)</vt:lpstr>
      <vt:lpstr>PowerPoint Presentation</vt:lpstr>
      <vt:lpstr>Delete Operations in Array</vt:lpstr>
      <vt:lpstr>Deletion at a Specific Index</vt:lpstr>
      <vt:lpstr>PowerPoint Presentation</vt:lpstr>
      <vt:lpstr>Deletion at the Beginning</vt:lpstr>
      <vt:lpstr>Deletion at the End</vt:lpstr>
      <vt:lpstr>Stack</vt:lpstr>
      <vt:lpstr>PowerPoint Presentation</vt:lpstr>
      <vt:lpstr>Real-World Applications of Stacks</vt:lpstr>
      <vt:lpstr>Queue Data Structure</vt:lpstr>
      <vt:lpstr>Types of Queues</vt:lpstr>
      <vt:lpstr>Basic Operations on Queues:</vt:lpstr>
      <vt:lpstr>PowerPoint Presentation</vt:lpstr>
      <vt:lpstr>PowerPoint Presentation</vt:lpstr>
      <vt:lpstr>PowerPoint Presentation</vt:lpstr>
      <vt:lpstr>Practical Implementation </vt:lpstr>
      <vt:lpstr>Best Practices and Considerations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68</cp:revision>
  <dcterms:created xsi:type="dcterms:W3CDTF">2026-01-15T04:12:31Z</dcterms:created>
  <dcterms:modified xsi:type="dcterms:W3CDTF">2026-02-23T16:47:24Z</dcterms:modified>
</cp:coreProperties>
</file>