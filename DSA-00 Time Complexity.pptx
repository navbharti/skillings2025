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8"/>
    <p:restoredTop sz="94476"/>
  </p:normalViewPr>
  <p:slideViewPr>
    <p:cSldViewPr snapToGrid="0">
      <p:cViewPr varScale="1">
        <p:scale>
          <a:sx n="84" d="100"/>
          <a:sy n="84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7FFC-1F85-E22A-F089-1BAB490F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vs Program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E9382D-2BF5-0852-DA4D-9ABE0C662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72187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821873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20184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24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Written at Design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02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90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Any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26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HW/OS 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HW/OS 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693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65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CB2B-83F5-36A6-33E0-D4D71AE5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C6469-EB67-1876-1298-B45313C19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Consumption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 Consumption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CPU Register or Device Drivers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5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F406-45D9-A30E-C68D-D87FF74B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D7A-BC0D-A559-ACDA-6BE8F582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Algorithm swap(a, b){</a:t>
            </a:r>
          </a:p>
          <a:p>
            <a:pPr marL="0" indent="0">
              <a:buNone/>
            </a:pPr>
            <a:r>
              <a:rPr lang="en-US" dirty="0"/>
              <a:t>Temp = a</a:t>
            </a:r>
          </a:p>
          <a:p>
            <a:pPr marL="0" indent="0">
              <a:buNone/>
            </a:pPr>
            <a:r>
              <a:rPr lang="en-US" dirty="0"/>
              <a:t>a = b</a:t>
            </a:r>
          </a:p>
          <a:p>
            <a:pPr marL="0" indent="0">
              <a:buNone/>
            </a:pPr>
            <a:r>
              <a:rPr lang="en-US" dirty="0"/>
              <a:t>B = temp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Each step takes single time unit</a:t>
            </a:r>
          </a:p>
          <a:p>
            <a:r>
              <a:rPr lang="en-US" dirty="0"/>
              <a:t>f(n) = 3 = constant value</a:t>
            </a:r>
          </a:p>
          <a:p>
            <a:r>
              <a:rPr lang="en-US" dirty="0"/>
              <a:t>Constant denoted as O(1)</a:t>
            </a:r>
          </a:p>
          <a:p>
            <a:r>
              <a:rPr lang="en-US" dirty="0"/>
              <a:t>S(n) = 3, Again constant space value</a:t>
            </a:r>
          </a:p>
        </p:txBody>
      </p:sp>
    </p:spTree>
    <p:extLst>
      <p:ext uri="{BB962C8B-B14F-4D97-AF65-F5344CB8AC3E}">
        <p14:creationId xmlns:p14="http://schemas.microsoft.com/office/powerpoint/2010/main" val="76436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9204-EFC7-3B28-62B9-4DD949E7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F5C59-1F08-6A7F-77A2-272BA6044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for(</a:t>
                </a:r>
                <a:r>
                  <a:rPr lang="en-US" dirty="0" err="1"/>
                  <a:t>i</a:t>
                </a:r>
                <a:r>
                  <a:rPr lang="en-US" dirty="0"/>
                  <a:t>=0; </a:t>
                </a:r>
                <a:r>
                  <a:rPr lang="en-US" dirty="0" err="1"/>
                  <a:t>i</a:t>
                </a:r>
                <a:r>
                  <a:rPr lang="en-US" dirty="0"/>
                  <a:t>&lt;n; </a:t>
                </a:r>
                <a:r>
                  <a:rPr lang="en-US" dirty="0" err="1"/>
                  <a:t>i</a:t>
                </a:r>
                <a:r>
                  <a:rPr lang="en-US" dirty="0"/>
                  <a:t>++){</a:t>
                </a:r>
              </a:p>
              <a:p>
                <a:pPr marL="0" indent="0">
                  <a:buNone/>
                </a:pPr>
                <a:r>
                  <a:rPr lang="en-US" dirty="0"/>
                  <a:t>	for(j=0; j&lt;</a:t>
                </a:r>
                <a:r>
                  <a:rPr lang="en-US" dirty="0" err="1"/>
                  <a:t>i</a:t>
                </a:r>
                <a:r>
                  <a:rPr lang="en-US" dirty="0"/>
                  <a:t>; </a:t>
                </a:r>
                <a:r>
                  <a:rPr lang="en-US" dirty="0" err="1"/>
                  <a:t>j++</a:t>
                </a:r>
                <a:r>
                  <a:rPr lang="en-US" dirty="0"/>
                  <a:t>){</a:t>
                </a:r>
              </a:p>
              <a:p>
                <a:pPr marL="0" indent="0">
                  <a:buNone/>
                </a:pPr>
                <a:r>
                  <a:rPr lang="en-US" dirty="0"/>
                  <a:t>	statement;</a:t>
                </a:r>
              </a:p>
              <a:p>
                <a:pPr marL="0" indent="0">
                  <a:buNone/>
                </a:pPr>
                <a:r>
                  <a:rPr lang="en-US" dirty="0"/>
                  <a:t>	}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r>
                  <a:rPr lang="en-US" dirty="0"/>
                  <a:t>So total number of times [statement] runs will be 1 + 2 + 3 +…+n-1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=f(n)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F5C59-1F08-6A7F-77A2-272BA6044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8AD598-DA25-95A0-9CDE-B8191EF6A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5692"/>
              </p:ext>
            </p:extLst>
          </p:nvPr>
        </p:nvGraphicFramePr>
        <p:xfrm>
          <a:off x="6472238" y="850899"/>
          <a:ext cx="5277177" cy="32826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9059">
                  <a:extLst>
                    <a:ext uri="{9D8B030D-6E8A-4147-A177-3AD203B41FA5}">
                      <a16:colId xmlns:a16="http://schemas.microsoft.com/office/drawing/2014/main" val="1656329562"/>
                    </a:ext>
                  </a:extLst>
                </a:gridCol>
                <a:gridCol w="1759059">
                  <a:extLst>
                    <a:ext uri="{9D8B030D-6E8A-4147-A177-3AD203B41FA5}">
                      <a16:colId xmlns:a16="http://schemas.microsoft.com/office/drawing/2014/main" val="1977916397"/>
                    </a:ext>
                  </a:extLst>
                </a:gridCol>
                <a:gridCol w="1759059">
                  <a:extLst>
                    <a:ext uri="{9D8B030D-6E8A-4147-A177-3AD203B41FA5}">
                      <a16:colId xmlns:a16="http://schemas.microsoft.com/office/drawing/2014/main" val="3641620650"/>
                    </a:ext>
                  </a:extLst>
                </a:gridCol>
              </a:tblGrid>
              <a:tr h="9568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No. of time I runs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No of times j runs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No of times Statement runs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5774511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9428151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0, 1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9787542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0, 1, 2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9712384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0, 1, 2, 3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6304950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 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 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 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4996970"/>
                  </a:ext>
                </a:extLst>
              </a:tr>
              <a:tr h="6412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0, 1, 2, …, n-1, 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n-1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233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41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ECF7-EC2F-D6D0-DE87-A5BDF72F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5537D-7CBB-19FA-7727-CB41A054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&lt;=n; </a:t>
            </a:r>
            <a:r>
              <a:rPr lang="en-US" dirty="0" err="1"/>
              <a:t>i</a:t>
            </a:r>
            <a:r>
              <a:rPr lang="en-US" dirty="0"/>
              <a:t>++){				O(n)</a:t>
            </a:r>
          </a:p>
          <a:p>
            <a:r>
              <a:rPr lang="en-US" dirty="0"/>
              <a:t>    Statement;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&gt;=1; </a:t>
            </a:r>
            <a:r>
              <a:rPr lang="en-US" dirty="0" err="1"/>
              <a:t>i</a:t>
            </a:r>
            <a:r>
              <a:rPr lang="en-US" dirty="0"/>
              <a:t>--){				O(n)</a:t>
            </a:r>
          </a:p>
          <a:p>
            <a:r>
              <a:rPr lang="en-US" dirty="0"/>
              <a:t>    Statement;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1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9081-2CAA-A5F2-8820-0D867EA6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97C6-41A4-F032-B5AC-088E9EDB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1800" u="sng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=1;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&lt;=n;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++) {----------------    n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    for(int j=1; j&lt;=n;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j++</a:t>
            </a:r>
            <a:r>
              <a:rPr lang="en-IN" sz="1800" dirty="0">
                <a:effectLst/>
                <a:latin typeface="Menlo" panose="020B0609030804020204" pitchFamily="49" charset="0"/>
              </a:rPr>
              <a:t>) {----------------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nxn</a:t>
            </a: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       Statement;		----------------  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nxn</a:t>
            </a: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effectLst/>
                <a:latin typeface="Menlo" panose="020B0609030804020204" pitchFamily="49" charset="0"/>
              </a:rPr>
            </a:b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effectLst/>
                <a:latin typeface="Menlo" panose="020B0609030804020204" pitchFamily="49" charset="0"/>
              </a:rPr>
            </a:b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effectLst/>
                <a:latin typeface="Menlo" panose="020B0609030804020204" pitchFamily="49" charset="0"/>
              </a:rPr>
            </a:b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effectLst/>
                <a:latin typeface="Menlo" panose="020B0609030804020204" pitchFamily="49" charset="0"/>
              </a:rPr>
            </a:b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1800" u="sng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=</a:t>
            </a:r>
            <a:r>
              <a:rPr lang="en-IN" sz="1800" u="sng" dirty="0"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effectLst/>
                <a:latin typeface="Menlo" panose="020B0609030804020204" pitchFamily="49" charset="0"/>
              </a:rPr>
              <a:t>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&gt;0;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--) {	----------------n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     for(int </a:t>
            </a:r>
            <a:r>
              <a:rPr lang="en-IN" sz="1800" u="sng" dirty="0">
                <a:effectLst/>
                <a:latin typeface="Menlo" panose="020B0609030804020204" pitchFamily="49" charset="0"/>
              </a:rPr>
              <a:t>j</a:t>
            </a:r>
            <a:r>
              <a:rPr lang="en-IN" sz="1800" dirty="0">
                <a:effectLst/>
                <a:latin typeface="Menlo" panose="020B0609030804020204" pitchFamily="49" charset="0"/>
              </a:rPr>
              <a:t>=</a:t>
            </a:r>
            <a:r>
              <a:rPr lang="en-IN" sz="1800" u="sng" dirty="0">
                <a:effectLst/>
                <a:latin typeface="Menlo" panose="020B0609030804020204" pitchFamily="49" charset="0"/>
              </a:rPr>
              <a:t>n</a:t>
            </a:r>
            <a:r>
              <a:rPr lang="en-IN" sz="1800" dirty="0">
                <a:effectLst/>
                <a:latin typeface="Menlo" panose="020B0609030804020204" pitchFamily="49" charset="0"/>
              </a:rPr>
              <a:t>; j&gt;=1; j--) {----------------n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        Statement;		----------------n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41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EA8A-B237-3363-F7F1-84FC9135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57390-233A-3289-CCE3-12218F6B7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=0;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&lt;n;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++) {	----------------n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Menlo" panose="020B0609030804020204" pitchFamily="49" charset="0"/>
              </a:rPr>
              <a:t>    for(int j=0; </a:t>
            </a:r>
            <a:r>
              <a:rPr lang="en-IN" sz="1800" u="sng" dirty="0">
                <a:effectLst/>
                <a:latin typeface="Menlo" panose="020B0609030804020204" pitchFamily="49" charset="0"/>
              </a:rPr>
              <a:t>J&lt;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1800" dirty="0">
                <a:effectLst/>
                <a:latin typeface="Menlo" panose="020B0609030804020204" pitchFamily="49" charset="0"/>
              </a:rPr>
              <a:t>; </a:t>
            </a:r>
            <a:r>
              <a:rPr lang="en-IN" sz="1800" dirty="0" err="1">
                <a:effectLst/>
                <a:latin typeface="Menlo" panose="020B0609030804020204" pitchFamily="49" charset="0"/>
              </a:rPr>
              <a:t>j++</a:t>
            </a:r>
            <a:r>
              <a:rPr lang="en-IN" sz="1800" dirty="0">
                <a:effectLst/>
                <a:latin typeface="Menlo" panose="020B0609030804020204" pitchFamily="49" charset="0"/>
              </a:rPr>
              <a:t>) {----------------n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Menlo" panose="020B0609030804020204" pitchFamily="49" charset="0"/>
              </a:rPr>
              <a:t>       Statement; 			n(n+1)/2 ----------------O(n</a:t>
            </a:r>
            <a:r>
              <a:rPr lang="en-IN" sz="1800" baseline="30000" dirty="0">
                <a:effectLst/>
                <a:latin typeface="Menlo" panose="020B0609030804020204" pitchFamily="49" charset="0"/>
              </a:rPr>
              <a:t>2</a:t>
            </a:r>
            <a:r>
              <a:rPr lang="en-IN" sz="1800" dirty="0"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1800" u="sng" dirty="0">
                <a:effectLst/>
                <a:latin typeface="Menlo" panose="020B0609030804020204" pitchFamily="49" charset="0"/>
              </a:rPr>
              <a:t>}</a:t>
            </a:r>
            <a:endParaRPr lang="en-IN" sz="1800" dirty="0"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4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01FF-AAF4-2470-E0E4-D1918B9E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D2934-CD44-B59B-D30D-6DEC18C9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effectLst/>
                <a:latin typeface="Menlo" panose="020B0609030804020204" pitchFamily="49" charset="0"/>
              </a:rPr>
              <a:t>int p = 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24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2400" dirty="0">
                <a:effectLst/>
                <a:latin typeface="Menlo" panose="020B0609030804020204" pitchFamily="49" charset="0"/>
              </a:rPr>
              <a:t>=1; </a:t>
            </a:r>
            <a:r>
              <a:rPr lang="en-IN" sz="24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2400" dirty="0">
                <a:effectLst/>
                <a:latin typeface="Menlo" panose="020B0609030804020204" pitchFamily="49" charset="0"/>
              </a:rPr>
              <a:t>&lt;=n; </a:t>
            </a:r>
            <a:r>
              <a:rPr lang="en-IN" sz="24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2400" dirty="0">
                <a:effectLst/>
                <a:latin typeface="Menlo" panose="020B0609030804020204" pitchFamily="49" charset="0"/>
              </a:rPr>
              <a:t>++)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effectLst/>
                <a:latin typeface="Menlo" panose="020B0609030804020204" pitchFamily="49" charset="0"/>
              </a:rPr>
              <a:t>    p = </a:t>
            </a:r>
            <a:r>
              <a:rPr lang="en-IN" sz="2400" dirty="0" err="1">
                <a:effectLst/>
                <a:latin typeface="Menlo" panose="020B0609030804020204" pitchFamily="49" charset="0"/>
              </a:rPr>
              <a:t>p+i</a:t>
            </a:r>
            <a:r>
              <a:rPr lang="en-IN" sz="2400" dirty="0"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u="sng" dirty="0">
                <a:effectLst/>
                <a:latin typeface="Menlo" panose="020B0609030804020204" pitchFamily="49" charset="0"/>
              </a:rPr>
              <a:t>}</a:t>
            </a:r>
            <a:endParaRPr lang="en-IN" sz="2400" dirty="0">
              <a:effectLst/>
              <a:latin typeface="Menlo" panose="020B0609030804020204" pitchFamily="49" charset="0"/>
            </a:endParaRPr>
          </a:p>
          <a:p>
            <a:endParaRPr lang="en-US" dirty="0"/>
          </a:p>
          <a:p>
            <a:r>
              <a:rPr lang="en-US" dirty="0"/>
              <a:t>Assume p&gt;n</a:t>
            </a:r>
          </a:p>
          <a:p>
            <a:r>
              <a:rPr lang="en-US" dirty="0"/>
              <a:t>Since p=k(k+1)/2</a:t>
            </a:r>
          </a:p>
          <a:p>
            <a:r>
              <a:rPr lang="en-US" dirty="0"/>
              <a:t>k(k+1)/2&gt;n</a:t>
            </a:r>
          </a:p>
          <a:p>
            <a:r>
              <a:rPr lang="en-US" dirty="0"/>
              <a:t>K</a:t>
            </a:r>
            <a:r>
              <a:rPr lang="en-US" baseline="30000" dirty="0"/>
              <a:t>2</a:t>
            </a:r>
            <a:r>
              <a:rPr lang="en-US" dirty="0"/>
              <a:t> &gt;n</a:t>
            </a:r>
          </a:p>
          <a:p>
            <a:r>
              <a:rPr lang="en-US" dirty="0"/>
              <a:t>N&gt;n</a:t>
            </a:r>
            <a:r>
              <a:rPr lang="en-US" baseline="30000" dirty="0"/>
              <a:t>1/2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6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0489-7C0F-17B3-8EAC-2CB70D09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3E93-0D22-EE18-01E8-DF53ACF3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=1;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&lt;n;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=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*2)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effectLst/>
                <a:latin typeface="Menlo" panose="020B0609030804020204" pitchFamily="49" charset="0"/>
              </a:rPr>
              <a:t>  Statement;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u="sng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IN" sz="3200" u="sng" dirty="0"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Assume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&gt;=n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 err="1">
                <a:latin typeface="Menlo" panose="020B0609030804020204" pitchFamily="49" charset="0"/>
              </a:rPr>
              <a:t>i</a:t>
            </a:r>
            <a:r>
              <a:rPr lang="en-IN" sz="3200" dirty="0">
                <a:latin typeface="Menlo" panose="020B0609030804020204" pitchFamily="49" charset="0"/>
              </a:rPr>
              <a:t>=2</a:t>
            </a:r>
            <a:r>
              <a:rPr lang="en-IN" sz="3200" baseline="30000" dirty="0">
                <a:latin typeface="Menlo" panose="020B0609030804020204" pitchFamily="49" charset="0"/>
              </a:rPr>
              <a:t>k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2</a:t>
            </a:r>
            <a:r>
              <a:rPr lang="en-IN" sz="3200" baseline="30000" dirty="0">
                <a:effectLst/>
                <a:latin typeface="Menlo" panose="020B0609030804020204" pitchFamily="49" charset="0"/>
              </a:rPr>
              <a:t>k</a:t>
            </a:r>
            <a:r>
              <a:rPr lang="en-IN" sz="3200" dirty="0">
                <a:effectLst/>
                <a:latin typeface="Menlo" panose="020B0609030804020204" pitchFamily="49" charset="0"/>
              </a:rPr>
              <a:t> &gt;=n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latin typeface="Menlo" panose="020B0609030804020204" pitchFamily="49" charset="0"/>
              </a:rPr>
              <a:t>2</a:t>
            </a:r>
            <a:r>
              <a:rPr lang="en-IN" sz="3200" baseline="30000" dirty="0">
                <a:latin typeface="Menlo" panose="020B0609030804020204" pitchFamily="49" charset="0"/>
              </a:rPr>
              <a:t>k</a:t>
            </a:r>
            <a:r>
              <a:rPr lang="en-IN" sz="3200" dirty="0">
                <a:latin typeface="Menlo" panose="020B0609030804020204" pitchFamily="49" charset="0"/>
              </a:rPr>
              <a:t> = 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K = log</a:t>
            </a:r>
            <a:r>
              <a:rPr lang="en-IN" sz="3200" baseline="-25000" dirty="0">
                <a:effectLst/>
                <a:latin typeface="Menlo" panose="020B0609030804020204" pitchFamily="49" charset="0"/>
              </a:rPr>
              <a:t>2</a:t>
            </a:r>
            <a:r>
              <a:rPr lang="en-IN" sz="3200" baseline="30000" dirty="0">
                <a:effectLst/>
                <a:latin typeface="Menlo" panose="020B0609030804020204" pitchFamily="49" charset="0"/>
              </a:rPr>
              <a:t>n</a:t>
            </a:r>
          </a:p>
          <a:p>
            <a:r>
              <a:rPr lang="en-US" sz="4400" dirty="0"/>
              <a:t>O(</a:t>
            </a:r>
            <a:r>
              <a:rPr lang="en-US" sz="4400" dirty="0" err="1"/>
              <a:t>logn</a:t>
            </a:r>
            <a:r>
              <a:rPr lang="en-US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4167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2427-CA86-3027-830C-A40BD2CE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13FA2-AC99-CA2E-F50A-972FFC9EC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0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000" dirty="0">
                <a:effectLst/>
                <a:latin typeface="Menlo" panose="020B0609030804020204" pitchFamily="49" charset="0"/>
              </a:rPr>
              <a:t>=</a:t>
            </a:r>
            <a:r>
              <a:rPr lang="en-IN" sz="3000" u="sng" dirty="0">
                <a:effectLst/>
                <a:latin typeface="Menlo" panose="020B0609030804020204" pitchFamily="49" charset="0"/>
              </a:rPr>
              <a:t>n</a:t>
            </a:r>
            <a:r>
              <a:rPr lang="en-IN" sz="3000" dirty="0">
                <a:effectLst/>
                <a:latin typeface="Menlo" panose="020B0609030804020204" pitchFamily="49" charset="0"/>
              </a:rPr>
              <a:t>; </a:t>
            </a:r>
            <a:r>
              <a:rPr lang="en-IN" sz="30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000" dirty="0">
                <a:effectLst/>
                <a:latin typeface="Menlo" panose="020B0609030804020204" pitchFamily="49" charset="0"/>
              </a:rPr>
              <a:t>&gt;=1; </a:t>
            </a:r>
            <a:r>
              <a:rPr lang="en-IN" sz="30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000" dirty="0">
                <a:effectLst/>
                <a:latin typeface="Menlo" panose="020B0609030804020204" pitchFamily="49" charset="0"/>
              </a:rPr>
              <a:t>=</a:t>
            </a:r>
            <a:r>
              <a:rPr lang="en-IN" sz="30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000" dirty="0">
                <a:effectLst/>
                <a:latin typeface="Menlo" panose="020B0609030804020204" pitchFamily="49" charset="0"/>
              </a:rPr>
              <a:t>/2)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>
                <a:effectLst/>
                <a:latin typeface="Menlo" panose="020B0609030804020204" pitchFamily="49" charset="0"/>
              </a:rPr>
              <a:t>  Statement;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u="sng" dirty="0">
                <a:effectLst/>
                <a:latin typeface="Menlo" panose="020B0609030804020204" pitchFamily="49" charset="0"/>
              </a:rPr>
              <a:t>}</a:t>
            </a:r>
            <a:endParaRPr lang="en-IN" sz="3000" dirty="0">
              <a:effectLst/>
              <a:latin typeface="Menlo" panose="020B0609030804020204" pitchFamily="49" charset="0"/>
            </a:endParaRPr>
          </a:p>
          <a:p>
            <a:endParaRPr lang="en-US" sz="3200" dirty="0"/>
          </a:p>
          <a:p>
            <a:r>
              <a:rPr lang="en-US" sz="3200" dirty="0"/>
              <a:t>Assume </a:t>
            </a:r>
            <a:r>
              <a:rPr lang="en-US" sz="3200" dirty="0" err="1"/>
              <a:t>i</a:t>
            </a:r>
            <a:r>
              <a:rPr lang="en-US" sz="3200" dirty="0"/>
              <a:t>&lt;1</a:t>
            </a:r>
          </a:p>
          <a:p>
            <a:r>
              <a:rPr lang="en-US" sz="3200" dirty="0"/>
              <a:t>n/2</a:t>
            </a:r>
            <a:r>
              <a:rPr lang="en-US" sz="3200" baseline="30000" dirty="0"/>
              <a:t>k</a:t>
            </a:r>
            <a:r>
              <a:rPr lang="en-US" sz="3200" dirty="0"/>
              <a:t> &lt;1</a:t>
            </a:r>
          </a:p>
          <a:p>
            <a:r>
              <a:rPr lang="en-US" sz="3200" dirty="0"/>
              <a:t>n/2</a:t>
            </a:r>
            <a:r>
              <a:rPr lang="en-US" sz="3200" baseline="30000" dirty="0"/>
              <a:t>k</a:t>
            </a:r>
            <a:r>
              <a:rPr lang="en-US" sz="3200" dirty="0"/>
              <a:t> = 1</a:t>
            </a:r>
          </a:p>
          <a:p>
            <a:r>
              <a:rPr lang="en-US" sz="3200" dirty="0"/>
              <a:t>N = 2</a:t>
            </a:r>
            <a:r>
              <a:rPr lang="en-US" sz="3200" baseline="30000" dirty="0"/>
              <a:t>k</a:t>
            </a:r>
          </a:p>
          <a:p>
            <a:r>
              <a:rPr lang="en-US" sz="3200" dirty="0"/>
              <a:t>K = </a:t>
            </a:r>
            <a:r>
              <a:rPr lang="en-US" sz="3200" dirty="0" err="1"/>
              <a:t>logn</a:t>
            </a:r>
            <a:endParaRPr lang="en-US" sz="3200" dirty="0"/>
          </a:p>
          <a:p>
            <a:r>
              <a:rPr lang="en-US" sz="3200" dirty="0"/>
              <a:t>O(</a:t>
            </a:r>
            <a:r>
              <a:rPr lang="en-US" sz="3200" dirty="0" err="1"/>
              <a:t>logn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875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4A59-1C7E-E090-D5A4-4AB1093C0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3E34-CCBB-6E28-1E15-22BF99A8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=0;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*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 &lt; n;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++)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   Statement;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u="sng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IN" sz="3600" u="sng" dirty="0"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*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 &lt; 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 err="1">
                <a:latin typeface="Menlo" panose="020B0609030804020204" pitchFamily="49" charset="0"/>
              </a:rPr>
              <a:t>i</a:t>
            </a:r>
            <a:r>
              <a:rPr lang="en-IN" sz="3600" dirty="0">
                <a:latin typeface="Menlo" panose="020B0609030804020204" pitchFamily="49" charset="0"/>
              </a:rPr>
              <a:t>*</a:t>
            </a:r>
            <a:r>
              <a:rPr lang="en-IN" sz="3600" dirty="0" err="1">
                <a:latin typeface="Menlo" panose="020B0609030804020204" pitchFamily="49" charset="0"/>
              </a:rPr>
              <a:t>i</a:t>
            </a:r>
            <a:r>
              <a:rPr lang="en-IN" sz="3600" dirty="0">
                <a:latin typeface="Menlo" panose="020B0609030804020204" pitchFamily="49" charset="0"/>
              </a:rPr>
              <a:t> = 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latin typeface="Menlo" panose="020B0609030804020204" pitchFamily="49" charset="0"/>
              </a:rPr>
              <a:t>i</a:t>
            </a:r>
            <a:r>
              <a:rPr lang="en-IN" sz="3600" baseline="30000" dirty="0">
                <a:latin typeface="Menlo" panose="020B0609030804020204" pitchFamily="49" charset="0"/>
              </a:rPr>
              <a:t>2</a:t>
            </a:r>
            <a:r>
              <a:rPr lang="en-IN" sz="3600" dirty="0">
                <a:latin typeface="Menlo" panose="020B0609030804020204" pitchFamily="49" charset="0"/>
              </a:rPr>
              <a:t> = 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 = sqrt(n)</a:t>
            </a:r>
          </a:p>
        </p:txBody>
      </p:sp>
    </p:spTree>
    <p:extLst>
      <p:ext uri="{BB962C8B-B14F-4D97-AF65-F5344CB8AC3E}">
        <p14:creationId xmlns:p14="http://schemas.microsoft.com/office/powerpoint/2010/main" val="363403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CA93-8574-2621-5C84-65BC41CF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2BB0-5CF3-3331-6A1D-CE90EDD5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=0;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&lt;n;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600" dirty="0">
                <a:effectLst/>
                <a:latin typeface="Menlo" panose="020B0609030804020204" pitchFamily="49" charset="0"/>
              </a:rPr>
              <a:t>++)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effectLst/>
                <a:latin typeface="Menlo" panose="020B0609030804020204" pitchFamily="49" charset="0"/>
              </a:rPr>
              <a:t>  Statement;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effectLst/>
                <a:latin typeface="Menlo" panose="020B0609030804020204" pitchFamily="49" charset="0"/>
              </a:rPr>
              <a:t>for(int j=0; j&lt;n; </a:t>
            </a:r>
            <a:r>
              <a:rPr lang="en-IN" sz="3600" dirty="0" err="1">
                <a:effectLst/>
                <a:latin typeface="Menlo" panose="020B0609030804020204" pitchFamily="49" charset="0"/>
              </a:rPr>
              <a:t>j++</a:t>
            </a:r>
            <a:r>
              <a:rPr lang="en-IN" sz="3600" dirty="0">
                <a:effectLst/>
                <a:latin typeface="Menlo" panose="020B060903080402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dirty="0">
                <a:effectLst/>
                <a:latin typeface="Menlo" panose="020B0609030804020204" pitchFamily="49" charset="0"/>
              </a:rPr>
              <a:t>  Statement;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600" u="sng" dirty="0">
                <a:effectLst/>
                <a:latin typeface="Menlo" panose="020B0609030804020204" pitchFamily="49" charset="0"/>
              </a:rPr>
              <a:t>}</a:t>
            </a:r>
            <a:endParaRPr lang="en-IN" sz="360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O(</a:t>
            </a:r>
            <a:r>
              <a:rPr lang="en-US" sz="4800" dirty="0" err="1"/>
              <a:t>n+n</a:t>
            </a:r>
            <a:r>
              <a:rPr lang="en-US" sz="4800" dirty="0"/>
              <a:t>) = O(2n) = O(n)</a:t>
            </a:r>
          </a:p>
        </p:txBody>
      </p:sp>
    </p:spTree>
    <p:extLst>
      <p:ext uri="{BB962C8B-B14F-4D97-AF65-F5344CB8AC3E}">
        <p14:creationId xmlns:p14="http://schemas.microsoft.com/office/powerpoint/2010/main" val="181566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0C3D-43B4-D23D-48E5-001FE0C1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AFBF-4FA3-7BD3-F2E2-CBDFF4CDE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int p=0;			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=1;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&lt;n;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*=2) {			p=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logn</a:t>
            </a:r>
            <a:endParaRPr lang="en-IN" sz="3200" dirty="0"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p++;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IN" sz="3200" dirty="0">
                <a:effectLst/>
                <a:latin typeface="Menlo" panose="020B0609030804020204" pitchFamily="49" charset="0"/>
              </a:rPr>
            </a:br>
            <a:endParaRPr lang="en-IN" sz="3200" dirty="0"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for(int j=1; j&lt;p; j*=2)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u="sng" dirty="0">
                <a:effectLst/>
                <a:latin typeface="Menlo" panose="020B0609030804020204" pitchFamily="49" charset="0"/>
              </a:rPr>
              <a:t>Statement</a:t>
            </a:r>
            <a:r>
              <a:rPr lang="en-IN" sz="3200" dirty="0">
                <a:effectLst/>
                <a:latin typeface="Menlo" panose="020B0609030804020204" pitchFamily="49" charset="0"/>
              </a:rPr>
              <a:t>;						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logp</a:t>
            </a:r>
            <a:endParaRPr lang="en-IN" sz="3200" dirty="0"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u="sng" dirty="0">
                <a:effectLst/>
                <a:latin typeface="Menlo" panose="020B0609030804020204" pitchFamily="49" charset="0"/>
              </a:rPr>
              <a:t>}</a:t>
            </a:r>
            <a:r>
              <a:rPr lang="en-IN" sz="3200" dirty="0">
                <a:effectLst/>
                <a:latin typeface="Menlo" panose="020B0609030804020204" pitchFamily="49" charset="0"/>
              </a:rPr>
              <a:t>							O(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loglogn</a:t>
            </a:r>
            <a:r>
              <a:rPr lang="en-IN" sz="3200" dirty="0"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533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933A-1256-C48B-8030-53630BF3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5760-5B4A-4F95-F539-E57BCCDA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for(int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=0;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&lt;n;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i</a:t>
            </a:r>
            <a:r>
              <a:rPr lang="en-IN" sz="3200" dirty="0">
                <a:effectLst/>
                <a:latin typeface="Menlo" panose="020B0609030804020204" pitchFamily="49" charset="0"/>
              </a:rPr>
              <a:t>++) {			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  for(int j=1; j&lt;</a:t>
            </a:r>
            <a:r>
              <a:rPr lang="en-IN" sz="3200" u="sng" dirty="0">
                <a:effectLst/>
                <a:latin typeface="Menlo" panose="020B0609030804020204" pitchFamily="49" charset="0"/>
              </a:rPr>
              <a:t>n</a:t>
            </a:r>
            <a:r>
              <a:rPr lang="en-IN" sz="3200" dirty="0">
                <a:effectLst/>
                <a:latin typeface="Menlo" panose="020B0609030804020204" pitchFamily="49" charset="0"/>
              </a:rPr>
              <a:t>; j *= 2) {	n *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logn</a:t>
            </a:r>
            <a:endParaRPr lang="en-IN" sz="3200" dirty="0"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    Statement;						n * </a:t>
            </a:r>
            <a:r>
              <a:rPr lang="en-IN" sz="3200" dirty="0" err="1">
                <a:effectLst/>
                <a:latin typeface="Menlo" panose="020B0609030804020204" pitchFamily="49" charset="0"/>
              </a:rPr>
              <a:t>logn</a:t>
            </a:r>
            <a:endParaRPr lang="en-IN" sz="3200" dirty="0">
              <a:effectLst/>
              <a:latin typeface="Menlo" panose="020B060903080402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dirty="0">
                <a:effectLst/>
                <a:latin typeface="Menlo" panose="020B060903080402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IN" sz="3200" u="sng" dirty="0">
                <a:effectLst/>
                <a:latin typeface="Menlo" panose="020B0609030804020204" pitchFamily="49" charset="0"/>
              </a:rPr>
              <a:t>}</a:t>
            </a:r>
            <a:endParaRPr lang="en-IN" sz="3200" dirty="0">
              <a:effectLst/>
              <a:latin typeface="Menlo" panose="020B0609030804020204" pitchFamily="49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4132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2E05-68A4-B3B7-19AB-8DFE800E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BB688-00B7-B95F-CBBE-4C02571AC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a = 1;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while(a&lt;b)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  statement;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effectLst/>
                <a:latin typeface="Menlo" panose="020B0609030804020204" pitchFamily="49" charset="0"/>
              </a:rPr>
              <a:t>  a = a*2;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u="sng" dirty="0">
                <a:effectLst/>
                <a:latin typeface="Menlo" panose="020B0609030804020204" pitchFamily="49" charset="0"/>
              </a:rPr>
              <a:t>}</a:t>
            </a:r>
            <a:endParaRPr lang="en-IN" sz="360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221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EBD677-7FEB-692D-3497-EC119FC85E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26219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O(1)&lt;O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logn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loglogn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)&lt;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𝑛𝑙𝑜𝑔𝑛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EBD677-7FEB-692D-3497-EC119FC85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2621915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2CD6-F320-AE38-F18D-7EDD7D81E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5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4157</TotalTime>
  <Words>816</Words>
  <Application>Microsoft Macintosh PowerPoint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Cambria Math</vt:lpstr>
      <vt:lpstr>Menlo</vt:lpstr>
      <vt:lpstr>Office Theme</vt:lpstr>
      <vt:lpstr>Time Complexity</vt:lpstr>
      <vt:lpstr>Algorithm vs Program</vt:lpstr>
      <vt:lpstr>Analyze Algorithm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O(1)&lt;O(logn)&lt;O(loglogn)&lt;O√n  )&lt;O(n)&lt;O(nlogn)&lt;On^2 (n^3 )&lt;O(2^n )….O(n!)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136</cp:revision>
  <dcterms:created xsi:type="dcterms:W3CDTF">2026-01-15T04:12:31Z</dcterms:created>
  <dcterms:modified xsi:type="dcterms:W3CDTF">2026-02-19T08:42:37Z</dcterms:modified>
</cp:coreProperties>
</file>