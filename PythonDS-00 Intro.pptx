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2/19/26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faker.readthedocs.io/en/maste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python/python-vs-cpyth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python/reading-python-file-like-objects-from-c-python/" TargetMode="External"/><Relationship Id="rId2" Type="http://schemas.openxmlformats.org/officeDocument/2006/relationships/hyperlink" Target="https://www.geeksforgeeks.org/python/python-programming-language-tutoria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java/difference-between-byte-code-and-machine-cod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medium.com/download-app?source=promotion_paragraph---post_body_banner_better_screentime--df83ca6a79a6---------------------------------------"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Python Introduction</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55312-C277-9FA4-8983-AD6CDE542571}"/>
              </a:ext>
            </a:extLst>
          </p:cNvPr>
          <p:cNvSpPr>
            <a:spLocks noGrp="1"/>
          </p:cNvSpPr>
          <p:nvPr>
            <p:ph type="title"/>
          </p:nvPr>
        </p:nvSpPr>
        <p:spPr/>
        <p:txBody>
          <a:bodyPr/>
          <a:lstStyle/>
          <a:p>
            <a:r>
              <a:rPr lang="en-US" dirty="0"/>
              <a:t>Python Background</a:t>
            </a:r>
          </a:p>
        </p:txBody>
      </p:sp>
      <p:sp>
        <p:nvSpPr>
          <p:cNvPr id="3" name="Content Placeholder 2">
            <a:extLst>
              <a:ext uri="{FF2B5EF4-FFF2-40B4-BE49-F238E27FC236}">
                <a16:creationId xmlns:a16="http://schemas.microsoft.com/office/drawing/2014/main" id="{A363457D-290A-677B-D9FB-C4134250FB55}"/>
              </a:ext>
            </a:extLst>
          </p:cNvPr>
          <p:cNvSpPr>
            <a:spLocks noGrp="1"/>
          </p:cNvSpPr>
          <p:nvPr>
            <p:ph idx="1"/>
          </p:nvPr>
        </p:nvSpPr>
        <p:spPr/>
        <p:txBody>
          <a:bodyPr>
            <a:normAutofit fontScale="92500" lnSpcReduction="10000"/>
          </a:bodyPr>
          <a:lstStyle/>
          <a:p>
            <a:pPr algn="l"/>
            <a:r>
              <a:rPr lang="en-IN" b="0" i="0" dirty="0">
                <a:effectLst/>
                <a:latin typeface="Google Sans"/>
              </a:rPr>
              <a:t>Python was created by the Dutch programmer </a:t>
            </a:r>
            <a:r>
              <a:rPr lang="en-IN" b="1" i="0" dirty="0">
                <a:effectLst/>
                <a:latin typeface="Google Sans"/>
              </a:rPr>
              <a:t>Guido van Rossum</a:t>
            </a:r>
            <a:r>
              <a:rPr lang="en-IN" b="0" i="0" dirty="0">
                <a:effectLst/>
                <a:latin typeface="Google Sans"/>
              </a:rPr>
              <a:t> in the late 1980s as a hobby project and was first released in </a:t>
            </a:r>
            <a:r>
              <a:rPr lang="en-IN" b="1" i="0" dirty="0">
                <a:effectLst/>
                <a:latin typeface="Google Sans"/>
              </a:rPr>
              <a:t>February 1991</a:t>
            </a:r>
            <a:r>
              <a:rPr lang="en-IN" b="0" i="0" dirty="0">
                <a:effectLst/>
                <a:latin typeface="Google Sans"/>
              </a:rPr>
              <a:t>. </a:t>
            </a:r>
          </a:p>
          <a:p>
            <a:pPr algn="l"/>
            <a:r>
              <a:rPr lang="en-IN" b="0" i="0" dirty="0">
                <a:effectLst/>
                <a:latin typeface="Google Sans"/>
              </a:rPr>
              <a:t>It was designed to be a readable and intuitive scripting language with a focus on simple, clean syntax. </a:t>
            </a:r>
          </a:p>
          <a:p>
            <a:r>
              <a:rPr lang="en-IN" b="0" i="0" dirty="0">
                <a:effectLst/>
                <a:latin typeface="Google Sans"/>
              </a:rPr>
              <a:t>Python is a popular, general-purpose programming language known for its emphasis on </a:t>
            </a:r>
            <a:r>
              <a:rPr lang="en-IN" b="1" i="0" dirty="0">
                <a:effectLst/>
                <a:latin typeface="Google Sans"/>
              </a:rPr>
              <a:t>code readability</a:t>
            </a:r>
            <a:r>
              <a:rPr lang="en-IN" b="0" i="0" dirty="0">
                <a:effectLst/>
                <a:latin typeface="Google Sans"/>
              </a:rPr>
              <a:t> and </a:t>
            </a:r>
            <a:r>
              <a:rPr lang="en-IN" b="1" i="0" dirty="0">
                <a:effectLst/>
                <a:latin typeface="Google Sans"/>
              </a:rPr>
              <a:t>simplicity</a:t>
            </a:r>
            <a:r>
              <a:rPr lang="en-IN" b="0" i="0" dirty="0">
                <a:effectLst/>
                <a:latin typeface="Google Sans"/>
              </a:rPr>
              <a:t>, which makes it an excellent choice for both beginners and experienced developers. Key features include: </a:t>
            </a:r>
          </a:p>
          <a:p>
            <a:pPr algn="l"/>
            <a:r>
              <a:rPr lang="en-IN" b="0" i="0" dirty="0">
                <a:effectLst/>
                <a:latin typeface="Google Sans"/>
              </a:rPr>
              <a:t>The main limitations of Python programming include its slow execution speed compared to compiled languages, high memory consumption, and limitations in mobile application development and concurrent programming. </a:t>
            </a:r>
          </a:p>
        </p:txBody>
      </p:sp>
    </p:spTree>
    <p:extLst>
      <p:ext uri="{BB962C8B-B14F-4D97-AF65-F5344CB8AC3E}">
        <p14:creationId xmlns:p14="http://schemas.microsoft.com/office/powerpoint/2010/main" val="147426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551D-4E71-B469-D9CF-D4FA805F618A}"/>
              </a:ext>
            </a:extLst>
          </p:cNvPr>
          <p:cNvSpPr>
            <a:spLocks noGrp="1"/>
          </p:cNvSpPr>
          <p:nvPr>
            <p:ph type="title"/>
          </p:nvPr>
        </p:nvSpPr>
        <p:spPr/>
        <p:txBody>
          <a:bodyPr/>
          <a:lstStyle/>
          <a:p>
            <a:r>
              <a:rPr lang="en-IN" b="1" i="0" dirty="0">
                <a:effectLst/>
                <a:latin typeface="Google Sans"/>
              </a:rPr>
              <a:t>Key Milestones</a:t>
            </a:r>
            <a:endParaRPr lang="en-US" dirty="0"/>
          </a:p>
        </p:txBody>
      </p:sp>
      <p:sp>
        <p:nvSpPr>
          <p:cNvPr id="3" name="Content Placeholder 2">
            <a:extLst>
              <a:ext uri="{FF2B5EF4-FFF2-40B4-BE49-F238E27FC236}">
                <a16:creationId xmlns:a16="http://schemas.microsoft.com/office/drawing/2014/main" id="{D796323D-89F6-D2FD-26F0-839FCEB50507}"/>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Origins at CWI</a:t>
            </a:r>
            <a:r>
              <a:rPr lang="en-IN" b="0" i="0" dirty="0">
                <a:effectLst/>
                <a:latin typeface="Google Sans"/>
              </a:rPr>
              <a:t>: Van Rossum began working on Python in December 1989 at the Centrum </a:t>
            </a:r>
            <a:r>
              <a:rPr lang="en-IN" b="0" i="0" dirty="0" err="1">
                <a:effectLst/>
                <a:latin typeface="Google Sans"/>
              </a:rPr>
              <a:t>Wiskunde</a:t>
            </a:r>
            <a:r>
              <a:rPr lang="en-IN" b="0" i="0" dirty="0">
                <a:effectLst/>
                <a:latin typeface="Google Sans"/>
              </a:rPr>
              <a:t> &amp; Informatica (CWI) in the Netherlands. It was conceived as a successor to the ABC programming language, aiming to fix its limitations and appeal to Unix/C programmers.</a:t>
            </a:r>
          </a:p>
          <a:p>
            <a:pPr algn="l">
              <a:buFont typeface="Arial" panose="020B0604020202020204" pitchFamily="34" charset="0"/>
              <a:buChar char="•"/>
            </a:pPr>
            <a:r>
              <a:rPr lang="en-IN" b="1" i="0" dirty="0">
                <a:effectLst/>
                <a:latin typeface="Google Sans"/>
              </a:rPr>
              <a:t>The Name</a:t>
            </a:r>
            <a:r>
              <a:rPr lang="en-IN" b="0" i="0" dirty="0">
                <a:effectLst/>
                <a:latin typeface="Google Sans"/>
              </a:rPr>
              <a:t>: The name "</a:t>
            </a:r>
            <a:r>
              <a:rPr lang="en-IN" b="1" i="0" dirty="0">
                <a:effectLst/>
                <a:latin typeface="Google Sans"/>
              </a:rPr>
              <a:t>Python</a:t>
            </a:r>
            <a:r>
              <a:rPr lang="en-IN" b="0" i="0" dirty="0">
                <a:effectLst/>
                <a:latin typeface="Google Sans"/>
              </a:rPr>
              <a:t>" was inspired by the </a:t>
            </a:r>
            <a:r>
              <a:rPr lang="en-IN" b="1" i="0" dirty="0">
                <a:effectLst/>
                <a:latin typeface="Google Sans"/>
              </a:rPr>
              <a:t>British comedy series </a:t>
            </a:r>
            <a:r>
              <a:rPr lang="en-IN" b="1" i="1" dirty="0">
                <a:effectLst/>
                <a:latin typeface="Google Sans"/>
              </a:rPr>
              <a:t>Monty Python's Flying Circus</a:t>
            </a:r>
            <a:r>
              <a:rPr lang="en-IN" b="0" i="0" dirty="0">
                <a:effectLst/>
                <a:latin typeface="Google Sans"/>
              </a:rPr>
              <a:t>, of which van Rossum was a big fan, and it is not about the snake as the name suggests.</a:t>
            </a:r>
          </a:p>
          <a:p>
            <a:pPr algn="l">
              <a:buFont typeface="Arial" panose="020B0604020202020204" pitchFamily="34" charset="0"/>
              <a:buChar char="•"/>
            </a:pPr>
            <a:r>
              <a:rPr lang="en-IN" b="1" i="0" dirty="0">
                <a:effectLst/>
                <a:latin typeface="Google Sans"/>
              </a:rPr>
              <a:t>First Release (1991)</a:t>
            </a:r>
            <a:r>
              <a:rPr lang="en-IN" b="0" i="0" dirty="0">
                <a:effectLst/>
                <a:latin typeface="Google Sans"/>
              </a:rPr>
              <a:t>: Python 0.9.0 was published to the </a:t>
            </a:r>
            <a:r>
              <a:rPr lang="en-IN" b="0" i="0" dirty="0" err="1">
                <a:effectLst/>
                <a:latin typeface="Google Sans"/>
              </a:rPr>
              <a:t>alt.sources</a:t>
            </a:r>
            <a:r>
              <a:rPr lang="en-IN" b="0" i="0" dirty="0">
                <a:effectLst/>
                <a:latin typeface="Google Sans"/>
              </a:rPr>
              <a:t> Usenet group, featuring core data types like list and </a:t>
            </a:r>
            <a:r>
              <a:rPr lang="en-IN" b="0" i="0" dirty="0" err="1">
                <a:effectLst/>
                <a:latin typeface="Google Sans"/>
              </a:rPr>
              <a:t>dict</a:t>
            </a:r>
            <a:r>
              <a:rPr lang="en-IN" b="0" i="0" dirty="0">
                <a:effectLst/>
                <a:latin typeface="Google Sans"/>
              </a:rPr>
              <a:t>, classes with inheritance, and exception handling.</a:t>
            </a:r>
          </a:p>
          <a:p>
            <a:pPr algn="l">
              <a:buFont typeface="Arial" panose="020B0604020202020204" pitchFamily="34" charset="0"/>
              <a:buChar char="•"/>
            </a:pPr>
            <a:r>
              <a:rPr lang="en-IN" b="1" i="0" dirty="0">
                <a:effectLst/>
                <a:latin typeface="Google Sans"/>
              </a:rPr>
              <a:t>Python 1.0 (1994)</a:t>
            </a:r>
            <a:r>
              <a:rPr lang="en-IN" b="0" i="0" dirty="0">
                <a:effectLst/>
                <a:latin typeface="Google Sans"/>
              </a:rPr>
              <a:t>: This version included new features such as the lambda, map, filter, and reduce functions.</a:t>
            </a:r>
          </a:p>
          <a:p>
            <a:pPr algn="l">
              <a:buFont typeface="Arial" panose="020B0604020202020204" pitchFamily="34" charset="0"/>
              <a:buChar char="•"/>
            </a:pPr>
            <a:r>
              <a:rPr lang="en-IN" b="1" i="0" dirty="0">
                <a:effectLst/>
                <a:latin typeface="Google Sans"/>
              </a:rPr>
              <a:t>Python 2.0 (2000)</a:t>
            </a:r>
            <a:r>
              <a:rPr lang="en-IN" b="0" i="0" dirty="0">
                <a:effectLst/>
                <a:latin typeface="Google Sans"/>
              </a:rPr>
              <a:t>: A pivotal release that introduced significant new features including list comprehensions, a cycle-detecting garbage collector, and Unicode support.</a:t>
            </a:r>
          </a:p>
          <a:p>
            <a:endParaRPr lang="en-US" dirty="0"/>
          </a:p>
        </p:txBody>
      </p:sp>
    </p:spTree>
    <p:extLst>
      <p:ext uri="{BB962C8B-B14F-4D97-AF65-F5344CB8AC3E}">
        <p14:creationId xmlns:p14="http://schemas.microsoft.com/office/powerpoint/2010/main" val="561249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E28A-6002-7FF6-9792-F720E7357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F8B90-02D4-311F-2EEC-A7C5BCB3C1B1}"/>
              </a:ext>
            </a:extLst>
          </p:cNvPr>
          <p:cNvSpPr>
            <a:spLocks noGrp="1"/>
          </p:cNvSpPr>
          <p:nvPr>
            <p:ph type="title"/>
          </p:nvPr>
        </p:nvSpPr>
        <p:spPr/>
        <p:txBody>
          <a:bodyPr/>
          <a:lstStyle/>
          <a:p>
            <a:r>
              <a:rPr lang="en-IN" b="1" i="0" dirty="0">
                <a:effectLst/>
                <a:latin typeface="Google Sans"/>
              </a:rPr>
              <a:t>Key Milestones</a:t>
            </a:r>
            <a:endParaRPr lang="en-US" dirty="0"/>
          </a:p>
        </p:txBody>
      </p:sp>
      <p:sp>
        <p:nvSpPr>
          <p:cNvPr id="3" name="Content Placeholder 2">
            <a:extLst>
              <a:ext uri="{FF2B5EF4-FFF2-40B4-BE49-F238E27FC236}">
                <a16:creationId xmlns:a16="http://schemas.microsoft.com/office/drawing/2014/main" id="{007A055D-E846-E7AA-580C-B688821D868E}"/>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IN" b="1" i="0" dirty="0">
                <a:effectLst/>
                <a:latin typeface="Google Sans"/>
              </a:rPr>
              <a:t>Python 3.0 (2008)</a:t>
            </a:r>
            <a:r>
              <a:rPr lang="en-IN" b="0" i="0" dirty="0">
                <a:effectLst/>
                <a:latin typeface="Google Sans"/>
              </a:rPr>
              <a:t>: A major, backward-incompatible revision designed to remove redundant constructs and "fix" some of the language's fundamental design flaws that had accumulated over time. Key changes included making print a function and changing integer division </a:t>
            </a:r>
            <a:r>
              <a:rPr lang="en-IN" b="0" i="0" dirty="0" err="1">
                <a:effectLst/>
                <a:latin typeface="Google Sans"/>
              </a:rPr>
              <a:t>behavior</a:t>
            </a:r>
            <a:r>
              <a:rPr lang="en-IN" b="0" i="0" dirty="0">
                <a:effectLst/>
                <a:latin typeface="Google Sans"/>
              </a:rPr>
              <a:t>. The transition from Python 2 to 3 was a significant, multi-year community effort that concluded with Python 2.7's official end-of-life in 2020.</a:t>
            </a:r>
          </a:p>
          <a:p>
            <a:pPr algn="l">
              <a:buFont typeface="Arial" panose="020B0604020202020204" pitchFamily="34" charset="0"/>
              <a:buChar char="•"/>
            </a:pPr>
            <a:r>
              <a:rPr lang="en-IN" b="1" i="0" dirty="0">
                <a:effectLst/>
                <a:latin typeface="Google Sans"/>
              </a:rPr>
              <a:t>Governance Shift (2018)</a:t>
            </a:r>
            <a:r>
              <a:rPr lang="en-IN" b="0" i="0" dirty="0">
                <a:effectLst/>
                <a:latin typeface="Google Sans"/>
              </a:rPr>
              <a:t>: Guido van Rossum stepped down from his role as "Benevolent Dictator for Life" (BDFL), and a five-member Steering Council was elected by the core developers to lead the project's future development and direction.</a:t>
            </a:r>
          </a:p>
          <a:p>
            <a:pPr algn="l">
              <a:buFont typeface="Arial" panose="020B0604020202020204" pitchFamily="34" charset="0"/>
              <a:buChar char="•"/>
            </a:pPr>
            <a:r>
              <a:rPr lang="en-IN" b="1" i="0" dirty="0">
                <a:effectLst/>
                <a:latin typeface="Google Sans"/>
              </a:rPr>
              <a:t>Modern Era</a:t>
            </a:r>
            <a:r>
              <a:rPr lang="en-IN" b="0" i="0" dirty="0">
                <a:effectLst/>
                <a:latin typeface="Google Sans"/>
              </a:rPr>
              <a:t>: Python's popularity has soared, particularly in the last decade, becoming a dominant language for </a:t>
            </a:r>
            <a:r>
              <a:rPr lang="en-IN" b="1" i="0" dirty="0">
                <a:effectLst/>
                <a:latin typeface="Google Sans"/>
              </a:rPr>
              <a:t>data science, machine learning, and artificial intelligence</a:t>
            </a:r>
            <a:r>
              <a:rPr lang="en-IN" b="0" i="0" dirty="0">
                <a:effectLst/>
                <a:latin typeface="Google Sans"/>
              </a:rPr>
              <a:t>, supported by a rich ecosystem of libraries like TensorFlow, NumPy, and Pandas. It consistently ranks as one of the most popular programming languages worldwide. </a:t>
            </a:r>
          </a:p>
          <a:p>
            <a:endParaRPr lang="en-US" dirty="0"/>
          </a:p>
        </p:txBody>
      </p:sp>
    </p:spTree>
    <p:extLst>
      <p:ext uri="{BB962C8B-B14F-4D97-AF65-F5344CB8AC3E}">
        <p14:creationId xmlns:p14="http://schemas.microsoft.com/office/powerpoint/2010/main" val="3721483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4778-3C78-D3B2-A2C4-1B1B64F518F2}"/>
              </a:ext>
            </a:extLst>
          </p:cNvPr>
          <p:cNvSpPr>
            <a:spLocks noGrp="1"/>
          </p:cNvSpPr>
          <p:nvPr>
            <p:ph type="title"/>
          </p:nvPr>
        </p:nvSpPr>
        <p:spPr/>
        <p:txBody>
          <a:bodyPr/>
          <a:lstStyle/>
          <a:p>
            <a:r>
              <a:rPr lang="en-IN" b="1" i="0" dirty="0">
                <a:solidFill>
                  <a:srgbClr val="273239"/>
                </a:solidFill>
                <a:effectLst/>
                <a:latin typeface="Nunito" pitchFamily="2" charset="77"/>
              </a:rPr>
              <a:t>Popularity and Usage</a:t>
            </a:r>
            <a:endParaRPr lang="en-US" dirty="0"/>
          </a:p>
        </p:txBody>
      </p:sp>
      <p:sp>
        <p:nvSpPr>
          <p:cNvPr id="3" name="Content Placeholder 2">
            <a:extLst>
              <a:ext uri="{FF2B5EF4-FFF2-40B4-BE49-F238E27FC236}">
                <a16:creationId xmlns:a16="http://schemas.microsoft.com/office/drawing/2014/main" id="{785CA619-7FD8-4177-5E6F-1B9561165DD2}"/>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Python is widely used for:</a:t>
            </a:r>
          </a:p>
          <a:p>
            <a:pPr algn="l" fontAlgn="base">
              <a:buFont typeface="Arial" panose="020B0604020202020204" pitchFamily="34" charset="0"/>
              <a:buChar char="•"/>
            </a:pPr>
            <a:r>
              <a:rPr lang="en-IN" b="0" i="0" dirty="0">
                <a:solidFill>
                  <a:srgbClr val="273239"/>
                </a:solidFill>
                <a:effectLst/>
                <a:latin typeface="Nunito" pitchFamily="2" charset="77"/>
              </a:rPr>
              <a:t>Web development</a:t>
            </a:r>
          </a:p>
          <a:p>
            <a:pPr algn="l" fontAlgn="base">
              <a:buFont typeface="Arial" panose="020B0604020202020204" pitchFamily="34" charset="0"/>
              <a:buChar char="•"/>
            </a:pPr>
            <a:r>
              <a:rPr lang="en-IN" b="0" i="0" dirty="0">
                <a:solidFill>
                  <a:srgbClr val="273239"/>
                </a:solidFill>
                <a:effectLst/>
                <a:latin typeface="Nunito" pitchFamily="2" charset="77"/>
              </a:rPr>
              <a:t>Scripting and automation</a:t>
            </a:r>
          </a:p>
          <a:p>
            <a:pPr algn="l" fontAlgn="base">
              <a:buFont typeface="Arial" panose="020B0604020202020204" pitchFamily="34" charset="0"/>
              <a:buChar char="•"/>
            </a:pPr>
            <a:r>
              <a:rPr lang="en-IN" b="0" i="0" dirty="0">
                <a:solidFill>
                  <a:srgbClr val="273239"/>
                </a:solidFill>
                <a:effectLst/>
                <a:latin typeface="Nunito" pitchFamily="2" charset="77"/>
              </a:rPr>
              <a:t>Software testing</a:t>
            </a:r>
          </a:p>
          <a:p>
            <a:pPr algn="l" fontAlgn="base">
              <a:buFont typeface="Arial" panose="020B0604020202020204" pitchFamily="34" charset="0"/>
              <a:buChar char="•"/>
            </a:pPr>
            <a:r>
              <a:rPr lang="en-IN" b="0" i="0" dirty="0">
                <a:solidFill>
                  <a:srgbClr val="273239"/>
                </a:solidFill>
                <a:effectLst/>
                <a:latin typeface="Nunito" pitchFamily="2" charset="77"/>
              </a:rPr>
              <a:t>Data science and machine learning</a:t>
            </a:r>
          </a:p>
          <a:p>
            <a:endParaRPr lang="en-US" dirty="0"/>
          </a:p>
        </p:txBody>
      </p:sp>
    </p:spTree>
    <p:extLst>
      <p:ext uri="{BB962C8B-B14F-4D97-AF65-F5344CB8AC3E}">
        <p14:creationId xmlns:p14="http://schemas.microsoft.com/office/powerpoint/2010/main" val="2407517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86E7-CE65-FADC-3C59-7B1F28ECEB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08D6E7-5435-A690-67AF-C3C62C587425}"/>
              </a:ext>
            </a:extLst>
          </p:cNvPr>
          <p:cNvSpPr>
            <a:spLocks noGrp="1"/>
          </p:cNvSpPr>
          <p:nvPr>
            <p:ph idx="1"/>
          </p:nvPr>
        </p:nvSpPr>
        <p:spPr/>
        <p:txBody>
          <a:bodyPr>
            <a:noAutofit/>
          </a:bodyPr>
          <a:lstStyle/>
          <a:p>
            <a:pPr algn="l"/>
            <a:r>
              <a:rPr lang="en-IN" sz="2000" b="1" i="0" dirty="0">
                <a:solidFill>
                  <a:srgbClr val="05192D"/>
                </a:solidFill>
                <a:effectLst/>
                <a:latin typeface="Studio-Feixen-Sans"/>
              </a:rPr>
              <a:t>1. Python for data analysis</a:t>
            </a:r>
          </a:p>
          <a:p>
            <a:pPr algn="l"/>
            <a:r>
              <a:rPr lang="en-IN" sz="2000" b="1" i="0" dirty="0">
                <a:solidFill>
                  <a:srgbClr val="05192D"/>
                </a:solidFill>
                <a:effectLst/>
                <a:latin typeface="Studio-Feixen-Sans"/>
              </a:rPr>
              <a:t>2. Python for data visualization</a:t>
            </a:r>
          </a:p>
          <a:p>
            <a:pPr algn="l"/>
            <a:r>
              <a:rPr lang="en-IN" sz="2000" b="1" i="0" dirty="0">
                <a:solidFill>
                  <a:srgbClr val="05192D"/>
                </a:solidFill>
                <a:effectLst/>
                <a:latin typeface="Studio-Feixen-Sans"/>
              </a:rPr>
              <a:t>3. Python for machine learning</a:t>
            </a:r>
          </a:p>
          <a:p>
            <a:pPr algn="l"/>
            <a:r>
              <a:rPr lang="en-IN" sz="2000" b="1" i="0" dirty="0">
                <a:solidFill>
                  <a:srgbClr val="05192D"/>
                </a:solidFill>
                <a:effectLst/>
                <a:latin typeface="Studio-Feixen-Sans"/>
              </a:rPr>
              <a:t>4. Python in AI and deep learning</a:t>
            </a:r>
          </a:p>
          <a:p>
            <a:pPr algn="l"/>
            <a:r>
              <a:rPr lang="en-IN" sz="2000" b="1" i="0" dirty="0">
                <a:solidFill>
                  <a:srgbClr val="05192D"/>
                </a:solidFill>
                <a:effectLst/>
                <a:latin typeface="Studio-Feixen-Sans"/>
              </a:rPr>
              <a:t>5. Python for software development</a:t>
            </a:r>
          </a:p>
          <a:p>
            <a:pPr algn="l"/>
            <a:r>
              <a:rPr lang="en-IN" sz="2000" b="1" i="0" dirty="0">
                <a:solidFill>
                  <a:srgbClr val="05192D"/>
                </a:solidFill>
                <a:effectLst/>
                <a:latin typeface="Studio-Feixen-Sans"/>
              </a:rPr>
              <a:t>6. Python for web development</a:t>
            </a:r>
          </a:p>
          <a:p>
            <a:pPr algn="l"/>
            <a:r>
              <a:rPr lang="en-IN" sz="2000" b="1" i="0" dirty="0">
                <a:solidFill>
                  <a:srgbClr val="05192D"/>
                </a:solidFill>
                <a:effectLst/>
                <a:latin typeface="Studio-Feixen-Sans"/>
              </a:rPr>
              <a:t>7. Python for task automation and scripting</a:t>
            </a:r>
            <a:endParaRPr lang="en-IN" sz="2000" dirty="0"/>
          </a:p>
          <a:p>
            <a:pPr algn="l">
              <a:buFont typeface="Arial" panose="020B0604020202020204" pitchFamily="34" charset="0"/>
              <a:buChar char="•"/>
            </a:pPr>
            <a:r>
              <a:rPr lang="en-IN" sz="2000" b="0" i="0" dirty="0">
                <a:solidFill>
                  <a:srgbClr val="05192D"/>
                </a:solidFill>
                <a:effectLst/>
                <a:latin typeface="Studio-Feixen-Sans"/>
              </a:rPr>
              <a:t>Monitoring the stock market</a:t>
            </a:r>
          </a:p>
          <a:p>
            <a:pPr algn="l">
              <a:buFont typeface="Arial" panose="020B0604020202020204" pitchFamily="34" charset="0"/>
              <a:buChar char="•"/>
            </a:pPr>
            <a:r>
              <a:rPr lang="en-IN" sz="2000" b="0" i="0" dirty="0">
                <a:solidFill>
                  <a:srgbClr val="05192D"/>
                </a:solidFill>
                <a:effectLst/>
                <a:latin typeface="Studio-Feixen-Sans"/>
              </a:rPr>
              <a:t>Web scraping</a:t>
            </a:r>
          </a:p>
          <a:p>
            <a:pPr algn="l">
              <a:buFont typeface="Arial" panose="020B0604020202020204" pitchFamily="34" charset="0"/>
              <a:buChar char="•"/>
            </a:pPr>
            <a:r>
              <a:rPr lang="en-IN" sz="2000" b="0" i="0" dirty="0">
                <a:solidFill>
                  <a:srgbClr val="05192D"/>
                </a:solidFill>
                <a:effectLst/>
                <a:latin typeface="Studio-Feixen-Sans"/>
              </a:rPr>
              <a:t>Keeping updated a to-do list</a:t>
            </a:r>
          </a:p>
          <a:p>
            <a:pPr algn="l">
              <a:buFont typeface="Arial" panose="020B0604020202020204" pitchFamily="34" charset="0"/>
              <a:buChar char="•"/>
            </a:pPr>
            <a:r>
              <a:rPr lang="en-IN" sz="2000" b="0" i="0" dirty="0">
                <a:solidFill>
                  <a:srgbClr val="05192D"/>
                </a:solidFill>
                <a:effectLst/>
                <a:latin typeface="Studio-Feixen-Sans"/>
              </a:rPr>
              <a:t>Creating bots</a:t>
            </a:r>
          </a:p>
          <a:p>
            <a:pPr algn="l">
              <a:buFont typeface="Arial" panose="020B0604020202020204" pitchFamily="34" charset="0"/>
              <a:buChar char="•"/>
            </a:pPr>
            <a:r>
              <a:rPr lang="en-IN" sz="2000" b="0" i="0" dirty="0">
                <a:solidFill>
                  <a:srgbClr val="05192D"/>
                </a:solidFill>
                <a:effectLst/>
                <a:latin typeface="Studio-Feixen-Sans"/>
              </a:rPr>
              <a:t>Generating lists of </a:t>
            </a:r>
            <a:r>
              <a:rPr lang="en-IN" sz="2000" b="1" i="0" u="none" strike="noStrike" dirty="0">
                <a:solidFill>
                  <a:srgbClr val="0075AD"/>
                </a:solidFill>
                <a:effectLst/>
                <a:latin typeface="Studio-Feixen-Sans"/>
                <a:hlinkClick r:id="rId2"/>
              </a:rPr>
              <a:t>random</a:t>
            </a:r>
            <a:r>
              <a:rPr lang="en-IN" sz="2000" b="0" i="0" dirty="0">
                <a:solidFill>
                  <a:srgbClr val="05192D"/>
                </a:solidFill>
                <a:effectLst/>
                <a:latin typeface="Studio-Feixen-Sans"/>
              </a:rPr>
              <a:t> names, </a:t>
            </a:r>
            <a:r>
              <a:rPr lang="en-IN" sz="2000" b="0" i="0" dirty="0" err="1">
                <a:solidFill>
                  <a:srgbClr val="05192D"/>
                </a:solidFill>
                <a:effectLst/>
                <a:latin typeface="Studio-Feixen-Sans"/>
              </a:rPr>
              <a:t>colors</a:t>
            </a:r>
            <a:r>
              <a:rPr lang="en-IN" sz="2000" b="0" i="0" dirty="0">
                <a:solidFill>
                  <a:srgbClr val="05192D"/>
                </a:solidFill>
                <a:effectLst/>
                <a:latin typeface="Studio-Feixen-Sans"/>
              </a:rPr>
              <a:t>, phone numbers, currencies, etc.</a:t>
            </a:r>
            <a:endParaRPr lang="en-US" sz="2000" dirty="0"/>
          </a:p>
        </p:txBody>
      </p:sp>
    </p:spTree>
    <p:extLst>
      <p:ext uri="{BB962C8B-B14F-4D97-AF65-F5344CB8AC3E}">
        <p14:creationId xmlns:p14="http://schemas.microsoft.com/office/powerpoint/2010/main" val="1911735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3AA3-43DF-04AA-B919-EBFCF24F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189E8-50A2-E761-3A8B-5AC78CA97B1F}"/>
              </a:ext>
            </a:extLst>
          </p:cNvPr>
          <p:cNvSpPr>
            <a:spLocks noGrp="1"/>
          </p:cNvSpPr>
          <p:nvPr>
            <p:ph type="title"/>
          </p:nvPr>
        </p:nvSpPr>
        <p:spPr/>
        <p:txBody>
          <a:bodyPr/>
          <a:lstStyle/>
          <a:p>
            <a:r>
              <a:rPr lang="en-US" dirty="0"/>
              <a:t>Features of Python</a:t>
            </a:r>
          </a:p>
        </p:txBody>
      </p:sp>
      <p:sp>
        <p:nvSpPr>
          <p:cNvPr id="3" name="Content Placeholder 2">
            <a:extLst>
              <a:ext uri="{FF2B5EF4-FFF2-40B4-BE49-F238E27FC236}">
                <a16:creationId xmlns:a16="http://schemas.microsoft.com/office/drawing/2014/main" id="{65F8DCC4-BA29-7C1F-F3CD-EA9A6F637545}"/>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Simple and Easy to Learn</a:t>
            </a:r>
            <a:r>
              <a:rPr lang="en-IN" b="0" i="0" dirty="0">
                <a:effectLst/>
                <a:latin typeface="Google Sans"/>
              </a:rPr>
              <a:t>: Python's syntax is clean and often resembles everyday English, using indentation instead of semicolons or brackets to define code blocks.</a:t>
            </a:r>
          </a:p>
          <a:p>
            <a:pPr algn="l">
              <a:buFont typeface="Arial" panose="020B0604020202020204" pitchFamily="34" charset="0"/>
              <a:buChar char="•"/>
            </a:pPr>
            <a:r>
              <a:rPr lang="en-IN" b="1" i="0" dirty="0">
                <a:effectLst/>
                <a:latin typeface="Google Sans"/>
              </a:rPr>
              <a:t>Free and Open Source</a:t>
            </a:r>
            <a:r>
              <a:rPr lang="en-IN" b="0" i="0" dirty="0">
                <a:effectLst/>
                <a:latin typeface="Google Sans"/>
              </a:rPr>
              <a:t>: The Python interpreter and extensive standard library are freely available for use, modification, and distribution, even for commercial purposes.</a:t>
            </a:r>
          </a:p>
          <a:p>
            <a:pPr algn="l">
              <a:buFont typeface="Arial" panose="020B0604020202020204" pitchFamily="34" charset="0"/>
              <a:buChar char="•"/>
            </a:pPr>
            <a:r>
              <a:rPr lang="en-IN" b="1" i="0" dirty="0">
                <a:effectLst/>
                <a:latin typeface="Google Sans"/>
              </a:rPr>
              <a:t>Interpreted Language</a:t>
            </a:r>
            <a:r>
              <a:rPr lang="en-IN" b="0" i="0" dirty="0">
                <a:effectLst/>
                <a:latin typeface="Google Sans"/>
              </a:rPr>
              <a:t>: Python code is executed line by line at runtime rather than being compiled all at once, which facilitates rapid prototyping and easier debugging.</a:t>
            </a:r>
          </a:p>
          <a:p>
            <a:pPr algn="l">
              <a:buFont typeface="Arial" panose="020B0604020202020204" pitchFamily="34" charset="0"/>
              <a:buChar char="•"/>
            </a:pPr>
            <a:r>
              <a:rPr lang="en-IN" b="1" i="0" dirty="0">
                <a:effectLst/>
                <a:latin typeface="Google Sans"/>
              </a:rPr>
              <a:t>Dynamically Typed</a:t>
            </a:r>
            <a:r>
              <a:rPr lang="en-IN" b="0" i="0" dirty="0">
                <a:effectLst/>
                <a:latin typeface="Google Sans"/>
              </a:rPr>
              <a:t>: Developers do not need to explicitly declare variable types (like int or string); the interpreter determines the type at runtime, which saves time and provides flexibility.</a:t>
            </a:r>
          </a:p>
          <a:p>
            <a:pPr algn="l">
              <a:buFont typeface="Arial" panose="020B0604020202020204" pitchFamily="34" charset="0"/>
              <a:buChar char="•"/>
            </a:pPr>
            <a:r>
              <a:rPr lang="en-IN" b="1" i="0" dirty="0">
                <a:effectLst/>
                <a:latin typeface="Google Sans"/>
              </a:rPr>
              <a:t>High-Level Language</a:t>
            </a:r>
            <a:r>
              <a:rPr lang="en-IN" b="0" i="0" dirty="0">
                <a:effectLst/>
                <a:latin typeface="Google Sans"/>
              </a:rPr>
              <a:t>: Python abstracts away low-level system details like memory management and hardware interactions, allowing programmers to focus on problem-solving logic.</a:t>
            </a:r>
          </a:p>
          <a:p>
            <a:pPr algn="l">
              <a:buFont typeface="Arial" panose="020B0604020202020204" pitchFamily="34" charset="0"/>
              <a:buChar char="•"/>
            </a:pPr>
            <a:r>
              <a:rPr lang="en-IN" b="1" i="0" dirty="0">
                <a:effectLst/>
                <a:latin typeface="Google Sans"/>
              </a:rPr>
              <a:t>Object-Oriented Programming (OOP) Support</a:t>
            </a:r>
            <a:r>
              <a:rPr lang="en-IN" b="0" i="0" dirty="0">
                <a:effectLst/>
                <a:latin typeface="Google Sans"/>
              </a:rPr>
              <a:t>: Python supports OOP concepts such as classes, objects, inheritance, and polymorphism, enabling developers to build modular and reusable code.</a:t>
            </a:r>
          </a:p>
        </p:txBody>
      </p:sp>
    </p:spTree>
    <p:extLst>
      <p:ext uri="{BB962C8B-B14F-4D97-AF65-F5344CB8AC3E}">
        <p14:creationId xmlns:p14="http://schemas.microsoft.com/office/powerpoint/2010/main" val="1817580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68FD-7613-B7C1-59B7-32FBFD4E093A}"/>
              </a:ext>
            </a:extLst>
          </p:cNvPr>
          <p:cNvSpPr>
            <a:spLocks noGrp="1"/>
          </p:cNvSpPr>
          <p:nvPr>
            <p:ph type="title"/>
          </p:nvPr>
        </p:nvSpPr>
        <p:spPr/>
        <p:txBody>
          <a:bodyPr/>
          <a:lstStyle/>
          <a:p>
            <a:r>
              <a:rPr lang="en-US" dirty="0"/>
              <a:t>Features of Python</a:t>
            </a:r>
          </a:p>
        </p:txBody>
      </p:sp>
      <p:sp>
        <p:nvSpPr>
          <p:cNvPr id="3" name="Content Placeholder 2">
            <a:extLst>
              <a:ext uri="{FF2B5EF4-FFF2-40B4-BE49-F238E27FC236}">
                <a16:creationId xmlns:a16="http://schemas.microsoft.com/office/drawing/2014/main" id="{D8679EA5-93D2-7AF0-A7AE-F14A83105572}"/>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IN" sz="2400" b="1" i="0" dirty="0">
                <a:effectLst/>
                <a:latin typeface="Google Sans"/>
              </a:rPr>
              <a:t>Large Standard Library and Robust Ecosystem</a:t>
            </a:r>
            <a:r>
              <a:rPr lang="en-IN" sz="2400" b="0" i="0" dirty="0">
                <a:effectLst/>
                <a:latin typeface="Google Sans"/>
              </a:rPr>
              <a:t>: Python comes with a vast collection of built-in modules and functions, so developers don't have to write code from scratch for every task. Beyond that, a massive third-party library ecosystem (accessible via the Python Package Index, or </a:t>
            </a:r>
            <a:r>
              <a:rPr lang="en-IN" sz="2400" b="0" i="0" dirty="0" err="1">
                <a:effectLst/>
                <a:latin typeface="Google Sans"/>
              </a:rPr>
              <a:t>PyPI</a:t>
            </a:r>
            <a:r>
              <a:rPr lang="en-IN" sz="2400" b="0" i="0" dirty="0">
                <a:effectLst/>
                <a:latin typeface="Google Sans"/>
              </a:rPr>
              <a:t>) supports diverse applications in fields like data science (NumPy, Pandas), web development (Django, Flask), and machine learning (TensorFlow, </a:t>
            </a:r>
            <a:r>
              <a:rPr lang="en-IN" sz="2400" b="0" i="0" dirty="0" err="1">
                <a:effectLst/>
                <a:latin typeface="Google Sans"/>
              </a:rPr>
              <a:t>PyTorch</a:t>
            </a:r>
            <a:r>
              <a:rPr lang="en-IN" sz="2400" b="0" i="0" dirty="0">
                <a:effectLst/>
                <a:latin typeface="Google Sans"/>
              </a:rPr>
              <a:t>).</a:t>
            </a:r>
          </a:p>
          <a:p>
            <a:pPr algn="l">
              <a:buFont typeface="Arial" panose="020B0604020202020204" pitchFamily="34" charset="0"/>
              <a:buChar char="•"/>
            </a:pPr>
            <a:r>
              <a:rPr lang="en-IN" sz="2400" b="1" i="0" dirty="0">
                <a:effectLst/>
                <a:latin typeface="Google Sans"/>
              </a:rPr>
              <a:t>Cross-Platform Compatibility</a:t>
            </a:r>
            <a:r>
              <a:rPr lang="en-IN" sz="2400" b="0" i="0" dirty="0">
                <a:effectLst/>
                <a:latin typeface="Google Sans"/>
              </a:rPr>
              <a:t>: Python code can run on major operating systems like Windows, macOS, and Linux with minimal or no modification, making it a portable language.</a:t>
            </a:r>
          </a:p>
          <a:p>
            <a:pPr algn="l">
              <a:buFont typeface="Arial" panose="020B0604020202020204" pitchFamily="34" charset="0"/>
              <a:buChar char="•"/>
            </a:pPr>
            <a:r>
              <a:rPr lang="en-IN" sz="2400" b="1" i="0" dirty="0">
                <a:effectLst/>
                <a:latin typeface="Google Sans"/>
              </a:rPr>
              <a:t>Extensible and Embeddable</a:t>
            </a:r>
            <a:r>
              <a:rPr lang="en-IN" sz="2400" b="0" i="0" dirty="0">
                <a:effectLst/>
                <a:latin typeface="Google Sans"/>
              </a:rPr>
              <a:t>: Python's capabilities can be enhanced by integrating modules written in other languages like C or C++, and Python code can be embedded within other applications to provide scripting capabilities.</a:t>
            </a:r>
          </a:p>
          <a:p>
            <a:pPr algn="l">
              <a:buFont typeface="Arial" panose="020B0604020202020204" pitchFamily="34" charset="0"/>
              <a:buChar char="•"/>
            </a:pPr>
            <a:r>
              <a:rPr lang="en-IN" sz="2400" b="1" i="0" dirty="0">
                <a:effectLst/>
                <a:latin typeface="Google Sans"/>
              </a:rPr>
              <a:t>Extensive Community Support</a:t>
            </a:r>
            <a:r>
              <a:rPr lang="en-IN" sz="2400" b="0" i="0" dirty="0">
                <a:effectLst/>
                <a:latin typeface="Google Sans"/>
              </a:rPr>
              <a:t>: A large and active community provides abundant resources, tutorials, forums, and ongoing improvements to the language, making help readily available. </a:t>
            </a:r>
          </a:p>
          <a:p>
            <a:pPr algn="l"/>
            <a:r>
              <a:rPr lang="en-IN" sz="2400" b="0" i="0" dirty="0">
                <a:effectLst/>
                <a:latin typeface="Google Sans"/>
              </a:rPr>
              <a:t>These features collectively make Python a versatile and powerful language used in a wide range of real-world applications, from powering backend services for tech giants like Netflix and Google to automating everyday tasks. </a:t>
            </a:r>
          </a:p>
        </p:txBody>
      </p:sp>
    </p:spTree>
    <p:extLst>
      <p:ext uri="{BB962C8B-B14F-4D97-AF65-F5344CB8AC3E}">
        <p14:creationId xmlns:p14="http://schemas.microsoft.com/office/powerpoint/2010/main" val="259586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B4FE8-E188-B15A-FAAA-C783DDBE39F4}"/>
              </a:ext>
            </a:extLst>
          </p:cNvPr>
          <p:cNvSpPr>
            <a:spLocks noGrp="1"/>
          </p:cNvSpPr>
          <p:nvPr>
            <p:ph type="title"/>
          </p:nvPr>
        </p:nvSpPr>
        <p:spPr/>
        <p:txBody>
          <a:bodyPr/>
          <a:lstStyle/>
          <a:p>
            <a:pPr algn="l"/>
            <a:r>
              <a:rPr lang="en-IN" b="0" i="0" dirty="0">
                <a:effectLst/>
                <a:latin typeface="Google Sans"/>
              </a:rPr>
              <a:t>Key limitations of Python</a:t>
            </a:r>
          </a:p>
        </p:txBody>
      </p:sp>
      <p:sp>
        <p:nvSpPr>
          <p:cNvPr id="3" name="Content Placeholder 2">
            <a:extLst>
              <a:ext uri="{FF2B5EF4-FFF2-40B4-BE49-F238E27FC236}">
                <a16:creationId xmlns:a16="http://schemas.microsoft.com/office/drawing/2014/main" id="{64DE199D-68F7-47DC-9E0D-FE9916EB5393}"/>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Google Sans"/>
              </a:rPr>
              <a:t>Speed Limitations</a:t>
            </a:r>
            <a:r>
              <a:rPr lang="en-IN" b="0" i="0" dirty="0">
                <a:effectLst/>
                <a:latin typeface="Google Sans"/>
              </a:rPr>
              <a:t>: Python is an interpreted language, meaning code is executed line-by-line at runtime, which makes it slower than compiled languages like C++ or Java. This can be a bottleneck for applications that require high performance, such as video games or real-time systems.</a:t>
            </a:r>
          </a:p>
          <a:p>
            <a:pPr algn="l">
              <a:buFont typeface="Arial" panose="020B0604020202020204" pitchFamily="34" charset="0"/>
              <a:buChar char="•"/>
            </a:pPr>
            <a:r>
              <a:rPr lang="en-IN" b="1" i="0" dirty="0">
                <a:effectLst/>
                <a:latin typeface="Google Sans"/>
              </a:rPr>
              <a:t>High Memory Consumption</a:t>
            </a:r>
            <a:r>
              <a:rPr lang="en-IN" b="0" i="0" dirty="0">
                <a:effectLst/>
                <a:latin typeface="Google Sans"/>
              </a:rPr>
              <a:t>: Python's object-oriented nature and flexible data structures lead to higher memory usage compared to other languages. This makes it less suitable for memory-limited environments like embedded systems or mobile devices.</a:t>
            </a:r>
          </a:p>
          <a:p>
            <a:pPr algn="l">
              <a:buFont typeface="Arial" panose="020B0604020202020204" pitchFamily="34" charset="0"/>
              <a:buChar char="•"/>
            </a:pPr>
            <a:r>
              <a:rPr lang="en-IN" b="1" i="0" dirty="0">
                <a:effectLst/>
                <a:latin typeface="Google Sans"/>
              </a:rPr>
              <a:t>Weak Mobile Computing and Browser Support</a:t>
            </a:r>
            <a:r>
              <a:rPr lang="en-IN" b="0" i="0" dirty="0">
                <a:effectLst/>
                <a:latin typeface="Google Sans"/>
              </a:rPr>
              <a:t>: Python is not natively supported by web browsers (unlike JavaScript) and is generally not an ideal choice for mobile app development. Languages like Swift (iOS) and Kotlin (Android) are preferred for native mobile applications due to better performance and more mature frameworks.</a:t>
            </a:r>
          </a:p>
          <a:p>
            <a:pPr algn="l">
              <a:buFont typeface="Arial" panose="020B0604020202020204" pitchFamily="34" charset="0"/>
              <a:buChar char="•"/>
            </a:pPr>
            <a:r>
              <a:rPr lang="en-IN" b="1" i="0" dirty="0">
                <a:effectLst/>
                <a:latin typeface="Google Sans"/>
              </a:rPr>
              <a:t>Global Interpreter Lock (GIL)</a:t>
            </a:r>
            <a:r>
              <a:rPr lang="en-IN" b="0" i="0" dirty="0">
                <a:effectLst/>
                <a:latin typeface="Google Sans"/>
              </a:rPr>
              <a:t>: The default </a:t>
            </a:r>
            <a:r>
              <a:rPr lang="en-IN" b="0" i="0" dirty="0" err="1">
                <a:effectLst/>
                <a:latin typeface="Google Sans"/>
              </a:rPr>
              <a:t>CPython</a:t>
            </a:r>
            <a:r>
              <a:rPr lang="en-IN" b="0" i="0" dirty="0">
                <a:effectLst/>
                <a:latin typeface="Google Sans"/>
              </a:rPr>
              <a:t> implementation uses a GIL, which prevents multiple native threads from executing Python bytecodes simultaneously within the same process. This limits the true parallelism of multi-threaded programs for CPU-bound tasks, although multiprocessing can be used as a workaround.</a:t>
            </a:r>
          </a:p>
          <a:p>
            <a:pPr algn="l">
              <a:buFont typeface="Arial" panose="020B0604020202020204" pitchFamily="34" charset="0"/>
              <a:buChar char="•"/>
            </a:pPr>
            <a:r>
              <a:rPr lang="en-IN" b="1" i="0" dirty="0">
                <a:effectLst/>
                <a:latin typeface="Google Sans"/>
              </a:rPr>
              <a:t>Runtime Errors</a:t>
            </a:r>
            <a:r>
              <a:rPr lang="en-IN" b="0" i="0" dirty="0">
                <a:effectLst/>
                <a:latin typeface="Google Sans"/>
              </a:rPr>
              <a:t>: As a dynamically typed language, Python does not require variable types to be explicitly declared, and type checks are performed at runtime. This means that some errors that would be caught during compilation in statically typed languages can only be found during program execution, requiring more thorough testing.</a:t>
            </a:r>
          </a:p>
          <a:p>
            <a:pPr algn="l">
              <a:buFont typeface="Arial" panose="020B0604020202020204" pitchFamily="34" charset="0"/>
              <a:buChar char="•"/>
            </a:pPr>
            <a:r>
              <a:rPr lang="en-IN" b="1" i="0" dirty="0">
                <a:effectLst/>
                <a:latin typeface="Google Sans"/>
              </a:rPr>
              <a:t>Underdeveloped Database Access Layers</a:t>
            </a:r>
            <a:r>
              <a:rPr lang="en-IN" b="0" i="0" dirty="0">
                <a:effectLst/>
                <a:latin typeface="Google Sans"/>
              </a:rPr>
              <a:t>: Compared to other technologies like JDBC and ODBC, Python's database access layers are sometimes considered primitive or less developed, which can pose challenges for applications requiring complex, high-volume database interactions.</a:t>
            </a:r>
          </a:p>
          <a:p>
            <a:pPr algn="l">
              <a:buFont typeface="Arial" panose="020B0604020202020204" pitchFamily="34" charset="0"/>
              <a:buChar char="•"/>
            </a:pPr>
            <a:r>
              <a:rPr lang="en-IN" b="1" i="0" dirty="0">
                <a:effectLst/>
                <a:latin typeface="Google Sans"/>
              </a:rPr>
              <a:t>Package Management Complexity</a:t>
            </a:r>
            <a:r>
              <a:rPr lang="en-IN" b="0" i="0" dirty="0">
                <a:effectLst/>
                <a:latin typeface="Google Sans"/>
              </a:rPr>
              <a:t>: While Python has a vast ecosystem of third-party libraries, managing dependencies and resolving version conflicts can sometimes be cumbersome in large projects. </a:t>
            </a:r>
          </a:p>
          <a:p>
            <a:endParaRPr lang="en-US" dirty="0"/>
          </a:p>
        </p:txBody>
      </p:sp>
    </p:spTree>
    <p:extLst>
      <p:ext uri="{BB962C8B-B14F-4D97-AF65-F5344CB8AC3E}">
        <p14:creationId xmlns:p14="http://schemas.microsoft.com/office/powerpoint/2010/main" val="96528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DB63-A950-34AC-9186-3A7FE8E917DF}"/>
              </a:ext>
            </a:extLst>
          </p:cNvPr>
          <p:cNvSpPr>
            <a:spLocks noGrp="1"/>
          </p:cNvSpPr>
          <p:nvPr>
            <p:ph type="title"/>
          </p:nvPr>
        </p:nvSpPr>
        <p:spPr/>
        <p:txBody>
          <a:bodyPr/>
          <a:lstStyle/>
          <a:p>
            <a:r>
              <a:rPr lang="en-US" dirty="0"/>
              <a:t>Python Virtual Machine</a:t>
            </a:r>
          </a:p>
        </p:txBody>
      </p:sp>
      <p:sp>
        <p:nvSpPr>
          <p:cNvPr id="3" name="Content Placeholder 2">
            <a:extLst>
              <a:ext uri="{FF2B5EF4-FFF2-40B4-BE49-F238E27FC236}">
                <a16:creationId xmlns:a16="http://schemas.microsoft.com/office/drawing/2014/main" id="{F507594F-6095-D0AD-4127-12896BE4E98D}"/>
              </a:ext>
            </a:extLst>
          </p:cNvPr>
          <p:cNvSpPr>
            <a:spLocks noGrp="1"/>
          </p:cNvSpPr>
          <p:nvPr>
            <p:ph idx="1"/>
          </p:nvPr>
        </p:nvSpPr>
        <p:spPr/>
        <p:txBody>
          <a:bodyPr>
            <a:normAutofit fontScale="92500" lnSpcReduction="10000"/>
          </a:bodyPr>
          <a:lstStyle/>
          <a:p>
            <a:pPr algn="l"/>
            <a:r>
              <a:rPr lang="en-IN" sz="1600" b="0" i="0" dirty="0">
                <a:effectLst/>
                <a:latin typeface="Google Sans"/>
              </a:rPr>
              <a:t>The Python Virtual Machine (PVM) is the runtime engine of the Python programming language that executes platform-independent </a:t>
            </a:r>
            <a:r>
              <a:rPr lang="en-IN" sz="1600" b="1" i="0" dirty="0">
                <a:effectLst/>
                <a:latin typeface="Google Sans"/>
              </a:rPr>
              <a:t>bytecode</a:t>
            </a:r>
            <a:r>
              <a:rPr lang="en-IN" sz="1600" b="0" i="0" dirty="0">
                <a:effectLst/>
                <a:latin typeface="Google Sans"/>
              </a:rPr>
              <a:t> using a </a:t>
            </a:r>
            <a:r>
              <a:rPr lang="en-IN" sz="1600" b="1" i="0" dirty="0">
                <a:effectLst/>
                <a:latin typeface="Google Sans"/>
              </a:rPr>
              <a:t>stack-based architecture</a:t>
            </a:r>
            <a:r>
              <a:rPr lang="en-IN" sz="1600" b="0" i="0" dirty="0">
                <a:effectLst/>
                <a:latin typeface="Google Sans"/>
              </a:rPr>
              <a:t>. </a:t>
            </a:r>
          </a:p>
          <a:p>
            <a:pPr algn="l" rtl="0"/>
            <a:r>
              <a:rPr lang="en-IN" sz="1600" b="0" i="0" dirty="0">
                <a:effectLst/>
                <a:latin typeface="Google Sans"/>
              </a:rPr>
              <a:t>The primary components of the PVM architecture and its execution process are:</a:t>
            </a:r>
          </a:p>
          <a:p>
            <a:pPr algn="l" rtl="0">
              <a:buFont typeface="Arial" panose="020B0604020202020204" pitchFamily="34" charset="0"/>
              <a:buChar char="•"/>
            </a:pPr>
            <a:r>
              <a:rPr lang="en-IN" sz="1600" b="1" i="0" dirty="0">
                <a:effectLst/>
                <a:latin typeface="Google Sans"/>
              </a:rPr>
              <a:t>Bytecode Compiler</a:t>
            </a:r>
            <a:r>
              <a:rPr lang="en-IN" sz="1600" b="0" i="0" dirty="0">
                <a:effectLst/>
                <a:latin typeface="Google Sans"/>
              </a:rPr>
              <a:t>: When Python source code (.</a:t>
            </a:r>
            <a:r>
              <a:rPr lang="en-IN" sz="1600" b="0" i="0" dirty="0" err="1">
                <a:effectLst/>
                <a:latin typeface="Google Sans"/>
              </a:rPr>
              <a:t>py</a:t>
            </a:r>
            <a:r>
              <a:rPr lang="en-IN" sz="1600" b="0" i="0" dirty="0">
                <a:effectLst/>
                <a:latin typeface="Google Sans"/>
              </a:rPr>
              <a:t> file) is run, the compiler first translates it into a low-level, platform-independent intermediate representation called bytecode. These instructions are cached in .</a:t>
            </a:r>
            <a:r>
              <a:rPr lang="en-IN" sz="1600" b="0" i="0" dirty="0" err="1">
                <a:effectLst/>
                <a:latin typeface="Google Sans"/>
              </a:rPr>
              <a:t>pyc</a:t>
            </a:r>
            <a:r>
              <a:rPr lang="en-IN" sz="1600" b="0" i="0" dirty="0">
                <a:effectLst/>
                <a:latin typeface="Google Sans"/>
              </a:rPr>
              <a:t> files.</a:t>
            </a:r>
          </a:p>
          <a:p>
            <a:pPr algn="l" rtl="0">
              <a:buFont typeface="Arial" panose="020B0604020202020204" pitchFamily="34" charset="0"/>
              <a:buChar char="•"/>
            </a:pPr>
            <a:r>
              <a:rPr lang="en-IN" sz="1600" b="1" i="0" dirty="0">
                <a:effectLst/>
                <a:latin typeface="Google Sans"/>
              </a:rPr>
              <a:t>Memory Management</a:t>
            </a:r>
            <a:r>
              <a:rPr lang="en-IN" sz="1600" b="0" i="0" dirty="0">
                <a:effectLst/>
                <a:latin typeface="Google Sans"/>
              </a:rPr>
              <a:t>: The PVM manages memory dynamically, including memory allocation and an automatic garbage collector that reclaims unused memory.</a:t>
            </a:r>
          </a:p>
          <a:p>
            <a:pPr algn="l" rtl="0">
              <a:buFont typeface="Arial" panose="020B0604020202020204" pitchFamily="34" charset="0"/>
              <a:buChar char="•"/>
            </a:pPr>
            <a:r>
              <a:rPr lang="en-IN" sz="1600" b="1" i="0" dirty="0">
                <a:effectLst/>
                <a:latin typeface="Google Sans"/>
              </a:rPr>
              <a:t>Stack-based Execution Engine (Interpreter Loop)</a:t>
            </a:r>
            <a:r>
              <a:rPr lang="en-IN" sz="1600" b="0" i="0" dirty="0">
                <a:effectLst/>
                <a:latin typeface="Google Sans"/>
              </a:rPr>
              <a:t>: The core of the PVM is the interpreter loop, which fetches, decodes, and executes the bytecode instructions sequentially. It is a stack-based machine, meaning it uses a value stack to store and retrieve intermediate values, operands, and results during computations.</a:t>
            </a:r>
          </a:p>
          <a:p>
            <a:pPr algn="l" rtl="0">
              <a:buFont typeface="Arial" panose="020B0604020202020204" pitchFamily="34" charset="0"/>
              <a:buChar char="•"/>
            </a:pPr>
            <a:r>
              <a:rPr lang="en-IN" sz="1600" b="1" i="0" dirty="0">
                <a:effectLst/>
                <a:latin typeface="Google Sans"/>
              </a:rPr>
              <a:t>Frame Objects</a:t>
            </a:r>
            <a:r>
              <a:rPr lang="en-IN" sz="1600" b="0" i="0" dirty="0">
                <a:effectLst/>
                <a:latin typeface="Google Sans"/>
              </a:rPr>
              <a:t>: The PVM uses frame objects to manage the runtime environment of a function call, including references to local and global variables, the code object of the function, and the current instruction pointer.</a:t>
            </a:r>
          </a:p>
          <a:p>
            <a:pPr algn="l" rtl="0">
              <a:buFont typeface="Arial" panose="020B0604020202020204" pitchFamily="34" charset="0"/>
              <a:buChar char="•"/>
            </a:pPr>
            <a:r>
              <a:rPr lang="en-IN" sz="1600" b="1" i="0" dirty="0">
                <a:effectLst/>
                <a:latin typeface="Google Sans"/>
              </a:rPr>
              <a:t>Python Object Model and Standard Library</a:t>
            </a:r>
            <a:r>
              <a:rPr lang="en-IN" sz="1600" b="0" i="0" dirty="0">
                <a:effectLst/>
                <a:latin typeface="Google Sans"/>
              </a:rPr>
              <a:t>: The PVM maintains the Python object model for all data types (integers, strings, lists, etc.) and interacts with Python's extensive standard library during execution. </a:t>
            </a:r>
          </a:p>
          <a:p>
            <a:pPr algn="l" rtl="0"/>
            <a:r>
              <a:rPr lang="en-IN" sz="1600" b="0" i="0" dirty="0">
                <a:effectLst/>
                <a:latin typeface="Google Sans"/>
              </a:rPr>
              <a:t>This architecture provides Python with its key advantage of cross-platform compatibility: the same bytecode can run on any system that has a compatible PVM installed. The most common implementation of the PVM is part of </a:t>
            </a:r>
            <a:r>
              <a:rPr lang="en-IN" sz="1600" b="0" i="0" dirty="0">
                <a:effectLst/>
                <a:latin typeface="Google Sans"/>
                <a:hlinkClick r:id="rId2">
                  <a:extLst>
                    <a:ext uri="{A12FA001-AC4F-418D-AE19-62706E023703}">
                      <ahyp:hlinkClr xmlns:ahyp="http://schemas.microsoft.com/office/drawing/2018/hyperlinkcolor" val="tx"/>
                    </a:ext>
                  </a:extLst>
                </a:hlinkClick>
              </a:rPr>
              <a:t>CPython</a:t>
            </a:r>
            <a:r>
              <a:rPr lang="en-IN" sz="1600" b="0" i="0" dirty="0">
                <a:effectLst/>
                <a:latin typeface="Google Sans"/>
              </a:rPr>
              <a:t>, the reference implementation of Python. </a:t>
            </a:r>
            <a:endParaRPr lang="en-US" sz="1600" dirty="0"/>
          </a:p>
        </p:txBody>
      </p:sp>
    </p:spTree>
    <p:extLst>
      <p:ext uri="{BB962C8B-B14F-4D97-AF65-F5344CB8AC3E}">
        <p14:creationId xmlns:p14="http://schemas.microsoft.com/office/powerpoint/2010/main" val="576166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3F157-0A5E-ED07-DB8D-651C63B4AD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1FD23E-3ECA-2D3B-D81E-0566E7C1F0FE}"/>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4546B54E-7FDA-99CA-7592-97C5AA7E76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090" y="14288"/>
            <a:ext cx="11163300" cy="3352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D3770F2C-7996-29C5-0F9A-17415B5DA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940" y="2757920"/>
            <a:ext cx="10515599" cy="3553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61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ADE4-36AC-16D4-898E-F8CC2718AD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1AFD80-F50A-0DE3-390B-4D862D779699}"/>
              </a:ext>
            </a:extLst>
          </p:cNvPr>
          <p:cNvSpPr>
            <a:spLocks noGrp="1"/>
          </p:cNvSpPr>
          <p:nvPr>
            <p:ph idx="1"/>
          </p:nvPr>
        </p:nvSpPr>
        <p:spPr/>
        <p:txBody>
          <a:bodyPr>
            <a:normAutofit fontScale="92500" lnSpcReduction="20000"/>
          </a:bodyPr>
          <a:lstStyle/>
          <a:p>
            <a:pPr algn="l" rtl="0" fontAlgn="base"/>
            <a:r>
              <a:rPr lang="en-IN" b="0" i="0" dirty="0">
                <a:solidFill>
                  <a:srgbClr val="273239"/>
                </a:solidFill>
                <a:effectLst/>
                <a:latin typeface="Nunito" pitchFamily="2" charset="77"/>
              </a:rPr>
              <a:t>The Python Virtual Machine (VM) is a crucial component of the Python runtime environment. It executes Python bytecode, which is generated from Python source code or intermediate representations like Abstract Syntax Trees (ASTs). </a:t>
            </a:r>
          </a:p>
          <a:p>
            <a:pPr algn="l" rtl="0" fontAlgn="base"/>
            <a:r>
              <a:rPr lang="en-IN" b="0" i="0" dirty="0">
                <a:solidFill>
                  <a:srgbClr val="273239"/>
                </a:solidFill>
                <a:effectLst/>
                <a:latin typeface="Nunito" pitchFamily="2" charset="77"/>
              </a:rPr>
              <a:t>The Python Virtual Machine, often referred to as the </a:t>
            </a:r>
            <a:r>
              <a:rPr lang="en-IN" b="0" i="0" u="sng" dirty="0">
                <a:solidFill>
                  <a:srgbClr val="357960"/>
                </a:solidFill>
                <a:effectLst/>
                <a:latin typeface="Nunito" pitchFamily="2" charset="77"/>
                <a:hlinkClick r:id="rId2"/>
              </a:rPr>
              <a:t>Python</a:t>
            </a:r>
            <a:r>
              <a:rPr lang="en-IN" b="0" i="0" dirty="0">
                <a:solidFill>
                  <a:srgbClr val="273239"/>
                </a:solidFill>
                <a:effectLst/>
                <a:latin typeface="Nunito" pitchFamily="2" charset="77"/>
              </a:rPr>
              <a:t> interpreter, is responsible for executing Python code. It serves as an abstraction layer between the Python bytecode and the underlying hardware, providing a consistent environment for running Python programs across different platforms. The Python VM is implemented in </a:t>
            </a:r>
            <a:r>
              <a:rPr lang="en-IN" b="0" i="0" u="sng" dirty="0">
                <a:solidFill>
                  <a:srgbClr val="357960"/>
                </a:solidFill>
                <a:effectLst/>
                <a:latin typeface="Nunito" pitchFamily="2" charset="77"/>
                <a:hlinkClick r:id="rId3"/>
              </a:rPr>
              <a:t>CPython</a:t>
            </a:r>
            <a:r>
              <a:rPr lang="en-IN" b="0" i="0" dirty="0">
                <a:solidFill>
                  <a:srgbClr val="273239"/>
                </a:solidFill>
                <a:effectLst/>
                <a:latin typeface="Nunito" pitchFamily="2" charset="77"/>
              </a:rPr>
              <a:t>, the reference implementation of Python.</a:t>
            </a:r>
            <a:br>
              <a:rPr lang="en-IN" dirty="0"/>
            </a:br>
            <a:br>
              <a:rPr lang="en-IN" dirty="0"/>
            </a:br>
            <a:endParaRPr lang="en-US" dirty="0"/>
          </a:p>
        </p:txBody>
      </p:sp>
    </p:spTree>
    <p:extLst>
      <p:ext uri="{BB962C8B-B14F-4D97-AF65-F5344CB8AC3E}">
        <p14:creationId xmlns:p14="http://schemas.microsoft.com/office/powerpoint/2010/main" val="1654068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12159-1B46-AB88-34BB-9EC3376773D5}"/>
              </a:ext>
            </a:extLst>
          </p:cNvPr>
          <p:cNvSpPr>
            <a:spLocks noGrp="1"/>
          </p:cNvSpPr>
          <p:nvPr>
            <p:ph type="title"/>
          </p:nvPr>
        </p:nvSpPr>
        <p:spPr/>
        <p:txBody>
          <a:bodyPr>
            <a:normAutofit/>
          </a:bodyPr>
          <a:lstStyle/>
          <a:p>
            <a:r>
              <a:rPr lang="en-IN" b="1" i="0" dirty="0">
                <a:solidFill>
                  <a:srgbClr val="273239"/>
                </a:solidFill>
                <a:effectLst/>
                <a:latin typeface="Nunito" pitchFamily="2" charset="77"/>
              </a:rPr>
              <a:t>Architecture of the Python Virtual Machine</a:t>
            </a:r>
            <a:endParaRPr lang="en-US" dirty="0"/>
          </a:p>
        </p:txBody>
      </p:sp>
      <p:sp>
        <p:nvSpPr>
          <p:cNvPr id="3" name="Content Placeholder 2">
            <a:extLst>
              <a:ext uri="{FF2B5EF4-FFF2-40B4-BE49-F238E27FC236}">
                <a16:creationId xmlns:a16="http://schemas.microsoft.com/office/drawing/2014/main" id="{910F480D-A590-C53E-3C76-479E6BA6C844}"/>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IN" b="1" i="0" dirty="0">
                <a:solidFill>
                  <a:srgbClr val="273239"/>
                </a:solidFill>
                <a:effectLst/>
                <a:latin typeface="Nunito" pitchFamily="2" charset="77"/>
              </a:rPr>
              <a:t>Bytecode Generation</a:t>
            </a:r>
            <a:r>
              <a:rPr lang="en-IN" b="0" i="0" dirty="0">
                <a:solidFill>
                  <a:srgbClr val="273239"/>
                </a:solidFill>
                <a:effectLst/>
                <a:latin typeface="Nunito" pitchFamily="2" charset="77"/>
              </a:rPr>
              <a:t>: Before execution, Python source code is compiled into bytecode. This bytecode is a platform-independent intermediate representation of the Python code.</a:t>
            </a:r>
          </a:p>
          <a:p>
            <a:pPr algn="l" fontAlgn="base">
              <a:buFont typeface="Arial" panose="020B0604020202020204" pitchFamily="34" charset="0"/>
              <a:buChar char="•"/>
            </a:pPr>
            <a:r>
              <a:rPr lang="en-IN" b="1" i="0" dirty="0">
                <a:solidFill>
                  <a:srgbClr val="273239"/>
                </a:solidFill>
                <a:effectLst/>
                <a:latin typeface="Nunito" pitchFamily="2" charset="77"/>
              </a:rPr>
              <a:t>Interpreter Loop</a:t>
            </a:r>
            <a:r>
              <a:rPr lang="en-IN" b="0" i="0" dirty="0">
                <a:solidFill>
                  <a:srgbClr val="273239"/>
                </a:solidFill>
                <a:effectLst/>
                <a:latin typeface="Nunito" pitchFamily="2" charset="77"/>
              </a:rPr>
              <a:t>: The heart of the Python VM is the interpreter loop. It fetches bytecode instructions, decodes them, and executes them sequentially.</a:t>
            </a:r>
          </a:p>
          <a:p>
            <a:pPr algn="l" fontAlgn="base">
              <a:buFont typeface="Arial" panose="020B0604020202020204" pitchFamily="34" charset="0"/>
              <a:buChar char="•"/>
            </a:pPr>
            <a:r>
              <a:rPr lang="en-IN" b="1" i="0" dirty="0">
                <a:solidFill>
                  <a:srgbClr val="273239"/>
                </a:solidFill>
                <a:effectLst/>
                <a:latin typeface="Nunito" pitchFamily="2" charset="77"/>
              </a:rPr>
              <a:t>Python Object Model</a:t>
            </a:r>
            <a:r>
              <a:rPr lang="en-IN" b="0" i="0" dirty="0">
                <a:solidFill>
                  <a:srgbClr val="273239"/>
                </a:solidFill>
                <a:effectLst/>
                <a:latin typeface="Nunito" pitchFamily="2" charset="77"/>
              </a:rPr>
              <a:t>: The Python VM maintains a Python object model to represent data types, such as integers, strings, lists, and custom objects. It manages the creation, manipulation, and destruction of these objects during execution.</a:t>
            </a:r>
          </a:p>
          <a:p>
            <a:pPr algn="l" fontAlgn="base">
              <a:buFont typeface="Arial" panose="020B0604020202020204" pitchFamily="34" charset="0"/>
              <a:buChar char="•"/>
            </a:pPr>
            <a:r>
              <a:rPr lang="en-IN" b="1" i="0" dirty="0">
                <a:solidFill>
                  <a:srgbClr val="273239"/>
                </a:solidFill>
                <a:effectLst/>
                <a:latin typeface="Nunito" pitchFamily="2" charset="77"/>
              </a:rPr>
              <a:t>Memory Management:</a:t>
            </a:r>
            <a:r>
              <a:rPr lang="en-IN" b="0" i="0" dirty="0">
                <a:solidFill>
                  <a:srgbClr val="273239"/>
                </a:solidFill>
                <a:effectLst/>
                <a:latin typeface="Nunito" pitchFamily="2" charset="77"/>
              </a:rPr>
              <a:t> The Python VM handles memory allocation and garbage collection to manage the memory used by Python objects dynamically.</a:t>
            </a:r>
          </a:p>
        </p:txBody>
      </p:sp>
    </p:spTree>
    <p:extLst>
      <p:ext uri="{BB962C8B-B14F-4D97-AF65-F5344CB8AC3E}">
        <p14:creationId xmlns:p14="http://schemas.microsoft.com/office/powerpoint/2010/main" val="4167670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71922-FFCE-D7E4-DFE5-2D5A28C98C58}"/>
              </a:ext>
            </a:extLst>
          </p:cNvPr>
          <p:cNvSpPr>
            <a:spLocks noGrp="1"/>
          </p:cNvSpPr>
          <p:nvPr>
            <p:ph type="title"/>
          </p:nvPr>
        </p:nvSpPr>
        <p:spPr/>
        <p:txBody>
          <a:bodyPr/>
          <a:lstStyle/>
          <a:p>
            <a:r>
              <a:rPr lang="en-IN" b="1" i="0" dirty="0">
                <a:solidFill>
                  <a:srgbClr val="273239"/>
                </a:solidFill>
                <a:effectLst/>
                <a:latin typeface="Nunito" pitchFamily="2" charset="77"/>
              </a:rPr>
              <a:t>Bytecode Execution Process</a:t>
            </a:r>
            <a:endParaRPr lang="en-US" dirty="0"/>
          </a:p>
        </p:txBody>
      </p:sp>
      <p:sp>
        <p:nvSpPr>
          <p:cNvPr id="3" name="Content Placeholder 2">
            <a:extLst>
              <a:ext uri="{FF2B5EF4-FFF2-40B4-BE49-F238E27FC236}">
                <a16:creationId xmlns:a16="http://schemas.microsoft.com/office/drawing/2014/main" id="{0202AB46-78CA-2061-04B2-7A1BBBCBEE92}"/>
              </a:ext>
            </a:extLst>
          </p:cNvPr>
          <p:cNvSpPr>
            <a:spLocks noGrp="1"/>
          </p:cNvSpPr>
          <p:nvPr>
            <p:ph idx="1"/>
          </p:nvPr>
        </p:nvSpPr>
        <p:spPr/>
        <p:txBody>
          <a:bodyPr>
            <a:normAutofit fontScale="85000" lnSpcReduction="10000"/>
          </a:bodyPr>
          <a:lstStyle/>
          <a:p>
            <a:pPr algn="l" fontAlgn="base">
              <a:buFont typeface="Arial" panose="020B0604020202020204" pitchFamily="34" charset="0"/>
              <a:buChar char="•"/>
            </a:pPr>
            <a:r>
              <a:rPr lang="en-IN" b="1" i="0" dirty="0">
                <a:solidFill>
                  <a:srgbClr val="273239"/>
                </a:solidFill>
                <a:effectLst/>
                <a:latin typeface="Nunito" pitchFamily="2" charset="77"/>
              </a:rPr>
              <a:t>Loading Bytecode</a:t>
            </a:r>
            <a:r>
              <a:rPr lang="en-IN" b="0" i="0" dirty="0">
                <a:solidFill>
                  <a:srgbClr val="273239"/>
                </a:solidFill>
                <a:effectLst/>
                <a:latin typeface="Nunito" pitchFamily="2" charset="77"/>
              </a:rPr>
              <a:t>: The Python VM loads bytecode from the compiled .</a:t>
            </a:r>
            <a:r>
              <a:rPr lang="en-IN" b="0" i="0" dirty="0" err="1">
                <a:solidFill>
                  <a:srgbClr val="273239"/>
                </a:solidFill>
                <a:effectLst/>
                <a:latin typeface="Nunito" pitchFamily="2" charset="77"/>
              </a:rPr>
              <a:t>pyc</a:t>
            </a:r>
            <a:r>
              <a:rPr lang="en-IN" b="0" i="0" dirty="0">
                <a:solidFill>
                  <a:srgbClr val="273239"/>
                </a:solidFill>
                <a:effectLst/>
                <a:latin typeface="Nunito" pitchFamily="2" charset="77"/>
              </a:rPr>
              <a:t> files or directly from memory if the code is generated dynamically.</a:t>
            </a:r>
          </a:p>
          <a:p>
            <a:pPr algn="l" fontAlgn="base">
              <a:buFont typeface="Arial" panose="020B0604020202020204" pitchFamily="34" charset="0"/>
              <a:buChar char="•"/>
            </a:pPr>
            <a:r>
              <a:rPr lang="en-IN" b="1" i="0" dirty="0">
                <a:solidFill>
                  <a:srgbClr val="273239"/>
                </a:solidFill>
                <a:effectLst/>
                <a:latin typeface="Nunito" pitchFamily="2" charset="77"/>
              </a:rPr>
              <a:t>Interpreter Loop Execution:</a:t>
            </a:r>
            <a:r>
              <a:rPr lang="en-IN" b="0" i="0" dirty="0">
                <a:solidFill>
                  <a:srgbClr val="273239"/>
                </a:solidFill>
                <a:effectLst/>
                <a:latin typeface="Nunito" pitchFamily="2" charset="77"/>
              </a:rPr>
              <a:t> The interpreter loop fetches bytecode instructions, interprets them, and executes corresponding operations. It maintains a stack to store intermediate values and operands.</a:t>
            </a:r>
          </a:p>
          <a:p>
            <a:pPr algn="l" fontAlgn="base">
              <a:buFont typeface="Arial" panose="020B0604020202020204" pitchFamily="34" charset="0"/>
              <a:buChar char="•"/>
            </a:pPr>
            <a:r>
              <a:rPr lang="en-IN" b="1" i="0" dirty="0">
                <a:solidFill>
                  <a:srgbClr val="273239"/>
                </a:solidFill>
                <a:effectLst/>
                <a:latin typeface="Nunito" pitchFamily="2" charset="77"/>
              </a:rPr>
              <a:t>Execution of Instructions:</a:t>
            </a:r>
            <a:r>
              <a:rPr lang="en-IN" b="0" i="0" dirty="0">
                <a:solidFill>
                  <a:srgbClr val="273239"/>
                </a:solidFill>
                <a:effectLst/>
                <a:latin typeface="Nunito" pitchFamily="2" charset="77"/>
              </a:rPr>
              <a:t> </a:t>
            </a:r>
            <a:r>
              <a:rPr lang="en-IN" b="0" i="0" u="sng" dirty="0">
                <a:solidFill>
                  <a:srgbClr val="357960"/>
                </a:solidFill>
                <a:effectLst/>
                <a:latin typeface="Nunito" pitchFamily="2" charset="77"/>
                <a:hlinkClick r:id="rId2"/>
              </a:rPr>
              <a:t>Bytecode</a:t>
            </a:r>
            <a:r>
              <a:rPr lang="en-IN" b="0" i="0" dirty="0">
                <a:solidFill>
                  <a:srgbClr val="273239"/>
                </a:solidFill>
                <a:effectLst/>
                <a:latin typeface="Nunito" pitchFamily="2" charset="77"/>
              </a:rPr>
              <a:t> instructions represent operations like loading values, arithmetic computations, function calls, and control flow (e.g., jumps, loops). The interpreter executes these instructions efficiently.</a:t>
            </a:r>
          </a:p>
          <a:p>
            <a:pPr algn="l" fontAlgn="base">
              <a:buFont typeface="Arial" panose="020B0604020202020204" pitchFamily="34" charset="0"/>
              <a:buChar char="•"/>
            </a:pPr>
            <a:r>
              <a:rPr lang="en-IN" b="1" i="0" dirty="0">
                <a:solidFill>
                  <a:srgbClr val="273239"/>
                </a:solidFill>
                <a:effectLst/>
                <a:latin typeface="Nunito" pitchFamily="2" charset="77"/>
              </a:rPr>
              <a:t>Runtime Environment Management</a:t>
            </a:r>
            <a:r>
              <a:rPr lang="en-IN" b="0" i="0" dirty="0">
                <a:solidFill>
                  <a:srgbClr val="273239"/>
                </a:solidFill>
                <a:effectLst/>
                <a:latin typeface="Nunito" pitchFamily="2" charset="77"/>
              </a:rPr>
              <a:t>: The Python VM manages the runtime environment, including namespaces, function calls, exceptions, and module imports.</a:t>
            </a:r>
          </a:p>
        </p:txBody>
      </p:sp>
    </p:spTree>
    <p:extLst>
      <p:ext uri="{BB962C8B-B14F-4D97-AF65-F5344CB8AC3E}">
        <p14:creationId xmlns:p14="http://schemas.microsoft.com/office/powerpoint/2010/main" val="2402477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8C1A-9014-3E03-9DFF-02C1B5DEEC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9874FF-75F6-F9F9-AB8C-26A5BB7C958D}"/>
              </a:ext>
            </a:extLst>
          </p:cNvPr>
          <p:cNvSpPr>
            <a:spLocks noGrp="1"/>
          </p:cNvSpPr>
          <p:nvPr>
            <p:ph idx="1"/>
          </p:nvPr>
        </p:nvSpPr>
        <p:spPr/>
        <p:txBody>
          <a:bodyPr/>
          <a:lstStyle/>
          <a:p>
            <a:pPr algn="l"/>
            <a:r>
              <a:rPr lang="en-IN" b="0" i="0" dirty="0">
                <a:solidFill>
                  <a:srgbClr val="242424"/>
                </a:solidFill>
                <a:effectLst/>
                <a:latin typeface="source-serif-pro"/>
              </a:rPr>
              <a:t>The architecture comprises of four important parts:</a:t>
            </a:r>
          </a:p>
          <a:p>
            <a:pPr algn="l"/>
            <a:r>
              <a:rPr lang="en-IN" b="0" i="0" dirty="0">
                <a:solidFill>
                  <a:srgbClr val="242424"/>
                </a:solidFill>
                <a:effectLst/>
                <a:latin typeface="source-serif-pro"/>
              </a:rPr>
              <a:t>1] Compiler</a:t>
            </a:r>
          </a:p>
          <a:p>
            <a:pPr algn="l"/>
            <a:r>
              <a:rPr lang="en-IN" b="0" i="0" dirty="0">
                <a:solidFill>
                  <a:srgbClr val="242424"/>
                </a:solidFill>
                <a:effectLst/>
                <a:latin typeface="source-serif-pro"/>
              </a:rPr>
              <a:t>2] Interpreter</a:t>
            </a:r>
          </a:p>
          <a:p>
            <a:pPr algn="l"/>
            <a:r>
              <a:rPr lang="en-IN" b="0" i="0" dirty="0">
                <a:solidFill>
                  <a:srgbClr val="242424"/>
                </a:solidFill>
                <a:effectLst/>
                <a:latin typeface="source-serif-pro"/>
              </a:rPr>
              <a:t>3] Memory manager</a:t>
            </a:r>
          </a:p>
          <a:p>
            <a:pPr algn="l"/>
            <a:r>
              <a:rPr lang="en-IN" b="0" i="0" dirty="0">
                <a:solidFill>
                  <a:srgbClr val="242424"/>
                </a:solidFill>
                <a:effectLst/>
                <a:latin typeface="source-serif-pro"/>
              </a:rPr>
              <a:t>4] Stack</a:t>
            </a:r>
          </a:p>
          <a:p>
            <a:endParaRPr lang="en-US" dirty="0"/>
          </a:p>
        </p:txBody>
      </p:sp>
    </p:spTree>
    <p:extLst>
      <p:ext uri="{BB962C8B-B14F-4D97-AF65-F5344CB8AC3E}">
        <p14:creationId xmlns:p14="http://schemas.microsoft.com/office/powerpoint/2010/main" val="1068045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ECA4E-A2A4-1CA9-420F-BEE630FA63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3808B4-2E34-DE47-1CE2-3A6D99E85C1E}"/>
              </a:ext>
            </a:extLst>
          </p:cNvPr>
          <p:cNvSpPr>
            <a:spLocks noGrp="1"/>
          </p:cNvSpPr>
          <p:nvPr>
            <p:ph idx="1"/>
          </p:nvPr>
        </p:nvSpPr>
        <p:spPr/>
        <p:txBody>
          <a:bodyPr>
            <a:normAutofit fontScale="92500" lnSpcReduction="10000"/>
          </a:bodyPr>
          <a:lstStyle/>
          <a:p>
            <a:pPr algn="l"/>
            <a:r>
              <a:rPr lang="en-IN" b="0" i="0" dirty="0">
                <a:solidFill>
                  <a:srgbClr val="242424"/>
                </a:solidFill>
                <a:effectLst/>
                <a:latin typeface="source-serif-pro"/>
              </a:rPr>
              <a:t>From the above figure, let us consider we have a file named “</a:t>
            </a:r>
            <a:r>
              <a:rPr lang="en-IN" b="0" i="0" dirty="0" err="1">
                <a:solidFill>
                  <a:srgbClr val="242424"/>
                </a:solidFill>
                <a:effectLst/>
                <a:latin typeface="source-serif-pro"/>
              </a:rPr>
              <a:t>basics.py</a:t>
            </a:r>
            <a:r>
              <a:rPr lang="en-IN" b="0" i="0" dirty="0">
                <a:solidFill>
                  <a:srgbClr val="242424"/>
                </a:solidFill>
                <a:effectLst/>
                <a:latin typeface="source-serif-pro"/>
              </a:rPr>
              <a:t>”. </a:t>
            </a:r>
          </a:p>
          <a:p>
            <a:pPr algn="l"/>
            <a:r>
              <a:rPr lang="en-IN" b="0" i="0" dirty="0">
                <a:solidFill>
                  <a:srgbClr val="242424"/>
                </a:solidFill>
                <a:effectLst/>
                <a:latin typeface="source-serif-pro"/>
              </a:rPr>
              <a:t>This is the source file, now the compiler will take this file and do its lexical analysis, syntax analysis, semantics analysis, and then bytecode generation is done. </a:t>
            </a:r>
          </a:p>
          <a:p>
            <a:pPr algn="l"/>
            <a:r>
              <a:rPr lang="en-IN" b="0" i="0" dirty="0">
                <a:solidFill>
                  <a:srgbClr val="242424"/>
                </a:solidFill>
                <a:effectLst/>
                <a:latin typeface="source-serif-pro"/>
              </a:rPr>
              <a:t>Provided there are no errors in any of the processes. In Bytecode, it can be compared to instructions in assembly language.</a:t>
            </a:r>
          </a:p>
          <a:p>
            <a:pPr algn="l"/>
            <a:r>
              <a:rPr lang="en-IN" b="0" i="0" dirty="0">
                <a:solidFill>
                  <a:srgbClr val="242424"/>
                </a:solidFill>
                <a:effectLst/>
                <a:latin typeface="source-serif-pro"/>
              </a:rPr>
              <a:t>Later, in this Bytecode, if we check in any editor, it would be like certain garbage values as the editor won’t understand the bytecode.</a:t>
            </a:r>
          </a:p>
          <a:p>
            <a:pPr algn="l"/>
            <a:r>
              <a:rPr lang="en-IN" b="0" i="0" dirty="0">
                <a:solidFill>
                  <a:srgbClr val="242424"/>
                </a:solidFill>
                <a:effectLst/>
                <a:latin typeface="source-serif-pro"/>
              </a:rPr>
              <a:t>After these states, the interpreter will now come into the picture.</a:t>
            </a:r>
            <a:br>
              <a:rPr lang="en-IN" dirty="0"/>
            </a:br>
            <a:br>
              <a:rPr lang="en-IN" b="0" i="0" u="none" strike="noStrike" dirty="0">
                <a:effectLst/>
                <a:latin typeface="inherit"/>
                <a:hlinkClick r:id="rId2"/>
              </a:rPr>
            </a:br>
            <a:endParaRPr lang="en-IN" b="0" i="0" dirty="0">
              <a:effectLst/>
              <a:latin typeface="medium-content-sans-serif-font"/>
            </a:endParaRPr>
          </a:p>
          <a:p>
            <a:endParaRPr lang="en-US" dirty="0"/>
          </a:p>
        </p:txBody>
      </p:sp>
    </p:spTree>
    <p:extLst>
      <p:ext uri="{BB962C8B-B14F-4D97-AF65-F5344CB8AC3E}">
        <p14:creationId xmlns:p14="http://schemas.microsoft.com/office/powerpoint/2010/main" val="3011725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E7CAE-4241-0BCF-4A4F-72EB4C3C80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F548F5-4B82-0C18-AA2E-015A4CF79BC5}"/>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27B0C536-140E-8132-C4F1-696CA115F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0550" y="1301750"/>
            <a:ext cx="8470900" cy="425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219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D3B40-BBD5-71E1-44DB-04295427410B}"/>
              </a:ext>
            </a:extLst>
          </p:cNvPr>
          <p:cNvSpPr>
            <a:spLocks noGrp="1"/>
          </p:cNvSpPr>
          <p:nvPr>
            <p:ph idx="1"/>
          </p:nvPr>
        </p:nvSpPr>
        <p:spPr>
          <a:xfrm>
            <a:off x="838200" y="285750"/>
            <a:ext cx="10515600" cy="5891213"/>
          </a:xfrm>
        </p:spPr>
        <p:txBody>
          <a:bodyPr>
            <a:normAutofit fontScale="92500" lnSpcReduction="20000"/>
          </a:bodyPr>
          <a:lstStyle/>
          <a:p>
            <a:pPr algn="l"/>
            <a:r>
              <a:rPr lang="en-IN" b="0" i="0" dirty="0">
                <a:solidFill>
                  <a:srgbClr val="242424"/>
                </a:solidFill>
                <a:effectLst/>
                <a:latin typeface="source-serif-pro"/>
              </a:rPr>
              <a:t>After the generation of the bytecode from the source code now PVM functioning will start. </a:t>
            </a:r>
          </a:p>
          <a:p>
            <a:pPr algn="l"/>
            <a:r>
              <a:rPr lang="en-IN" b="0" i="0" dirty="0">
                <a:solidFill>
                  <a:srgbClr val="242424"/>
                </a:solidFill>
                <a:effectLst/>
                <a:latin typeface="source-serif-pro"/>
              </a:rPr>
              <a:t>We have an interpreter, which will take the Bytecode and call the memory manager via some functions or APIs and ask to create a memory object in the memory section. </a:t>
            </a:r>
          </a:p>
          <a:p>
            <a:pPr algn="l"/>
            <a:r>
              <a:rPr lang="en-IN" b="0" i="0" dirty="0">
                <a:solidFill>
                  <a:srgbClr val="242424"/>
                </a:solidFill>
                <a:effectLst/>
                <a:latin typeface="source-serif-pro"/>
              </a:rPr>
              <a:t>Using some other API’s Memory manager will create these objects. Also, the interpreter will create a stack for the execution and the memories for the instruction set will be referenced which was the prior task of the memory manager.</a:t>
            </a:r>
          </a:p>
          <a:p>
            <a:pPr algn="l"/>
            <a:r>
              <a:rPr lang="en-IN" b="0" i="0" dirty="0">
                <a:solidFill>
                  <a:srgbClr val="242424"/>
                </a:solidFill>
                <a:effectLst/>
                <a:latin typeface="source-serif-pro"/>
              </a:rPr>
              <a:t>So, now in the stack execution, we have something called the Call stack. </a:t>
            </a:r>
          </a:p>
          <a:p>
            <a:pPr algn="l"/>
            <a:r>
              <a:rPr lang="en-IN" b="0" i="0" dirty="0">
                <a:solidFill>
                  <a:srgbClr val="242424"/>
                </a:solidFill>
                <a:effectLst/>
                <a:latin typeface="source-serif-pro"/>
              </a:rPr>
              <a:t>It is in the frame format with the Value stack and Block stack being part of each frame. </a:t>
            </a:r>
          </a:p>
          <a:p>
            <a:pPr algn="l"/>
            <a:r>
              <a:rPr lang="en-IN" b="0" i="0" dirty="0">
                <a:solidFill>
                  <a:srgbClr val="242424"/>
                </a:solidFill>
                <a:effectLst/>
                <a:latin typeface="source-serif-pro"/>
              </a:rPr>
              <a:t>As we saw earlier we have a memory manager which is responsible for making the links for a memory object. </a:t>
            </a:r>
          </a:p>
          <a:p>
            <a:pPr algn="l"/>
            <a:r>
              <a:rPr lang="en-IN" b="0" i="0" dirty="0">
                <a:solidFill>
                  <a:srgbClr val="242424"/>
                </a:solidFill>
                <a:effectLst/>
                <a:latin typeface="source-serif-pro"/>
              </a:rPr>
              <a:t>For the stack in each frame, it will have allocated memory references pointing to these memory objects.</a:t>
            </a:r>
            <a:endParaRPr lang="en-US" dirty="0"/>
          </a:p>
        </p:txBody>
      </p:sp>
    </p:spTree>
    <p:extLst>
      <p:ext uri="{BB962C8B-B14F-4D97-AF65-F5344CB8AC3E}">
        <p14:creationId xmlns:p14="http://schemas.microsoft.com/office/powerpoint/2010/main" val="457141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6266-62CB-D2A7-C7C4-7881948984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1BEEB3-27C3-26B3-DA04-64E9E52C5734}"/>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EC9D7AA3-8702-BED2-B1FB-FF35FA884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324414"/>
            <a:ext cx="9591675" cy="6414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497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79246-4E14-3364-78D6-20D6DFDCD0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580018-91EC-EF14-370F-57D5772F08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46883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3166</TotalTime>
  <Words>2204</Words>
  <Application>Microsoft Macintosh PowerPoint</Application>
  <PresentationFormat>Widescreen</PresentationFormat>
  <Paragraphs>97</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Aptos Display</vt:lpstr>
      <vt:lpstr>Arial</vt:lpstr>
      <vt:lpstr>Google Sans</vt:lpstr>
      <vt:lpstr>inherit</vt:lpstr>
      <vt:lpstr>medium-content-sans-serif-font</vt:lpstr>
      <vt:lpstr>Nunito</vt:lpstr>
      <vt:lpstr>source-serif-pro</vt:lpstr>
      <vt:lpstr>Studio-Feixen-Sans</vt:lpstr>
      <vt:lpstr>Office Theme</vt:lpstr>
      <vt:lpstr>Python Introduction</vt:lpstr>
      <vt:lpstr>Python Background</vt:lpstr>
      <vt:lpstr>Key Milestones</vt:lpstr>
      <vt:lpstr>Key Milestones</vt:lpstr>
      <vt:lpstr>Popularity and Usage</vt:lpstr>
      <vt:lpstr>PowerPoint Presentation</vt:lpstr>
      <vt:lpstr>Features of Python</vt:lpstr>
      <vt:lpstr>Features of Python</vt:lpstr>
      <vt:lpstr>Key limitations of Python</vt:lpstr>
      <vt:lpstr>Python Virtual Machine</vt:lpstr>
      <vt:lpstr>PowerPoint Presentation</vt:lpstr>
      <vt:lpstr>PowerPoint Presentation</vt:lpstr>
      <vt:lpstr>Architecture of the Python Virtual Machine</vt:lpstr>
      <vt:lpstr>Bytecode Execution Process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137</cp:revision>
  <dcterms:created xsi:type="dcterms:W3CDTF">2026-01-15T04:12:31Z</dcterms:created>
  <dcterms:modified xsi:type="dcterms:W3CDTF">2026-02-19T13:49:45Z</dcterms:modified>
</cp:coreProperties>
</file>