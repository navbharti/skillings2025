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301" r:id="rId8"/>
    <p:sldId id="304" r:id="rId9"/>
    <p:sldId id="305" r:id="rId10"/>
    <p:sldId id="298" r:id="rId11"/>
    <p:sldId id="303" r:id="rId12"/>
    <p:sldId id="300" r:id="rId13"/>
    <p:sldId id="262" r:id="rId14"/>
    <p:sldId id="302" r:id="rId15"/>
    <p:sldId id="306" r:id="rId16"/>
    <p:sldId id="307" r:id="rId17"/>
    <p:sldId id="308" r:id="rId18"/>
    <p:sldId id="323" r:id="rId19"/>
    <p:sldId id="309" r:id="rId20"/>
    <p:sldId id="324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25" r:id="rId29"/>
    <p:sldId id="317" r:id="rId30"/>
    <p:sldId id="318" r:id="rId31"/>
    <p:sldId id="319" r:id="rId32"/>
    <p:sldId id="320" r:id="rId33"/>
    <p:sldId id="321" r:id="rId34"/>
    <p:sldId id="32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6"/>
  </p:normalViewPr>
  <p:slideViewPr>
    <p:cSldViewPr snapToGrid="0">
      <p:cViewPr varScale="1">
        <p:scale>
          <a:sx n="76" d="100"/>
          <a:sy n="76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introduction-to-red-black-tree/" TargetMode="External"/><Relationship Id="rId2" Type="http://schemas.openxmlformats.org/officeDocument/2006/relationships/hyperlink" Target="https://www.geeksforgeeks.org/dsa/introduction-to-avl-tre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insertion-in-binary-search-tree/" TargetMode="External"/><Relationship Id="rId2" Type="http://schemas.openxmlformats.org/officeDocument/2006/relationships/hyperlink" Target="https://www.geeksforgeeks.org/dsa/binary-search-tree-set-1-search-and-insertion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eeksforgeeks.org/dsa/tree-traversals-inorder-preorder-and-postorder/" TargetMode="External"/><Relationship Id="rId4" Type="http://schemas.openxmlformats.org/officeDocument/2006/relationships/hyperlink" Target="https://www.geeksforgeeks.org/dsa/deletion-in-binary-search-tree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order+predecessor&amp;rlz=1C5CHFA_enIN970IN970&amp;oq=bst+delete+operation+different+situations&amp;gs_lcrp=EgZjaHJvbWUyBggAEEUYOdIBCTE0NTYwajBqN6gCALACAA&amp;sourceid=chrome&amp;ie=UTF-8&amp;mstk=AUtExfAAkYpBtpt35ShfPkTNFFsN68_VdcfMhEB3ejKxvCh7OnuFQFu2y6txQSTxhm_U2FkjfbT3GC_wqqaDjepv1-_A1xvEqvXlGWYHwl64KPyMy3ECuBDEM1f4euP8XJCsBIoRiKZCr8qj00YGFFE5MBOUAoXXuQRUIAghdKkpjR74-gI&amp;csui=3&amp;ved=2ahUKEwjR1LOY6aOTAxUdU2wGHUU5DrEQgK4QegQIDRAD" TargetMode="External"/><Relationship Id="rId2" Type="http://schemas.openxmlformats.org/officeDocument/2006/relationships/hyperlink" Target="https://www.google.com/search?q=inorder+successor&amp;rlz=1C5CHFA_enIN970IN970&amp;oq=bst+delete+operation+different+situations&amp;gs_lcrp=EgZjaHJvbWUyBggAEEUYOdIBCTE0NTYwajBqN6gCALACAA&amp;sourceid=chrome&amp;ie=UTF-8&amp;mstk=AUtExfAAkYpBtpt35ShfPkTNFFsN68_VdcfMhEB3ejKxvCh7OnuFQFu2y6txQSTxhm_U2FkjfbT3GC_wqqaDjepv1-_A1xvEqvXlGWYHwl64KPyMy3ECuBDEM1f4euP8XJCsBIoRiKZCr8qj00YGFFE5MBOUAoXXuQRUIAghdKkpjR74-gI&amp;csui=3&amp;ved=2ahUKEwjR1LOY6aOTAxUdU2wGHUU5DrEQgK4QegQIDRAC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Binary Search Tree (BST) </a:t>
            </a:r>
            <a:r>
              <a:rPr lang="en-US" dirty="0"/>
              <a:t>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B2B1-99A1-B123-6460-720024B8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F9DA-3CE1-56EE-BA51-2E70405C5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Recursive definition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/>
              <a:t>An empty tree is a binary tree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/>
              <a:t>A node with two child subtrees is a binary tree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/>
              <a:t>Only what you get from 1 by a finite number of applications of 2 is a binary tree.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9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EABC-AA59-2512-4D22-F24756C48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A0A0-F303-E1E3-ED01-57BE79C75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Binary Search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(BST) is a special type of binary tree that maintains its elements in a sorted order.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It is a non-linear, hierarchical data structure, where each node can have at most two children, and elements are organized in a parent-child relationship. 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For every node in the BST:</a:t>
            </a:r>
          </a:p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Left Child key &lt; node’s key and </a:t>
            </a:r>
          </a:p>
          <a:p>
            <a:pPr algn="l" fontAlgn="base"/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Right Child key &gt; node’s key (&gt;= if duplicates are allowed)</a:t>
            </a:r>
            <a:b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</a:b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2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3EFF-6BD2-CD04-A483-D3910297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727FC-AA25-392C-2FCD-32713A9DE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C3300"/>
                </a:solidFill>
              </a:rPr>
              <a:t>dynamic set operations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Search, Minimum, Maximum, Predecessor, Successor, Insert, and Delete.</a:t>
            </a:r>
          </a:p>
          <a:p>
            <a:r>
              <a:rPr lang="en-US" altLang="en-US" dirty="0"/>
              <a:t>Can be used to build</a:t>
            </a:r>
          </a:p>
          <a:p>
            <a:pPr lvl="1"/>
            <a:r>
              <a:rPr lang="en-US" altLang="en-US" dirty="0">
                <a:solidFill>
                  <a:srgbClr val="CC3300"/>
                </a:solidFill>
              </a:rPr>
              <a:t>Dictionaries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>
                <a:solidFill>
                  <a:srgbClr val="CC3300"/>
                </a:solidFill>
              </a:rPr>
              <a:t>Priority Queues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Basic operations take time proportional to the height of the tree – </a:t>
            </a:r>
            <a:r>
              <a:rPr lang="en-US" altLang="en-US" i="1" dirty="0">
                <a:solidFill>
                  <a:srgbClr val="CC3300"/>
                </a:solidFill>
              </a:rPr>
              <a:t>O</a:t>
            </a:r>
            <a:r>
              <a:rPr lang="en-US" altLang="en-US" dirty="0">
                <a:solidFill>
                  <a:srgbClr val="CC3300"/>
                </a:solidFill>
              </a:rPr>
              <a:t>(</a:t>
            </a:r>
            <a:r>
              <a:rPr lang="en-US" altLang="en-US" i="1" dirty="0">
                <a:solidFill>
                  <a:srgbClr val="CC3300"/>
                </a:solidFill>
              </a:rPr>
              <a:t>h</a:t>
            </a:r>
            <a:r>
              <a:rPr lang="en-US" altLang="en-US" dirty="0">
                <a:solidFill>
                  <a:srgbClr val="CC3300"/>
                </a:solidFill>
              </a:rPr>
              <a:t>)</a:t>
            </a:r>
            <a:r>
              <a:rPr lang="en-US" alt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5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FB3E-D746-171C-DDCE-053124B6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3BD01-FED1-EA7B-8F97-40E0AB0A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Represented by a linked data structure of nodes.</a:t>
            </a:r>
          </a:p>
          <a:p>
            <a:r>
              <a:rPr lang="en-US" altLang="en-US" i="1" dirty="0">
                <a:solidFill>
                  <a:srgbClr val="CC3300"/>
                </a:solidFill>
              </a:rPr>
              <a:t>root</a:t>
            </a:r>
            <a:r>
              <a:rPr lang="en-US" altLang="en-US" dirty="0">
                <a:solidFill>
                  <a:srgbClr val="CC3300"/>
                </a:solidFill>
              </a:rPr>
              <a:t>(</a:t>
            </a:r>
            <a:r>
              <a:rPr lang="en-US" altLang="en-US" i="1" dirty="0">
                <a:solidFill>
                  <a:srgbClr val="CC3300"/>
                </a:solidFill>
              </a:rPr>
              <a:t>T</a:t>
            </a:r>
            <a:r>
              <a:rPr lang="en-US" altLang="en-US" dirty="0">
                <a:solidFill>
                  <a:srgbClr val="CC3300"/>
                </a:solidFill>
              </a:rPr>
              <a:t>)</a:t>
            </a:r>
            <a:r>
              <a:rPr lang="en-US" altLang="en-US" dirty="0"/>
              <a:t> points to the root of tree </a:t>
            </a:r>
            <a:r>
              <a:rPr lang="en-US" altLang="en-US" i="1" dirty="0"/>
              <a:t>T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Each node contains fields:  </a:t>
            </a:r>
          </a:p>
          <a:p>
            <a:pPr lvl="1"/>
            <a:r>
              <a:rPr lang="en-US" altLang="en-US" i="1" dirty="0">
                <a:solidFill>
                  <a:srgbClr val="CC3300"/>
                </a:solidFill>
              </a:rPr>
              <a:t>key</a:t>
            </a:r>
          </a:p>
          <a:p>
            <a:pPr lvl="1"/>
            <a:r>
              <a:rPr lang="en-US" altLang="en-US" i="1" dirty="0">
                <a:solidFill>
                  <a:srgbClr val="CC3300"/>
                </a:solidFill>
              </a:rPr>
              <a:t>left</a:t>
            </a:r>
            <a:r>
              <a:rPr lang="en-US" altLang="en-US" dirty="0"/>
              <a:t> – pointer to left child: root of left subtree.</a:t>
            </a:r>
            <a:endParaRPr lang="en-US" altLang="en-US" i="1" dirty="0"/>
          </a:p>
          <a:p>
            <a:pPr lvl="1"/>
            <a:r>
              <a:rPr lang="en-US" altLang="en-US" i="1" dirty="0">
                <a:solidFill>
                  <a:srgbClr val="CC3300"/>
                </a:solidFill>
              </a:rPr>
              <a:t>right</a:t>
            </a:r>
            <a:r>
              <a:rPr lang="en-US" altLang="en-US" i="1" dirty="0"/>
              <a:t> – </a:t>
            </a:r>
            <a:r>
              <a:rPr lang="en-US" altLang="en-US" dirty="0"/>
              <a:t>pointer to right child : root of right subtree.</a:t>
            </a:r>
            <a:endParaRPr lang="en-US" altLang="en-US" i="1" dirty="0"/>
          </a:p>
          <a:p>
            <a:pPr lvl="1"/>
            <a:r>
              <a:rPr lang="en-US" altLang="en-US" i="1" dirty="0">
                <a:solidFill>
                  <a:srgbClr val="CC3300"/>
                </a:solidFill>
              </a:rPr>
              <a:t>p</a:t>
            </a:r>
            <a:r>
              <a:rPr lang="en-US" altLang="en-US" i="1" dirty="0"/>
              <a:t> – </a:t>
            </a:r>
            <a:r>
              <a:rPr lang="en-US" altLang="en-US" dirty="0"/>
              <a:t>pointer to parent. </a:t>
            </a:r>
            <a:r>
              <a:rPr lang="en-US" altLang="en-US" i="1" dirty="0"/>
              <a:t>p</a:t>
            </a:r>
            <a:r>
              <a:rPr lang="en-US" altLang="en-US" dirty="0"/>
              <a:t>[</a:t>
            </a:r>
            <a:r>
              <a:rPr lang="en-US" altLang="en-US" i="1" dirty="0"/>
              <a:t>root</a:t>
            </a:r>
            <a:r>
              <a:rPr lang="en-US" altLang="en-US" dirty="0"/>
              <a:t>[T]] = NIL (optional).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25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7A6B-AE8B-B2EC-27A4-FED785A9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3A2E-C6D5-9841-4298-0B7242706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nodes in the left subtree contain values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strictly less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than the node’s value.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nodes in the right subtree contain values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strictly greater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than the node’s value.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Efficient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operations for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searching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insertion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and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deletion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of elements, especially when the tree remains balanced.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W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idely used in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database indexing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symbol tables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range queries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and are foundational for advanced structures like </a:t>
            </a: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AVL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and </a:t>
            </a: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Red-Black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Operations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search, insertion, and deletion takes O(Log n) time for a balanced binary search tree. In the worst-case (unbalanced), these degrade to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O(n)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With self-balancing BSTs like AVL and Red Black Trees, we can ensure the worst case as O(Log n).</a:t>
            </a:r>
          </a:p>
        </p:txBody>
      </p:sp>
    </p:spTree>
    <p:extLst>
      <p:ext uri="{BB962C8B-B14F-4D97-AF65-F5344CB8AC3E}">
        <p14:creationId xmlns:p14="http://schemas.microsoft.com/office/powerpoint/2010/main" val="206837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04CA-05C0-581C-BABA-D0FFE921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8794-A61E-3D62-32B6-6CE08B260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ransform-a-BST-to-greater-sum-tree">
            <a:extLst>
              <a:ext uri="{FF2B5EF4-FFF2-40B4-BE49-F238E27FC236}">
                <a16:creationId xmlns:a16="http://schemas.microsoft.com/office/drawing/2014/main" id="{A9C8CE57-5F10-4AFA-569E-90B2FB5E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150" y="882650"/>
            <a:ext cx="5727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14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C6A6-C651-80B0-1C06-E9BAE3F4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Advantages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3AF9-0396-D3A7-DEF1-7D9CCA1A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Efficient searching: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O(log n) time complexity for searching with a self balancing BST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Ordered structure: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Elements are stored in sorted order, making it easy to find the next or previous element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Dynamic insertion and deletion: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Elements can be added or removed efficiently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Balanced structure: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Balanced BSTs maintain a logarithmic height, ensuring efficient operations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Doubly Ended Priority Queue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: In BSTs, we can maintain both maximum and minimum efficiently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0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41F9-EBBE-D8EC-0576-E97974DB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Limitations of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E156-127A-D8D7-37F9-59EF3C17D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Not self-balancing: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Unbalanced BSTs can lead to poor performance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Worst-case time complexity: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In the worst case, BSTs can have a linear time complexity for searching and insertion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Memory overhead: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BSTs require additional memory to store pointers to child nodes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Not suitable for large datasets: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BSTs can become inefficient for very large datasets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Limited functionality: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BSTs only support searching, insertion, and deletion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932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8F77B7-C39A-1C9E-EE0F-A80D5104B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Search Tree Property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64F000-AFA8-7AE4-4457-49A4AB7782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/>
              <a:t>Stored keys must satisfy the </a:t>
            </a:r>
            <a:r>
              <a:rPr lang="en-US" altLang="en-US" i="1">
                <a:solidFill>
                  <a:srgbClr val="CC3300"/>
                </a:solidFill>
              </a:rPr>
              <a:t>binary search tree</a:t>
            </a:r>
            <a:r>
              <a:rPr lang="en-US" altLang="en-US"/>
              <a:t> property.</a:t>
            </a:r>
          </a:p>
          <a:p>
            <a:pPr lvl="1"/>
            <a:r>
              <a:rPr lang="en-US" altLang="en-US">
                <a:sym typeface="Symbol" pitchFamily="2" charset="2"/>
              </a:rPr>
              <a:t></a:t>
            </a:r>
            <a:r>
              <a:rPr lang="en-US" altLang="en-US"/>
              <a:t> </a:t>
            </a:r>
            <a:r>
              <a:rPr lang="en-US" altLang="en-US" i="1"/>
              <a:t>y</a:t>
            </a:r>
            <a:r>
              <a:rPr lang="en-US" altLang="en-US"/>
              <a:t> in left subtree of </a:t>
            </a:r>
            <a:r>
              <a:rPr lang="en-US" altLang="en-US" i="1"/>
              <a:t>x</a:t>
            </a:r>
            <a:r>
              <a:rPr lang="en-US" altLang="en-US"/>
              <a:t>, then </a:t>
            </a:r>
            <a:r>
              <a:rPr lang="en-US" altLang="en-US" i="1"/>
              <a:t>key</a:t>
            </a:r>
            <a:r>
              <a:rPr lang="en-US" altLang="en-US"/>
              <a:t>[</a:t>
            </a:r>
            <a:r>
              <a:rPr lang="en-US" altLang="en-US" i="1"/>
              <a:t>y</a:t>
            </a:r>
            <a:r>
              <a:rPr lang="en-US" altLang="en-US"/>
              <a:t>] </a:t>
            </a:r>
            <a:r>
              <a:rPr lang="en-US" altLang="en-US">
                <a:sym typeface="Symbol" pitchFamily="2" charset="2"/>
              </a:rPr>
              <a:t> </a:t>
            </a:r>
            <a:r>
              <a:rPr lang="en-US" altLang="en-US" i="1">
                <a:sym typeface="Symbol" pitchFamily="2" charset="2"/>
              </a:rPr>
              <a:t>key</a:t>
            </a:r>
            <a:r>
              <a:rPr lang="en-US" altLang="en-US">
                <a:sym typeface="Symbol" pitchFamily="2" charset="2"/>
              </a:rPr>
              <a:t>[</a:t>
            </a:r>
            <a:r>
              <a:rPr lang="en-US" altLang="en-US" i="1">
                <a:sym typeface="Symbol" pitchFamily="2" charset="2"/>
              </a:rPr>
              <a:t>x</a:t>
            </a:r>
            <a:r>
              <a:rPr lang="en-US" altLang="en-US">
                <a:sym typeface="Symbol" pitchFamily="2" charset="2"/>
              </a:rPr>
              <a:t>].</a:t>
            </a:r>
          </a:p>
          <a:p>
            <a:pPr lvl="1"/>
            <a:r>
              <a:rPr lang="en-US" altLang="en-US">
                <a:sym typeface="Symbol" pitchFamily="2" charset="2"/>
              </a:rPr>
              <a:t></a:t>
            </a:r>
            <a:r>
              <a:rPr lang="en-US" altLang="en-US"/>
              <a:t> </a:t>
            </a:r>
            <a:r>
              <a:rPr lang="en-US" altLang="en-US" i="1"/>
              <a:t>y</a:t>
            </a:r>
            <a:r>
              <a:rPr lang="en-US" altLang="en-US"/>
              <a:t> in right subtree of </a:t>
            </a:r>
            <a:r>
              <a:rPr lang="en-US" altLang="en-US" i="1"/>
              <a:t>x</a:t>
            </a:r>
            <a:r>
              <a:rPr lang="en-US" altLang="en-US"/>
              <a:t>, then </a:t>
            </a:r>
            <a:r>
              <a:rPr lang="en-US" altLang="en-US" i="1"/>
              <a:t>key</a:t>
            </a:r>
            <a:r>
              <a:rPr lang="en-US" altLang="en-US"/>
              <a:t>[</a:t>
            </a:r>
            <a:r>
              <a:rPr lang="en-US" altLang="en-US" i="1"/>
              <a:t>y</a:t>
            </a:r>
            <a:r>
              <a:rPr lang="en-US" altLang="en-US"/>
              <a:t>] </a:t>
            </a:r>
            <a:r>
              <a:rPr lang="en-US" altLang="en-US">
                <a:sym typeface="Symbol" pitchFamily="2" charset="2"/>
              </a:rPr>
              <a:t> </a:t>
            </a:r>
            <a:r>
              <a:rPr lang="en-US" altLang="en-US" i="1">
                <a:sym typeface="Symbol" pitchFamily="2" charset="2"/>
              </a:rPr>
              <a:t>key</a:t>
            </a:r>
            <a:r>
              <a:rPr lang="en-US" altLang="en-US">
                <a:sym typeface="Symbol" pitchFamily="2" charset="2"/>
              </a:rPr>
              <a:t>[</a:t>
            </a:r>
            <a:r>
              <a:rPr lang="en-US" altLang="en-US" i="1">
                <a:sym typeface="Symbol" pitchFamily="2" charset="2"/>
              </a:rPr>
              <a:t>x</a:t>
            </a:r>
            <a:r>
              <a:rPr lang="en-US" altLang="en-US">
                <a:sym typeface="Symbol" pitchFamily="2" charset="2"/>
              </a:rPr>
              <a:t>].</a:t>
            </a:r>
          </a:p>
          <a:p>
            <a:pPr lvl="1"/>
            <a:endParaRPr lang="en-US" altLang="en-US"/>
          </a:p>
        </p:txBody>
      </p:sp>
      <p:sp>
        <p:nvSpPr>
          <p:cNvPr id="1029" name="Oval 5">
            <a:extLst>
              <a:ext uri="{FF2B5EF4-FFF2-40B4-BE49-F238E27FC236}">
                <a16:creationId xmlns:a16="http://schemas.microsoft.com/office/drawing/2014/main" id="{F99E6776-51BA-F366-A63E-1D39AD6B2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400" y="2073276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56</a:t>
            </a:r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FBD47D0E-2B04-6A63-8B21-138CBD808A0F}"/>
              </a:ext>
            </a:extLst>
          </p:cNvPr>
          <p:cNvGrpSpPr>
            <a:grpSpLocks/>
          </p:cNvGrpSpPr>
          <p:nvPr/>
        </p:nvGrpSpPr>
        <p:grpSpPr bwMode="auto">
          <a:xfrm>
            <a:off x="6910388" y="2527301"/>
            <a:ext cx="2671762" cy="868363"/>
            <a:chOff x="1620" y="1679"/>
            <a:chExt cx="1683" cy="547"/>
          </a:xfrm>
        </p:grpSpPr>
        <p:sp>
          <p:nvSpPr>
            <p:cNvPr id="1031" name="Oval 7">
              <a:extLst>
                <a:ext uri="{FF2B5EF4-FFF2-40B4-BE49-F238E27FC236}">
                  <a16:creationId xmlns:a16="http://schemas.microsoft.com/office/drawing/2014/main" id="{3CE8A5CA-2E07-4DBD-BB0F-D5DDB9EA1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26</a:t>
              </a:r>
            </a:p>
          </p:txBody>
        </p:sp>
        <p:sp>
          <p:nvSpPr>
            <p:cNvPr id="1032" name="Oval 8">
              <a:extLst>
                <a:ext uri="{FF2B5EF4-FFF2-40B4-BE49-F238E27FC236}">
                  <a16:creationId xmlns:a16="http://schemas.microsoft.com/office/drawing/2014/main" id="{1730BCFF-7F7F-7D8D-3F38-3E7D98131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200</a:t>
              </a:r>
            </a:p>
          </p:txBody>
        </p:sp>
        <p:cxnSp>
          <p:nvCxnSpPr>
            <p:cNvPr id="1033" name="AutoShape 9">
              <a:extLst>
                <a:ext uri="{FF2B5EF4-FFF2-40B4-BE49-F238E27FC236}">
                  <a16:creationId xmlns:a16="http://schemas.microsoft.com/office/drawing/2014/main" id="{C87713FA-07BF-F3D0-FB6F-CAEA5101373B}"/>
                </a:ext>
              </a:extLst>
            </p:cNvPr>
            <p:cNvCxnSpPr>
              <a:cxnSpLocks noChangeShapeType="1"/>
              <a:stCxn id="1029" idx="5"/>
              <a:endCxn id="1032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4" name="AutoShape 10">
              <a:extLst>
                <a:ext uri="{FF2B5EF4-FFF2-40B4-BE49-F238E27FC236}">
                  <a16:creationId xmlns:a16="http://schemas.microsoft.com/office/drawing/2014/main" id="{C537DF61-D128-B2D4-B7CF-CBF97FF28DAC}"/>
                </a:ext>
              </a:extLst>
            </p:cNvPr>
            <p:cNvCxnSpPr>
              <a:cxnSpLocks noChangeShapeType="1"/>
              <a:stCxn id="1029" idx="3"/>
              <a:endCxn id="1031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5" name="Group 11">
            <a:extLst>
              <a:ext uri="{FF2B5EF4-FFF2-40B4-BE49-F238E27FC236}">
                <a16:creationId xmlns:a16="http://schemas.microsoft.com/office/drawing/2014/main" id="{05E9E176-7092-2097-2EF2-FA7DAD4A5627}"/>
              </a:ext>
            </a:extLst>
          </p:cNvPr>
          <p:cNvGrpSpPr>
            <a:grpSpLocks/>
          </p:cNvGrpSpPr>
          <p:nvPr/>
        </p:nvGrpSpPr>
        <p:grpSpPr bwMode="auto">
          <a:xfrm>
            <a:off x="6089651" y="3317875"/>
            <a:ext cx="1990725" cy="1174750"/>
            <a:chOff x="1103" y="2177"/>
            <a:chExt cx="1254" cy="740"/>
          </a:xfrm>
        </p:grpSpPr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A7E1E996-8578-C6EC-47F4-340EC073D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18</a:t>
              </a:r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88D7500F-3813-FF43-3A60-C685F46F3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28</a:t>
              </a:r>
            </a:p>
          </p:txBody>
        </p:sp>
        <p:cxnSp>
          <p:nvCxnSpPr>
            <p:cNvPr id="1038" name="AutoShape 14">
              <a:extLst>
                <a:ext uri="{FF2B5EF4-FFF2-40B4-BE49-F238E27FC236}">
                  <a16:creationId xmlns:a16="http://schemas.microsoft.com/office/drawing/2014/main" id="{A677B365-0E01-D24C-46E0-6C677385B884}"/>
                </a:ext>
              </a:extLst>
            </p:cNvPr>
            <p:cNvCxnSpPr>
              <a:cxnSpLocks noChangeShapeType="1"/>
              <a:stCxn id="1031" idx="3"/>
              <a:endCxn id="1036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9" name="AutoShape 15">
              <a:extLst>
                <a:ext uri="{FF2B5EF4-FFF2-40B4-BE49-F238E27FC236}">
                  <a16:creationId xmlns:a16="http://schemas.microsoft.com/office/drawing/2014/main" id="{3E7116DA-83D8-AF55-AC42-51CCF82086FD}"/>
                </a:ext>
              </a:extLst>
            </p:cNvPr>
            <p:cNvCxnSpPr>
              <a:cxnSpLocks noChangeShapeType="1"/>
              <a:stCxn id="1031" idx="5"/>
              <a:endCxn id="1037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40" name="Group 16">
            <a:extLst>
              <a:ext uri="{FF2B5EF4-FFF2-40B4-BE49-F238E27FC236}">
                <a16:creationId xmlns:a16="http://schemas.microsoft.com/office/drawing/2014/main" id="{CD1A01F2-9B69-8FD6-7666-FD8590CD4DAD}"/>
              </a:ext>
            </a:extLst>
          </p:cNvPr>
          <p:cNvGrpSpPr>
            <a:grpSpLocks/>
          </p:cNvGrpSpPr>
          <p:nvPr/>
        </p:nvGrpSpPr>
        <p:grpSpPr bwMode="auto">
          <a:xfrm>
            <a:off x="8485188" y="3317875"/>
            <a:ext cx="1739900" cy="1163638"/>
            <a:chOff x="2612" y="2177"/>
            <a:chExt cx="1096" cy="733"/>
          </a:xfrm>
        </p:grpSpPr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259AC4B9-27C7-E3A7-81ED-2A1075D09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190</a:t>
              </a:r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3F6F863E-F858-E77C-28DE-062B10475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213</a:t>
              </a:r>
            </a:p>
          </p:txBody>
        </p:sp>
        <p:cxnSp>
          <p:nvCxnSpPr>
            <p:cNvPr id="1043" name="AutoShape 19">
              <a:extLst>
                <a:ext uri="{FF2B5EF4-FFF2-40B4-BE49-F238E27FC236}">
                  <a16:creationId xmlns:a16="http://schemas.microsoft.com/office/drawing/2014/main" id="{F5272C33-0097-9BC3-4572-8025FD856E7C}"/>
                </a:ext>
              </a:extLst>
            </p:cNvPr>
            <p:cNvCxnSpPr>
              <a:cxnSpLocks noChangeShapeType="1"/>
              <a:stCxn id="1032" idx="3"/>
              <a:endCxn id="1041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4" name="AutoShape 20">
              <a:extLst>
                <a:ext uri="{FF2B5EF4-FFF2-40B4-BE49-F238E27FC236}">
                  <a16:creationId xmlns:a16="http://schemas.microsoft.com/office/drawing/2014/main" id="{CE734EBE-CD18-C94A-9C27-CA32E1F6B681}"/>
                </a:ext>
              </a:extLst>
            </p:cNvPr>
            <p:cNvCxnSpPr>
              <a:cxnSpLocks noChangeShapeType="1"/>
              <a:stCxn id="1032" idx="5"/>
              <a:endCxn id="1042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45" name="Group 21">
            <a:extLst>
              <a:ext uri="{FF2B5EF4-FFF2-40B4-BE49-F238E27FC236}">
                <a16:creationId xmlns:a16="http://schemas.microsoft.com/office/drawing/2014/main" id="{661E09FE-1DE3-B10A-CD52-DDC7FBECCD64}"/>
              </a:ext>
            </a:extLst>
          </p:cNvPr>
          <p:cNvGrpSpPr>
            <a:grpSpLocks/>
          </p:cNvGrpSpPr>
          <p:nvPr/>
        </p:nvGrpSpPr>
        <p:grpSpPr bwMode="auto">
          <a:xfrm>
            <a:off x="5562601" y="4414838"/>
            <a:ext cx="1465263" cy="1223962"/>
            <a:chOff x="771" y="2868"/>
            <a:chExt cx="923" cy="771"/>
          </a:xfrm>
        </p:grpSpPr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846B1533-27DE-5E77-87B9-3C1FD2153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12</a:t>
              </a:r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ACFAF001-F130-5435-56D5-0697102CA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24</a:t>
              </a:r>
            </a:p>
          </p:txBody>
        </p:sp>
        <p:cxnSp>
          <p:nvCxnSpPr>
            <p:cNvPr id="1048" name="AutoShape 24">
              <a:extLst>
                <a:ext uri="{FF2B5EF4-FFF2-40B4-BE49-F238E27FC236}">
                  <a16:creationId xmlns:a16="http://schemas.microsoft.com/office/drawing/2014/main" id="{DF0C398E-9119-8456-60D0-5301CF198D1E}"/>
                </a:ext>
              </a:extLst>
            </p:cNvPr>
            <p:cNvCxnSpPr>
              <a:cxnSpLocks noChangeShapeType="1"/>
              <a:stCxn id="1036" idx="3"/>
              <a:endCxn id="1046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9" name="AutoShape 25">
              <a:extLst>
                <a:ext uri="{FF2B5EF4-FFF2-40B4-BE49-F238E27FC236}">
                  <a16:creationId xmlns:a16="http://schemas.microsoft.com/office/drawing/2014/main" id="{215EC901-5E5B-7680-0513-DE0448869B91}"/>
                </a:ext>
              </a:extLst>
            </p:cNvPr>
            <p:cNvCxnSpPr>
              <a:cxnSpLocks noChangeShapeType="1"/>
              <a:stCxn id="1036" idx="5"/>
              <a:endCxn id="1047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50" name="Group 26">
            <a:extLst>
              <a:ext uri="{FF2B5EF4-FFF2-40B4-BE49-F238E27FC236}">
                <a16:creationId xmlns:a16="http://schemas.microsoft.com/office/drawing/2014/main" id="{9B15447D-2FF1-7FE8-74C7-4F045F0DFF8E}"/>
              </a:ext>
            </a:extLst>
          </p:cNvPr>
          <p:cNvGrpSpPr>
            <a:grpSpLocks/>
          </p:cNvGrpSpPr>
          <p:nvPr/>
        </p:nvGrpSpPr>
        <p:grpSpPr bwMode="auto">
          <a:xfrm>
            <a:off x="7180264" y="4464050"/>
            <a:ext cx="642937" cy="1174750"/>
            <a:chOff x="1790" y="2899"/>
            <a:chExt cx="405" cy="740"/>
          </a:xfrm>
        </p:grpSpPr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8DF40056-9D08-1F9B-CFE6-4B3195EA3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27</a:t>
              </a:r>
            </a:p>
          </p:txBody>
        </p:sp>
        <p:cxnSp>
          <p:nvCxnSpPr>
            <p:cNvPr id="1052" name="AutoShape 28">
              <a:extLst>
                <a:ext uri="{FF2B5EF4-FFF2-40B4-BE49-F238E27FC236}">
                  <a16:creationId xmlns:a16="http://schemas.microsoft.com/office/drawing/2014/main" id="{5C53719A-44BA-F55F-C375-70F4F0F27C88}"/>
                </a:ext>
              </a:extLst>
            </p:cNvPr>
            <p:cNvCxnSpPr>
              <a:cxnSpLocks noChangeShapeType="1"/>
              <a:stCxn id="1037" idx="4"/>
              <a:endCxn id="1051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4882-B938-33B6-F454-BA792863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8BF5-46D6-CD86-49D1-3A599DD45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85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Search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Finds whether a given key exists in the BST. Time Complexity on average is O(log n) and worst case is O(n)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Insertion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Insert a new node while maintaining BST property. Compare key with current node and move left/right recursively or iteratively. Time Complexity on average is O(log n) and worst case is O(n)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Deletion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Remove a node while keeping BST valid. Node has no children means remove directly. Node has one child means replace node with its child. Node has two children means replace node with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inorder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successor/predecessor and delete that successor/predecessor. Time Complexity: average O(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logn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) and O(n) worst case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5"/>
              </a:rPr>
              <a:t>Traversals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 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four common tree traversals are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Inorder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(Left, Root, Right) which gives nodes in sorted order for a BST, Preorder (Root, Left, Right),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Postorder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(Left, Right, Root), and Level-order, which traverses the tree level by level using a queue.</a:t>
            </a:r>
          </a:p>
        </p:txBody>
      </p:sp>
    </p:spTree>
    <p:extLst>
      <p:ext uri="{BB962C8B-B14F-4D97-AF65-F5344CB8AC3E}">
        <p14:creationId xmlns:p14="http://schemas.microsoft.com/office/powerpoint/2010/main" val="313004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BA9F18-18F4-B836-D64F-F7B48DF04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Inorder Traversal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DA2AF52-E2B2-5131-FBF6-8EE07B542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2209800"/>
            <a:ext cx="5867400" cy="2590800"/>
          </a:xfr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609600" indent="-609600">
              <a:buNone/>
            </a:pPr>
            <a:r>
              <a:rPr lang="en-US" altLang="en-US" u="sng">
                <a:solidFill>
                  <a:srgbClr val="CC3300"/>
                </a:solidFill>
              </a:rPr>
              <a:t>Inorder-Tree-Walk (</a:t>
            </a:r>
            <a:r>
              <a:rPr lang="en-US" altLang="en-US" i="1" u="sng">
                <a:solidFill>
                  <a:srgbClr val="CC3300"/>
                </a:solidFill>
              </a:rPr>
              <a:t>x</a:t>
            </a:r>
            <a:r>
              <a:rPr lang="en-US" altLang="en-US" u="sng">
                <a:solidFill>
                  <a:srgbClr val="CC3300"/>
                </a:solidFill>
              </a:rPr>
              <a:t>)</a:t>
            </a:r>
          </a:p>
          <a:p>
            <a:pPr marL="609600" indent="-609600">
              <a:buNone/>
            </a:pPr>
            <a:r>
              <a:rPr lang="en-US" altLang="en-US"/>
              <a:t>1.  </a:t>
            </a:r>
            <a:r>
              <a:rPr lang="en-US" altLang="en-US" b="1"/>
              <a:t>if</a:t>
            </a:r>
            <a:r>
              <a:rPr lang="en-US" altLang="en-US"/>
              <a:t> </a:t>
            </a:r>
            <a:r>
              <a:rPr lang="en-US" altLang="en-US" i="1"/>
              <a:t>x </a:t>
            </a:r>
            <a:r>
              <a:rPr lang="en-US" altLang="en-US" i="1">
                <a:sym typeface="Symbol" pitchFamily="2" charset="2"/>
              </a:rPr>
              <a:t></a:t>
            </a:r>
            <a:r>
              <a:rPr lang="en-US" altLang="en-US" i="1"/>
              <a:t> </a:t>
            </a:r>
            <a:r>
              <a:rPr lang="en-US" altLang="en-US"/>
              <a:t>NIL</a:t>
            </a:r>
          </a:p>
          <a:p>
            <a:pPr marL="609600" indent="-609600">
              <a:buNone/>
            </a:pPr>
            <a:r>
              <a:rPr lang="en-US" altLang="en-US"/>
              <a:t>2.     </a:t>
            </a:r>
            <a:r>
              <a:rPr lang="en-US" altLang="en-US" b="1"/>
              <a:t>then</a:t>
            </a:r>
            <a:r>
              <a:rPr lang="en-US" altLang="en-US"/>
              <a:t> Inorder-Tree-Walk(</a:t>
            </a:r>
            <a:r>
              <a:rPr lang="en-US" altLang="en-US" i="1"/>
              <a:t>left</a:t>
            </a:r>
            <a:r>
              <a:rPr lang="en-US" altLang="en-US"/>
              <a:t>[</a:t>
            </a:r>
            <a:r>
              <a:rPr lang="en-US" altLang="en-US" i="1"/>
              <a:t>p</a:t>
            </a:r>
            <a:r>
              <a:rPr lang="en-US" altLang="en-US"/>
              <a:t>])</a:t>
            </a:r>
          </a:p>
          <a:p>
            <a:pPr marL="609600" indent="-609600">
              <a:buNone/>
            </a:pPr>
            <a:r>
              <a:rPr lang="en-US" altLang="en-US"/>
              <a:t>3.              print </a:t>
            </a:r>
            <a:r>
              <a:rPr lang="en-US" altLang="en-US" i="1"/>
              <a:t>key</a:t>
            </a:r>
            <a:r>
              <a:rPr lang="en-US" altLang="en-US"/>
              <a:t>[</a:t>
            </a:r>
            <a:r>
              <a:rPr lang="en-US" altLang="en-US" i="1"/>
              <a:t>x</a:t>
            </a:r>
            <a:r>
              <a:rPr lang="en-US" altLang="en-US"/>
              <a:t>]</a:t>
            </a:r>
          </a:p>
          <a:p>
            <a:pPr marL="609600" indent="-609600">
              <a:buNone/>
            </a:pPr>
            <a:r>
              <a:rPr lang="en-US" altLang="en-US"/>
              <a:t>4.              Inorder-Tree-Walk(</a:t>
            </a:r>
            <a:r>
              <a:rPr lang="en-US" altLang="en-US" i="1"/>
              <a:t>right</a:t>
            </a:r>
            <a:r>
              <a:rPr lang="en-US" altLang="en-US"/>
              <a:t>[</a:t>
            </a:r>
            <a:r>
              <a:rPr lang="en-US" altLang="en-US" i="1"/>
              <a:t>p</a:t>
            </a:r>
            <a:r>
              <a:rPr lang="en-US" altLang="en-US"/>
              <a:t>])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AC504110-E332-1671-9BE0-535CC3AAB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953000"/>
            <a:ext cx="8301038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609600" indent="-609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526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 typeface="Wingdings" pitchFamily="2" charset="2"/>
              <a:buChar char="w"/>
            </a:pPr>
            <a:r>
              <a:rPr lang="en-US" altLang="en-US" sz="3200">
                <a:solidFill>
                  <a:srgbClr val="CC3300"/>
                </a:solidFill>
              </a:rPr>
              <a:t>How long does the walk take?</a:t>
            </a:r>
          </a:p>
          <a:p>
            <a:pPr>
              <a:spcBef>
                <a:spcPct val="20000"/>
              </a:spcBef>
              <a:buFont typeface="Wingdings" pitchFamily="2" charset="2"/>
              <a:buChar char="w"/>
            </a:pPr>
            <a:r>
              <a:rPr lang="en-US" altLang="en-US" sz="3200">
                <a:solidFill>
                  <a:srgbClr val="CC3300"/>
                </a:solidFill>
              </a:rPr>
              <a:t>Can you prove its correctness?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CB4605F5-E466-1C94-8687-7F825EF70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1143001"/>
            <a:ext cx="83978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CC3300"/>
                </a:solidFill>
              </a:rPr>
              <a:t>The binary-search-tree property allows the keys of a binary search tree to be printed, </a:t>
            </a:r>
            <a:r>
              <a:rPr lang="en-US" altLang="en-US">
                <a:solidFill>
                  <a:schemeClr val="hlink"/>
                </a:solidFill>
              </a:rPr>
              <a:t>in (monotonically increasing) order</a:t>
            </a:r>
            <a:r>
              <a:rPr lang="en-US" altLang="en-US">
                <a:solidFill>
                  <a:srgbClr val="CC3300"/>
                </a:solidFill>
              </a:rPr>
              <a:t>,  recursively.</a:t>
            </a:r>
          </a:p>
        </p:txBody>
      </p:sp>
      <p:sp>
        <p:nvSpPr>
          <p:cNvPr id="7175" name="Oval 7">
            <a:extLst>
              <a:ext uri="{FF2B5EF4-FFF2-40B4-BE49-F238E27FC236}">
                <a16:creationId xmlns:a16="http://schemas.microsoft.com/office/drawing/2014/main" id="{E0A4F174-FFA7-1877-DDEF-28D118005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464" y="2895600"/>
            <a:ext cx="263525" cy="273050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/>
              <a:t>56</a:t>
            </a:r>
          </a:p>
        </p:txBody>
      </p:sp>
      <p:grpSp>
        <p:nvGrpSpPr>
          <p:cNvPr id="7176" name="Group 8">
            <a:extLst>
              <a:ext uri="{FF2B5EF4-FFF2-40B4-BE49-F238E27FC236}">
                <a16:creationId xmlns:a16="http://schemas.microsoft.com/office/drawing/2014/main" id="{8F8CE459-3F5C-4DED-5641-D5211B80D999}"/>
              </a:ext>
            </a:extLst>
          </p:cNvPr>
          <p:cNvGrpSpPr>
            <a:grpSpLocks/>
          </p:cNvGrpSpPr>
          <p:nvPr/>
        </p:nvGrpSpPr>
        <p:grpSpPr bwMode="auto">
          <a:xfrm>
            <a:off x="8589964" y="3127375"/>
            <a:ext cx="1368425" cy="446088"/>
            <a:chOff x="1620" y="1679"/>
            <a:chExt cx="1683" cy="547"/>
          </a:xfrm>
        </p:grpSpPr>
        <p:sp>
          <p:nvSpPr>
            <p:cNvPr id="7177" name="Oval 9">
              <a:extLst>
                <a:ext uri="{FF2B5EF4-FFF2-40B4-BE49-F238E27FC236}">
                  <a16:creationId xmlns:a16="http://schemas.microsoft.com/office/drawing/2014/main" id="{43AEB598-7B88-426C-C525-08A2011E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26</a:t>
              </a:r>
            </a:p>
          </p:txBody>
        </p:sp>
        <p:sp>
          <p:nvSpPr>
            <p:cNvPr id="7178" name="Oval 10">
              <a:extLst>
                <a:ext uri="{FF2B5EF4-FFF2-40B4-BE49-F238E27FC236}">
                  <a16:creationId xmlns:a16="http://schemas.microsoft.com/office/drawing/2014/main" id="{353EFFDC-DEB6-D8C0-22F3-43C947362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200</a:t>
              </a:r>
            </a:p>
          </p:txBody>
        </p:sp>
        <p:cxnSp>
          <p:nvCxnSpPr>
            <p:cNvPr id="7179" name="AutoShape 11">
              <a:extLst>
                <a:ext uri="{FF2B5EF4-FFF2-40B4-BE49-F238E27FC236}">
                  <a16:creationId xmlns:a16="http://schemas.microsoft.com/office/drawing/2014/main" id="{21778410-8A47-2038-B9FD-EC2026BBE24D}"/>
                </a:ext>
              </a:extLst>
            </p:cNvPr>
            <p:cNvCxnSpPr>
              <a:cxnSpLocks noChangeShapeType="1"/>
              <a:stCxn id="7175" idx="5"/>
              <a:endCxn id="7178" idx="0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80" name="AutoShape 12">
              <a:extLst>
                <a:ext uri="{FF2B5EF4-FFF2-40B4-BE49-F238E27FC236}">
                  <a16:creationId xmlns:a16="http://schemas.microsoft.com/office/drawing/2014/main" id="{6C3193FA-5F5C-550F-B44A-EE797D3690F2}"/>
                </a:ext>
              </a:extLst>
            </p:cNvPr>
            <p:cNvCxnSpPr>
              <a:cxnSpLocks noChangeShapeType="1"/>
              <a:stCxn id="7175" idx="3"/>
              <a:endCxn id="7177" idx="0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81" name="Group 13">
            <a:extLst>
              <a:ext uri="{FF2B5EF4-FFF2-40B4-BE49-F238E27FC236}">
                <a16:creationId xmlns:a16="http://schemas.microsoft.com/office/drawing/2014/main" id="{7BB8DE0B-04E7-6F4B-0CB7-57E90E2DF76F}"/>
              </a:ext>
            </a:extLst>
          </p:cNvPr>
          <p:cNvGrpSpPr>
            <a:grpSpLocks/>
          </p:cNvGrpSpPr>
          <p:nvPr/>
        </p:nvGrpSpPr>
        <p:grpSpPr bwMode="auto">
          <a:xfrm>
            <a:off x="8169276" y="3532188"/>
            <a:ext cx="1019175" cy="601662"/>
            <a:chOff x="1103" y="2177"/>
            <a:chExt cx="1254" cy="740"/>
          </a:xfrm>
        </p:grpSpPr>
        <p:sp>
          <p:nvSpPr>
            <p:cNvPr id="7182" name="Oval 14">
              <a:extLst>
                <a:ext uri="{FF2B5EF4-FFF2-40B4-BE49-F238E27FC236}">
                  <a16:creationId xmlns:a16="http://schemas.microsoft.com/office/drawing/2014/main" id="{64C4B9DA-3502-873F-2489-016F4815C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18</a:t>
              </a:r>
            </a:p>
          </p:txBody>
        </p:sp>
        <p:sp>
          <p:nvSpPr>
            <p:cNvPr id="7183" name="Oval 15">
              <a:extLst>
                <a:ext uri="{FF2B5EF4-FFF2-40B4-BE49-F238E27FC236}">
                  <a16:creationId xmlns:a16="http://schemas.microsoft.com/office/drawing/2014/main" id="{F9D73E73-47C6-7C8C-1FE3-74EF16797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28</a:t>
              </a:r>
            </a:p>
          </p:txBody>
        </p:sp>
        <p:cxnSp>
          <p:nvCxnSpPr>
            <p:cNvPr id="7184" name="AutoShape 16">
              <a:extLst>
                <a:ext uri="{FF2B5EF4-FFF2-40B4-BE49-F238E27FC236}">
                  <a16:creationId xmlns:a16="http://schemas.microsoft.com/office/drawing/2014/main" id="{BCC98706-5C56-186A-22C2-8D3484B7698D}"/>
                </a:ext>
              </a:extLst>
            </p:cNvPr>
            <p:cNvCxnSpPr>
              <a:cxnSpLocks noChangeShapeType="1"/>
              <a:stCxn id="7177" idx="3"/>
              <a:endCxn id="7182" idx="0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85" name="AutoShape 17">
              <a:extLst>
                <a:ext uri="{FF2B5EF4-FFF2-40B4-BE49-F238E27FC236}">
                  <a16:creationId xmlns:a16="http://schemas.microsoft.com/office/drawing/2014/main" id="{92B41BF5-F132-29C3-25F6-3249F5978FF0}"/>
                </a:ext>
              </a:extLst>
            </p:cNvPr>
            <p:cNvCxnSpPr>
              <a:cxnSpLocks noChangeShapeType="1"/>
              <a:stCxn id="7177" idx="5"/>
              <a:endCxn id="7183" idx="0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86" name="Group 18">
            <a:extLst>
              <a:ext uri="{FF2B5EF4-FFF2-40B4-BE49-F238E27FC236}">
                <a16:creationId xmlns:a16="http://schemas.microsoft.com/office/drawing/2014/main" id="{4C31BADF-BFA3-25DB-3CF4-0A8D2BD9ACCE}"/>
              </a:ext>
            </a:extLst>
          </p:cNvPr>
          <p:cNvGrpSpPr>
            <a:grpSpLocks/>
          </p:cNvGrpSpPr>
          <p:nvPr/>
        </p:nvGrpSpPr>
        <p:grpSpPr bwMode="auto">
          <a:xfrm>
            <a:off x="9396414" y="3532188"/>
            <a:ext cx="890587" cy="596900"/>
            <a:chOff x="2612" y="2177"/>
            <a:chExt cx="1096" cy="733"/>
          </a:xfrm>
        </p:grpSpPr>
        <p:sp>
          <p:nvSpPr>
            <p:cNvPr id="7187" name="Oval 19">
              <a:extLst>
                <a:ext uri="{FF2B5EF4-FFF2-40B4-BE49-F238E27FC236}">
                  <a16:creationId xmlns:a16="http://schemas.microsoft.com/office/drawing/2014/main" id="{53E2636C-87AE-1336-E07F-3BF2F6D00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190</a:t>
              </a:r>
            </a:p>
          </p:txBody>
        </p:sp>
        <p:sp>
          <p:nvSpPr>
            <p:cNvPr id="7188" name="Oval 20">
              <a:extLst>
                <a:ext uri="{FF2B5EF4-FFF2-40B4-BE49-F238E27FC236}">
                  <a16:creationId xmlns:a16="http://schemas.microsoft.com/office/drawing/2014/main" id="{60BE0A39-5ECA-5628-C8E9-EC19787BE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57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213</a:t>
              </a:r>
            </a:p>
          </p:txBody>
        </p:sp>
        <p:cxnSp>
          <p:nvCxnSpPr>
            <p:cNvPr id="7189" name="AutoShape 21">
              <a:extLst>
                <a:ext uri="{FF2B5EF4-FFF2-40B4-BE49-F238E27FC236}">
                  <a16:creationId xmlns:a16="http://schemas.microsoft.com/office/drawing/2014/main" id="{ADDE73A8-1D33-4DC1-A772-B5850690732B}"/>
                </a:ext>
              </a:extLst>
            </p:cNvPr>
            <p:cNvCxnSpPr>
              <a:cxnSpLocks noChangeShapeType="1"/>
              <a:stCxn id="7178" idx="3"/>
              <a:endCxn id="7187" idx="0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90" name="AutoShape 22">
              <a:extLst>
                <a:ext uri="{FF2B5EF4-FFF2-40B4-BE49-F238E27FC236}">
                  <a16:creationId xmlns:a16="http://schemas.microsoft.com/office/drawing/2014/main" id="{D9B444E5-4B63-A203-ACAA-E31F83154B87}"/>
                </a:ext>
              </a:extLst>
            </p:cNvPr>
            <p:cNvCxnSpPr>
              <a:cxnSpLocks noChangeShapeType="1"/>
              <a:stCxn id="7178" idx="5"/>
              <a:endCxn id="7188" idx="0"/>
            </p:cNvCxnSpPr>
            <p:nvPr/>
          </p:nvCxnSpPr>
          <p:spPr bwMode="auto">
            <a:xfrm>
              <a:off x="3255" y="2177"/>
              <a:ext cx="291" cy="3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91" name="Group 23">
            <a:extLst>
              <a:ext uri="{FF2B5EF4-FFF2-40B4-BE49-F238E27FC236}">
                <a16:creationId xmlns:a16="http://schemas.microsoft.com/office/drawing/2014/main" id="{CCD1E933-C2B1-0BB7-2DC9-CB4FD540FE86}"/>
              </a:ext>
            </a:extLst>
          </p:cNvPr>
          <p:cNvGrpSpPr>
            <a:grpSpLocks/>
          </p:cNvGrpSpPr>
          <p:nvPr/>
        </p:nvGrpSpPr>
        <p:grpSpPr bwMode="auto">
          <a:xfrm>
            <a:off x="7899400" y="4094163"/>
            <a:ext cx="750888" cy="627062"/>
            <a:chOff x="771" y="2868"/>
            <a:chExt cx="923" cy="771"/>
          </a:xfrm>
        </p:grpSpPr>
        <p:sp>
          <p:nvSpPr>
            <p:cNvPr id="7192" name="Oval 24">
              <a:extLst>
                <a:ext uri="{FF2B5EF4-FFF2-40B4-BE49-F238E27FC236}">
                  <a16:creationId xmlns:a16="http://schemas.microsoft.com/office/drawing/2014/main" id="{92DF3368-E3CD-9BE3-FDDE-DFF56E1F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285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12</a:t>
              </a:r>
            </a:p>
          </p:txBody>
        </p:sp>
        <p:sp>
          <p:nvSpPr>
            <p:cNvPr id="7193" name="Oval 25">
              <a:extLst>
                <a:ext uri="{FF2B5EF4-FFF2-40B4-BE49-F238E27FC236}">
                  <a16:creationId xmlns:a16="http://schemas.microsoft.com/office/drawing/2014/main" id="{732C87CF-3773-6FB1-9D10-5B2C1CA2E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24</a:t>
              </a:r>
            </a:p>
          </p:txBody>
        </p:sp>
        <p:cxnSp>
          <p:nvCxnSpPr>
            <p:cNvPr id="7194" name="AutoShape 26">
              <a:extLst>
                <a:ext uri="{FF2B5EF4-FFF2-40B4-BE49-F238E27FC236}">
                  <a16:creationId xmlns:a16="http://schemas.microsoft.com/office/drawing/2014/main" id="{52AFD589-20E1-5A96-A838-90F947A11DA6}"/>
                </a:ext>
              </a:extLst>
            </p:cNvPr>
            <p:cNvCxnSpPr>
              <a:cxnSpLocks noChangeShapeType="1"/>
              <a:stCxn id="7182" idx="3"/>
              <a:endCxn id="7192" idx="0"/>
            </p:cNvCxnSpPr>
            <p:nvPr/>
          </p:nvCxnSpPr>
          <p:spPr bwMode="auto">
            <a:xfrm flipH="1">
              <a:off x="934" y="2868"/>
              <a:ext cx="217" cy="4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95" name="AutoShape 27">
              <a:extLst>
                <a:ext uri="{FF2B5EF4-FFF2-40B4-BE49-F238E27FC236}">
                  <a16:creationId xmlns:a16="http://schemas.microsoft.com/office/drawing/2014/main" id="{AF0BD2FF-C043-4B96-31F1-9BC6542DD6E8}"/>
                </a:ext>
              </a:extLst>
            </p:cNvPr>
            <p:cNvCxnSpPr>
              <a:cxnSpLocks noChangeShapeType="1"/>
              <a:stCxn id="7182" idx="5"/>
              <a:endCxn id="7193" idx="0"/>
            </p:cNvCxnSpPr>
            <p:nvPr/>
          </p:nvCxnSpPr>
          <p:spPr bwMode="auto">
            <a:xfrm>
              <a:off x="1380" y="2868"/>
              <a:ext cx="152" cy="4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96" name="Group 28">
            <a:extLst>
              <a:ext uri="{FF2B5EF4-FFF2-40B4-BE49-F238E27FC236}">
                <a16:creationId xmlns:a16="http://schemas.microsoft.com/office/drawing/2014/main" id="{11E5A373-536D-5EDA-BC28-258E03ABEFF3}"/>
              </a:ext>
            </a:extLst>
          </p:cNvPr>
          <p:cNvGrpSpPr>
            <a:grpSpLocks/>
          </p:cNvGrpSpPr>
          <p:nvPr/>
        </p:nvGrpSpPr>
        <p:grpSpPr bwMode="auto">
          <a:xfrm>
            <a:off x="8728076" y="4119563"/>
            <a:ext cx="328613" cy="601662"/>
            <a:chOff x="1790" y="2899"/>
            <a:chExt cx="405" cy="740"/>
          </a:xfrm>
        </p:grpSpPr>
        <p:sp>
          <p:nvSpPr>
            <p:cNvPr id="7197" name="Oval 29">
              <a:extLst>
                <a:ext uri="{FF2B5EF4-FFF2-40B4-BE49-F238E27FC236}">
                  <a16:creationId xmlns:a16="http://schemas.microsoft.com/office/drawing/2014/main" id="{C63B9A5D-66CB-71C4-84BE-8FEDE8CB5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200"/>
                <a:t>27</a:t>
              </a:r>
            </a:p>
          </p:txBody>
        </p:sp>
        <p:cxnSp>
          <p:nvCxnSpPr>
            <p:cNvPr id="7198" name="AutoShape 30">
              <a:extLst>
                <a:ext uri="{FF2B5EF4-FFF2-40B4-BE49-F238E27FC236}">
                  <a16:creationId xmlns:a16="http://schemas.microsoft.com/office/drawing/2014/main" id="{DF5C8A00-9CA1-7929-FD88-534C5A763947}"/>
                </a:ext>
              </a:extLst>
            </p:cNvPr>
            <p:cNvCxnSpPr>
              <a:cxnSpLocks noChangeShapeType="1"/>
              <a:stCxn id="7183" idx="4"/>
              <a:endCxn id="7197" idx="0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EEA4F4B-664F-7356-CB1C-733A20C9F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Querying a Binary Search Tree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B2DA038-F17C-E1C1-CDBF-54907B671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1188" y="1066800"/>
            <a:ext cx="8369300" cy="5105400"/>
          </a:xfrm>
        </p:spPr>
        <p:txBody>
          <a:bodyPr/>
          <a:lstStyle/>
          <a:p>
            <a:r>
              <a:rPr lang="en-US" altLang="en-US"/>
              <a:t>All dynamic-set search operations can be supported in </a:t>
            </a:r>
            <a:r>
              <a:rPr lang="en-US" altLang="en-US" i="1">
                <a:solidFill>
                  <a:srgbClr val="CC3300"/>
                </a:solidFill>
              </a:rPr>
              <a:t>O</a:t>
            </a:r>
            <a:r>
              <a:rPr lang="en-US" altLang="en-US">
                <a:solidFill>
                  <a:srgbClr val="CC3300"/>
                </a:solidFill>
              </a:rPr>
              <a:t>(</a:t>
            </a:r>
            <a:r>
              <a:rPr lang="en-US" altLang="en-US" i="1">
                <a:solidFill>
                  <a:srgbClr val="CC3300"/>
                </a:solidFill>
              </a:rPr>
              <a:t>h</a:t>
            </a:r>
            <a:r>
              <a:rPr lang="en-US" altLang="en-US">
                <a:solidFill>
                  <a:srgbClr val="CC3300"/>
                </a:solidFill>
              </a:rPr>
              <a:t>) time</a:t>
            </a:r>
            <a:r>
              <a:rPr lang="en-US" altLang="en-US"/>
              <a:t>.</a:t>
            </a:r>
          </a:p>
          <a:p>
            <a:r>
              <a:rPr lang="en-US" altLang="en-US" i="1">
                <a:solidFill>
                  <a:srgbClr val="CC3300"/>
                </a:solidFill>
              </a:rPr>
              <a:t>h</a:t>
            </a:r>
            <a:r>
              <a:rPr lang="en-US" altLang="en-US">
                <a:solidFill>
                  <a:srgbClr val="CC3300"/>
                </a:solidFill>
              </a:rPr>
              <a:t> = </a:t>
            </a:r>
            <a:r>
              <a:rPr lang="en-US" altLang="en-US">
                <a:solidFill>
                  <a:srgbClr val="CC3300"/>
                </a:solidFill>
                <a:sym typeface="Symbol" pitchFamily="2" charset="2"/>
              </a:rPr>
              <a:t>(</a:t>
            </a:r>
            <a:r>
              <a:rPr lang="en-US" altLang="en-US" i="1">
                <a:solidFill>
                  <a:srgbClr val="CC3300"/>
                </a:solidFill>
              </a:rPr>
              <a:t>lg n</a:t>
            </a:r>
            <a:r>
              <a:rPr lang="en-US" altLang="en-US">
                <a:solidFill>
                  <a:srgbClr val="CC3300"/>
                </a:solidFill>
              </a:rPr>
              <a:t>) </a:t>
            </a:r>
            <a:r>
              <a:rPr lang="en-US" altLang="en-US"/>
              <a:t>for a balanced binary tree (and for an average tree built by adding nodes in random order.)</a:t>
            </a:r>
          </a:p>
          <a:p>
            <a:r>
              <a:rPr lang="en-US" altLang="en-US" i="1">
                <a:solidFill>
                  <a:srgbClr val="CC3300"/>
                </a:solidFill>
              </a:rPr>
              <a:t>h =</a:t>
            </a:r>
            <a:r>
              <a:rPr lang="en-US" altLang="en-US">
                <a:solidFill>
                  <a:srgbClr val="CC3300"/>
                </a:solidFill>
              </a:rPr>
              <a:t> </a:t>
            </a:r>
            <a:r>
              <a:rPr lang="en-US" altLang="en-US">
                <a:solidFill>
                  <a:srgbClr val="CC3300"/>
                </a:solidFill>
                <a:sym typeface="Symbol" pitchFamily="2" charset="2"/>
              </a:rPr>
              <a:t>(</a:t>
            </a:r>
            <a:r>
              <a:rPr lang="en-US" altLang="en-US" i="1">
                <a:solidFill>
                  <a:srgbClr val="CC3300"/>
                </a:solidFill>
              </a:rPr>
              <a:t>n</a:t>
            </a:r>
            <a:r>
              <a:rPr lang="en-US" altLang="en-US">
                <a:solidFill>
                  <a:srgbClr val="CC3300"/>
                </a:solidFill>
              </a:rPr>
              <a:t>)</a:t>
            </a:r>
            <a:r>
              <a:rPr lang="en-US" altLang="en-US"/>
              <a:t> for an unbalanced tree that resembles a linear chain of </a:t>
            </a:r>
            <a:r>
              <a:rPr lang="en-US" altLang="en-US" i="1"/>
              <a:t>n</a:t>
            </a:r>
            <a:r>
              <a:rPr lang="en-US" altLang="en-US"/>
              <a:t> nodes in the worst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B735-CA75-4CB1-1473-1E425DF2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A9CEE-2A76-0001-F0AA-61228414E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Unique ordering of elements means duplicates are usually not allowed.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Inorder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traversal of a BST gives sorted order of elements.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Average height: O(log n) (for balanced BST).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Worst case height: O(n) (when tree becomes skewed).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89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23D5-C63D-D363-12A0-EFF08FE7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Operation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CCD0-A8BC-AD89-3402-EE685135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Given the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root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of a Binary Search Tree, we need to insert a new node with given value in the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BST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All the nodes have distinct values in the BST and we may assume that the the new value to be inserted is not present in BST.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3074" name="Picture 2" descr="Insertion-in-BST">
            <a:extLst>
              <a:ext uri="{FF2B5EF4-FFF2-40B4-BE49-F238E27FC236}">
                <a16:creationId xmlns:a16="http://schemas.microsoft.com/office/drawing/2014/main" id="{121D148A-C53A-CBCB-9FF8-EB8B7B01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615" y="3427768"/>
            <a:ext cx="5440136" cy="343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9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4A51-55AF-2F12-90C5-566D32CC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Search Operation in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D4139-5453-7FC8-19B1-89D9C007D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Start at the root. Then: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Compare value to be searched with the value of the root.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its equal search is success.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smaller go to the left subtree.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greater go to the right subtree.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Repeat the above step till no more traversal is possible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at any iteration, key is found, return True. If the node is null, return 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5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4908-EDA7-3906-F35D-3225460F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  <a:t>Deletion in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945C-365F-6414-B932-B7CC4A4DF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 fontAlgn="base"/>
            <a:r>
              <a:rPr lang="en-IN" b="0" i="0" dirty="0">
                <a:effectLst/>
                <a:latin typeface="Nunito" pitchFamily="2" charset="77"/>
              </a:rPr>
              <a:t>Removing the target node while ensuring that the tree remains a valid BST. There are three possible scenarios:</a:t>
            </a:r>
          </a:p>
          <a:p>
            <a:pPr algn="l" fontAlgn="base"/>
            <a:r>
              <a:rPr lang="en-IN" b="1" i="0" dirty="0">
                <a:effectLst/>
                <a:latin typeface="Nunito" pitchFamily="2" charset="77"/>
              </a:rPr>
              <a:t>Case 1: Node has No Children (Leaf Node)</a:t>
            </a:r>
          </a:p>
          <a:p>
            <a:pPr lvl="1"/>
            <a:r>
              <a:rPr lang="en-IN" b="0" i="0" dirty="0">
                <a:effectLst/>
                <a:latin typeface="Google Sans"/>
              </a:rPr>
              <a:t>This is the simplest case where the node to be deleted is a leaf node (has no left or right child). </a:t>
            </a:r>
          </a:p>
          <a:p>
            <a:pPr lvl="1"/>
            <a:r>
              <a:rPr lang="en-IN" b="0" i="0" dirty="0">
                <a:effectLst/>
                <a:latin typeface="Google Sans"/>
              </a:rPr>
              <a:t>Directly remove the node from the tree by setting the corresponding child pointer of its parent to </a:t>
            </a:r>
            <a:r>
              <a:rPr lang="en-IN" dirty="0"/>
              <a:t>NULL</a:t>
            </a:r>
            <a:r>
              <a:rPr lang="en-IN" b="0" i="0" dirty="0">
                <a:effectLst/>
                <a:latin typeface="Google Sans"/>
              </a:rPr>
              <a:t>.</a:t>
            </a:r>
            <a:endParaRPr lang="en-IN" b="1" i="0" dirty="0">
              <a:effectLst/>
              <a:latin typeface="Nunito" pitchFamily="2" charset="77"/>
            </a:endParaRPr>
          </a:p>
          <a:p>
            <a:pPr algn="l" fontAlgn="base"/>
            <a:r>
              <a:rPr lang="en-IN" b="1" i="0" dirty="0">
                <a:effectLst/>
                <a:latin typeface="Nunito" pitchFamily="2" charset="77"/>
              </a:rPr>
              <a:t>Case 2: Node has One Child(Left or Right Child)</a:t>
            </a:r>
          </a:p>
          <a:p>
            <a:pPr lvl="1" fontAlgn="base"/>
            <a:r>
              <a:rPr lang="en-IN" dirty="0"/>
              <a:t>The node to be deleted has either a left child or a right child, but not both.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lvl="1" fontAlgn="base"/>
            <a:r>
              <a:rPr lang="en-IN" b="0" i="0" dirty="0">
                <a:effectLst/>
                <a:latin typeface="Google Sans"/>
              </a:rPr>
              <a:t>Delete the node and replace it with its child. The parent of the deleted node now points directly to the child of the deleted node.</a:t>
            </a:r>
            <a:endParaRPr lang="en-IN" b="1" i="0" dirty="0">
              <a:effectLst/>
              <a:latin typeface="Nunito" pitchFamily="2" charset="77"/>
            </a:endParaRPr>
          </a:p>
          <a:p>
            <a:pPr algn="l" fontAlgn="base"/>
            <a:r>
              <a:rPr lang="en-IN" b="1" i="0" dirty="0">
                <a:effectLst/>
                <a:latin typeface="Nunito" pitchFamily="2" charset="77"/>
              </a:rPr>
              <a:t>Case 3: Node has Two Children</a:t>
            </a:r>
          </a:p>
          <a:p>
            <a:pPr lvl="1" fontAlgn="base"/>
            <a:r>
              <a:rPr lang="en-IN" i="0" dirty="0">
                <a:effectLst/>
                <a:latin typeface="Nunito" pitchFamily="2" charset="77"/>
              </a:rPr>
              <a:t>Little Complex…</a:t>
            </a:r>
          </a:p>
        </p:txBody>
      </p:sp>
    </p:spTree>
    <p:extLst>
      <p:ext uri="{BB962C8B-B14F-4D97-AF65-F5344CB8AC3E}">
        <p14:creationId xmlns:p14="http://schemas.microsoft.com/office/powerpoint/2010/main" val="2718963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093F-B16A-282A-8CD5-221B54AD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6EE1B-06C0-F84F-8F4A-2DB01DFF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Leaf Node Deletion">
            <a:extLst>
              <a:ext uri="{FF2B5EF4-FFF2-40B4-BE49-F238E27FC236}">
                <a16:creationId xmlns:a16="http://schemas.microsoft.com/office/drawing/2014/main" id="{70A258C6-1197-0199-41D7-A703FA5FC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27200"/>
            <a:ext cx="99060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945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86FC-26C9-B93D-2A21-0BC54AA1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1: Node has No Children (Leaf Node)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F8938-4DA1-1496-B28E-A81E61CD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eletion-in-Binary-Search-Tree">
            <a:extLst>
              <a:ext uri="{FF2B5EF4-FFF2-40B4-BE49-F238E27FC236}">
                <a16:creationId xmlns:a16="http://schemas.microsoft.com/office/drawing/2014/main" id="{D0F6A5FA-8EDE-6595-7389-044063421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690688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670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5B5C-D87D-F7AF-49EA-41927A28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4AF68-4EB1-383C-CECA-FD219521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Node with One Child">
            <a:extLst>
              <a:ext uri="{FF2B5EF4-FFF2-40B4-BE49-F238E27FC236}">
                <a16:creationId xmlns:a16="http://schemas.microsoft.com/office/drawing/2014/main" id="{3689076A-BA80-B632-CCE9-A930FA62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1363"/>
            <a:ext cx="12192000" cy="283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23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DF84-8D15-6F74-24CB-976C1410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3BD3-96B9-4861-D34C-1430336E4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deletion_in_bst_1.webp">
            <a:extLst>
              <a:ext uri="{FF2B5EF4-FFF2-40B4-BE49-F238E27FC236}">
                <a16:creationId xmlns:a16="http://schemas.microsoft.com/office/drawing/2014/main" id="{07EA7B03-3CFC-159E-41DC-FC9FBD04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37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AAADD-BFEF-77CB-345C-6CBC1625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614B-F193-A38E-DE6D-A7BE9476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A3AB-8A03-F969-DB6A-A2426D9A4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eletion_in_bst_2.webp">
            <a:extLst>
              <a:ext uri="{FF2B5EF4-FFF2-40B4-BE49-F238E27FC236}">
                <a16:creationId xmlns:a16="http://schemas.microsoft.com/office/drawing/2014/main" id="{23B4C564-0D5A-D051-300D-64CCDFCB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609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A7FB-6E6D-2568-E047-E829BD0C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1A83-AF15-A252-7C5A-A6B87153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0A39-8B2D-0622-72BF-64191CDC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eletion_in_bst_3.webp">
            <a:extLst>
              <a:ext uri="{FF2B5EF4-FFF2-40B4-BE49-F238E27FC236}">
                <a16:creationId xmlns:a16="http://schemas.microsoft.com/office/drawing/2014/main" id="{E1ED322F-1044-4617-6347-09D2738A4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246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7D31-0CF2-4CC5-992C-425335E9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0EF8-3226-B8D8-2773-93BEB298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5DCB-A28D-AA29-7CF8-0906FDA8D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eletion_in_bst_4.webp">
            <a:extLst>
              <a:ext uri="{FF2B5EF4-FFF2-40B4-BE49-F238E27FC236}">
                <a16:creationId xmlns:a16="http://schemas.microsoft.com/office/drawing/2014/main" id="{573285DF-89DD-1357-76FB-9CBD0B6CA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690688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653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4C4D-1E86-6076-200E-2FB1CE62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7C89-FB9A-D9E4-1943-157FDFAA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C665-B1FD-E325-90B5-E089FAC2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deletion_in_bst_7.webp">
            <a:extLst>
              <a:ext uri="{FF2B5EF4-FFF2-40B4-BE49-F238E27FC236}">
                <a16:creationId xmlns:a16="http://schemas.microsoft.com/office/drawing/2014/main" id="{94919470-AA18-5D6B-AA1C-4D9E49958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778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19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5DFD-E626-3850-CC24-8C9C02A91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9094-C489-FD52-0423-C371EFF1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2: Node has One Child(Left or Right Child)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FE95-8882-0F08-1DDF-D90BAEA1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4" name="Picture 4" descr="deletion_in_bst_6.webp">
            <a:extLst>
              <a:ext uri="{FF2B5EF4-FFF2-40B4-BE49-F238E27FC236}">
                <a16:creationId xmlns:a16="http://schemas.microsoft.com/office/drawing/2014/main" id="{425EA9E9-46EB-80E8-1EF6-709092DD8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172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690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7E39-A117-F2F6-7B27-75140C05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2D55-34C9-DAFE-CAA6-3D67004FE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Google Sans"/>
              </a:rPr>
              <a:t>Find the node's </a:t>
            </a:r>
            <a:r>
              <a:rPr lang="en-IN" b="1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inorder successor</a:t>
            </a:r>
            <a:r>
              <a:rPr lang="en-IN" b="0" i="0" dirty="0">
                <a:effectLst/>
                <a:latin typeface="Google Sans"/>
              </a:rPr>
              <a:t> (smallest value in the right subtree) or </a:t>
            </a:r>
            <a:r>
              <a:rPr lang="en-IN" b="1" i="0" dirty="0">
                <a:effectLst/>
                <a:latin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inorder predecessor</a:t>
            </a:r>
            <a:r>
              <a:rPr lang="en-IN" b="0" i="0" dirty="0">
                <a:effectLst/>
                <a:latin typeface="Google Sans"/>
              </a:rPr>
              <a:t> (largest value in the left subtree).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Google Sans"/>
              </a:rPr>
              <a:t>Copy the value of the </a:t>
            </a:r>
            <a:r>
              <a:rPr lang="en-IN" b="0" i="0" dirty="0" err="1">
                <a:effectLst/>
                <a:latin typeface="Google Sans"/>
              </a:rPr>
              <a:t>inorder</a:t>
            </a:r>
            <a:r>
              <a:rPr lang="en-IN" b="0" i="0" dirty="0">
                <a:effectLst/>
                <a:latin typeface="Google Sans"/>
              </a:rPr>
              <a:t> successor/predecessor to the node to be deleted.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Google Sans"/>
              </a:rPr>
              <a:t>Delete the </a:t>
            </a:r>
            <a:r>
              <a:rPr lang="en-IN" b="0" i="0" dirty="0" err="1">
                <a:effectLst/>
                <a:latin typeface="Google Sans"/>
              </a:rPr>
              <a:t>inorder</a:t>
            </a:r>
            <a:r>
              <a:rPr lang="en-IN" b="0" i="0" dirty="0">
                <a:effectLst/>
                <a:latin typeface="Google Sans"/>
              </a:rPr>
              <a:t> successor/predecessor node (which will now fall under case 1 or case 2).</a:t>
            </a:r>
          </a:p>
        </p:txBody>
      </p:sp>
    </p:spTree>
    <p:extLst>
      <p:ext uri="{BB962C8B-B14F-4D97-AF65-F5344CB8AC3E}">
        <p14:creationId xmlns:p14="http://schemas.microsoft.com/office/powerpoint/2010/main" val="1495761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229A-A923-7994-F0C0-23726756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0608E-4466-2525-0920-455B0983F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Nodes with Two children">
            <a:extLst>
              <a:ext uri="{FF2B5EF4-FFF2-40B4-BE49-F238E27FC236}">
                <a16:creationId xmlns:a16="http://schemas.microsoft.com/office/drawing/2014/main" id="{76397BBE-AE01-799C-93AB-47E2B13FF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0"/>
            <a:ext cx="12112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562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2F22-4675-664C-FA4D-A5BCCB10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6EB8-4A62-918E-655C-022A1CB5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eletion-in-BST-1.webp">
            <a:extLst>
              <a:ext uri="{FF2B5EF4-FFF2-40B4-BE49-F238E27FC236}">
                <a16:creationId xmlns:a16="http://schemas.microsoft.com/office/drawing/2014/main" id="{B3C806F3-E8A0-6281-7A23-8DA39CAA7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208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6098-7CB4-A55E-CC59-9A1942DE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99AE-8FFA-0377-A6EA-5B6BD7F3B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Deletion-in-BST-2.webp">
            <a:extLst>
              <a:ext uri="{FF2B5EF4-FFF2-40B4-BE49-F238E27FC236}">
                <a16:creationId xmlns:a16="http://schemas.microsoft.com/office/drawing/2014/main" id="{1A2E1C3E-FF94-AF83-0143-B0F212E98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798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9C48-B4B5-9D10-3851-38E285F5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427B-FBC1-EF30-1B95-1A684F73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Deletion-in-BST-3.webp">
            <a:extLst>
              <a:ext uri="{FF2B5EF4-FFF2-40B4-BE49-F238E27FC236}">
                <a16:creationId xmlns:a16="http://schemas.microsoft.com/office/drawing/2014/main" id="{259586E0-6DD3-6936-CFDC-B9BD34383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508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6975-5C97-26B9-1E82-C2FCBC74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A1BA2-5EB4-5C96-ED9F-96D40C9B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Deletion-in-BST-4.webp">
            <a:extLst>
              <a:ext uri="{FF2B5EF4-FFF2-40B4-BE49-F238E27FC236}">
                <a16:creationId xmlns:a16="http://schemas.microsoft.com/office/drawing/2014/main" id="{F48FFBC5-43F4-D84E-74FC-B45C46A53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9068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575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99CC-C68D-3635-953E-B8CC8FD1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 3: Node has Two Children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46B5B-CFF4-5D46-2ECD-31C110A9D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Deletion-in-BST-5.webp">
            <a:extLst>
              <a:ext uri="{FF2B5EF4-FFF2-40B4-BE49-F238E27FC236}">
                <a16:creationId xmlns:a16="http://schemas.microsoft.com/office/drawing/2014/main" id="{0274C96F-643D-CA84-9864-1B457F44D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675448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294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9E31-01EB-AE00-552A-477FCFB4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4C27-3379-A3ED-692A-E91B4A289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Complexity:</a:t>
            </a:r>
            <a:r>
              <a:rPr lang="en-US" dirty="0"/>
              <a:t> O(h), where h is the height of the tree. In the worst case (a skewed tree), this is O(n), but it is O(</a:t>
            </a:r>
            <a:r>
              <a:rPr lang="en-US" dirty="0" err="1"/>
              <a:t>logn</a:t>
            </a:r>
            <a:r>
              <a:rPr lang="en-US" dirty="0"/>
              <a:t>) for a balanced tree.</a:t>
            </a:r>
          </a:p>
          <a:p>
            <a:r>
              <a:rPr lang="en-US" b="1" dirty="0"/>
              <a:t>Space Complexity:</a:t>
            </a:r>
            <a:r>
              <a:rPr lang="en-US" dirty="0"/>
              <a:t> O(h) for the recursion stack, which can be O(n) in the worst case.</a:t>
            </a:r>
          </a:p>
          <a:p>
            <a:r>
              <a:rPr lang="en-US" b="1" dirty="0"/>
              <a:t>BST Property:</a:t>
            </a:r>
            <a:r>
              <a:rPr lang="en-US" dirty="0"/>
              <a:t> The key to all deletions is ensuring the left subtree remains smaller and the right subtree remains larger than the root node.</a:t>
            </a:r>
          </a:p>
        </p:txBody>
      </p:sp>
    </p:spTree>
    <p:extLst>
      <p:ext uri="{BB962C8B-B14F-4D97-AF65-F5344CB8AC3E}">
        <p14:creationId xmlns:p14="http://schemas.microsoft.com/office/powerpoint/2010/main" val="2147536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2491</TotalTime>
  <Words>1556</Words>
  <Application>Microsoft Macintosh PowerPoint</Application>
  <PresentationFormat>Widescreen</PresentationFormat>
  <Paragraphs>136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Arial</vt:lpstr>
      <vt:lpstr>Google Sans</vt:lpstr>
      <vt:lpstr>Nunito</vt:lpstr>
      <vt:lpstr>Source Sans 3</vt:lpstr>
      <vt:lpstr>Symbol</vt:lpstr>
      <vt:lpstr>Wingdings</vt:lpstr>
      <vt:lpstr>Office Theme</vt:lpstr>
      <vt:lpstr>Binary Search Tree (BST) Data Structure</vt:lpstr>
      <vt:lpstr>Binary Tree</vt:lpstr>
      <vt:lpstr>BST</vt:lpstr>
      <vt:lpstr>PowerPoint Presentation</vt:lpstr>
      <vt:lpstr>BST Representation</vt:lpstr>
      <vt:lpstr>PowerPoint Presentation</vt:lpstr>
      <vt:lpstr>PowerPoint Presentation</vt:lpstr>
      <vt:lpstr>Advantages BST</vt:lpstr>
      <vt:lpstr>Limitations of BST</vt:lpstr>
      <vt:lpstr>Binary Search Tree Property</vt:lpstr>
      <vt:lpstr>Operations in BST</vt:lpstr>
      <vt:lpstr>Inorder Traversal</vt:lpstr>
      <vt:lpstr>Querying a Binary Search Tree</vt:lpstr>
      <vt:lpstr>Properties</vt:lpstr>
      <vt:lpstr>Insert Operation in BST</vt:lpstr>
      <vt:lpstr>Search Operation in BST</vt:lpstr>
      <vt:lpstr>Deletion in BST</vt:lpstr>
      <vt:lpstr>PowerPoint Presentation</vt:lpstr>
      <vt:lpstr>Case 1: Node has No Children (Leaf Node)</vt:lpstr>
      <vt:lpstr>PowerPoint Presentation</vt:lpstr>
      <vt:lpstr>Case 2: Node has One Child(Left or Right Child)</vt:lpstr>
      <vt:lpstr>Case 2: Node has One Child(Left or Right Child)</vt:lpstr>
      <vt:lpstr>Case 2: Node has One Child(Left or Right Child)</vt:lpstr>
      <vt:lpstr>Case 2: Node has One Child(Left or Right Child)</vt:lpstr>
      <vt:lpstr>Case 2: Node has One Child(Left or Right Child)</vt:lpstr>
      <vt:lpstr>Case 2: Node has One Child(Left or Right Child)</vt:lpstr>
      <vt:lpstr>Case 3: Node has Two Children</vt:lpstr>
      <vt:lpstr>PowerPoint Presentation</vt:lpstr>
      <vt:lpstr>Case 3: Node has Two Children</vt:lpstr>
      <vt:lpstr>Case 3: Node has Two Children</vt:lpstr>
      <vt:lpstr>Case 3: Node has Two Children</vt:lpstr>
      <vt:lpstr>Case 3: Node has Two Children</vt:lpstr>
      <vt:lpstr>Case 3: Node has Two Children</vt:lpstr>
      <vt:lpstr>BST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132</cp:revision>
  <dcterms:created xsi:type="dcterms:W3CDTF">2026-01-15T04:12:31Z</dcterms:created>
  <dcterms:modified xsi:type="dcterms:W3CDTF">2026-03-16T07:54:42Z</dcterms:modified>
</cp:coreProperties>
</file>