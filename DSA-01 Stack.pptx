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8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20"/>
  </p:normalViewPr>
  <p:slideViewPr>
    <p:cSldViewPr snapToGrid="0">
      <p:cViewPr varScale="1">
        <p:scale>
          <a:sx n="102" d="100"/>
          <a:sy n="102" d="100"/>
        </p:scale>
        <p:origin x="9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Stack Data 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2F9FB-D47C-BF2D-64B3-5F1F413A0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0ACBB-2D64-34B6-C89A-E5AF4B2F4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push232">
            <a:extLst>
              <a:ext uri="{FF2B5EF4-FFF2-40B4-BE49-F238E27FC236}">
                <a16:creationId xmlns:a16="http://schemas.microsoft.com/office/drawing/2014/main" id="{C41365A4-757B-B0A1-5F7D-F0A07F8EC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0" y="1136650"/>
            <a:ext cx="6921500" cy="458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7420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647E2-1035-390B-06A7-D41AB98FB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3947C-5CEE-D944-BCE7-5CE2C4F23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Linear data structure follows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LIFO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(Last In First Out) Principle, </a:t>
            </a:r>
          </a:p>
          <a:p>
            <a:pPr algn="l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LIFO(Last In First Out) Principle</a:t>
            </a:r>
          </a:p>
          <a:p>
            <a:pPr lvl="1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New elements are always pushed on top.</a:t>
            </a:r>
          </a:p>
          <a:p>
            <a:pPr lvl="1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Removal (pop) also happens only from the top.</a:t>
            </a:r>
          </a:p>
          <a:p>
            <a:pPr lvl="1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This ensures a strict order: last in → first out.</a:t>
            </a:r>
          </a:p>
          <a:p>
            <a:pPr algn="l" rtl="0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Real-world examples of LIFO:</a:t>
            </a:r>
            <a:endParaRPr lang="en-IN" b="0" i="0" dirty="0">
              <a:solidFill>
                <a:srgbClr val="273239"/>
              </a:solidFill>
              <a:effectLst/>
              <a:latin typeface="Nunito" pitchFamily="2" charset="77"/>
            </a:endParaRPr>
          </a:p>
          <a:p>
            <a:pPr lvl="1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Stack of plates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– The last plate placed on top is the first one you pick up.</a:t>
            </a:r>
          </a:p>
          <a:p>
            <a:pPr lvl="1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Stack of books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– The last book kept is the first one taken out, since both operations happen from the same end.</a:t>
            </a:r>
          </a:p>
          <a:p>
            <a:pPr algn="l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Basic Terminologies of Stack</a:t>
            </a:r>
          </a:p>
          <a:p>
            <a:pPr lvl="1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Top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: The position of the most recently inserted element. Insertions (push) and deletions (pop) are always performed at the top.</a:t>
            </a:r>
          </a:p>
          <a:p>
            <a:pPr lvl="1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Size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: Refers to the current number of elements present in the stack.</a:t>
            </a:r>
          </a:p>
        </p:txBody>
      </p:sp>
    </p:spTree>
    <p:extLst>
      <p:ext uri="{BB962C8B-B14F-4D97-AF65-F5344CB8AC3E}">
        <p14:creationId xmlns:p14="http://schemas.microsoft.com/office/powerpoint/2010/main" val="284878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79B05-C27F-7592-9016-3C1A3C78B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Types of Stack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19B51-35EB-8966-FD78-5B761D774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Fixed Size Stack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A fixed size stack has a 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predefined capacity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Once it becomes full, no more elements can be added (this causes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overflow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).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If the stack is empty and we try to remove an element, it causes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underflow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Typically implemented using a 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static array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.</a:t>
            </a:r>
          </a:p>
          <a:p>
            <a:pPr algn="l" rtl="0" fontAlgn="base"/>
            <a:r>
              <a:rPr lang="en-IN" b="0" i="0" dirty="0">
                <a:solidFill>
                  <a:srgbClr val="00B050"/>
                </a:solidFill>
                <a:effectLst/>
                <a:latin typeface="Nunito" pitchFamily="2" charset="77"/>
              </a:rPr>
              <a:t>Example: Declaring a stack of size 10 using an array.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675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FE360-A5FB-F857-55AE-222E8C128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Types of Stack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C1CBD-78B9-BA3C-4AA7-5BE4A0E95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Dynamic Size Stack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A dynamic size stack can 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grow and shrink automatically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as needed.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If the stack is full, its 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capacity expands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to allow more elements.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As elements are removed, memory usage can shrink as well.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Can be implemented using:</a:t>
            </a:r>
            <a:b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</a:b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-&gt;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Linked List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→ grows/shrinks naturally.</a:t>
            </a:r>
            <a:b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</a:b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-&gt;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 Dynamic Array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(like vector in C++ or </a:t>
            </a:r>
            <a:r>
              <a:rPr lang="en-IN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ArrayList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in Java) → resizes automatically.</a:t>
            </a:r>
          </a:p>
          <a:p>
            <a:pPr algn="l" rtl="0" fontAlgn="base"/>
            <a:r>
              <a:rPr lang="en-IN" b="0" i="0" dirty="0">
                <a:solidFill>
                  <a:srgbClr val="00B050"/>
                </a:solidFill>
                <a:effectLst/>
                <a:latin typeface="Nunito" pitchFamily="2" charset="77"/>
              </a:rPr>
              <a:t>Example: Stack implementation using linked list or resizable array.</a:t>
            </a:r>
          </a:p>
          <a:p>
            <a:pPr algn="l" rtl="0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Note: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We generally use dynamic stacks in practice, as they can grow or shrink as needed without overflow issues.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76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FC020-9DC8-E917-7522-C58DB75E5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Common Operations on Stack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4D2BE-0CE5-1B53-24EC-DEBF14C3D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In order to make manipulations in a stack, there are certain operations provided to us.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push() operation: 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to insert an element into the stack.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pop() operation: 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to remove an element from the stack.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top() operation: 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Returns the top element of the stack.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 err="1">
                <a:solidFill>
                  <a:srgbClr val="273239"/>
                </a:solidFill>
                <a:effectLst/>
                <a:latin typeface="Nunito" pitchFamily="2" charset="77"/>
              </a:rPr>
              <a:t>isEmpty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() check: 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returns true if stack is empty else false.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size()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check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: returns the size of the stack.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84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D7683-AB4B-F9AE-3717-585891A7C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1F6E5-3845-5565-6237-5BB0E23CD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Push-Operation-in-Stack-(1)">
            <a:extLst>
              <a:ext uri="{FF2B5EF4-FFF2-40B4-BE49-F238E27FC236}">
                <a16:creationId xmlns:a16="http://schemas.microsoft.com/office/drawing/2014/main" id="{5D7759DE-9B6D-5DD6-C30E-74A60C90B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750" y="0"/>
            <a:ext cx="9588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2323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54894-5B59-88CC-C33F-816A6A367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CA233-0D18-7EFA-9D1B-6287DC246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import </a:t>
            </a:r>
            <a:r>
              <a:rPr lang="en-US" dirty="0" err="1"/>
              <a:t>java.util.Stack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GfG</a:t>
            </a:r>
            <a:r>
              <a:rPr lang="en-US" dirty="0"/>
              <a:t>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    // creating a stack of integers</a:t>
            </a:r>
          </a:p>
          <a:p>
            <a:r>
              <a:rPr lang="en-US" dirty="0"/>
              <a:t>        Stack&lt;Integer&gt; </a:t>
            </a:r>
            <a:r>
              <a:rPr lang="en-US" dirty="0" err="1"/>
              <a:t>st</a:t>
            </a:r>
            <a:r>
              <a:rPr lang="en-US" dirty="0"/>
              <a:t> = new Stack&lt;&gt;();</a:t>
            </a:r>
          </a:p>
          <a:p>
            <a:endParaRPr lang="en-US" dirty="0"/>
          </a:p>
          <a:p>
            <a:r>
              <a:rPr lang="en-US" dirty="0"/>
              <a:t>        // pushing elements into the stack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    // pushes 1</a:t>
            </a:r>
          </a:p>
          <a:p>
            <a:r>
              <a:rPr lang="en-US" dirty="0"/>
              <a:t>        </a:t>
            </a:r>
            <a:r>
              <a:rPr lang="en-US" dirty="0" err="1"/>
              <a:t>st.push</a:t>
            </a:r>
            <a:r>
              <a:rPr lang="en-US" dirty="0"/>
              <a:t>(1);  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    // pushes 2</a:t>
            </a:r>
          </a:p>
          <a:p>
            <a:r>
              <a:rPr lang="en-US" dirty="0"/>
              <a:t>        </a:t>
            </a:r>
            <a:r>
              <a:rPr lang="en-US" dirty="0" err="1"/>
              <a:t>st.push</a:t>
            </a:r>
            <a:r>
              <a:rPr lang="en-US" dirty="0"/>
              <a:t>(2);  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    // pushes 3</a:t>
            </a:r>
          </a:p>
          <a:p>
            <a:r>
              <a:rPr lang="en-US" dirty="0"/>
              <a:t>        </a:t>
            </a:r>
            <a:r>
              <a:rPr lang="en-US" dirty="0" err="1"/>
              <a:t>st.push</a:t>
            </a:r>
            <a:r>
              <a:rPr lang="en-US" dirty="0"/>
              <a:t>(3);  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4CFA5A-7983-766D-6B11-948FDCE5D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156" y="0"/>
            <a:ext cx="61736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264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0EFB7-DE2F-FE0C-E270-5B34A9D8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24210-808D-60F9-7E96-FA646548C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Top-or-Peek-Operation-in-Stack-(1)">
            <a:extLst>
              <a:ext uri="{FF2B5EF4-FFF2-40B4-BE49-F238E27FC236}">
                <a16:creationId xmlns:a16="http://schemas.microsoft.com/office/drawing/2014/main" id="{5B14C7B6-4A00-9F94-8E72-CBAE928C0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750" y="0"/>
            <a:ext cx="9588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9508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E339E-22EC-6706-ECDE-A7A433DDA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64B1D-C93E-26FD-9786-C32CC82C6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614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4909D-7E04-2095-F8AD-CDED2A881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00A6A-4167-17CE-958F-D75B4222D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Pop-Operation-in-Stack-(1)">
            <a:extLst>
              <a:ext uri="{FF2B5EF4-FFF2-40B4-BE49-F238E27FC236}">
                <a16:creationId xmlns:a16="http://schemas.microsoft.com/office/drawing/2014/main" id="{91D0E3FF-5B47-A72B-D01D-2782F0D8D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750" y="0"/>
            <a:ext cx="9588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7744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8E25-16F6-31E7-847A-4C8CCFEB6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B4C9C-A406-E362-A18B-4B7DFC838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isEmpty-Operation-in-Stack-(1)">
            <a:extLst>
              <a:ext uri="{FF2B5EF4-FFF2-40B4-BE49-F238E27FC236}">
                <a16:creationId xmlns:a16="http://schemas.microsoft.com/office/drawing/2014/main" id="{CA9A2FEA-5F89-BADD-A67C-EB812758B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750" y="0"/>
            <a:ext cx="9588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3894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707A1-105E-D6CE-8775-0F67B5852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1EE97-4BCB-2B55-A189-75F5DCA33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A stack can be implemented using an array where we maintain: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An integer array to store elements.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A variable capacity to represent the maximum size of the stack.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A variable top to track the index of the top element. Initially, top = -1 to indicate an empty stack.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254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1594</TotalTime>
  <Words>562</Words>
  <Application>Microsoft Macintosh PowerPoint</Application>
  <PresentationFormat>Widescreen</PresentationFormat>
  <Paragraphs>63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Nunito</vt:lpstr>
      <vt:lpstr>Office Theme</vt:lpstr>
      <vt:lpstr>Stack Data Structure</vt:lpstr>
      <vt:lpstr>PowerPoint Presentation</vt:lpstr>
      <vt:lpstr>Data Structure</vt:lpstr>
      <vt:lpstr>Types of Stack</vt:lpstr>
      <vt:lpstr>Types of Stack</vt:lpstr>
      <vt:lpstr>Common Operations on Stack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13</cp:revision>
  <dcterms:created xsi:type="dcterms:W3CDTF">2026-01-15T04:12:31Z</dcterms:created>
  <dcterms:modified xsi:type="dcterms:W3CDTF">2026-01-17T15:01:48Z</dcterms:modified>
</cp:coreProperties>
</file>