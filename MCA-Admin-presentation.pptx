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81"/>
  </p:normalViewPr>
  <p:slideViewPr>
    <p:cSldViewPr snapToGrid="0">
      <p:cViewPr varScale="1">
        <p:scale>
          <a:sx n="96" d="100"/>
          <a:sy n="96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1E14-9366-CDF6-7051-8173F2FF2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70967-A548-7037-2ACA-152F586DF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839E0-07EC-CEAD-03E3-AA6710E3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D0CF8-5343-58F5-839F-8D00890DD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F90B-3385-4AF6-67A4-6B2205ED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7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E35E5-2070-07A9-9B0A-A9D1843E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5DDA2-18EC-404E-E218-5037980A3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E62B4-A584-3A0B-2F99-E17C788F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057C9-E87D-6B86-A314-B7B137929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30E81-F817-7DB4-88D1-7474DA38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7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3372B-A05F-8849-0F9E-965A74C6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CD61A-4B8D-0976-585F-0402E6E1C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9096B-5AD1-EB37-D60D-D5B725E8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8A3ED-50CE-5086-7EAD-37A1228F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54B39-75A5-86BF-AD0C-22169C02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4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C454-5EFD-19D2-FF80-38E424EF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CA2D8-78BE-FBFE-D336-171924EDD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A7B8F-4343-6274-8623-165189AAE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CEA31-EE87-5896-CDE0-511E0967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2E094-307F-C3DF-9244-61D4E6A9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ADF54-06E5-D8DF-8853-B870A2AB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31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EED9-C949-927D-B137-53C8D8A1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7E9C3-EF52-5079-44CC-A7EFD8209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5A5DA-F8DB-3D84-D5C0-DDC0A3847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636A1-C50F-8FEC-3698-AE874A2ED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770E3-8D8C-B2E8-B7A7-3C422C508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E6F606-BDBD-0717-A12D-3B911647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3562B-8996-072F-E76E-276860C1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7C7A6-DEB9-5E23-A76F-02E58D5F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5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B7337-8BAB-E0DE-7537-1904D5EC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F8926-85EF-E364-CE93-DFD0EF63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04E85-EB3E-FFFE-F8DD-14774831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289FF-C815-582F-777E-BBFFFE729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3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9251BF-435E-FC1E-13AD-5F09E979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79CAFE-98C4-2DE6-7DE8-FCF9CD66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47498-E882-741C-F8E8-FEF6484F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9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9CBB3-6256-4F6D-B355-20EF601D1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9BA3B-726A-300E-8668-923E5C333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9544C-BA1D-50F5-FA0A-883E6792A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F0C20-B5D3-3D31-ADCB-E6683204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E360D-FEAC-396B-4FA5-515A4556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0D75B-87AD-1D01-688E-84F96988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5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82C6-DB89-215D-8824-D265D024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E372EB-3671-3AB0-7E8B-58CBBF244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D0EAE-13CF-5022-6225-21D9D8DCD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761A9-9262-82F9-7D4B-F163DD15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00B83-CF14-390C-B812-033B8426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8024D-1DB4-7273-D08D-716DF9EF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442D7-F736-7DD2-5FE4-ECE9DF23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EC17D-24EE-14A5-E99C-C2A3B6E92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910FD-7811-7845-4258-AD2BA5779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1AA15-7CF9-B1B3-8125-CB6D01F08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26500-D9C2-F6C0-1447-95525C02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6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58727-9334-9E70-996E-62E5C5560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40B48-169E-A067-A1DF-145C9ABC0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38024-47E7-B2C1-8632-C81C6994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400A5-18BF-AD48-E311-A30BB0286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08039-D64B-4001-9986-78039459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4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3D597F-4993-2B9E-0E1A-BAD01044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26517-232B-FDDF-F537-004FFD157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5C67-EB3E-3C52-53DA-5DE5D76BB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84F1E-DACE-494F-8469-8C78D048735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75619-46BC-DEE3-5B9F-22A91562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01827-0DDE-E6C7-6B99-C8DBD02AB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1D3A2-9B35-434A-9F68-A1A7A525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7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534E-3043-9601-5232-EFDB39CD42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 of Computer Application (MCA)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E1A71-D011-9959-D51A-8AA4459261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Amity Institute of Information Technology</a:t>
            </a:r>
            <a:br>
              <a:rPr lang="en-US" dirty="0"/>
            </a:br>
            <a:r>
              <a:rPr lang="en-US" dirty="0"/>
              <a:t>Amity University</a:t>
            </a:r>
          </a:p>
        </p:txBody>
      </p:sp>
    </p:spTree>
    <p:extLst>
      <p:ext uri="{BB962C8B-B14F-4D97-AF65-F5344CB8AC3E}">
        <p14:creationId xmlns:p14="http://schemas.microsoft.com/office/powerpoint/2010/main" val="2948123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F3CD-90C7-55BF-B755-8B2B953C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Master of Computer Applications (MCA)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4414-F7EF-12E7-8BED-4E1A33A8A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1" dirty="0"/>
              <a:t>Empowering the Next Generation of Tech Innovators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Duration:</a:t>
            </a:r>
            <a:r>
              <a:rPr lang="en-IN" dirty="0"/>
              <a:t> 2 Years (4 Semesters).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Accreditations: </a:t>
            </a:r>
            <a:r>
              <a:rPr lang="en-IN" dirty="0"/>
              <a:t>As per NET 2020,</a:t>
            </a:r>
            <a:r>
              <a:rPr lang="en-IN" b="1" dirty="0"/>
              <a:t> </a:t>
            </a:r>
            <a:r>
              <a:rPr lang="en-IN" dirty="0"/>
              <a:t>AICTE</a:t>
            </a:r>
            <a:r>
              <a:rPr lang="en-IN" b="1" dirty="0"/>
              <a:t> </a:t>
            </a:r>
            <a:r>
              <a:rPr lang="en-IN" dirty="0"/>
              <a:t>UGC Recognized.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Core Philosophy:</a:t>
            </a:r>
            <a:r>
              <a:rPr lang="en-IN" dirty="0"/>
              <a:t> A "Can-Do" spirit combined with research-driven pedagogy and industry-aligned flexibility.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704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16AB-85F9-8937-61BE-276DB6DF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2026 Tech Landscape &amp; Job Demand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83C9-2296-7A1E-FBEE-2B9F34BAD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IT industry is no longer just about "</a:t>
            </a:r>
            <a:r>
              <a:rPr lang="en-IN" b="1" dirty="0"/>
              <a:t>coding</a:t>
            </a:r>
            <a:r>
              <a:rPr lang="en-IN" dirty="0"/>
              <a:t>"; it’s about </a:t>
            </a:r>
            <a:r>
              <a:rPr lang="en-IN" b="1" dirty="0"/>
              <a:t>Digital Transformation</a:t>
            </a:r>
            <a:r>
              <a:rPr lang="en-IN" dirty="0"/>
              <a:t>. By 2026, the demand for high-tier IT professionals is projected to grow by </a:t>
            </a:r>
            <a:r>
              <a:rPr lang="en-IN" b="1" dirty="0"/>
              <a:t>7.7% annually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F6DE4F-CBC8-7C36-2F71-A837E47C1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622780"/>
              </p:ext>
            </p:extLst>
          </p:nvPr>
        </p:nvGraphicFramePr>
        <p:xfrm>
          <a:off x="838200" y="3616643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298104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734387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18270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High-Demand Role (2026)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Projected Salary Range (LPA)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Skill Requirement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040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Cloud Solutions Architect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₹20 – ₹35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AWS/Azure, Microservices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026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AI/ML Engineer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₹12 – ₹28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Python, PyTorch, Neural Networks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972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Cybersecurity Analyst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₹8 – ₹20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Ethical Hacking, Network Security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061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Full-Stack Developer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₹10 – ₹22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MERN/MEAN Stack, DevOps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602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Prompt Engineer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₹15 – ₹30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LLMs, NLP, Generative AI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059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85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BA30-6F52-0E04-2D00-19B21D114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Choose Amity (AIIT)?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7081-ABF9-65A1-6F5C-43AD6AB9E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We don't just teach technology; we build </a:t>
            </a:r>
            <a:r>
              <a:rPr lang="en-IN" b="1" dirty="0"/>
              <a:t>Employability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Specialized Tracks:</a:t>
            </a:r>
            <a:r>
              <a:rPr lang="en-IN" dirty="0"/>
              <a:t> Electives in </a:t>
            </a:r>
            <a:r>
              <a:rPr lang="en-IN" b="1" dirty="0"/>
              <a:t>Blockchain, AI &amp; ML, IoT, and Data Analytics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Centre of Excellence:</a:t>
            </a:r>
            <a:r>
              <a:rPr lang="en-IN" dirty="0"/>
              <a:t> Dedicated labs for </a:t>
            </a:r>
            <a:r>
              <a:rPr lang="en-IN" b="1" dirty="0"/>
              <a:t>AI &amp; ML </a:t>
            </a:r>
            <a:r>
              <a:rPr lang="en-IN" dirty="0"/>
              <a:t>and </a:t>
            </a:r>
            <a:r>
              <a:rPr lang="en-IN" b="1" dirty="0"/>
              <a:t>Cyber Security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Global Exposure (SAP):</a:t>
            </a:r>
            <a:r>
              <a:rPr lang="en-IN" dirty="0"/>
              <a:t> The </a:t>
            </a:r>
            <a:r>
              <a:rPr lang="en-IN" b="1" dirty="0"/>
              <a:t>Study Abroad Program (SAP)</a:t>
            </a:r>
            <a:r>
              <a:rPr lang="en-IN" dirty="0"/>
              <a:t> allows students to spend 2 months at Amity campuses in London, Dubai, or Singapore.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Holistic Grooming:</a:t>
            </a:r>
            <a:r>
              <a:rPr lang="en-IN" dirty="0"/>
              <a:t> Unique mandatory courses in </a:t>
            </a:r>
            <a:r>
              <a:rPr lang="en-IN" b="1" dirty="0" err="1"/>
              <a:t>Behavioral</a:t>
            </a:r>
            <a:r>
              <a:rPr lang="en-IN" b="1" dirty="0"/>
              <a:t> Science, Communication Skills</a:t>
            </a:r>
            <a:r>
              <a:rPr lang="en-IN" dirty="0"/>
              <a:t>, and a </a:t>
            </a:r>
            <a:r>
              <a:rPr lang="en-IN" b="1" dirty="0"/>
              <a:t>Foreign Business Language</a:t>
            </a:r>
            <a:r>
              <a:rPr lang="en-IN" dirty="0"/>
              <a:t> (French).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6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6D14-0D78-2FD5-B397-D46E724B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Industry-Integrated Curriculum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45EBA-3E95-3F1E-CD3F-B8CA4C8A6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Our curriculum is a "</a:t>
            </a:r>
            <a:r>
              <a:rPr lang="en-IN" b="1" dirty="0"/>
              <a:t>live</a:t>
            </a:r>
            <a:r>
              <a:rPr lang="en-IN" dirty="0"/>
              <a:t>" document, updated every semester to meet the demands of Fortune 500 companies.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Semester 1-2:</a:t>
            </a:r>
            <a:r>
              <a:rPr lang="en-IN" dirty="0"/>
              <a:t> Advanced DBMS, Java, Data Structures, and Network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Semester 3-4:</a:t>
            </a:r>
            <a:r>
              <a:rPr lang="en-IN" dirty="0"/>
              <a:t> Cloud Infrastructure, Deep Learning, Major Industry Projects, and Seminar-based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The "Amigo" Edge:</a:t>
            </a:r>
            <a:r>
              <a:rPr lang="en-IN" dirty="0"/>
              <a:t> 24/7 access to digital resources and recorded lectures by world-class faculty via our dedicated app.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4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4DBBE-C427-82E1-A817-4D49F8E9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Placement &amp; Career Success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7C55F-BA52-A931-4A4D-1EC04AF82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AIIT, Amity University Patna has a stellar track record of placing students in global tech giants.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Highest Package (2025):</a:t>
            </a:r>
            <a:r>
              <a:rPr lang="en-IN" dirty="0"/>
              <a:t> </a:t>
            </a:r>
            <a:r>
              <a:rPr lang="en-IN" b="1" dirty="0"/>
              <a:t>₹35.9 LPA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Average Package:</a:t>
            </a:r>
            <a:r>
              <a:rPr lang="en-IN" dirty="0"/>
              <a:t> </a:t>
            </a:r>
            <a:r>
              <a:rPr lang="en-IN" b="1" dirty="0"/>
              <a:t>₹9.6 LPA</a:t>
            </a:r>
            <a:r>
              <a:rPr lang="en-IN" dirty="0"/>
              <a:t> (for Engineering &amp; Tech batches)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Top Recruiters:</a:t>
            </a:r>
            <a:r>
              <a:rPr lang="en-IN" dirty="0"/>
              <a:t> Amazon, Google, Microsoft, Palo Alto Networks, Cisco, TCS, and IBM.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Placement Rate:</a:t>
            </a:r>
            <a:r>
              <a:rPr lang="en-IN" dirty="0"/>
              <a:t> Consistently above </a:t>
            </a:r>
            <a:r>
              <a:rPr lang="en-IN" b="1" dirty="0"/>
              <a:t>70-80%</a:t>
            </a:r>
            <a:r>
              <a:rPr lang="en-IN" dirty="0"/>
              <a:t> with 300+ recruiters visiting annually.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55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134E-6B8A-DB16-F1D5-0586F056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Call to 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0B3C-C908-E04A-00A3-F4593732F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i="1" dirty="0"/>
              <a:t>Bridge the gap between "Learning" and "Leading"</a:t>
            </a:r>
            <a:endParaRPr lang="en-IN" b="1" dirty="0"/>
          </a:p>
          <a:p>
            <a:r>
              <a:rPr lang="en-IN" dirty="0"/>
              <a:t>"At AIIT, we don’t just follow the trend; we set it. Our MCA is a launchpad for those who want to solve real-world problems using code, logic, and innovation."</a:t>
            </a:r>
          </a:p>
          <a:p>
            <a:r>
              <a:rPr lang="en-IN" b="1" dirty="0"/>
              <a:t>Are you ready to join the IT Elite?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Eligibility:</a:t>
            </a:r>
            <a:r>
              <a:rPr lang="en-IN" dirty="0"/>
              <a:t> 50% in Graduation with Maths in 12th or at Graduation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Apply Now:</a:t>
            </a:r>
            <a:r>
              <a:rPr lang="en-IN" dirty="0"/>
              <a:t> Visit the Admission Department, Amity University Patna Campus to start your journey.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00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529</Words>
  <Application>Microsoft Macintosh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 Text</vt:lpstr>
      <vt:lpstr>Office Theme</vt:lpstr>
      <vt:lpstr>Master of Computer Application (MCA)</vt:lpstr>
      <vt:lpstr>Master of Computer Applications (MCA)</vt:lpstr>
      <vt:lpstr>The 2026 Tech Landscape &amp; Job Demand</vt:lpstr>
      <vt:lpstr>Why Choose Amity (AIIT)?</vt:lpstr>
      <vt:lpstr>Industry-Integrated Curriculum</vt:lpstr>
      <vt:lpstr>Placement &amp; Career Success</vt:lpstr>
      <vt:lpstr>Conclusion &amp; 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18</cp:revision>
  <dcterms:created xsi:type="dcterms:W3CDTF">2026-01-27T06:41:37Z</dcterms:created>
  <dcterms:modified xsi:type="dcterms:W3CDTF">2026-01-27T06:51:15Z</dcterms:modified>
</cp:coreProperties>
</file>