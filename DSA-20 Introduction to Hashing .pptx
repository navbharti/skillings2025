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1" r:id="rId3"/>
    <p:sldId id="272" r:id="rId4"/>
    <p:sldId id="273" r:id="rId5"/>
    <p:sldId id="274"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5" r:id="rId21"/>
    <p:sldId id="276" r:id="rId22"/>
    <p:sldId id="284" r:id="rId23"/>
    <p:sldId id="285" r:id="rId24"/>
    <p:sldId id="286" r:id="rId25"/>
    <p:sldId id="287" r:id="rId26"/>
    <p:sldId id="288" r:id="rId27"/>
    <p:sldId id="289" r:id="rId28"/>
    <p:sldId id="290" r:id="rId29"/>
    <p:sldId id="291" r:id="rId30"/>
    <p:sldId id="292" r:id="rId31"/>
    <p:sldId id="277" r:id="rId32"/>
    <p:sldId id="278" r:id="rId33"/>
    <p:sldId id="279" r:id="rId34"/>
    <p:sldId id="280" r:id="rId35"/>
    <p:sldId id="281" r:id="rId36"/>
    <p:sldId id="282" r:id="rId37"/>
    <p:sldId id="28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76"/>
  </p:normalViewPr>
  <p:slideViewPr>
    <p:cSldViewPr snapToGrid="0">
      <p:cViewPr varScale="1">
        <p:scale>
          <a:sx n="76" d="100"/>
          <a:sy n="76" d="100"/>
        </p:scale>
        <p:origin x="216"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4/29/26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4/29/26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dsa/self-balancing-binary-search-tree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lstStyle/>
          <a:p>
            <a:r>
              <a:rPr lang="en-US" dirty="0"/>
              <a:t>DSA-20: Introduction to Hashing</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DBE93-D83B-B34D-5EAF-E95D7901397E}"/>
              </a:ext>
            </a:extLst>
          </p:cNvPr>
          <p:cNvSpPr>
            <a:spLocks noGrp="1"/>
          </p:cNvSpPr>
          <p:nvPr>
            <p:ph type="title"/>
          </p:nvPr>
        </p:nvSpPr>
        <p:spPr/>
        <p:txBody>
          <a:bodyPr/>
          <a:lstStyle/>
          <a:p>
            <a:r>
              <a:rPr lang="en-IN" b="1" i="0" dirty="0">
                <a:solidFill>
                  <a:srgbClr val="273239"/>
                </a:solidFill>
                <a:effectLst/>
                <a:latin typeface="Nunito" pitchFamily="2" charset="77"/>
              </a:rPr>
              <a:t>Hashing Intro</a:t>
            </a:r>
            <a:endParaRPr lang="en-US" dirty="0"/>
          </a:p>
        </p:txBody>
      </p:sp>
      <p:sp>
        <p:nvSpPr>
          <p:cNvPr id="3" name="Content Placeholder 2">
            <a:extLst>
              <a:ext uri="{FF2B5EF4-FFF2-40B4-BE49-F238E27FC236}">
                <a16:creationId xmlns:a16="http://schemas.microsoft.com/office/drawing/2014/main" id="{5E7D03D9-434A-234D-2F89-96554ED0CF37}"/>
              </a:ext>
            </a:extLst>
          </p:cNvPr>
          <p:cNvSpPr>
            <a:spLocks noGrp="1"/>
          </p:cNvSpPr>
          <p:nvPr>
            <p:ph idx="1"/>
          </p:nvPr>
        </p:nvSpPr>
        <p:spPr/>
        <p:txBody>
          <a:bodyPr/>
          <a:lstStyle/>
          <a:p>
            <a:pPr algn="l" rtl="0" fontAlgn="base"/>
            <a:r>
              <a:rPr lang="en-IN" i="0" dirty="0">
                <a:solidFill>
                  <a:srgbClr val="273239"/>
                </a:solidFill>
                <a:effectLst/>
                <a:latin typeface="Nunito" pitchFamily="2" charset="77"/>
              </a:rPr>
              <a:t>P</a:t>
            </a:r>
            <a:r>
              <a:rPr lang="en-IN" b="0" i="0" dirty="0">
                <a:solidFill>
                  <a:srgbClr val="273239"/>
                </a:solidFill>
                <a:effectLst/>
                <a:latin typeface="Nunito" pitchFamily="2" charset="77"/>
              </a:rPr>
              <a:t>rocess of generating a small sized output (that can be used as index in a table) from an input of typically large and variable size. </a:t>
            </a:r>
          </a:p>
          <a:p>
            <a:pPr algn="l" rtl="0" fontAlgn="base"/>
            <a:r>
              <a:rPr lang="en-IN" b="0" i="0" dirty="0">
                <a:solidFill>
                  <a:srgbClr val="273239"/>
                </a:solidFill>
                <a:effectLst/>
                <a:latin typeface="Nunito" pitchFamily="2" charset="77"/>
              </a:rPr>
              <a:t>Hashing uses </a:t>
            </a:r>
            <a:r>
              <a:rPr lang="en-IN" b="1" i="0" dirty="0">
                <a:solidFill>
                  <a:srgbClr val="273239"/>
                </a:solidFill>
                <a:effectLst/>
                <a:latin typeface="Nunito" pitchFamily="2" charset="77"/>
              </a:rPr>
              <a:t>mathematical formulas</a:t>
            </a:r>
            <a:r>
              <a:rPr lang="en-IN" b="0" i="0" dirty="0">
                <a:solidFill>
                  <a:srgbClr val="273239"/>
                </a:solidFill>
                <a:effectLst/>
                <a:latin typeface="Nunito" pitchFamily="2" charset="77"/>
              </a:rPr>
              <a:t> known as </a:t>
            </a:r>
            <a:r>
              <a:rPr lang="en-IN" b="1" i="0" dirty="0">
                <a:solidFill>
                  <a:srgbClr val="273239"/>
                </a:solidFill>
                <a:effectLst/>
                <a:latin typeface="Nunito" pitchFamily="2" charset="77"/>
              </a:rPr>
              <a:t>hash functions</a:t>
            </a:r>
            <a:r>
              <a:rPr lang="en-IN" b="0" i="0" dirty="0">
                <a:solidFill>
                  <a:srgbClr val="273239"/>
                </a:solidFill>
                <a:effectLst/>
                <a:latin typeface="Nunito" pitchFamily="2" charset="77"/>
              </a:rPr>
              <a:t> to do the transformation. </a:t>
            </a:r>
          </a:p>
          <a:p>
            <a:pPr algn="l" rtl="0" fontAlgn="base"/>
            <a:r>
              <a:rPr lang="en-IN" b="0" i="0" dirty="0">
                <a:solidFill>
                  <a:srgbClr val="273239"/>
                </a:solidFill>
                <a:effectLst/>
                <a:latin typeface="Nunito" pitchFamily="2" charset="77"/>
              </a:rPr>
              <a:t>This technique determines an </a:t>
            </a:r>
            <a:r>
              <a:rPr lang="en-IN" b="1" i="0" dirty="0">
                <a:solidFill>
                  <a:srgbClr val="273239"/>
                </a:solidFill>
                <a:effectLst/>
                <a:latin typeface="Nunito" pitchFamily="2" charset="77"/>
              </a:rPr>
              <a:t>index or location</a:t>
            </a:r>
            <a:r>
              <a:rPr lang="en-IN" b="0" i="0" dirty="0">
                <a:solidFill>
                  <a:srgbClr val="273239"/>
                </a:solidFill>
                <a:effectLst/>
                <a:latin typeface="Nunito" pitchFamily="2" charset="77"/>
              </a:rPr>
              <a:t> for the storage of an item in a data structure called </a:t>
            </a:r>
            <a:r>
              <a:rPr lang="en-IN" b="1" i="0" dirty="0">
                <a:solidFill>
                  <a:srgbClr val="273239"/>
                </a:solidFill>
                <a:effectLst/>
                <a:latin typeface="Nunito" pitchFamily="2" charset="77"/>
              </a:rPr>
              <a:t>Hash Table</a:t>
            </a:r>
            <a:r>
              <a:rPr lang="en-IN" b="0" i="0" dirty="0">
                <a:solidFill>
                  <a:srgbClr val="273239"/>
                </a:solidFill>
                <a:effectLst/>
                <a:latin typeface="Nunito" pitchFamily="2" charset="77"/>
              </a:rPr>
              <a:t>.</a:t>
            </a:r>
          </a:p>
          <a:p>
            <a:br>
              <a:rPr lang="en-IN" dirty="0"/>
            </a:br>
            <a:endParaRPr lang="en-US" dirty="0"/>
          </a:p>
        </p:txBody>
      </p:sp>
    </p:spTree>
    <p:extLst>
      <p:ext uri="{BB962C8B-B14F-4D97-AF65-F5344CB8AC3E}">
        <p14:creationId xmlns:p14="http://schemas.microsoft.com/office/powerpoint/2010/main" val="1643389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A5CF9-635F-C1BA-C6E2-A6A9198705A3}"/>
              </a:ext>
            </a:extLst>
          </p:cNvPr>
          <p:cNvSpPr>
            <a:spLocks noGrp="1"/>
          </p:cNvSpPr>
          <p:nvPr>
            <p:ph type="title"/>
          </p:nvPr>
        </p:nvSpPr>
        <p:spPr/>
        <p:txBody>
          <a:bodyPr/>
          <a:lstStyle/>
          <a:p>
            <a:r>
              <a:rPr lang="en-IN" b="1" i="0" dirty="0">
                <a:solidFill>
                  <a:srgbClr val="273239"/>
                </a:solidFill>
                <a:effectLst/>
                <a:latin typeface="Nunito" pitchFamily="2" charset="77"/>
              </a:rPr>
              <a:t>Hash Table Data Structure Overview</a:t>
            </a:r>
            <a:endParaRPr lang="en-US" dirty="0"/>
          </a:p>
        </p:txBody>
      </p:sp>
      <p:sp>
        <p:nvSpPr>
          <p:cNvPr id="3" name="Content Placeholder 2">
            <a:extLst>
              <a:ext uri="{FF2B5EF4-FFF2-40B4-BE49-F238E27FC236}">
                <a16:creationId xmlns:a16="http://schemas.microsoft.com/office/drawing/2014/main" id="{762DC526-CE68-BA24-DB99-5617F3E1C122}"/>
              </a:ext>
            </a:extLst>
          </p:cNvPr>
          <p:cNvSpPr>
            <a:spLocks noGrp="1"/>
          </p:cNvSpPr>
          <p:nvPr>
            <p:ph idx="1"/>
          </p:nvPr>
        </p:nvSpPr>
        <p:spPr/>
        <p:txBody>
          <a:bodyPr>
            <a:normAutofit/>
          </a:bodyPr>
          <a:lstStyle/>
          <a:p>
            <a:pPr algn="l" fontAlgn="base">
              <a:buFont typeface="Arial" panose="020B0604020202020204" pitchFamily="34" charset="0"/>
              <a:buChar char="•"/>
            </a:pPr>
            <a:r>
              <a:rPr lang="en-IN" b="0" i="0" dirty="0">
                <a:solidFill>
                  <a:srgbClr val="273239"/>
                </a:solidFill>
                <a:effectLst/>
                <a:latin typeface="Nunito" pitchFamily="2" charset="77"/>
              </a:rPr>
              <a:t>Supports </a:t>
            </a:r>
            <a:r>
              <a:rPr lang="en-IN" b="1" i="0" dirty="0">
                <a:solidFill>
                  <a:srgbClr val="273239"/>
                </a:solidFill>
                <a:effectLst/>
                <a:latin typeface="Nunito" pitchFamily="2" charset="77"/>
              </a:rPr>
              <a:t>search</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insert</a:t>
            </a:r>
            <a:r>
              <a:rPr lang="en-IN" b="0" i="0" dirty="0">
                <a:solidFill>
                  <a:srgbClr val="273239"/>
                </a:solidFill>
                <a:effectLst/>
                <a:latin typeface="Nunito" pitchFamily="2" charset="77"/>
              </a:rPr>
              <a:t> and </a:t>
            </a:r>
            <a:r>
              <a:rPr lang="en-IN" b="1" i="0" dirty="0">
                <a:solidFill>
                  <a:srgbClr val="273239"/>
                </a:solidFill>
                <a:effectLst/>
                <a:latin typeface="Nunito" pitchFamily="2" charset="77"/>
              </a:rPr>
              <a:t>delete</a:t>
            </a:r>
            <a:r>
              <a:rPr lang="en-IN" b="0" i="0" dirty="0">
                <a:solidFill>
                  <a:srgbClr val="273239"/>
                </a:solidFill>
                <a:effectLst/>
                <a:latin typeface="Nunito" pitchFamily="2" charset="77"/>
              </a:rPr>
              <a:t> in O(1) time on average which is more efficient than other popular data structures like arrays, Linked List and </a:t>
            </a:r>
            <a:r>
              <a:rPr lang="en-IN" b="0" i="0" u="sng" dirty="0">
                <a:solidFill>
                  <a:srgbClr val="357960"/>
                </a:solidFill>
                <a:effectLst/>
                <a:latin typeface="Nunito" pitchFamily="2" charset="77"/>
                <a:hlinkClick r:id="rId2"/>
              </a:rPr>
              <a:t>Self Balancing BST</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Use for </a:t>
            </a:r>
            <a:r>
              <a:rPr lang="en-IN" b="1" i="0" dirty="0">
                <a:solidFill>
                  <a:srgbClr val="273239"/>
                </a:solidFill>
                <a:effectLst/>
                <a:latin typeface="Nunito" pitchFamily="2" charset="77"/>
              </a:rPr>
              <a:t>dictionaries</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frequency</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counting</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maintaining data for quick access</a:t>
            </a:r>
            <a:r>
              <a:rPr lang="en-IN" b="0" i="0" dirty="0">
                <a:solidFill>
                  <a:srgbClr val="273239"/>
                </a:solidFill>
                <a:effectLst/>
                <a:latin typeface="Nunito" pitchFamily="2" charset="77"/>
              </a:rPr>
              <a:t> by key, etc.</a:t>
            </a:r>
          </a:p>
          <a:p>
            <a:pPr algn="l" fontAlgn="base">
              <a:buFont typeface="Arial" panose="020B0604020202020204" pitchFamily="34" charset="0"/>
              <a:buChar char="•"/>
            </a:pPr>
            <a:r>
              <a:rPr lang="en-IN" b="0" i="0" dirty="0">
                <a:solidFill>
                  <a:srgbClr val="273239"/>
                </a:solidFill>
                <a:effectLst/>
                <a:latin typeface="Nunito" pitchFamily="2" charset="77"/>
              </a:rPr>
              <a:t>Real World Applications include </a:t>
            </a:r>
            <a:r>
              <a:rPr lang="en-IN" b="1" i="0" dirty="0">
                <a:solidFill>
                  <a:srgbClr val="273239"/>
                </a:solidFill>
                <a:effectLst/>
                <a:latin typeface="Nunito" pitchFamily="2" charset="77"/>
              </a:rPr>
              <a:t>Database Indexing</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Cryptography</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Caches</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Symbol Table</a:t>
            </a:r>
            <a:r>
              <a:rPr lang="en-IN" b="0" i="0" dirty="0">
                <a:solidFill>
                  <a:srgbClr val="273239"/>
                </a:solidFill>
                <a:effectLst/>
                <a:latin typeface="Nunito" pitchFamily="2" charset="77"/>
              </a:rPr>
              <a:t> and </a:t>
            </a:r>
            <a:r>
              <a:rPr lang="en-IN" b="1" i="0" dirty="0">
                <a:solidFill>
                  <a:srgbClr val="273239"/>
                </a:solidFill>
                <a:effectLst/>
                <a:latin typeface="Nunito" pitchFamily="2" charset="77"/>
              </a:rPr>
              <a:t>Dictionaries</a:t>
            </a:r>
            <a:r>
              <a:rPr lang="en-IN" b="0" i="0" dirty="0">
                <a:solidFill>
                  <a:srgbClr val="273239"/>
                </a:solidFill>
                <a:effectLst/>
                <a:latin typeface="Nunito" pitchFamily="2" charset="77"/>
              </a:rPr>
              <a:t>.</a:t>
            </a:r>
          </a:p>
          <a:p>
            <a:endParaRPr lang="en-US" dirty="0"/>
          </a:p>
        </p:txBody>
      </p:sp>
    </p:spTree>
    <p:extLst>
      <p:ext uri="{BB962C8B-B14F-4D97-AF65-F5344CB8AC3E}">
        <p14:creationId xmlns:p14="http://schemas.microsoft.com/office/powerpoint/2010/main" val="2215689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2AD81-62E3-AED2-C50E-9B393F264006}"/>
              </a:ext>
            </a:extLst>
          </p:cNvPr>
          <p:cNvSpPr>
            <a:spLocks noGrp="1"/>
          </p:cNvSpPr>
          <p:nvPr>
            <p:ph type="title"/>
          </p:nvPr>
        </p:nvSpPr>
        <p:spPr/>
        <p:txBody>
          <a:bodyPr/>
          <a:lstStyle/>
          <a:p>
            <a:r>
              <a:rPr lang="en-IN" b="1" i="0" dirty="0">
                <a:solidFill>
                  <a:srgbClr val="273239"/>
                </a:solidFill>
                <a:effectLst/>
                <a:latin typeface="Nunito" pitchFamily="2" charset="77"/>
              </a:rPr>
              <a:t>Components of Hashing</a:t>
            </a:r>
            <a:endParaRPr lang="en-US" dirty="0"/>
          </a:p>
        </p:txBody>
      </p:sp>
      <p:sp>
        <p:nvSpPr>
          <p:cNvPr id="3" name="Content Placeholder 2">
            <a:extLst>
              <a:ext uri="{FF2B5EF4-FFF2-40B4-BE49-F238E27FC236}">
                <a16:creationId xmlns:a16="http://schemas.microsoft.com/office/drawing/2014/main" id="{CB16D518-DE1D-87DA-4C7A-805C97AD1865}"/>
              </a:ext>
            </a:extLst>
          </p:cNvPr>
          <p:cNvSpPr>
            <a:spLocks noGrp="1"/>
          </p:cNvSpPr>
          <p:nvPr>
            <p:ph idx="1"/>
          </p:nvPr>
        </p:nvSpPr>
        <p:spPr/>
        <p:txBody>
          <a:bodyPr>
            <a:normAutofit fontScale="92500" lnSpcReduction="10000"/>
          </a:bodyPr>
          <a:lstStyle/>
          <a:p>
            <a:pPr algn="l" fontAlgn="base">
              <a:buFont typeface="+mj-lt"/>
              <a:buAutoNum type="arabicPeriod"/>
            </a:pPr>
            <a:r>
              <a:rPr lang="en-IN" b="1" i="0" dirty="0">
                <a:solidFill>
                  <a:srgbClr val="273239"/>
                </a:solidFill>
                <a:effectLst/>
                <a:latin typeface="Nunito" pitchFamily="2" charset="77"/>
              </a:rPr>
              <a:t> Key: </a:t>
            </a:r>
            <a:r>
              <a:rPr lang="en-IN" b="0" i="0" dirty="0">
                <a:solidFill>
                  <a:srgbClr val="273239"/>
                </a:solidFill>
                <a:effectLst/>
                <a:latin typeface="Nunito" pitchFamily="2" charset="77"/>
              </a:rPr>
              <a:t>A Key</a:t>
            </a:r>
            <a:r>
              <a:rPr lang="en-IN" b="1" i="0" dirty="0">
                <a:solidFill>
                  <a:srgbClr val="273239"/>
                </a:solidFill>
                <a:effectLst/>
                <a:latin typeface="Nunito" pitchFamily="2" charset="77"/>
              </a:rPr>
              <a:t> </a:t>
            </a:r>
            <a:r>
              <a:rPr lang="en-IN" b="0" i="0" dirty="0">
                <a:solidFill>
                  <a:srgbClr val="273239"/>
                </a:solidFill>
                <a:effectLst/>
                <a:latin typeface="Nunito" pitchFamily="2" charset="77"/>
              </a:rPr>
              <a:t>can be anything string or integer which is fed as input in the hash function the technique that determines an index or location for storage of an item in a data structure.</a:t>
            </a:r>
          </a:p>
          <a:p>
            <a:pPr algn="l" fontAlgn="base">
              <a:buFont typeface="+mj-lt"/>
              <a:buAutoNum type="arabicPeriod"/>
            </a:pPr>
            <a:endParaRPr lang="en-IN" b="0" i="0" dirty="0">
              <a:solidFill>
                <a:srgbClr val="273239"/>
              </a:solidFill>
              <a:effectLst/>
              <a:latin typeface="Nunito" pitchFamily="2" charset="77"/>
            </a:endParaRPr>
          </a:p>
          <a:p>
            <a:pPr algn="l" fontAlgn="base">
              <a:buFont typeface="+mj-lt"/>
              <a:buAutoNum type="arabicPeriod" startAt="2"/>
            </a:pPr>
            <a:r>
              <a:rPr lang="en-IN" b="1" i="0" dirty="0">
                <a:solidFill>
                  <a:srgbClr val="273239"/>
                </a:solidFill>
                <a:effectLst/>
                <a:latin typeface="Nunito" pitchFamily="2" charset="77"/>
              </a:rPr>
              <a:t> Hash Function: </a:t>
            </a:r>
            <a:r>
              <a:rPr lang="en-IN" b="0" i="0" dirty="0">
                <a:solidFill>
                  <a:srgbClr val="273239"/>
                </a:solidFill>
                <a:effectLst/>
                <a:latin typeface="Nunito" pitchFamily="2" charset="77"/>
              </a:rPr>
              <a:t>Receives the input key and returns the index of an element in an array called a hash table. The index is known as the hash index</a:t>
            </a:r>
            <a:r>
              <a:rPr lang="en-IN" b="1" i="0" dirty="0">
                <a:solidFill>
                  <a:srgbClr val="273239"/>
                </a:solidFill>
                <a:effectLst/>
                <a:latin typeface="Nunito" pitchFamily="2" charset="77"/>
              </a:rPr>
              <a:t> </a:t>
            </a:r>
            <a:r>
              <a:rPr lang="en-IN" b="0" i="0" dirty="0">
                <a:solidFill>
                  <a:srgbClr val="273239"/>
                </a:solidFill>
                <a:effectLst/>
                <a:latin typeface="Nunito" pitchFamily="2" charset="77"/>
              </a:rPr>
              <a:t>.</a:t>
            </a:r>
          </a:p>
          <a:p>
            <a:pPr algn="l" fontAlgn="base">
              <a:buFont typeface="+mj-lt"/>
              <a:buAutoNum type="arabicPeriod" startAt="2"/>
            </a:pPr>
            <a:endParaRPr lang="en-IN" b="0" i="0" dirty="0">
              <a:solidFill>
                <a:srgbClr val="273239"/>
              </a:solidFill>
              <a:effectLst/>
              <a:latin typeface="Nunito" pitchFamily="2" charset="77"/>
            </a:endParaRPr>
          </a:p>
          <a:p>
            <a:pPr algn="l" fontAlgn="base">
              <a:buFont typeface="+mj-lt"/>
              <a:buAutoNum type="arabicPeriod" startAt="3"/>
            </a:pPr>
            <a:r>
              <a:rPr lang="en-IN" b="1" i="0" dirty="0">
                <a:solidFill>
                  <a:srgbClr val="273239"/>
                </a:solidFill>
                <a:effectLst/>
                <a:latin typeface="Nunito" pitchFamily="2" charset="77"/>
              </a:rPr>
              <a:t> Hash Table: </a:t>
            </a:r>
            <a:r>
              <a:rPr lang="en-IN" b="0" i="0" dirty="0">
                <a:solidFill>
                  <a:srgbClr val="273239"/>
                </a:solidFill>
                <a:effectLst/>
                <a:latin typeface="Nunito" pitchFamily="2" charset="77"/>
              </a:rPr>
              <a:t>Hash table is typically an array of lists. It stores values corresponding to the keys. Hash stores the data in an associative manner in an array where each data value has its own unique index.</a:t>
            </a:r>
          </a:p>
          <a:p>
            <a:endParaRPr lang="en-US" dirty="0"/>
          </a:p>
        </p:txBody>
      </p:sp>
    </p:spTree>
    <p:extLst>
      <p:ext uri="{BB962C8B-B14F-4D97-AF65-F5344CB8AC3E}">
        <p14:creationId xmlns:p14="http://schemas.microsoft.com/office/powerpoint/2010/main" val="2866973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86709-1F1E-7687-4B28-54F5594F20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F1B545C-C255-CC43-EBFE-274A48D13709}"/>
              </a:ext>
            </a:extLst>
          </p:cNvPr>
          <p:cNvSpPr>
            <a:spLocks noGrp="1"/>
          </p:cNvSpPr>
          <p:nvPr>
            <p:ph idx="1"/>
          </p:nvPr>
        </p:nvSpPr>
        <p:spPr/>
        <p:txBody>
          <a:bodyPr/>
          <a:lstStyle/>
          <a:p>
            <a:endParaRPr lang="en-US"/>
          </a:p>
        </p:txBody>
      </p:sp>
      <p:pic>
        <p:nvPicPr>
          <p:cNvPr id="2050" name="Picture 2" descr="Components-of-Hashing">
            <a:extLst>
              <a:ext uri="{FF2B5EF4-FFF2-40B4-BE49-F238E27FC236}">
                <a16:creationId xmlns:a16="http://schemas.microsoft.com/office/drawing/2014/main" id="{D5BA91C8-BAA8-F37E-BC74-C9732DDE4A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0" y="0"/>
            <a:ext cx="9588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045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CD502-71D1-DD6A-5276-EB4A923B86D4}"/>
              </a:ext>
            </a:extLst>
          </p:cNvPr>
          <p:cNvSpPr>
            <a:spLocks noGrp="1"/>
          </p:cNvSpPr>
          <p:nvPr>
            <p:ph type="title"/>
          </p:nvPr>
        </p:nvSpPr>
        <p:spPr/>
        <p:txBody>
          <a:bodyPr/>
          <a:lstStyle/>
          <a:p>
            <a:r>
              <a:rPr lang="en-US" dirty="0"/>
              <a:t>Hash Function</a:t>
            </a:r>
          </a:p>
        </p:txBody>
      </p:sp>
      <p:sp>
        <p:nvSpPr>
          <p:cNvPr id="3" name="Content Placeholder 2">
            <a:extLst>
              <a:ext uri="{FF2B5EF4-FFF2-40B4-BE49-F238E27FC236}">
                <a16:creationId xmlns:a16="http://schemas.microsoft.com/office/drawing/2014/main" id="{DDDE3F0B-EFA5-9BF7-05A5-35BFC297731E}"/>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A hash function is a function that takes an input (or key) of arbitrary size and converts it into a fixed-size value, called a hash value or hash code.</a:t>
            </a:r>
          </a:p>
          <a:p>
            <a:br>
              <a:rPr lang="en-IN" dirty="0"/>
            </a:br>
            <a:endParaRPr lang="en-US" dirty="0"/>
          </a:p>
        </p:txBody>
      </p:sp>
      <p:pic>
        <p:nvPicPr>
          <p:cNvPr id="1026" name="Picture 2" descr="hashf">
            <a:extLst>
              <a:ext uri="{FF2B5EF4-FFF2-40B4-BE49-F238E27FC236}">
                <a16:creationId xmlns:a16="http://schemas.microsoft.com/office/drawing/2014/main" id="{EF2488B5-2475-76EE-602E-1C86E837C0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6266" y="3180820"/>
            <a:ext cx="7179733" cy="3589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781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83C87-B41B-638F-41E6-AD45297CC1FB}"/>
              </a:ext>
            </a:extLst>
          </p:cNvPr>
          <p:cNvSpPr>
            <a:spLocks noGrp="1"/>
          </p:cNvSpPr>
          <p:nvPr>
            <p:ph type="title"/>
          </p:nvPr>
        </p:nvSpPr>
        <p:spPr/>
        <p:txBody>
          <a:bodyPr/>
          <a:lstStyle/>
          <a:p>
            <a:r>
              <a:rPr lang="en-IN" b="1" i="0" dirty="0">
                <a:solidFill>
                  <a:srgbClr val="273239"/>
                </a:solidFill>
                <a:effectLst/>
                <a:latin typeface="Nunito" pitchFamily="2" charset="77"/>
              </a:rPr>
              <a:t>Ex1. Phone Numbers as Input Keys</a:t>
            </a:r>
            <a:endParaRPr lang="en-US" dirty="0"/>
          </a:p>
        </p:txBody>
      </p:sp>
      <p:sp>
        <p:nvSpPr>
          <p:cNvPr id="3" name="Content Placeholder 2">
            <a:extLst>
              <a:ext uri="{FF2B5EF4-FFF2-40B4-BE49-F238E27FC236}">
                <a16:creationId xmlns:a16="http://schemas.microsoft.com/office/drawing/2014/main" id="{38022B5A-4FAC-7D63-E005-88D1C95B2A71}"/>
              </a:ext>
            </a:extLst>
          </p:cNvPr>
          <p:cNvSpPr>
            <a:spLocks noGrp="1"/>
          </p:cNvSpPr>
          <p:nvPr>
            <p:ph idx="1"/>
          </p:nvPr>
        </p:nvSpPr>
        <p:spPr/>
        <p:txBody>
          <a:bodyPr>
            <a:normAutofit/>
          </a:bodyPr>
          <a:lstStyle/>
          <a:p>
            <a:pPr algn="l" rtl="0" fontAlgn="base"/>
            <a:r>
              <a:rPr lang="en-IN" b="0" i="0" dirty="0">
                <a:solidFill>
                  <a:srgbClr val="273239"/>
                </a:solidFill>
                <a:effectLst/>
                <a:latin typeface="Nunito" pitchFamily="2" charset="77"/>
              </a:rPr>
              <a:t>Use the last two digits of the phone number as the hash value.</a:t>
            </a:r>
          </a:p>
          <a:p>
            <a:pPr rtl="0" fontAlgn="base"/>
            <a:r>
              <a:rPr lang="en-IN" b="1" dirty="0">
                <a:effectLst/>
                <a:latin typeface="Nunito" pitchFamily="2" charset="77"/>
              </a:rPr>
              <a:t>Hash Function</a:t>
            </a:r>
            <a:br>
              <a:rPr lang="en-IN" b="0" dirty="0">
                <a:effectLst/>
                <a:latin typeface="Nunito" pitchFamily="2" charset="77"/>
              </a:rPr>
            </a:br>
            <a:r>
              <a:rPr lang="en-IN" b="0" dirty="0">
                <a:effectLst/>
                <a:latin typeface="Nunito" pitchFamily="2" charset="77"/>
              </a:rPr>
              <a:t>h(k) = k mod 100</a:t>
            </a:r>
          </a:p>
          <a:p>
            <a:pPr algn="l" fontAlgn="base">
              <a:buFont typeface="Arial" panose="020B0604020202020204" pitchFamily="34" charset="0"/>
              <a:buChar char="•"/>
            </a:pPr>
            <a:r>
              <a:rPr lang="en-IN" b="0" i="0" dirty="0">
                <a:solidFill>
                  <a:srgbClr val="273239"/>
                </a:solidFill>
                <a:effectLst/>
                <a:latin typeface="Nunito" pitchFamily="2" charset="77"/>
              </a:rPr>
              <a:t>The hash table size is 100, so valid indices range from 0 to 99</a:t>
            </a:r>
          </a:p>
          <a:p>
            <a:pPr algn="l" fontAlgn="base">
              <a:buFont typeface="Arial" panose="020B0604020202020204" pitchFamily="34" charset="0"/>
              <a:buChar char="•"/>
            </a:pPr>
            <a:r>
              <a:rPr lang="en-IN" b="0" i="0" dirty="0">
                <a:solidFill>
                  <a:srgbClr val="273239"/>
                </a:solidFill>
                <a:effectLst/>
                <a:latin typeface="Nunito" pitchFamily="2" charset="77"/>
              </a:rPr>
              <a:t>Taking the last two digits ensures the output always falls within this range</a:t>
            </a:r>
          </a:p>
          <a:p>
            <a:pPr algn="l" rtl="0" fontAlgn="base"/>
            <a:r>
              <a:rPr lang="en-IN" b="1" i="0" dirty="0">
                <a:solidFill>
                  <a:srgbClr val="273239"/>
                </a:solidFill>
                <a:effectLst/>
                <a:latin typeface="Nunito" pitchFamily="2" charset="77"/>
              </a:rPr>
              <a:t>Note</a:t>
            </a:r>
            <a:r>
              <a:rPr lang="en-IN" b="0" i="0" dirty="0">
                <a:solidFill>
                  <a:srgbClr val="273239"/>
                </a:solidFill>
                <a:effectLst/>
                <a:latin typeface="Nunito" pitchFamily="2" charset="77"/>
              </a:rPr>
              <a:t>: Taking the first two digits is not a good choice because many phone numbers share the same starting digits, leading to poor distribution and more collisions.</a:t>
            </a:r>
          </a:p>
          <a:p>
            <a:endParaRPr lang="en-US" dirty="0"/>
          </a:p>
        </p:txBody>
      </p:sp>
    </p:spTree>
    <p:extLst>
      <p:ext uri="{BB962C8B-B14F-4D97-AF65-F5344CB8AC3E}">
        <p14:creationId xmlns:p14="http://schemas.microsoft.com/office/powerpoint/2010/main" val="638896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2B9CA-B514-F689-5D3F-AD087D6004B6}"/>
              </a:ext>
            </a:extLst>
          </p:cNvPr>
          <p:cNvSpPr>
            <a:spLocks noGrp="1"/>
          </p:cNvSpPr>
          <p:nvPr>
            <p:ph type="title"/>
          </p:nvPr>
        </p:nvSpPr>
        <p:spPr/>
        <p:txBody>
          <a:bodyPr/>
          <a:lstStyle/>
          <a:p>
            <a:r>
              <a:rPr lang="en-US" dirty="0"/>
              <a:t>Ex</a:t>
            </a:r>
            <a:r>
              <a:rPr lang="en-IN" b="1" i="0" dirty="0">
                <a:solidFill>
                  <a:srgbClr val="273239"/>
                </a:solidFill>
                <a:effectLst/>
                <a:latin typeface="Nunito" pitchFamily="2" charset="77"/>
              </a:rPr>
              <a:t>2. Lowercase English Strings as Keys</a:t>
            </a:r>
            <a:endParaRPr lang="en-US" dirty="0"/>
          </a:p>
        </p:txBody>
      </p:sp>
      <p:sp>
        <p:nvSpPr>
          <p:cNvPr id="3" name="Content Placeholder 2">
            <a:extLst>
              <a:ext uri="{FF2B5EF4-FFF2-40B4-BE49-F238E27FC236}">
                <a16:creationId xmlns:a16="http://schemas.microsoft.com/office/drawing/2014/main" id="{A2B20DB8-9B2C-06CB-6246-43498AD996AA}"/>
              </a:ext>
            </a:extLst>
          </p:cNvPr>
          <p:cNvSpPr>
            <a:spLocks noGrp="1"/>
          </p:cNvSpPr>
          <p:nvPr>
            <p:ph idx="1"/>
          </p:nvPr>
        </p:nvSpPr>
        <p:spPr/>
        <p:txBody>
          <a:bodyPr>
            <a:normAutofit fontScale="70000" lnSpcReduction="20000"/>
          </a:bodyPr>
          <a:lstStyle/>
          <a:p>
            <a:pPr algn="l" rtl="0" fontAlgn="base"/>
            <a:r>
              <a:rPr lang="en-IN" b="0" i="0" dirty="0">
                <a:solidFill>
                  <a:srgbClr val="273239"/>
                </a:solidFill>
                <a:effectLst/>
                <a:latin typeface="Nunito" pitchFamily="2" charset="77"/>
              </a:rPr>
              <a:t>Assign values to characters (a = 1, b = 2, ..., z = 26), sum them, and take modulo.</a:t>
            </a:r>
          </a:p>
          <a:p>
            <a:pPr rtl="0" fontAlgn="base"/>
            <a:r>
              <a:rPr lang="en-IN" b="1" dirty="0">
                <a:effectLst/>
                <a:latin typeface="Nunito" pitchFamily="2" charset="77"/>
              </a:rPr>
              <a:t>Hash Function:</a:t>
            </a:r>
            <a:br>
              <a:rPr lang="en-IN" b="0" dirty="0">
                <a:effectLst/>
                <a:latin typeface="Nunito" pitchFamily="2" charset="77"/>
              </a:rPr>
            </a:br>
            <a:r>
              <a:rPr lang="en-IN" b="0" dirty="0">
                <a:effectLst/>
                <a:latin typeface="Nunito" pitchFamily="2" charset="77"/>
              </a:rPr>
              <a:t>h(s) = (sum of character values) mod 100</a:t>
            </a:r>
          </a:p>
          <a:p>
            <a:pPr algn="l" rtl="0" fontAlgn="base"/>
            <a:r>
              <a:rPr lang="en-IN" b="1" i="0" dirty="0">
                <a:solidFill>
                  <a:srgbClr val="273239"/>
                </a:solidFill>
                <a:effectLst/>
                <a:latin typeface="Nunito" pitchFamily="2" charset="77"/>
              </a:rPr>
              <a:t>Limitation:</a:t>
            </a:r>
            <a:r>
              <a:rPr lang="en-IN" b="0" i="0" dirty="0">
                <a:solidFill>
                  <a:srgbClr val="273239"/>
                </a:solidFill>
                <a:effectLst/>
                <a:latin typeface="Nunito" pitchFamily="2" charset="77"/>
              </a:rPr>
              <a:t> Different strings can produce the same hash value:</a:t>
            </a:r>
          </a:p>
          <a:p>
            <a:pPr algn="l" fontAlgn="base">
              <a:buFont typeface="Arial" panose="020B0604020202020204" pitchFamily="34" charset="0"/>
              <a:buChar char="•"/>
            </a:pPr>
            <a:r>
              <a:rPr lang="en-IN" b="1" i="0" dirty="0">
                <a:solidFill>
                  <a:srgbClr val="273239"/>
                </a:solidFill>
                <a:effectLst/>
                <a:latin typeface="Nunito" pitchFamily="2" charset="77"/>
              </a:rPr>
              <a:t>"ad":</a:t>
            </a:r>
            <a:r>
              <a:rPr lang="en-IN" b="0" i="0" dirty="0">
                <a:solidFill>
                  <a:srgbClr val="273239"/>
                </a:solidFill>
                <a:effectLst/>
                <a:latin typeface="Nunito" pitchFamily="2" charset="77"/>
              </a:rPr>
              <a:t> 1 + 4 = 5</a:t>
            </a:r>
          </a:p>
          <a:p>
            <a:pPr algn="l" fontAlgn="base">
              <a:buFont typeface="Arial" panose="020B0604020202020204" pitchFamily="34" charset="0"/>
              <a:buChar char="•"/>
            </a:pPr>
            <a:r>
              <a:rPr lang="en-IN" b="1" i="0" dirty="0">
                <a:solidFill>
                  <a:srgbClr val="273239"/>
                </a:solidFill>
                <a:effectLst/>
                <a:latin typeface="Nunito" pitchFamily="2" charset="77"/>
              </a:rPr>
              <a:t>"</a:t>
            </a:r>
            <a:r>
              <a:rPr lang="en-IN" b="1" i="0" dirty="0" err="1">
                <a:solidFill>
                  <a:srgbClr val="273239"/>
                </a:solidFill>
                <a:effectLst/>
                <a:latin typeface="Nunito" pitchFamily="2" charset="77"/>
              </a:rPr>
              <a:t>bc</a:t>
            </a:r>
            <a:r>
              <a:rPr lang="en-IN" b="1" i="0" dirty="0">
                <a:solidFill>
                  <a:srgbClr val="273239"/>
                </a:solidFill>
                <a:effectLst/>
                <a:latin typeface="Nunito" pitchFamily="2" charset="77"/>
              </a:rPr>
              <a:t>":</a:t>
            </a:r>
            <a:r>
              <a:rPr lang="en-IN" b="0" i="0" dirty="0">
                <a:solidFill>
                  <a:srgbClr val="273239"/>
                </a:solidFill>
                <a:effectLst/>
                <a:latin typeface="Nunito" pitchFamily="2" charset="77"/>
              </a:rPr>
              <a:t> 2 + 3 = 5</a:t>
            </a:r>
          </a:p>
          <a:p>
            <a:pPr algn="l" rtl="0" fontAlgn="base"/>
            <a:r>
              <a:rPr lang="en-IN" b="0" i="0" dirty="0">
                <a:solidFill>
                  <a:srgbClr val="273239"/>
                </a:solidFill>
                <a:effectLst/>
                <a:latin typeface="Nunito" pitchFamily="2" charset="77"/>
              </a:rPr>
              <a:t>This leads to collisions.</a:t>
            </a:r>
          </a:p>
          <a:p>
            <a:pPr algn="l" rtl="0" fontAlgn="base"/>
            <a:r>
              <a:rPr lang="en-IN" b="1" i="0" dirty="0">
                <a:solidFill>
                  <a:srgbClr val="273239"/>
                </a:solidFill>
                <a:effectLst/>
                <a:latin typeface="Nunito" pitchFamily="2" charset="77"/>
              </a:rPr>
              <a:t>Improved Approach (Weighted Sum):</a:t>
            </a:r>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Use positional weights for characters to reduce collisions.</a:t>
            </a:r>
          </a:p>
          <a:p>
            <a:pPr rtl="0" fontAlgn="base"/>
            <a:r>
              <a:rPr lang="en-IN" b="1" dirty="0">
                <a:effectLst/>
                <a:latin typeface="Nunito" pitchFamily="2" charset="77"/>
              </a:rPr>
              <a:t>Better Hash Function (conceptual):</a:t>
            </a:r>
            <a:br>
              <a:rPr lang="en-IN" b="0" dirty="0">
                <a:effectLst/>
                <a:latin typeface="Nunito" pitchFamily="2" charset="77"/>
              </a:rPr>
            </a:br>
            <a:r>
              <a:rPr lang="en-IN" b="0" dirty="0">
                <a:effectLst/>
                <a:latin typeface="Nunito" pitchFamily="2" charset="77"/>
              </a:rPr>
              <a:t>h(s) = (</a:t>
            </a:r>
            <a:r>
              <a:rPr lang="el-GR" b="0" dirty="0">
                <a:effectLst/>
                <a:latin typeface="Nunito" pitchFamily="2" charset="77"/>
              </a:rPr>
              <a:t>Σ </a:t>
            </a:r>
            <a:r>
              <a:rPr lang="en-IN" b="0" dirty="0">
                <a:effectLst/>
                <a:latin typeface="Nunito" pitchFamily="2" charset="77"/>
              </a:rPr>
              <a:t>value(s[</a:t>
            </a:r>
            <a:r>
              <a:rPr lang="en-IN" b="0" dirty="0" err="1">
                <a:effectLst/>
                <a:latin typeface="Nunito" pitchFamily="2" charset="77"/>
              </a:rPr>
              <a:t>i</a:t>
            </a:r>
            <a:r>
              <a:rPr lang="en-IN" b="0" dirty="0">
                <a:effectLst/>
                <a:latin typeface="Nunito" pitchFamily="2" charset="77"/>
              </a:rPr>
              <a:t>]) × weight[</a:t>
            </a:r>
            <a:r>
              <a:rPr lang="en-IN" b="0" dirty="0" err="1">
                <a:effectLst/>
                <a:latin typeface="Nunito" pitchFamily="2" charset="77"/>
              </a:rPr>
              <a:t>i</a:t>
            </a:r>
            <a:r>
              <a:rPr lang="en-IN" b="0" dirty="0">
                <a:effectLst/>
                <a:latin typeface="Nunito" pitchFamily="2" charset="77"/>
              </a:rPr>
              <a:t>]) mod 100</a:t>
            </a:r>
          </a:p>
          <a:p>
            <a:pPr rtl="0" fontAlgn="base"/>
            <a:r>
              <a:rPr lang="en-IN" b="0" dirty="0">
                <a:effectLst/>
                <a:latin typeface="Nunito" pitchFamily="2" charset="77"/>
              </a:rPr>
              <a:t>It is conceptual because the weights are not fixed and can vary.</a:t>
            </a:r>
          </a:p>
          <a:p>
            <a:pPr algn="l" rtl="0" fontAlgn="base"/>
            <a:r>
              <a:rPr lang="en-IN" b="0" i="0" dirty="0">
                <a:solidFill>
                  <a:srgbClr val="273239"/>
                </a:solidFill>
                <a:effectLst/>
                <a:latin typeface="Nunito" pitchFamily="2" charset="77"/>
              </a:rPr>
              <a:t>Each character contributes differently based on its position, improving distribution and reducing collisions.</a:t>
            </a:r>
          </a:p>
          <a:p>
            <a:endParaRPr lang="en-US" dirty="0"/>
          </a:p>
        </p:txBody>
      </p:sp>
    </p:spTree>
    <p:extLst>
      <p:ext uri="{BB962C8B-B14F-4D97-AF65-F5344CB8AC3E}">
        <p14:creationId xmlns:p14="http://schemas.microsoft.com/office/powerpoint/2010/main" val="2130411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CBFE-3B56-A9F3-9997-4F7915954DB2}"/>
              </a:ext>
            </a:extLst>
          </p:cNvPr>
          <p:cNvSpPr>
            <a:spLocks noGrp="1"/>
          </p:cNvSpPr>
          <p:nvPr>
            <p:ph type="title"/>
          </p:nvPr>
        </p:nvSpPr>
        <p:spPr/>
        <p:txBody>
          <a:bodyPr/>
          <a:lstStyle/>
          <a:p>
            <a:r>
              <a:rPr lang="en-IN" b="1" i="0" dirty="0">
                <a:solidFill>
                  <a:srgbClr val="273239"/>
                </a:solidFill>
                <a:effectLst/>
                <a:latin typeface="Nunito" pitchFamily="2" charset="77"/>
              </a:rPr>
              <a:t>Properties of Hash Functions</a:t>
            </a:r>
            <a:endParaRPr lang="en-US" dirty="0"/>
          </a:p>
        </p:txBody>
      </p:sp>
      <p:sp>
        <p:nvSpPr>
          <p:cNvPr id="3" name="Content Placeholder 2">
            <a:extLst>
              <a:ext uri="{FF2B5EF4-FFF2-40B4-BE49-F238E27FC236}">
                <a16:creationId xmlns:a16="http://schemas.microsoft.com/office/drawing/2014/main" id="{CF847BAD-6F57-CF50-EFEB-81B8C1A5903E}"/>
              </a:ext>
            </a:extLst>
          </p:cNvPr>
          <p:cNvSpPr>
            <a:spLocks noGrp="1"/>
          </p:cNvSpPr>
          <p:nvPr>
            <p:ph idx="1"/>
          </p:nvPr>
        </p:nvSpPr>
        <p:spPr/>
        <p:txBody>
          <a:bodyPr>
            <a:normAutofit fontScale="70000" lnSpcReduction="20000"/>
          </a:bodyPr>
          <a:lstStyle/>
          <a:p>
            <a:pPr algn="l" rtl="0" fontAlgn="base"/>
            <a:r>
              <a:rPr lang="en-IN" b="0" i="0" dirty="0">
                <a:solidFill>
                  <a:srgbClr val="273239"/>
                </a:solidFill>
                <a:effectLst/>
                <a:latin typeface="Nunito" pitchFamily="2" charset="77"/>
              </a:rPr>
              <a:t>A good hash function should satisfy certain properties to ensure efficient and reliable data storage, retrieval, and security.</a:t>
            </a:r>
          </a:p>
          <a:p>
            <a:pPr algn="l" fontAlgn="base">
              <a:buFont typeface="Arial" panose="020B0604020202020204" pitchFamily="34" charset="0"/>
              <a:buChar char="•"/>
            </a:pPr>
            <a:r>
              <a:rPr lang="en-IN" b="1" i="0" dirty="0">
                <a:solidFill>
                  <a:srgbClr val="273239"/>
                </a:solidFill>
                <a:effectLst/>
                <a:latin typeface="Nunito" pitchFamily="2" charset="77"/>
              </a:rPr>
              <a:t>Deterministic</a:t>
            </a:r>
            <a:r>
              <a:rPr lang="en-IN" b="0" i="0" dirty="0">
                <a:solidFill>
                  <a:srgbClr val="273239"/>
                </a:solidFill>
                <a:effectLst/>
                <a:latin typeface="Nunito" pitchFamily="2" charset="77"/>
              </a:rPr>
              <a:t>: A hash function must consistently produce the same output for the same input.</a:t>
            </a:r>
          </a:p>
          <a:p>
            <a:pPr algn="l" fontAlgn="base">
              <a:buFont typeface="Arial" panose="020B0604020202020204" pitchFamily="34" charset="0"/>
              <a:buChar char="•"/>
            </a:pPr>
            <a:r>
              <a:rPr lang="en-IN" b="1" i="0" dirty="0">
                <a:solidFill>
                  <a:srgbClr val="273239"/>
                </a:solidFill>
                <a:effectLst/>
                <a:latin typeface="Nunito" pitchFamily="2" charset="77"/>
              </a:rPr>
              <a:t>Fixed Output Size</a:t>
            </a:r>
            <a:r>
              <a:rPr lang="en-IN" b="0" i="0" dirty="0">
                <a:solidFill>
                  <a:srgbClr val="273239"/>
                </a:solidFill>
                <a:effectLst/>
                <a:latin typeface="Nunito" pitchFamily="2" charset="77"/>
              </a:rPr>
              <a:t>: The output of a hash function should have a fixed size, regardless of the size of the input.</a:t>
            </a:r>
          </a:p>
          <a:p>
            <a:pPr algn="l" fontAlgn="base">
              <a:buFont typeface="Arial" panose="020B0604020202020204" pitchFamily="34" charset="0"/>
              <a:buChar char="•"/>
            </a:pPr>
            <a:r>
              <a:rPr lang="en-IN" b="1" i="0" dirty="0">
                <a:solidFill>
                  <a:srgbClr val="273239"/>
                </a:solidFill>
                <a:effectLst/>
                <a:latin typeface="Nunito" pitchFamily="2" charset="77"/>
              </a:rPr>
              <a:t>Efficiency</a:t>
            </a:r>
            <a:r>
              <a:rPr lang="en-IN" b="0" i="0" dirty="0">
                <a:solidFill>
                  <a:srgbClr val="273239"/>
                </a:solidFill>
                <a:effectLst/>
                <a:latin typeface="Nunito" pitchFamily="2" charset="77"/>
              </a:rPr>
              <a:t>: The hash function should be able to process input quickly.</a:t>
            </a:r>
          </a:p>
          <a:p>
            <a:pPr algn="l" fontAlgn="base">
              <a:buFont typeface="Arial" panose="020B0604020202020204" pitchFamily="34" charset="0"/>
              <a:buChar char="•"/>
            </a:pPr>
            <a:r>
              <a:rPr lang="en-IN" b="1" i="0" dirty="0">
                <a:solidFill>
                  <a:srgbClr val="273239"/>
                </a:solidFill>
                <a:effectLst/>
                <a:latin typeface="Nunito" pitchFamily="2" charset="77"/>
              </a:rPr>
              <a:t>Uniformity</a:t>
            </a:r>
            <a:r>
              <a:rPr lang="en-IN" b="0" i="0" dirty="0">
                <a:solidFill>
                  <a:srgbClr val="273239"/>
                </a:solidFill>
                <a:effectLst/>
                <a:latin typeface="Nunito" pitchFamily="2" charset="77"/>
              </a:rPr>
              <a:t>: The hash function should distribute the hash values uniformly across the output space to avoid clustering.</a:t>
            </a:r>
          </a:p>
          <a:p>
            <a:pPr algn="l" fontAlgn="base">
              <a:buFont typeface="Arial" panose="020B0604020202020204" pitchFamily="34" charset="0"/>
              <a:buChar char="•"/>
            </a:pPr>
            <a:r>
              <a:rPr lang="en-IN" b="1" i="0" dirty="0">
                <a:solidFill>
                  <a:srgbClr val="273239"/>
                </a:solidFill>
                <a:effectLst/>
                <a:latin typeface="Nunito" pitchFamily="2" charset="77"/>
              </a:rPr>
              <a:t>Pre-image Resistance</a:t>
            </a:r>
            <a:r>
              <a:rPr lang="en-IN" b="0" i="0" dirty="0">
                <a:solidFill>
                  <a:srgbClr val="273239"/>
                </a:solidFill>
                <a:effectLst/>
                <a:latin typeface="Nunito" pitchFamily="2" charset="77"/>
              </a:rPr>
              <a:t>: It should be computationally infeasible to reverse the hash function, i.e., to find the original input given a hash value.</a:t>
            </a:r>
          </a:p>
          <a:p>
            <a:pPr algn="l" fontAlgn="base">
              <a:buFont typeface="Arial" panose="020B0604020202020204" pitchFamily="34" charset="0"/>
              <a:buChar char="•"/>
            </a:pPr>
            <a:r>
              <a:rPr lang="en-IN" b="1" i="0" dirty="0">
                <a:solidFill>
                  <a:srgbClr val="273239"/>
                </a:solidFill>
                <a:effectLst/>
                <a:latin typeface="Nunito" pitchFamily="2" charset="77"/>
              </a:rPr>
              <a:t>Collision Resistance</a:t>
            </a:r>
            <a:r>
              <a:rPr lang="en-IN" b="0" i="0" dirty="0">
                <a:solidFill>
                  <a:srgbClr val="273239"/>
                </a:solidFill>
                <a:effectLst/>
                <a:latin typeface="Nunito" pitchFamily="2" charset="77"/>
              </a:rPr>
              <a:t>: It should be difficult to find two different inputs that produce the same hash value.</a:t>
            </a:r>
          </a:p>
          <a:p>
            <a:pPr algn="l" fontAlgn="base">
              <a:buFont typeface="Arial" panose="020B0604020202020204" pitchFamily="34" charset="0"/>
              <a:buChar char="•"/>
            </a:pPr>
            <a:r>
              <a:rPr lang="en-IN" b="1" i="0" dirty="0">
                <a:solidFill>
                  <a:srgbClr val="273239"/>
                </a:solidFill>
                <a:effectLst/>
                <a:latin typeface="Nunito" pitchFamily="2" charset="77"/>
              </a:rPr>
              <a:t>Avalanche Effect</a:t>
            </a:r>
            <a:r>
              <a:rPr lang="en-IN" b="0" i="0" dirty="0">
                <a:solidFill>
                  <a:srgbClr val="273239"/>
                </a:solidFill>
                <a:effectLst/>
                <a:latin typeface="Nunito" pitchFamily="2" charset="77"/>
              </a:rPr>
              <a:t>: A small change in the input should produce a significantly different hash value.</a:t>
            </a:r>
          </a:p>
          <a:p>
            <a:endParaRPr lang="en-US" dirty="0"/>
          </a:p>
        </p:txBody>
      </p:sp>
    </p:spTree>
    <p:extLst>
      <p:ext uri="{BB962C8B-B14F-4D97-AF65-F5344CB8AC3E}">
        <p14:creationId xmlns:p14="http://schemas.microsoft.com/office/powerpoint/2010/main" val="3007466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C9D8A-0C8C-1EC4-4C75-2307CF1C4E7C}"/>
              </a:ext>
            </a:extLst>
          </p:cNvPr>
          <p:cNvSpPr>
            <a:spLocks noGrp="1"/>
          </p:cNvSpPr>
          <p:nvPr>
            <p:ph type="title"/>
          </p:nvPr>
        </p:nvSpPr>
        <p:spPr/>
        <p:txBody>
          <a:bodyPr/>
          <a:lstStyle/>
          <a:p>
            <a:r>
              <a:rPr lang="en-IN" b="1" i="0" dirty="0">
                <a:solidFill>
                  <a:srgbClr val="273239"/>
                </a:solidFill>
                <a:effectLst/>
                <a:latin typeface="Nunito" pitchFamily="2" charset="77"/>
              </a:rPr>
              <a:t>Applications of Hash Functions</a:t>
            </a:r>
            <a:endParaRPr lang="en-US" dirty="0"/>
          </a:p>
        </p:txBody>
      </p:sp>
      <p:sp>
        <p:nvSpPr>
          <p:cNvPr id="3" name="Content Placeholder 2">
            <a:extLst>
              <a:ext uri="{FF2B5EF4-FFF2-40B4-BE49-F238E27FC236}">
                <a16:creationId xmlns:a16="http://schemas.microsoft.com/office/drawing/2014/main" id="{11094980-256B-883E-7B95-B16386641C5D}"/>
              </a:ext>
            </a:extLst>
          </p:cNvPr>
          <p:cNvSpPr>
            <a:spLocks noGrp="1"/>
          </p:cNvSpPr>
          <p:nvPr>
            <p:ph idx="1"/>
          </p:nvPr>
        </p:nvSpPr>
        <p:spPr/>
        <p:txBody>
          <a:bodyPr>
            <a:normAutofit fontScale="92500" lnSpcReduction="10000"/>
          </a:bodyPr>
          <a:lstStyle/>
          <a:p>
            <a:pPr algn="l" rtl="0" fontAlgn="base"/>
            <a:r>
              <a:rPr lang="en-IN" b="0" i="0" dirty="0">
                <a:solidFill>
                  <a:srgbClr val="273239"/>
                </a:solidFill>
                <a:effectLst/>
                <a:latin typeface="Nunito" pitchFamily="2" charset="77"/>
              </a:rPr>
              <a:t>Hash functions are widely used across various domains due to their efficiency and versatility:</a:t>
            </a:r>
          </a:p>
          <a:p>
            <a:pPr algn="l" fontAlgn="base">
              <a:buFont typeface="Arial" panose="020B0604020202020204" pitchFamily="34" charset="0"/>
              <a:buChar char="•"/>
            </a:pPr>
            <a:r>
              <a:rPr lang="en-IN" b="1" i="0" dirty="0">
                <a:solidFill>
                  <a:srgbClr val="273239"/>
                </a:solidFill>
                <a:effectLst/>
                <a:latin typeface="Nunito" pitchFamily="2" charset="77"/>
              </a:rPr>
              <a:t>Hash Tables</a:t>
            </a:r>
            <a:r>
              <a:rPr lang="en-IN" b="0" i="0" dirty="0">
                <a:solidFill>
                  <a:srgbClr val="273239"/>
                </a:solidFill>
                <a:effectLst/>
                <a:latin typeface="Nunito" pitchFamily="2" charset="77"/>
              </a:rPr>
              <a:t>: The most common use of hash functions in DSA is in hash tables, which provide an efficient way to store and retrieve data.</a:t>
            </a:r>
          </a:p>
          <a:p>
            <a:pPr algn="l" fontAlgn="base">
              <a:buFont typeface="Arial" panose="020B0604020202020204" pitchFamily="34" charset="0"/>
              <a:buChar char="•"/>
            </a:pPr>
            <a:r>
              <a:rPr lang="en-IN" b="1" i="0" dirty="0">
                <a:solidFill>
                  <a:srgbClr val="273239"/>
                </a:solidFill>
                <a:effectLst/>
                <a:latin typeface="Nunito" pitchFamily="2" charset="77"/>
              </a:rPr>
              <a:t>Data Integrity</a:t>
            </a:r>
            <a:r>
              <a:rPr lang="en-IN" b="0" i="0" dirty="0">
                <a:solidFill>
                  <a:srgbClr val="273239"/>
                </a:solidFill>
                <a:effectLst/>
                <a:latin typeface="Nunito" pitchFamily="2" charset="77"/>
              </a:rPr>
              <a:t>: Hash functions are used to ensure the integrity of data by generating checksums.</a:t>
            </a:r>
          </a:p>
          <a:p>
            <a:pPr algn="l" fontAlgn="base">
              <a:buFont typeface="Arial" panose="020B0604020202020204" pitchFamily="34" charset="0"/>
              <a:buChar char="•"/>
            </a:pPr>
            <a:r>
              <a:rPr lang="en-IN" b="1" i="0" dirty="0">
                <a:solidFill>
                  <a:srgbClr val="273239"/>
                </a:solidFill>
                <a:effectLst/>
                <a:latin typeface="Nunito" pitchFamily="2" charset="77"/>
              </a:rPr>
              <a:t>Cryptography</a:t>
            </a:r>
            <a:r>
              <a:rPr lang="en-IN" b="0" i="0" dirty="0">
                <a:solidFill>
                  <a:srgbClr val="273239"/>
                </a:solidFill>
                <a:effectLst/>
                <a:latin typeface="Nunito" pitchFamily="2" charset="77"/>
              </a:rPr>
              <a:t>: In cryptographic applications, hash functions are used to create secure hash algorithms like SHA-256.</a:t>
            </a:r>
          </a:p>
          <a:p>
            <a:pPr algn="l" fontAlgn="base">
              <a:buFont typeface="Arial" panose="020B0604020202020204" pitchFamily="34" charset="0"/>
              <a:buChar char="•"/>
            </a:pPr>
            <a:r>
              <a:rPr lang="en-IN" b="1" i="0" dirty="0">
                <a:solidFill>
                  <a:srgbClr val="273239"/>
                </a:solidFill>
                <a:effectLst/>
                <a:latin typeface="Nunito" pitchFamily="2" charset="77"/>
              </a:rPr>
              <a:t>Data Structures</a:t>
            </a:r>
            <a:r>
              <a:rPr lang="en-IN" b="0" i="0" dirty="0">
                <a:solidFill>
                  <a:srgbClr val="273239"/>
                </a:solidFill>
                <a:effectLst/>
                <a:latin typeface="Nunito" pitchFamily="2" charset="77"/>
              </a:rPr>
              <a:t>: Hash functions are utilized in various data structures such as Bloom filters and hash sets.</a:t>
            </a:r>
          </a:p>
          <a:p>
            <a:endParaRPr lang="en-US" dirty="0"/>
          </a:p>
        </p:txBody>
      </p:sp>
    </p:spTree>
    <p:extLst>
      <p:ext uri="{BB962C8B-B14F-4D97-AF65-F5344CB8AC3E}">
        <p14:creationId xmlns:p14="http://schemas.microsoft.com/office/powerpoint/2010/main" val="3958240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C95D4-564F-D863-FCAC-125836CA83ED}"/>
              </a:ext>
            </a:extLst>
          </p:cNvPr>
          <p:cNvSpPr>
            <a:spLocks noGrp="1"/>
          </p:cNvSpPr>
          <p:nvPr>
            <p:ph type="title"/>
          </p:nvPr>
        </p:nvSpPr>
        <p:spPr/>
        <p:txBody>
          <a:bodyPr/>
          <a:lstStyle/>
          <a:p>
            <a:r>
              <a:rPr lang="en-IN" b="1" i="0" dirty="0">
                <a:solidFill>
                  <a:srgbClr val="273239"/>
                </a:solidFill>
                <a:effectLst/>
                <a:latin typeface="Nunito" pitchFamily="2" charset="77"/>
              </a:rPr>
              <a:t>Types of Hash Functions</a:t>
            </a:r>
            <a:endParaRPr lang="en-US" dirty="0"/>
          </a:p>
        </p:txBody>
      </p:sp>
      <p:sp>
        <p:nvSpPr>
          <p:cNvPr id="3" name="Content Placeholder 2">
            <a:extLst>
              <a:ext uri="{FF2B5EF4-FFF2-40B4-BE49-F238E27FC236}">
                <a16:creationId xmlns:a16="http://schemas.microsoft.com/office/drawing/2014/main" id="{1D018A96-A1C0-6ACE-9025-45F8884C9954}"/>
              </a:ext>
            </a:extLst>
          </p:cNvPr>
          <p:cNvSpPr>
            <a:spLocks noGrp="1"/>
          </p:cNvSpPr>
          <p:nvPr>
            <p:ph idx="1"/>
          </p:nvPr>
        </p:nvSpPr>
        <p:spPr/>
        <p:txBody>
          <a:bodyPr>
            <a:normAutofit/>
          </a:bodyPr>
          <a:lstStyle/>
          <a:p>
            <a:pPr marL="0" indent="0" algn="l" fontAlgn="base">
              <a:buNone/>
            </a:pPr>
            <a:r>
              <a:rPr lang="en-IN" b="1" i="0" dirty="0">
                <a:solidFill>
                  <a:srgbClr val="273239"/>
                </a:solidFill>
                <a:effectLst/>
                <a:latin typeface="Nunito" pitchFamily="2" charset="77"/>
              </a:rPr>
              <a:t>1. Division Method</a:t>
            </a:r>
          </a:p>
          <a:p>
            <a:pPr marL="0" indent="0" algn="l" fontAlgn="base">
              <a:buNone/>
            </a:pPr>
            <a:r>
              <a:rPr lang="en-IN" b="1" i="0" dirty="0">
                <a:solidFill>
                  <a:srgbClr val="273239"/>
                </a:solidFill>
                <a:effectLst/>
                <a:latin typeface="Nunito" pitchFamily="2" charset="77"/>
              </a:rPr>
              <a:t>2. Multiplication Method</a:t>
            </a:r>
          </a:p>
          <a:p>
            <a:pPr marL="0" indent="0" algn="l" fontAlgn="base">
              <a:buNone/>
            </a:pPr>
            <a:r>
              <a:rPr lang="en-IN" b="1" i="0" dirty="0">
                <a:solidFill>
                  <a:srgbClr val="273239"/>
                </a:solidFill>
                <a:effectLst/>
                <a:latin typeface="Nunito" pitchFamily="2" charset="77"/>
              </a:rPr>
              <a:t>3. Mid-Square Method</a:t>
            </a:r>
          </a:p>
          <a:p>
            <a:pPr marL="0" indent="0" algn="l" fontAlgn="base">
              <a:buNone/>
            </a:pPr>
            <a:r>
              <a:rPr lang="en-IN" b="1" i="0" dirty="0">
                <a:solidFill>
                  <a:srgbClr val="273239"/>
                </a:solidFill>
                <a:effectLst/>
                <a:latin typeface="Nunito" pitchFamily="2" charset="77"/>
              </a:rPr>
              <a:t>4. Folding Method</a:t>
            </a:r>
          </a:p>
          <a:p>
            <a:pPr marL="0" indent="0" algn="l" fontAlgn="base">
              <a:buNone/>
            </a:pPr>
            <a:r>
              <a:rPr lang="en-IN" b="1" i="0" dirty="0">
                <a:solidFill>
                  <a:srgbClr val="273239"/>
                </a:solidFill>
                <a:effectLst/>
                <a:latin typeface="Nunito" pitchFamily="2" charset="77"/>
              </a:rPr>
              <a:t>5. Cryptographic Hash Functions</a:t>
            </a:r>
          </a:p>
          <a:p>
            <a:pPr marL="0" indent="0" algn="l" fontAlgn="base">
              <a:buNone/>
            </a:pPr>
            <a:r>
              <a:rPr lang="en-IN" b="1" i="0" dirty="0">
                <a:solidFill>
                  <a:srgbClr val="273239"/>
                </a:solidFill>
                <a:effectLst/>
                <a:latin typeface="Nunito" pitchFamily="2" charset="77"/>
              </a:rPr>
              <a:t>6. Universal Hashing</a:t>
            </a:r>
          </a:p>
          <a:p>
            <a:pPr marL="0" indent="0" algn="l" fontAlgn="base">
              <a:buNone/>
            </a:pPr>
            <a:r>
              <a:rPr lang="en-IN" b="1" i="0" dirty="0">
                <a:solidFill>
                  <a:srgbClr val="273239"/>
                </a:solidFill>
                <a:effectLst/>
                <a:latin typeface="Nunito" pitchFamily="2" charset="77"/>
              </a:rPr>
              <a:t>7. Perfect Hashing</a:t>
            </a:r>
          </a:p>
        </p:txBody>
      </p:sp>
    </p:spTree>
    <p:extLst>
      <p:ext uri="{BB962C8B-B14F-4D97-AF65-F5344CB8AC3E}">
        <p14:creationId xmlns:p14="http://schemas.microsoft.com/office/powerpoint/2010/main" val="3324274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2EADA-CAD0-8E2A-E0BD-C7B28726D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070C8-6846-E5B6-EFAE-591402C34AD2}"/>
              </a:ext>
            </a:extLst>
          </p:cNvPr>
          <p:cNvSpPr>
            <a:spLocks noGrp="1"/>
          </p:cNvSpPr>
          <p:nvPr>
            <p:ph type="title"/>
          </p:nvPr>
        </p:nvSpPr>
        <p:spPr/>
        <p:txBody>
          <a:bodyPr/>
          <a:lstStyle/>
          <a:p>
            <a:r>
              <a:rPr lang="en-IN" b="1" i="0" dirty="0">
                <a:solidFill>
                  <a:srgbClr val="273239"/>
                </a:solidFill>
                <a:effectLst/>
                <a:latin typeface="Nunito" pitchFamily="2" charset="77"/>
              </a:rPr>
              <a:t>1. Division Method</a:t>
            </a:r>
            <a:endParaRPr lang="en-US" dirty="0"/>
          </a:p>
        </p:txBody>
      </p:sp>
      <p:sp>
        <p:nvSpPr>
          <p:cNvPr id="3" name="Content Placeholder 2">
            <a:extLst>
              <a:ext uri="{FF2B5EF4-FFF2-40B4-BE49-F238E27FC236}">
                <a16:creationId xmlns:a16="http://schemas.microsoft.com/office/drawing/2014/main" id="{1B979530-F9C4-56E6-1486-9E8BF5DAF085}"/>
              </a:ext>
            </a:extLst>
          </p:cNvPr>
          <p:cNvSpPr>
            <a:spLocks noGrp="1"/>
          </p:cNvSpPr>
          <p:nvPr>
            <p:ph idx="1"/>
          </p:nvPr>
        </p:nvSpPr>
        <p:spPr/>
        <p:txBody>
          <a:bodyPr>
            <a:normAutofit fontScale="92500" lnSpcReduction="10000"/>
          </a:bodyPr>
          <a:lstStyle/>
          <a:p>
            <a:pPr algn="l" rtl="0" fontAlgn="base"/>
            <a:r>
              <a:rPr lang="en-IN" b="0" i="0" dirty="0">
                <a:solidFill>
                  <a:srgbClr val="273239"/>
                </a:solidFill>
                <a:effectLst/>
                <a:latin typeface="Nunito" pitchFamily="2" charset="77"/>
              </a:rPr>
              <a:t>The division method computes the hash value as the remainder when the key is divided by m, where m is usually chosen as a prime number.</a:t>
            </a:r>
          </a:p>
          <a:p>
            <a:pPr algn="l" rtl="0" fontAlgn="base"/>
            <a:r>
              <a:rPr lang="en-IN" b="0" i="1" dirty="0">
                <a:effectLst/>
                <a:latin typeface="Nunito" pitchFamily="2" charset="77"/>
              </a:rPr>
              <a:t>h</a:t>
            </a:r>
            <a:r>
              <a:rPr lang="en-IN" b="0" dirty="0">
                <a:effectLst/>
                <a:latin typeface="Nunito" pitchFamily="2" charset="77"/>
              </a:rPr>
              <a:t>(</a:t>
            </a:r>
            <a:r>
              <a:rPr lang="en-IN" b="0" i="1" dirty="0">
                <a:effectLst/>
                <a:latin typeface="Nunito" pitchFamily="2" charset="77"/>
              </a:rPr>
              <a:t>k</a:t>
            </a:r>
            <a:r>
              <a:rPr lang="en-IN" b="0" dirty="0">
                <a:effectLst/>
                <a:latin typeface="Nunito" pitchFamily="2" charset="77"/>
              </a:rPr>
              <a:t>)=</a:t>
            </a:r>
            <a:r>
              <a:rPr lang="en-IN" b="0" i="1" dirty="0">
                <a:effectLst/>
                <a:latin typeface="Nunito" pitchFamily="2" charset="77"/>
              </a:rPr>
              <a:t>k </a:t>
            </a:r>
            <a:r>
              <a:rPr lang="en-IN" b="0" dirty="0">
                <a:effectLst/>
                <a:latin typeface="Nunito" pitchFamily="2" charset="77"/>
              </a:rPr>
              <a:t>mod </a:t>
            </a:r>
            <a:r>
              <a:rPr lang="en-IN" b="0" i="1" dirty="0">
                <a:effectLst/>
                <a:latin typeface="Nunito" pitchFamily="2" charset="77"/>
              </a:rPr>
              <a:t>m</a:t>
            </a:r>
            <a:endParaRPr lang="en-IN" b="0" dirty="0">
              <a:effectLst/>
              <a:latin typeface="Nunito" pitchFamily="2" charset="77"/>
            </a:endParaRPr>
          </a:p>
          <a:p>
            <a:pPr algn="l" rtl="0" fontAlgn="base"/>
            <a:r>
              <a:rPr lang="en-IN" b="0" dirty="0">
                <a:effectLst/>
                <a:latin typeface="Nunito" pitchFamily="2" charset="77"/>
              </a:rPr>
              <a:t>Where k is the key and m is typically chosen as a prime number.</a:t>
            </a:r>
          </a:p>
          <a:p>
            <a:pPr algn="l" rtl="0" fontAlgn="base"/>
            <a:r>
              <a:rPr lang="en-IN" b="1" i="0" dirty="0">
                <a:solidFill>
                  <a:srgbClr val="273239"/>
                </a:solidFill>
                <a:effectLst/>
                <a:latin typeface="Nunito" pitchFamily="2" charset="77"/>
              </a:rPr>
              <a:t>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Simple to implement.</a:t>
            </a:r>
          </a:p>
          <a:p>
            <a:pPr algn="l" fontAlgn="base">
              <a:buFont typeface="Arial" panose="020B0604020202020204" pitchFamily="34" charset="0"/>
              <a:buChar char="•"/>
            </a:pPr>
            <a:r>
              <a:rPr lang="en-IN" b="0" i="0" dirty="0">
                <a:solidFill>
                  <a:srgbClr val="273239"/>
                </a:solidFill>
                <a:effectLst/>
                <a:latin typeface="Nunito" pitchFamily="2" charset="77"/>
              </a:rPr>
              <a:t>Works well when m is a prime number.</a:t>
            </a:r>
          </a:p>
          <a:p>
            <a:pPr algn="l" rtl="0" fontAlgn="base"/>
            <a:r>
              <a:rPr lang="en-IN" b="1" i="0" dirty="0">
                <a:solidFill>
                  <a:srgbClr val="273239"/>
                </a:solidFill>
                <a:effectLst/>
                <a:latin typeface="Nunito" pitchFamily="2" charset="77"/>
              </a:rPr>
              <a:t>Disadvantages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Poor distribution if m is not chosen wisely.</a:t>
            </a:r>
          </a:p>
        </p:txBody>
      </p:sp>
    </p:spTree>
    <p:extLst>
      <p:ext uri="{BB962C8B-B14F-4D97-AF65-F5344CB8AC3E}">
        <p14:creationId xmlns:p14="http://schemas.microsoft.com/office/powerpoint/2010/main" val="3287669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1886E-951B-7014-CD3D-42F39D8DD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5BA5D-E66C-DA16-F99D-F96823CEAEA9}"/>
              </a:ext>
            </a:extLst>
          </p:cNvPr>
          <p:cNvSpPr>
            <a:spLocks noGrp="1"/>
          </p:cNvSpPr>
          <p:nvPr>
            <p:ph type="title"/>
          </p:nvPr>
        </p:nvSpPr>
        <p:spPr/>
        <p:txBody>
          <a:bodyPr/>
          <a:lstStyle/>
          <a:p>
            <a:pPr algn="l" fontAlgn="base"/>
            <a:r>
              <a:rPr lang="en-IN" b="1" i="0" dirty="0">
                <a:solidFill>
                  <a:srgbClr val="273239"/>
                </a:solidFill>
                <a:effectLst/>
                <a:latin typeface="Nunito" pitchFamily="2" charset="77"/>
              </a:rPr>
              <a:t>2. Multiplication Method</a:t>
            </a:r>
          </a:p>
        </p:txBody>
      </p:sp>
      <p:sp>
        <p:nvSpPr>
          <p:cNvPr id="3" name="Content Placeholder 2">
            <a:extLst>
              <a:ext uri="{FF2B5EF4-FFF2-40B4-BE49-F238E27FC236}">
                <a16:creationId xmlns:a16="http://schemas.microsoft.com/office/drawing/2014/main" id="{41F2A4C1-B718-E7AC-37B2-E535D4E75619}"/>
              </a:ext>
            </a:extLst>
          </p:cNvPr>
          <p:cNvSpPr>
            <a:spLocks noGrp="1"/>
          </p:cNvSpPr>
          <p:nvPr>
            <p:ph idx="1"/>
          </p:nvPr>
        </p:nvSpPr>
        <p:spPr/>
        <p:txBody>
          <a:bodyPr>
            <a:normAutofit fontScale="85000" lnSpcReduction="20000"/>
          </a:bodyPr>
          <a:lstStyle/>
          <a:p>
            <a:pPr algn="l" rtl="0" fontAlgn="base"/>
            <a:r>
              <a:rPr lang="en-IN" b="0" i="0" dirty="0">
                <a:solidFill>
                  <a:srgbClr val="273239"/>
                </a:solidFill>
                <a:effectLst/>
                <a:latin typeface="Nunito" pitchFamily="2" charset="77"/>
              </a:rPr>
              <a:t>In this method, the key is multiplied by a constant A (where 0 &lt; A &lt; 1). The fractional part of the result is then multiplied by m to obtain the hash value.</a:t>
            </a:r>
          </a:p>
          <a:p>
            <a:pPr algn="l" rtl="0" fontAlgn="base"/>
            <a:r>
              <a:rPr lang="en-IN" b="0" i="1" dirty="0">
                <a:effectLst/>
                <a:latin typeface="Nunito" pitchFamily="2" charset="77"/>
              </a:rPr>
              <a:t>h</a:t>
            </a:r>
            <a:r>
              <a:rPr lang="en-IN" b="0" dirty="0">
                <a:effectLst/>
                <a:latin typeface="Nunito" pitchFamily="2" charset="77"/>
              </a:rPr>
              <a:t>(</a:t>
            </a:r>
            <a:r>
              <a:rPr lang="en-IN" b="0" i="1" dirty="0">
                <a:effectLst/>
                <a:latin typeface="Nunito" pitchFamily="2" charset="77"/>
              </a:rPr>
              <a:t>k</a:t>
            </a:r>
            <a:r>
              <a:rPr lang="en-IN" b="0" dirty="0">
                <a:effectLst/>
                <a:latin typeface="Nunito" pitchFamily="2" charset="77"/>
              </a:rPr>
              <a:t>)=⌊</a:t>
            </a:r>
            <a:r>
              <a:rPr lang="en-IN" b="0" i="1" dirty="0">
                <a:effectLst/>
                <a:latin typeface="Nunito" pitchFamily="2" charset="77"/>
              </a:rPr>
              <a:t>m * </a:t>
            </a:r>
            <a:r>
              <a:rPr lang="en-IN" b="0" dirty="0">
                <a:effectLst/>
                <a:latin typeface="Nunito" pitchFamily="2" charset="77"/>
              </a:rPr>
              <a:t>((</a:t>
            </a:r>
            <a:r>
              <a:rPr lang="en-IN" b="0" i="1" dirty="0">
                <a:effectLst/>
                <a:latin typeface="Nunito" pitchFamily="2" charset="77"/>
              </a:rPr>
              <a:t>k * A) </a:t>
            </a:r>
            <a:r>
              <a:rPr lang="en-IN" b="0" dirty="0">
                <a:effectLst/>
                <a:latin typeface="Nunito" pitchFamily="2" charset="77"/>
              </a:rPr>
              <a:t>mod 1)⌋</a:t>
            </a:r>
          </a:p>
          <a:p>
            <a:pPr algn="l" rtl="0" fontAlgn="base"/>
            <a:r>
              <a:rPr lang="en-IN" b="0" dirty="0">
                <a:effectLst/>
                <a:latin typeface="Nunito" pitchFamily="2" charset="77"/>
              </a:rPr>
              <a:t>Where ⌊ ⌋ denotes the floor function.</a:t>
            </a:r>
          </a:p>
          <a:p>
            <a:pPr algn="l" rtl="0" fontAlgn="base"/>
            <a:r>
              <a:rPr lang="en-IN" b="0" i="0" dirty="0">
                <a:solidFill>
                  <a:srgbClr val="273239"/>
                </a:solidFill>
                <a:effectLst/>
                <a:latin typeface="Nunito" pitchFamily="2" charset="77"/>
              </a:rPr>
              <a:t>Unlike the division method, this technique is less dependent on the value of m, making it more flexible in practice.</a:t>
            </a:r>
          </a:p>
          <a:p>
            <a:pPr algn="l" rtl="0" fontAlgn="base"/>
            <a:r>
              <a:rPr lang="en-IN" b="1" i="0" dirty="0">
                <a:solidFill>
                  <a:srgbClr val="273239"/>
                </a:solidFill>
                <a:effectLst/>
                <a:latin typeface="Nunito" pitchFamily="2" charset="77"/>
              </a:rPr>
              <a:t>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Provides better distribution in many cases.</a:t>
            </a:r>
          </a:p>
          <a:p>
            <a:pPr algn="l" fontAlgn="base">
              <a:buFont typeface="Arial" panose="020B0604020202020204" pitchFamily="34" charset="0"/>
              <a:buChar char="•"/>
            </a:pPr>
            <a:r>
              <a:rPr lang="en-IN" b="0" i="0" dirty="0">
                <a:solidFill>
                  <a:srgbClr val="273239"/>
                </a:solidFill>
                <a:effectLst/>
                <a:latin typeface="Nunito" pitchFamily="2" charset="77"/>
              </a:rPr>
              <a:t>Less sensitive to table size.</a:t>
            </a:r>
          </a:p>
          <a:p>
            <a:pPr algn="l" rtl="0" fontAlgn="base"/>
            <a:r>
              <a:rPr lang="en-IN" b="1" i="0" dirty="0">
                <a:solidFill>
                  <a:srgbClr val="273239"/>
                </a:solidFill>
                <a:effectLst/>
                <a:latin typeface="Nunito" pitchFamily="2" charset="77"/>
              </a:rPr>
              <a:t>Disadvantages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Slightly more complex to compute.</a:t>
            </a:r>
          </a:p>
        </p:txBody>
      </p:sp>
    </p:spTree>
    <p:extLst>
      <p:ext uri="{BB962C8B-B14F-4D97-AF65-F5344CB8AC3E}">
        <p14:creationId xmlns:p14="http://schemas.microsoft.com/office/powerpoint/2010/main" val="366317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BE35C-84DA-CF9F-1A01-9CB5C7E84B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F0903-4EAD-223F-4B0C-4306AA717463}"/>
              </a:ext>
            </a:extLst>
          </p:cNvPr>
          <p:cNvSpPr>
            <a:spLocks noGrp="1"/>
          </p:cNvSpPr>
          <p:nvPr>
            <p:ph type="title"/>
          </p:nvPr>
        </p:nvSpPr>
        <p:spPr/>
        <p:txBody>
          <a:bodyPr/>
          <a:lstStyle/>
          <a:p>
            <a:pPr algn="l" fontAlgn="base"/>
            <a:r>
              <a:rPr lang="en-IN" b="1" i="0" dirty="0">
                <a:solidFill>
                  <a:srgbClr val="273239"/>
                </a:solidFill>
                <a:effectLst/>
                <a:latin typeface="Nunito" pitchFamily="2" charset="77"/>
              </a:rPr>
              <a:t>3. Mid-Square Method</a:t>
            </a:r>
          </a:p>
        </p:txBody>
      </p:sp>
      <p:sp>
        <p:nvSpPr>
          <p:cNvPr id="3" name="Content Placeholder 2">
            <a:extLst>
              <a:ext uri="{FF2B5EF4-FFF2-40B4-BE49-F238E27FC236}">
                <a16:creationId xmlns:a16="http://schemas.microsoft.com/office/drawing/2014/main" id="{EE959F52-3E7A-8321-524C-263697708720}"/>
              </a:ext>
            </a:extLst>
          </p:cNvPr>
          <p:cNvSpPr>
            <a:spLocks noGrp="1"/>
          </p:cNvSpPr>
          <p:nvPr>
            <p:ph idx="1"/>
          </p:nvPr>
        </p:nvSpPr>
        <p:spPr/>
        <p:txBody>
          <a:bodyPr>
            <a:normAutofit fontScale="92500" lnSpcReduction="20000"/>
          </a:bodyPr>
          <a:lstStyle/>
          <a:p>
            <a:pPr algn="l" rtl="0" fontAlgn="base"/>
            <a:r>
              <a:rPr lang="en-IN" b="0" i="0" dirty="0">
                <a:solidFill>
                  <a:srgbClr val="273239"/>
                </a:solidFill>
                <a:effectLst/>
                <a:latin typeface="Nunito" pitchFamily="2" charset="77"/>
              </a:rPr>
              <a:t>This method involves squaring the key and extracting the middle portion of the result to generate the hash value.</a:t>
            </a:r>
          </a:p>
          <a:p>
            <a:pPr algn="l" rtl="0" fontAlgn="base"/>
            <a:r>
              <a:rPr lang="en-IN" b="1" dirty="0">
                <a:effectLst/>
                <a:latin typeface="Nunito" pitchFamily="2" charset="77"/>
              </a:rPr>
              <a:t>Steps</a:t>
            </a:r>
            <a:r>
              <a:rPr lang="en-IN" b="0" dirty="0">
                <a:effectLst/>
                <a:latin typeface="Nunito" pitchFamily="2" charset="77"/>
              </a:rPr>
              <a:t>:</a:t>
            </a:r>
          </a:p>
          <a:p>
            <a:pPr algn="l" fontAlgn="base">
              <a:buFont typeface="+mj-lt"/>
              <a:buAutoNum type="arabicPeriod"/>
            </a:pPr>
            <a:r>
              <a:rPr lang="en-IN" dirty="0">
                <a:solidFill>
                  <a:srgbClr val="273239"/>
                </a:solidFill>
                <a:effectLst/>
                <a:latin typeface="Nunito" pitchFamily="2" charset="77"/>
              </a:rPr>
              <a:t>Square the key.</a:t>
            </a:r>
          </a:p>
          <a:p>
            <a:pPr algn="l" fontAlgn="base">
              <a:buFont typeface="+mj-lt"/>
              <a:buAutoNum type="arabicPeriod" startAt="2"/>
            </a:pPr>
            <a:r>
              <a:rPr lang="en-IN" dirty="0">
                <a:solidFill>
                  <a:srgbClr val="273239"/>
                </a:solidFill>
                <a:effectLst/>
                <a:latin typeface="Nunito" pitchFamily="2" charset="77"/>
              </a:rPr>
              <a:t>Extract the middle digits of the squared value.</a:t>
            </a:r>
          </a:p>
          <a:p>
            <a:pPr algn="l" rtl="0" fontAlgn="base"/>
            <a:r>
              <a:rPr lang="en-IN" b="0" i="0" dirty="0">
                <a:solidFill>
                  <a:srgbClr val="273239"/>
                </a:solidFill>
                <a:effectLst/>
                <a:latin typeface="Nunito" pitchFamily="2" charset="77"/>
              </a:rPr>
              <a:t>Squaring the key helps in spreading out the digits, which often results in a more uniform distribution of hash values.</a:t>
            </a:r>
          </a:p>
          <a:p>
            <a:pPr algn="l" rtl="0" fontAlgn="base"/>
            <a:r>
              <a:rPr lang="en-IN" b="1" i="0" dirty="0">
                <a:solidFill>
                  <a:srgbClr val="273239"/>
                </a:solidFill>
                <a:effectLst/>
                <a:latin typeface="Nunito" pitchFamily="2" charset="77"/>
              </a:rPr>
              <a:t>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Produces a good distribution of hash values.</a:t>
            </a:r>
          </a:p>
          <a:p>
            <a:pPr algn="l" rtl="0" fontAlgn="base"/>
            <a:r>
              <a:rPr lang="en-IN" b="1" i="0" dirty="0">
                <a:solidFill>
                  <a:srgbClr val="273239"/>
                </a:solidFill>
                <a:effectLst/>
                <a:latin typeface="Nunito" pitchFamily="2" charset="77"/>
              </a:rPr>
              <a:t>Disadvantages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May require more computational effort.</a:t>
            </a:r>
          </a:p>
        </p:txBody>
      </p:sp>
    </p:spTree>
    <p:extLst>
      <p:ext uri="{BB962C8B-B14F-4D97-AF65-F5344CB8AC3E}">
        <p14:creationId xmlns:p14="http://schemas.microsoft.com/office/powerpoint/2010/main" val="2834422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3AF77-9B17-E36A-88BA-9643296B9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FC0D01-8183-46D7-9F73-7D025B8308A6}"/>
              </a:ext>
            </a:extLst>
          </p:cNvPr>
          <p:cNvSpPr>
            <a:spLocks noGrp="1"/>
          </p:cNvSpPr>
          <p:nvPr>
            <p:ph type="title"/>
          </p:nvPr>
        </p:nvSpPr>
        <p:spPr/>
        <p:txBody>
          <a:bodyPr/>
          <a:lstStyle/>
          <a:p>
            <a:pPr algn="l" fontAlgn="base"/>
            <a:r>
              <a:rPr lang="en-IN" b="1" i="0" dirty="0">
                <a:solidFill>
                  <a:srgbClr val="273239"/>
                </a:solidFill>
                <a:effectLst/>
                <a:latin typeface="Nunito" pitchFamily="2" charset="77"/>
              </a:rPr>
              <a:t>4. Folding Method</a:t>
            </a:r>
          </a:p>
        </p:txBody>
      </p:sp>
      <p:sp>
        <p:nvSpPr>
          <p:cNvPr id="3" name="Content Placeholder 2">
            <a:extLst>
              <a:ext uri="{FF2B5EF4-FFF2-40B4-BE49-F238E27FC236}">
                <a16:creationId xmlns:a16="http://schemas.microsoft.com/office/drawing/2014/main" id="{5D1CE1CB-7B2A-10EB-3AC2-A6DF2C158DC7}"/>
              </a:ext>
            </a:extLst>
          </p:cNvPr>
          <p:cNvSpPr>
            <a:spLocks noGrp="1"/>
          </p:cNvSpPr>
          <p:nvPr>
            <p:ph idx="1"/>
          </p:nvPr>
        </p:nvSpPr>
        <p:spPr/>
        <p:txBody>
          <a:bodyPr>
            <a:normAutofit fontScale="62500" lnSpcReduction="20000"/>
          </a:bodyPr>
          <a:lstStyle/>
          <a:p>
            <a:pPr algn="l" rtl="0" fontAlgn="base"/>
            <a:r>
              <a:rPr lang="en-IN" b="0" i="0" dirty="0">
                <a:solidFill>
                  <a:srgbClr val="273239"/>
                </a:solidFill>
                <a:effectLst/>
                <a:latin typeface="Nunito" pitchFamily="2" charset="77"/>
              </a:rPr>
              <a:t>In the folding method, the key is divided into several smaller parts, and these parts are combined (usually by addition) to generate the hash value.</a:t>
            </a:r>
          </a:p>
          <a:p>
            <a:pPr algn="l" rtl="0" fontAlgn="base"/>
            <a:r>
              <a:rPr lang="en-IN" b="1" dirty="0">
                <a:effectLst/>
                <a:latin typeface="Nunito" pitchFamily="2" charset="77"/>
              </a:rPr>
              <a:t>Steps</a:t>
            </a:r>
            <a:r>
              <a:rPr lang="en-IN" b="0" dirty="0">
                <a:effectLst/>
                <a:latin typeface="Nunito" pitchFamily="2" charset="77"/>
              </a:rPr>
              <a:t>:</a:t>
            </a:r>
          </a:p>
          <a:p>
            <a:pPr algn="l" fontAlgn="base">
              <a:buFont typeface="+mj-lt"/>
              <a:buAutoNum type="arabicPeriod"/>
            </a:pPr>
            <a:r>
              <a:rPr lang="en-IN" dirty="0">
                <a:solidFill>
                  <a:srgbClr val="273239"/>
                </a:solidFill>
                <a:effectLst/>
                <a:latin typeface="Nunito" pitchFamily="2" charset="77"/>
              </a:rPr>
              <a:t>Split the key into equal or nearly equal segments.</a:t>
            </a:r>
          </a:p>
          <a:p>
            <a:pPr algn="l" fontAlgn="base">
              <a:buFont typeface="+mj-lt"/>
              <a:buAutoNum type="arabicPeriod" startAt="2"/>
            </a:pPr>
            <a:r>
              <a:rPr lang="en-IN" dirty="0">
                <a:solidFill>
                  <a:srgbClr val="273239"/>
                </a:solidFill>
                <a:effectLst/>
                <a:latin typeface="Nunito" pitchFamily="2" charset="77"/>
              </a:rPr>
              <a:t>Add all the segments to obtain an intermediate sum.</a:t>
            </a:r>
          </a:p>
          <a:p>
            <a:pPr algn="l" fontAlgn="base">
              <a:buFont typeface="+mj-lt"/>
              <a:buAutoNum type="arabicPeriod" startAt="3"/>
            </a:pPr>
            <a:r>
              <a:rPr lang="en-IN" dirty="0">
                <a:solidFill>
                  <a:srgbClr val="273239"/>
                </a:solidFill>
                <a:effectLst/>
                <a:latin typeface="Nunito" pitchFamily="2" charset="77"/>
              </a:rPr>
              <a:t>Apply modulo operation (if required) to fit the hash table size.</a:t>
            </a:r>
          </a:p>
          <a:p>
            <a:pPr algn="l" fontAlgn="base">
              <a:buFont typeface="+mj-lt"/>
              <a:buAutoNum type="arabicPeriod" startAt="4"/>
            </a:pPr>
            <a:r>
              <a:rPr lang="en-IN" dirty="0">
                <a:solidFill>
                  <a:srgbClr val="273239"/>
                </a:solidFill>
                <a:effectLst/>
                <a:latin typeface="Nunito" pitchFamily="2" charset="77"/>
              </a:rPr>
              <a:t>Optionally, reverse alternate segments before adding to improve distribution.</a:t>
            </a:r>
          </a:p>
          <a:p>
            <a:pPr algn="l" rtl="0" fontAlgn="base"/>
            <a:r>
              <a:rPr lang="en-IN" b="1" i="0" dirty="0">
                <a:solidFill>
                  <a:srgbClr val="273239"/>
                </a:solidFill>
                <a:effectLst/>
                <a:latin typeface="Nunito" pitchFamily="2" charset="77"/>
              </a:rPr>
              <a:t>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Simple and easy to implement.</a:t>
            </a:r>
          </a:p>
          <a:p>
            <a:pPr algn="l" fontAlgn="base">
              <a:buFont typeface="Arial" panose="020B0604020202020204" pitchFamily="34" charset="0"/>
              <a:buChar char="•"/>
            </a:pPr>
            <a:r>
              <a:rPr lang="en-IN" b="0" i="0" dirty="0">
                <a:solidFill>
                  <a:srgbClr val="273239"/>
                </a:solidFill>
                <a:effectLst/>
                <a:latin typeface="Nunito" pitchFamily="2" charset="77"/>
              </a:rPr>
              <a:t>Works well for large keys.</a:t>
            </a:r>
          </a:p>
          <a:p>
            <a:pPr algn="l" fontAlgn="base">
              <a:buFont typeface="Arial" panose="020B0604020202020204" pitchFamily="34" charset="0"/>
              <a:buChar char="•"/>
            </a:pPr>
            <a:r>
              <a:rPr lang="en-IN" b="0" i="0" dirty="0">
                <a:solidFill>
                  <a:srgbClr val="273239"/>
                </a:solidFill>
                <a:effectLst/>
                <a:latin typeface="Nunito" pitchFamily="2" charset="77"/>
              </a:rPr>
              <a:t>Flexible in partitioning strategy.</a:t>
            </a:r>
          </a:p>
          <a:p>
            <a:pPr algn="l" rtl="0" fontAlgn="base"/>
            <a:r>
              <a:rPr lang="en-IN" b="1" i="0" dirty="0">
                <a:solidFill>
                  <a:srgbClr val="273239"/>
                </a:solidFill>
                <a:effectLst/>
                <a:latin typeface="Nunito" pitchFamily="2" charset="77"/>
              </a:rPr>
              <a:t>Disadvantages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Quality depends on how the key is divided.</a:t>
            </a:r>
          </a:p>
          <a:p>
            <a:pPr algn="l" fontAlgn="base">
              <a:buFont typeface="Arial" panose="020B0604020202020204" pitchFamily="34" charset="0"/>
              <a:buChar char="•"/>
            </a:pPr>
            <a:r>
              <a:rPr lang="en-IN" b="0" i="0" dirty="0">
                <a:solidFill>
                  <a:srgbClr val="273239"/>
                </a:solidFill>
                <a:effectLst/>
                <a:latin typeface="Nunito" pitchFamily="2" charset="77"/>
              </a:rPr>
              <a:t>May not distribute values uniformly if parts are similar.</a:t>
            </a:r>
          </a:p>
        </p:txBody>
      </p:sp>
    </p:spTree>
    <p:extLst>
      <p:ext uri="{BB962C8B-B14F-4D97-AF65-F5344CB8AC3E}">
        <p14:creationId xmlns:p14="http://schemas.microsoft.com/office/powerpoint/2010/main" val="4091568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0386C-17DC-EE53-C42E-367CB8F9B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CF5D1-D707-5286-DFD5-F480884B31B5}"/>
              </a:ext>
            </a:extLst>
          </p:cNvPr>
          <p:cNvSpPr>
            <a:spLocks noGrp="1"/>
          </p:cNvSpPr>
          <p:nvPr>
            <p:ph type="title"/>
          </p:nvPr>
        </p:nvSpPr>
        <p:spPr/>
        <p:txBody>
          <a:bodyPr/>
          <a:lstStyle/>
          <a:p>
            <a:pPr algn="l" fontAlgn="base"/>
            <a:r>
              <a:rPr lang="en-IN" b="1" i="0" dirty="0">
                <a:solidFill>
                  <a:srgbClr val="273239"/>
                </a:solidFill>
                <a:effectLst/>
                <a:latin typeface="Nunito" pitchFamily="2" charset="77"/>
              </a:rPr>
              <a:t>5. Cryptographic Hash Functions</a:t>
            </a:r>
          </a:p>
        </p:txBody>
      </p:sp>
      <p:sp>
        <p:nvSpPr>
          <p:cNvPr id="3" name="Content Placeholder 2">
            <a:extLst>
              <a:ext uri="{FF2B5EF4-FFF2-40B4-BE49-F238E27FC236}">
                <a16:creationId xmlns:a16="http://schemas.microsoft.com/office/drawing/2014/main" id="{258EF04C-D676-EEC0-A51C-D48C0DDBAE21}"/>
              </a:ext>
            </a:extLst>
          </p:cNvPr>
          <p:cNvSpPr>
            <a:spLocks noGrp="1"/>
          </p:cNvSpPr>
          <p:nvPr>
            <p:ph idx="1"/>
          </p:nvPr>
        </p:nvSpPr>
        <p:spPr/>
        <p:txBody>
          <a:bodyPr>
            <a:normAutofit fontScale="92500" lnSpcReduction="20000"/>
          </a:bodyPr>
          <a:lstStyle/>
          <a:p>
            <a:pPr algn="l" rtl="0" fontAlgn="base"/>
            <a:r>
              <a:rPr lang="en-IN" b="0" i="0" dirty="0">
                <a:solidFill>
                  <a:srgbClr val="273239"/>
                </a:solidFill>
                <a:effectLst/>
                <a:latin typeface="Nunito" pitchFamily="2" charset="77"/>
              </a:rPr>
              <a:t>These hash functions are designed for security rather than speed. They are used in applications where data protection is critical.</a:t>
            </a:r>
          </a:p>
          <a:p>
            <a:pPr rtl="0" fontAlgn="base"/>
            <a:r>
              <a:rPr lang="en-IN" b="0" dirty="0">
                <a:effectLst/>
                <a:latin typeface="Nunito" pitchFamily="2" charset="77"/>
              </a:rPr>
              <a:t>Examples include SHA-256 and SHA-3, which are widely used in security applications like password hashing and blockchain.</a:t>
            </a:r>
          </a:p>
          <a:p>
            <a:pPr algn="l" rtl="0" fontAlgn="base"/>
            <a:r>
              <a:rPr lang="en-IN" b="0" i="0" dirty="0">
                <a:solidFill>
                  <a:srgbClr val="273239"/>
                </a:solidFill>
                <a:effectLst/>
                <a:latin typeface="Nunito" pitchFamily="2" charset="77"/>
              </a:rPr>
              <a:t>They ensure strong properties like pre-image resistance, second pre-image resistance, and collision resistance, making them suitable for secure systems.</a:t>
            </a:r>
          </a:p>
          <a:p>
            <a:pPr algn="l" rtl="0" fontAlgn="base"/>
            <a:r>
              <a:rPr lang="en-IN" b="1" i="0" dirty="0">
                <a:solidFill>
                  <a:srgbClr val="273239"/>
                </a:solidFill>
                <a:effectLst/>
                <a:latin typeface="Nunito" pitchFamily="2" charset="77"/>
              </a:rPr>
              <a:t>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Highly secure and reliable.</a:t>
            </a:r>
          </a:p>
          <a:p>
            <a:pPr algn="l" rtl="0" fontAlgn="base"/>
            <a:r>
              <a:rPr lang="en-IN" b="1" i="0" dirty="0">
                <a:solidFill>
                  <a:srgbClr val="273239"/>
                </a:solidFill>
                <a:effectLst/>
                <a:latin typeface="Nunito" pitchFamily="2" charset="77"/>
              </a:rPr>
              <a:t>Disadvantages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Slower compared to non-cryptographic hash functions.</a:t>
            </a:r>
          </a:p>
        </p:txBody>
      </p:sp>
    </p:spTree>
    <p:extLst>
      <p:ext uri="{BB962C8B-B14F-4D97-AF65-F5344CB8AC3E}">
        <p14:creationId xmlns:p14="http://schemas.microsoft.com/office/powerpoint/2010/main" val="285315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59D3E-6118-F870-8F29-3BCDE5BF4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5C55F-56F5-2C63-9F34-59C67734A5F0}"/>
              </a:ext>
            </a:extLst>
          </p:cNvPr>
          <p:cNvSpPr>
            <a:spLocks noGrp="1"/>
          </p:cNvSpPr>
          <p:nvPr>
            <p:ph type="title"/>
          </p:nvPr>
        </p:nvSpPr>
        <p:spPr/>
        <p:txBody>
          <a:bodyPr/>
          <a:lstStyle/>
          <a:p>
            <a:pPr algn="l" fontAlgn="base"/>
            <a:r>
              <a:rPr lang="en-IN" b="1" i="0" dirty="0">
                <a:solidFill>
                  <a:srgbClr val="273239"/>
                </a:solidFill>
                <a:effectLst/>
                <a:latin typeface="Nunito" pitchFamily="2" charset="77"/>
              </a:rPr>
              <a:t>6. Universal Hashing</a:t>
            </a:r>
          </a:p>
        </p:txBody>
      </p:sp>
      <p:sp>
        <p:nvSpPr>
          <p:cNvPr id="3" name="Content Placeholder 2">
            <a:extLst>
              <a:ext uri="{FF2B5EF4-FFF2-40B4-BE49-F238E27FC236}">
                <a16:creationId xmlns:a16="http://schemas.microsoft.com/office/drawing/2014/main" id="{C29123C8-F4CF-4859-DBA0-90BE909E5C9B}"/>
              </a:ext>
            </a:extLst>
          </p:cNvPr>
          <p:cNvSpPr>
            <a:spLocks noGrp="1"/>
          </p:cNvSpPr>
          <p:nvPr>
            <p:ph idx="1"/>
          </p:nvPr>
        </p:nvSpPr>
        <p:spPr/>
        <p:txBody>
          <a:bodyPr>
            <a:normAutofit fontScale="77500" lnSpcReduction="20000"/>
          </a:bodyPr>
          <a:lstStyle/>
          <a:p>
            <a:pPr algn="l" rtl="0" fontAlgn="base"/>
            <a:r>
              <a:rPr lang="en-IN" b="0" i="0" dirty="0">
                <a:solidFill>
                  <a:srgbClr val="273239"/>
                </a:solidFill>
                <a:effectLst/>
                <a:latin typeface="Nunito" pitchFamily="2" charset="77"/>
              </a:rPr>
              <a:t>Universal hashing uses a set of hash functions and selects one randomly at runtime. The goal is to minimize the probability of collisions regardless of the input distribution.</a:t>
            </a:r>
          </a:p>
          <a:p>
            <a:pPr algn="l" rtl="0" fontAlgn="base"/>
            <a:r>
              <a:rPr lang="en-IN" b="0" i="1" dirty="0">
                <a:effectLst/>
                <a:latin typeface="Nunito" pitchFamily="2" charset="77"/>
              </a:rPr>
              <a:t>h</a:t>
            </a:r>
            <a:r>
              <a:rPr lang="en-IN" b="0" dirty="0">
                <a:effectLst/>
                <a:latin typeface="Nunito" pitchFamily="2" charset="77"/>
              </a:rPr>
              <a:t>(</a:t>
            </a:r>
            <a:r>
              <a:rPr lang="en-IN" b="0" i="1" dirty="0">
                <a:effectLst/>
                <a:latin typeface="Nunito" pitchFamily="2" charset="77"/>
              </a:rPr>
              <a:t>k</a:t>
            </a:r>
            <a:r>
              <a:rPr lang="en-IN" b="0" dirty="0">
                <a:effectLst/>
                <a:latin typeface="Nunito" pitchFamily="2" charset="77"/>
              </a:rPr>
              <a:t>)=((</a:t>
            </a:r>
            <a:r>
              <a:rPr lang="en-IN" b="0" i="1" dirty="0">
                <a:effectLst/>
                <a:latin typeface="Nunito" pitchFamily="2" charset="77"/>
              </a:rPr>
              <a:t>a</a:t>
            </a:r>
            <a:r>
              <a:rPr lang="en-IN" b="0" dirty="0">
                <a:effectLst/>
                <a:latin typeface="Nunito" pitchFamily="2" charset="77"/>
              </a:rPr>
              <a:t> * </a:t>
            </a:r>
            <a:r>
              <a:rPr lang="en-IN" b="0" i="1" dirty="0">
                <a:effectLst/>
                <a:latin typeface="Nunito" pitchFamily="2" charset="77"/>
              </a:rPr>
              <a:t>k </a:t>
            </a:r>
            <a:r>
              <a:rPr lang="en-IN" b="0" dirty="0">
                <a:effectLst/>
                <a:latin typeface="Nunito" pitchFamily="2" charset="77"/>
              </a:rPr>
              <a:t>+ </a:t>
            </a:r>
            <a:r>
              <a:rPr lang="en-IN" b="0" i="1" dirty="0">
                <a:effectLst/>
                <a:latin typeface="Nunito" pitchFamily="2" charset="77"/>
              </a:rPr>
              <a:t>b</a:t>
            </a:r>
            <a:r>
              <a:rPr lang="en-IN" b="0" dirty="0">
                <a:effectLst/>
                <a:latin typeface="Nunito" pitchFamily="2" charset="77"/>
              </a:rPr>
              <a:t>) mod </a:t>
            </a:r>
            <a:r>
              <a:rPr lang="en-IN" b="0" i="1" dirty="0">
                <a:effectLst/>
                <a:latin typeface="Nunito" pitchFamily="2" charset="77"/>
              </a:rPr>
              <a:t>p</a:t>
            </a:r>
            <a:r>
              <a:rPr lang="en-IN" b="0" dirty="0">
                <a:effectLst/>
                <a:latin typeface="Nunito" pitchFamily="2" charset="77"/>
              </a:rPr>
              <a:t>) mod </a:t>
            </a:r>
            <a:r>
              <a:rPr lang="en-IN" b="0" i="1" dirty="0">
                <a:effectLst/>
                <a:latin typeface="Nunito" pitchFamily="2" charset="77"/>
              </a:rPr>
              <a:t>m </a:t>
            </a:r>
            <a:endParaRPr lang="en-IN" b="0" dirty="0">
              <a:effectLst/>
              <a:latin typeface="Nunito" pitchFamily="2" charset="77"/>
            </a:endParaRPr>
          </a:p>
          <a:p>
            <a:pPr algn="l" rtl="0" fontAlgn="base"/>
            <a:r>
              <a:rPr lang="en-IN" b="0" dirty="0">
                <a:effectLst/>
                <a:latin typeface="Nunito" pitchFamily="2" charset="77"/>
              </a:rPr>
              <a:t>Where </a:t>
            </a:r>
            <a:r>
              <a:rPr lang="en-IN" b="0" i="1" dirty="0">
                <a:effectLst/>
                <a:latin typeface="Nunito" pitchFamily="2" charset="77"/>
              </a:rPr>
              <a:t>a</a:t>
            </a:r>
            <a:r>
              <a:rPr lang="en-IN" b="0" dirty="0">
                <a:effectLst/>
                <a:latin typeface="Nunito" pitchFamily="2" charset="77"/>
              </a:rPr>
              <a:t> and </a:t>
            </a:r>
            <a:r>
              <a:rPr lang="en-IN" b="0" i="1" dirty="0">
                <a:effectLst/>
                <a:latin typeface="Nunito" pitchFamily="2" charset="77"/>
              </a:rPr>
              <a:t>b</a:t>
            </a:r>
            <a:r>
              <a:rPr lang="en-IN" b="0" dirty="0">
                <a:effectLst/>
                <a:latin typeface="Nunito" pitchFamily="2" charset="77"/>
              </a:rPr>
              <a:t> are randomly chosen constants, </a:t>
            </a:r>
            <a:r>
              <a:rPr lang="en-IN" b="0" i="1" dirty="0">
                <a:effectLst/>
                <a:latin typeface="Nunito" pitchFamily="2" charset="77"/>
              </a:rPr>
              <a:t>p</a:t>
            </a:r>
            <a:r>
              <a:rPr lang="en-IN" b="0" dirty="0">
                <a:effectLst/>
                <a:latin typeface="Nunito" pitchFamily="2" charset="77"/>
              </a:rPr>
              <a:t> is a prime number greater than </a:t>
            </a:r>
            <a:r>
              <a:rPr lang="en-IN" b="0" i="1" dirty="0">
                <a:effectLst/>
                <a:latin typeface="Nunito" pitchFamily="2" charset="77"/>
              </a:rPr>
              <a:t>m</a:t>
            </a:r>
            <a:r>
              <a:rPr lang="en-IN" b="0" dirty="0">
                <a:effectLst/>
                <a:latin typeface="Nunito" pitchFamily="2" charset="77"/>
              </a:rPr>
              <a:t>, and </a:t>
            </a:r>
            <a:r>
              <a:rPr lang="en-IN" b="0" i="1" dirty="0">
                <a:effectLst/>
                <a:latin typeface="Nunito" pitchFamily="2" charset="77"/>
              </a:rPr>
              <a:t>k</a:t>
            </a:r>
            <a:r>
              <a:rPr lang="en-IN" b="0" dirty="0">
                <a:effectLst/>
                <a:latin typeface="Nunito" pitchFamily="2" charset="77"/>
              </a:rPr>
              <a:t> is the key.</a:t>
            </a:r>
          </a:p>
          <a:p>
            <a:pPr algn="l" rtl="0" fontAlgn="base"/>
            <a:r>
              <a:rPr lang="en-IN" b="0" i="0" dirty="0">
                <a:solidFill>
                  <a:srgbClr val="273239"/>
                </a:solidFill>
                <a:effectLst/>
                <a:latin typeface="Nunito" pitchFamily="2" charset="77"/>
              </a:rPr>
              <a:t>By introducing randomness, this method prevents attackers or worst-case inputs from degrading performance.</a:t>
            </a:r>
          </a:p>
          <a:p>
            <a:pPr algn="l" rtl="0" fontAlgn="base"/>
            <a:r>
              <a:rPr lang="en-IN" b="1" i="0" dirty="0">
                <a:solidFill>
                  <a:srgbClr val="273239"/>
                </a:solidFill>
                <a:effectLst/>
                <a:latin typeface="Nunito" pitchFamily="2" charset="77"/>
              </a:rPr>
              <a:t>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Reduces collision probability.</a:t>
            </a:r>
          </a:p>
          <a:p>
            <a:pPr algn="l" fontAlgn="base">
              <a:buFont typeface="Arial" panose="020B0604020202020204" pitchFamily="34" charset="0"/>
              <a:buChar char="•"/>
            </a:pPr>
            <a:r>
              <a:rPr lang="en-IN" b="0" i="0" dirty="0">
                <a:solidFill>
                  <a:srgbClr val="273239"/>
                </a:solidFill>
                <a:effectLst/>
                <a:latin typeface="Nunito" pitchFamily="2" charset="77"/>
              </a:rPr>
              <a:t>More robust against adversarial inputs.</a:t>
            </a:r>
          </a:p>
          <a:p>
            <a:pPr algn="l" rtl="0" fontAlgn="base"/>
            <a:r>
              <a:rPr lang="en-IN" b="1" i="0" dirty="0">
                <a:solidFill>
                  <a:srgbClr val="273239"/>
                </a:solidFill>
                <a:effectLst/>
                <a:latin typeface="Nunito" pitchFamily="2" charset="77"/>
              </a:rPr>
              <a:t>Disadvantages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Requires more computation and storage.</a:t>
            </a:r>
          </a:p>
        </p:txBody>
      </p:sp>
    </p:spTree>
    <p:extLst>
      <p:ext uri="{BB962C8B-B14F-4D97-AF65-F5344CB8AC3E}">
        <p14:creationId xmlns:p14="http://schemas.microsoft.com/office/powerpoint/2010/main" val="3999696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C47F0-5F2D-36E2-8C94-5E036A62D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1C10F-0685-DF6C-A33C-8A08EE04770F}"/>
              </a:ext>
            </a:extLst>
          </p:cNvPr>
          <p:cNvSpPr>
            <a:spLocks noGrp="1"/>
          </p:cNvSpPr>
          <p:nvPr>
            <p:ph type="title"/>
          </p:nvPr>
        </p:nvSpPr>
        <p:spPr/>
        <p:txBody>
          <a:bodyPr/>
          <a:lstStyle/>
          <a:p>
            <a:pPr algn="l" fontAlgn="base"/>
            <a:r>
              <a:rPr lang="en-IN" b="1" i="0" dirty="0">
                <a:solidFill>
                  <a:srgbClr val="273239"/>
                </a:solidFill>
                <a:effectLst/>
                <a:latin typeface="Nunito" pitchFamily="2" charset="77"/>
              </a:rPr>
              <a:t>7. Perfect Hashing</a:t>
            </a:r>
          </a:p>
        </p:txBody>
      </p:sp>
      <p:sp>
        <p:nvSpPr>
          <p:cNvPr id="3" name="Content Placeholder 2">
            <a:extLst>
              <a:ext uri="{FF2B5EF4-FFF2-40B4-BE49-F238E27FC236}">
                <a16:creationId xmlns:a16="http://schemas.microsoft.com/office/drawing/2014/main" id="{B860C219-602B-4C6D-457D-D7B9A4DC8F9C}"/>
              </a:ext>
            </a:extLst>
          </p:cNvPr>
          <p:cNvSpPr>
            <a:spLocks noGrp="1"/>
          </p:cNvSpPr>
          <p:nvPr>
            <p:ph idx="1"/>
          </p:nvPr>
        </p:nvSpPr>
        <p:spPr/>
        <p:txBody>
          <a:bodyPr>
            <a:normAutofit fontScale="77500" lnSpcReduction="20000"/>
          </a:bodyPr>
          <a:lstStyle/>
          <a:p>
            <a:pPr algn="l" rtl="0" fontAlgn="base"/>
            <a:r>
              <a:rPr lang="en-IN" b="0" i="0" dirty="0">
                <a:solidFill>
                  <a:srgbClr val="273239"/>
                </a:solidFill>
                <a:effectLst/>
                <a:latin typeface="Nunito" pitchFamily="2" charset="77"/>
              </a:rPr>
              <a:t>Perfect hashing is a technique used to construct a hash function for a fixed set of keys, ensuring that each key maps to a unique index with no collisions.</a:t>
            </a:r>
          </a:p>
          <a:p>
            <a:pPr algn="l" rtl="0" fontAlgn="base"/>
            <a:r>
              <a:rPr lang="en-IN" b="0" i="0" dirty="0">
                <a:solidFill>
                  <a:srgbClr val="273239"/>
                </a:solidFill>
                <a:effectLst/>
                <a:latin typeface="Nunito" pitchFamily="2" charset="77"/>
              </a:rPr>
              <a:t>Perfect hashing is commonly classified into two main types:</a:t>
            </a:r>
          </a:p>
          <a:p>
            <a:pPr algn="l" fontAlgn="base">
              <a:buFont typeface="Arial" panose="020B0604020202020204" pitchFamily="34" charset="0"/>
              <a:buChar char="•"/>
            </a:pPr>
            <a:r>
              <a:rPr lang="en-IN" b="1" i="0" dirty="0">
                <a:solidFill>
                  <a:srgbClr val="273239"/>
                </a:solidFill>
                <a:effectLst/>
                <a:latin typeface="Nunito" pitchFamily="2" charset="77"/>
              </a:rPr>
              <a:t>Minimal Perfect Hashing:</a:t>
            </a:r>
            <a:r>
              <a:rPr lang="en-IN" b="0" i="0" dirty="0">
                <a:solidFill>
                  <a:srgbClr val="273239"/>
                </a:solidFill>
                <a:effectLst/>
                <a:latin typeface="Nunito" pitchFamily="2" charset="77"/>
              </a:rPr>
              <a:t> Ensures that the range of the hash function is equal to the number of keys.</a:t>
            </a:r>
          </a:p>
          <a:p>
            <a:pPr algn="l" fontAlgn="base">
              <a:buFont typeface="Arial" panose="020B0604020202020204" pitchFamily="34" charset="0"/>
              <a:buChar char="•"/>
            </a:pPr>
            <a:r>
              <a:rPr lang="en-IN" b="1" i="0" dirty="0">
                <a:solidFill>
                  <a:srgbClr val="273239"/>
                </a:solidFill>
                <a:effectLst/>
                <a:latin typeface="Nunito" pitchFamily="2" charset="77"/>
              </a:rPr>
              <a:t>Non-minimal Perfect Hashing:</a:t>
            </a:r>
            <a:r>
              <a:rPr lang="en-IN" b="0" i="0" dirty="0">
                <a:solidFill>
                  <a:srgbClr val="273239"/>
                </a:solidFill>
                <a:effectLst/>
                <a:latin typeface="Nunito" pitchFamily="2" charset="77"/>
              </a:rPr>
              <a:t> The range may be larger than the number of keys.</a:t>
            </a:r>
          </a:p>
          <a:p>
            <a:pPr algn="l" rtl="0" fontAlgn="base"/>
            <a:r>
              <a:rPr lang="en-IN" b="1" i="0" dirty="0">
                <a:solidFill>
                  <a:srgbClr val="273239"/>
                </a:solidFill>
                <a:effectLst/>
                <a:latin typeface="Nunito" pitchFamily="2" charset="77"/>
              </a:rPr>
              <a:t>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Eliminates collisions completely.</a:t>
            </a:r>
          </a:p>
          <a:p>
            <a:pPr algn="l" rtl="0" fontAlgn="base"/>
            <a:r>
              <a:rPr lang="en-IN" b="1" i="0" dirty="0">
                <a:solidFill>
                  <a:srgbClr val="273239"/>
                </a:solidFill>
                <a:effectLst/>
                <a:latin typeface="Nunito" pitchFamily="2" charset="77"/>
              </a:rPr>
              <a:t>Disadvantages</a:t>
            </a:r>
            <a:r>
              <a:rPr lang="en-IN" b="0" i="0" dirty="0">
                <a:solidFill>
                  <a:srgbClr val="273239"/>
                </a:solidFill>
                <a:effectLst/>
                <a:latin typeface="Nunito" pitchFamily="2" charset="77"/>
              </a:rPr>
              <a:t>:</a:t>
            </a:r>
          </a:p>
          <a:p>
            <a:pPr algn="l" fontAlgn="base">
              <a:buFont typeface="Arial" panose="020B0604020202020204" pitchFamily="34" charset="0"/>
              <a:buChar char="•"/>
            </a:pPr>
            <a:r>
              <a:rPr lang="en-IN" b="0" i="0" dirty="0">
                <a:solidFill>
                  <a:srgbClr val="273239"/>
                </a:solidFill>
                <a:effectLst/>
                <a:latin typeface="Nunito" pitchFamily="2" charset="77"/>
              </a:rPr>
              <a:t>Difficult to construct.</a:t>
            </a:r>
          </a:p>
          <a:p>
            <a:pPr algn="l" fontAlgn="base">
              <a:buFont typeface="Arial" panose="020B0604020202020204" pitchFamily="34" charset="0"/>
              <a:buChar char="•"/>
            </a:pPr>
            <a:r>
              <a:rPr lang="en-IN" b="0" i="0" dirty="0">
                <a:solidFill>
                  <a:srgbClr val="273239"/>
                </a:solidFill>
                <a:effectLst/>
                <a:latin typeface="Nunito" pitchFamily="2" charset="77"/>
              </a:rPr>
              <a:t>Not suitable for dynamic data.</a:t>
            </a:r>
          </a:p>
          <a:p>
            <a:endParaRPr lang="en-US" dirty="0"/>
          </a:p>
        </p:txBody>
      </p:sp>
    </p:spTree>
    <p:extLst>
      <p:ext uri="{BB962C8B-B14F-4D97-AF65-F5344CB8AC3E}">
        <p14:creationId xmlns:p14="http://schemas.microsoft.com/office/powerpoint/2010/main" val="803925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FD4D9-42F6-C8E2-C06B-A1777EE0BB8F}"/>
              </a:ext>
            </a:extLst>
          </p:cNvPr>
          <p:cNvSpPr>
            <a:spLocks noGrp="1"/>
          </p:cNvSpPr>
          <p:nvPr>
            <p:ph type="title"/>
          </p:nvPr>
        </p:nvSpPr>
        <p:spPr/>
        <p:txBody>
          <a:bodyPr>
            <a:normAutofit/>
          </a:bodyPr>
          <a:lstStyle/>
          <a:p>
            <a:r>
              <a:rPr lang="en-IN" b="1" i="0" dirty="0">
                <a:solidFill>
                  <a:srgbClr val="273239"/>
                </a:solidFill>
                <a:effectLst/>
                <a:latin typeface="Source Sans 3"/>
              </a:rPr>
              <a:t>Collision Resolution Techniques</a:t>
            </a:r>
            <a:endParaRPr lang="en-US" dirty="0"/>
          </a:p>
        </p:txBody>
      </p:sp>
      <p:sp>
        <p:nvSpPr>
          <p:cNvPr id="3" name="Content Placeholder 2">
            <a:extLst>
              <a:ext uri="{FF2B5EF4-FFF2-40B4-BE49-F238E27FC236}">
                <a16:creationId xmlns:a16="http://schemas.microsoft.com/office/drawing/2014/main" id="{73E9384B-ED86-DDBF-A664-9C2BF18A8259}"/>
              </a:ext>
            </a:extLst>
          </p:cNvPr>
          <p:cNvSpPr>
            <a:spLocks noGrp="1"/>
          </p:cNvSpPr>
          <p:nvPr>
            <p:ph idx="1"/>
          </p:nvPr>
        </p:nvSpPr>
        <p:spPr/>
        <p:txBody>
          <a:bodyPr>
            <a:normAutofit/>
          </a:bodyPr>
          <a:lstStyle/>
          <a:p>
            <a:pPr algn="l" rtl="0" fontAlgn="base"/>
            <a:r>
              <a:rPr lang="en-IN" b="0" i="0" dirty="0">
                <a:solidFill>
                  <a:srgbClr val="273239"/>
                </a:solidFill>
                <a:effectLst/>
                <a:latin typeface="Nunito" pitchFamily="2" charset="77"/>
              </a:rPr>
              <a:t>The hash function may return the same hash value for two or more keys. This creates </a:t>
            </a:r>
            <a:r>
              <a:rPr lang="en-IN" b="1" i="0" dirty="0">
                <a:solidFill>
                  <a:srgbClr val="273239"/>
                </a:solidFill>
                <a:effectLst/>
                <a:latin typeface="Nunito" pitchFamily="2" charset="77"/>
              </a:rPr>
              <a:t>collision</a:t>
            </a:r>
            <a:r>
              <a:rPr lang="en-IN" b="0" i="0" dirty="0">
                <a:solidFill>
                  <a:srgbClr val="273239"/>
                </a:solidFill>
                <a:effectLst/>
                <a:latin typeface="Nunito" pitchFamily="2" charset="77"/>
              </a:rPr>
              <a:t> that needs to be handled.</a:t>
            </a:r>
          </a:p>
          <a:p>
            <a:pPr algn="l" rtl="0" fontAlgn="base"/>
            <a:r>
              <a:rPr lang="en-IN" b="0" i="0" dirty="0">
                <a:solidFill>
                  <a:srgbClr val="273239"/>
                </a:solidFill>
                <a:effectLst/>
                <a:latin typeface="Nunito" pitchFamily="2" charset="77"/>
              </a:rPr>
              <a:t>We use </a:t>
            </a:r>
            <a:r>
              <a:rPr lang="en-IN" b="1" i="0" dirty="0">
                <a:solidFill>
                  <a:srgbClr val="273239"/>
                </a:solidFill>
                <a:effectLst/>
                <a:latin typeface="Nunito" pitchFamily="2" charset="77"/>
              </a:rPr>
              <a:t>Collision Resolution Techniques</a:t>
            </a:r>
            <a:r>
              <a:rPr lang="en-IN" b="0" i="0" dirty="0">
                <a:solidFill>
                  <a:srgbClr val="273239"/>
                </a:solidFill>
                <a:effectLst/>
                <a:latin typeface="Nunito" pitchFamily="2" charset="77"/>
              </a:rPr>
              <a:t>.</a:t>
            </a:r>
          </a:p>
          <a:p>
            <a:endParaRPr lang="en-IN" dirty="0"/>
          </a:p>
          <a:p>
            <a:pPr algn="l" fontAlgn="base"/>
            <a:r>
              <a:rPr lang="en-IN" b="1" i="0" dirty="0">
                <a:solidFill>
                  <a:srgbClr val="273239"/>
                </a:solidFill>
                <a:effectLst/>
                <a:latin typeface="Nunito" pitchFamily="2" charset="77"/>
              </a:rPr>
              <a:t>Collision Resolution Techniques</a:t>
            </a:r>
          </a:p>
          <a:p>
            <a:pPr algn="l" rtl="0" fontAlgn="base"/>
            <a:r>
              <a:rPr lang="en-IN" b="0" i="0" dirty="0">
                <a:solidFill>
                  <a:srgbClr val="273239"/>
                </a:solidFill>
                <a:effectLst/>
                <a:latin typeface="Nunito" pitchFamily="2" charset="77"/>
              </a:rPr>
              <a:t>There are mainly two methods to handle collision:</a:t>
            </a:r>
          </a:p>
          <a:p>
            <a:pPr algn="l" fontAlgn="base">
              <a:buFont typeface="+mj-lt"/>
              <a:buAutoNum type="arabicPeriod"/>
            </a:pPr>
            <a:r>
              <a:rPr lang="en-IN" b="0" i="0" dirty="0">
                <a:solidFill>
                  <a:srgbClr val="273239"/>
                </a:solidFill>
                <a:effectLst/>
                <a:latin typeface="Nunito" pitchFamily="2" charset="77"/>
              </a:rPr>
              <a:t>Separate Chaining</a:t>
            </a:r>
          </a:p>
          <a:p>
            <a:pPr algn="l" fontAlgn="base">
              <a:buFont typeface="+mj-lt"/>
              <a:buAutoNum type="arabicPeriod" startAt="2"/>
            </a:pPr>
            <a:r>
              <a:rPr lang="en-IN" b="0" i="0" dirty="0">
                <a:solidFill>
                  <a:srgbClr val="273239"/>
                </a:solidFill>
                <a:effectLst/>
                <a:latin typeface="Nunito" pitchFamily="2" charset="77"/>
              </a:rPr>
              <a:t>Open Addressing</a:t>
            </a:r>
            <a:br>
              <a:rPr lang="en-IN" dirty="0"/>
            </a:br>
            <a:endParaRPr lang="en-US" dirty="0"/>
          </a:p>
        </p:txBody>
      </p:sp>
    </p:spTree>
    <p:extLst>
      <p:ext uri="{BB962C8B-B14F-4D97-AF65-F5344CB8AC3E}">
        <p14:creationId xmlns:p14="http://schemas.microsoft.com/office/powerpoint/2010/main" val="3338742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96D98-C50E-1961-06B5-6A6D7848D1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AC2624-9D24-7565-E139-F2C2C5796536}"/>
              </a:ext>
            </a:extLst>
          </p:cNvPr>
          <p:cNvSpPr>
            <a:spLocks noGrp="1"/>
          </p:cNvSpPr>
          <p:nvPr>
            <p:ph idx="1"/>
          </p:nvPr>
        </p:nvSpPr>
        <p:spPr/>
        <p:txBody>
          <a:bodyPr/>
          <a:lstStyle/>
          <a:p>
            <a:endParaRPr lang="en-US"/>
          </a:p>
        </p:txBody>
      </p:sp>
      <p:pic>
        <p:nvPicPr>
          <p:cNvPr id="3074" name="Picture 2" descr="collision-in-hashing">
            <a:extLst>
              <a:ext uri="{FF2B5EF4-FFF2-40B4-BE49-F238E27FC236}">
                <a16:creationId xmlns:a16="http://schemas.microsoft.com/office/drawing/2014/main" id="{CDB041BB-5905-9CA7-6D7E-91372F137D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0" y="0"/>
            <a:ext cx="9588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059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950F9-64C1-344F-67BB-41E067F651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A3B6C7-B4DA-BF1A-B83F-E4E62EEB6D76}"/>
              </a:ext>
            </a:extLst>
          </p:cNvPr>
          <p:cNvSpPr>
            <a:spLocks noGrp="1"/>
          </p:cNvSpPr>
          <p:nvPr>
            <p:ph idx="1"/>
          </p:nvPr>
        </p:nvSpPr>
        <p:spPr/>
        <p:txBody>
          <a:bodyPr/>
          <a:lstStyle/>
          <a:p>
            <a:endParaRPr lang="en-US"/>
          </a:p>
        </p:txBody>
      </p:sp>
      <p:pic>
        <p:nvPicPr>
          <p:cNvPr id="4098" name="Picture 2" descr="Collision-Resolution-Techniques">
            <a:extLst>
              <a:ext uri="{FF2B5EF4-FFF2-40B4-BE49-F238E27FC236}">
                <a16:creationId xmlns:a16="http://schemas.microsoft.com/office/drawing/2014/main" id="{4122B669-2121-7C64-5EC6-8EC8BC6A7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0" y="0"/>
            <a:ext cx="9588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3922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6B8AB-F4B9-6061-B0B3-66A1C3E15D40}"/>
              </a:ext>
            </a:extLst>
          </p:cNvPr>
          <p:cNvSpPr>
            <a:spLocks noGrp="1"/>
          </p:cNvSpPr>
          <p:nvPr>
            <p:ph type="title"/>
          </p:nvPr>
        </p:nvSpPr>
        <p:spPr/>
        <p:txBody>
          <a:bodyPr>
            <a:normAutofit/>
          </a:bodyPr>
          <a:lstStyle/>
          <a:p>
            <a:r>
              <a:rPr lang="en-IN" b="1" i="0" dirty="0">
                <a:solidFill>
                  <a:srgbClr val="273239"/>
                </a:solidFill>
                <a:effectLst/>
                <a:latin typeface="Source Sans 3"/>
              </a:rPr>
              <a:t>Hashing with Chaining Implementation</a:t>
            </a:r>
            <a:endParaRPr lang="en-US" dirty="0"/>
          </a:p>
        </p:txBody>
      </p:sp>
      <p:sp>
        <p:nvSpPr>
          <p:cNvPr id="3" name="Content Placeholder 2">
            <a:extLst>
              <a:ext uri="{FF2B5EF4-FFF2-40B4-BE49-F238E27FC236}">
                <a16:creationId xmlns:a16="http://schemas.microsoft.com/office/drawing/2014/main" id="{67D9C1D3-C9E3-916D-81A0-746A82FF3CB9}"/>
              </a:ext>
            </a:extLst>
          </p:cNvPr>
          <p:cNvSpPr>
            <a:spLocks noGrp="1"/>
          </p:cNvSpPr>
          <p:nvPr>
            <p:ph idx="1"/>
          </p:nvPr>
        </p:nvSpPr>
        <p:spPr/>
        <p:txBody>
          <a:bodyPr>
            <a:normAutofit fontScale="70000" lnSpcReduction="20000"/>
          </a:bodyPr>
          <a:lstStyle/>
          <a:p>
            <a:pPr algn="l" rtl="0" fontAlgn="base"/>
            <a:r>
              <a:rPr lang="en-IN" b="0" i="0" dirty="0">
                <a:solidFill>
                  <a:srgbClr val="273239"/>
                </a:solidFill>
                <a:effectLst/>
                <a:latin typeface="Nunito" pitchFamily="2" charset="77"/>
              </a:rPr>
              <a:t>To insert a node into the hash table, we first compute the hash index for the given key using a hash function:</a:t>
            </a:r>
            <a:br>
              <a:rPr lang="en-IN" b="0" i="0" dirty="0">
                <a:solidFill>
                  <a:srgbClr val="273239"/>
                </a:solidFill>
                <a:effectLst/>
                <a:latin typeface="Nunito" pitchFamily="2" charset="77"/>
              </a:rPr>
            </a:br>
            <a:endParaRPr lang="en-IN" b="0" i="0" dirty="0">
              <a:solidFill>
                <a:srgbClr val="273239"/>
              </a:solidFill>
              <a:effectLst/>
              <a:latin typeface="Nunito" pitchFamily="2" charset="77"/>
            </a:endParaRPr>
          </a:p>
          <a:p>
            <a:pPr algn="l" rtl="0" fontAlgn="base"/>
            <a:r>
              <a:rPr lang="en-IN" b="1" i="0" dirty="0" err="1">
                <a:solidFill>
                  <a:srgbClr val="273239"/>
                </a:solidFill>
                <a:effectLst/>
                <a:latin typeface="Nunito" pitchFamily="2" charset="77"/>
              </a:rPr>
              <a:t>hashIndex</a:t>
            </a:r>
            <a:r>
              <a:rPr lang="en-IN" b="1" i="0" dirty="0">
                <a:solidFill>
                  <a:srgbClr val="273239"/>
                </a:solidFill>
                <a:effectLst/>
                <a:latin typeface="Nunito" pitchFamily="2" charset="77"/>
              </a:rPr>
              <a:t> = key % </a:t>
            </a:r>
            <a:r>
              <a:rPr lang="en-IN" b="1" i="0" dirty="0" err="1">
                <a:solidFill>
                  <a:srgbClr val="273239"/>
                </a:solidFill>
                <a:effectLst/>
                <a:latin typeface="Nunito" pitchFamily="2" charset="77"/>
              </a:rPr>
              <a:t>noOfBuckets</a:t>
            </a:r>
            <a:r>
              <a:rPr lang="en-IN" b="0" i="0" dirty="0">
                <a:solidFill>
                  <a:srgbClr val="273239"/>
                </a:solidFill>
                <a:effectLst/>
                <a:latin typeface="Nunito" pitchFamily="2" charset="77"/>
              </a:rPr>
              <a:t>.</a:t>
            </a:r>
            <a:br>
              <a:rPr lang="en-IN" b="0" i="0" dirty="0">
                <a:solidFill>
                  <a:srgbClr val="273239"/>
                </a:solidFill>
                <a:effectLst/>
                <a:latin typeface="Nunito" pitchFamily="2" charset="77"/>
              </a:rPr>
            </a:br>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This index determines the appropriate bucket where the node should be inserted.</a:t>
            </a:r>
          </a:p>
          <a:p>
            <a:pPr algn="l" rtl="0" fontAlgn="base"/>
            <a:r>
              <a:rPr lang="en-IN" b="1" i="0" dirty="0">
                <a:solidFill>
                  <a:srgbClr val="273239"/>
                </a:solidFill>
                <a:effectLst/>
                <a:latin typeface="Nunito" pitchFamily="2" charset="77"/>
              </a:rPr>
              <a:t>Example:</a:t>
            </a:r>
            <a:br>
              <a:rPr lang="en-IN" b="0" i="0" dirty="0">
                <a:solidFill>
                  <a:srgbClr val="273239"/>
                </a:solidFill>
                <a:effectLst/>
                <a:latin typeface="Nunito" pitchFamily="2" charset="77"/>
              </a:rPr>
            </a:br>
            <a:r>
              <a:rPr lang="en-IN" b="0" i="0" dirty="0" err="1">
                <a:solidFill>
                  <a:srgbClr val="273239"/>
                </a:solidFill>
                <a:effectLst/>
                <a:latin typeface="Nunito" pitchFamily="2" charset="77"/>
              </a:rPr>
              <a:t>noOfBuckets</a:t>
            </a:r>
            <a:r>
              <a:rPr lang="en-IN" b="0" i="0" dirty="0">
                <a:solidFill>
                  <a:srgbClr val="273239"/>
                </a:solidFill>
                <a:effectLst/>
                <a:latin typeface="Nunito" pitchFamily="2" charset="77"/>
              </a:rPr>
              <a:t> = 7</a:t>
            </a:r>
            <a:br>
              <a:rPr lang="en-IN" b="0" i="0" dirty="0">
                <a:solidFill>
                  <a:srgbClr val="273239"/>
                </a:solidFill>
                <a:effectLst/>
                <a:latin typeface="Nunito" pitchFamily="2" charset="77"/>
              </a:rPr>
            </a:br>
            <a:r>
              <a:rPr lang="en-IN" b="0" i="0" dirty="0">
                <a:solidFill>
                  <a:srgbClr val="273239"/>
                </a:solidFill>
                <a:effectLst/>
                <a:latin typeface="Nunito" pitchFamily="2" charset="77"/>
              </a:rPr>
              <a:t>keys to insert = [15, 11, 27, 8]</a:t>
            </a:r>
          </a:p>
          <a:p>
            <a:pPr algn="l" rtl="0" fontAlgn="base"/>
            <a:r>
              <a:rPr lang="en-IN" b="0" i="0" dirty="0">
                <a:solidFill>
                  <a:srgbClr val="273239"/>
                </a:solidFill>
                <a:effectLst/>
                <a:latin typeface="Nunito" pitchFamily="2" charset="77"/>
              </a:rPr>
              <a:t>For each key:</a:t>
            </a:r>
          </a:p>
          <a:p>
            <a:pPr algn="l" fontAlgn="base">
              <a:buFont typeface="Arial" panose="020B0604020202020204" pitchFamily="34" charset="0"/>
              <a:buChar char="•"/>
            </a:pPr>
            <a:r>
              <a:rPr lang="en-IN" b="0" i="0" dirty="0">
                <a:solidFill>
                  <a:srgbClr val="273239"/>
                </a:solidFill>
                <a:effectLst/>
                <a:latin typeface="Nunito" pitchFamily="2" charset="77"/>
              </a:rPr>
              <a:t>15 % 7 = 1</a:t>
            </a:r>
          </a:p>
          <a:p>
            <a:pPr algn="l" fontAlgn="base">
              <a:buFont typeface="Arial" panose="020B0604020202020204" pitchFamily="34" charset="0"/>
              <a:buChar char="•"/>
            </a:pPr>
            <a:r>
              <a:rPr lang="en-IN" b="0" i="0" dirty="0">
                <a:solidFill>
                  <a:srgbClr val="273239"/>
                </a:solidFill>
                <a:effectLst/>
                <a:latin typeface="Nunito" pitchFamily="2" charset="77"/>
              </a:rPr>
              <a:t>11 % 7 = 4</a:t>
            </a:r>
          </a:p>
          <a:p>
            <a:pPr algn="l" fontAlgn="base">
              <a:buFont typeface="Arial" panose="020B0604020202020204" pitchFamily="34" charset="0"/>
              <a:buChar char="•"/>
            </a:pPr>
            <a:r>
              <a:rPr lang="en-IN" b="0" i="0" dirty="0">
                <a:solidFill>
                  <a:srgbClr val="273239"/>
                </a:solidFill>
                <a:effectLst/>
                <a:latin typeface="Nunito" pitchFamily="2" charset="77"/>
              </a:rPr>
              <a:t>27 % 7 = 6</a:t>
            </a:r>
          </a:p>
          <a:p>
            <a:pPr algn="l" fontAlgn="base">
              <a:buFont typeface="Arial" panose="020B0604020202020204" pitchFamily="34" charset="0"/>
              <a:buChar char="•"/>
            </a:pPr>
            <a:r>
              <a:rPr lang="en-IN" b="0" i="0" dirty="0">
                <a:solidFill>
                  <a:srgbClr val="273239"/>
                </a:solidFill>
                <a:effectLst/>
                <a:latin typeface="Nunito" pitchFamily="2" charset="77"/>
              </a:rPr>
              <a:t>8 % 7 = 1</a:t>
            </a:r>
          </a:p>
        </p:txBody>
      </p:sp>
    </p:spTree>
    <p:extLst>
      <p:ext uri="{BB962C8B-B14F-4D97-AF65-F5344CB8AC3E}">
        <p14:creationId xmlns:p14="http://schemas.microsoft.com/office/powerpoint/2010/main" val="3688480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7D00A-AADB-7619-F8BB-AEFC036455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0A8C49-BF08-3383-9EFC-0F13E080050B}"/>
              </a:ext>
            </a:extLst>
          </p:cNvPr>
          <p:cNvSpPr>
            <a:spLocks noGrp="1"/>
          </p:cNvSpPr>
          <p:nvPr>
            <p:ph idx="1"/>
          </p:nvPr>
        </p:nvSpPr>
        <p:spPr/>
        <p:txBody>
          <a:bodyPr/>
          <a:lstStyle/>
          <a:p>
            <a:endParaRPr lang="en-US"/>
          </a:p>
        </p:txBody>
      </p:sp>
      <p:pic>
        <p:nvPicPr>
          <p:cNvPr id="10242" name="Picture 2" descr="dsa">
            <a:extLst>
              <a:ext uri="{FF2B5EF4-FFF2-40B4-BE49-F238E27FC236}">
                <a16:creationId xmlns:a16="http://schemas.microsoft.com/office/drawing/2014/main" id="{D8880992-6314-DB79-883F-EE49595DD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550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21C43-3225-02DD-8122-BB7065580518}"/>
              </a:ext>
            </a:extLst>
          </p:cNvPr>
          <p:cNvSpPr>
            <a:spLocks noGrp="1"/>
          </p:cNvSpPr>
          <p:nvPr>
            <p:ph type="title"/>
          </p:nvPr>
        </p:nvSpPr>
        <p:spPr/>
        <p:txBody>
          <a:bodyPr/>
          <a:lstStyle/>
          <a:p>
            <a:r>
              <a:rPr lang="en-IN" b="1" i="0" dirty="0">
                <a:solidFill>
                  <a:srgbClr val="273239"/>
                </a:solidFill>
                <a:effectLst/>
                <a:latin typeface="Nunito" pitchFamily="2" charset="77"/>
              </a:rPr>
              <a:t>Simple Chaining</a:t>
            </a:r>
            <a:endParaRPr lang="en-US" dirty="0"/>
          </a:p>
        </p:txBody>
      </p:sp>
      <p:sp>
        <p:nvSpPr>
          <p:cNvPr id="3" name="Content Placeholder 2">
            <a:extLst>
              <a:ext uri="{FF2B5EF4-FFF2-40B4-BE49-F238E27FC236}">
                <a16:creationId xmlns:a16="http://schemas.microsoft.com/office/drawing/2014/main" id="{F7A949B6-EFE6-0027-D735-A170D9125222}"/>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This method has not concept of rehashing. It only has a fixed size array i.e. fixed numbers of buckets.</a:t>
            </a:r>
          </a:p>
          <a:p>
            <a:endParaRPr lang="en-US" dirty="0"/>
          </a:p>
        </p:txBody>
      </p:sp>
    </p:spTree>
    <p:extLst>
      <p:ext uri="{BB962C8B-B14F-4D97-AF65-F5344CB8AC3E}">
        <p14:creationId xmlns:p14="http://schemas.microsoft.com/office/powerpoint/2010/main" val="1050718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2A097-86D3-9B72-A08D-98761FD3B1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D8DC46-889A-F1B5-4BA6-E977CF14BAE0}"/>
              </a:ext>
            </a:extLst>
          </p:cNvPr>
          <p:cNvSpPr>
            <a:spLocks noGrp="1"/>
          </p:cNvSpPr>
          <p:nvPr>
            <p:ph idx="1"/>
          </p:nvPr>
        </p:nvSpPr>
        <p:spPr/>
        <p:txBody>
          <a:bodyPr/>
          <a:lstStyle/>
          <a:p>
            <a:endParaRPr lang="en-US"/>
          </a:p>
        </p:txBody>
      </p:sp>
      <p:pic>
        <p:nvPicPr>
          <p:cNvPr id="11266" name="Picture 2" descr="Hashing-01.webp">
            <a:extLst>
              <a:ext uri="{FF2B5EF4-FFF2-40B4-BE49-F238E27FC236}">
                <a16:creationId xmlns:a16="http://schemas.microsoft.com/office/drawing/2014/main" id="{C70AA1DA-E745-A1F4-218C-62F4C57C1B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2650"/>
            <a:ext cx="101600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643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433AD-D3E5-1A9E-6EA7-85B72C5038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F6DE24B-BB4B-CA57-34BC-EEECD311B0AC}"/>
              </a:ext>
            </a:extLst>
          </p:cNvPr>
          <p:cNvSpPr>
            <a:spLocks noGrp="1"/>
          </p:cNvSpPr>
          <p:nvPr>
            <p:ph idx="1"/>
          </p:nvPr>
        </p:nvSpPr>
        <p:spPr/>
        <p:txBody>
          <a:bodyPr/>
          <a:lstStyle/>
          <a:p>
            <a:endParaRPr lang="en-US"/>
          </a:p>
        </p:txBody>
      </p:sp>
      <p:pic>
        <p:nvPicPr>
          <p:cNvPr id="12290" name="Picture 2" descr="Hashing-02.webp">
            <a:extLst>
              <a:ext uri="{FF2B5EF4-FFF2-40B4-BE49-F238E27FC236}">
                <a16:creationId xmlns:a16="http://schemas.microsoft.com/office/drawing/2014/main" id="{6AF9BDAA-89BC-11ED-BA0C-526BDC11C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2650"/>
            <a:ext cx="101600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3125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AD96E-A13C-9777-5F80-374E184CBF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84AAF2-F6EE-4D18-1D3D-83D2F7C4532F}"/>
              </a:ext>
            </a:extLst>
          </p:cNvPr>
          <p:cNvSpPr>
            <a:spLocks noGrp="1"/>
          </p:cNvSpPr>
          <p:nvPr>
            <p:ph idx="1"/>
          </p:nvPr>
        </p:nvSpPr>
        <p:spPr/>
        <p:txBody>
          <a:bodyPr/>
          <a:lstStyle/>
          <a:p>
            <a:endParaRPr lang="en-US"/>
          </a:p>
        </p:txBody>
      </p:sp>
      <p:pic>
        <p:nvPicPr>
          <p:cNvPr id="13314" name="Picture 2" descr="Hashing--03.webp">
            <a:extLst>
              <a:ext uri="{FF2B5EF4-FFF2-40B4-BE49-F238E27FC236}">
                <a16:creationId xmlns:a16="http://schemas.microsoft.com/office/drawing/2014/main" id="{D95C6B88-45A4-7D9E-25F8-E7B6EC9B4E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2650"/>
            <a:ext cx="101600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036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3A2D7-CCDE-95BA-6596-2DD35F0450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06A4ED-3DB2-86C4-A01D-7C33A30BF587}"/>
              </a:ext>
            </a:extLst>
          </p:cNvPr>
          <p:cNvSpPr>
            <a:spLocks noGrp="1"/>
          </p:cNvSpPr>
          <p:nvPr>
            <p:ph idx="1"/>
          </p:nvPr>
        </p:nvSpPr>
        <p:spPr/>
        <p:txBody>
          <a:bodyPr/>
          <a:lstStyle/>
          <a:p>
            <a:endParaRPr lang="en-US"/>
          </a:p>
        </p:txBody>
      </p:sp>
      <p:pic>
        <p:nvPicPr>
          <p:cNvPr id="14338" name="Picture 2" descr="Hashing--04.webp">
            <a:extLst>
              <a:ext uri="{FF2B5EF4-FFF2-40B4-BE49-F238E27FC236}">
                <a16:creationId xmlns:a16="http://schemas.microsoft.com/office/drawing/2014/main" id="{9EB6792D-8460-EAAF-F98E-99A91B7314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2650"/>
            <a:ext cx="101600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2668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2561E-899B-254D-E4C0-E4BFEE54C6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4DD54F-0814-0AC7-1DFD-708A6037FEB0}"/>
              </a:ext>
            </a:extLst>
          </p:cNvPr>
          <p:cNvSpPr>
            <a:spLocks noGrp="1"/>
          </p:cNvSpPr>
          <p:nvPr>
            <p:ph idx="1"/>
          </p:nvPr>
        </p:nvSpPr>
        <p:spPr/>
        <p:txBody>
          <a:bodyPr/>
          <a:lstStyle/>
          <a:p>
            <a:endParaRPr lang="en-US"/>
          </a:p>
        </p:txBody>
      </p:sp>
      <p:pic>
        <p:nvPicPr>
          <p:cNvPr id="15362" name="Picture 2" descr="Hashing--05.webp">
            <a:extLst>
              <a:ext uri="{FF2B5EF4-FFF2-40B4-BE49-F238E27FC236}">
                <a16:creationId xmlns:a16="http://schemas.microsoft.com/office/drawing/2014/main" id="{83816368-08C7-B294-8392-1E6F9A5C34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2650"/>
            <a:ext cx="101600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514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8683F-30F5-34EB-514E-8C7593B752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0074B1-82E6-4F3E-9CF6-FACA4303E5FE}"/>
              </a:ext>
            </a:extLst>
          </p:cNvPr>
          <p:cNvSpPr>
            <a:spLocks noGrp="1"/>
          </p:cNvSpPr>
          <p:nvPr>
            <p:ph idx="1"/>
          </p:nvPr>
        </p:nvSpPr>
        <p:spPr/>
        <p:txBody>
          <a:bodyPr/>
          <a:lstStyle/>
          <a:p>
            <a:endParaRPr lang="en-US"/>
          </a:p>
        </p:txBody>
      </p:sp>
      <p:pic>
        <p:nvPicPr>
          <p:cNvPr id="16386" name="Picture 2" descr="Hashing--06.webp">
            <a:extLst>
              <a:ext uri="{FF2B5EF4-FFF2-40B4-BE49-F238E27FC236}">
                <a16:creationId xmlns:a16="http://schemas.microsoft.com/office/drawing/2014/main" id="{C6EEB8D3-CC81-9A9C-9C4D-B23CA5024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2650"/>
            <a:ext cx="101600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0362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BAA5B-EE7B-AD14-EB06-04A8537EDAED}"/>
              </a:ext>
            </a:extLst>
          </p:cNvPr>
          <p:cNvSpPr>
            <a:spLocks noGrp="1"/>
          </p:cNvSpPr>
          <p:nvPr>
            <p:ph type="title"/>
          </p:nvPr>
        </p:nvSpPr>
        <p:spPr/>
        <p:txBody>
          <a:bodyPr/>
          <a:lstStyle/>
          <a:p>
            <a:r>
              <a:rPr lang="en-IN" b="1" i="0" dirty="0">
                <a:solidFill>
                  <a:srgbClr val="273239"/>
                </a:solidFill>
                <a:effectLst/>
                <a:latin typeface="Nunito" pitchFamily="2" charset="77"/>
              </a:rPr>
              <a:t>1) Separate Chaining</a:t>
            </a:r>
            <a:endParaRPr lang="en-US" dirty="0"/>
          </a:p>
        </p:txBody>
      </p:sp>
      <p:sp>
        <p:nvSpPr>
          <p:cNvPr id="3" name="Content Placeholder 2">
            <a:extLst>
              <a:ext uri="{FF2B5EF4-FFF2-40B4-BE49-F238E27FC236}">
                <a16:creationId xmlns:a16="http://schemas.microsoft.com/office/drawing/2014/main" id="{084221C6-441E-A146-8DEB-7481CDB5A395}"/>
              </a:ext>
            </a:extLst>
          </p:cNvPr>
          <p:cNvSpPr>
            <a:spLocks noGrp="1"/>
          </p:cNvSpPr>
          <p:nvPr>
            <p:ph idx="1"/>
          </p:nvPr>
        </p:nvSpPr>
        <p:spPr/>
        <p:txBody>
          <a:bodyPr>
            <a:normAutofit/>
          </a:bodyPr>
          <a:lstStyle/>
          <a:p>
            <a:pPr algn="l" rtl="0" fontAlgn="base"/>
            <a:r>
              <a:rPr lang="en-IN" b="0" i="0" dirty="0">
                <a:solidFill>
                  <a:srgbClr val="273239"/>
                </a:solidFill>
                <a:effectLst/>
                <a:latin typeface="Nunito" pitchFamily="2" charset="77"/>
              </a:rPr>
              <a:t>Each cell of the hash table point to a linked list of records that have the same hash function value. Chaining is simple but requires additional memory outside the table.</a:t>
            </a:r>
          </a:p>
          <a:p>
            <a:pPr algn="l" rtl="0" fontAlgn="base"/>
            <a:endParaRPr lang="en-IN" b="1" i="0" dirty="0">
              <a:solidFill>
                <a:srgbClr val="273239"/>
              </a:solidFill>
              <a:effectLst/>
              <a:latin typeface="Nunito" pitchFamily="2" charset="77"/>
            </a:endParaRPr>
          </a:p>
          <a:p>
            <a:pPr algn="l" rtl="0" fontAlgn="base"/>
            <a:r>
              <a:rPr lang="en-IN" b="1" i="0" dirty="0">
                <a:solidFill>
                  <a:srgbClr val="273239"/>
                </a:solidFill>
                <a:effectLst/>
                <a:latin typeface="Nunito" pitchFamily="2" charset="77"/>
              </a:rPr>
              <a:t>Example</a:t>
            </a:r>
            <a:r>
              <a:rPr lang="en-IN" b="0" i="0" dirty="0">
                <a:solidFill>
                  <a:srgbClr val="273239"/>
                </a:solidFill>
                <a:effectLst/>
                <a:latin typeface="Nunito" pitchFamily="2" charset="77"/>
              </a:rPr>
              <a:t>: We have given a hash function and we have to insert some elements in the hash table using a separate chaining method for collision resolution technique.</a:t>
            </a:r>
          </a:p>
          <a:p>
            <a:pPr rtl="0" fontAlgn="base"/>
            <a:r>
              <a:rPr lang="en-IN" b="0" dirty="0">
                <a:effectLst/>
                <a:latin typeface="Nunito" pitchFamily="2" charset="77"/>
              </a:rPr>
              <a:t>Hash function = key % 5, </a:t>
            </a:r>
            <a:br>
              <a:rPr lang="en-IN" b="0" dirty="0">
                <a:effectLst/>
                <a:latin typeface="Nunito" pitchFamily="2" charset="77"/>
              </a:rPr>
            </a:br>
            <a:r>
              <a:rPr lang="en-IN" b="0" dirty="0">
                <a:effectLst/>
                <a:latin typeface="Nunito" pitchFamily="2" charset="77"/>
              </a:rPr>
              <a:t>Elements = 12, 15, 22, 25 and 37.</a:t>
            </a:r>
          </a:p>
          <a:p>
            <a:endParaRPr lang="en-US" dirty="0"/>
          </a:p>
        </p:txBody>
      </p:sp>
    </p:spTree>
    <p:extLst>
      <p:ext uri="{BB962C8B-B14F-4D97-AF65-F5344CB8AC3E}">
        <p14:creationId xmlns:p14="http://schemas.microsoft.com/office/powerpoint/2010/main" val="14838862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524C3-E104-7D4D-7DF0-657100F6881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3092B3-4C27-0B1A-7A52-997101F76AB8}"/>
              </a:ext>
            </a:extLst>
          </p:cNvPr>
          <p:cNvSpPr>
            <a:spLocks noGrp="1"/>
          </p:cNvSpPr>
          <p:nvPr>
            <p:ph idx="1"/>
          </p:nvPr>
        </p:nvSpPr>
        <p:spPr/>
        <p:txBody>
          <a:bodyPr/>
          <a:lstStyle/>
          <a:p>
            <a:endParaRPr lang="en-US"/>
          </a:p>
        </p:txBody>
      </p:sp>
      <p:pic>
        <p:nvPicPr>
          <p:cNvPr id="5122" name="Picture 2" descr="Separate-Chaining-1.webp">
            <a:extLst>
              <a:ext uri="{FF2B5EF4-FFF2-40B4-BE49-F238E27FC236}">
                <a16:creationId xmlns:a16="http://schemas.microsoft.com/office/drawing/2014/main" id="{7BF6C90F-A4A7-9876-BBEA-291B17F14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 y="882650"/>
            <a:ext cx="101727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06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14B3E-BD06-F615-3922-83DDC7CC5A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401B42-9051-9B35-8A33-28A7F2B3653D}"/>
              </a:ext>
            </a:extLst>
          </p:cNvPr>
          <p:cNvSpPr>
            <a:spLocks noGrp="1"/>
          </p:cNvSpPr>
          <p:nvPr>
            <p:ph idx="1"/>
          </p:nvPr>
        </p:nvSpPr>
        <p:spPr/>
        <p:txBody>
          <a:bodyPr/>
          <a:lstStyle/>
          <a:p>
            <a:endParaRPr lang="en-US"/>
          </a:p>
        </p:txBody>
      </p:sp>
      <p:pic>
        <p:nvPicPr>
          <p:cNvPr id="6146" name="Picture 2" descr="Separate-Chaining-2.webp">
            <a:extLst>
              <a:ext uri="{FF2B5EF4-FFF2-40B4-BE49-F238E27FC236}">
                <a16:creationId xmlns:a16="http://schemas.microsoft.com/office/drawing/2014/main" id="{A1FE1332-A1A9-3211-5AD9-5DEF44758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 y="882650"/>
            <a:ext cx="101727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602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9CCB4-099D-5282-0B4E-607649C316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64A236F-80F4-166A-771A-875DEA922396}"/>
              </a:ext>
            </a:extLst>
          </p:cNvPr>
          <p:cNvSpPr>
            <a:spLocks noGrp="1"/>
          </p:cNvSpPr>
          <p:nvPr>
            <p:ph idx="1"/>
          </p:nvPr>
        </p:nvSpPr>
        <p:spPr/>
        <p:txBody>
          <a:bodyPr/>
          <a:lstStyle/>
          <a:p>
            <a:endParaRPr lang="en-US"/>
          </a:p>
        </p:txBody>
      </p:sp>
      <p:pic>
        <p:nvPicPr>
          <p:cNvPr id="7170" name="Picture 2" descr="Separate-Chaining-3.webp">
            <a:extLst>
              <a:ext uri="{FF2B5EF4-FFF2-40B4-BE49-F238E27FC236}">
                <a16:creationId xmlns:a16="http://schemas.microsoft.com/office/drawing/2014/main" id="{A295ACAF-B99C-9C66-C77F-369C1DD3D0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 y="882650"/>
            <a:ext cx="101727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468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A0CAC-53F7-FED5-EC24-29D8F60B0C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C48104-DFF1-24D3-1832-65F16DE16BD6}"/>
              </a:ext>
            </a:extLst>
          </p:cNvPr>
          <p:cNvSpPr>
            <a:spLocks noGrp="1"/>
          </p:cNvSpPr>
          <p:nvPr>
            <p:ph idx="1"/>
          </p:nvPr>
        </p:nvSpPr>
        <p:spPr/>
        <p:txBody>
          <a:bodyPr/>
          <a:lstStyle/>
          <a:p>
            <a:endParaRPr lang="en-US"/>
          </a:p>
        </p:txBody>
      </p:sp>
      <p:pic>
        <p:nvPicPr>
          <p:cNvPr id="8194" name="Picture 2" descr="Separate-Chaining-4.webp">
            <a:extLst>
              <a:ext uri="{FF2B5EF4-FFF2-40B4-BE49-F238E27FC236}">
                <a16:creationId xmlns:a16="http://schemas.microsoft.com/office/drawing/2014/main" id="{9986C6E8-8FFA-F206-BD72-D1F44A8B4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 y="882650"/>
            <a:ext cx="101727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69042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BB70E-B42C-D030-04E8-3034E06417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1CBE3D-41C6-6F0B-32F5-E1CDD0DE1C48}"/>
              </a:ext>
            </a:extLst>
          </p:cNvPr>
          <p:cNvSpPr>
            <a:spLocks noGrp="1"/>
          </p:cNvSpPr>
          <p:nvPr>
            <p:ph idx="1"/>
          </p:nvPr>
        </p:nvSpPr>
        <p:spPr/>
        <p:txBody>
          <a:bodyPr/>
          <a:lstStyle/>
          <a:p>
            <a:endParaRPr lang="en-US"/>
          </a:p>
        </p:txBody>
      </p:sp>
      <p:pic>
        <p:nvPicPr>
          <p:cNvPr id="9218" name="Picture 2" descr="Separate-Chaining-5.webp">
            <a:extLst>
              <a:ext uri="{FF2B5EF4-FFF2-40B4-BE49-F238E27FC236}">
                <a16:creationId xmlns:a16="http://schemas.microsoft.com/office/drawing/2014/main" id="{A1B2BE48-90DC-0407-B09F-9092671640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9650" y="882650"/>
            <a:ext cx="10172700" cy="509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872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2BA04-B5C2-8B82-9372-7B9E6339E3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7B54BE-B3DF-C600-0B3D-EFE0B6DA49EE}"/>
              </a:ext>
            </a:extLst>
          </p:cNvPr>
          <p:cNvSpPr>
            <a:spLocks noGrp="1"/>
          </p:cNvSpPr>
          <p:nvPr>
            <p:ph idx="1"/>
          </p:nvPr>
        </p:nvSpPr>
        <p:spPr/>
        <p:txBody>
          <a:bodyPr/>
          <a:lstStyle/>
          <a:p>
            <a:r>
              <a:rPr lang="en-IN" b="1" i="0" dirty="0">
                <a:solidFill>
                  <a:srgbClr val="273239"/>
                </a:solidFill>
                <a:effectLst/>
                <a:latin typeface="Nunito" pitchFamily="2" charset="77"/>
              </a:rPr>
              <a:t>Insert</a:t>
            </a:r>
            <a:r>
              <a:rPr lang="en-IN" b="0" i="0" dirty="0">
                <a:solidFill>
                  <a:srgbClr val="273239"/>
                </a:solidFill>
                <a:effectLst/>
                <a:latin typeface="Nunito" pitchFamily="2" charset="77"/>
              </a:rPr>
              <a:t>: Move to the bucket corresponding to the above-calculated hash index and insert the new node at the end of the list.</a:t>
            </a:r>
            <a:br>
              <a:rPr lang="en-IN" dirty="0"/>
            </a:br>
            <a:r>
              <a:rPr lang="en-IN" b="1" i="0" dirty="0">
                <a:solidFill>
                  <a:srgbClr val="273239"/>
                </a:solidFill>
                <a:effectLst/>
                <a:latin typeface="Nunito" pitchFamily="2" charset="77"/>
              </a:rPr>
              <a:t>Delete</a:t>
            </a:r>
            <a:r>
              <a:rPr lang="en-IN" b="0" i="0" dirty="0">
                <a:solidFill>
                  <a:srgbClr val="273239"/>
                </a:solidFill>
                <a:effectLst/>
                <a:latin typeface="Nunito" pitchFamily="2" charset="77"/>
              </a:rPr>
              <a:t>: To delete a node from hash table, calculate the hash index for the key, move to the bucket corresponding to the calculated hash index, and search the list in the current bucket to find and remove the node with the given key (if found).  </a:t>
            </a:r>
            <a:endParaRPr lang="en-US" dirty="0"/>
          </a:p>
        </p:txBody>
      </p:sp>
    </p:spTree>
    <p:extLst>
      <p:ext uri="{BB962C8B-B14F-4D97-AF65-F5344CB8AC3E}">
        <p14:creationId xmlns:p14="http://schemas.microsoft.com/office/powerpoint/2010/main" val="1095442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3711</TotalTime>
  <Words>1855</Words>
  <Application>Microsoft Macintosh PowerPoint</Application>
  <PresentationFormat>Widescreen</PresentationFormat>
  <Paragraphs>161</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Nunito</vt:lpstr>
      <vt:lpstr>Source Sans 3</vt:lpstr>
      <vt:lpstr>Office Theme</vt:lpstr>
      <vt:lpstr>DSA-20: Introduction to Hashing</vt:lpstr>
      <vt:lpstr>Hashing Intro</vt:lpstr>
      <vt:lpstr>Hash Table Data Structure Overview</vt:lpstr>
      <vt:lpstr>Components of Hashing</vt:lpstr>
      <vt:lpstr>PowerPoint Presentation</vt:lpstr>
      <vt:lpstr>Hash Function</vt:lpstr>
      <vt:lpstr>Ex1. Phone Numbers as Input Keys</vt:lpstr>
      <vt:lpstr>Ex2. Lowercase English Strings as Keys</vt:lpstr>
      <vt:lpstr>Properties of Hash Functions</vt:lpstr>
      <vt:lpstr>Applications of Hash Functions</vt:lpstr>
      <vt:lpstr>Types of Hash Functions</vt:lpstr>
      <vt:lpstr>1. Division Method</vt:lpstr>
      <vt:lpstr>2. Multiplication Method</vt:lpstr>
      <vt:lpstr>3. Mid-Square Method</vt:lpstr>
      <vt:lpstr>4. Folding Method</vt:lpstr>
      <vt:lpstr>5. Cryptographic Hash Functions</vt:lpstr>
      <vt:lpstr>6. Universal Hashing</vt:lpstr>
      <vt:lpstr>7. Perfect Hashing</vt:lpstr>
      <vt:lpstr>Collision Resolution Techniques</vt:lpstr>
      <vt:lpstr>PowerPoint Presentation</vt:lpstr>
      <vt:lpstr>PowerPoint Presentation</vt:lpstr>
      <vt:lpstr>Hashing with Chaining Implementation</vt:lpstr>
      <vt:lpstr>PowerPoint Presentation</vt:lpstr>
      <vt:lpstr>Simple Chaining</vt:lpstr>
      <vt:lpstr>PowerPoint Presentation</vt:lpstr>
      <vt:lpstr>PowerPoint Presentation</vt:lpstr>
      <vt:lpstr>PowerPoint Presentation</vt:lpstr>
      <vt:lpstr>PowerPoint Presentation</vt:lpstr>
      <vt:lpstr>PowerPoint Presentation</vt:lpstr>
      <vt:lpstr>PowerPoint Presentation</vt:lpstr>
      <vt:lpstr>1) Separate Chaining</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159</cp:revision>
  <dcterms:created xsi:type="dcterms:W3CDTF">2026-01-15T04:12:31Z</dcterms:created>
  <dcterms:modified xsi:type="dcterms:W3CDTF">2026-04-29T07:01:10Z</dcterms:modified>
</cp:coreProperties>
</file>