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8" r:id="rId8"/>
    <p:sldId id="262" r:id="rId9"/>
    <p:sldId id="265" r:id="rId10"/>
    <p:sldId id="263" r:id="rId11"/>
    <p:sldId id="264" r:id="rId12"/>
    <p:sldId id="299" r:id="rId13"/>
    <p:sldId id="300" r:id="rId14"/>
    <p:sldId id="301" r:id="rId15"/>
    <p:sldId id="302" r:id="rId16"/>
    <p:sldId id="266" r:id="rId17"/>
    <p:sldId id="267" r:id="rId18"/>
    <p:sldId id="268" r:id="rId19"/>
    <p:sldId id="269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312" r:id="rId52"/>
    <p:sldId id="328" r:id="rId53"/>
    <p:sldId id="329" r:id="rId54"/>
    <p:sldId id="330" r:id="rId55"/>
    <p:sldId id="313" r:id="rId56"/>
    <p:sldId id="331" r:id="rId57"/>
    <p:sldId id="332" r:id="rId58"/>
    <p:sldId id="333" r:id="rId59"/>
    <p:sldId id="334" r:id="rId60"/>
    <p:sldId id="314" r:id="rId61"/>
    <p:sldId id="315" r:id="rId62"/>
    <p:sldId id="316" r:id="rId63"/>
    <p:sldId id="335" r:id="rId64"/>
    <p:sldId id="336" r:id="rId65"/>
    <p:sldId id="337" r:id="rId66"/>
    <p:sldId id="338" r:id="rId67"/>
    <p:sldId id="339" r:id="rId68"/>
    <p:sldId id="340" r:id="rId69"/>
    <p:sldId id="341" r:id="rId70"/>
    <p:sldId id="342" r:id="rId71"/>
    <p:sldId id="317" r:id="rId72"/>
    <p:sldId id="318" r:id="rId73"/>
    <p:sldId id="319" r:id="rId74"/>
    <p:sldId id="320" r:id="rId75"/>
    <p:sldId id="321" r:id="rId76"/>
    <p:sldId id="322" r:id="rId77"/>
    <p:sldId id="323" r:id="rId78"/>
    <p:sldId id="325" r:id="rId79"/>
    <p:sldId id="324" r:id="rId80"/>
    <p:sldId id="326" r:id="rId81"/>
    <p:sldId id="327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476"/>
  </p:normalViewPr>
  <p:slideViewPr>
    <p:cSldViewPr snapToGrid="0">
      <p:cViewPr varScale="1">
        <p:scale>
          <a:sx n="84" d="100"/>
          <a:sy n="84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hyperlink" Target="https://www.geeksforgeeks.org/python/python-for-loops/" TargetMode="External"/><Relationship Id="rId18" Type="http://schemas.openxmlformats.org/officeDocument/2006/relationships/hyperlink" Target="https://www.geeksforgeeks.org/python/python-try-except/" TargetMode="External"/><Relationship Id="rId26" Type="http://schemas.openxmlformats.org/officeDocument/2006/relationships/hyperlink" Target="https://www.geeksforgeeks.org/python/python-classes-and-objects/" TargetMode="External"/><Relationship Id="rId3" Type="http://schemas.openxmlformats.org/officeDocument/2006/relationships/hyperlink" Target="https://www.geeksforgeeks.org/python/python-false-keyword/" TargetMode="External"/><Relationship Id="rId21" Type="http://schemas.openxmlformats.org/officeDocument/2006/relationships/hyperlink" Target="https://www.geeksforgeeks.org/python/python-assert-keyword/" TargetMode="External"/><Relationship Id="rId34" Type="http://schemas.openxmlformats.org/officeDocument/2006/relationships/hyperlink" Target="https://www.geeksforgeeks.org/python/await-in-python/" TargetMode="External"/><Relationship Id="rId7" Type="http://schemas.openxmlformats.org/officeDocument/2006/relationships/hyperlink" Target="https://www.geeksforgeeks.org/python/python-not-keyword/" TargetMode="External"/><Relationship Id="rId12" Type="http://schemas.openxmlformats.org/officeDocument/2006/relationships/hyperlink" Target="https://www.geeksforgeeks.org/python/python3-if-if-else-nested-if-if-elif-statements/" TargetMode="External"/><Relationship Id="rId17" Type="http://schemas.openxmlformats.org/officeDocument/2006/relationships/hyperlink" Target="https://www.geeksforgeeks.org/python/python-pass-statement/" TargetMode="External"/><Relationship Id="rId25" Type="http://schemas.openxmlformats.org/officeDocument/2006/relationships/hyperlink" Target="https://www.geeksforgeeks.org/python/python-yield-keyword/" TargetMode="External"/><Relationship Id="rId33" Type="http://schemas.openxmlformats.org/officeDocument/2006/relationships/hyperlink" Target="https://www.geeksforgeeks.org/python/python-async/" TargetMode="External"/><Relationship Id="rId2" Type="http://schemas.openxmlformats.org/officeDocument/2006/relationships/hyperlink" Target="https://www.geeksforgeeks.org/python/python-true-keyword/" TargetMode="External"/><Relationship Id="rId16" Type="http://schemas.openxmlformats.org/officeDocument/2006/relationships/hyperlink" Target="https://www.geeksforgeeks.org/python/python-continue-statement/" TargetMode="External"/><Relationship Id="rId20" Type="http://schemas.openxmlformats.org/officeDocument/2006/relationships/hyperlink" Target="https://www.geeksforgeeks.org/python/python-raise-keyword/" TargetMode="External"/><Relationship Id="rId29" Type="http://schemas.openxmlformats.org/officeDocument/2006/relationships/hyperlink" Target="https://www.geeksforgeeks.org/python/import-module-pyth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python/python-or-keyword/" TargetMode="External"/><Relationship Id="rId11" Type="http://schemas.openxmlformats.org/officeDocument/2006/relationships/hyperlink" Target="https://www.geeksforgeeks.org/python/python-if-else/" TargetMode="External"/><Relationship Id="rId24" Type="http://schemas.openxmlformats.org/officeDocument/2006/relationships/hyperlink" Target="https://www.geeksforgeeks.org/python/python-lambda/" TargetMode="External"/><Relationship Id="rId32" Type="http://schemas.openxmlformats.org/officeDocument/2006/relationships/hyperlink" Target="https://www.geeksforgeeks.org/python/python-nonlocal-keyword/" TargetMode="External"/><Relationship Id="rId5" Type="http://schemas.openxmlformats.org/officeDocument/2006/relationships/hyperlink" Target="https://www.geeksforgeeks.org/python/python-and-keyword/" TargetMode="External"/><Relationship Id="rId15" Type="http://schemas.openxmlformats.org/officeDocument/2006/relationships/hyperlink" Target="https://www.geeksforgeeks.org/python/python-break-statement/" TargetMode="External"/><Relationship Id="rId23" Type="http://schemas.openxmlformats.org/officeDocument/2006/relationships/hyperlink" Target="https://www.geeksforgeeks.org/python/python-return-statement/" TargetMode="External"/><Relationship Id="rId28" Type="http://schemas.openxmlformats.org/officeDocument/2006/relationships/hyperlink" Target="https://www.geeksforgeeks.org/python/python-as-keyword/" TargetMode="External"/><Relationship Id="rId10" Type="http://schemas.openxmlformats.org/officeDocument/2006/relationships/hyperlink" Target="https://www.geeksforgeeks.org/python/nested-if-statement-in-python/" TargetMode="External"/><Relationship Id="rId19" Type="http://schemas.openxmlformats.org/officeDocument/2006/relationships/hyperlink" Target="https://www.geeksforgeeks.org/python/finally-keyword-in-python/" TargetMode="External"/><Relationship Id="rId31" Type="http://schemas.openxmlformats.org/officeDocument/2006/relationships/hyperlink" Target="https://www.geeksforgeeks.org/python/global-keyword-in-python/" TargetMode="External"/><Relationship Id="rId4" Type="http://schemas.openxmlformats.org/officeDocument/2006/relationships/hyperlink" Target="https://www.geeksforgeeks.org/python/python-none-keyword/" TargetMode="External"/><Relationship Id="rId9" Type="http://schemas.openxmlformats.org/officeDocument/2006/relationships/hyperlink" Target="https://www.geeksforgeeks.org/python/python-in-keyword/" TargetMode="External"/><Relationship Id="rId14" Type="http://schemas.openxmlformats.org/officeDocument/2006/relationships/hyperlink" Target="https://www.geeksforgeeks.org/python/python-while-loop/" TargetMode="External"/><Relationship Id="rId22" Type="http://schemas.openxmlformats.org/officeDocument/2006/relationships/hyperlink" Target="https://www.geeksforgeeks.org/python/python-def-keyword/" TargetMode="External"/><Relationship Id="rId27" Type="http://schemas.openxmlformats.org/officeDocument/2006/relationships/hyperlink" Target="https://www.geeksforgeeks.org/python/with-statement-in-python/" TargetMode="External"/><Relationship Id="rId30" Type="http://schemas.openxmlformats.org/officeDocument/2006/relationships/hyperlink" Target="https://www.geeksforgeeks.org/python/python-from-keyword/" TargetMode="External"/><Relationship Id="rId8" Type="http://schemas.openxmlformats.org/officeDocument/2006/relationships/hyperlink" Target="https://www.geeksforgeeks.org/python/is-keyword-in-python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python.org/3/library/stdtypes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google.com/edu/python/strings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python-set-update/" TargetMode="External"/><Relationship Id="rId2" Type="http://schemas.openxmlformats.org/officeDocument/2006/relationships/hyperlink" Target="https://www.geeksforgeeks.org/python/set-add-python/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python-set-discard-function/" TargetMode="External"/><Relationship Id="rId2" Type="http://schemas.openxmlformats.org/officeDocument/2006/relationships/hyperlink" Target="https://www.geeksforgeeks.org/python/python-remove-discard-set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python/python-set-clear-method/" TargetMode="External"/><Relationship Id="rId4" Type="http://schemas.openxmlformats.org/officeDocument/2006/relationships/hyperlink" Target="https://www.geeksforgeeks.org/python/python-set-pop-method/" TargetMode="Externa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ython/frozenset-in-python/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python/intersection-function-python/" TargetMode="External"/><Relationship Id="rId13" Type="http://schemas.openxmlformats.org/officeDocument/2006/relationships/hyperlink" Target="https://www.geeksforgeeks.org/python/python-set-symmetric_difference/" TargetMode="External"/><Relationship Id="rId3" Type="http://schemas.openxmlformats.org/officeDocument/2006/relationships/hyperlink" Target="https://www.geeksforgeeks.org/python/python-set-clear-method/" TargetMode="External"/><Relationship Id="rId7" Type="http://schemas.openxmlformats.org/officeDocument/2006/relationships/hyperlink" Target="https://www.geeksforgeeks.org/python/frozenset-in-python/" TargetMode="External"/><Relationship Id="rId12" Type="http://schemas.openxmlformats.org/officeDocument/2006/relationships/hyperlink" Target="https://www.geeksforgeeks.org/python/python-set-pop-method/" TargetMode="External"/><Relationship Id="rId2" Type="http://schemas.openxmlformats.org/officeDocument/2006/relationships/hyperlink" Target="https://www.geeksforgeeks.org/python/set-add-python/" TargetMode="External"/><Relationship Id="rId16" Type="http://schemas.openxmlformats.org/officeDocument/2006/relationships/hyperlink" Target="https://www.geeksforgeeks.org/python/python-set-updat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python/python-set-difference_update/" TargetMode="External"/><Relationship Id="rId11" Type="http://schemas.openxmlformats.org/officeDocument/2006/relationships/hyperlink" Target="https://www.geeksforgeeks.org/python/issuperset-in-python/" TargetMode="External"/><Relationship Id="rId5" Type="http://schemas.openxmlformats.org/officeDocument/2006/relationships/hyperlink" Target="https://www.geeksforgeeks.org/python/python-set-difference/" TargetMode="External"/><Relationship Id="rId15" Type="http://schemas.openxmlformats.org/officeDocument/2006/relationships/hyperlink" Target="https://www.geeksforgeeks.org/python/union-function-python/" TargetMode="External"/><Relationship Id="rId10" Type="http://schemas.openxmlformats.org/officeDocument/2006/relationships/hyperlink" Target="https://www.geeksforgeeks.org/python/python-set-issubset-method/" TargetMode="External"/><Relationship Id="rId4" Type="http://schemas.openxmlformats.org/officeDocument/2006/relationships/hyperlink" Target="https://www.geeksforgeeks.org/python/set-copy-python/" TargetMode="External"/><Relationship Id="rId9" Type="http://schemas.openxmlformats.org/officeDocument/2006/relationships/hyperlink" Target="https://www.geeksforgeeks.org/python/python-set-isdisjoint-method/" TargetMode="External"/><Relationship Id="rId14" Type="http://schemas.openxmlformats.org/officeDocument/2006/relationships/hyperlink" Target="https://www.geeksforgeeks.org/python/python-set-symmetric-difference-update/" TargetMode="Externa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python-dictionary-pop-method/" TargetMode="External"/><Relationship Id="rId2" Type="http://schemas.openxmlformats.org/officeDocument/2006/relationships/hyperlink" Target="https://www.geeksforgeeks.org/python/python-del-to-delete-object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python/python-dictionary-popitem-method/" TargetMode="External"/><Relationship Id="rId4" Type="http://schemas.openxmlformats.org/officeDocument/2006/relationships/hyperlink" Target="https://www.geeksforgeeks.org/python/python-dictionary-clear/" TargetMode="Externa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python-dictionary-values/" TargetMode="External"/><Relationship Id="rId2" Type="http://schemas.openxmlformats.org/officeDocument/2006/relationships/hyperlink" Target="https://www.geeksforgeeks.org/python/python-dictionary-keys-method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python/python-dictionary-items-method/" TargetMode="Externa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7B6CD-D1D0-8FA3-6DF0-313326019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Identifiers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82D22-199E-07CF-A201-8FE297BCC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 </a:t>
            </a:r>
            <a:r>
              <a:rPr lang="en-IN" b="1" dirty="0">
                <a:effectLst/>
              </a:rPr>
              <a:t>identifier</a:t>
            </a:r>
            <a:r>
              <a:rPr lang="en-IN" dirty="0"/>
              <a:t> in Python is a user-defined name used to identify program elements such as variables, functions, classes, modules, or other objects. They are fundamental for making code readable, organized, and maintainable.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41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4A937-F5E3-2D15-B79A-C171DD6C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Naming Identifiers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E136E-E9E2-40EF-F995-4837822A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Valid identifiers must adhere to the following rules:</a:t>
            </a:r>
          </a:p>
          <a:p>
            <a:r>
              <a:rPr lang="en-US" b="1" dirty="0"/>
              <a:t>Allowed Characters</a:t>
            </a:r>
            <a:r>
              <a:rPr lang="en-US" dirty="0"/>
              <a:t>: An identifier can only contain letters (a-z, A-Z), digits (0-9), and underscores (_).</a:t>
            </a:r>
          </a:p>
          <a:p>
            <a:r>
              <a:rPr lang="en-US" b="1" dirty="0"/>
              <a:t>Starting Character</a:t>
            </a:r>
            <a:r>
              <a:rPr lang="en-US" dirty="0"/>
              <a:t>: It must start with a letter or an underscore, never a digit.</a:t>
            </a:r>
          </a:p>
          <a:p>
            <a:r>
              <a:rPr lang="en-US" b="1" dirty="0"/>
              <a:t>No Special Characters/Spaces</a:t>
            </a:r>
            <a:r>
              <a:rPr lang="en-US" dirty="0"/>
              <a:t>: Punctuation characters such as @, $, %, or spaces are not allowed.</a:t>
            </a:r>
          </a:p>
          <a:p>
            <a:r>
              <a:rPr lang="en-US" b="1" dirty="0"/>
              <a:t>No Keywords</a:t>
            </a:r>
            <a:r>
              <a:rPr lang="en-US" dirty="0"/>
              <a:t>: An identifier cannot use any of </a:t>
            </a:r>
            <a:r>
              <a:rPr lang="en-US" b="1" dirty="0"/>
              <a:t>Python's reserved keywords</a:t>
            </a:r>
            <a:r>
              <a:rPr lang="en-US" dirty="0"/>
              <a:t>.</a:t>
            </a:r>
          </a:p>
          <a:p>
            <a:r>
              <a:rPr lang="en-US" b="1" dirty="0"/>
              <a:t>Case-Sensitive</a:t>
            </a:r>
            <a:r>
              <a:rPr lang="en-US" dirty="0"/>
              <a:t>: Python is case-sensitive, meaning </a:t>
            </a:r>
            <a:r>
              <a:rPr lang="en-US" b="1" dirty="0" err="1"/>
              <a:t>myVar</a:t>
            </a:r>
            <a:r>
              <a:rPr lang="en-US" dirty="0"/>
              <a:t> and </a:t>
            </a:r>
            <a:r>
              <a:rPr lang="en-US" b="1" dirty="0" err="1"/>
              <a:t>myvar</a:t>
            </a:r>
            <a:r>
              <a:rPr lang="en-US" dirty="0"/>
              <a:t> are treated as two different identifiers.</a:t>
            </a:r>
          </a:p>
          <a:p>
            <a:r>
              <a:rPr lang="en-US" b="1" dirty="0"/>
              <a:t>Length</a:t>
            </a:r>
            <a:r>
              <a:rPr lang="en-US" dirty="0"/>
              <a:t>: Identifiers can be of any length, though it is a best practice to keep them concise and meaningful. </a:t>
            </a:r>
          </a:p>
          <a:p>
            <a:endParaRPr lang="en-US" dirty="0"/>
          </a:p>
          <a:p>
            <a:r>
              <a:rPr lang="en-US" dirty="0"/>
              <a:t>import keyword</a:t>
            </a:r>
          </a:p>
          <a:p>
            <a:r>
              <a:rPr lang="en-US" dirty="0"/>
              <a:t>print(</a:t>
            </a:r>
            <a:r>
              <a:rPr lang="en-US" dirty="0" err="1"/>
              <a:t>keyword.kwlist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008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EFAD6-F269-1FD3-1EC4-C88CEAE72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Reserved Keywords in Python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849F93-FE7A-2C8F-F0B0-D890623B40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6544756"/>
              </p:ext>
            </p:extLst>
          </p:nvPr>
        </p:nvGraphicFramePr>
        <p:xfrm>
          <a:off x="838200" y="1690688"/>
          <a:ext cx="10515600" cy="482901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64992">
                  <a:extLst>
                    <a:ext uri="{9D8B030D-6E8A-4147-A177-3AD203B41FA5}">
                      <a16:colId xmlns:a16="http://schemas.microsoft.com/office/drawing/2014/main" val="41742153"/>
                    </a:ext>
                  </a:extLst>
                </a:gridCol>
                <a:gridCol w="7150608">
                  <a:extLst>
                    <a:ext uri="{9D8B030D-6E8A-4147-A177-3AD203B41FA5}">
                      <a16:colId xmlns:a16="http://schemas.microsoft.com/office/drawing/2014/main" val="2353487436"/>
                    </a:ext>
                  </a:extLst>
                </a:gridCol>
              </a:tblGrid>
              <a:tr h="493417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800" b="1" dirty="0">
                          <a:effectLst/>
                        </a:rPr>
                        <a:t>Category</a:t>
                      </a:r>
                      <a:endParaRPr lang="en-IN" sz="1800" b="1" dirty="0">
                        <a:effectLst/>
                        <a:latin typeface="Nunito" pitchFamily="2" charset="77"/>
                      </a:endParaRP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800" b="1" dirty="0">
                          <a:effectLst/>
                        </a:rPr>
                        <a:t>Keywords</a:t>
                      </a:r>
                      <a:endParaRPr lang="en-IN" sz="1800" b="1" dirty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4001946456"/>
                  </a:ext>
                </a:extLst>
              </a:tr>
              <a:tr h="54195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400" b="1" dirty="0">
                          <a:effectLst/>
                        </a:rPr>
                        <a:t>Value Keywords</a:t>
                      </a:r>
                      <a:endParaRPr lang="en-IN" sz="2400" b="0" dirty="0">
                        <a:effectLst/>
                        <a:latin typeface="Nunito" pitchFamily="2" charset="77"/>
                      </a:endParaRPr>
                    </a:p>
                  </a:txBody>
                  <a:tcPr marL="38100" marR="38100" marT="70742" marB="70742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2"/>
                        </a:rPr>
                        <a:t>True</a:t>
                      </a:r>
                      <a:r>
                        <a:rPr lang="en-IN" sz="1600" b="0" dirty="0">
                          <a:effectLst/>
                        </a:rPr>
                        <a:t>, </a:t>
                      </a:r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3"/>
                        </a:rPr>
                        <a:t>False</a:t>
                      </a:r>
                      <a:r>
                        <a:rPr lang="en-IN" sz="1600" b="0" dirty="0">
                          <a:effectLst/>
                        </a:rPr>
                        <a:t>, </a:t>
                      </a:r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4"/>
                        </a:rPr>
                        <a:t>None</a:t>
                      </a:r>
                      <a:endParaRPr lang="en-IN" sz="1600" b="0" dirty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423333455"/>
                  </a:ext>
                </a:extLst>
              </a:tr>
              <a:tr h="54195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>
                          <a:effectLst/>
                        </a:rPr>
                        <a:t>Operator Keywords</a:t>
                      </a:r>
                      <a:endParaRPr lang="en-IN" sz="2400" b="1">
                        <a:effectLst/>
                        <a:latin typeface="Nunito" pitchFamily="2" charset="77"/>
                      </a:endParaRPr>
                    </a:p>
                  </a:txBody>
                  <a:tcPr marL="38100" marR="38100" marT="70742" marB="707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5"/>
                        </a:rPr>
                        <a:t>and</a:t>
                      </a:r>
                      <a:r>
                        <a:rPr lang="en-IN" sz="1600" b="0" dirty="0">
                          <a:effectLst/>
                        </a:rPr>
                        <a:t>, </a:t>
                      </a:r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6"/>
                        </a:rPr>
                        <a:t>or</a:t>
                      </a:r>
                      <a:r>
                        <a:rPr lang="en-IN" sz="1600" b="0" dirty="0">
                          <a:effectLst/>
                        </a:rPr>
                        <a:t>, </a:t>
                      </a:r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7"/>
                        </a:rPr>
                        <a:t>not</a:t>
                      </a:r>
                      <a:r>
                        <a:rPr lang="en-IN" sz="1600" b="0" dirty="0">
                          <a:effectLst/>
                        </a:rPr>
                        <a:t>, </a:t>
                      </a:r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8"/>
                        </a:rPr>
                        <a:t>is</a:t>
                      </a:r>
                      <a:r>
                        <a:rPr lang="en-IN" sz="1600" b="0" dirty="0">
                          <a:effectLst/>
                        </a:rPr>
                        <a:t>, </a:t>
                      </a:r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9"/>
                        </a:rPr>
                        <a:t>in</a:t>
                      </a:r>
                      <a:endParaRPr lang="en-IN" sz="1600" b="0" dirty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572446576"/>
                  </a:ext>
                </a:extLst>
              </a:tr>
              <a:tr h="54195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400" b="1">
                          <a:effectLst/>
                        </a:rPr>
                        <a:t>Control Flow Keywords</a:t>
                      </a:r>
                      <a:endParaRPr lang="en-IN" sz="2400" b="0">
                        <a:effectLst/>
                        <a:latin typeface="Nunito" pitchFamily="2" charset="77"/>
                      </a:endParaRPr>
                    </a:p>
                  </a:txBody>
                  <a:tcPr marL="38100" marR="38100" marT="70742" marB="70742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0"/>
                        </a:rPr>
                        <a:t>if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1"/>
                        </a:rPr>
                        <a:t>else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2"/>
                        </a:rPr>
                        <a:t>elif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3"/>
                        </a:rPr>
                        <a:t>for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4"/>
                        </a:rPr>
                        <a:t>while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5"/>
                        </a:rPr>
                        <a:t>break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6"/>
                        </a:rPr>
                        <a:t>continue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7"/>
                        </a:rPr>
                        <a:t>pass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8"/>
                        </a:rPr>
                        <a:t>try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8"/>
                        </a:rPr>
                        <a:t>except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19"/>
                        </a:rPr>
                        <a:t>finally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0"/>
                        </a:rPr>
                        <a:t>raise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1"/>
                        </a:rPr>
                        <a:t>assert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953483930"/>
                  </a:ext>
                </a:extLst>
              </a:tr>
              <a:tr h="54195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>
                          <a:effectLst/>
                        </a:rPr>
                        <a:t>Function and Class</a:t>
                      </a:r>
                      <a:endParaRPr lang="en-IN" sz="2400" b="1">
                        <a:effectLst/>
                        <a:latin typeface="Nunito" pitchFamily="2" charset="77"/>
                      </a:endParaRPr>
                    </a:p>
                  </a:txBody>
                  <a:tcPr marL="38100" marR="38100" marT="70742" marB="707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2"/>
                        </a:rPr>
                        <a:t>def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3"/>
                        </a:rPr>
                        <a:t>return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4"/>
                        </a:rPr>
                        <a:t>lambda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5"/>
                        </a:rPr>
                        <a:t>yield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6"/>
                        </a:rPr>
                        <a:t>class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105835886"/>
                  </a:ext>
                </a:extLst>
              </a:tr>
              <a:tr h="54195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>
                          <a:effectLst/>
                        </a:rPr>
                        <a:t>Context Management</a:t>
                      </a:r>
                      <a:endParaRPr lang="en-IN" sz="2400" b="1">
                        <a:effectLst/>
                        <a:latin typeface="Nunito" pitchFamily="2" charset="77"/>
                      </a:endParaRPr>
                    </a:p>
                  </a:txBody>
                  <a:tcPr marL="38100" marR="38100" marT="70742" marB="707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7"/>
                        </a:rPr>
                        <a:t>with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8"/>
                        </a:rPr>
                        <a:t>as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153507156"/>
                  </a:ext>
                </a:extLst>
              </a:tr>
              <a:tr h="54195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>
                          <a:effectLst/>
                        </a:rPr>
                        <a:t>Import and Module</a:t>
                      </a:r>
                      <a:endParaRPr lang="en-IN" sz="2400" b="1">
                        <a:effectLst/>
                        <a:latin typeface="Nunito" pitchFamily="2" charset="77"/>
                      </a:endParaRPr>
                    </a:p>
                  </a:txBody>
                  <a:tcPr marL="38100" marR="38100" marT="70742" marB="707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29"/>
                        </a:rPr>
                        <a:t>import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30"/>
                        </a:rPr>
                        <a:t>from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136650175"/>
                  </a:ext>
                </a:extLst>
              </a:tr>
              <a:tr h="54195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>
                          <a:effectLst/>
                        </a:rPr>
                        <a:t>Scope and Namespace</a:t>
                      </a:r>
                      <a:endParaRPr lang="en-IN" sz="2400" b="1">
                        <a:effectLst/>
                        <a:latin typeface="Nunito" pitchFamily="2" charset="77"/>
                      </a:endParaRPr>
                    </a:p>
                  </a:txBody>
                  <a:tcPr marL="38100" marR="38100" marT="70742" marB="707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31"/>
                        </a:rPr>
                        <a:t>global</a:t>
                      </a:r>
                      <a:r>
                        <a:rPr lang="en-IN" sz="1600" b="0">
                          <a:effectLst/>
                        </a:rPr>
                        <a:t>, </a:t>
                      </a:r>
                      <a:r>
                        <a:rPr lang="en-IN" sz="1600" b="0" u="sng">
                          <a:solidFill>
                            <a:srgbClr val="357960"/>
                          </a:solidFill>
                          <a:effectLst/>
                          <a:hlinkClick r:id="rId32"/>
                        </a:rPr>
                        <a:t>nonlocal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297751594"/>
                  </a:ext>
                </a:extLst>
              </a:tr>
              <a:tr h="54195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 dirty="0">
                          <a:effectLst/>
                        </a:rPr>
                        <a:t>Async Programming</a:t>
                      </a:r>
                      <a:endParaRPr lang="en-IN" sz="2400" b="1" dirty="0">
                        <a:effectLst/>
                        <a:latin typeface="Nunito" pitchFamily="2" charset="77"/>
                      </a:endParaRPr>
                    </a:p>
                  </a:txBody>
                  <a:tcPr marL="38100" marR="38100" marT="70742" marB="70742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33"/>
                        </a:rPr>
                        <a:t>async</a:t>
                      </a:r>
                      <a:r>
                        <a:rPr lang="en-IN" sz="1600" b="0" dirty="0">
                          <a:effectLst/>
                        </a:rPr>
                        <a:t>, </a:t>
                      </a:r>
                      <a:r>
                        <a:rPr lang="en-IN" sz="1600" b="0" u="sng" dirty="0">
                          <a:solidFill>
                            <a:srgbClr val="357960"/>
                          </a:solidFill>
                          <a:effectLst/>
                          <a:hlinkClick r:id="rId34"/>
                        </a:rPr>
                        <a:t>await</a:t>
                      </a:r>
                      <a:endParaRPr lang="en-IN" sz="1600" b="0" dirty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4205166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909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A756E-132E-80FF-3068-53BD105CD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BD6FE-F89C-F295-2438-13B9FFAF7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A diagram illustrating various data types in Python">
            <a:extLst>
              <a:ext uri="{FF2B5EF4-FFF2-40B4-BE49-F238E27FC236}">
                <a16:creationId xmlns:a16="http://schemas.microsoft.com/office/drawing/2014/main" id="{7BE1AC69-DD2E-5EBB-A2B8-9C07B65C0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456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FEDA-233B-6274-FF1C-B9F40800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Datatypes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02F7B-C894-3A28-25A1-B3855F094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Python’s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basic data types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include int, float, complex, str, bytes, 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bytearray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, and bool.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You can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check a variable’s type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using the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type() function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in Python.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You can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convert data types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 in Python using functions like int(), float(), str(), and others.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Despite being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dynamically typed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, Python does have data types.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The most essential data types in Python can be categorized as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numeric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,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sequence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,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binary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, and </a:t>
            </a: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Boolean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826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9E6CC-7299-D288-0B7B-FA662BCE5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B7A31-4970-3D88-BEDE-91EB0CBA5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15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E9D7-2272-0F62-028B-CD870C3E1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DD783-875C-AC2A-077A-8847D78C5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IN" b="1" dirty="0">
                <a:effectLst/>
              </a:rPr>
              <a:t>Note</a:t>
            </a:r>
            <a:r>
              <a:rPr lang="en-IN" dirty="0"/>
              <a:t>: When a number in a non-decimal base is written directly in Python code, it must be prefixed with its base indicator (e.g., </a:t>
            </a:r>
            <a:r>
              <a:rPr lang="en-IN" b="1" dirty="0"/>
              <a:t>0b1010</a:t>
            </a:r>
            <a:r>
              <a:rPr lang="en-IN" dirty="0"/>
              <a:t>, </a:t>
            </a:r>
            <a:r>
              <a:rPr lang="en-IN" b="1" dirty="0"/>
              <a:t>0o12</a:t>
            </a:r>
            <a:r>
              <a:rPr lang="en-IN" dirty="0"/>
              <a:t>, </a:t>
            </a:r>
            <a:r>
              <a:rPr lang="en-IN" b="1" dirty="0"/>
              <a:t>0xa</a:t>
            </a:r>
            <a:r>
              <a:rPr lang="en-IN" dirty="0"/>
              <a:t>). Python automatically interprets these as integers.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endParaRPr lang="en-IN" dirty="0">
              <a:effectLst/>
            </a:endParaRPr>
          </a:p>
          <a:p>
            <a:pPr algn="l"/>
            <a:r>
              <a:rPr lang="en-IN" b="0" i="0" dirty="0">
                <a:effectLst/>
                <a:latin typeface="Google Sans"/>
              </a:rPr>
              <a:t>In Python, </a:t>
            </a:r>
            <a:r>
              <a:rPr lang="en-IN" b="1" i="0" dirty="0">
                <a:effectLst/>
                <a:latin typeface="Google Sans"/>
              </a:rPr>
              <a:t>bin()</a:t>
            </a:r>
            <a:r>
              <a:rPr lang="en-IN" b="0" i="0" dirty="0">
                <a:effectLst/>
                <a:latin typeface="Google Sans"/>
              </a:rPr>
              <a:t>, </a:t>
            </a:r>
            <a:r>
              <a:rPr lang="en-IN" b="1" i="0" dirty="0">
                <a:effectLst/>
                <a:latin typeface="Google Sans"/>
              </a:rPr>
              <a:t>oct()</a:t>
            </a:r>
            <a:r>
              <a:rPr lang="en-IN" b="0" i="0" dirty="0">
                <a:effectLst/>
                <a:latin typeface="Google Sans"/>
              </a:rPr>
              <a:t>, and </a:t>
            </a:r>
            <a:r>
              <a:rPr lang="en-IN" b="1" i="0" dirty="0">
                <a:effectLst/>
                <a:latin typeface="Google Sans"/>
              </a:rPr>
              <a:t>hex()</a:t>
            </a:r>
            <a:r>
              <a:rPr lang="en-IN" b="0" i="0" dirty="0">
                <a:effectLst/>
                <a:latin typeface="Google Sans"/>
              </a:rPr>
              <a:t> are built-in functions used to convert an integer to its string representation in binary, octal, and hexadecimal number systems, respectively. 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The </a:t>
            </a:r>
            <a:r>
              <a:rPr lang="en-IN" b="1" i="0" dirty="0">
                <a:effectLst/>
                <a:latin typeface="Google Sans"/>
              </a:rPr>
              <a:t>int()</a:t>
            </a:r>
            <a:r>
              <a:rPr lang="en-IN" b="0" i="0" dirty="0">
                <a:effectLst/>
                <a:latin typeface="Google Sans"/>
              </a:rPr>
              <a:t> function is used to create an integer object from various number systems. </a:t>
            </a:r>
          </a:p>
          <a:p>
            <a:r>
              <a:rPr lang="en-IN" dirty="0"/>
              <a:t>These functions take an integer as an argument and return a string with a specific prefix indicating the base of the number system.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860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0F484-1637-7300-A993-B20462E9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8481E-92BC-F71B-53AA-CD6D50275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Direct representation in Python</a:t>
            </a:r>
          </a:p>
          <a:p>
            <a:r>
              <a:rPr lang="en-US" dirty="0" err="1"/>
              <a:t>binary_num</a:t>
            </a:r>
            <a:r>
              <a:rPr lang="en-US" dirty="0"/>
              <a:t> = 0b1010</a:t>
            </a:r>
          </a:p>
          <a:p>
            <a:r>
              <a:rPr lang="en-US" dirty="0" err="1"/>
              <a:t>octal_num</a:t>
            </a:r>
            <a:r>
              <a:rPr lang="en-US" dirty="0"/>
              <a:t> = 0o12</a:t>
            </a:r>
          </a:p>
          <a:p>
            <a:r>
              <a:rPr lang="en-US" dirty="0" err="1"/>
              <a:t>hex_num</a:t>
            </a:r>
            <a:r>
              <a:rPr lang="en-US" dirty="0"/>
              <a:t> = 0xa</a:t>
            </a:r>
          </a:p>
          <a:p>
            <a:endParaRPr lang="en-US" dirty="0"/>
          </a:p>
          <a:p>
            <a:r>
              <a:rPr lang="en-US" dirty="0"/>
              <a:t>print(f"{</a:t>
            </a:r>
            <a:r>
              <a:rPr lang="en-US" dirty="0" err="1"/>
              <a:t>binary_num</a:t>
            </a:r>
            <a:r>
              <a:rPr lang="en-US" dirty="0"/>
              <a:t>}, {</a:t>
            </a:r>
            <a:r>
              <a:rPr lang="en-US" dirty="0" err="1"/>
              <a:t>octal_num</a:t>
            </a:r>
            <a:r>
              <a:rPr lang="en-US" dirty="0"/>
              <a:t>}, {</a:t>
            </a:r>
            <a:r>
              <a:rPr lang="en-US" dirty="0" err="1"/>
              <a:t>hex_num</a:t>
            </a:r>
            <a:r>
              <a:rPr lang="en-US" dirty="0"/>
              <a:t>}") # Output: 10, 10,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42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68206-DC16-3843-64BC-01C267D8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a different </a:t>
            </a:r>
            <a:r>
              <a:rPr lang="en-US" dirty="0" err="1"/>
              <a:t>Systemss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B2545C-45F2-B667-13D6-1E74EC56FC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028691"/>
              </p:ext>
            </p:extLst>
          </p:nvPr>
        </p:nvGraphicFramePr>
        <p:xfrm>
          <a:off x="838200" y="1825625"/>
          <a:ext cx="10515600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603708428"/>
                    </a:ext>
                  </a:extLst>
                </a:gridCol>
                <a:gridCol w="2773680">
                  <a:extLst>
                    <a:ext uri="{9D8B030D-6E8A-4147-A177-3AD203B41FA5}">
                      <a16:colId xmlns:a16="http://schemas.microsoft.com/office/drawing/2014/main" val="3875737062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3189877247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324929052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42177502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String Prefix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100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bin()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Converts an integer to a binary string (base 2).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bin(10)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'0b1010'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265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oct()			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Converts an integer to an octal string (base 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oct(10)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'0o12'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531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hex()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Converts an integer to a hexadecimal string (base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hex(10)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'0xa'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618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int(x)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Converts the value x to a decimal integer.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int('10')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657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int(x, 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Converts the string x from a given base to a decimal integer.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int('1010', 2)</a:t>
                      </a:r>
                    </a:p>
                    <a:p>
                      <a:r>
                        <a:rPr lang="en-US" sz="2000" dirty="0"/>
                        <a:t>int('12’, 8)</a:t>
                      </a:r>
                    </a:p>
                    <a:p>
                      <a:r>
                        <a:rPr lang="en-US" sz="2000" dirty="0"/>
                        <a:t>int(‘a’,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</a:t>
                      </a:r>
                    </a:p>
                    <a:p>
                      <a:r>
                        <a:rPr lang="en-US" sz="2000" dirty="0"/>
                        <a:t>10</a:t>
                      </a:r>
                    </a:p>
                    <a:p>
                      <a:r>
                        <a:rPr lang="en-US" sz="2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39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924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DA14C-FA60-4AB8-2CD7-EECE4DBE5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15EE6-2A86-9EDC-F2BB-620DB3FC9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IN" b="0" i="0" dirty="0">
                <a:effectLst/>
                <a:latin typeface="Google Sans"/>
              </a:rPr>
              <a:t>We can use resultant string slicing [2:] or the format() function to remove the prefixes if needed. </a:t>
            </a:r>
          </a:p>
          <a:p>
            <a:pPr marL="0" indent="0" algn="l">
              <a:buNone/>
            </a:pPr>
            <a:r>
              <a:rPr lang="en-IN" b="0" i="0" dirty="0" err="1">
                <a:effectLst/>
                <a:latin typeface="Google Sans"/>
              </a:rPr>
              <a:t>decimal_num</a:t>
            </a:r>
            <a:r>
              <a:rPr lang="en-IN" b="0" i="0" dirty="0">
                <a:effectLst/>
                <a:latin typeface="Google Sans"/>
              </a:rPr>
              <a:t> = 10</a:t>
            </a:r>
          </a:p>
          <a:p>
            <a:pPr marL="0" indent="0" algn="l">
              <a:buNone/>
            </a:pPr>
            <a:r>
              <a:rPr lang="en-IN" b="0" i="0" dirty="0">
                <a:effectLst/>
                <a:latin typeface="Google Sans"/>
              </a:rPr>
              <a:t>print(bin(</a:t>
            </a:r>
            <a:r>
              <a:rPr lang="en-IN" b="0" i="0" dirty="0" err="1">
                <a:effectLst/>
                <a:latin typeface="Google Sans"/>
              </a:rPr>
              <a:t>decimal_num</a:t>
            </a:r>
            <a:r>
              <a:rPr lang="en-IN" b="0" i="0" dirty="0">
                <a:effectLst/>
                <a:latin typeface="Google Sans"/>
              </a:rPr>
              <a:t>)[2:]) # Output: 1010</a:t>
            </a:r>
          </a:p>
          <a:p>
            <a:pPr marL="0" indent="0" algn="l">
              <a:buNone/>
            </a:pPr>
            <a:r>
              <a:rPr lang="en-IN" b="0" i="0" dirty="0">
                <a:effectLst/>
                <a:latin typeface="Google Sans"/>
              </a:rPr>
              <a:t>print(format(</a:t>
            </a:r>
            <a:r>
              <a:rPr lang="en-IN" b="0" i="0" dirty="0" err="1">
                <a:effectLst/>
                <a:latin typeface="Google Sans"/>
              </a:rPr>
              <a:t>decimal_num</a:t>
            </a:r>
            <a:r>
              <a:rPr lang="en-IN" b="0" i="0" dirty="0">
                <a:effectLst/>
                <a:latin typeface="Google Sans"/>
              </a:rPr>
              <a:t>, 'o')) # Output: 12</a:t>
            </a:r>
          </a:p>
          <a:p>
            <a:pPr marL="0" indent="0" algn="l">
              <a:buNone/>
            </a:pPr>
            <a:r>
              <a:rPr lang="en-IN" b="0" i="0" dirty="0">
                <a:effectLst/>
                <a:latin typeface="Google Sans"/>
              </a:rPr>
              <a:t>print(f'{</a:t>
            </a:r>
            <a:r>
              <a:rPr lang="en-IN" b="0" i="0" dirty="0" err="1">
                <a:effectLst/>
                <a:latin typeface="Google Sans"/>
              </a:rPr>
              <a:t>decimal_num:x</a:t>
            </a:r>
            <a:r>
              <a:rPr lang="en-IN" b="0" i="0" dirty="0">
                <a:effectLst/>
                <a:latin typeface="Google Sans"/>
              </a:rPr>
              <a:t>}') # Output: a</a:t>
            </a:r>
          </a:p>
          <a:p>
            <a:pPr algn="l"/>
            <a:endParaRPr lang="en-IN" b="0" i="0" dirty="0">
              <a:effectLst/>
              <a:latin typeface="Google Sans"/>
            </a:endParaRPr>
          </a:p>
          <a:p>
            <a:pPr algn="l"/>
            <a:r>
              <a:rPr lang="en-IN" dirty="0"/>
              <a:t>The int() function is versatile. When used with a single argument, it converts the argument (which can be a number or a string) into a decimal integer.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pPr algn="l"/>
            <a:r>
              <a:rPr lang="en-IN" dirty="0"/>
              <a:t>When used with two arguments, int(x, base), it converts a string representation x from the specified base (from 2 to 36) into a base-10 integer.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br>
              <a:rPr lang="en-IN" dirty="0">
                <a:effectLst/>
              </a:rPr>
            </a:br>
            <a:br>
              <a:rPr lang="en-IN" dirty="0">
                <a:effectLst/>
              </a:rPr>
            </a:b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571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C8A79-C177-8AA9-5B35-4046958D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9238D-5A03-CC0D-FA94-451EF7705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In Python, the complex data type is a built-in numeric type used to represent </a:t>
            </a:r>
            <a:r>
              <a:rPr lang="en-IN" b="1" dirty="0">
                <a:effectLst/>
              </a:rPr>
              <a:t>complex numbers</a:t>
            </a:r>
            <a:r>
              <a:rPr lang="en-IN" dirty="0"/>
              <a:t>, which have both a </a:t>
            </a:r>
            <a:r>
              <a:rPr lang="en-IN" b="1" dirty="0"/>
              <a:t>real</a:t>
            </a:r>
            <a:r>
              <a:rPr lang="en-IN" dirty="0"/>
              <a:t> and an </a:t>
            </a:r>
            <a:r>
              <a:rPr lang="en-IN" b="1" dirty="0"/>
              <a:t>imaginary</a:t>
            </a:r>
            <a:r>
              <a:rPr lang="en-IN" dirty="0"/>
              <a:t> part. They are primarily used in scientific and engineering applications.</a:t>
            </a:r>
            <a:r>
              <a:rPr lang="en-IN" b="0" i="0" dirty="0">
                <a:effectLst/>
                <a:latin typeface="Google Sans"/>
              </a:rPr>
              <a:t> </a:t>
            </a:r>
          </a:p>
          <a:p>
            <a:pPr algn="l"/>
            <a:r>
              <a:rPr lang="en-IN" b="1" i="0" dirty="0">
                <a:effectLst/>
                <a:latin typeface="Google Sans"/>
              </a:rPr>
              <a:t>Representation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A complex number in Python is written in the form of </a:t>
            </a:r>
            <a:r>
              <a:rPr lang="en-IN" b="1" i="1" dirty="0">
                <a:effectLst/>
                <a:latin typeface="Google Sans"/>
              </a:rPr>
              <a:t>a + </a:t>
            </a:r>
            <a:r>
              <a:rPr lang="en-IN" b="1" i="1" dirty="0" err="1">
                <a:effectLst/>
                <a:latin typeface="Google Sans"/>
              </a:rPr>
              <a:t>bj</a:t>
            </a:r>
            <a:r>
              <a:rPr lang="en-IN" b="0" i="0" dirty="0">
                <a:effectLst/>
                <a:latin typeface="Google Sans"/>
              </a:rPr>
              <a:t>, where: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a is the </a:t>
            </a:r>
            <a:r>
              <a:rPr lang="en-IN" b="1" i="0" dirty="0">
                <a:effectLst/>
                <a:latin typeface="Google Sans"/>
              </a:rPr>
              <a:t>real</a:t>
            </a:r>
            <a:r>
              <a:rPr lang="en-IN" b="0" i="0" dirty="0">
                <a:effectLst/>
                <a:latin typeface="Google Sans"/>
              </a:rPr>
              <a:t> part (a float).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b is the </a:t>
            </a:r>
            <a:r>
              <a:rPr lang="en-IN" b="1" i="0" dirty="0">
                <a:effectLst/>
                <a:latin typeface="Google Sans"/>
              </a:rPr>
              <a:t>imaginary</a:t>
            </a:r>
            <a:r>
              <a:rPr lang="en-IN" b="0" i="0" dirty="0">
                <a:effectLst/>
                <a:latin typeface="Google Sans"/>
              </a:rPr>
              <a:t> part (a float).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j (or J) is the imaginary unit, representing the square root of -1 (√-1).</a:t>
            </a:r>
          </a:p>
          <a:p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666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869A9-2A26-FB5A-6042-775B1A214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Creating Complex Number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23526-F993-B3B8-E059-C7766164A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IN" b="0" i="0" dirty="0">
                <a:effectLst/>
                <a:latin typeface="Google Sans"/>
              </a:rPr>
              <a:t>Complex numbers can be created using: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Literals:</a:t>
            </a:r>
            <a:r>
              <a:rPr lang="en-IN" b="0" i="0" dirty="0">
                <a:effectLst/>
                <a:latin typeface="Google Sans"/>
              </a:rPr>
              <a:t> Directly writing the number with the j suffix, such as 3 + 5j.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The complex() function:</a:t>
            </a:r>
            <a:endParaRPr lang="en-IN" b="0" i="0" dirty="0">
              <a:effectLst/>
              <a:latin typeface="Google Sans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complex(real, imaginary) returns a complex number with the specified parts.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complex(string) parses a string representation of a complex number (e.g., '1+1j').</a:t>
            </a:r>
          </a:p>
          <a:p>
            <a:pPr algn="l"/>
            <a:r>
              <a:rPr lang="en-IN" b="1" i="0" dirty="0">
                <a:effectLst/>
                <a:latin typeface="Google Sans"/>
              </a:rPr>
              <a:t>Key Features and Operations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Accessing parts:</a:t>
            </a:r>
            <a:r>
              <a:rPr lang="en-IN" b="0" i="0" dirty="0">
                <a:effectLst/>
                <a:latin typeface="Google Sans"/>
              </a:rPr>
              <a:t> You can access the real and imaginary components using the .real and .</a:t>
            </a:r>
            <a:r>
              <a:rPr lang="en-IN" b="0" i="0" dirty="0" err="1">
                <a:effectLst/>
                <a:latin typeface="Google Sans"/>
              </a:rPr>
              <a:t>imag</a:t>
            </a:r>
            <a:r>
              <a:rPr lang="en-IN" b="0" i="0" dirty="0">
                <a:effectLst/>
                <a:latin typeface="Google Sans"/>
              </a:rPr>
              <a:t> attributes.</a:t>
            </a:r>
          </a:p>
          <a:p>
            <a:r>
              <a:rPr lang="en-US" dirty="0"/>
              <a:t>z = 3 + 4j</a:t>
            </a:r>
          </a:p>
          <a:p>
            <a:r>
              <a:rPr lang="en-US" dirty="0"/>
              <a:t>print(</a:t>
            </a:r>
            <a:r>
              <a:rPr lang="en-US" dirty="0" err="1"/>
              <a:t>z.real</a:t>
            </a:r>
            <a:r>
              <a:rPr lang="en-US" dirty="0"/>
              <a:t>)  # Output: 3.0</a:t>
            </a:r>
          </a:p>
          <a:p>
            <a:r>
              <a:rPr lang="en-US" dirty="0"/>
              <a:t>print(</a:t>
            </a:r>
            <a:r>
              <a:rPr lang="en-US" dirty="0" err="1"/>
              <a:t>z.imag</a:t>
            </a:r>
            <a:r>
              <a:rPr lang="en-US" dirty="0"/>
              <a:t>)  # Output: 4.0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213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18F77-307D-C285-44B8-06AFAC8DE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7605A-755A-1D51-C22C-804E6429A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Arithmetic operations:</a:t>
            </a:r>
            <a:r>
              <a:rPr lang="en-IN" b="0" i="0" dirty="0">
                <a:effectLst/>
                <a:latin typeface="Google Sans"/>
              </a:rPr>
              <a:t> Standard arithmetic operations (+, -, *, /) are supported for complex numbers, as well as mixed arithmetic with integers and floats.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Conjugate:</a:t>
            </a:r>
            <a:r>
              <a:rPr lang="en-IN" b="0" i="0" dirty="0">
                <a:effectLst/>
                <a:latin typeface="Google Sans"/>
              </a:rPr>
              <a:t> The complex conjugate can be obtained </a:t>
            </a:r>
          </a:p>
          <a:p>
            <a:pPr marL="0" indent="0" algn="l">
              <a:buNone/>
            </a:pPr>
            <a:r>
              <a:rPr lang="en-IN" b="0" i="0" dirty="0">
                <a:effectLst/>
                <a:latin typeface="Google Sans"/>
              </a:rPr>
              <a:t>using the .conjugate() method.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Advanced functions:</a:t>
            </a:r>
            <a:r>
              <a:rPr lang="en-IN" b="0" i="0" dirty="0">
                <a:effectLst/>
                <a:latin typeface="Google Sans"/>
              </a:rPr>
              <a:t> For advanced mathematical </a:t>
            </a:r>
          </a:p>
          <a:p>
            <a:pPr marL="0" indent="0" algn="l">
              <a:buNone/>
            </a:pPr>
            <a:r>
              <a:rPr lang="en-IN" b="0" i="0" dirty="0">
                <a:effectLst/>
                <a:latin typeface="Google Sans"/>
              </a:rPr>
              <a:t>functions (e.g., phase, polar coordinates), Python </a:t>
            </a:r>
          </a:p>
          <a:p>
            <a:pPr marL="0" indent="0" algn="l">
              <a:buNone/>
            </a:pPr>
            <a:r>
              <a:rPr lang="en-IN" b="0" i="0" dirty="0">
                <a:effectLst/>
                <a:latin typeface="Google Sans"/>
              </a:rPr>
              <a:t>provides the built-in </a:t>
            </a:r>
            <a:r>
              <a:rPr lang="en-IN" b="0" i="0" dirty="0">
                <a:effectLst/>
                <a:latin typeface="Google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cmath module</a:t>
            </a:r>
            <a:r>
              <a:rPr lang="en-IN" b="0" i="0" dirty="0">
                <a:effectLst/>
                <a:latin typeface="Google Sans"/>
              </a:rPr>
              <a:t>. 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1AE43-4E1D-2356-07E6-F033840D7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463" y="3081867"/>
            <a:ext cx="3624537" cy="377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34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AB13F-FFC6-2D2F-E59A-F4C99D90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2450E-9609-37B5-119E-A42B580AB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325035-3FF8-6041-60E3-F3D814B81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0822"/>
            <a:ext cx="7772400" cy="625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19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018A4-197C-EF93-93BD-6CE2557E6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type() and id() built-in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83E2A-EECA-9B50-80C2-28E061AA5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In Python, every item of data is an </a:t>
            </a:r>
            <a:r>
              <a:rPr lang="en-IN" b="1" dirty="0"/>
              <a:t>object</a:t>
            </a:r>
            <a:r>
              <a:rPr lang="en-IN" dirty="0"/>
              <a:t> with a unique </a:t>
            </a:r>
            <a:r>
              <a:rPr lang="en-IN" b="1" dirty="0">
                <a:effectLst/>
              </a:rPr>
              <a:t>identity</a:t>
            </a:r>
            <a:r>
              <a:rPr lang="en-IN" dirty="0"/>
              <a:t> and a specific </a:t>
            </a:r>
            <a:r>
              <a:rPr lang="en-IN" b="1" dirty="0">
                <a:effectLst/>
              </a:rPr>
              <a:t>type</a:t>
            </a:r>
            <a:r>
              <a:rPr lang="en-IN" dirty="0"/>
              <a:t>.</a:t>
            </a:r>
            <a:r>
              <a:rPr lang="en-IN" b="0" i="0" dirty="0">
                <a:effectLst/>
                <a:latin typeface="Google Sans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The built-in </a:t>
            </a:r>
            <a:r>
              <a:rPr lang="en-IN" b="1" i="1" dirty="0">
                <a:effectLst/>
                <a:latin typeface="Google Sans"/>
              </a:rPr>
              <a:t>id()</a:t>
            </a:r>
            <a:r>
              <a:rPr lang="en-IN" b="0" i="0" dirty="0">
                <a:effectLst/>
                <a:latin typeface="Google Sans"/>
              </a:rPr>
              <a:t> function returns the object's unique integer identifier, which is constant throughout its lifetime in memory.</a:t>
            </a:r>
          </a:p>
          <a:p>
            <a:r>
              <a:rPr lang="en-IN" dirty="0">
                <a:effectLst/>
              </a:rPr>
              <a:t>The built-in </a:t>
            </a:r>
            <a:r>
              <a:rPr lang="en-IN" b="1" i="1" dirty="0">
                <a:effectLst/>
              </a:rPr>
              <a:t>type()</a:t>
            </a:r>
            <a:r>
              <a:rPr lang="en-IN" dirty="0">
                <a:effectLst/>
              </a:rPr>
              <a:t> function returns the class (type) of the object passed to it.</a:t>
            </a:r>
            <a:r>
              <a:rPr lang="en-IN" b="0" i="0" dirty="0">
                <a:effectLst/>
                <a:latin typeface="Google Sans"/>
              </a:rPr>
              <a:t> </a:t>
            </a:r>
          </a:p>
          <a:p>
            <a:r>
              <a:rPr lang="en-IN" dirty="0"/>
              <a:t>The id() function takes a single object as a parameter and returns its identity as an integer. In the </a:t>
            </a:r>
            <a:r>
              <a:rPr lang="en-IN" dirty="0" err="1"/>
              <a:t>CPython</a:t>
            </a:r>
            <a:r>
              <a:rPr lang="en-IN" dirty="0"/>
              <a:t> implementation, this number is the memory address of the object. The primary use of id() is to determine if two variables refer to the exact same object in memory.</a:t>
            </a:r>
            <a:r>
              <a:rPr lang="en-IN" b="0" i="0" dirty="0">
                <a:effectLst/>
                <a:latin typeface="Google Sans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Syntax:</a:t>
            </a:r>
            <a:r>
              <a:rPr lang="en-IN" b="0" i="0" dirty="0">
                <a:effectLst/>
                <a:latin typeface="Google Sans"/>
              </a:rPr>
              <a:t> id(object)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Return Value:</a:t>
            </a:r>
            <a:r>
              <a:rPr lang="en-IN" b="0" i="0" dirty="0">
                <a:effectLst/>
                <a:latin typeface="Google Sans"/>
              </a:rPr>
              <a:t> A unique and constant integer identifier for the object.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Use Case:</a:t>
            </a:r>
            <a:r>
              <a:rPr lang="en-IN" b="0" i="0" dirty="0">
                <a:effectLst/>
                <a:latin typeface="Google Sans"/>
              </a:rPr>
              <a:t> Often used for debugging and understanding Python's memory management, especially with mutable and immutable types. The </a:t>
            </a:r>
            <a:r>
              <a:rPr lang="en-IN" b="1" i="1" dirty="0">
                <a:effectLst/>
                <a:latin typeface="Google Sans"/>
              </a:rPr>
              <a:t>is</a:t>
            </a:r>
            <a:r>
              <a:rPr lang="en-IN" b="0" i="0" dirty="0">
                <a:effectLst/>
                <a:latin typeface="Google Sans"/>
              </a:rPr>
              <a:t> operator is a more common way to check if two objects have the same identity (x is y is equivalent to id(x) == id(y)).</a:t>
            </a:r>
          </a:p>
        </p:txBody>
      </p:sp>
    </p:spTree>
    <p:extLst>
      <p:ext uri="{BB962C8B-B14F-4D97-AF65-F5344CB8AC3E}">
        <p14:creationId xmlns:p14="http://schemas.microsoft.com/office/powerpoint/2010/main" val="3256071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55BDC-C447-C4EC-D602-CBAA4E3E2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F6650-FB23-9728-6C7E-1BD556FF8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B71400-CE91-91A1-1FC4-A5645350A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26" y="0"/>
            <a:ext cx="111057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89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FB2A1-1CE2-ED99-377F-BADBF212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9B47B-B0C5-A0FE-8028-B42D9B3A9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type() function has two distinct forms. The most common form takes a single object as a parameter and returns its type (class). </a:t>
            </a:r>
          </a:p>
          <a:p>
            <a:r>
              <a:rPr lang="en-US" dirty="0"/>
              <a:t>Syntax (Single Argument): </a:t>
            </a:r>
            <a:r>
              <a:rPr lang="en-US" b="1" dirty="0"/>
              <a:t>type(object)</a:t>
            </a:r>
          </a:p>
          <a:p>
            <a:r>
              <a:rPr lang="en-US" dirty="0"/>
              <a:t>Return Value (Single Argument): The class object of the given object (e.g., </a:t>
            </a:r>
            <a:r>
              <a:rPr lang="en-US" b="1" dirty="0"/>
              <a:t>&lt;class 'int'&gt;, &lt;class 'str'&gt;</a:t>
            </a:r>
            <a:r>
              <a:rPr lang="en-US" dirty="0"/>
              <a:t>).</a:t>
            </a:r>
          </a:p>
          <a:p>
            <a:r>
              <a:rPr lang="en-US" b="1" dirty="0"/>
              <a:t>Use Case</a:t>
            </a:r>
            <a:r>
              <a:rPr lang="en-US" dirty="0"/>
              <a:t>: Primarily used for dynamic type checking and debugging, or for type-based dispatch in functions.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54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84438-B51C-2B48-365E-60FFDB4B7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982A0-15D1-3BE2-42A0-3DC4F2B13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C4FE3E-1DE8-7DBC-A8E8-CBF5D4E4A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59561"/>
            <a:ext cx="7772400" cy="493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697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FB655-5B72-7E6B-9622-B14C5F747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0E8C7-9F0D-B1AD-26B4-C50EF9B3B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Python, a </a:t>
            </a:r>
            <a:r>
              <a:rPr lang="en-IN" b="1" dirty="0">
                <a:effectLst/>
              </a:rPr>
              <a:t>string (str) is an immutable sequence of Unicode characters</a:t>
            </a:r>
            <a:r>
              <a:rPr lang="en-IN" dirty="0"/>
              <a:t> used for handling text. Strings are a built-in data type and can be created using single quotes ('...'), double quotes ("..."), or triple quotes ("""...""" or '''...''') for multi-line strings.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r>
              <a:rPr lang="en-IN" dirty="0"/>
              <a:t>Python provides a rich set of built-in methods for efficient text manipulation and processing. String methods return </a:t>
            </a:r>
            <a:r>
              <a:rPr lang="en-IN" b="1" dirty="0">
                <a:effectLst/>
              </a:rPr>
              <a:t>new string objects</a:t>
            </a:r>
            <a:r>
              <a:rPr lang="en-IN" dirty="0"/>
              <a:t> and do not change the original string because strings in Python are immutable.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br>
              <a:rPr lang="en-IN" dirty="0">
                <a:effectLst/>
              </a:rPr>
            </a:br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46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A8E9-EEF1-EFC6-BAF8-181CBD87A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Key Concepts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1EB31-A557-9988-B253-D80C7324E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Immutability</a:t>
            </a:r>
            <a:r>
              <a:rPr lang="en-IN" b="0" i="0" dirty="0">
                <a:effectLst/>
                <a:latin typeface="Google Sans"/>
              </a:rPr>
              <a:t>: Once a string is created, its characters cannot be changed. Any operation that appears to modify a string, such as replacing a substring or changing its case, actually creates a </a:t>
            </a:r>
            <a:r>
              <a:rPr lang="en-IN" b="0" i="1" dirty="0">
                <a:effectLst/>
                <a:latin typeface="Google Sans"/>
              </a:rPr>
              <a:t>new</a:t>
            </a:r>
            <a:r>
              <a:rPr lang="en-IN" b="0" i="0" dirty="0">
                <a:effectLst/>
                <a:latin typeface="Google Sans"/>
              </a:rPr>
              <a:t> string.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Indexing</a:t>
            </a:r>
            <a:r>
              <a:rPr lang="en-IN" b="0" i="0" dirty="0">
                <a:effectLst/>
                <a:latin typeface="Google Sans"/>
              </a:rPr>
              <a:t>: Characters in a string can be accessed by their position (index), starting from 0 for the first character. Negative indexing is also supported, where ­1 refers to the last character.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Slicing</a:t>
            </a:r>
            <a:r>
              <a:rPr lang="en-IN" b="0" i="0" dirty="0">
                <a:effectLst/>
                <a:latin typeface="Google Sans"/>
              </a:rPr>
              <a:t>: You can extract a portion (substring) of a string using slice syntax: string[</a:t>
            </a:r>
            <a:r>
              <a:rPr lang="en-IN" b="0" i="0" dirty="0" err="1">
                <a:effectLst/>
                <a:latin typeface="Google Sans"/>
              </a:rPr>
              <a:t>start:end</a:t>
            </a:r>
            <a:r>
              <a:rPr lang="en-IN" b="0" i="0" dirty="0">
                <a:effectLst/>
                <a:latin typeface="Google Sans"/>
              </a:rPr>
              <a:t>] or string[</a:t>
            </a:r>
            <a:r>
              <a:rPr lang="en-IN" b="0" i="0" dirty="0" err="1">
                <a:effectLst/>
                <a:latin typeface="Google Sans"/>
              </a:rPr>
              <a:t>start:end:step</a:t>
            </a:r>
            <a:r>
              <a:rPr lang="en-IN" b="0" i="0" dirty="0">
                <a:effectLst/>
                <a:latin typeface="Google Sans"/>
              </a:rPr>
              <a:t>].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No Character Type</a:t>
            </a:r>
            <a:r>
              <a:rPr lang="en-IN" b="0" i="0" dirty="0">
                <a:effectLst/>
                <a:latin typeface="Google Sans"/>
              </a:rPr>
              <a:t>: Python does not have a separate character type; a single character is simply a string of length 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849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B15FC-6603-B822-AB24-863B4F09F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Common Operations and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6F720-F08E-4661-441B-6DDFAA8ED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Google Sans"/>
              </a:rPr>
              <a:t>Python provides many built-in functions and string methods for working with text.</a:t>
            </a:r>
          </a:p>
          <a:p>
            <a:r>
              <a:rPr lang="en-IN" b="1" i="0" dirty="0">
                <a:effectLst/>
                <a:latin typeface="Google Sans"/>
              </a:rPr>
              <a:t>Concatenation</a:t>
            </a:r>
            <a:r>
              <a:rPr lang="en-IN" b="0" i="0" dirty="0">
                <a:effectLst/>
                <a:latin typeface="Google Sans"/>
              </a:rPr>
              <a:t>: Join two or more strings using the </a:t>
            </a:r>
            <a:r>
              <a:rPr lang="en-IN" dirty="0"/>
              <a:t>+</a:t>
            </a:r>
            <a:r>
              <a:rPr lang="en-IN" b="0" i="0" dirty="0">
                <a:effectLst/>
                <a:latin typeface="Google Sans"/>
              </a:rPr>
              <a:t> operator.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A13E02-7083-66DF-BC88-0C29157BF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267" y="3323316"/>
            <a:ext cx="7772400" cy="353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082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13140-81FD-C253-4587-02F5A16B5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C6E56-CB41-2937-D7B2-3E988BD13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400" b="1" i="0" dirty="0">
                <a:effectLst/>
                <a:latin typeface="Google Sans"/>
              </a:rPr>
              <a:t>Repetition</a:t>
            </a:r>
            <a:r>
              <a:rPr lang="en-IN" sz="2400" b="0" i="0" dirty="0">
                <a:effectLst/>
                <a:latin typeface="Google Sans"/>
              </a:rPr>
              <a:t>: Repeat a string multiple times using the * operator.</a:t>
            </a:r>
          </a:p>
          <a:p>
            <a:r>
              <a:rPr lang="en-IN" sz="2400" dirty="0"/>
              <a:t>print(</a:t>
            </a:r>
            <a:r>
              <a:rPr lang="en-IN" sz="2400" dirty="0">
                <a:effectLst/>
              </a:rPr>
              <a:t>"la"</a:t>
            </a:r>
            <a:r>
              <a:rPr lang="en-IN" sz="2400" dirty="0"/>
              <a:t> * </a:t>
            </a:r>
            <a:r>
              <a:rPr lang="en-IN" sz="2400" dirty="0">
                <a:effectLst/>
              </a:rPr>
              <a:t>3</a:t>
            </a:r>
            <a:r>
              <a:rPr lang="en-IN" sz="2400" dirty="0"/>
              <a:t>) </a:t>
            </a:r>
            <a:r>
              <a:rPr lang="en-IN" sz="2400" i="1" dirty="0">
                <a:effectLst/>
              </a:rPr>
              <a:t># Output: "</a:t>
            </a:r>
            <a:r>
              <a:rPr lang="en-IN" sz="2400" i="1" dirty="0" err="1">
                <a:effectLst/>
              </a:rPr>
              <a:t>lalala</a:t>
            </a:r>
            <a:r>
              <a:rPr lang="en-IN" sz="2400" i="1" dirty="0">
                <a:effectLst/>
              </a:rPr>
              <a:t>”</a:t>
            </a:r>
          </a:p>
          <a:p>
            <a:r>
              <a:rPr lang="en-IN" sz="2400" b="1" i="0" dirty="0">
                <a:effectLst/>
                <a:latin typeface="Google Sans"/>
              </a:rPr>
              <a:t>Length</a:t>
            </a:r>
            <a:r>
              <a:rPr lang="en-IN" sz="2400" b="0" i="0" dirty="0">
                <a:effectLst/>
                <a:latin typeface="Google Sans"/>
              </a:rPr>
              <a:t>: Use the </a:t>
            </a:r>
            <a:r>
              <a:rPr lang="en-IN" sz="2400" b="0" i="0" dirty="0" err="1">
                <a:effectLst/>
                <a:latin typeface="Google Sans"/>
              </a:rPr>
              <a:t>len</a:t>
            </a:r>
            <a:r>
              <a:rPr lang="en-IN" sz="2400" b="0" i="0" dirty="0">
                <a:effectLst/>
                <a:latin typeface="Google Sans"/>
              </a:rPr>
              <a:t>() function to get the number of characters in a string.</a:t>
            </a:r>
          </a:p>
          <a:p>
            <a:r>
              <a:rPr lang="en-IN" sz="2400" b="0" i="0" dirty="0">
                <a:effectLst/>
                <a:latin typeface="Google Sans"/>
              </a:rPr>
              <a:t>s = "Python"</a:t>
            </a:r>
          </a:p>
          <a:p>
            <a:r>
              <a:rPr lang="en-IN" sz="2400" b="0" i="0" dirty="0">
                <a:effectLst/>
                <a:latin typeface="Google Sans"/>
              </a:rPr>
              <a:t>length = </a:t>
            </a:r>
            <a:r>
              <a:rPr lang="en-IN" sz="2400" b="0" i="0" dirty="0" err="1">
                <a:effectLst/>
                <a:latin typeface="Google Sans"/>
              </a:rPr>
              <a:t>len</a:t>
            </a:r>
            <a:r>
              <a:rPr lang="en-IN" sz="2400" b="0" i="0" dirty="0">
                <a:effectLst/>
                <a:latin typeface="Google Sans"/>
              </a:rPr>
              <a:t>(s)</a:t>
            </a:r>
          </a:p>
          <a:p>
            <a:r>
              <a:rPr lang="en-IN" sz="2400" b="0" i="0" dirty="0">
                <a:effectLst/>
                <a:latin typeface="Google Sans"/>
              </a:rPr>
              <a:t># length is 6</a:t>
            </a:r>
          </a:p>
          <a:p>
            <a:r>
              <a:rPr lang="en-IN" sz="2400" b="1" i="0" dirty="0">
                <a:effectLst/>
                <a:latin typeface="Google Sans"/>
              </a:rPr>
              <a:t>Formatting</a:t>
            </a:r>
            <a:r>
              <a:rPr lang="en-IN" sz="2400" b="0" i="0" dirty="0">
                <a:effectLst/>
                <a:latin typeface="Google Sans"/>
              </a:rPr>
              <a:t>: </a:t>
            </a:r>
            <a:r>
              <a:rPr lang="en-IN" sz="2400" b="0" i="0" dirty="0">
                <a:effectLst/>
                <a:latin typeface="Google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F-strings</a:t>
            </a:r>
            <a:r>
              <a:rPr lang="en-IN" sz="2400" b="0" i="0" dirty="0">
                <a:effectLst/>
                <a:latin typeface="Google Sans"/>
              </a:rPr>
              <a:t> (formatted string literals) are the recommended way to embed variables within strings.</a:t>
            </a:r>
          </a:p>
          <a:p>
            <a:r>
              <a:rPr lang="en-IN" sz="2400" b="0" i="0" dirty="0">
                <a:effectLst/>
                <a:latin typeface="Google Sans"/>
              </a:rPr>
              <a:t>name = "Jane"</a:t>
            </a:r>
          </a:p>
          <a:p>
            <a:r>
              <a:rPr lang="en-IN" sz="2400" b="0" i="0" dirty="0">
                <a:effectLst/>
                <a:latin typeface="Google Sans"/>
              </a:rPr>
              <a:t>age = 30</a:t>
            </a:r>
          </a:p>
          <a:p>
            <a:r>
              <a:rPr lang="en-IN" sz="2400" b="0" i="0" dirty="0">
                <a:effectLst/>
                <a:latin typeface="Google Sans"/>
              </a:rPr>
              <a:t>print(</a:t>
            </a:r>
            <a:r>
              <a:rPr lang="en-IN" sz="2400" b="0" i="0" dirty="0" err="1">
                <a:effectLst/>
                <a:latin typeface="Google Sans"/>
              </a:rPr>
              <a:t>f"My</a:t>
            </a:r>
            <a:r>
              <a:rPr lang="en-IN" sz="2400" b="0" i="0" dirty="0">
                <a:effectLst/>
                <a:latin typeface="Google Sans"/>
              </a:rPr>
              <a:t> name is {name} and I am {age} years old.")</a:t>
            </a:r>
          </a:p>
          <a:p>
            <a:r>
              <a:rPr lang="en-IN" sz="2400" b="0" i="0" dirty="0">
                <a:effectLst/>
                <a:latin typeface="Google Sans"/>
              </a:rPr>
              <a:t># Output: "My name is Jane and I am 30 years old."</a:t>
            </a:r>
          </a:p>
        </p:txBody>
      </p:sp>
    </p:spTree>
    <p:extLst>
      <p:ext uri="{BB962C8B-B14F-4D97-AF65-F5344CB8AC3E}">
        <p14:creationId xmlns:p14="http://schemas.microsoft.com/office/powerpoint/2010/main" val="133353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DBEC-F8FA-6DBF-C8DD-308B51E44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Case Modification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DFB7D-1A97-A7F0-FE52-F651554B6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lower()</a:t>
            </a:r>
            <a:r>
              <a:rPr lang="en-IN" b="0" i="0" dirty="0">
                <a:effectLst/>
                <a:latin typeface="Google Sans"/>
              </a:rPr>
              <a:t>: Converts all characters in the string to lowercase.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upper()</a:t>
            </a:r>
            <a:r>
              <a:rPr lang="en-IN" b="0" i="0" dirty="0">
                <a:effectLst/>
                <a:latin typeface="Google Sans"/>
              </a:rPr>
              <a:t>: Converts all characters in the string to uppercase.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capitalize()</a:t>
            </a:r>
            <a:r>
              <a:rPr lang="en-IN" b="0" i="0" dirty="0">
                <a:effectLst/>
                <a:latin typeface="Google Sans"/>
              </a:rPr>
              <a:t>: Converts the first character of the string to uppercase and the rest to lowercase.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title()</a:t>
            </a:r>
            <a:r>
              <a:rPr lang="en-IN" b="0" i="0" dirty="0">
                <a:effectLst/>
                <a:latin typeface="Google Sans"/>
              </a:rPr>
              <a:t>: Converts the first character of each word to uppercase.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Google Sans"/>
              </a:rPr>
              <a:t>swapcase</a:t>
            </a:r>
            <a:r>
              <a:rPr lang="en-IN" b="1" i="0" dirty="0">
                <a:effectLst/>
                <a:latin typeface="Google Sans"/>
              </a:rPr>
              <a:t>()</a:t>
            </a:r>
            <a:r>
              <a:rPr lang="en-IN" b="0" i="0" dirty="0">
                <a:effectLst/>
                <a:latin typeface="Google Sans"/>
              </a:rPr>
              <a:t>: Swaps the case of all characters (uppercase becomes lowercase and vice versa).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Google Sans"/>
              </a:rPr>
              <a:t>casefold</a:t>
            </a:r>
            <a:r>
              <a:rPr lang="en-IN" b="1" i="0" dirty="0">
                <a:effectLst/>
                <a:latin typeface="Google Sans"/>
              </a:rPr>
              <a:t>()</a:t>
            </a:r>
            <a:r>
              <a:rPr lang="en-IN" b="0" i="0" dirty="0">
                <a:effectLst/>
                <a:latin typeface="Google Sans"/>
              </a:rPr>
              <a:t>: Similar to lower(), but removes all case distinctions for caseless matching across different languages and alphabets.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327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F36DC-DD97-29B4-27EC-70BF28016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Searching and Finding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F0665-EB75-F3A2-DDA5-FC493CA57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find(sub)</a:t>
            </a:r>
            <a:r>
              <a:rPr lang="en-IN" b="0" i="0" dirty="0">
                <a:effectLst/>
                <a:latin typeface="Google Sans"/>
              </a:rPr>
              <a:t>: Returns the lowest index where the substring sub is found, or -1 if not found.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index(sub)</a:t>
            </a:r>
            <a:r>
              <a:rPr lang="en-IN" b="0" i="0" dirty="0">
                <a:effectLst/>
                <a:latin typeface="Google Sans"/>
              </a:rPr>
              <a:t>: Similar to find(), but raises a </a:t>
            </a:r>
            <a:r>
              <a:rPr lang="en-IN" b="0" i="0" dirty="0" err="1">
                <a:effectLst/>
                <a:latin typeface="Google Sans"/>
              </a:rPr>
              <a:t>ValueError</a:t>
            </a:r>
            <a:r>
              <a:rPr lang="en-IN" b="0" i="0" dirty="0">
                <a:effectLst/>
                <a:latin typeface="Google Sans"/>
              </a:rPr>
              <a:t> exception if the substring is not found.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count(sub)</a:t>
            </a:r>
            <a:r>
              <a:rPr lang="en-IN" b="0" i="0" dirty="0">
                <a:effectLst/>
                <a:latin typeface="Google Sans"/>
              </a:rPr>
              <a:t>: Returns the number of occurrences of the substring sub in the string.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Google Sans"/>
              </a:rPr>
              <a:t>startswith</a:t>
            </a:r>
            <a:r>
              <a:rPr lang="en-IN" b="1" i="0" dirty="0">
                <a:effectLst/>
                <a:latin typeface="Google Sans"/>
              </a:rPr>
              <a:t>(prefix)</a:t>
            </a:r>
            <a:r>
              <a:rPr lang="en-IN" b="0" i="0" dirty="0">
                <a:effectLst/>
                <a:latin typeface="Google Sans"/>
              </a:rPr>
              <a:t>: Checks if the string starts with the specified prefix, returning True or False.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Google Sans"/>
              </a:rPr>
              <a:t>endswith</a:t>
            </a:r>
            <a:r>
              <a:rPr lang="en-IN" b="1" i="0" dirty="0">
                <a:effectLst/>
                <a:latin typeface="Google Sans"/>
              </a:rPr>
              <a:t>(suffix)</a:t>
            </a:r>
            <a:r>
              <a:rPr lang="en-IN" b="0" i="0" dirty="0">
                <a:effectLst/>
                <a:latin typeface="Google Sans"/>
              </a:rPr>
              <a:t>: Checks if the string ends with the specified suffix, returning True or False.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799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0A5E6-EBC0-8606-FE59-14F06AD0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Trimming and Replacing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C4D91-9856-FEBE-A7E8-1C00CB822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strip(chars)</a:t>
            </a:r>
            <a:r>
              <a:rPr lang="en-IN" b="0" i="0" dirty="0">
                <a:effectLst/>
                <a:latin typeface="Google Sans"/>
              </a:rPr>
              <a:t>: Removes leading and trailing whitespace or a specified set of characters.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Google Sans"/>
              </a:rPr>
              <a:t>lstrip</a:t>
            </a:r>
            <a:r>
              <a:rPr lang="en-IN" b="1" i="0" dirty="0">
                <a:effectLst/>
                <a:latin typeface="Google Sans"/>
              </a:rPr>
              <a:t>(chars)</a:t>
            </a:r>
            <a:r>
              <a:rPr lang="en-IN" b="0" i="0" dirty="0">
                <a:effectLst/>
                <a:latin typeface="Google Sans"/>
              </a:rPr>
              <a:t>: Removes leading characters only.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Google Sans"/>
              </a:rPr>
              <a:t>rstrip</a:t>
            </a:r>
            <a:r>
              <a:rPr lang="en-IN" b="1" i="0" dirty="0">
                <a:effectLst/>
                <a:latin typeface="Google Sans"/>
              </a:rPr>
              <a:t>(chars)</a:t>
            </a:r>
            <a:r>
              <a:rPr lang="en-IN" b="0" i="0" dirty="0">
                <a:effectLst/>
                <a:latin typeface="Google Sans"/>
              </a:rPr>
              <a:t>: Removes trailing characters only.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replace(old, new)</a:t>
            </a:r>
            <a:r>
              <a:rPr lang="en-IN" b="0" i="0" dirty="0">
                <a:effectLst/>
                <a:latin typeface="Google Sans"/>
              </a:rPr>
              <a:t>: Replaces all occurrences of the substring old with new.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Google Sans"/>
              </a:rPr>
              <a:t>removeprefix</a:t>
            </a:r>
            <a:r>
              <a:rPr lang="en-IN" b="1" i="0" dirty="0">
                <a:effectLst/>
                <a:latin typeface="Google Sans"/>
              </a:rPr>
              <a:t>(prefix)</a:t>
            </a:r>
            <a:r>
              <a:rPr lang="en-IN" b="0" i="0" dirty="0">
                <a:effectLst/>
                <a:latin typeface="Google Sans"/>
              </a:rPr>
              <a:t>: Removes a specified prefix from the beginning of the string if it exists.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Google Sans"/>
              </a:rPr>
              <a:t>removesuffix</a:t>
            </a:r>
            <a:r>
              <a:rPr lang="en-IN" b="1" i="0" dirty="0">
                <a:effectLst/>
                <a:latin typeface="Google Sans"/>
              </a:rPr>
              <a:t>(suffix)</a:t>
            </a:r>
            <a:r>
              <a:rPr lang="en-IN" b="0" i="0" dirty="0">
                <a:effectLst/>
                <a:latin typeface="Google Sans"/>
              </a:rPr>
              <a:t>: Removes a specified suffix from the end of the string if it exists.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593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A97C6-250F-7B9E-BEDF-DD5AEE71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Splitting and Joining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A3548-D244-7138-78F8-2943DC288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split(</a:t>
            </a:r>
            <a:r>
              <a:rPr lang="en-IN" b="1" i="0" dirty="0" err="1">
                <a:effectLst/>
                <a:latin typeface="Google Sans"/>
              </a:rPr>
              <a:t>sep</a:t>
            </a:r>
            <a:r>
              <a:rPr lang="en-IN" b="1" i="0" dirty="0">
                <a:effectLst/>
                <a:latin typeface="Google Sans"/>
              </a:rPr>
              <a:t>)</a:t>
            </a:r>
            <a:r>
              <a:rPr lang="en-IN" b="0" i="0" dirty="0">
                <a:effectLst/>
                <a:latin typeface="Google Sans"/>
              </a:rPr>
              <a:t>: Splits the string into a list of substrings using a specified separator (</a:t>
            </a:r>
            <a:r>
              <a:rPr lang="en-IN" b="0" i="0" dirty="0" err="1">
                <a:effectLst/>
                <a:latin typeface="Google Sans"/>
              </a:rPr>
              <a:t>sep</a:t>
            </a:r>
            <a:r>
              <a:rPr lang="en-IN" b="0" i="0" dirty="0">
                <a:effectLst/>
                <a:latin typeface="Google Sans"/>
              </a:rPr>
              <a:t>); if no separator is given, it splits on all whitespace.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join(</a:t>
            </a:r>
            <a:r>
              <a:rPr lang="en-IN" b="1" i="0" dirty="0" err="1">
                <a:effectLst/>
                <a:latin typeface="Google Sans"/>
              </a:rPr>
              <a:t>iterable</a:t>
            </a:r>
            <a:r>
              <a:rPr lang="en-IN" b="1" i="0" dirty="0">
                <a:effectLst/>
                <a:latin typeface="Google Sans"/>
              </a:rPr>
              <a:t>)</a:t>
            </a:r>
            <a:r>
              <a:rPr lang="en-IN" b="0" i="0" dirty="0">
                <a:effectLst/>
                <a:latin typeface="Google Sans"/>
              </a:rPr>
              <a:t>: Concatenates elements of an </a:t>
            </a:r>
            <a:r>
              <a:rPr lang="en-IN" b="0" i="0" dirty="0" err="1">
                <a:effectLst/>
                <a:latin typeface="Google Sans"/>
              </a:rPr>
              <a:t>iterable</a:t>
            </a:r>
            <a:r>
              <a:rPr lang="en-IN" b="0" i="0" dirty="0">
                <a:effectLst/>
                <a:latin typeface="Google Sans"/>
              </a:rPr>
              <a:t> (e.g., a list of strings) into a single string using the string itself as the separator.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Google Sans"/>
              </a:rPr>
              <a:t>splitlines</a:t>
            </a:r>
            <a:r>
              <a:rPr lang="en-IN" b="1" i="0" dirty="0">
                <a:effectLst/>
                <a:latin typeface="Google Sans"/>
              </a:rPr>
              <a:t>()</a:t>
            </a:r>
            <a:r>
              <a:rPr lang="en-IN" b="0" i="0" dirty="0">
                <a:effectLst/>
                <a:latin typeface="Google Sans"/>
              </a:rPr>
              <a:t>: Splits the string at line breaks (\n, \r, etc.) and returns a list of lines.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390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1DE9D-20BF-99EE-91DD-01C39797B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Formatting and Validation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06169-6E59-CC3E-F6F2-B66B8A798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format()</a:t>
            </a:r>
            <a:r>
              <a:rPr lang="en-IN" b="0" i="0" dirty="0">
                <a:effectLst/>
                <a:latin typeface="Google Sans"/>
              </a:rPr>
              <a:t>: Formats values into a string using placeholders ({}).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Google Sans"/>
              </a:rPr>
              <a:t>isalnum</a:t>
            </a:r>
            <a:r>
              <a:rPr lang="en-IN" b="1" i="0" dirty="0">
                <a:effectLst/>
                <a:latin typeface="Google Sans"/>
              </a:rPr>
              <a:t>()</a:t>
            </a:r>
            <a:r>
              <a:rPr lang="en-IN" b="0" i="0" dirty="0">
                <a:effectLst/>
                <a:latin typeface="Google Sans"/>
              </a:rPr>
              <a:t>: Returns True if all characters are alphanumeric (letters or numbers).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Google Sans"/>
              </a:rPr>
              <a:t>isalpha</a:t>
            </a:r>
            <a:r>
              <a:rPr lang="en-IN" b="1" i="0" dirty="0">
                <a:effectLst/>
                <a:latin typeface="Google Sans"/>
              </a:rPr>
              <a:t>()</a:t>
            </a:r>
            <a:r>
              <a:rPr lang="en-IN" b="0" i="0" dirty="0">
                <a:effectLst/>
                <a:latin typeface="Google Sans"/>
              </a:rPr>
              <a:t>: Returns True if all characters are in the alphabet.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Google Sans"/>
              </a:rPr>
              <a:t>isdigit</a:t>
            </a:r>
            <a:r>
              <a:rPr lang="en-IN" b="1" i="0" dirty="0">
                <a:effectLst/>
                <a:latin typeface="Google Sans"/>
              </a:rPr>
              <a:t>()</a:t>
            </a:r>
            <a:r>
              <a:rPr lang="en-IN" b="0" i="0" dirty="0">
                <a:effectLst/>
                <a:latin typeface="Google Sans"/>
              </a:rPr>
              <a:t>: Returns True if all characters are digits.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Google Sans"/>
              </a:rPr>
              <a:t>isspace</a:t>
            </a:r>
            <a:r>
              <a:rPr lang="en-IN" b="1" i="0" dirty="0">
                <a:effectLst/>
                <a:latin typeface="Google Sans"/>
              </a:rPr>
              <a:t>()</a:t>
            </a:r>
            <a:r>
              <a:rPr lang="en-IN" b="0" i="0" dirty="0">
                <a:effectLst/>
                <a:latin typeface="Google Sans"/>
              </a:rPr>
              <a:t>: Returns True if the string contains only whitespace characters.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638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DB04-DABD-F315-1024-4F2811967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print() function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BC9CD-9978-A4B7-B935-572E3E0A6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print() function in Python is a built-in function used to </a:t>
            </a:r>
            <a:r>
              <a:rPr lang="en-IN" b="1" dirty="0">
                <a:effectLst/>
              </a:rPr>
              <a:t>display output</a:t>
            </a:r>
            <a:r>
              <a:rPr lang="en-IN" dirty="0"/>
              <a:t> to the console (standard output device). It can take one or more objects as arguments, converts them to strings, and displays them.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br>
              <a:rPr lang="en-IN" dirty="0">
                <a:effectLst/>
              </a:rPr>
            </a:br>
            <a:endParaRPr lang="en-IN" dirty="0">
              <a:effectLst/>
            </a:endParaRPr>
          </a:p>
          <a:p>
            <a:r>
              <a:rPr lang="en-US" b="1" i="1" dirty="0"/>
              <a:t>print(*objects, </a:t>
            </a:r>
            <a:r>
              <a:rPr lang="en-US" b="1" i="1" dirty="0" err="1"/>
              <a:t>sep</a:t>
            </a:r>
            <a:r>
              <a:rPr lang="en-US" b="1" i="1" dirty="0"/>
              <a:t>=' ', end='\n', file=</a:t>
            </a:r>
            <a:r>
              <a:rPr lang="en-US" b="1" i="1" dirty="0" err="1"/>
              <a:t>sys.stdout</a:t>
            </a:r>
            <a:r>
              <a:rPr lang="en-US" b="1" i="1" dirty="0"/>
              <a:t>, flush=False)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688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4225-EA8C-C344-EE54-23189AC53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 of print()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AEF8E-6309-245D-46C3-B4A15DA06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print() function accepts the following parameters:</a:t>
            </a:r>
          </a:p>
          <a:p>
            <a:r>
              <a:rPr lang="en-US" b="1" dirty="0"/>
              <a:t>*objects</a:t>
            </a:r>
            <a:r>
              <a:rPr lang="en-US" dirty="0"/>
              <a:t>: The values to be printed. It can accept any number of objects of any data type (strings, numbers, lists, etc.), which are converted to strings before printing.</a:t>
            </a:r>
          </a:p>
          <a:p>
            <a:r>
              <a:rPr lang="en-US" b="1" dirty="0" err="1"/>
              <a:t>sep</a:t>
            </a:r>
            <a:r>
              <a:rPr lang="en-US" dirty="0"/>
              <a:t>='separator' (Optional): Specifies the separator between multiple objects if more than one is provided. The default is a single space (' ').</a:t>
            </a:r>
          </a:p>
          <a:p>
            <a:r>
              <a:rPr lang="en-US" b="1" dirty="0"/>
              <a:t>end</a:t>
            </a:r>
            <a:r>
              <a:rPr lang="en-US" dirty="0"/>
              <a:t>='end' (Optional): Specifies what to print at the end of the output. The default is a newline character ('\n'), which causes the next print statement to start on a new line.</a:t>
            </a:r>
          </a:p>
          <a:p>
            <a:r>
              <a:rPr lang="en-US" b="1" dirty="0"/>
              <a:t>file (Optional)</a:t>
            </a:r>
            <a:r>
              <a:rPr lang="en-US" dirty="0"/>
              <a:t>: An object with a write method, specifying where the output should be sent (e.g., a file). The default is </a:t>
            </a:r>
            <a:r>
              <a:rPr lang="en-US" b="1" dirty="0" err="1"/>
              <a:t>sys.stdout</a:t>
            </a:r>
            <a:r>
              <a:rPr lang="en-US" dirty="0"/>
              <a:t> (the screen/console).</a:t>
            </a:r>
          </a:p>
          <a:p>
            <a:r>
              <a:rPr lang="en-US" b="1" dirty="0"/>
              <a:t>flush (Optional)</a:t>
            </a:r>
            <a:r>
              <a:rPr lang="en-US" dirty="0"/>
              <a:t>: A </a:t>
            </a:r>
            <a:r>
              <a:rPr lang="en-US" dirty="0" err="1"/>
              <a:t>boolean</a:t>
            </a:r>
            <a:r>
              <a:rPr lang="en-US" dirty="0"/>
              <a:t> value. If True, the output is forced to appear immediately; otherwise, it is buffered (delayed) by default. The default is False. </a:t>
            </a:r>
          </a:p>
        </p:txBody>
      </p:sp>
    </p:spTree>
    <p:extLst>
      <p:ext uri="{BB962C8B-B14F-4D97-AF65-F5344CB8AC3E}">
        <p14:creationId xmlns:p14="http://schemas.microsoft.com/office/powerpoint/2010/main" val="748246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71A1-1055-505F-6CB1-A9114D9D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print()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78768-E17A-6118-A0B5-869D1EFDB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i="0" dirty="0">
                <a:effectLst/>
                <a:latin typeface="Google Sans"/>
              </a:rPr>
              <a:t>Basic usage</a:t>
            </a:r>
            <a:r>
              <a:rPr lang="en-IN" b="0" i="0" dirty="0">
                <a:effectLst/>
                <a:latin typeface="Google Sans"/>
              </a:rPr>
              <a:t>: Printing a simple message.</a:t>
            </a:r>
          </a:p>
          <a:p>
            <a:r>
              <a:rPr lang="en-US" dirty="0"/>
              <a:t>print("Hello, World!")</a:t>
            </a:r>
          </a:p>
          <a:p>
            <a:r>
              <a:rPr lang="en-US" dirty="0"/>
              <a:t># Output: Hello, World!</a:t>
            </a:r>
          </a:p>
          <a:p>
            <a:endParaRPr lang="en-IN" dirty="0">
              <a:latin typeface="Google Sans"/>
            </a:endParaRPr>
          </a:p>
          <a:p>
            <a:r>
              <a:rPr lang="en-IN" b="1" i="0" dirty="0">
                <a:effectLst/>
                <a:latin typeface="Google Sans"/>
              </a:rPr>
              <a:t>Printing variables and multiple items</a:t>
            </a:r>
            <a:r>
              <a:rPr lang="en-IN" b="0" i="0" dirty="0">
                <a:effectLst/>
                <a:latin typeface="Google Sans"/>
              </a:rPr>
              <a:t>: Items separated by commas are automatically spaced.</a:t>
            </a:r>
          </a:p>
          <a:p>
            <a:r>
              <a:rPr lang="en-IN" b="0" i="0" dirty="0">
                <a:effectLst/>
                <a:latin typeface="Google Sans"/>
              </a:rPr>
              <a:t>name = "Alice"</a:t>
            </a:r>
          </a:p>
          <a:p>
            <a:r>
              <a:rPr lang="en-IN" b="0" i="0" dirty="0">
                <a:effectLst/>
                <a:latin typeface="Google Sans"/>
              </a:rPr>
              <a:t>age = 25</a:t>
            </a:r>
          </a:p>
          <a:p>
            <a:r>
              <a:rPr lang="en-IN" b="0" i="0" dirty="0">
                <a:effectLst/>
                <a:latin typeface="Google Sans"/>
              </a:rPr>
              <a:t>print("Hello, my name is", name, "and I am", age, "years old.")</a:t>
            </a:r>
          </a:p>
          <a:p>
            <a:r>
              <a:rPr lang="en-IN" b="0" i="0" dirty="0">
                <a:effectLst/>
                <a:latin typeface="Google Sans"/>
              </a:rPr>
              <a:t># Output: Hello, my name is Alice and I am 25 years old.</a:t>
            </a:r>
          </a:p>
          <a:p>
            <a:endParaRPr lang="en-IN" b="0" i="0" dirty="0">
              <a:effectLst/>
              <a:latin typeface="Google Sans"/>
            </a:endParaRPr>
          </a:p>
          <a:p>
            <a:r>
              <a:rPr lang="en-IN" b="1" i="0" dirty="0">
                <a:effectLst/>
                <a:latin typeface="Google Sans"/>
              </a:rPr>
              <a:t>Using </a:t>
            </a:r>
            <a:r>
              <a:rPr lang="en-IN" b="1" i="0" dirty="0" err="1">
                <a:effectLst/>
                <a:latin typeface="Google Sans"/>
              </a:rPr>
              <a:t>sep</a:t>
            </a:r>
            <a:r>
              <a:rPr lang="en-IN" b="1" i="0" dirty="0">
                <a:effectLst/>
                <a:latin typeface="Google Sans"/>
              </a:rPr>
              <a:t> parameter</a:t>
            </a:r>
            <a:r>
              <a:rPr lang="en-IN" b="0" i="0" dirty="0">
                <a:effectLst/>
                <a:latin typeface="Google Sans"/>
              </a:rPr>
              <a:t>: Changing the separator between items.</a:t>
            </a:r>
            <a:endParaRPr lang="en-IN" dirty="0">
              <a:latin typeface="Google Sans"/>
            </a:endParaRPr>
          </a:p>
          <a:p>
            <a:r>
              <a:rPr lang="en-IN" b="0" i="0" dirty="0">
                <a:effectLst/>
                <a:latin typeface="Google Sans"/>
              </a:rPr>
              <a:t>print("Python", "is", "fun", </a:t>
            </a:r>
            <a:r>
              <a:rPr lang="en-IN" b="0" i="0" dirty="0" err="1">
                <a:effectLst/>
                <a:latin typeface="Google Sans"/>
              </a:rPr>
              <a:t>sep</a:t>
            </a:r>
            <a:r>
              <a:rPr lang="en-IN" b="0" i="0" dirty="0">
                <a:effectLst/>
                <a:latin typeface="Google Sans"/>
              </a:rPr>
              <a:t>="-")</a:t>
            </a:r>
          </a:p>
          <a:p>
            <a:r>
              <a:rPr lang="en-IN" b="0" i="0" dirty="0">
                <a:effectLst/>
                <a:latin typeface="Google Sans"/>
              </a:rPr>
              <a:t># Output: Python-is-fun</a:t>
            </a: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9450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0F23C-1068-A598-ADC0-21583A641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AE61-FE21-3ECB-6D16-78C5361BB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print()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BD729-0EDC-0E90-6225-1295B9166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400" b="1" i="0" dirty="0">
                <a:effectLst/>
                <a:latin typeface="Google Sans"/>
              </a:rPr>
              <a:t>Using end parameter</a:t>
            </a:r>
            <a:r>
              <a:rPr lang="en-IN" sz="1400" b="0" i="0" dirty="0">
                <a:effectLst/>
                <a:latin typeface="Google Sans"/>
              </a:rPr>
              <a:t>: Preventing a newline at the end of the line.</a:t>
            </a:r>
          </a:p>
          <a:p>
            <a:r>
              <a:rPr lang="en-IN" sz="1400" b="0" i="0" dirty="0">
                <a:effectLst/>
                <a:latin typeface="Google Sans"/>
              </a:rPr>
              <a:t>print("This is on one line...", end="")</a:t>
            </a:r>
          </a:p>
          <a:p>
            <a:r>
              <a:rPr lang="en-IN" sz="1400" b="0" i="0" dirty="0">
                <a:effectLst/>
                <a:latin typeface="Google Sans"/>
              </a:rPr>
              <a:t>print(" and this is on the same line.")</a:t>
            </a:r>
          </a:p>
          <a:p>
            <a:r>
              <a:rPr lang="en-IN" sz="1400" b="0" i="0" dirty="0">
                <a:effectLst/>
                <a:latin typeface="Google Sans"/>
              </a:rPr>
              <a:t># Output: This is on one line... and this is on the same line.</a:t>
            </a:r>
          </a:p>
          <a:p>
            <a:endParaRPr lang="en-IN" sz="1400" dirty="0">
              <a:latin typeface="Google Sans"/>
            </a:endParaRPr>
          </a:p>
          <a:p>
            <a:r>
              <a:rPr lang="en-IN" sz="1400" b="1" i="0" dirty="0">
                <a:effectLst/>
                <a:latin typeface="Google Sans"/>
              </a:rPr>
              <a:t>Printing to a file</a:t>
            </a:r>
            <a:r>
              <a:rPr lang="en-IN" sz="1400" b="0" i="0" dirty="0">
                <a:effectLst/>
                <a:latin typeface="Google Sans"/>
              </a:rPr>
              <a:t>: Redirecting the output to a text file.</a:t>
            </a:r>
          </a:p>
          <a:p>
            <a:r>
              <a:rPr lang="en-IN" sz="1400" b="0" i="0" dirty="0">
                <a:effectLst/>
                <a:latin typeface="Google Sans"/>
              </a:rPr>
              <a:t>with open("</a:t>
            </a:r>
            <a:r>
              <a:rPr lang="en-IN" sz="1400" b="0" i="0" dirty="0" err="1">
                <a:effectLst/>
                <a:latin typeface="Google Sans"/>
              </a:rPr>
              <a:t>output.txt</a:t>
            </a:r>
            <a:r>
              <a:rPr lang="en-IN" sz="1400" b="0" i="0" dirty="0">
                <a:effectLst/>
                <a:latin typeface="Google Sans"/>
              </a:rPr>
              <a:t>", "w") as f:</a:t>
            </a:r>
          </a:p>
          <a:p>
            <a:r>
              <a:rPr lang="en-IN" sz="1400" b="0" i="0" dirty="0">
                <a:effectLst/>
                <a:latin typeface="Google Sans"/>
              </a:rPr>
              <a:t>    print("Welcome to </a:t>
            </a:r>
            <a:r>
              <a:rPr lang="en-IN" sz="1400" b="0" i="0" dirty="0" err="1">
                <a:effectLst/>
                <a:latin typeface="Google Sans"/>
              </a:rPr>
              <a:t>WsCube</a:t>
            </a:r>
            <a:r>
              <a:rPr lang="en-IN" sz="1400" b="0" i="0" dirty="0">
                <a:effectLst/>
                <a:latin typeface="Google Sans"/>
              </a:rPr>
              <a:t> Tech!", file=f)</a:t>
            </a:r>
          </a:p>
          <a:p>
            <a:r>
              <a:rPr lang="en-IN" sz="1400" b="0" i="0" dirty="0">
                <a:effectLst/>
                <a:latin typeface="Google Sans"/>
              </a:rPr>
              <a:t># The text "Welcome to </a:t>
            </a:r>
            <a:r>
              <a:rPr lang="en-IN" sz="1400" b="0" i="0" dirty="0" err="1">
                <a:effectLst/>
                <a:latin typeface="Google Sans"/>
              </a:rPr>
              <a:t>WsCube</a:t>
            </a:r>
            <a:r>
              <a:rPr lang="en-IN" sz="1400" b="0" i="0" dirty="0">
                <a:effectLst/>
                <a:latin typeface="Google Sans"/>
              </a:rPr>
              <a:t> Tech!" is written to </a:t>
            </a:r>
            <a:r>
              <a:rPr lang="en-IN" sz="1400" b="0" i="0" dirty="0" err="1">
                <a:effectLst/>
                <a:latin typeface="Google Sans"/>
              </a:rPr>
              <a:t>output.txt</a:t>
            </a:r>
            <a:endParaRPr lang="en-IN" sz="1400" b="0" i="0" dirty="0">
              <a:effectLst/>
              <a:latin typeface="Google Sans"/>
            </a:endParaRPr>
          </a:p>
          <a:p>
            <a:endParaRPr lang="en-IN" sz="1400" b="0" i="0" dirty="0">
              <a:effectLst/>
              <a:latin typeface="Google Sans"/>
            </a:endParaRPr>
          </a:p>
          <a:p>
            <a:r>
              <a:rPr lang="en-IN" sz="1400" b="1" i="0" dirty="0">
                <a:effectLst/>
                <a:latin typeface="Google Sans"/>
              </a:rPr>
              <a:t>Using f-strings for formatting</a:t>
            </a:r>
            <a:r>
              <a:rPr lang="en-IN" sz="1400" b="0" i="0" dirty="0">
                <a:effectLst/>
                <a:latin typeface="Google Sans"/>
              </a:rPr>
              <a:t>: A modern and preferred way to embed expressions within strings.</a:t>
            </a:r>
          </a:p>
          <a:p>
            <a:r>
              <a:rPr lang="en-IN" sz="1400" b="0" i="0" dirty="0" err="1">
                <a:effectLst/>
                <a:latin typeface="Google Sans"/>
              </a:rPr>
              <a:t>OrgName</a:t>
            </a:r>
            <a:r>
              <a:rPr lang="en-IN" sz="1400" b="0" i="0" dirty="0">
                <a:effectLst/>
                <a:latin typeface="Google Sans"/>
              </a:rPr>
              <a:t> = "Tutorials Point"</a:t>
            </a:r>
          </a:p>
          <a:p>
            <a:r>
              <a:rPr lang="en-IN" sz="1400" b="0" i="0" dirty="0">
                <a:effectLst/>
                <a:latin typeface="Google Sans"/>
              </a:rPr>
              <a:t>location = "India"</a:t>
            </a:r>
          </a:p>
          <a:p>
            <a:r>
              <a:rPr lang="en-IN" sz="1400" b="0" i="0" dirty="0">
                <a:effectLst/>
                <a:latin typeface="Google Sans"/>
              </a:rPr>
              <a:t>print(f"{</a:t>
            </a:r>
            <a:r>
              <a:rPr lang="en-IN" sz="1400" b="0" i="0" dirty="0" err="1">
                <a:effectLst/>
                <a:latin typeface="Google Sans"/>
              </a:rPr>
              <a:t>OrgName</a:t>
            </a:r>
            <a:r>
              <a:rPr lang="en-IN" sz="1400" b="0" i="0" dirty="0">
                <a:effectLst/>
                <a:latin typeface="Google Sans"/>
              </a:rPr>
              <a:t>} is located in {location}.")</a:t>
            </a:r>
          </a:p>
          <a:p>
            <a:r>
              <a:rPr lang="en-IN" sz="1400" b="0" i="0" dirty="0">
                <a:effectLst/>
                <a:latin typeface="Google Sans"/>
              </a:rPr>
              <a:t># Output: Tutorials Point is located in India.</a:t>
            </a:r>
          </a:p>
        </p:txBody>
      </p:sp>
    </p:spTree>
    <p:extLst>
      <p:ext uri="{BB962C8B-B14F-4D97-AF65-F5344CB8AC3E}">
        <p14:creationId xmlns:p14="http://schemas.microsoft.com/office/powerpoint/2010/main" val="1648629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873FA-1F41-1A09-FF13-7902C9521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input() function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B7D2D-A3E7-1537-0DD0-53F457F3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The input() function in Python is a built-in method used to get data from a user via the keyboard during program execution. </a:t>
            </a:r>
          </a:p>
          <a:p>
            <a:r>
              <a:rPr lang="en-IN" dirty="0"/>
              <a:t>The program pauses until the user types something and presses the </a:t>
            </a:r>
            <a:r>
              <a:rPr lang="en-IN" b="1" dirty="0">
                <a:effectLst/>
              </a:rPr>
              <a:t>Enter</a:t>
            </a:r>
            <a:r>
              <a:rPr lang="en-IN" dirty="0"/>
              <a:t> key. </a:t>
            </a:r>
          </a:p>
          <a:p>
            <a:r>
              <a:rPr lang="en-IN" dirty="0"/>
              <a:t>The function then reads the line of input and </a:t>
            </a:r>
            <a:r>
              <a:rPr lang="en-IN" b="1" dirty="0">
                <a:effectLst/>
              </a:rPr>
              <a:t>always returns it as a string</a:t>
            </a:r>
            <a:r>
              <a:rPr lang="en-IN" dirty="0"/>
              <a:t>.</a:t>
            </a:r>
            <a:r>
              <a:rPr lang="en-IN" b="0" i="0" dirty="0">
                <a:effectLst/>
                <a:latin typeface="Google Sans"/>
              </a:rPr>
              <a:t> </a:t>
            </a:r>
          </a:p>
          <a:p>
            <a:r>
              <a:rPr lang="en-IN" dirty="0">
                <a:effectLst/>
              </a:rPr>
              <a:t>Syntax: </a:t>
            </a:r>
            <a:r>
              <a:rPr lang="en-IN" dirty="0" err="1">
                <a:effectLst/>
              </a:rPr>
              <a:t>variable_name</a:t>
            </a:r>
            <a:r>
              <a:rPr lang="en-IN" dirty="0">
                <a:effectLst/>
              </a:rPr>
              <a:t> = input("Optional prompt message")</a:t>
            </a:r>
          </a:p>
          <a:p>
            <a:endParaRPr lang="en-IN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"Optional prompt message" is a string displayed to the user to guide them on what input is expected.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The entered value is stored in </a:t>
            </a:r>
            <a:r>
              <a:rPr lang="en-IN" b="0" i="0" dirty="0" err="1">
                <a:effectLst/>
                <a:latin typeface="Google Sans"/>
              </a:rPr>
              <a:t>variable_name</a:t>
            </a:r>
            <a:r>
              <a:rPr lang="en-IN" b="0" i="0" dirty="0">
                <a:effectLst/>
                <a:latin typeface="Google Sans"/>
              </a:rPr>
              <a:t> as a string.</a:t>
            </a:r>
            <a:endParaRPr lang="en-US" b="0" i="0" dirty="0"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b="0" i="0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5418043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FF824-3123-7C16-FC05-75C7852C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Key Features and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74B85-BF2D-1BCC-C029-7B64B9D09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1" i="0" dirty="0">
                <a:effectLst/>
                <a:latin typeface="Google Sans"/>
              </a:rPr>
              <a:t>1. Basic Input: </a:t>
            </a:r>
            <a:r>
              <a:rPr lang="en-IN" b="0" i="0" dirty="0">
                <a:effectLst/>
                <a:latin typeface="Google Sans"/>
              </a:rPr>
              <a:t>The simplest use case is capturing a single string value. </a:t>
            </a:r>
          </a:p>
          <a:p>
            <a:r>
              <a:rPr lang="en-US" dirty="0"/>
              <a:t>name = input("Enter your name: ")</a:t>
            </a:r>
          </a:p>
          <a:p>
            <a:r>
              <a:rPr lang="en-US" dirty="0"/>
              <a:t>print("Hello, " + name + "!")</a:t>
            </a:r>
          </a:p>
          <a:p>
            <a:endParaRPr lang="en-US" dirty="0"/>
          </a:p>
          <a:p>
            <a:pPr algn="l"/>
            <a:r>
              <a:rPr lang="en-IN" b="0" i="0" dirty="0">
                <a:effectLst/>
                <a:latin typeface="Google Sans"/>
              </a:rPr>
              <a:t>If the user enters ”Amity", the output will be:</a:t>
            </a:r>
          </a:p>
          <a:p>
            <a:pPr algn="l" rtl="0"/>
            <a:r>
              <a:rPr lang="en-IN" dirty="0"/>
              <a:t>Enter your name: </a:t>
            </a:r>
            <a:r>
              <a:rPr lang="en-IN" b="0" i="0" dirty="0">
                <a:effectLst/>
                <a:latin typeface="Google Sans"/>
              </a:rPr>
              <a:t>Amity</a:t>
            </a:r>
            <a:r>
              <a:rPr lang="en-IN" dirty="0"/>
              <a:t> </a:t>
            </a:r>
          </a:p>
          <a:p>
            <a:pPr algn="l" rtl="0"/>
            <a:r>
              <a:rPr lang="en-IN" dirty="0"/>
              <a:t>Hello, </a:t>
            </a:r>
            <a:r>
              <a:rPr lang="en-IN" b="0" i="0" dirty="0">
                <a:effectLst/>
                <a:latin typeface="Google Sans"/>
              </a:rPr>
              <a:t>Amity</a:t>
            </a:r>
            <a:r>
              <a:rPr lang="en-IN" dirty="0"/>
              <a:t>!</a:t>
            </a: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6564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360B7-66B2-EBF2-4D25-7DE32BEF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39EB8-6FA6-43AA-084B-CA822AFE5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2. Taking Numeric Input (Type Conversion)</a:t>
            </a:r>
          </a:p>
          <a:p>
            <a:r>
              <a:rPr lang="en-US" dirty="0"/>
              <a:t>Since input() always returns a string, you must use type casting functions like int() or float() to perform mathematical operations. </a:t>
            </a:r>
          </a:p>
          <a:p>
            <a:r>
              <a:rPr lang="en-US" dirty="0"/>
              <a:t>Integer input:</a:t>
            </a:r>
          </a:p>
          <a:p>
            <a:r>
              <a:rPr lang="en-US" dirty="0"/>
              <a:t>age = int(input("Enter your age: "))</a:t>
            </a:r>
          </a:p>
          <a:p>
            <a:r>
              <a:rPr lang="en-US" dirty="0"/>
              <a:t>print("Next year, you will be", age + 1, "years old.")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If the user enters "25", the output will be:</a:t>
            </a:r>
          </a:p>
          <a:p>
            <a:pPr algn="l" rtl="0"/>
            <a:r>
              <a:rPr lang="en-IN" dirty="0"/>
              <a:t>Enter your age: 25 </a:t>
            </a:r>
          </a:p>
          <a:p>
            <a:pPr algn="l" rtl="0"/>
            <a:r>
              <a:rPr lang="en-IN" dirty="0"/>
              <a:t>Next year, you will be 26 years old.</a:t>
            </a: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5325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F6A85-6CED-945B-3859-4DA3485A9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D8DDA-979D-B9BE-A6C9-0E52AA123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en-IN" b="1" i="0" dirty="0">
                <a:effectLst/>
                <a:latin typeface="Google Sans"/>
              </a:rPr>
              <a:t>Float input:</a:t>
            </a:r>
            <a:endParaRPr lang="en-IN" b="0" i="0" dirty="0">
              <a:effectLst/>
              <a:latin typeface="Google Sans"/>
            </a:endParaRPr>
          </a:p>
          <a:p>
            <a:pPr algn="l"/>
            <a:r>
              <a:rPr lang="en-IN" b="0" i="0" dirty="0">
                <a:effectLst/>
                <a:latin typeface="Google Sans"/>
              </a:rPr>
              <a:t>price = float(input("Enter the price: "))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print("Total price with tax:", price * 1.18)</a:t>
            </a:r>
          </a:p>
          <a:p>
            <a:pPr algn="l"/>
            <a:endParaRPr lang="en-IN" b="0" i="0" dirty="0">
              <a:effectLst/>
              <a:latin typeface="Google Sans"/>
            </a:endParaRPr>
          </a:p>
          <a:p>
            <a:pPr algn="l"/>
            <a:r>
              <a:rPr lang="en-IN" b="1" i="0" dirty="0">
                <a:effectLst/>
                <a:latin typeface="Google Sans"/>
              </a:rPr>
              <a:t>3. Taking Multiple Inputs in One Line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You can accept multiple values separated by a delimiter (like a space or comma) in a single line using the split() method.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x, y = input("Enter two numbers separated by a space: ").split()</a:t>
            </a:r>
          </a:p>
          <a:p>
            <a:pPr algn="l"/>
            <a:r>
              <a:rPr lang="en-IN" b="0" i="0" dirty="0" err="1">
                <a:effectLst/>
                <a:latin typeface="Google Sans"/>
              </a:rPr>
              <a:t>sum_of_numbers</a:t>
            </a:r>
            <a:r>
              <a:rPr lang="en-IN" b="0" i="0" dirty="0">
                <a:effectLst/>
                <a:latin typeface="Google Sans"/>
              </a:rPr>
              <a:t> = int(x) + int(y)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print("The sum is:", </a:t>
            </a:r>
            <a:r>
              <a:rPr lang="en-IN" b="0" i="0" dirty="0" err="1">
                <a:effectLst/>
                <a:latin typeface="Google Sans"/>
              </a:rPr>
              <a:t>sum_of_numbers</a:t>
            </a:r>
            <a:r>
              <a:rPr lang="en-IN" b="0" i="0" dirty="0">
                <a:effectLst/>
                <a:latin typeface="Google Sans"/>
              </a:rPr>
              <a:t>)</a:t>
            </a:r>
          </a:p>
          <a:p>
            <a:pPr algn="l"/>
            <a:endParaRPr lang="en-IN" b="0" i="0" dirty="0">
              <a:effectLst/>
              <a:latin typeface="Google Sans"/>
            </a:endParaRPr>
          </a:p>
          <a:p>
            <a:pPr algn="l"/>
            <a:r>
              <a:rPr lang="en-IN" b="0" i="0" dirty="0">
                <a:effectLst/>
                <a:latin typeface="Google Sans"/>
              </a:rPr>
              <a:t>If the user enters "5 10", the output will be:</a:t>
            </a:r>
          </a:p>
          <a:p>
            <a:pPr algn="l" rtl="0"/>
            <a:r>
              <a:rPr lang="en-IN" b="0" i="0" dirty="0">
                <a:effectLst/>
                <a:latin typeface="Google Sans"/>
              </a:rPr>
              <a:t>Enter two numbers separated by a space: 5 10 </a:t>
            </a:r>
          </a:p>
          <a:p>
            <a:pPr algn="l" rtl="0"/>
            <a:r>
              <a:rPr lang="en-IN" b="0" i="0" dirty="0">
                <a:effectLst/>
                <a:latin typeface="Google Sans"/>
              </a:rPr>
              <a:t>The sum is: 15</a:t>
            </a:r>
          </a:p>
        </p:txBody>
      </p:sp>
    </p:spTree>
    <p:extLst>
      <p:ext uri="{BB962C8B-B14F-4D97-AF65-F5344CB8AC3E}">
        <p14:creationId xmlns:p14="http://schemas.microsoft.com/office/powerpoint/2010/main" val="37011617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EEC91-657E-110A-065D-C662C460B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5B9C7-875B-20FE-4CD3-5CFEE8B5F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Alternatively, you can use map() for cleaner conversion of multiple inputs to a specific type:</a:t>
            </a:r>
            <a:r>
              <a:rPr lang="en-IN" b="0" i="0" dirty="0">
                <a:effectLst/>
                <a:latin typeface="Google Sans"/>
              </a:rPr>
              <a:t> </a:t>
            </a:r>
          </a:p>
          <a:p>
            <a:r>
              <a:rPr lang="en-IN" dirty="0">
                <a:effectLst/>
              </a:rPr>
              <a:t>m, n = map(int, input("Enter two numbers: ").split())</a:t>
            </a:r>
          </a:p>
          <a:p>
            <a:r>
              <a:rPr lang="en-IN" dirty="0">
                <a:effectLst/>
              </a:rPr>
              <a:t>print("Sum:", m + n)</a:t>
            </a:r>
          </a:p>
          <a:p>
            <a:endParaRPr lang="en-IN" dirty="0">
              <a:latin typeface="Google Sans"/>
            </a:endParaRPr>
          </a:p>
          <a:p>
            <a:pPr algn="l"/>
            <a:r>
              <a:rPr lang="en-IN" b="1" i="0" dirty="0">
                <a:effectLst/>
                <a:latin typeface="Google Sans"/>
              </a:rPr>
              <a:t>4. Handling Input Errors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If a user enters an invalid type (e.g., a string when an integer is expected), a </a:t>
            </a:r>
            <a:r>
              <a:rPr lang="en-IN" b="0" i="0" dirty="0" err="1">
                <a:effectLst/>
                <a:latin typeface="Google Sans"/>
              </a:rPr>
              <a:t>ValueError</a:t>
            </a:r>
            <a:r>
              <a:rPr lang="en-IN" b="0" i="0" dirty="0">
                <a:effectLst/>
                <a:latin typeface="Google Sans"/>
              </a:rPr>
              <a:t> will occur. Using a try-except block can help handle these exceptions gracefully.</a:t>
            </a:r>
          </a:p>
          <a:p>
            <a:r>
              <a:rPr lang="en-IN" dirty="0">
                <a:effectLst/>
              </a:rPr>
              <a:t>while True:</a:t>
            </a:r>
          </a:p>
          <a:p>
            <a:r>
              <a:rPr lang="en-IN" dirty="0">
                <a:effectLst/>
              </a:rPr>
              <a:t>    try:</a:t>
            </a:r>
          </a:p>
          <a:p>
            <a:r>
              <a:rPr lang="en-IN" dirty="0">
                <a:effectLst/>
              </a:rPr>
              <a:t>        number = int(input("Enter an integer: "))</a:t>
            </a:r>
          </a:p>
          <a:p>
            <a:r>
              <a:rPr lang="en-IN" dirty="0">
                <a:effectLst/>
              </a:rPr>
              <a:t>        break # Exit the loop if input is valid</a:t>
            </a:r>
          </a:p>
          <a:p>
            <a:r>
              <a:rPr lang="en-IN" dirty="0">
                <a:effectLst/>
              </a:rPr>
              <a:t>    except </a:t>
            </a:r>
            <a:r>
              <a:rPr lang="en-IN" dirty="0" err="1">
                <a:effectLst/>
              </a:rPr>
              <a:t>ValueError</a:t>
            </a:r>
            <a:r>
              <a:rPr lang="en-IN" dirty="0">
                <a:effectLst/>
              </a:rPr>
              <a:t>:</a:t>
            </a:r>
          </a:p>
          <a:p>
            <a:r>
              <a:rPr lang="en-IN" dirty="0">
                <a:effectLst/>
              </a:rPr>
              <a:t>        print("Invalid input! Please enter a valid integer.")</a:t>
            </a:r>
          </a:p>
          <a:p>
            <a:r>
              <a:rPr lang="en-IN" dirty="0">
                <a:effectLst/>
              </a:rPr>
              <a:t>print("You entered:", number)</a:t>
            </a:r>
          </a:p>
          <a:p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876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51BCC-4D92-C0BB-7331-06BC5472D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Formatted input and f-string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683BF-4176-CF35-B358-BE5A4FDF2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In Python, input is handled with the input() function and output with the print() function. Formatting is primarily achieved using </a:t>
            </a:r>
            <a:r>
              <a:rPr lang="en-IN" b="1" dirty="0">
                <a:effectLst/>
              </a:rPr>
              <a:t>f-strings</a:t>
            </a:r>
            <a:r>
              <a:rPr lang="en-IN" dirty="0"/>
              <a:t> (formatted string literals), the </a:t>
            </a:r>
            <a:r>
              <a:rPr lang="en-IN" dirty="0" err="1"/>
              <a:t>str.format</a:t>
            </a:r>
            <a:r>
              <a:rPr lang="en-IN" dirty="0"/>
              <a:t>() method, or the older % operator.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r>
              <a:rPr lang="en-IN" dirty="0"/>
              <a:t>The built-in input() function reads a line from the user and returns it as a </a:t>
            </a:r>
            <a:r>
              <a:rPr lang="en-IN" b="1" dirty="0">
                <a:effectLst/>
              </a:rPr>
              <a:t>string</a:t>
            </a:r>
            <a:r>
              <a:rPr lang="en-IN" dirty="0"/>
              <a:t>. To use the input as another data type (like an integer or a float), you must perform explicit type conversion (typecasting).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b="1" i="0" dirty="0"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Basic Input:</a:t>
            </a:r>
            <a:endParaRPr lang="en-IN" b="0" i="0" dirty="0">
              <a:effectLst/>
              <a:latin typeface="Google Sans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name = input("Enter your name: ") 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print(</a:t>
            </a:r>
            <a:r>
              <a:rPr lang="en-IN" b="0" i="0" dirty="0" err="1">
                <a:effectLst/>
                <a:latin typeface="Google Sans"/>
              </a:rPr>
              <a:t>f"Hello</a:t>
            </a:r>
            <a:r>
              <a:rPr lang="en-IN" b="0" i="0" dirty="0">
                <a:effectLst/>
                <a:latin typeface="Google Sans"/>
              </a:rPr>
              <a:t>, {name}!")</a:t>
            </a:r>
          </a:p>
        </p:txBody>
      </p:sp>
    </p:spTree>
    <p:extLst>
      <p:ext uri="{BB962C8B-B14F-4D97-AF65-F5344CB8AC3E}">
        <p14:creationId xmlns:p14="http://schemas.microsoft.com/office/powerpoint/2010/main" val="41346719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ADD9F-5A71-9433-5239-43530C71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32ABE-B679-EABF-8087-1B4281798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Integer </a:t>
            </a:r>
            <a:r>
              <a:rPr lang="en-IN" b="1" i="0" dirty="0" err="1">
                <a:effectLst/>
                <a:latin typeface="Google Sans"/>
              </a:rPr>
              <a:t>Input:</a:t>
            </a:r>
            <a:r>
              <a:rPr lang="en-IN" b="0" i="0" dirty="0" err="1">
                <a:effectLst/>
                <a:latin typeface="Google Sans"/>
              </a:rPr>
              <a:t>python</a:t>
            </a:r>
            <a:endParaRPr lang="en-IN" b="0" i="0" dirty="0">
              <a:effectLst/>
              <a:latin typeface="Google Sans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age = int(input("Enter your age: ")) 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oogle Sans"/>
              </a:rPr>
              <a:t>print(</a:t>
            </a:r>
            <a:r>
              <a:rPr lang="en-IN" b="0" i="0" dirty="0" err="1">
                <a:effectLst/>
                <a:latin typeface="Google Sans"/>
              </a:rPr>
              <a:t>f"You</a:t>
            </a:r>
            <a:r>
              <a:rPr lang="en-IN" b="0" i="0" dirty="0">
                <a:effectLst/>
                <a:latin typeface="Google Sans"/>
              </a:rPr>
              <a:t> are {age} years old.")</a:t>
            </a:r>
          </a:p>
          <a:p>
            <a:endParaRPr lang="en-US" dirty="0"/>
          </a:p>
          <a:p>
            <a:pPr algn="l"/>
            <a:r>
              <a:rPr lang="en-IN" b="1" i="0" dirty="0">
                <a:effectLst/>
                <a:latin typeface="Google Sans"/>
              </a:rPr>
              <a:t>Multiple Inputs in one line:</a:t>
            </a:r>
            <a:endParaRPr lang="en-IN" b="0" i="0" dirty="0">
              <a:effectLst/>
              <a:latin typeface="Google Sans"/>
            </a:endParaRPr>
          </a:p>
          <a:p>
            <a:pPr algn="l" rtl="0"/>
            <a:r>
              <a:rPr lang="en-IN" b="0" i="1" dirty="0">
                <a:effectLst/>
                <a:latin typeface="Google Sans"/>
              </a:rPr>
              <a:t># Enter numbers separated by spaces, e.g., '10 20’</a:t>
            </a:r>
            <a:r>
              <a:rPr lang="en-IN" b="0" i="0" dirty="0">
                <a:effectLst/>
                <a:latin typeface="Google Sans"/>
              </a:rPr>
              <a:t> </a:t>
            </a:r>
          </a:p>
          <a:p>
            <a:pPr algn="l" rtl="0"/>
            <a:r>
              <a:rPr lang="en-IN" b="0" i="0" dirty="0">
                <a:effectLst/>
                <a:latin typeface="Google Sans"/>
              </a:rPr>
              <a:t>x, y = map(int, input("Enter two numbers separated by space: ").split()) </a:t>
            </a:r>
          </a:p>
          <a:p>
            <a:pPr algn="l" rtl="0"/>
            <a:r>
              <a:rPr lang="en-IN" b="0" i="0" dirty="0">
                <a:effectLst/>
                <a:latin typeface="Google Sans"/>
              </a:rPr>
              <a:t>print(</a:t>
            </a:r>
            <a:r>
              <a:rPr lang="en-IN" b="0" i="0" dirty="0" err="1">
                <a:effectLst/>
                <a:latin typeface="Google Sans"/>
              </a:rPr>
              <a:t>f"First</a:t>
            </a:r>
            <a:r>
              <a:rPr lang="en-IN" b="0" i="0" dirty="0">
                <a:effectLst/>
                <a:latin typeface="Google Sans"/>
              </a:rPr>
              <a:t> number: {x}, Second number: {y}")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067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E5667-47B5-F210-5B6E-DFA60ABC3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Formatted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7D100-71D6-84EF-464C-1214C2874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print() function sends output to the console. It supports formatting via special methods or literal strings. </a:t>
            </a:r>
          </a:p>
          <a:p>
            <a:r>
              <a:rPr lang="en-US" dirty="0"/>
              <a:t>Basic Output:</a:t>
            </a:r>
          </a:p>
          <a:p>
            <a:r>
              <a:rPr lang="en-US" dirty="0"/>
              <a:t>print("Hello, World!")</a:t>
            </a:r>
          </a:p>
          <a:p>
            <a:endParaRPr lang="en-US" dirty="0"/>
          </a:p>
          <a:p>
            <a:r>
              <a:rPr lang="en-IN" b="1" i="0" dirty="0">
                <a:effectLst/>
                <a:latin typeface="Google Sans"/>
              </a:rPr>
              <a:t>Custom Separator/End Characters:</a:t>
            </a:r>
            <a:br>
              <a:rPr lang="en-IN" dirty="0"/>
            </a:br>
            <a:r>
              <a:rPr lang="en-IN" b="0" i="0" dirty="0">
                <a:effectLst/>
                <a:latin typeface="Google Sans"/>
              </a:rPr>
              <a:t>You can use the </a:t>
            </a:r>
            <a:r>
              <a:rPr lang="en-IN" dirty="0" err="1"/>
              <a:t>sep</a:t>
            </a:r>
            <a:r>
              <a:rPr lang="en-IN" b="0" i="0" dirty="0">
                <a:effectLst/>
                <a:latin typeface="Google Sans"/>
              </a:rPr>
              <a:t> argument to change the separator between multiple items and the </a:t>
            </a:r>
            <a:r>
              <a:rPr lang="en-IN" dirty="0"/>
              <a:t>end</a:t>
            </a:r>
            <a:r>
              <a:rPr lang="en-IN" b="0" i="0" dirty="0">
                <a:effectLst/>
                <a:latin typeface="Google Sans"/>
              </a:rPr>
              <a:t> argument to change the character printed at the end of the line (default is a newline </a:t>
            </a:r>
            <a:r>
              <a:rPr lang="en-IN" dirty="0"/>
              <a:t>\n</a:t>
            </a:r>
            <a:r>
              <a:rPr lang="en-IN" b="0" i="0" dirty="0">
                <a:effectLst/>
                <a:latin typeface="Google Sans"/>
              </a:rPr>
              <a:t>).</a:t>
            </a:r>
          </a:p>
          <a:p>
            <a:r>
              <a:rPr lang="en-US" dirty="0"/>
              <a:t>print("My", "Name", "Is", "James", </a:t>
            </a:r>
            <a:r>
              <a:rPr lang="en-US" dirty="0" err="1"/>
              <a:t>sep</a:t>
            </a:r>
            <a:r>
              <a:rPr lang="en-US" dirty="0"/>
              <a:t>="**", end=".")</a:t>
            </a:r>
          </a:p>
          <a:p>
            <a:r>
              <a:rPr lang="en-US" dirty="0"/>
              <a:t># Output: My**Name**Is**James.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9953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7BEA-7A38-DF3B-3C09-A057ADA9F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ACA6C-B841-B8CD-58B8-6607F1AEC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F-Strings (Recommended in modern Python 3):</a:t>
            </a:r>
            <a:br>
              <a:rPr lang="en-IN" b="0" i="0" dirty="0">
                <a:effectLst/>
                <a:latin typeface="Google Sans"/>
              </a:rPr>
            </a:br>
            <a:r>
              <a:rPr lang="en-IN" b="0" i="0" dirty="0">
                <a:effectLst/>
                <a:latin typeface="Google Sans"/>
              </a:rPr>
              <a:t>Prefix the string with f and place variables/expressions inside curly braces {}.</a:t>
            </a: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8BDABF-1E18-D244-6100-47A44263A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0" y="2682963"/>
            <a:ext cx="6604000" cy="424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453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D8108-8869-6D62-A298-116713628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5A022-312D-96F4-CF03-F7CB1DAA3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The </a:t>
            </a:r>
            <a:r>
              <a:rPr lang="en-IN" b="1" i="0" dirty="0" err="1">
                <a:effectLst/>
                <a:latin typeface="Google Sans"/>
              </a:rPr>
              <a:t>str.format</a:t>
            </a:r>
            <a:r>
              <a:rPr lang="en-IN" b="1" i="0" dirty="0">
                <a:effectLst/>
                <a:latin typeface="Google Sans"/>
              </a:rPr>
              <a:t>() Method:</a:t>
            </a:r>
            <a:br>
              <a:rPr lang="en-IN" dirty="0"/>
            </a:br>
            <a:r>
              <a:rPr lang="en-IN" b="0" i="0" dirty="0">
                <a:effectLst/>
                <a:latin typeface="Google Sans"/>
              </a:rPr>
              <a:t>Uses curly braces as placeholders and the </a:t>
            </a:r>
            <a:r>
              <a:rPr lang="en-IN" dirty="0"/>
              <a:t>.format()</a:t>
            </a:r>
            <a:r>
              <a:rPr lang="en-IN" b="0" i="0" dirty="0">
                <a:effectLst/>
                <a:latin typeface="Google Sans"/>
              </a:rPr>
              <a:t> method to substitute values.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BAAC0-F7E1-A37E-686D-99C6F2B33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1133"/>
            <a:ext cx="12192000" cy="365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2822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64AA-BA23-9D9D-5D1C-B5381DF81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37F8A-117C-9C68-D306-6B98B9F3E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Alignment and Width with F-strings or </a:t>
            </a:r>
            <a:r>
              <a:rPr lang="en-IN" b="1" i="0" dirty="0" err="1">
                <a:effectLst/>
                <a:latin typeface="Google Sans"/>
              </a:rPr>
              <a:t>str.format</a:t>
            </a:r>
            <a:r>
              <a:rPr lang="en-IN" b="1" i="0" dirty="0">
                <a:effectLst/>
                <a:latin typeface="Google Sans"/>
              </a:rPr>
              <a:t>():</a:t>
            </a:r>
            <a:br>
              <a:rPr lang="en-IN" dirty="0"/>
            </a:br>
            <a:r>
              <a:rPr lang="en-IN" b="0" i="0" dirty="0">
                <a:effectLst/>
                <a:latin typeface="Google Sans"/>
              </a:rPr>
              <a:t>You can control alignment (</a:t>
            </a:r>
            <a:r>
              <a:rPr lang="en-IN" dirty="0"/>
              <a:t>&lt;</a:t>
            </a:r>
            <a:r>
              <a:rPr lang="en-IN" b="0" i="0" dirty="0">
                <a:effectLst/>
                <a:latin typeface="Google Sans"/>
              </a:rPr>
              <a:t> left, </a:t>
            </a:r>
            <a:r>
              <a:rPr lang="en-IN" dirty="0"/>
              <a:t>&gt;</a:t>
            </a:r>
            <a:r>
              <a:rPr lang="en-IN" b="0" i="0" dirty="0">
                <a:effectLst/>
                <a:latin typeface="Google Sans"/>
              </a:rPr>
              <a:t> right, </a:t>
            </a:r>
            <a:r>
              <a:rPr lang="en-IN" dirty="0"/>
              <a:t>^</a:t>
            </a:r>
            <a:r>
              <a:rPr lang="en-IN" b="0" i="0" dirty="0">
                <a:effectLst/>
                <a:latin typeface="Google Sans"/>
              </a:rPr>
              <a:t> </a:t>
            </a:r>
            <a:r>
              <a:rPr lang="en-IN" b="0" i="0" dirty="0" err="1">
                <a:effectLst/>
                <a:latin typeface="Google Sans"/>
              </a:rPr>
              <a:t>center</a:t>
            </a:r>
            <a:r>
              <a:rPr lang="en-IN" b="0" i="0" dirty="0">
                <a:effectLst/>
                <a:latin typeface="Google Sans"/>
              </a:rPr>
              <a:t>) and field width.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B8D5A4-FA49-643E-8836-888BBC281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532" y="2823890"/>
            <a:ext cx="7216987" cy="403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13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D23C1-C755-8CC0-CEC8-8F9E70EB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Formatting Output using String Modulo Operator(%)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1949A-56CF-B143-B2E2-4AA15D637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Formatting Output using String Modulo Operator(%) ">
            <a:extLst>
              <a:ext uri="{FF2B5EF4-FFF2-40B4-BE49-F238E27FC236}">
                <a16:creationId xmlns:a16="http://schemas.microsoft.com/office/drawing/2014/main" id="{C5D22496-1764-9F41-4202-71F12B4B2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1778000"/>
            <a:ext cx="81534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4410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B3CC0-F539-A278-9D3F-023467AD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Formatting Output using The Format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EE3F6-FB36-6702-1429-D81C8E2F2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Formatting Output using The Format Method ">
            <a:extLst>
              <a:ext uri="{FF2B5EF4-FFF2-40B4-BE49-F238E27FC236}">
                <a16:creationId xmlns:a16="http://schemas.microsoft.com/office/drawing/2014/main" id="{C1F0EEC7-7764-0901-6698-D00FD2F82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1816100"/>
            <a:ext cx="7289800" cy="322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1704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1753A-DAD4-E668-AEFD-CB1B4EA6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B981F-5BCE-AFE9-A382-CFF795E0E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Formatting Output using The Format Method ">
            <a:extLst>
              <a:ext uri="{FF2B5EF4-FFF2-40B4-BE49-F238E27FC236}">
                <a16:creationId xmlns:a16="http://schemas.microsoft.com/office/drawing/2014/main" id="{5BB18A00-A7D3-4342-5F9B-845774E2D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1816100"/>
            <a:ext cx="7289800" cy="322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0145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5B4B8-6291-4004-799F-8BE294829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Advanced Usage with Positional and Named Parameters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E6470-3D43-74E4-C740-82892E2CC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252411-7266-7C8F-F80F-4F03200D5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690688"/>
            <a:ext cx="10515599" cy="510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2234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34020-0E0B-B363-AF00-DDB3D99F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Formatting Output using String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452BB-66A8-323B-4492-A4DE736B9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07A379-599E-E43D-F9E8-534459553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536648"/>
            <a:ext cx="7772400" cy="532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857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5559C-DC59-7462-F932-3ED43F945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468A7-25C1-BA62-72B2-EA06E5212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EEC49-4156-44BA-C790-751DAAA67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634894"/>
            <a:ext cx="7772400" cy="473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7883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14FF-916A-B8D6-E229-8982937C1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Format Conversion Rule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7F7644-FC4E-37FD-EC9B-1535B5DFCB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575248"/>
              </p:ext>
            </p:extLst>
          </p:nvPr>
        </p:nvGraphicFramePr>
        <p:xfrm>
          <a:off x="944880" y="1152632"/>
          <a:ext cx="7661556" cy="57053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67584">
                  <a:extLst>
                    <a:ext uri="{9D8B030D-6E8A-4147-A177-3AD203B41FA5}">
                      <a16:colId xmlns:a16="http://schemas.microsoft.com/office/drawing/2014/main" val="3722102643"/>
                    </a:ext>
                  </a:extLst>
                </a:gridCol>
                <a:gridCol w="5393972">
                  <a:extLst>
                    <a:ext uri="{9D8B030D-6E8A-4147-A177-3AD203B41FA5}">
                      <a16:colId xmlns:a16="http://schemas.microsoft.com/office/drawing/2014/main" val="1676842386"/>
                    </a:ext>
                  </a:extLst>
                </a:gridCol>
              </a:tblGrid>
              <a:tr h="39690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 b="1" dirty="0">
                          <a:effectLst/>
                        </a:rPr>
                        <a:t>Conversion</a:t>
                      </a:r>
                      <a:endParaRPr lang="en-IN" sz="1800" b="0" dirty="0">
                        <a:effectLst/>
                        <a:latin typeface="Nunito" pitchFamily="2" charset="77"/>
                      </a:endParaRPr>
                    </a:p>
                  </a:txBody>
                  <a:tcPr marL="28146" marR="28146" marT="70364" marB="70364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 b="1">
                          <a:effectLst/>
                        </a:rPr>
                        <a:t>Meaning</a:t>
                      </a:r>
                      <a:endParaRPr lang="en-IN" sz="18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70364" marB="70364" anchor="ctr"/>
                </a:tc>
                <a:extLst>
                  <a:ext uri="{0D108BD9-81ED-4DB2-BD59-A6C34878D82A}">
                    <a16:rowId xmlns:a16="http://schemas.microsoft.com/office/drawing/2014/main" val="3399013642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d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Decimal integer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156795768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b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Binary format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204260302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 dirty="0">
                          <a:effectLst/>
                        </a:rPr>
                        <a:t>o</a:t>
                      </a:r>
                      <a:endParaRPr lang="en-IN" sz="1600" b="0" dirty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octal format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496107727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u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 dirty="0">
                          <a:effectLst/>
                        </a:rPr>
                        <a:t>Obsolete and equivalent to 'd'</a:t>
                      </a:r>
                      <a:endParaRPr lang="en-IN" sz="1600" b="0" dirty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423542016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x or X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Hexadecimal format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2221764452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e or E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Exponential notation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4250009990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f or F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Floating-point decimal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3619694794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g or G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General format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794821471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c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Single Character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2769612478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r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String format(using repr())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751546158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s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>
                          <a:effectLst/>
                        </a:rPr>
                        <a:t>String Format(using str()))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2111778977"/>
                  </a:ext>
                </a:extLst>
              </a:tr>
              <a:tr h="421585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600" b="0">
                          <a:effectLst/>
                        </a:rPr>
                        <a:t>%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600" b="0" dirty="0">
                          <a:effectLst/>
                        </a:rPr>
                        <a:t>Percentage</a:t>
                      </a:r>
                      <a:endParaRPr lang="en-IN" sz="1600" b="0" dirty="0">
                        <a:effectLst/>
                        <a:latin typeface="Nunito" pitchFamily="2" charset="77"/>
                      </a:endParaRP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3199558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2864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7DA03-167F-225B-037C-8E153E9F7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5D431-CB73-2A23-1A50-5713A3D11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In Python, a </a:t>
            </a:r>
            <a:r>
              <a:rPr lang="en-IN" b="1" dirty="0">
                <a:effectLst/>
              </a:rPr>
              <a:t>set</a:t>
            </a:r>
            <a:r>
              <a:rPr lang="en-IN" dirty="0"/>
              <a:t> is an </a:t>
            </a:r>
            <a:r>
              <a:rPr lang="en-IN" b="1" dirty="0">
                <a:effectLst/>
              </a:rPr>
              <a:t>unordered collection of unique, immutable elements</a:t>
            </a:r>
            <a:r>
              <a:rPr lang="en-IN" dirty="0"/>
              <a:t>. Sets are highly optimized for membership testing and eliminating duplicates from other collections like lists or tuples.</a:t>
            </a:r>
            <a:r>
              <a:rPr lang="en-IN" b="0" i="0" dirty="0">
                <a:effectLst/>
                <a:latin typeface="Google Sans"/>
              </a:rPr>
              <a:t> </a:t>
            </a:r>
            <a:br>
              <a:rPr lang="en-IN" dirty="0">
                <a:effectLst/>
              </a:rPr>
            </a:br>
            <a:endParaRPr lang="en-IN" dirty="0">
              <a:effectLst/>
            </a:endParaRPr>
          </a:p>
          <a:p>
            <a:pPr algn="l"/>
            <a:r>
              <a:rPr lang="en-IN" b="1" i="0" dirty="0">
                <a:effectLst/>
                <a:latin typeface="Google Sans"/>
              </a:rPr>
              <a:t>Key Characteristics of Python Sets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Unique Elements:</a:t>
            </a:r>
            <a:r>
              <a:rPr lang="en-IN" b="0" i="0" dirty="0">
                <a:effectLst/>
                <a:latin typeface="Google Sans"/>
              </a:rPr>
              <a:t> Duplicates are automatically removed.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Unordered:</a:t>
            </a:r>
            <a:r>
              <a:rPr lang="en-IN" b="0" i="0" dirty="0">
                <a:effectLst/>
                <a:latin typeface="Google Sans"/>
              </a:rPr>
              <a:t> The order of items is not guaranteed and can change.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Unindexed:</a:t>
            </a:r>
            <a:r>
              <a:rPr lang="en-IN" b="0" i="0" dirty="0">
                <a:effectLst/>
                <a:latin typeface="Google Sans"/>
              </a:rPr>
              <a:t> Elements cannot be accessed by index.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Mutable (mostly):</a:t>
            </a:r>
            <a:r>
              <a:rPr lang="en-IN" b="0" i="0" dirty="0">
                <a:effectLst/>
                <a:latin typeface="Google Sans"/>
              </a:rPr>
              <a:t> Elements can be added or removed, but the elements themselves must be of immutable types.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2326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82B9-98F5-6492-CE89-554B1A59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Set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01729-5623-BD10-43C7-562E83D6C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Accessing elements in a set is different from data structures like lists or arrays because sets are fundamentally </a:t>
            </a:r>
            <a:r>
              <a:rPr lang="en-IN" b="1" dirty="0">
                <a:effectLst/>
              </a:rPr>
              <a:t>unordered collections that do not support indexing</a:t>
            </a:r>
            <a:r>
              <a:rPr lang="en-IN" dirty="0"/>
              <a:t>. This means you cannot directly access an element by its position (e.g., </a:t>
            </a:r>
            <a:r>
              <a:rPr lang="en-IN" dirty="0" err="1"/>
              <a:t>my_set</a:t>
            </a:r>
            <a:r>
              <a:rPr lang="en-IN" dirty="0"/>
              <a:t>[0]).</a:t>
            </a:r>
            <a:r>
              <a:rPr lang="en-IN" b="0" i="0" dirty="0">
                <a:effectLst/>
                <a:latin typeface="Arial" panose="020B0604020202020204" pitchFamily="34" charset="0"/>
              </a:rPr>
              <a:t> </a:t>
            </a:r>
          </a:p>
          <a:p>
            <a:pPr algn="l"/>
            <a:r>
              <a:rPr lang="en-IN" b="0" i="0" dirty="0">
                <a:effectLst/>
                <a:latin typeface="Arial" panose="020B0604020202020204" pitchFamily="34" charset="0"/>
              </a:rPr>
              <a:t>Instead, the common ways to access or interact with set elements across different programming languages are:</a:t>
            </a:r>
          </a:p>
          <a:p>
            <a:r>
              <a:rPr lang="en-IN" dirty="0"/>
              <a:t>Membership Testing</a:t>
            </a:r>
          </a:p>
          <a:p>
            <a:r>
              <a:rPr lang="en-IN" dirty="0"/>
              <a:t>The most efficient and common way to "access" a set element is to check if a specific value exists using a membership operator. </a:t>
            </a:r>
          </a:p>
          <a:p>
            <a:r>
              <a:rPr lang="en-IN" dirty="0"/>
              <a:t>In Python: Use the </a:t>
            </a:r>
            <a:r>
              <a:rPr lang="en-IN" b="1" i="1" dirty="0"/>
              <a:t>in</a:t>
            </a:r>
            <a:r>
              <a:rPr lang="en-IN" dirty="0"/>
              <a:t> keyword.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Iteration (Looping)</a:t>
            </a:r>
          </a:p>
          <a:p>
            <a:pPr algn="l"/>
            <a:r>
              <a:rPr lang="en-IN" b="0" i="0" dirty="0">
                <a:effectLst/>
                <a:latin typeface="Arial" panose="020B0604020202020204" pitchFamily="34" charset="0"/>
              </a:rPr>
              <a:t>You can process every item in a set one by one using a loop.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Arial" panose="020B0604020202020204" pitchFamily="34" charset="0"/>
              </a:rPr>
              <a:t>In Python:</a:t>
            </a:r>
            <a:r>
              <a:rPr lang="en-IN" b="0" i="0" dirty="0">
                <a:effectLst/>
                <a:latin typeface="Arial" panose="020B0604020202020204" pitchFamily="34" charset="0"/>
              </a:rPr>
              <a:t> Use a for loop. The order of elements is not guaranteed</a:t>
            </a:r>
          </a:p>
          <a:p>
            <a:r>
              <a:rPr lang="en-IN" dirty="0" err="1"/>
              <a:t>my_set</a:t>
            </a:r>
            <a:r>
              <a:rPr lang="en-IN" dirty="0"/>
              <a:t> = {"apple", "banana", "cherry"}</a:t>
            </a:r>
          </a:p>
          <a:p>
            <a:r>
              <a:rPr lang="en-IN" dirty="0"/>
              <a:t>for item in </a:t>
            </a:r>
            <a:r>
              <a:rPr lang="en-IN" dirty="0" err="1"/>
              <a:t>my_set</a:t>
            </a:r>
            <a:r>
              <a:rPr lang="en-IN" dirty="0"/>
              <a:t>:</a:t>
            </a:r>
          </a:p>
          <a:p>
            <a:r>
              <a:rPr lang="en-IN" dirty="0"/>
              <a:t>  print(item)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3955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62A4B-DA29-8603-D1E8-346B9F48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to an Ordered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C8E94-913D-3524-51E2-5104F784F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you need to access elements by index (position), you must first convert the set to a data structure that supports indexing, such as a list or array. </a:t>
            </a:r>
          </a:p>
          <a:p>
            <a:r>
              <a:rPr lang="en-US" dirty="0"/>
              <a:t>In Python: Convert using the list() function, then access by index.</a:t>
            </a:r>
          </a:p>
          <a:p>
            <a:r>
              <a:rPr lang="en-US" dirty="0" err="1"/>
              <a:t>my_set</a:t>
            </a:r>
            <a:r>
              <a:rPr lang="en-US" dirty="0"/>
              <a:t> = {"apple", "banana", "cherry"}</a:t>
            </a:r>
          </a:p>
          <a:p>
            <a:r>
              <a:rPr lang="en-US" dirty="0" err="1"/>
              <a:t>my_list</a:t>
            </a:r>
            <a:r>
              <a:rPr lang="en-US" dirty="0"/>
              <a:t> = list(</a:t>
            </a:r>
            <a:r>
              <a:rPr lang="en-US" dirty="0" err="1"/>
              <a:t>my_set</a:t>
            </a:r>
            <a:r>
              <a:rPr lang="en-US" dirty="0"/>
              <a:t>)</a:t>
            </a:r>
          </a:p>
          <a:p>
            <a:r>
              <a:rPr lang="en-US" dirty="0" err="1"/>
              <a:t>first_element</a:t>
            </a:r>
            <a:r>
              <a:rPr lang="en-US" dirty="0"/>
              <a:t> = </a:t>
            </a:r>
            <a:r>
              <a:rPr lang="en-US" dirty="0" err="1"/>
              <a:t>my_list</a:t>
            </a:r>
            <a:r>
              <a:rPr lang="en-US" dirty="0"/>
              <a:t>[0]</a:t>
            </a:r>
          </a:p>
          <a:p>
            <a:endParaRPr lang="en-US" dirty="0"/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Unordered, Unindexed and Mutability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6542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0504B-41A3-DA72-9DA1-F7288220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DF5F8-FAAB-D00F-1351-BD10F589E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F40588-7636-83CD-FE24-8D2517D79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4870"/>
            <a:ext cx="7772400" cy="630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091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866BC-B196-DE50-FB0C-94F56CDC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F77F3-6439-5E33-D7C1-76CCC4BE3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Sets can be created using curly braces {} or the set() constructor. </a:t>
            </a:r>
          </a:p>
          <a:p>
            <a:r>
              <a:rPr lang="en-US" dirty="0"/>
              <a:t>Use curly braces for non-empty sets: {"apple", "banana"}. Duplicates are removed automatically, e.g., {1, 2, 2} becomes {1, 2}.</a:t>
            </a:r>
          </a:p>
          <a:p>
            <a:r>
              <a:rPr lang="en-US" dirty="0"/>
              <a:t>Use set() to create an empty set, as {} creates an empty dictionary.</a:t>
            </a:r>
          </a:p>
          <a:p>
            <a:r>
              <a:rPr lang="en-US" dirty="0"/>
              <a:t>Convert </a:t>
            </a:r>
            <a:r>
              <a:rPr lang="en-US" dirty="0" err="1"/>
              <a:t>iterables</a:t>
            </a:r>
            <a:r>
              <a:rPr lang="en-US" dirty="0"/>
              <a:t> (like lists) to a set using set(</a:t>
            </a:r>
            <a:r>
              <a:rPr lang="en-US" dirty="0" err="1"/>
              <a:t>iterable</a:t>
            </a:r>
            <a:r>
              <a:rPr lang="en-US" dirty="0"/>
              <a:t>) to remove duplicates.</a:t>
            </a:r>
          </a:p>
        </p:txBody>
      </p:sp>
    </p:spTree>
    <p:extLst>
      <p:ext uri="{BB962C8B-B14F-4D97-AF65-F5344CB8AC3E}">
        <p14:creationId xmlns:p14="http://schemas.microsoft.com/office/powerpoint/2010/main" val="42052313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0E3FB-F7E0-44CB-AB73-A8D38051A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Adding Elements to a Set in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C4D5C-B369-DEE1-6605-0E07A90CD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rtl="0" fontAlgn="base"/>
            <a:r>
              <a:rPr lang="en-IN" b="0" dirty="0">
                <a:effectLst/>
                <a:latin typeface="Nunito" pitchFamily="2" charset="77"/>
              </a:rPr>
              <a:t>We can add items to a set using </a:t>
            </a:r>
            <a:r>
              <a:rPr lang="en-IN" b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add() method</a:t>
            </a:r>
            <a:r>
              <a:rPr lang="en-IN" b="0" dirty="0">
                <a:effectLst/>
                <a:latin typeface="Nunito" pitchFamily="2" charset="77"/>
              </a:rPr>
              <a:t> and </a:t>
            </a:r>
            <a:r>
              <a:rPr lang="en-IN" b="0" u="sng" dirty="0">
                <a:solidFill>
                  <a:srgbClr val="357960"/>
                </a:solidFill>
                <a:effectLst/>
                <a:latin typeface="Nunito" pitchFamily="2" charset="77"/>
                <a:hlinkClick r:id="rId3"/>
              </a:rPr>
              <a:t>update() method</a:t>
            </a:r>
            <a:r>
              <a:rPr lang="en-IN" b="0" dirty="0">
                <a:effectLst/>
                <a:latin typeface="Nunito" pitchFamily="2" charset="77"/>
              </a:rPr>
              <a:t>. add() method can be used to add only a single item.</a:t>
            </a:r>
          </a:p>
          <a:p>
            <a:pPr rtl="0" fontAlgn="base"/>
            <a:r>
              <a:rPr lang="en-IN" b="0" dirty="0">
                <a:effectLst/>
                <a:latin typeface="Nunito" pitchFamily="2" charset="77"/>
              </a:rPr>
              <a:t>To add multiple items we use update() method.</a:t>
            </a:r>
          </a:p>
          <a:p>
            <a:pPr algn="l" rtl="0"/>
            <a:r>
              <a:rPr lang="en-IN" b="0" i="0" dirty="0">
                <a:solidFill>
                  <a:srgbClr val="000000"/>
                </a:solidFill>
                <a:effectLst/>
                <a:latin typeface="Nunito" pitchFamily="2" charset="77"/>
              </a:rPr>
              <a:t># Creating a set</a:t>
            </a:r>
          </a:p>
          <a:p>
            <a:pPr algn="l" rtl="0"/>
            <a:r>
              <a:rPr lang="en-IN" b="0" i="0" dirty="0">
                <a:solidFill>
                  <a:srgbClr val="000000"/>
                </a:solidFill>
                <a:effectLst/>
                <a:latin typeface="Nunito" pitchFamily="2" charset="77"/>
              </a:rPr>
              <a:t>set1 = {1, 2, 3}</a:t>
            </a:r>
          </a:p>
          <a:p>
            <a:pPr algn="l" rtl="0"/>
            <a:endParaRPr lang="en-IN" b="0" i="0" dirty="0">
              <a:solidFill>
                <a:srgbClr val="000000"/>
              </a:solidFill>
              <a:effectLst/>
              <a:latin typeface="Nunito" pitchFamily="2" charset="77"/>
            </a:endParaRPr>
          </a:p>
          <a:p>
            <a:pPr algn="l" rtl="0"/>
            <a:r>
              <a:rPr lang="en-IN" b="0" i="0" dirty="0">
                <a:solidFill>
                  <a:srgbClr val="000000"/>
                </a:solidFill>
                <a:effectLst/>
                <a:latin typeface="Nunito" pitchFamily="2" charset="77"/>
              </a:rPr>
              <a:t># Add one item</a:t>
            </a:r>
          </a:p>
          <a:p>
            <a:pPr algn="l" rtl="0"/>
            <a:r>
              <a:rPr lang="en-IN" b="0" i="0" dirty="0">
                <a:solidFill>
                  <a:srgbClr val="000000"/>
                </a:solidFill>
                <a:effectLst/>
                <a:latin typeface="Nunito" pitchFamily="2" charset="77"/>
              </a:rPr>
              <a:t>set1.add(4)</a:t>
            </a:r>
          </a:p>
          <a:p>
            <a:pPr algn="l" rtl="0"/>
            <a:endParaRPr lang="en-IN" b="0" i="0" dirty="0">
              <a:solidFill>
                <a:srgbClr val="000000"/>
              </a:solidFill>
              <a:effectLst/>
              <a:latin typeface="Nunito" pitchFamily="2" charset="77"/>
            </a:endParaRPr>
          </a:p>
          <a:p>
            <a:pPr algn="l" rtl="0"/>
            <a:r>
              <a:rPr lang="en-IN" b="0" i="0" dirty="0">
                <a:solidFill>
                  <a:srgbClr val="000000"/>
                </a:solidFill>
                <a:effectLst/>
                <a:latin typeface="Nunito" pitchFamily="2" charset="77"/>
              </a:rPr>
              <a:t># Add multiple items</a:t>
            </a:r>
          </a:p>
          <a:p>
            <a:pPr algn="l" rtl="0"/>
            <a:r>
              <a:rPr lang="en-IN" b="0" i="0" dirty="0">
                <a:solidFill>
                  <a:srgbClr val="000000"/>
                </a:solidFill>
                <a:effectLst/>
                <a:latin typeface="Nunito" pitchFamily="2" charset="77"/>
              </a:rPr>
              <a:t>set1.update([5, 6])</a:t>
            </a:r>
          </a:p>
          <a:p>
            <a:pPr algn="l" rtl="0"/>
            <a:endParaRPr lang="en-IN" b="0" i="0" dirty="0">
              <a:solidFill>
                <a:srgbClr val="000000"/>
              </a:solidFill>
              <a:effectLst/>
              <a:latin typeface="Nunito" pitchFamily="2" charset="77"/>
            </a:endParaRPr>
          </a:p>
          <a:p>
            <a:pPr algn="l" rtl="0"/>
            <a:r>
              <a:rPr lang="en-IN" b="0" i="0" dirty="0">
                <a:solidFill>
                  <a:srgbClr val="000000"/>
                </a:solidFill>
                <a:effectLst/>
                <a:latin typeface="Nunito" pitchFamily="2" charset="77"/>
              </a:rPr>
              <a:t>print(set1)</a:t>
            </a:r>
          </a:p>
        </p:txBody>
      </p:sp>
    </p:spTree>
    <p:extLst>
      <p:ext uri="{BB962C8B-B14F-4D97-AF65-F5344CB8AC3E}">
        <p14:creationId xmlns:p14="http://schemas.microsoft.com/office/powerpoint/2010/main" val="33110105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B0B3B-68C4-A4C7-4BB4-2381B81F0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Removing Elements from the Set in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E931E-B92E-6D61-8AA9-7187F3F98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We can remove an element from a set in Python using several methods: remove(), discard() and pop(). Each method works slightly differently 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Using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remove() Method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or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3"/>
              </a:rPr>
              <a:t>discard() Method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Using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4"/>
              </a:rPr>
              <a:t>pop() Method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Using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5"/>
              </a:rPr>
              <a:t>clear() Method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9554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71715-3249-8FDA-580D-C4A420878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Elements from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616E2-BCC1-1A6E-8F12-563EF144D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# Using Remove Method</a:t>
            </a:r>
          </a:p>
          <a:p>
            <a:r>
              <a:rPr lang="en-US" dirty="0"/>
              <a:t>set1 = {1, 2, 3, 4, 5}</a:t>
            </a:r>
          </a:p>
          <a:p>
            <a:r>
              <a:rPr lang="en-US" dirty="0"/>
              <a:t>set1.remove(3)</a:t>
            </a:r>
          </a:p>
          <a:p>
            <a:r>
              <a:rPr lang="en-US" dirty="0"/>
              <a:t>print(set1)  </a:t>
            </a:r>
          </a:p>
          <a:p>
            <a:endParaRPr lang="en-US" dirty="0"/>
          </a:p>
          <a:p>
            <a:r>
              <a:rPr lang="en-US" dirty="0"/>
              <a:t># Attempting to remove an element that does not exist</a:t>
            </a:r>
          </a:p>
          <a:p>
            <a:r>
              <a:rPr lang="en-US" dirty="0"/>
              <a:t>try:</a:t>
            </a:r>
          </a:p>
          <a:p>
            <a:r>
              <a:rPr lang="en-US" dirty="0"/>
              <a:t>    set1.remove(10)</a:t>
            </a:r>
          </a:p>
          <a:p>
            <a:r>
              <a:rPr lang="en-US" dirty="0"/>
              <a:t>except </a:t>
            </a:r>
            <a:r>
              <a:rPr lang="en-US" dirty="0" err="1"/>
              <a:t>KeyError</a:t>
            </a:r>
            <a:r>
              <a:rPr lang="en-US" dirty="0"/>
              <a:t> as e:</a:t>
            </a:r>
          </a:p>
          <a:p>
            <a:r>
              <a:rPr lang="en-US" dirty="0"/>
              <a:t>    print("Error:", e)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397788-EE78-8777-3245-2E000B46EACA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# Using discard() Method</a:t>
            </a:r>
          </a:p>
          <a:p>
            <a:r>
              <a:rPr lang="en-US" dirty="0"/>
              <a:t>set1.discard(4)</a:t>
            </a:r>
          </a:p>
          <a:p>
            <a:r>
              <a:rPr lang="en-US" dirty="0"/>
              <a:t>print(set1)  </a:t>
            </a:r>
          </a:p>
          <a:p>
            <a:endParaRPr lang="en-US" dirty="0"/>
          </a:p>
          <a:p>
            <a:r>
              <a:rPr lang="en-US" dirty="0"/>
              <a:t># Attempting to discard an element that does not exist</a:t>
            </a:r>
          </a:p>
          <a:p>
            <a:r>
              <a:rPr lang="en-US" dirty="0"/>
              <a:t>set1.discard(10)  # No error raised</a:t>
            </a:r>
          </a:p>
          <a:p>
            <a:r>
              <a:rPr lang="en-US" dirty="0"/>
              <a:t>print(set1)</a:t>
            </a:r>
          </a:p>
        </p:txBody>
      </p:sp>
    </p:spTree>
    <p:extLst>
      <p:ext uri="{BB962C8B-B14F-4D97-AF65-F5344CB8AC3E}">
        <p14:creationId xmlns:p14="http://schemas.microsoft.com/office/powerpoint/2010/main" val="4671553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589E2-6F4E-72AF-6F0D-41ADB8633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0CD8C-488B-CB1C-9BC2-14BAAA232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Elements from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2C0AC-F392-371D-24D3-84D13CF5A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set1 = {1, 2, 3, 4, 5}</a:t>
            </a:r>
          </a:p>
          <a:p>
            <a:r>
              <a:rPr lang="en-US" dirty="0" err="1"/>
              <a:t>val</a:t>
            </a:r>
            <a:r>
              <a:rPr lang="en-US" dirty="0"/>
              <a:t> = set1.pop()</a:t>
            </a:r>
          </a:p>
          <a:p>
            <a:r>
              <a:rPr lang="en-US" dirty="0"/>
              <a:t>print(</a:t>
            </a:r>
            <a:r>
              <a:rPr lang="en-US" dirty="0" err="1"/>
              <a:t>val</a:t>
            </a:r>
            <a:r>
              <a:rPr lang="en-US" dirty="0"/>
              <a:t>)</a:t>
            </a:r>
          </a:p>
          <a:p>
            <a:r>
              <a:rPr lang="en-US" dirty="0"/>
              <a:t>print(set1)</a:t>
            </a:r>
          </a:p>
          <a:p>
            <a:endParaRPr lang="en-US" dirty="0"/>
          </a:p>
          <a:p>
            <a:r>
              <a:rPr lang="en-US" dirty="0"/>
              <a:t># Using pop on an empty set</a:t>
            </a:r>
          </a:p>
          <a:p>
            <a:r>
              <a:rPr lang="en-US" dirty="0"/>
              <a:t>set1.clear()  # Clear the set to make it empty</a:t>
            </a:r>
          </a:p>
          <a:p>
            <a:r>
              <a:rPr lang="en-US" dirty="0"/>
              <a:t>try:</a:t>
            </a:r>
          </a:p>
          <a:p>
            <a:r>
              <a:rPr lang="en-US" dirty="0"/>
              <a:t>    set1.pop()</a:t>
            </a:r>
          </a:p>
          <a:p>
            <a:r>
              <a:rPr lang="en-US" dirty="0"/>
              <a:t>except </a:t>
            </a:r>
            <a:r>
              <a:rPr lang="en-US" dirty="0" err="1"/>
              <a:t>KeyError</a:t>
            </a:r>
            <a:r>
              <a:rPr lang="en-US" dirty="0"/>
              <a:t> as e:</a:t>
            </a:r>
          </a:p>
          <a:p>
            <a:r>
              <a:rPr lang="en-US" dirty="0"/>
              <a:t>    print("Error:", e)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D39F75-283D-FE1E-4ED9-7DB93A0608A9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set1 = {1, 2, 3, 4, 5}</a:t>
            </a:r>
          </a:p>
          <a:p>
            <a:pPr marL="0" indent="0">
              <a:buNone/>
            </a:pPr>
            <a:r>
              <a:rPr lang="en-US" dirty="0"/>
              <a:t>set1.clear()</a:t>
            </a:r>
          </a:p>
          <a:p>
            <a:pPr marL="0" indent="0">
              <a:buNone/>
            </a:pPr>
            <a:r>
              <a:rPr lang="en-US" dirty="0"/>
              <a:t>print(set1)</a:t>
            </a:r>
          </a:p>
        </p:txBody>
      </p:sp>
    </p:spTree>
    <p:extLst>
      <p:ext uri="{BB962C8B-B14F-4D97-AF65-F5344CB8AC3E}">
        <p14:creationId xmlns:p14="http://schemas.microsoft.com/office/powerpoint/2010/main" val="22374888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77A74-E918-3C77-0DD5-1C11633F5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effectLst/>
                <a:latin typeface="Google Sans"/>
              </a:rPr>
              <a:t>Common Set Operations and Methods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425D0F-1E98-BC49-F84E-7A68D8066B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9068507"/>
              </p:ext>
            </p:extLst>
          </p:nvPr>
        </p:nvGraphicFramePr>
        <p:xfrm>
          <a:off x="838200" y="1825625"/>
          <a:ext cx="10515600" cy="3774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448203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38603024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574915380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4101318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Operation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270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A.union</a:t>
                      </a:r>
                      <a:r>
                        <a:rPr lang="en-US" dirty="0"/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|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Combines all unique elements.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75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A.intersection</a:t>
                      </a:r>
                      <a:r>
                        <a:rPr lang="en-US" dirty="0"/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&amp;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Finds common elements.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898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A.difference</a:t>
                      </a:r>
                      <a:r>
                        <a:rPr lang="en-US" dirty="0"/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-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Elements in A but not in 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246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Symmetric Diff.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A.symmetric_difference</a:t>
                      </a:r>
                      <a:r>
                        <a:rPr lang="en-US" dirty="0"/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^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Elements in either set, but not both.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02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A.add</a:t>
                      </a:r>
                      <a:r>
                        <a:rPr lang="en-US" dirty="0"/>
                        <a:t>(item)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Adds a single element.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364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A.remove</a:t>
                      </a:r>
                      <a:r>
                        <a:rPr lang="en-US" dirty="0"/>
                        <a:t>(item)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Removes an element (raises </a:t>
                      </a:r>
                      <a:r>
                        <a:rPr lang="en-US" dirty="0" err="1"/>
                        <a:t>KeyError</a:t>
                      </a:r>
                      <a:r>
                        <a:rPr lang="en-US" dirty="0"/>
                        <a:t> if not found).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895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A.discard</a:t>
                      </a:r>
                      <a:r>
                        <a:rPr lang="en-US" dirty="0"/>
                        <a:t>(item)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Removes an element (does nothing if not found).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309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17201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10110-6641-8DAC-B1CB-6456130C8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Frozen 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45302-3CDC-C0C1-4BB5-8FE078D14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frozenset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is an immutable version of a set. Its elements cannot be changed after creation, but you can perform operations like union, intersection and difference. Use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frozenset()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to create 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933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3595-A1EA-1542-BEBC-644641DA3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20BCD7-2886-8D64-67F7-310E29EFCA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1187476"/>
              </p:ext>
            </p:extLst>
          </p:nvPr>
        </p:nvGraphicFramePr>
        <p:xfrm>
          <a:off x="1708962" y="177272"/>
          <a:ext cx="9248598" cy="63759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85836">
                  <a:extLst>
                    <a:ext uri="{9D8B030D-6E8A-4147-A177-3AD203B41FA5}">
                      <a16:colId xmlns:a16="http://schemas.microsoft.com/office/drawing/2014/main" val="369582460"/>
                    </a:ext>
                  </a:extLst>
                </a:gridCol>
                <a:gridCol w="6762762">
                  <a:extLst>
                    <a:ext uri="{9D8B030D-6E8A-4147-A177-3AD203B41FA5}">
                      <a16:colId xmlns:a16="http://schemas.microsoft.com/office/drawing/2014/main" val="2808105819"/>
                    </a:ext>
                  </a:extLst>
                </a:gridCol>
              </a:tblGrid>
              <a:tr h="298345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400" b="1" dirty="0">
                          <a:effectLst/>
                        </a:rPr>
                        <a:t>Operators</a:t>
                      </a:r>
                      <a:endParaRPr lang="en-IN" sz="1400" b="1" dirty="0">
                        <a:effectLst/>
                        <a:latin typeface="Nunito" pitchFamily="2" charset="77"/>
                      </a:endParaRPr>
                    </a:p>
                  </a:txBody>
                  <a:tcPr marL="28146" marR="28146" marT="70364" marB="70364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400" b="1">
                          <a:effectLst/>
                        </a:rPr>
                        <a:t>Notes</a:t>
                      </a:r>
                      <a:endParaRPr lang="en-IN" sz="1400" b="1">
                        <a:effectLst/>
                        <a:latin typeface="Nunito" pitchFamily="2" charset="77"/>
                      </a:endParaRPr>
                    </a:p>
                  </a:txBody>
                  <a:tcPr marL="70364" marR="70364" marT="70364" marB="70364" anchor="ctr"/>
                </a:tc>
                <a:extLst>
                  <a:ext uri="{0D108BD9-81ED-4DB2-BD59-A6C34878D82A}">
                    <a16:rowId xmlns:a16="http://schemas.microsoft.com/office/drawing/2014/main" val="2108199413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 dirty="0">
                          <a:effectLst/>
                        </a:rPr>
                        <a:t>key in s</a:t>
                      </a:r>
                      <a:endParaRPr lang="en-IN" sz="2000" b="1" dirty="0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containment check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688761925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key not in s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non-containment check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110705671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==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is equivalent to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3505370575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!=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is not equivalent to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2506242399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&lt;=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is subset of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415912152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&lt;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is proper subset of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68038382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&gt;=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is superset of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105647639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&gt;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is proper superset of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241168152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|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union of s1 and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2359216403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&amp;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intersection of s1 and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1713262223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s1 -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set of elements in s1 but not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2516299881"/>
                  </a:ext>
                </a:extLst>
              </a:tr>
              <a:tr h="33774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000" b="1">
                          <a:effectLst/>
                        </a:rPr>
                        <a:t>s1 ˆ s2</a:t>
                      </a:r>
                      <a:endParaRPr lang="en-IN" sz="2000" b="1">
                        <a:effectLst/>
                        <a:latin typeface="Nunito" pitchFamily="2" charset="77"/>
                      </a:endParaRPr>
                    </a:p>
                  </a:txBody>
                  <a:tcPr marL="28146" marR="28146" marT="33711" marB="33711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/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set of elements in precisely one of s1 or s2</a:t>
                      </a:r>
                    </a:p>
                  </a:txBody>
                  <a:tcPr marL="70364" marR="70364" marT="98510" marB="98510" anchor="ctr"/>
                </a:tc>
                <a:extLst>
                  <a:ext uri="{0D108BD9-81ED-4DB2-BD59-A6C34878D82A}">
                    <a16:rowId xmlns:a16="http://schemas.microsoft.com/office/drawing/2014/main" val="2984460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8209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A653C-D065-1F4C-B04C-F38115B7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Typecasting Objects into 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D2286-18DC-A0ED-28E3-EBFEF8B57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# Typecasting list into set</a:t>
            </a:r>
          </a:p>
          <a:p>
            <a:r>
              <a:rPr lang="en-US" dirty="0"/>
              <a:t>li = [1, 2, 3, 3, 4, 5, 5, 6, 2]</a:t>
            </a:r>
          </a:p>
          <a:p>
            <a:r>
              <a:rPr lang="en-US" dirty="0"/>
              <a:t>set1 = set(li)</a:t>
            </a:r>
          </a:p>
          <a:p>
            <a:r>
              <a:rPr lang="en-US" dirty="0"/>
              <a:t>print(set1)</a:t>
            </a:r>
          </a:p>
          <a:p>
            <a:endParaRPr lang="en-US" dirty="0"/>
          </a:p>
          <a:p>
            <a:r>
              <a:rPr lang="en-US" dirty="0"/>
              <a:t># Typecasting string into set</a:t>
            </a:r>
          </a:p>
          <a:p>
            <a:r>
              <a:rPr lang="en-US" dirty="0"/>
              <a:t>s = ”Welcome to Python Programming"</a:t>
            </a:r>
          </a:p>
          <a:p>
            <a:r>
              <a:rPr lang="en-US" dirty="0"/>
              <a:t>set1 = set(s)</a:t>
            </a:r>
          </a:p>
          <a:p>
            <a:r>
              <a:rPr lang="en-US" dirty="0"/>
              <a:t>print(set1)</a:t>
            </a:r>
          </a:p>
          <a:p>
            <a:endParaRPr lang="en-US" dirty="0"/>
          </a:p>
          <a:p>
            <a:r>
              <a:rPr lang="en-US" dirty="0"/>
              <a:t># Typecasting dictionary into set</a:t>
            </a:r>
          </a:p>
          <a:p>
            <a:r>
              <a:rPr lang="en-US" dirty="0"/>
              <a:t>d = {1: "One", 2: "Two", 3: "Three"}</a:t>
            </a:r>
          </a:p>
          <a:p>
            <a:r>
              <a:rPr lang="en-US" dirty="0"/>
              <a:t>set1 = set(d)</a:t>
            </a:r>
          </a:p>
          <a:p>
            <a:r>
              <a:rPr lang="en-US" dirty="0"/>
              <a:t>print(set1)</a:t>
            </a:r>
          </a:p>
        </p:txBody>
      </p:sp>
    </p:spTree>
    <p:extLst>
      <p:ext uri="{BB962C8B-B14F-4D97-AF65-F5344CB8AC3E}">
        <p14:creationId xmlns:p14="http://schemas.microsoft.com/office/powerpoint/2010/main" val="24068481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0A62D-4E90-725B-2FF2-B1C66742F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8D823F-7CC2-B8D1-0ABB-BE36836055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1235024"/>
              </p:ext>
            </p:extLst>
          </p:nvPr>
        </p:nvGraphicFramePr>
        <p:xfrm>
          <a:off x="121920" y="182874"/>
          <a:ext cx="11704320" cy="67027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18560">
                  <a:extLst>
                    <a:ext uri="{9D8B030D-6E8A-4147-A177-3AD203B41FA5}">
                      <a16:colId xmlns:a16="http://schemas.microsoft.com/office/drawing/2014/main" val="3719502311"/>
                    </a:ext>
                  </a:extLst>
                </a:gridCol>
                <a:gridCol w="7985760">
                  <a:extLst>
                    <a:ext uri="{9D8B030D-6E8A-4147-A177-3AD203B41FA5}">
                      <a16:colId xmlns:a16="http://schemas.microsoft.com/office/drawing/2014/main" val="3127549476"/>
                    </a:ext>
                  </a:extLst>
                </a:gridCol>
              </a:tblGrid>
              <a:tr h="312252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600" b="1" dirty="0">
                          <a:effectLst/>
                        </a:rPr>
                        <a:t>Functions Name</a:t>
                      </a:r>
                      <a:endParaRPr lang="en-IN" sz="1600" b="1" dirty="0">
                        <a:effectLst/>
                        <a:latin typeface="Nunito" pitchFamily="2" charset="77"/>
                      </a:endParaRPr>
                    </a:p>
                  </a:txBody>
                  <a:tcPr marL="19203" marR="19203" marT="48007" marB="48007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600" b="1">
                          <a:effectLst/>
                        </a:rPr>
                        <a:t>Description</a:t>
                      </a:r>
                      <a:endParaRPr lang="en-IN" sz="1600" b="1">
                        <a:effectLst/>
                        <a:latin typeface="Nunito" pitchFamily="2" charset="77"/>
                      </a:endParaRPr>
                    </a:p>
                  </a:txBody>
                  <a:tcPr marL="48007" marR="48007" marT="48007" marB="48007" anchor="ctr"/>
                </a:tc>
                <a:extLst>
                  <a:ext uri="{0D108BD9-81ED-4DB2-BD59-A6C34878D82A}">
                    <a16:rowId xmlns:a16="http://schemas.microsoft.com/office/drawing/2014/main" val="560615642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sng" dirty="0">
                          <a:solidFill>
                            <a:srgbClr val="357960"/>
                          </a:solidFill>
                          <a:effectLst/>
                          <a:hlinkClick r:id="rId2"/>
                        </a:rPr>
                        <a:t>add()</a:t>
                      </a:r>
                      <a:endParaRPr lang="en-IN" sz="1400" b="0" dirty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Adds a given element to a set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48416272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sng">
                          <a:solidFill>
                            <a:srgbClr val="357960"/>
                          </a:solidFill>
                          <a:effectLst/>
                          <a:hlinkClick r:id="rId3"/>
                        </a:rPr>
                        <a:t>clear()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Removes all elements from the set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2940938375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sng">
                          <a:solidFill>
                            <a:srgbClr val="357960"/>
                          </a:solidFill>
                          <a:effectLst/>
                          <a:hlinkClick r:id="rId4"/>
                        </a:rPr>
                        <a:t>copy()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Returns a shallow copy of the set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1398406373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sng">
                          <a:solidFill>
                            <a:srgbClr val="357960"/>
                          </a:solidFill>
                          <a:effectLst/>
                          <a:hlinkClick r:id="rId5"/>
                        </a:rPr>
                        <a:t>difference()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Returns a set that is the difference between two sets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3879465223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sng">
                          <a:solidFill>
                            <a:srgbClr val="357960"/>
                          </a:solidFill>
                          <a:effectLst/>
                          <a:hlinkClick r:id="rId6"/>
                        </a:rPr>
                        <a:t>difference_update()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Updates the existing caller set with the difference between two sets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1161755711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discard()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Removes the element from the set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395209266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sng">
                          <a:solidFill>
                            <a:srgbClr val="357960"/>
                          </a:solidFill>
                          <a:effectLst/>
                          <a:hlinkClick r:id="rId7"/>
                        </a:rPr>
                        <a:t>frozenset()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Return an immutable frozenset object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2047728011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sng">
                          <a:solidFill>
                            <a:srgbClr val="357960"/>
                          </a:solidFill>
                          <a:effectLst/>
                          <a:hlinkClick r:id="rId8"/>
                        </a:rPr>
                        <a:t>intersection()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Returns a set that has the intersection of all sets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3659343649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intersection_update()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Updates the existing caller set with the intersection of sets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1059183855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sng">
                          <a:solidFill>
                            <a:srgbClr val="357960"/>
                          </a:solidFill>
                          <a:effectLst/>
                          <a:hlinkClick r:id="rId9"/>
                        </a:rPr>
                        <a:t>isdisjoint()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Checks whether the sets are disjoint or not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3953963354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sng">
                          <a:solidFill>
                            <a:srgbClr val="357960"/>
                          </a:solidFill>
                          <a:effectLst/>
                          <a:hlinkClick r:id="rId10"/>
                        </a:rPr>
                        <a:t>issubset()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dirty="0">
                          <a:effectLst/>
                        </a:rPr>
                        <a:t>Returns True if all elements of a set A are present in another set B</a:t>
                      </a:r>
                      <a:endParaRPr lang="en-IN" sz="1400" b="0" dirty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2483116552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sng">
                          <a:solidFill>
                            <a:srgbClr val="357960"/>
                          </a:solidFill>
                          <a:effectLst/>
                          <a:hlinkClick r:id="rId11"/>
                        </a:rPr>
                        <a:t>issuperset()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Returns True if all elements of a set A occupies set B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3142403915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sng">
                          <a:solidFill>
                            <a:srgbClr val="357960"/>
                          </a:solidFill>
                          <a:effectLst/>
                          <a:hlinkClick r:id="rId12"/>
                        </a:rPr>
                        <a:t>pop()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Returns and removes a random element from the set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220930566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remove()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Removes the element from the set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3033112258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sng">
                          <a:solidFill>
                            <a:srgbClr val="357960"/>
                          </a:solidFill>
                          <a:effectLst/>
                          <a:hlinkClick r:id="rId13"/>
                        </a:rPr>
                        <a:t>symmetric_difference()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Returns a set which is the symmetric difference between the two sets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491837433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sng" dirty="0">
                          <a:solidFill>
                            <a:srgbClr val="357960"/>
                          </a:solidFill>
                          <a:effectLst/>
                          <a:hlinkClick r:id="rId14"/>
                        </a:rPr>
                        <a:t>symmetric_difference_update()</a:t>
                      </a:r>
                      <a:endParaRPr lang="en-IN" sz="1400" b="0" dirty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Updates the existing caller set with the symmetric difference of sets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2460989472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sng">
                          <a:solidFill>
                            <a:srgbClr val="357960"/>
                          </a:solidFill>
                          <a:effectLst/>
                          <a:hlinkClick r:id="rId15"/>
                        </a:rPr>
                        <a:t>union()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>
                          <a:effectLst/>
                        </a:rPr>
                        <a:t>Returns a set that has the union of all sets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2615018807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sng">
                          <a:solidFill>
                            <a:srgbClr val="357960"/>
                          </a:solidFill>
                          <a:effectLst/>
                          <a:hlinkClick r:id="rId16"/>
                        </a:rPr>
                        <a:t>update()</a:t>
                      </a:r>
                      <a:endParaRPr lang="en-IN" sz="1400" b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dirty="0">
                          <a:effectLst/>
                        </a:rPr>
                        <a:t>Adds elements to the set</a:t>
                      </a:r>
                      <a:endParaRPr lang="en-IN" sz="1400" b="0" dirty="0">
                        <a:effectLst/>
                        <a:latin typeface="Nunito" pitchFamily="2" charset="77"/>
                      </a:endParaRPr>
                    </a:p>
                  </a:txBody>
                  <a:tcPr marL="48007" marR="48007" marT="67210" marB="67210" anchor="ctr"/>
                </a:tc>
                <a:extLst>
                  <a:ext uri="{0D108BD9-81ED-4DB2-BD59-A6C34878D82A}">
                    <a16:rowId xmlns:a16="http://schemas.microsoft.com/office/drawing/2014/main" val="2433657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6537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6BA85-70C5-338C-0D6C-A703BAA19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Copy vs Deep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D2E6A-F854-5B9F-D98F-8F80A5D44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Arial" panose="020B0604020202020204" pitchFamily="34" charset="0"/>
              </a:rPr>
              <a:t>In Python, copying objects involves two primary methods that differ in how they handle nested mutable objects: </a:t>
            </a:r>
            <a:r>
              <a:rPr lang="en-IN" b="1" i="0" dirty="0">
                <a:effectLst/>
                <a:latin typeface="Arial" panose="020B0604020202020204" pitchFamily="34" charset="0"/>
              </a:rPr>
              <a:t>shallow copy</a:t>
            </a:r>
            <a:r>
              <a:rPr lang="en-IN" b="0" i="0" dirty="0">
                <a:effectLst/>
                <a:latin typeface="Arial" panose="020B0604020202020204" pitchFamily="34" charset="0"/>
              </a:rPr>
              <a:t> and </a:t>
            </a:r>
            <a:r>
              <a:rPr lang="en-IN" b="1" i="0" dirty="0">
                <a:effectLst/>
                <a:latin typeface="Arial" panose="020B0604020202020204" pitchFamily="34" charset="0"/>
              </a:rPr>
              <a:t>deep copy</a:t>
            </a:r>
            <a:r>
              <a:rPr lang="en-IN" b="0" i="0" dirty="0">
                <a:effectLst/>
                <a:latin typeface="Arial" panose="020B0604020202020204" pitchFamily="34" charset="0"/>
              </a:rPr>
              <a:t>. </a:t>
            </a:r>
          </a:p>
          <a:p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1864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D140B-0553-EDC6-F15E-43F770C38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Shallow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98A09-BB86-D1FB-66EE-ADAC625D4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shallow copy creates a new compound object (like a list or dictionary) but inserts references to the original nested objects it contains. This means:</a:t>
            </a:r>
          </a:p>
          <a:p>
            <a:r>
              <a:rPr lang="en-US" b="1" dirty="0"/>
              <a:t>Top-level independence</a:t>
            </a:r>
            <a:r>
              <a:rPr lang="en-US" dirty="0"/>
              <a:t>: The new outer container is a separate entity in memory from the original, so modifications to the container itself (e.g., adding or removing an element) won't affect the original.</a:t>
            </a:r>
          </a:p>
          <a:p>
            <a:r>
              <a:rPr lang="en-US" b="1" dirty="0"/>
              <a:t>Nested object dependence</a:t>
            </a:r>
            <a:r>
              <a:rPr lang="en-US" dirty="0"/>
              <a:t>: If the object contains mutable elements (like nested lists or dictionaries), both the original and the copy will refer to the same inner objects. Modifying a nested object in one will cause the change to be reflected in the other.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317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CA21-9D9B-300D-8202-BBBF1701D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Common ways to create a shallow copy include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E49C3-209F-C07F-D6CA-B63ACA1A1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</a:t>
            </a:r>
            <a:r>
              <a:rPr lang="en-US" b="1" dirty="0"/>
              <a:t>copy() method</a:t>
            </a:r>
            <a:r>
              <a:rPr lang="en-US" dirty="0"/>
              <a:t> for lists, dictionaries, and sets (e.g., </a:t>
            </a:r>
            <a:r>
              <a:rPr lang="en-US" dirty="0" err="1"/>
              <a:t>old_list.copy</a:t>
            </a:r>
            <a:r>
              <a:rPr lang="en-US" dirty="0"/>
              <a:t>()).</a:t>
            </a:r>
          </a:p>
          <a:p>
            <a:r>
              <a:rPr lang="en-US" dirty="0"/>
              <a:t>Using </a:t>
            </a:r>
            <a:r>
              <a:rPr lang="en-US" b="1" dirty="0"/>
              <a:t>slicing</a:t>
            </a:r>
            <a:r>
              <a:rPr lang="en-US" dirty="0"/>
              <a:t> (e.g., </a:t>
            </a:r>
            <a:r>
              <a:rPr lang="en-US" dirty="0" err="1"/>
              <a:t>old_list</a:t>
            </a:r>
            <a:r>
              <a:rPr lang="en-US" dirty="0"/>
              <a:t>[:]) for lists and other sequences.</a:t>
            </a:r>
          </a:p>
          <a:p>
            <a:r>
              <a:rPr lang="en-US" dirty="0"/>
              <a:t>Using the constructor of the type (e.g., list(</a:t>
            </a:r>
            <a:r>
              <a:rPr lang="en-US" dirty="0" err="1"/>
              <a:t>old_list</a:t>
            </a:r>
            <a:r>
              <a:rPr lang="en-US" dirty="0"/>
              <a:t>), </a:t>
            </a:r>
            <a:r>
              <a:rPr lang="en-US" dirty="0" err="1"/>
              <a:t>dict</a:t>
            </a:r>
            <a:r>
              <a:rPr lang="en-US" dirty="0"/>
              <a:t>(</a:t>
            </a:r>
            <a:r>
              <a:rPr lang="en-US" dirty="0" err="1"/>
              <a:t>old_dict</a:t>
            </a:r>
            <a:r>
              <a:rPr lang="en-US" dirty="0"/>
              <a:t>), set(</a:t>
            </a:r>
            <a:r>
              <a:rPr lang="en-US" dirty="0" err="1"/>
              <a:t>old_set</a:t>
            </a:r>
            <a:r>
              <a:rPr lang="en-US" dirty="0"/>
              <a:t>)).</a:t>
            </a:r>
          </a:p>
          <a:p>
            <a:r>
              <a:rPr lang="en-US" dirty="0"/>
              <a:t>Using the function </a:t>
            </a:r>
            <a:r>
              <a:rPr lang="en-US" b="1" dirty="0" err="1"/>
              <a:t>copy.copy</a:t>
            </a:r>
            <a:r>
              <a:rPr lang="en-US" b="1" dirty="0"/>
              <a:t>(obj)</a:t>
            </a:r>
            <a:r>
              <a:rPr lang="en-US" dirty="0"/>
              <a:t> from the copy module.</a:t>
            </a:r>
          </a:p>
        </p:txBody>
      </p:sp>
    </p:spTree>
    <p:extLst>
      <p:ext uri="{BB962C8B-B14F-4D97-AF65-F5344CB8AC3E}">
        <p14:creationId xmlns:p14="http://schemas.microsoft.com/office/powerpoint/2010/main" val="39361248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1758E-F530-F152-2E4E-320131556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Deep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88E81-FB8B-FF92-A68D-5134474B4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deep copy creates a new object and recursively creates copies of all nested objects found within the original. This means:</a:t>
            </a:r>
          </a:p>
          <a:p>
            <a:r>
              <a:rPr lang="en-US" b="1" dirty="0"/>
              <a:t>Complete independence</a:t>
            </a:r>
            <a:r>
              <a:rPr lang="en-US" dirty="0"/>
              <a:t>: The original and the copied object are entirely independent. Changes made to the copy (even to nested elements) will not affect the original, and vice versa.</a:t>
            </a:r>
          </a:p>
          <a:p>
            <a:r>
              <a:rPr lang="en-US" b="1" dirty="0"/>
              <a:t>Use cases</a:t>
            </a:r>
            <a:r>
              <a:rPr lang="en-US" dirty="0"/>
              <a:t>: Deep copies are necessary when working with complex, nested data structures where you need to ensure complete isolation between the copy and the original object.</a:t>
            </a:r>
          </a:p>
        </p:txBody>
      </p:sp>
    </p:spTree>
    <p:extLst>
      <p:ext uri="{BB962C8B-B14F-4D97-AF65-F5344CB8AC3E}">
        <p14:creationId xmlns:p14="http://schemas.microsoft.com/office/powerpoint/2010/main" val="23404292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6DA1-D53C-CBD0-77FA-817CE68E4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 to create deep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501B2-B156-138A-4514-EB41B37D3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Method: The only way to create a deep copy in Python's standard library is by using the </a:t>
            </a:r>
            <a:r>
              <a:rPr lang="en-US" b="1" dirty="0" err="1"/>
              <a:t>copy.deepcopy</a:t>
            </a:r>
            <a:r>
              <a:rPr lang="en-US" b="1" dirty="0"/>
              <a:t>(obj)</a:t>
            </a:r>
            <a:r>
              <a:rPr lang="en-US" dirty="0"/>
              <a:t> function from the copy module.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7638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EAA8-5D04-59B5-1690-FF439ED5A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Differences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92968E-4AB4-985B-F96C-F2B9518B92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2772413"/>
              </p:ext>
            </p:extLst>
          </p:nvPr>
        </p:nvGraphicFramePr>
        <p:xfrm>
          <a:off x="594360" y="1280160"/>
          <a:ext cx="10515597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3507801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5837050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03070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Aspect 	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Shallow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Deep Copy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185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Copying Behavior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Duplicates the top-level container, shares references to inner elements.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Recursively duplicates the entire object hierarchy, including all nested elements.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824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Independence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Changes to mutable inner elements affect both the original and the copy.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Changes to any part of the copy do not affect the original.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198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Memory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Uses less memory because it reuses nested objects.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Uses more memory as it duplicates all elements.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1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Faster to create.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Slower due to recursive copying.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065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98326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BAFEA-68F7-A00C-5A21-F5DCA873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B9D40-FCCF-4668-D844-F123DF5A8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 </a:t>
            </a:r>
            <a:r>
              <a:rPr lang="en-IN" b="1" dirty="0">
                <a:effectLst/>
              </a:rPr>
              <a:t>dictionary</a:t>
            </a:r>
            <a:r>
              <a:rPr lang="en-IN" dirty="0"/>
              <a:t> in Python is a built-in data type that stores data as flexible, changeable key-value pairs. </a:t>
            </a:r>
          </a:p>
          <a:p>
            <a:r>
              <a:rPr lang="en-IN" dirty="0"/>
              <a:t>Keys are unique and must be immutable data types (like strings, numbers, or tuples), while values can be of any data type. </a:t>
            </a:r>
          </a:p>
          <a:p>
            <a:r>
              <a:rPr lang="en-IN" dirty="0"/>
              <a:t>Dictionaries are highly efficient for data retrieval using a key, implemented as a hash map (average O(1) time complexity for lookups).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1550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F4C1-6F5D-8938-D182-EDADDDA93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Key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4E0E0-B8FD-3C9F-EF5A-D1ED8D4ED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Ordered</a:t>
            </a:r>
            <a:r>
              <a:rPr lang="en-IN" b="0" i="0" dirty="0">
                <a:effectLst/>
                <a:latin typeface="Google Sans"/>
              </a:rPr>
              <a:t>: As of Python version 3.7, dictionaries are ordered, meaning the insertion order of items is preserved.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Changeable (Mutable)</a:t>
            </a:r>
            <a:r>
              <a:rPr lang="en-IN" b="0" i="0" dirty="0">
                <a:effectLst/>
                <a:latin typeface="Google Sans"/>
              </a:rPr>
              <a:t>: You can add, modify, or remove items after a dictionary has been created.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No Duplicates</a:t>
            </a:r>
            <a:r>
              <a:rPr lang="en-IN" b="0" i="0" dirty="0">
                <a:effectLst/>
                <a:latin typeface="Google Sans"/>
              </a:rPr>
              <a:t>: Dictionary keys must be unique. Assigning a value to an existing key will overwrite the old value.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Indexed by Keys</a:t>
            </a:r>
            <a:r>
              <a:rPr lang="en-IN" b="0" i="0" dirty="0">
                <a:effectLst/>
                <a:latin typeface="Google Sans"/>
              </a:rPr>
              <a:t>: Data is accessed using its associated key, not an integer index like in a list.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6102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7D1D1-D6DE-35A5-1FA6-B8E3033E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Basic Operations and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8312B-32B6-CC27-BFF8-F4FF0A282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b="1" i="0" dirty="0">
                <a:effectLst/>
                <a:latin typeface="Google Sans"/>
              </a:rPr>
              <a:t>1. Creation</a:t>
            </a:r>
          </a:p>
          <a:p>
            <a:pPr algn="l"/>
            <a:r>
              <a:rPr lang="en-IN" b="1" i="0" dirty="0">
                <a:effectLst/>
                <a:latin typeface="Google Sans"/>
              </a:rPr>
              <a:t>2. Accessing Values</a:t>
            </a:r>
          </a:p>
          <a:p>
            <a:pPr algn="l"/>
            <a:r>
              <a:rPr lang="en-IN" b="1" i="0" dirty="0">
                <a:effectLst/>
                <a:latin typeface="Google Sans"/>
              </a:rPr>
              <a:t>3. Adding and Modifying Items</a:t>
            </a:r>
          </a:p>
          <a:p>
            <a:pPr algn="l"/>
            <a:r>
              <a:rPr lang="en-IN" b="1" i="0" dirty="0">
                <a:effectLst/>
                <a:latin typeface="Google Sans"/>
              </a:rPr>
              <a:t>4. Removing Items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742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7B5A-C1DF-7FFD-F954-8DBA568E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1. Creation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CB3CE-1C1D-D90A-F635-330FC2DF9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800" dirty="0"/>
              <a:t>You can create a dictionary using curly braces {} or the </a:t>
            </a:r>
            <a:r>
              <a:rPr lang="en-IN" sz="1800" dirty="0" err="1"/>
              <a:t>dict</a:t>
            </a:r>
            <a:r>
              <a:rPr lang="en-IN" sz="1800" dirty="0"/>
              <a:t>() constructor.</a:t>
            </a:r>
            <a:r>
              <a:rPr lang="en-IN" sz="1800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r>
              <a:rPr lang="en-IN" sz="1800" dirty="0">
                <a:effectLst/>
              </a:rPr>
              <a:t># Using curly braces (dictionary literal)</a:t>
            </a:r>
          </a:p>
          <a:p>
            <a:r>
              <a:rPr lang="en-IN" sz="1800" dirty="0">
                <a:effectLst/>
              </a:rPr>
              <a:t>person = {</a:t>
            </a:r>
          </a:p>
          <a:p>
            <a:r>
              <a:rPr lang="en-IN" sz="1800" dirty="0">
                <a:effectLst/>
              </a:rPr>
              <a:t>    "name": "Alice",</a:t>
            </a:r>
          </a:p>
          <a:p>
            <a:r>
              <a:rPr lang="en-IN" sz="1800" dirty="0">
                <a:effectLst/>
              </a:rPr>
              <a:t>    "age": 30,</a:t>
            </a:r>
          </a:p>
          <a:p>
            <a:r>
              <a:rPr lang="en-IN" sz="1800" dirty="0">
                <a:effectLst/>
              </a:rPr>
              <a:t>    "role": "Engineer"</a:t>
            </a:r>
          </a:p>
          <a:p>
            <a:r>
              <a:rPr lang="en-IN" sz="1800" dirty="0">
                <a:effectLst/>
              </a:rPr>
              <a:t>}</a:t>
            </a:r>
          </a:p>
          <a:p>
            <a:r>
              <a:rPr lang="en-IN" sz="1800" dirty="0">
                <a:effectLst/>
              </a:rPr>
              <a:t>print(person)</a:t>
            </a:r>
          </a:p>
          <a:p>
            <a:r>
              <a:rPr lang="en-IN" sz="1800" dirty="0">
                <a:effectLst/>
              </a:rPr>
              <a:t># Output: {'name': 'Alice', 'age': 30, 'role': 'Engineer'}</a:t>
            </a:r>
          </a:p>
          <a:p>
            <a:r>
              <a:rPr lang="en-IN" sz="1800" dirty="0">
                <a:effectLst/>
              </a:rPr>
              <a:t># Using the </a:t>
            </a:r>
            <a:r>
              <a:rPr lang="en-IN" sz="1800" dirty="0" err="1">
                <a:effectLst/>
              </a:rPr>
              <a:t>dict</a:t>
            </a:r>
            <a:r>
              <a:rPr lang="en-IN" sz="1800" dirty="0">
                <a:effectLst/>
              </a:rPr>
              <a:t>() constructor</a:t>
            </a:r>
          </a:p>
          <a:p>
            <a:r>
              <a:rPr lang="en-IN" sz="1800" dirty="0" err="1">
                <a:effectLst/>
              </a:rPr>
              <a:t>employee_dict</a:t>
            </a:r>
            <a:r>
              <a:rPr lang="en-IN" sz="1800" dirty="0">
                <a:effectLst/>
              </a:rPr>
              <a:t> = </a:t>
            </a:r>
            <a:r>
              <a:rPr lang="en-IN" sz="1800" dirty="0" err="1">
                <a:effectLst/>
              </a:rPr>
              <a:t>dict</a:t>
            </a:r>
            <a:r>
              <a:rPr lang="en-IN" sz="1800" dirty="0">
                <a:effectLst/>
              </a:rPr>
              <a:t>(name="Alice", age=30, role="Engineer")</a:t>
            </a:r>
          </a:p>
          <a:p>
            <a:r>
              <a:rPr lang="en-IN" sz="1800" dirty="0">
                <a:effectLst/>
              </a:rPr>
              <a:t>print(</a:t>
            </a:r>
            <a:r>
              <a:rPr lang="en-IN" sz="1800" dirty="0" err="1">
                <a:effectLst/>
              </a:rPr>
              <a:t>employee_dict</a:t>
            </a:r>
            <a:r>
              <a:rPr lang="en-IN" sz="1800" dirty="0">
                <a:effectLst/>
              </a:rPr>
              <a:t>)</a:t>
            </a:r>
          </a:p>
          <a:p>
            <a:r>
              <a:rPr lang="en-IN" sz="1800" dirty="0">
                <a:effectLst/>
              </a:rPr>
              <a:t># Output: {'name': 'Alice', 'age': 30, 'role': 'Engineer'}</a:t>
            </a:r>
            <a:br>
              <a:rPr lang="en-IN" sz="1800" dirty="0">
                <a:effectLst/>
              </a:rPr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22828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3EF32-57E3-A3A2-12A5-599CD264C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2. Accessing Values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A412C-25B7-DFB6-69C8-EEE664221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Values are accessed using their key within square brackets [] or the .get() method. The .get() method is safer as it avoids a </a:t>
            </a:r>
            <a:r>
              <a:rPr lang="en-IN" dirty="0" err="1"/>
              <a:t>KeyError</a:t>
            </a:r>
            <a:r>
              <a:rPr lang="en-IN" dirty="0"/>
              <a:t> if the key does not exist, returning None or a specified default value instead.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r>
              <a:rPr lang="en-IN" dirty="0">
                <a:effectLst/>
              </a:rPr>
              <a:t>print(person["name"])</a:t>
            </a:r>
          </a:p>
          <a:p>
            <a:r>
              <a:rPr lang="en-IN" dirty="0">
                <a:effectLst/>
              </a:rPr>
              <a:t># Output: Alice</a:t>
            </a:r>
          </a:p>
          <a:p>
            <a:endParaRPr lang="en-IN" dirty="0">
              <a:effectLst/>
            </a:endParaRPr>
          </a:p>
          <a:p>
            <a:r>
              <a:rPr lang="en-IN" dirty="0">
                <a:effectLst/>
              </a:rPr>
              <a:t># Using .get() method</a:t>
            </a:r>
          </a:p>
          <a:p>
            <a:r>
              <a:rPr lang="en-IN" dirty="0">
                <a:effectLst/>
              </a:rPr>
              <a:t>print(</a:t>
            </a:r>
            <a:r>
              <a:rPr lang="en-IN" dirty="0" err="1">
                <a:effectLst/>
              </a:rPr>
              <a:t>person.get</a:t>
            </a:r>
            <a:r>
              <a:rPr lang="en-IN" dirty="0">
                <a:effectLst/>
              </a:rPr>
              <a:t>("email", "Not available"))</a:t>
            </a:r>
          </a:p>
          <a:p>
            <a:r>
              <a:rPr lang="en-IN" dirty="0">
                <a:effectLst/>
              </a:rPr>
              <a:t># Output: Not available</a:t>
            </a:r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561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22939-CC14-EF7D-21BB-374377D8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3. Adding and Modifying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4B846-65E8-3171-6090-510F290CB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You can add new key-value pairs or change existing values using the assignment operator =.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r>
              <a:rPr lang="en-IN" dirty="0">
                <a:effectLst/>
              </a:rPr>
              <a:t>person["email"] = "</a:t>
            </a:r>
            <a:r>
              <a:rPr lang="en-IN" dirty="0" err="1">
                <a:effectLst/>
              </a:rPr>
              <a:t>alice@example.com</a:t>
            </a:r>
            <a:r>
              <a:rPr lang="en-IN" dirty="0">
                <a:effectLst/>
              </a:rPr>
              <a:t>" # Add a new key-value pair</a:t>
            </a:r>
          </a:p>
          <a:p>
            <a:r>
              <a:rPr lang="en-IN" dirty="0">
                <a:effectLst/>
              </a:rPr>
              <a:t>person["age"] = 31                     # Modify an existing value</a:t>
            </a:r>
          </a:p>
          <a:p>
            <a:r>
              <a:rPr lang="en-IN" dirty="0">
                <a:effectLst/>
              </a:rPr>
              <a:t>print(person)</a:t>
            </a:r>
          </a:p>
          <a:p>
            <a:r>
              <a:rPr lang="en-IN" dirty="0">
                <a:effectLst/>
              </a:rPr>
              <a:t># Output: {'name': 'Alice', 'age': 31, 'role': 'Engineer', 'email': '</a:t>
            </a:r>
            <a:r>
              <a:rPr lang="en-IN" dirty="0" err="1">
                <a:effectLst/>
              </a:rPr>
              <a:t>alice@example.com</a:t>
            </a:r>
            <a:r>
              <a:rPr lang="en-IN" dirty="0">
                <a:effectLst/>
              </a:rPr>
              <a:t>’}</a:t>
            </a:r>
          </a:p>
          <a:p>
            <a:endParaRPr lang="en-IN" dirty="0">
              <a:effectLst/>
            </a:endParaRPr>
          </a:p>
          <a:p>
            <a:r>
              <a:rPr lang="en-IN" dirty="0"/>
              <a:t>The .update() method can be used to add multiple items from another dictionary or </a:t>
            </a:r>
            <a:r>
              <a:rPr lang="en-IN" dirty="0" err="1"/>
              <a:t>iterable</a:t>
            </a:r>
            <a:r>
              <a:rPr lang="en-IN" dirty="0"/>
              <a:t>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5152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242E5-5823-A626-850E-88C87DD38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4. Removing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7A46B-C851-E3F6-5F59-9370DA976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Items can be removed using the del keyword or dictionary methods like .pop() and .clear().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r>
              <a:rPr lang="en-IN" dirty="0">
                <a:effectLst/>
              </a:rPr>
              <a:t># Using del</a:t>
            </a:r>
          </a:p>
          <a:p>
            <a:r>
              <a:rPr lang="en-IN" dirty="0">
                <a:effectLst/>
              </a:rPr>
              <a:t>del person["role"]</a:t>
            </a:r>
          </a:p>
          <a:p>
            <a:r>
              <a:rPr lang="en-IN" dirty="0">
                <a:effectLst/>
              </a:rPr>
              <a:t>print(person)</a:t>
            </a:r>
          </a:p>
          <a:p>
            <a:r>
              <a:rPr lang="en-IN" dirty="0">
                <a:effectLst/>
              </a:rPr>
              <a:t># Output: {'name': 'Alice', 'age': 31, 'email': '</a:t>
            </a:r>
            <a:r>
              <a:rPr lang="en-IN" dirty="0" err="1">
                <a:effectLst/>
              </a:rPr>
              <a:t>alice@example.com</a:t>
            </a:r>
            <a:r>
              <a:rPr lang="en-IN" dirty="0">
                <a:effectLst/>
              </a:rPr>
              <a:t>'}</a:t>
            </a:r>
          </a:p>
          <a:p>
            <a:endParaRPr lang="en-IN" dirty="0">
              <a:effectLst/>
            </a:endParaRPr>
          </a:p>
          <a:p>
            <a:r>
              <a:rPr lang="en-IN" dirty="0">
                <a:effectLst/>
              </a:rPr>
              <a:t># Using .pop() (removes key and returns value)</a:t>
            </a:r>
          </a:p>
          <a:p>
            <a:r>
              <a:rPr lang="en-IN" dirty="0" err="1">
                <a:effectLst/>
              </a:rPr>
              <a:t>removed_email</a:t>
            </a:r>
            <a:r>
              <a:rPr lang="en-IN" dirty="0">
                <a:effectLst/>
              </a:rPr>
              <a:t> = </a:t>
            </a:r>
            <a:r>
              <a:rPr lang="en-IN" dirty="0" err="1">
                <a:effectLst/>
              </a:rPr>
              <a:t>person.pop</a:t>
            </a:r>
            <a:r>
              <a:rPr lang="en-IN" dirty="0">
                <a:effectLst/>
              </a:rPr>
              <a:t>("email")</a:t>
            </a:r>
          </a:p>
          <a:p>
            <a:r>
              <a:rPr lang="en-IN" dirty="0">
                <a:effectLst/>
              </a:rPr>
              <a:t>print(person)</a:t>
            </a:r>
          </a:p>
          <a:p>
            <a:r>
              <a:rPr lang="en-IN" dirty="0">
                <a:effectLst/>
              </a:rPr>
              <a:t># Output: {'name': 'Alice', 'age': 31}</a:t>
            </a:r>
          </a:p>
          <a:p>
            <a:r>
              <a:rPr lang="en-IN" dirty="0">
                <a:effectLst/>
              </a:rPr>
              <a:t>print(</a:t>
            </a:r>
            <a:r>
              <a:rPr lang="en-IN" dirty="0" err="1">
                <a:effectLst/>
              </a:rPr>
              <a:t>removed_email</a:t>
            </a:r>
            <a:r>
              <a:rPr lang="en-IN" dirty="0">
                <a:effectLst/>
              </a:rPr>
              <a:t>)</a:t>
            </a:r>
          </a:p>
          <a:p>
            <a:r>
              <a:rPr lang="en-IN" dirty="0">
                <a:effectLst/>
              </a:rPr>
              <a:t># Output: </a:t>
            </a:r>
            <a:r>
              <a:rPr lang="en-IN" dirty="0" err="1">
                <a:effectLst/>
              </a:rPr>
              <a:t>alice@example.com</a:t>
            </a:r>
            <a:br>
              <a:rPr lang="en-IN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8208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0A38-6FC4-F0D4-0EAB-AD80DE29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Removing Dictionary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5C0D1-A0AE-B885-0088-E030D23C8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Dictionary items can be removed using built-in deletion methods that work on keys: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del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removes an item using its key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u="sng" dirty="0">
                <a:solidFill>
                  <a:srgbClr val="357960"/>
                </a:solidFill>
                <a:effectLst/>
                <a:latin typeface="Nunito" pitchFamily="2" charset="77"/>
                <a:hlinkClick r:id="rId3"/>
              </a:rPr>
              <a:t>pop()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removes the item with the given key and returns its value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u="sng" dirty="0">
                <a:solidFill>
                  <a:srgbClr val="357960"/>
                </a:solidFill>
                <a:effectLst/>
                <a:latin typeface="Nunito" pitchFamily="2" charset="77"/>
                <a:hlinkClick r:id="rId4"/>
              </a:rPr>
              <a:t>clear()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removes all items from the dictionary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u="sng" dirty="0">
                <a:solidFill>
                  <a:srgbClr val="357960"/>
                </a:solidFill>
                <a:effectLst/>
                <a:latin typeface="Nunito" pitchFamily="2" charset="77"/>
                <a:hlinkClick r:id="rId5"/>
              </a:rPr>
              <a:t>popitem()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removes and returns the last inserted key–value pair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91648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AF0A-C10D-DE6A-4FF3-E13DA7F72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Dictionary </a:t>
            </a:r>
            <a:r>
              <a:rPr lang="en-US" dirty="0" err="1"/>
              <a:t>Methodss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63F5A-2188-99B4-2ED6-3AC6131F3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provides several built-in methods for working with dictionaries:</a:t>
            </a:r>
          </a:p>
          <a:p>
            <a:r>
              <a:rPr lang="en-US" dirty="0"/>
              <a:t>.keys(): Returns a view object of all the keys.</a:t>
            </a:r>
          </a:p>
          <a:p>
            <a:r>
              <a:rPr lang="en-US" dirty="0"/>
              <a:t>.values(): Returns a view object of all the values.</a:t>
            </a:r>
          </a:p>
          <a:p>
            <a:r>
              <a:rPr lang="en-US" dirty="0"/>
              <a:t>.items(): Returns a view object of key-value pairs as tuples.</a:t>
            </a:r>
          </a:p>
          <a:p>
            <a:r>
              <a:rPr lang="en-US" dirty="0"/>
              <a:t>.clear(): Removes all elements from the dictionary.</a:t>
            </a:r>
          </a:p>
          <a:p>
            <a:r>
              <a:rPr lang="en-US" dirty="0"/>
              <a:t>.copy(): Returns a shallow copy of the dictionary. </a:t>
            </a:r>
          </a:p>
        </p:txBody>
      </p:sp>
    </p:spTree>
    <p:extLst>
      <p:ext uri="{BB962C8B-B14F-4D97-AF65-F5344CB8AC3E}">
        <p14:creationId xmlns:p14="http://schemas.microsoft.com/office/powerpoint/2010/main" val="27050454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5A78B-97C7-5E31-3FBF-56E0E1F28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Iterating Through a Dictionary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DECC9-6EA0-D4D3-5EE5-BA52CC38C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rtl="0" fontAlgn="base"/>
            <a:r>
              <a:rPr lang="en-IN" sz="1600" b="0" dirty="0">
                <a:effectLst/>
                <a:latin typeface="Nunito" pitchFamily="2" charset="77"/>
              </a:rPr>
              <a:t>A dictionary can be traversed using a for loop to access its keys, values or both key-value pairs by using the built-in methods </a:t>
            </a:r>
            <a:r>
              <a:rPr lang="en-IN" sz="1600" b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keys()</a:t>
            </a:r>
            <a:r>
              <a:rPr lang="en-IN" sz="1600" b="0" dirty="0">
                <a:effectLst/>
                <a:latin typeface="Nunito" pitchFamily="2" charset="77"/>
              </a:rPr>
              <a:t>, </a:t>
            </a:r>
            <a:r>
              <a:rPr lang="en-IN" sz="1600" b="0" u="sng" dirty="0">
                <a:solidFill>
                  <a:srgbClr val="357960"/>
                </a:solidFill>
                <a:effectLst/>
                <a:latin typeface="Nunito" pitchFamily="2" charset="77"/>
                <a:hlinkClick r:id="rId3"/>
              </a:rPr>
              <a:t>values()</a:t>
            </a:r>
            <a:r>
              <a:rPr lang="en-IN" sz="1600" b="0" dirty="0">
                <a:effectLst/>
                <a:latin typeface="Nunito" pitchFamily="2" charset="77"/>
              </a:rPr>
              <a:t> and </a:t>
            </a:r>
            <a:r>
              <a:rPr lang="en-IN" sz="1600" b="0" u="sng" dirty="0">
                <a:solidFill>
                  <a:srgbClr val="357960"/>
                </a:solidFill>
                <a:effectLst/>
                <a:latin typeface="Nunito" pitchFamily="2" charset="77"/>
                <a:hlinkClick r:id="rId4"/>
              </a:rPr>
              <a:t>items()</a:t>
            </a:r>
            <a:r>
              <a:rPr lang="en-IN" sz="1600" b="0" dirty="0">
                <a:effectLst/>
                <a:latin typeface="Nunito" pitchFamily="2" charset="77"/>
              </a:rPr>
              <a:t>.</a:t>
            </a: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d = {1: 'Geeks', 2: 'For', 'age':22}</a:t>
            </a:r>
          </a:p>
          <a:p>
            <a:pPr algn="l" rtl="0"/>
            <a:endParaRPr lang="en-IN" sz="1600" b="0" i="0" dirty="0">
              <a:solidFill>
                <a:srgbClr val="000000"/>
              </a:solidFill>
              <a:effectLst/>
              <a:latin typeface="Nunito" pitchFamily="2" charset="77"/>
            </a:endParaRP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# Iterate over keys</a:t>
            </a: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for key in d:</a:t>
            </a: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    print(key)</a:t>
            </a:r>
          </a:p>
          <a:p>
            <a:pPr algn="l" rtl="0"/>
            <a:endParaRPr lang="en-IN" sz="1600" b="0" i="0" dirty="0">
              <a:solidFill>
                <a:srgbClr val="000000"/>
              </a:solidFill>
              <a:effectLst/>
              <a:latin typeface="Nunito" pitchFamily="2" charset="77"/>
            </a:endParaRP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# Iterate over values</a:t>
            </a: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for value in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Nunito" pitchFamily="2" charset="77"/>
              </a:rPr>
              <a:t>d.values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():</a:t>
            </a: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    print(value)</a:t>
            </a:r>
          </a:p>
          <a:p>
            <a:pPr algn="l" rtl="0"/>
            <a:endParaRPr lang="en-IN" sz="1600" b="0" i="0" dirty="0">
              <a:solidFill>
                <a:srgbClr val="000000"/>
              </a:solidFill>
              <a:effectLst/>
              <a:latin typeface="Nunito" pitchFamily="2" charset="77"/>
            </a:endParaRP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# Iterate over key-value pairs</a:t>
            </a: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for key, value in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Nunito" pitchFamily="2" charset="77"/>
              </a:rPr>
              <a:t>d.items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():</a:t>
            </a:r>
          </a:p>
          <a:p>
            <a:pPr algn="l" rtl="0"/>
            <a:r>
              <a:rPr lang="en-IN" sz="1600" b="0" i="0" dirty="0">
                <a:solidFill>
                  <a:srgbClr val="000000"/>
                </a:solidFill>
                <a:effectLst/>
                <a:latin typeface="Nunito" pitchFamily="2" charset="77"/>
              </a:rPr>
              <a:t>    print(f"{key}: {value}")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7975944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8875F-E0C3-4BDF-58D3-17625B361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Nested Dictionaries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E6F01-7A63-38F3-FBC6-11ADACCA7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 nested dictionary is a dictionary that contains another dictionary as one of its values. Below diagram shows how a nested dictionary works, where key 3 points to another dictionary inside the main dictionary.</a:t>
            </a:r>
          </a:p>
          <a:p>
            <a:endParaRPr lang="en-IN" dirty="0"/>
          </a:p>
          <a:p>
            <a:r>
              <a:rPr lang="en-US" dirty="0"/>
              <a:t>d = {1: 'Geeks', 2: 'For', 3: {'A': 'Welcome', 'B': 'To', 'C': 'Geeks'}}</a:t>
            </a:r>
          </a:p>
          <a:p>
            <a:r>
              <a:rPr lang="en-US" dirty="0"/>
              <a:t>print(d)</a:t>
            </a:r>
          </a:p>
        </p:txBody>
      </p:sp>
    </p:spTree>
    <p:extLst>
      <p:ext uri="{BB962C8B-B14F-4D97-AF65-F5344CB8AC3E}">
        <p14:creationId xmlns:p14="http://schemas.microsoft.com/office/powerpoint/2010/main" val="3612625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2677</TotalTime>
  <Words>6349</Words>
  <Application>Microsoft Macintosh PowerPoint</Application>
  <PresentationFormat>Widescreen</PresentationFormat>
  <Paragraphs>652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8" baseType="lpstr">
      <vt:lpstr>Aptos</vt:lpstr>
      <vt:lpstr>Aptos Display</vt:lpstr>
      <vt:lpstr>Arial</vt:lpstr>
      <vt:lpstr>Google Sans</vt:lpstr>
      <vt:lpstr>Nunito</vt:lpstr>
      <vt:lpstr>Source Sans Pro</vt:lpstr>
      <vt:lpstr>Office Theme</vt:lpstr>
      <vt:lpstr>Python Introduction</vt:lpstr>
      <vt:lpstr>Identifiers in Python</vt:lpstr>
      <vt:lpstr>Rules for Naming Identifiers</vt:lpstr>
      <vt:lpstr>Reserved Keywords in Python</vt:lpstr>
      <vt:lpstr>PowerPoint Presentation</vt:lpstr>
      <vt:lpstr>Basic Datatypes in Python</vt:lpstr>
      <vt:lpstr>PowerPoint Presentation</vt:lpstr>
      <vt:lpstr>Integers in python</vt:lpstr>
      <vt:lpstr>Example </vt:lpstr>
      <vt:lpstr>Converting to a different Systemss</vt:lpstr>
      <vt:lpstr>PowerPoint Presentation</vt:lpstr>
      <vt:lpstr>PowerPoint Presentation</vt:lpstr>
      <vt:lpstr>Creating Complex Number</vt:lpstr>
      <vt:lpstr>PowerPoint Presentation</vt:lpstr>
      <vt:lpstr>PowerPoint Presentation</vt:lpstr>
      <vt:lpstr>type() and id() built-in functions</vt:lpstr>
      <vt:lpstr>PowerPoint Presentation</vt:lpstr>
      <vt:lpstr>PowerPoint Presentation</vt:lpstr>
      <vt:lpstr>PowerPoint Presentation</vt:lpstr>
      <vt:lpstr>String in python</vt:lpstr>
      <vt:lpstr>Key Concepts</vt:lpstr>
      <vt:lpstr>Common Operations and Methods</vt:lpstr>
      <vt:lpstr>PowerPoint Presentation</vt:lpstr>
      <vt:lpstr>Case Modification</vt:lpstr>
      <vt:lpstr>Searching and Finding</vt:lpstr>
      <vt:lpstr>Trimming and Replacing</vt:lpstr>
      <vt:lpstr>Splitting and Joining</vt:lpstr>
      <vt:lpstr>Formatting and Validation</vt:lpstr>
      <vt:lpstr>print() function in python</vt:lpstr>
      <vt:lpstr>Parameters of print() function</vt:lpstr>
      <vt:lpstr>Examples: print()</vt:lpstr>
      <vt:lpstr>Examples: print()</vt:lpstr>
      <vt:lpstr>input() function in python</vt:lpstr>
      <vt:lpstr>Key Features and Examples</vt:lpstr>
      <vt:lpstr>PowerPoint Presentation</vt:lpstr>
      <vt:lpstr>PowerPoint Presentation</vt:lpstr>
      <vt:lpstr>PowerPoint Presentation</vt:lpstr>
      <vt:lpstr>Formatted input and f-string in Python</vt:lpstr>
      <vt:lpstr>PowerPoint Presentation</vt:lpstr>
      <vt:lpstr>Formatted Output</vt:lpstr>
      <vt:lpstr>PowerPoint Presentation</vt:lpstr>
      <vt:lpstr>PowerPoint Presentation</vt:lpstr>
      <vt:lpstr>PowerPoint Presentation</vt:lpstr>
      <vt:lpstr>Formatting Output using String Modulo Operator(%)</vt:lpstr>
      <vt:lpstr>Formatting Output using The Format Method</vt:lpstr>
      <vt:lpstr>PowerPoint Presentation</vt:lpstr>
      <vt:lpstr>Advanced Usage with Positional and Named Parameters</vt:lpstr>
      <vt:lpstr>Formatting Output using String Method</vt:lpstr>
      <vt:lpstr>PowerPoint Presentation</vt:lpstr>
      <vt:lpstr>Format Conversion Rule</vt:lpstr>
      <vt:lpstr>Set in Python</vt:lpstr>
      <vt:lpstr>Accessing Set element</vt:lpstr>
      <vt:lpstr>Converting to an Ordered Collection</vt:lpstr>
      <vt:lpstr>PowerPoint Presentation</vt:lpstr>
      <vt:lpstr>Create a Set</vt:lpstr>
      <vt:lpstr>Adding Elements to a Set in Python</vt:lpstr>
      <vt:lpstr>Removing Elements from the Set in Python</vt:lpstr>
      <vt:lpstr>Removing Elements from Set</vt:lpstr>
      <vt:lpstr>Removing Elements from Set</vt:lpstr>
      <vt:lpstr>Common Set Operations and Methods</vt:lpstr>
      <vt:lpstr>Frozen Sets</vt:lpstr>
      <vt:lpstr>PowerPoint Presentation</vt:lpstr>
      <vt:lpstr>Typecasting Objects into Sets</vt:lpstr>
      <vt:lpstr>PowerPoint Presentation</vt:lpstr>
      <vt:lpstr>Shallow Copy vs Deep Copy</vt:lpstr>
      <vt:lpstr>1. Shallow Copy</vt:lpstr>
      <vt:lpstr>Common ways to create a shallow copy include</vt:lpstr>
      <vt:lpstr>2. Deep Copy</vt:lpstr>
      <vt:lpstr>Way to create deep copy</vt:lpstr>
      <vt:lpstr>Key Differences Summary</vt:lpstr>
      <vt:lpstr>Dictionary in Python</vt:lpstr>
      <vt:lpstr>Key Characteristics</vt:lpstr>
      <vt:lpstr>Basic Operations and Examples</vt:lpstr>
      <vt:lpstr>1. Creation</vt:lpstr>
      <vt:lpstr>2. Accessing Values</vt:lpstr>
      <vt:lpstr>3. Adding and Modifying Items</vt:lpstr>
      <vt:lpstr>4. Removing Items</vt:lpstr>
      <vt:lpstr>Removing Dictionary Items</vt:lpstr>
      <vt:lpstr>Common Dictionary Methodss</vt:lpstr>
      <vt:lpstr>Iterating Through a Dictionary</vt:lpstr>
      <vt:lpstr>Nested Dictionaries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264</cp:revision>
  <dcterms:created xsi:type="dcterms:W3CDTF">2026-01-15T04:12:31Z</dcterms:created>
  <dcterms:modified xsi:type="dcterms:W3CDTF">2026-08-13T04:49:08Z</dcterms:modified>
</cp:coreProperties>
</file>