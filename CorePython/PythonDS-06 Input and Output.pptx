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0" r:id="rId5"/>
    <p:sldId id="271" r:id="rId6"/>
    <p:sldId id="268" r:id="rId7"/>
    <p:sldId id="269" r:id="rId8"/>
    <p:sldId id="259" r:id="rId9"/>
    <p:sldId id="272" r:id="rId10"/>
    <p:sldId id="260" r:id="rId11"/>
    <p:sldId id="261" r:id="rId12"/>
    <p:sldId id="273" r:id="rId13"/>
    <p:sldId id="274" r:id="rId14"/>
    <p:sldId id="275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1"/>
    <p:restoredTop sz="94523"/>
  </p:normalViewPr>
  <p:slideViewPr>
    <p:cSldViewPr snapToGrid="0">
      <p:cViewPr varScale="1">
        <p:scale>
          <a:sx n="49" d="100"/>
          <a:sy n="49" d="100"/>
        </p:scale>
        <p:origin x="20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tutorial/inputoutput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PythonDS-06 Input and Output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AC428-50A9-DD38-FAE6-2BDC60DE5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1B234-BD7F-0ECF-1F4C-FABBB59DE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In Python, the </a:t>
            </a:r>
            <a:r>
              <a:rPr lang="en-IN" b="1" u="none" strike="noStrike" dirty="0">
                <a:effectLst/>
                <a:latin typeface="Google Sans"/>
              </a:rPr>
              <a:t>input()</a:t>
            </a:r>
            <a:r>
              <a:rPr lang="en-IN" dirty="0"/>
              <a:t> function captures data from the user as a </a:t>
            </a:r>
            <a:r>
              <a:rPr lang="en-IN" b="1" u="none" strike="noStrike" dirty="0">
                <a:effectLst/>
                <a:latin typeface="Google Sans"/>
              </a:rPr>
              <a:t>string</a:t>
            </a:r>
            <a:r>
              <a:rPr lang="en-IN" dirty="0"/>
              <a:t>, while the </a:t>
            </a:r>
            <a:r>
              <a:rPr lang="en-IN" b="1" u="none" strike="noStrike" dirty="0">
                <a:effectLst/>
                <a:latin typeface="Google Sans"/>
              </a:rPr>
              <a:t>print()</a:t>
            </a:r>
            <a:r>
              <a:rPr lang="en-IN" dirty="0"/>
              <a:t> function sends data out to the console. Together, they form the core foundation of program interaction.</a:t>
            </a:r>
          </a:p>
          <a:p>
            <a:r>
              <a:rPr lang="en-IN" b="1" u="none" strike="noStrike" dirty="0">
                <a:effectLst/>
                <a:latin typeface="Google Sans"/>
              </a:rPr>
              <a:t>1. Standard Input using input()</a:t>
            </a:r>
          </a:p>
          <a:p>
            <a:r>
              <a:rPr lang="en-IN" b="0" u="none" strike="noStrike" dirty="0">
                <a:effectLst/>
                <a:latin typeface="Google Sans"/>
              </a:rPr>
              <a:t>The input() function pauses your script and waits for the user to type something. []</a:t>
            </a:r>
          </a:p>
          <a:p>
            <a:r>
              <a:rPr lang="en-IN" b="1" u="none" strike="noStrike" dirty="0">
                <a:effectLst/>
                <a:latin typeface="Google Sans"/>
              </a:rPr>
              <a:t>Default type</a:t>
            </a:r>
            <a:r>
              <a:rPr lang="en-IN" b="0" u="none" strike="noStrike" dirty="0">
                <a:effectLst/>
                <a:latin typeface="Google Sans"/>
              </a:rPr>
              <a:t>: Always returns data as a string (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str</a:t>
            </a:r>
            <a:r>
              <a:rPr lang="en-IN" b="0" u="none" strike="noStrike" dirty="0">
                <a:effectLst/>
                <a:latin typeface="Google Sans"/>
              </a:rPr>
              <a:t>).</a:t>
            </a:r>
          </a:p>
          <a:p>
            <a:r>
              <a:rPr lang="en-IN" b="1" u="none" strike="noStrike" dirty="0">
                <a:effectLst/>
                <a:latin typeface="Google Sans"/>
              </a:rPr>
              <a:t>Prompt</a:t>
            </a:r>
            <a:r>
              <a:rPr lang="en-IN" b="0" u="none" strike="noStrike" dirty="0">
                <a:effectLst/>
                <a:latin typeface="Google Sans"/>
              </a:rPr>
              <a:t>: Accepts an optional string argument to show instructions.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015CD1-A6A9-C47A-57AA-CFD1F11D2C20}"/>
              </a:ext>
            </a:extLst>
          </p:cNvPr>
          <p:cNvSpPr txBox="1"/>
          <p:nvPr/>
        </p:nvSpPr>
        <p:spPr>
          <a:xfrm>
            <a:off x="3291840" y="5661878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name = input("Enter your name: ")</a:t>
            </a:r>
          </a:p>
          <a:p>
            <a:r>
              <a:rPr lang="en-US" sz="2400" dirty="0"/>
              <a:t>print("Hello, " + name)</a:t>
            </a:r>
          </a:p>
        </p:txBody>
      </p:sp>
    </p:spTree>
    <p:extLst>
      <p:ext uri="{BB962C8B-B14F-4D97-AF65-F5344CB8AC3E}">
        <p14:creationId xmlns:p14="http://schemas.microsoft.com/office/powerpoint/2010/main" val="2099227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A3F1E-6C6A-40BB-79F9-92EC8BFFE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Type Casting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A2ED0-31B2-B06B-C3FA-043342B6E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Because input() reads everything as text, you must explicitly convert (cast) it to do mathematics: </a:t>
            </a:r>
          </a:p>
          <a:p>
            <a:r>
              <a:rPr lang="en-IN" b="1" u="none" strike="noStrike" dirty="0">
                <a:effectLst/>
                <a:latin typeface="Google Sans"/>
              </a:rPr>
              <a:t>Integers</a:t>
            </a:r>
            <a:r>
              <a:rPr lang="en-IN" b="0" u="none" strike="noStrike" dirty="0">
                <a:effectLst/>
                <a:latin typeface="Google Sans"/>
              </a:rPr>
              <a:t>: age = int(input("Enter age: "))</a:t>
            </a:r>
          </a:p>
          <a:p>
            <a:r>
              <a:rPr lang="en-IN" b="1" u="none" strike="noStrike" dirty="0">
                <a:effectLst/>
                <a:latin typeface="Google Sans"/>
              </a:rPr>
              <a:t>Floats</a:t>
            </a:r>
            <a:r>
              <a:rPr lang="en-IN" b="0" u="none" strike="noStrike" dirty="0">
                <a:effectLst/>
                <a:latin typeface="Google Sans"/>
              </a:rPr>
              <a:t>: price = float(input("Enter price: ")) </a:t>
            </a:r>
          </a:p>
          <a:p>
            <a:endParaRPr lang="en-IN" b="1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Multiple Inputs on One Line</a:t>
            </a:r>
          </a:p>
          <a:p>
            <a:r>
              <a:rPr lang="en-IN" b="0" u="none" strike="noStrike" dirty="0">
                <a:effectLst/>
                <a:latin typeface="Google Sans"/>
              </a:rPr>
              <a:t>Use the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.split()</a:t>
            </a:r>
            <a:r>
              <a:rPr lang="en-IN" b="0" u="none" strike="noStrike" dirty="0">
                <a:effectLst/>
                <a:latin typeface="Google Sans"/>
              </a:rPr>
              <a:t> method to read multiple space-separated values at once: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3AB2F0-2FBA-02C8-A5B0-2B6092F7AE26}"/>
              </a:ext>
            </a:extLst>
          </p:cNvPr>
          <p:cNvSpPr txBox="1"/>
          <p:nvPr/>
        </p:nvSpPr>
        <p:spPr>
          <a:xfrm>
            <a:off x="3048000" y="548090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# User enters: 10 20</a:t>
            </a:r>
          </a:p>
          <a:p>
            <a:r>
              <a:rPr lang="en-US" sz="2400" dirty="0"/>
              <a:t>x, y = input("Enter two numbers: ").split()</a:t>
            </a:r>
          </a:p>
        </p:txBody>
      </p:sp>
    </p:spTree>
    <p:extLst>
      <p:ext uri="{BB962C8B-B14F-4D97-AF65-F5344CB8AC3E}">
        <p14:creationId xmlns:p14="http://schemas.microsoft.com/office/powerpoint/2010/main" val="2397192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4B2F13-5661-500B-7C8C-BCB95B7F6579}"/>
              </a:ext>
            </a:extLst>
          </p:cNvPr>
          <p:cNvSpPr txBox="1"/>
          <p:nvPr/>
        </p:nvSpPr>
        <p:spPr>
          <a:xfrm>
            <a:off x="304800" y="25595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name = input("What is your name? ")</a:t>
            </a:r>
          </a:p>
          <a:p>
            <a:r>
              <a:rPr lang="en-US" dirty="0"/>
              <a:t>print("Hello, " + name + "!")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21AB7-7FC5-9316-F000-588528179BE8}"/>
              </a:ext>
            </a:extLst>
          </p:cNvPr>
          <p:cNvSpPr txBox="1"/>
          <p:nvPr/>
        </p:nvSpPr>
        <p:spPr>
          <a:xfrm>
            <a:off x="6522720" y="16362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Taking input from the user</a:t>
            </a:r>
          </a:p>
          <a:p>
            <a:r>
              <a:rPr lang="en-US" dirty="0"/>
              <a:t>string = input()</a:t>
            </a:r>
          </a:p>
          <a:p>
            <a:endParaRPr lang="en-US" dirty="0"/>
          </a:p>
          <a:p>
            <a:r>
              <a:rPr lang="en-US" dirty="0"/>
              <a:t># Output</a:t>
            </a:r>
          </a:p>
          <a:p>
            <a:r>
              <a:rPr lang="en-US" dirty="0"/>
              <a:t>print(string)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7AB8A-4F1A-DFBB-9F6E-8989840C9326}"/>
              </a:ext>
            </a:extLst>
          </p:cNvPr>
          <p:cNvSpPr txBox="1"/>
          <p:nvPr/>
        </p:nvSpPr>
        <p:spPr>
          <a:xfrm>
            <a:off x="304800" y="2156936"/>
            <a:ext cx="63093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Taking input from the user</a:t>
            </a:r>
          </a:p>
          <a:p>
            <a:r>
              <a:rPr lang="en-US" dirty="0"/>
              <a:t>name = input("Enter your name")</a:t>
            </a:r>
          </a:p>
          <a:p>
            <a:endParaRPr lang="en-US" dirty="0"/>
          </a:p>
          <a:p>
            <a:r>
              <a:rPr lang="en-US" dirty="0"/>
              <a:t># Output</a:t>
            </a:r>
          </a:p>
          <a:p>
            <a:r>
              <a:rPr lang="en-US" dirty="0"/>
              <a:t>print("Hello", name)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EACDF6-4DD0-E74E-8B39-2D35BF5B46F7}"/>
              </a:ext>
            </a:extLst>
          </p:cNvPr>
          <p:cNvSpPr txBox="1"/>
          <p:nvPr/>
        </p:nvSpPr>
        <p:spPr>
          <a:xfrm>
            <a:off x="6416040" y="2156936"/>
            <a:ext cx="63093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Taking input from the user as integer</a:t>
            </a:r>
          </a:p>
          <a:p>
            <a:r>
              <a:rPr lang="en-US" dirty="0"/>
              <a:t>num = int(input("Enter a number:"))</a:t>
            </a:r>
          </a:p>
          <a:p>
            <a:r>
              <a:rPr lang="en-US" dirty="0"/>
              <a:t>add = num + 1</a:t>
            </a:r>
          </a:p>
          <a:p>
            <a:endParaRPr lang="en-US" dirty="0"/>
          </a:p>
          <a:p>
            <a:r>
              <a:rPr lang="en-US" dirty="0"/>
              <a:t># Output</a:t>
            </a:r>
          </a:p>
          <a:p>
            <a:r>
              <a:rPr lang="en-US" dirty="0"/>
              <a:t>print(add)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6A380A-1FBB-0453-CE66-1EB5BF9D6AE8}"/>
              </a:ext>
            </a:extLst>
          </p:cNvPr>
          <p:cNvSpPr txBox="1"/>
          <p:nvPr/>
        </p:nvSpPr>
        <p:spPr>
          <a:xfrm>
            <a:off x="304800" y="4570720"/>
            <a:ext cx="63627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Taking input from the user as float</a:t>
            </a:r>
          </a:p>
          <a:p>
            <a:endParaRPr lang="en-US" dirty="0"/>
          </a:p>
          <a:p>
            <a:r>
              <a:rPr lang="en-US" dirty="0"/>
              <a:t>num =float(input("Enter number "))</a:t>
            </a:r>
          </a:p>
          <a:p>
            <a:r>
              <a:rPr lang="en-US" dirty="0"/>
              <a:t>add = num + 1</a:t>
            </a:r>
          </a:p>
          <a:p>
            <a:endParaRPr lang="en-US" dirty="0"/>
          </a:p>
          <a:p>
            <a:r>
              <a:rPr lang="en-US" dirty="0"/>
              <a:t># output</a:t>
            </a:r>
          </a:p>
          <a:p>
            <a:r>
              <a:rPr lang="en-US" dirty="0"/>
              <a:t>print(add)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C17BDC-FB01-DC04-0733-79C5DACE3248}"/>
              </a:ext>
            </a:extLst>
          </p:cNvPr>
          <p:cNvSpPr txBox="1"/>
          <p:nvPr/>
        </p:nvSpPr>
        <p:spPr>
          <a:xfrm>
            <a:off x="6385561" y="4444334"/>
            <a:ext cx="63627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Taking input from the user as list</a:t>
            </a:r>
          </a:p>
          <a:p>
            <a:endParaRPr lang="en-US" dirty="0"/>
          </a:p>
          <a:p>
            <a:r>
              <a:rPr lang="en-US" dirty="0"/>
              <a:t>li =list(input("Enter number "))</a:t>
            </a:r>
          </a:p>
          <a:p>
            <a:endParaRPr lang="en-US" dirty="0"/>
          </a:p>
          <a:p>
            <a:r>
              <a:rPr lang="en-US" dirty="0"/>
              <a:t># output</a:t>
            </a:r>
          </a:p>
          <a:p>
            <a:r>
              <a:rPr lang="en-US" dirty="0"/>
              <a:t>print(li)</a:t>
            </a:r>
          </a:p>
        </p:txBody>
      </p:sp>
    </p:spTree>
    <p:extLst>
      <p:ext uri="{BB962C8B-B14F-4D97-AF65-F5344CB8AC3E}">
        <p14:creationId xmlns:p14="http://schemas.microsoft.com/office/powerpoint/2010/main" val="4090713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4D13D5-86A7-3DBF-FDB6-298A322A987E}"/>
              </a:ext>
            </a:extLst>
          </p:cNvPr>
          <p:cNvSpPr txBox="1"/>
          <p:nvPr/>
        </p:nvSpPr>
        <p:spPr>
          <a:xfrm>
            <a:off x="365760" y="32679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Taking input from the user as tuple</a:t>
            </a:r>
          </a:p>
          <a:p>
            <a:endParaRPr lang="en-US" dirty="0"/>
          </a:p>
          <a:p>
            <a:r>
              <a:rPr lang="en-US" dirty="0"/>
              <a:t>num =tuple(input("Enter number "))</a:t>
            </a:r>
          </a:p>
          <a:p>
            <a:endParaRPr lang="en-US" dirty="0"/>
          </a:p>
          <a:p>
            <a:r>
              <a:rPr lang="en-US" dirty="0"/>
              <a:t># output</a:t>
            </a:r>
          </a:p>
          <a:p>
            <a:r>
              <a:rPr lang="en-US" dirty="0"/>
              <a:t>print(num)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5AF1E3-328E-FC62-96BD-61FFAEE7D506}"/>
              </a:ext>
            </a:extLst>
          </p:cNvPr>
          <p:cNvSpPr txBox="1"/>
          <p:nvPr/>
        </p:nvSpPr>
        <p:spPr>
          <a:xfrm>
            <a:off x="5425440" y="32679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words_str</a:t>
            </a:r>
            <a:r>
              <a:rPr lang="en-US" dirty="0"/>
              <a:t> = input("Enter a list of words, separated by spaces: ")</a:t>
            </a:r>
          </a:p>
          <a:p>
            <a:r>
              <a:rPr lang="en-US" dirty="0"/>
              <a:t>words = {word: </a:t>
            </a:r>
            <a:r>
              <a:rPr lang="en-US" dirty="0" err="1"/>
              <a:t>len</a:t>
            </a:r>
            <a:r>
              <a:rPr lang="en-US" dirty="0"/>
              <a:t>(word) for word in </a:t>
            </a:r>
            <a:r>
              <a:rPr lang="en-US" dirty="0" err="1"/>
              <a:t>words_str.split</a:t>
            </a:r>
            <a:r>
              <a:rPr lang="en-US" dirty="0"/>
              <a:t>()}</a:t>
            </a:r>
          </a:p>
          <a:p>
            <a:r>
              <a:rPr lang="en-US" dirty="0"/>
              <a:t>print(words)</a:t>
            </a:r>
          </a:p>
        </p:txBody>
      </p:sp>
    </p:spTree>
    <p:extLst>
      <p:ext uri="{BB962C8B-B14F-4D97-AF65-F5344CB8AC3E}">
        <p14:creationId xmlns:p14="http://schemas.microsoft.com/office/powerpoint/2010/main" val="2746774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B0D7E-5FEB-8CDA-469D-BA3448BCE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533AC-362E-51B6-69FB-573EE94AF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420BF-890E-B344-EBB4-A4902FA81C3E}"/>
              </a:ext>
            </a:extLst>
          </p:cNvPr>
          <p:cNvSpPr txBox="1"/>
          <p:nvPr/>
        </p:nvSpPr>
        <p:spPr>
          <a:xfrm>
            <a:off x="274320" y="365125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# taking two inputs at a time</a:t>
            </a:r>
          </a:p>
          <a:p>
            <a:r>
              <a:rPr lang="en-US" sz="2800" dirty="0">
                <a:solidFill>
                  <a:srgbClr val="00B050"/>
                </a:solidFill>
              </a:rPr>
              <a:t>x, y, z = input("Values: ").split()</a:t>
            </a:r>
          </a:p>
          <a:p>
            <a:r>
              <a:rPr lang="en-US" sz="2800" dirty="0">
                <a:solidFill>
                  <a:srgbClr val="00B050"/>
                </a:solidFill>
              </a:rPr>
              <a:t>print(x)</a:t>
            </a:r>
          </a:p>
          <a:p>
            <a:r>
              <a:rPr lang="en-US" sz="2800" dirty="0">
                <a:solidFill>
                  <a:srgbClr val="00B050"/>
                </a:solidFill>
              </a:rPr>
              <a:t>print(y)</a:t>
            </a:r>
          </a:p>
          <a:p>
            <a:r>
              <a:rPr lang="en-US" sz="2800" dirty="0">
                <a:solidFill>
                  <a:srgbClr val="00B050"/>
                </a:solidFill>
              </a:rPr>
              <a:t>print(z)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2AAA12-501E-E3F8-7785-DA447759DE18}"/>
              </a:ext>
            </a:extLst>
          </p:cNvPr>
          <p:cNvSpPr txBox="1"/>
          <p:nvPr/>
        </p:nvSpPr>
        <p:spPr>
          <a:xfrm>
            <a:off x="5135880" y="180459"/>
            <a:ext cx="70561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# Take space-separated inputs and convert them to integers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numbers = list(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map( int, input("Values: ").split()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)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print(numbers)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8BA867-1C1B-FAA3-B9CB-8EDD70E65BCA}"/>
              </a:ext>
            </a:extLst>
          </p:cNvPr>
          <p:cNvSpPr txBox="1"/>
          <p:nvPr/>
        </p:nvSpPr>
        <p:spPr>
          <a:xfrm>
            <a:off x="274320" y="3634244"/>
            <a:ext cx="83058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Take space-separated inputs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and convert them to integers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numbers = [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int(x)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for x in input("Values: ").split()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]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print(numbers)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F2793D-62D3-F19E-DFD3-84BF966BEBBB}"/>
              </a:ext>
            </a:extLst>
          </p:cNvPr>
          <p:cNvSpPr txBox="1"/>
          <p:nvPr/>
        </p:nvSpPr>
        <p:spPr>
          <a:xfrm>
            <a:off x="4914900" y="2271097"/>
            <a:ext cx="10972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# Create an empty list to store the inputs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 = []</a:t>
            </a:r>
          </a:p>
          <a:p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# Ask the user for how many items they want to input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 = int(input("How many items do you want to enter? "))</a:t>
            </a:r>
          </a:p>
          <a:p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# Loop to collect multiple inputs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for 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in range(b):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val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= input(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f"Enter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item {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+ 1}: ")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a.append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val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for 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in a: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print(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64347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76E4D-B3B1-62B3-34C2-B4F6E7C9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F9487-F741-1256-E7A4-CDECCA3A4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E55D7E-1FF5-6D59-429A-9480F0829FE9}"/>
              </a:ext>
            </a:extLst>
          </p:cNvPr>
          <p:cNvSpPr txBox="1"/>
          <p:nvPr/>
        </p:nvSpPr>
        <p:spPr>
          <a:xfrm>
            <a:off x="304800" y="365125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# Take comma-separated integer inputs</a:t>
            </a:r>
          </a:p>
          <a:p>
            <a:r>
              <a:rPr lang="en-US" sz="2400" dirty="0"/>
              <a:t>numbers = list(</a:t>
            </a:r>
          </a:p>
          <a:p>
            <a:r>
              <a:rPr lang="en-US" sz="2400" dirty="0"/>
              <a:t>    map(</a:t>
            </a:r>
          </a:p>
          <a:p>
            <a:r>
              <a:rPr lang="en-US" sz="2400" dirty="0"/>
              <a:t>        int,</a:t>
            </a:r>
          </a:p>
          <a:p>
            <a:r>
              <a:rPr lang="en-US" sz="2400" dirty="0"/>
              <a:t>        input("Values: ").split(",")</a:t>
            </a:r>
          </a:p>
          <a:p>
            <a:r>
              <a:rPr lang="en-US" sz="2400" dirty="0"/>
              <a:t>    )</a:t>
            </a:r>
          </a:p>
          <a:p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dirty="0"/>
              <a:t>print(numbers)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29BE8D-6574-ADD4-8F15-596A7EC1390F}"/>
              </a:ext>
            </a:extLst>
          </p:cNvPr>
          <p:cNvSpPr txBox="1"/>
          <p:nvPr/>
        </p:nvSpPr>
        <p:spPr>
          <a:xfrm>
            <a:off x="7200900" y="365125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numbers = list(</a:t>
            </a:r>
          </a:p>
          <a:p>
            <a:r>
              <a:rPr lang="en-US" sz="2400" dirty="0"/>
              <a:t>    map(</a:t>
            </a:r>
          </a:p>
          <a:p>
            <a:r>
              <a:rPr lang="en-US" sz="2400" dirty="0"/>
              <a:t>        int,</a:t>
            </a:r>
          </a:p>
          <a:p>
            <a:r>
              <a:rPr lang="en-US" sz="2400" dirty="0"/>
              <a:t>        input("Values: ").split("-")</a:t>
            </a:r>
          </a:p>
          <a:p>
            <a:r>
              <a:rPr lang="en-US" sz="2400" dirty="0"/>
              <a:t>    )</a:t>
            </a:r>
          </a:p>
          <a:p>
            <a:r>
              <a:rPr lang="en-US" sz="2400" dirty="0"/>
              <a:t>)</a:t>
            </a:r>
          </a:p>
          <a:p>
            <a:r>
              <a:rPr lang="en-US" sz="2400" dirty="0"/>
              <a:t>print(numbers)</a:t>
            </a:r>
          </a:p>
        </p:txBody>
      </p:sp>
    </p:spTree>
    <p:extLst>
      <p:ext uri="{BB962C8B-B14F-4D97-AF65-F5344CB8AC3E}">
        <p14:creationId xmlns:p14="http://schemas.microsoft.com/office/powerpoint/2010/main" val="2266874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5149-C844-0F39-E1EA-44198DB23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2. Standard Output using print()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A04B3-F54E-5BE9-AD7B-702C3EC89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The print() function formats and displays objects onto your screen. </a:t>
            </a:r>
          </a:p>
          <a:p>
            <a:r>
              <a:rPr lang="en-IN" b="1" u="none" strike="noStrike" dirty="0">
                <a:effectLst/>
                <a:latin typeface="Google Sans"/>
              </a:rPr>
              <a:t>Advanced Arguments</a:t>
            </a:r>
          </a:p>
          <a:p>
            <a:r>
              <a:rPr lang="en-IN" b="0" u="none" strike="noStrike" dirty="0">
                <a:effectLst/>
                <a:latin typeface="Google Sans"/>
              </a:rPr>
              <a:t>According to the official </a:t>
            </a:r>
            <a:r>
              <a:rPr lang="en-IN" b="0" u="none" strike="noStrike" dirty="0">
                <a:effectLst/>
                <a:latin typeface="Google Sans"/>
                <a:hlinkClick r:id="rId2"/>
              </a:rPr>
              <a:t>Python Documentation</a:t>
            </a:r>
            <a:r>
              <a:rPr lang="en-IN" b="0" u="none" strike="noStrike" dirty="0">
                <a:effectLst/>
                <a:latin typeface="Google Sans"/>
              </a:rPr>
              <a:t>, print() accepts optional keyword parameters that change its </a:t>
            </a:r>
            <a:r>
              <a:rPr lang="en-IN" b="0" u="none" strike="noStrike" dirty="0" err="1">
                <a:effectLst/>
                <a:latin typeface="Google Sans"/>
              </a:rPr>
              <a:t>behavior</a:t>
            </a:r>
            <a:r>
              <a:rPr lang="en-IN" b="0" u="none" strike="noStrike" dirty="0">
                <a:effectLst/>
                <a:latin typeface="Google Sans"/>
              </a:rPr>
              <a:t>: </a:t>
            </a:r>
          </a:p>
          <a:p>
            <a:r>
              <a:rPr lang="en-IN" b="1" u="none" strike="noStrike" dirty="0" err="1">
                <a:effectLst/>
                <a:latin typeface="Courier New" panose="02070309020205020404" pitchFamily="49" charset="0"/>
              </a:rPr>
              <a:t>sep</a:t>
            </a:r>
            <a:r>
              <a:rPr lang="en-IN" b="0" u="none" strike="noStrike" dirty="0">
                <a:effectLst/>
                <a:latin typeface="Google Sans"/>
              </a:rPr>
              <a:t>: Sets the character that separates multiple items (Default is a space).</a:t>
            </a:r>
          </a:p>
          <a:p>
            <a:r>
              <a:rPr lang="en-IN" b="1" u="none" strike="noStrike" dirty="0">
                <a:effectLst/>
                <a:latin typeface="Courier New" panose="02070309020205020404" pitchFamily="49" charset="0"/>
              </a:rPr>
              <a:t>end</a:t>
            </a:r>
            <a:r>
              <a:rPr lang="en-IN" b="0" u="none" strike="noStrike" dirty="0">
                <a:effectLst/>
                <a:latin typeface="Google Sans"/>
              </a:rPr>
              <a:t>: Sets what prints at the very end of the line (Default is a newline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\n</a:t>
            </a:r>
            <a:r>
              <a:rPr lang="en-IN" b="0" u="none" strike="noStrike" dirty="0">
                <a:effectLst/>
                <a:latin typeface="Google Sans"/>
              </a:rPr>
              <a:t>). []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9D112B-63DB-432B-C283-479A048EF6E0}"/>
              </a:ext>
            </a:extLst>
          </p:cNvPr>
          <p:cNvSpPr txBox="1"/>
          <p:nvPr/>
        </p:nvSpPr>
        <p:spPr>
          <a:xfrm>
            <a:off x="2453640" y="5292546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# Custom separator and custom line end</a:t>
            </a:r>
          </a:p>
          <a:p>
            <a:r>
              <a:rPr lang="en-US" sz="2400" dirty="0"/>
              <a:t>print("Apple", "Banana", "Cherry", </a:t>
            </a:r>
            <a:r>
              <a:rPr lang="en-US" sz="2400" dirty="0" err="1"/>
              <a:t>sep</a:t>
            </a:r>
            <a:r>
              <a:rPr lang="en-US" sz="2400" dirty="0"/>
              <a:t>=", ", end="!!!\n")</a:t>
            </a:r>
          </a:p>
          <a:p>
            <a:r>
              <a:rPr lang="en-US" sz="2400" dirty="0"/>
              <a:t># Output: Apple, Banana, Cherry!!!</a:t>
            </a:r>
          </a:p>
        </p:txBody>
      </p:sp>
    </p:spTree>
    <p:extLst>
      <p:ext uri="{BB962C8B-B14F-4D97-AF65-F5344CB8AC3E}">
        <p14:creationId xmlns:p14="http://schemas.microsoft.com/office/powerpoint/2010/main" val="2950182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BE6A72-E332-B70F-407B-8EDF0D4D862E}"/>
              </a:ext>
            </a:extLst>
          </p:cNvPr>
          <p:cNvSpPr txBox="1"/>
          <p:nvPr/>
        </p:nvSpPr>
        <p:spPr>
          <a:xfrm>
            <a:off x="167640" y="145256"/>
            <a:ext cx="609600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 print() function example</a:t>
            </a:r>
          </a:p>
          <a:p>
            <a:r>
              <a:rPr lang="en-US" dirty="0"/>
              <a:t>print(”Welcome to Python Programming")</a:t>
            </a:r>
          </a:p>
          <a:p>
            <a:endParaRPr lang="en-US" dirty="0"/>
          </a:p>
          <a:p>
            <a:r>
              <a:rPr lang="en-US" dirty="0"/>
              <a:t>a = [1, 2, python']</a:t>
            </a:r>
          </a:p>
          <a:p>
            <a:r>
              <a:rPr lang="en-US" dirty="0"/>
              <a:t>print(a)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88730B-727A-394B-A28D-D72DDCE00160}"/>
              </a:ext>
            </a:extLst>
          </p:cNvPr>
          <p:cNvSpPr txBox="1"/>
          <p:nvPr/>
        </p:nvSpPr>
        <p:spPr>
          <a:xfrm>
            <a:off x="4961467" y="-270933"/>
            <a:ext cx="18473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343962-006A-292D-A437-FD4AAB8AFC2D}"/>
              </a:ext>
            </a:extLst>
          </p:cNvPr>
          <p:cNvSpPr txBox="1"/>
          <p:nvPr/>
        </p:nvSpPr>
        <p:spPr>
          <a:xfrm>
            <a:off x="6417734" y="145256"/>
            <a:ext cx="609600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name = "John"</a:t>
            </a:r>
          </a:p>
          <a:p>
            <a:r>
              <a:rPr lang="en-US" dirty="0"/>
              <a:t>age = 30</a:t>
            </a:r>
          </a:p>
          <a:p>
            <a:endParaRPr lang="en-US" dirty="0"/>
          </a:p>
          <a:p>
            <a:r>
              <a:rPr lang="en-US" dirty="0"/>
              <a:t>print("Name:", name)</a:t>
            </a:r>
          </a:p>
          <a:p>
            <a:r>
              <a:rPr lang="en-US" dirty="0"/>
              <a:t>print("Age:", age)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EB51EE-C1FB-5F34-C1B3-DF8201B3C56E}"/>
              </a:ext>
            </a:extLst>
          </p:cNvPr>
          <p:cNvSpPr txBox="1"/>
          <p:nvPr/>
        </p:nvSpPr>
        <p:spPr>
          <a:xfrm>
            <a:off x="167640" y="1863636"/>
            <a:ext cx="626533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name = "Alice"</a:t>
            </a:r>
          </a:p>
          <a:p>
            <a:r>
              <a:rPr lang="en-US" dirty="0"/>
              <a:t>age = 25</a:t>
            </a:r>
          </a:p>
          <a:p>
            <a:endParaRPr lang="en-US" dirty="0"/>
          </a:p>
          <a:p>
            <a:r>
              <a:rPr lang="en-US" dirty="0"/>
              <a:t>print("Hello, my name is", name, "and I am", age, "years old.")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5EB2B0-8AE3-1E3F-7A31-94866E83B510}"/>
              </a:ext>
            </a:extLst>
          </p:cNvPr>
          <p:cNvSpPr txBox="1"/>
          <p:nvPr/>
        </p:nvSpPr>
        <p:spPr>
          <a:xfrm>
            <a:off x="6502400" y="1863636"/>
            <a:ext cx="626533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print(”Welcome to Python. Python \n is best for DSA Content.")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4F58A1-F0B2-ADF5-A21A-0D55099A14C4}"/>
              </a:ext>
            </a:extLst>
          </p:cNvPr>
          <p:cNvSpPr txBox="1"/>
          <p:nvPr/>
        </p:nvSpPr>
        <p:spPr>
          <a:xfrm>
            <a:off x="6502400" y="2705947"/>
            <a:ext cx="643466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print(”Python is a Wonderful ‘ + Programming Language.')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70D62C-2FE1-1405-A302-60214F3B8065}"/>
              </a:ext>
            </a:extLst>
          </p:cNvPr>
          <p:cNvSpPr txBox="1"/>
          <p:nvPr/>
        </p:nvSpPr>
        <p:spPr>
          <a:xfrm>
            <a:off x="61806" y="3429000"/>
            <a:ext cx="64770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 without end parameter</a:t>
            </a:r>
          </a:p>
          <a:p>
            <a:r>
              <a:rPr lang="en-US" dirty="0"/>
              <a:t>print (”Python is the best programming language")</a:t>
            </a:r>
          </a:p>
          <a:p>
            <a:endParaRPr lang="en-US" dirty="0"/>
          </a:p>
          <a:p>
            <a:r>
              <a:rPr lang="en-US" dirty="0"/>
              <a:t># print() function ends with "**" as set in end parameter.</a:t>
            </a:r>
          </a:p>
          <a:p>
            <a:r>
              <a:rPr lang="en-US" dirty="0"/>
              <a:t>print (" Python is the best programming language", end= "**")</a:t>
            </a:r>
          </a:p>
          <a:p>
            <a:r>
              <a:rPr lang="en-US" dirty="0"/>
              <a:t>print("Welcome to Python")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63C90D-A630-C288-3B92-21A015B59D19}"/>
              </a:ext>
            </a:extLst>
          </p:cNvPr>
          <p:cNvSpPr txBox="1"/>
          <p:nvPr/>
        </p:nvSpPr>
        <p:spPr>
          <a:xfrm>
            <a:off x="6726766" y="3429000"/>
            <a:ext cx="647700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a = 12</a:t>
            </a:r>
          </a:p>
          <a:p>
            <a:r>
              <a:rPr lang="en-US" dirty="0"/>
              <a:t>b = 12</a:t>
            </a:r>
          </a:p>
          <a:p>
            <a:r>
              <a:rPr lang="en-US" dirty="0"/>
              <a:t>c = 2022</a:t>
            </a:r>
          </a:p>
          <a:p>
            <a:r>
              <a:rPr lang="en-US" dirty="0"/>
              <a:t>print(a, b, c, </a:t>
            </a:r>
            <a:r>
              <a:rPr lang="en-US" dirty="0" err="1"/>
              <a:t>sep</a:t>
            </a:r>
            <a:r>
              <a:rPr lang="en-US" dirty="0"/>
              <a:t>="-")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53467C-82C6-5915-6A69-CB2B3271CB92}"/>
              </a:ext>
            </a:extLst>
          </p:cNvPr>
          <p:cNvSpPr txBox="1"/>
          <p:nvPr/>
        </p:nvSpPr>
        <p:spPr>
          <a:xfrm>
            <a:off x="167640" y="5548361"/>
            <a:ext cx="661246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print('Welcome to Python world.!!', file=open('</a:t>
            </a:r>
            <a:r>
              <a:rPr lang="en-US" dirty="0" err="1"/>
              <a:t>Testfile.txt</a:t>
            </a:r>
            <a:r>
              <a:rPr lang="en-US" dirty="0"/>
              <a:t>', 'w'))</a:t>
            </a:r>
          </a:p>
        </p:txBody>
      </p:sp>
    </p:spTree>
    <p:extLst>
      <p:ext uri="{BB962C8B-B14F-4D97-AF65-F5344CB8AC3E}">
        <p14:creationId xmlns:p14="http://schemas.microsoft.com/office/powerpoint/2010/main" val="3362665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A3377-AC2E-0DF7-0F91-59F2563A2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3. Modern Output Formatting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EE54E-6F03-076B-5C6C-A397DABAC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Dynamic string formatting makes your output clean and readable. </a:t>
            </a:r>
          </a:p>
          <a:p>
            <a:r>
              <a:rPr lang="en-IN" b="1" u="none" strike="noStrike" dirty="0">
                <a:effectLst/>
                <a:latin typeface="Google Sans"/>
              </a:rPr>
              <a:t>F-Strings (Python 3.6+)</a:t>
            </a:r>
          </a:p>
          <a:p>
            <a:r>
              <a:rPr lang="en-IN" b="0" u="none" strike="noStrike" dirty="0">
                <a:effectLst/>
                <a:latin typeface="Google Sans"/>
              </a:rPr>
              <a:t>The most popular approach involves prefixing strings with an f or F and placing variables directly inside curly braces {}: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2C07A6-765E-841B-E634-182C3B829212}"/>
              </a:ext>
            </a:extLst>
          </p:cNvPr>
          <p:cNvSpPr txBox="1"/>
          <p:nvPr/>
        </p:nvSpPr>
        <p:spPr>
          <a:xfrm>
            <a:off x="1203960" y="4001294"/>
            <a:ext cx="8458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score = 98.456</a:t>
            </a:r>
          </a:p>
          <a:p>
            <a:r>
              <a:rPr lang="en-US" sz="2400" dirty="0"/>
              <a:t># Standard insertion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f"Your</a:t>
            </a:r>
            <a:r>
              <a:rPr lang="en-US" sz="2400" dirty="0"/>
              <a:t> score is {score}") </a:t>
            </a:r>
          </a:p>
          <a:p>
            <a:endParaRPr lang="en-US" sz="2400" dirty="0"/>
          </a:p>
          <a:p>
            <a:r>
              <a:rPr lang="en-US" sz="2400" dirty="0"/>
              <a:t># Number formatting (rounds to two decimal places)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f"Your</a:t>
            </a:r>
            <a:r>
              <a:rPr lang="en-US" sz="2400" dirty="0"/>
              <a:t> formatted score is {score:.2f}") </a:t>
            </a:r>
          </a:p>
        </p:txBody>
      </p:sp>
    </p:spTree>
    <p:extLst>
      <p:ext uri="{BB962C8B-B14F-4D97-AF65-F5344CB8AC3E}">
        <p14:creationId xmlns:p14="http://schemas.microsoft.com/office/powerpoint/2010/main" val="1201713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7D1E6-13B7-729D-1201-3F6D1038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0D94F-7794-A8F6-F70F-8A22E68AA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The .format() Method</a:t>
            </a:r>
          </a:p>
          <a:p>
            <a:r>
              <a:rPr lang="en-IN" b="0" u="none" strike="noStrike" dirty="0">
                <a:effectLst/>
                <a:latin typeface="Google Sans"/>
              </a:rPr>
              <a:t>An older alternative that is still widely used in legacy systems: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46E86D-8108-D24E-11A4-8EEAA5469C54}"/>
              </a:ext>
            </a:extLst>
          </p:cNvPr>
          <p:cNvSpPr txBox="1"/>
          <p:nvPr/>
        </p:nvSpPr>
        <p:spPr>
          <a:xfrm>
            <a:off x="1082040" y="3429000"/>
            <a:ext cx="9433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print("Hello {}, you are {} years </a:t>
            </a:r>
            <a:r>
              <a:rPr lang="en-US" sz="2400" dirty="0" err="1"/>
              <a:t>old.".format</a:t>
            </a:r>
            <a:r>
              <a:rPr lang="en-US" sz="2400" dirty="0"/>
              <a:t>("Alice", 25))</a:t>
            </a:r>
          </a:p>
        </p:txBody>
      </p:sp>
    </p:spTree>
    <p:extLst>
      <p:ext uri="{BB962C8B-B14F-4D97-AF65-F5344CB8AC3E}">
        <p14:creationId xmlns:p14="http://schemas.microsoft.com/office/powerpoint/2010/main" val="795460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E1803-9185-DB55-C01D-DC97B8B5D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CB4F9-704F-E98A-FFE9-31A3E6B2B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A74D7-C876-8266-285E-AC04800CBDC4}"/>
              </a:ext>
            </a:extLst>
          </p:cNvPr>
          <p:cNvSpPr txBox="1"/>
          <p:nvPr/>
        </p:nvSpPr>
        <p:spPr>
          <a:xfrm>
            <a:off x="3048000" y="197346"/>
            <a:ext cx="6096000" cy="64633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name = "Alice"</a:t>
            </a:r>
          </a:p>
          <a:p>
            <a:r>
              <a:rPr lang="en-US" dirty="0"/>
              <a:t>age = 25</a:t>
            </a:r>
          </a:p>
          <a:p>
            <a:r>
              <a:rPr lang="en-US" dirty="0"/>
              <a:t>pi = 3.14159</a:t>
            </a:r>
          </a:p>
          <a:p>
            <a:endParaRPr lang="en-US" dirty="0"/>
          </a:p>
          <a:p>
            <a:r>
              <a:rPr lang="en-US" dirty="0"/>
              <a:t># Basic variable insertion</a:t>
            </a:r>
          </a:p>
          <a:p>
            <a:r>
              <a:rPr lang="en-US" dirty="0"/>
              <a:t>print(</a:t>
            </a:r>
            <a:r>
              <a:rPr lang="en-US" dirty="0" err="1"/>
              <a:t>f"Hello</a:t>
            </a:r>
            <a:r>
              <a:rPr lang="en-US" dirty="0"/>
              <a:t>, {name}! You are {age} years old.") </a:t>
            </a:r>
          </a:p>
          <a:p>
            <a:r>
              <a:rPr lang="en-US" dirty="0"/>
              <a:t># Output: Hello, Alice! You are 25 years old.</a:t>
            </a:r>
          </a:p>
          <a:p>
            <a:endParaRPr lang="en-US" dirty="0"/>
          </a:p>
          <a:p>
            <a:r>
              <a:rPr lang="en-US" dirty="0"/>
              <a:t># Formatting decimal places (.2f rounds to 2 decimal places)</a:t>
            </a:r>
          </a:p>
          <a:p>
            <a:r>
              <a:rPr lang="en-US" dirty="0"/>
              <a:t>print(</a:t>
            </a:r>
            <a:r>
              <a:rPr lang="en-US" dirty="0" err="1"/>
              <a:t>f"Pi</a:t>
            </a:r>
            <a:r>
              <a:rPr lang="en-US" dirty="0"/>
              <a:t> to two decimal places: {pi:.2f}") </a:t>
            </a:r>
          </a:p>
          <a:p>
            <a:r>
              <a:rPr lang="en-US" dirty="0"/>
              <a:t># Output: Pi to two decimal places: 3.14</a:t>
            </a:r>
          </a:p>
          <a:p>
            <a:endParaRPr lang="en-US" dirty="0"/>
          </a:p>
          <a:p>
            <a:r>
              <a:rPr lang="en-US" dirty="0"/>
              <a:t># Adding thousands separators (commas)</a:t>
            </a:r>
          </a:p>
          <a:p>
            <a:r>
              <a:rPr lang="en-US" dirty="0" err="1"/>
              <a:t>large_number</a:t>
            </a:r>
            <a:r>
              <a:rPr lang="en-US" dirty="0"/>
              <a:t> = 1000000</a:t>
            </a:r>
          </a:p>
          <a:p>
            <a:r>
              <a:rPr lang="en-US" dirty="0"/>
              <a:t>print(</a:t>
            </a:r>
            <a:r>
              <a:rPr lang="en-US" dirty="0" err="1"/>
              <a:t>f"Total</a:t>
            </a:r>
            <a:r>
              <a:rPr lang="en-US" dirty="0"/>
              <a:t>: {</a:t>
            </a:r>
            <a:r>
              <a:rPr lang="en-US" dirty="0" err="1"/>
              <a:t>large_number</a:t>
            </a:r>
            <a:r>
              <a:rPr lang="en-US" dirty="0"/>
              <a:t>:,}") </a:t>
            </a:r>
          </a:p>
          <a:p>
            <a:r>
              <a:rPr lang="en-US" dirty="0"/>
              <a:t># Output: Total: 1,000,000</a:t>
            </a:r>
          </a:p>
          <a:p>
            <a:endParaRPr lang="en-US" dirty="0"/>
          </a:p>
          <a:p>
            <a:r>
              <a:rPr lang="en-US" dirty="0"/>
              <a:t># Padding with leading zeros (05d means 5 total digits, padded with zeros)</a:t>
            </a:r>
          </a:p>
          <a:p>
            <a:r>
              <a:rPr lang="en-US" dirty="0"/>
              <a:t>number = 42</a:t>
            </a:r>
          </a:p>
          <a:p>
            <a:r>
              <a:rPr lang="en-US" dirty="0"/>
              <a:t>print(</a:t>
            </a:r>
            <a:r>
              <a:rPr lang="en-US" dirty="0" err="1"/>
              <a:t>f"ID</a:t>
            </a:r>
            <a:r>
              <a:rPr lang="en-US" dirty="0"/>
              <a:t>: {number:05d}") </a:t>
            </a:r>
          </a:p>
          <a:p>
            <a:r>
              <a:rPr lang="en-US" dirty="0"/>
              <a:t># Output: ID: 00042</a:t>
            </a:r>
          </a:p>
        </p:txBody>
      </p:sp>
    </p:spTree>
    <p:extLst>
      <p:ext uri="{BB962C8B-B14F-4D97-AF65-F5344CB8AC3E}">
        <p14:creationId xmlns:p14="http://schemas.microsoft.com/office/powerpoint/2010/main" val="3446743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ACAE7-A341-1590-D1B8-0D145281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5E178-3EB4-7D24-57BB-3B14FF8CC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E1BBE8-43BC-AE3A-E1E1-0227F277637D}"/>
              </a:ext>
            </a:extLst>
          </p:cNvPr>
          <p:cNvSpPr txBox="1"/>
          <p:nvPr/>
        </p:nvSpPr>
        <p:spPr>
          <a:xfrm>
            <a:off x="838201" y="1720840"/>
            <a:ext cx="11218332" cy="41549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# Sequential order</a:t>
            </a:r>
          </a:p>
          <a:p>
            <a:r>
              <a:rPr lang="en-US" sz="2400" dirty="0"/>
              <a:t>print("The {} is a {}.".format("sky", "blue")) </a:t>
            </a:r>
          </a:p>
          <a:p>
            <a:r>
              <a:rPr lang="en-US" sz="2400" dirty="0"/>
              <a:t># Output: The sky is a blue.</a:t>
            </a:r>
          </a:p>
          <a:p>
            <a:endParaRPr lang="en-US" sz="2400" dirty="0"/>
          </a:p>
          <a:p>
            <a:r>
              <a:rPr lang="en-US" sz="2400" dirty="0"/>
              <a:t># Positional indexing</a:t>
            </a:r>
          </a:p>
          <a:p>
            <a:r>
              <a:rPr lang="en-US" sz="2400" dirty="0"/>
              <a:t>print("{1} is older than {0}.".format("Bob", "Charlie")) </a:t>
            </a:r>
          </a:p>
          <a:p>
            <a:r>
              <a:rPr lang="en-US" sz="2400" dirty="0"/>
              <a:t># Output: Charlie is older than Bob.</a:t>
            </a:r>
          </a:p>
          <a:p>
            <a:endParaRPr lang="en-US" sz="2400" dirty="0"/>
          </a:p>
          <a:p>
            <a:r>
              <a:rPr lang="en-US" sz="2400" dirty="0"/>
              <a:t># Keyword arguments</a:t>
            </a:r>
          </a:p>
          <a:p>
            <a:r>
              <a:rPr lang="en-US" sz="2400" dirty="0"/>
              <a:t>print("{item} costs {price:.2f}".format(item="Coffee", price=3.5)) </a:t>
            </a:r>
          </a:p>
          <a:p>
            <a:r>
              <a:rPr lang="en-US" sz="2400" dirty="0"/>
              <a:t># Output: Coffee costs 3.50</a:t>
            </a:r>
          </a:p>
        </p:txBody>
      </p:sp>
    </p:spTree>
    <p:extLst>
      <p:ext uri="{BB962C8B-B14F-4D97-AF65-F5344CB8AC3E}">
        <p14:creationId xmlns:p14="http://schemas.microsoft.com/office/powerpoint/2010/main" val="646327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C082F-A1C3-2D43-DEB4-A1D0F96E2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Text Alignment and Table Columns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D9F7E-5D37-F74F-100E-4039BD349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You can force text to align to the left, right, or </a:t>
            </a:r>
            <a:r>
              <a:rPr lang="en-IN" b="0" u="none" strike="noStrike" dirty="0" err="1">
                <a:effectLst/>
                <a:latin typeface="Google Sans"/>
              </a:rPr>
              <a:t>center</a:t>
            </a:r>
            <a:r>
              <a:rPr lang="en-IN" b="0" u="none" strike="noStrike" dirty="0">
                <a:effectLst/>
                <a:latin typeface="Google Sans"/>
              </a:rPr>
              <a:t> within a specific minimum character width. []</a:t>
            </a:r>
          </a:p>
          <a:p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&lt;</a:t>
            </a:r>
            <a:r>
              <a:rPr lang="en-IN" b="0" u="none" strike="noStrike" dirty="0">
                <a:effectLst/>
                <a:latin typeface="Google Sans"/>
              </a:rPr>
              <a:t> : Left-align</a:t>
            </a:r>
          </a:p>
          <a:p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&gt;</a:t>
            </a:r>
            <a:r>
              <a:rPr lang="en-IN" b="0" u="none" strike="noStrike" dirty="0">
                <a:effectLst/>
                <a:latin typeface="Google Sans"/>
              </a:rPr>
              <a:t> : Right-align</a:t>
            </a:r>
          </a:p>
          <a:p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^</a:t>
            </a:r>
            <a:r>
              <a:rPr lang="en-IN" b="0" u="none" strike="noStrike" dirty="0">
                <a:effectLst/>
                <a:latin typeface="Google Sans"/>
              </a:rPr>
              <a:t> : </a:t>
            </a:r>
            <a:r>
              <a:rPr lang="en-IN" b="0" u="none" strike="noStrike" dirty="0" err="1">
                <a:effectLst/>
                <a:latin typeface="Google Sans"/>
              </a:rPr>
              <a:t>Center</a:t>
            </a:r>
            <a:r>
              <a:rPr lang="en-IN" b="0" u="none" strike="noStrike" dirty="0">
                <a:effectLst/>
                <a:latin typeface="Google Sans"/>
              </a:rPr>
              <a:t>-align []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CDB771-B63E-965D-133A-4CBDDEED3909}"/>
              </a:ext>
            </a:extLst>
          </p:cNvPr>
          <p:cNvSpPr txBox="1"/>
          <p:nvPr/>
        </p:nvSpPr>
        <p:spPr>
          <a:xfrm>
            <a:off x="4351866" y="3634244"/>
            <a:ext cx="8957734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# Aligning items inside a 10-character wide block</a:t>
            </a:r>
          </a:p>
          <a:p>
            <a:r>
              <a:rPr lang="en-US" sz="2400" dirty="0"/>
              <a:t>print(f"{'Left':&lt;10} | {'Center':^10} | {'Right':&gt;10}")</a:t>
            </a:r>
          </a:p>
          <a:p>
            <a:r>
              <a:rPr lang="en-US" sz="2400" dirty="0"/>
              <a:t>print(f"{123:&lt;10} | {123:^10} | {123:&gt;10}")</a:t>
            </a:r>
          </a:p>
          <a:p>
            <a:endParaRPr lang="en-US" sz="2400" dirty="0"/>
          </a:p>
          <a:p>
            <a:r>
              <a:rPr lang="en-US" sz="2400" dirty="0"/>
              <a:t># Output:</a:t>
            </a:r>
          </a:p>
          <a:p>
            <a:r>
              <a:rPr lang="en-US" sz="2400" dirty="0"/>
              <a:t># Left       |   Center   |      Right</a:t>
            </a:r>
          </a:p>
          <a:p>
            <a:r>
              <a:rPr lang="en-US" sz="2400" dirty="0"/>
              <a:t># 123        |    123     |        123</a:t>
            </a:r>
          </a:p>
        </p:txBody>
      </p:sp>
    </p:spTree>
    <p:extLst>
      <p:ext uri="{BB962C8B-B14F-4D97-AF65-F5344CB8AC3E}">
        <p14:creationId xmlns:p14="http://schemas.microsoft.com/office/powerpoint/2010/main" val="3129230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D238D-12FB-18C0-907C-5A06F0333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1. Normal Method of inputs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D3A2E-096E-7A64-6776-315871CCA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37D3C6-E413-B9D2-BD4B-CA6517D9A016}"/>
              </a:ext>
            </a:extLst>
          </p:cNvPr>
          <p:cNvSpPr txBox="1"/>
          <p:nvPr/>
        </p:nvSpPr>
        <p:spPr>
          <a:xfrm>
            <a:off x="3048000" y="2551837"/>
            <a:ext cx="81686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n = int(input())</a:t>
            </a:r>
          </a:p>
          <a:p>
            <a:r>
              <a:rPr lang="en-US" sz="2800" dirty="0" err="1"/>
              <a:t>arr</a:t>
            </a:r>
            <a:r>
              <a:rPr lang="en-US" sz="2800" dirty="0"/>
              <a:t> = [int(x) for x in input().split()]</a:t>
            </a:r>
          </a:p>
          <a:p>
            <a:r>
              <a:rPr lang="en-US" sz="2800" dirty="0"/>
              <a:t>summation = 0</a:t>
            </a:r>
          </a:p>
          <a:p>
            <a:r>
              <a:rPr lang="en-US" sz="2800" dirty="0"/>
              <a:t>for x in </a:t>
            </a:r>
            <a:r>
              <a:rPr lang="en-US" sz="2800" dirty="0" err="1"/>
              <a:t>arr</a:t>
            </a:r>
            <a:r>
              <a:rPr lang="en-US" sz="2800" dirty="0"/>
              <a:t>:</a:t>
            </a:r>
          </a:p>
          <a:p>
            <a:r>
              <a:rPr lang="en-US" sz="2800" dirty="0"/>
              <a:t>    summation += x</a:t>
            </a:r>
          </a:p>
          <a:p>
            <a:r>
              <a:rPr lang="en-US" sz="2800" dirty="0"/>
              <a:t>print(summation)</a:t>
            </a:r>
          </a:p>
        </p:txBody>
      </p:sp>
    </p:spTree>
    <p:extLst>
      <p:ext uri="{BB962C8B-B14F-4D97-AF65-F5344CB8AC3E}">
        <p14:creationId xmlns:p14="http://schemas.microsoft.com/office/powerpoint/2010/main" val="3971174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54FBC-EB54-3EB9-1CC4-7EA4B798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2. Faster Method Using stdin and </a:t>
            </a:r>
            <a:r>
              <a:rPr lang="en-IN" b="1" i="0" dirty="0" err="1">
                <a:solidFill>
                  <a:srgbClr val="273239"/>
                </a:solidFill>
                <a:effectLst/>
                <a:latin typeface="Nunito" pitchFamily="2" charset="77"/>
              </a:rPr>
              <a:t>stdout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E7E37-A3A0-2FA5-DC02-6AD9C0E2A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30743-8EBE-4421-EE3F-D0DD7DB7C4C7}"/>
              </a:ext>
            </a:extLst>
          </p:cNvPr>
          <p:cNvSpPr txBox="1"/>
          <p:nvPr/>
        </p:nvSpPr>
        <p:spPr>
          <a:xfrm>
            <a:off x="838200" y="2136339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from sys import stdin, </a:t>
            </a:r>
            <a:r>
              <a:rPr lang="en-US" sz="2800" dirty="0" err="1"/>
              <a:t>stdout</a:t>
            </a:r>
            <a:r>
              <a:rPr lang="en-US" sz="2800" dirty="0"/>
              <a:t> </a:t>
            </a:r>
          </a:p>
          <a:p>
            <a:r>
              <a:rPr lang="en-US" sz="2800" dirty="0"/>
              <a:t>def main():</a:t>
            </a:r>
          </a:p>
          <a:p>
            <a:r>
              <a:rPr lang="en-US" sz="2800" dirty="0"/>
              <a:t>    n = int(</a:t>
            </a:r>
            <a:r>
              <a:rPr lang="en-US" sz="2800" dirty="0" err="1"/>
              <a:t>stdin.readline</a:t>
            </a:r>
            <a:r>
              <a:rPr lang="en-US" sz="2800" dirty="0"/>
              <a:t>())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arr</a:t>
            </a:r>
            <a:r>
              <a:rPr lang="en-US" sz="2800" dirty="0"/>
              <a:t> = [int(x) for x in </a:t>
            </a:r>
            <a:r>
              <a:rPr lang="en-US" sz="2800" dirty="0" err="1"/>
              <a:t>stdin.readline</a:t>
            </a:r>
            <a:r>
              <a:rPr lang="en-US" sz="2800" dirty="0"/>
              <a:t>().split()]</a:t>
            </a:r>
          </a:p>
          <a:p>
            <a:r>
              <a:rPr lang="en-US" sz="2800" dirty="0"/>
              <a:t>    summation = sum(</a:t>
            </a:r>
            <a:r>
              <a:rPr lang="en-US" sz="2800" dirty="0" err="1"/>
              <a:t>arr</a:t>
            </a:r>
            <a:r>
              <a:rPr lang="en-US" sz="2800" dirty="0"/>
              <a:t>)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stdout.write</a:t>
            </a:r>
            <a:r>
              <a:rPr lang="en-US" sz="2800" dirty="0"/>
              <a:t>(str(summation))</a:t>
            </a:r>
          </a:p>
          <a:p>
            <a:endParaRPr lang="en-US" sz="2800" dirty="0"/>
          </a:p>
          <a:p>
            <a:r>
              <a:rPr lang="en-US" sz="2800" dirty="0"/>
              <a:t>if __name__ == "__main__":</a:t>
            </a:r>
          </a:p>
          <a:p>
            <a:r>
              <a:rPr lang="en-US" sz="2800" dirty="0"/>
              <a:t>    main()</a:t>
            </a:r>
          </a:p>
        </p:txBody>
      </p:sp>
    </p:spTree>
    <p:extLst>
      <p:ext uri="{BB962C8B-B14F-4D97-AF65-F5344CB8AC3E}">
        <p14:creationId xmlns:p14="http://schemas.microsoft.com/office/powerpoint/2010/main" val="890767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1A143-BCAA-1980-1C09-844647FDE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3. Taking User Input in Separate 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D0389-4458-ACA3-C278-DB6E55EC2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904C42-331C-3782-FE59-DEAA08B08518}"/>
              </a:ext>
            </a:extLst>
          </p:cNvPr>
          <p:cNvSpPr txBox="1"/>
          <p:nvPr/>
        </p:nvSpPr>
        <p:spPr>
          <a:xfrm>
            <a:off x="1341120" y="2783116"/>
            <a:ext cx="79857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import sys</a:t>
            </a:r>
          </a:p>
          <a:p>
            <a:r>
              <a:rPr lang="en-US" sz="2800" dirty="0"/>
              <a:t>def </a:t>
            </a:r>
            <a:r>
              <a:rPr lang="en-US" sz="2800" dirty="0" err="1"/>
              <a:t>get_ints</a:t>
            </a:r>
            <a:r>
              <a:rPr lang="en-US" sz="2800" dirty="0"/>
              <a:t>(): </a:t>
            </a:r>
          </a:p>
          <a:p>
            <a:r>
              <a:rPr lang="en-US" sz="2800" dirty="0"/>
              <a:t>    return map(int, </a:t>
            </a:r>
            <a:r>
              <a:rPr lang="en-US" sz="2800" dirty="0" err="1"/>
              <a:t>sys.stdin.readline</a:t>
            </a:r>
            <a:r>
              <a:rPr lang="en-US" sz="2800" dirty="0"/>
              <a:t>().strip().split())</a:t>
            </a:r>
          </a:p>
          <a:p>
            <a:r>
              <a:rPr lang="en-US" sz="2800" dirty="0"/>
              <a:t>a, b, c, d = </a:t>
            </a:r>
            <a:r>
              <a:rPr lang="en-US" sz="2800" dirty="0" err="1"/>
              <a:t>get_ints</a:t>
            </a:r>
            <a:r>
              <a:rPr lang="en-US" sz="28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97306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7B19E-6BB5-07F9-610F-F02D94A98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4. Taking User Inputs as a List of Integers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F54C1-4DAD-207C-7467-27A556466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6A53D9-5882-F120-A00C-0C4A2D0C82AA}"/>
              </a:ext>
            </a:extLst>
          </p:cNvPr>
          <p:cNvSpPr txBox="1"/>
          <p:nvPr/>
        </p:nvSpPr>
        <p:spPr>
          <a:xfrm>
            <a:off x="1066800" y="2877909"/>
            <a:ext cx="96621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import sys</a:t>
            </a:r>
          </a:p>
          <a:p>
            <a:r>
              <a:rPr lang="en-US" sz="2800" dirty="0"/>
              <a:t>def </a:t>
            </a:r>
            <a:r>
              <a:rPr lang="en-US" sz="2800" dirty="0" err="1"/>
              <a:t>get_list</a:t>
            </a:r>
            <a:r>
              <a:rPr lang="en-US" sz="2800" dirty="0"/>
              <a:t>(): </a:t>
            </a:r>
          </a:p>
          <a:p>
            <a:r>
              <a:rPr lang="en-US" sz="2800" dirty="0"/>
              <a:t>    return list(map(int, </a:t>
            </a:r>
            <a:r>
              <a:rPr lang="en-US" sz="2800" dirty="0" err="1"/>
              <a:t>sys.stdin.readline</a:t>
            </a:r>
            <a:r>
              <a:rPr lang="en-US" sz="2800" dirty="0"/>
              <a:t>().strip().split()))</a:t>
            </a:r>
          </a:p>
          <a:p>
            <a:r>
              <a:rPr lang="en-US" sz="2800" dirty="0" err="1"/>
              <a:t>Arr</a:t>
            </a:r>
            <a:r>
              <a:rPr lang="en-US" sz="2800" dirty="0"/>
              <a:t> = </a:t>
            </a:r>
            <a:r>
              <a:rPr lang="en-US" sz="2800" dirty="0" err="1"/>
              <a:t>get_list</a:t>
            </a:r>
            <a:r>
              <a:rPr lang="en-US" sz="28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101314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5D1DF-7F57-20FC-11E2-972173F3B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5. Taking String Input Efficiently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D2DA5-C507-E813-A47E-AED7D4C93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401263-104F-4A10-F876-63D63E3923D2}"/>
              </a:ext>
            </a:extLst>
          </p:cNvPr>
          <p:cNvSpPr txBox="1"/>
          <p:nvPr/>
        </p:nvSpPr>
        <p:spPr>
          <a:xfrm>
            <a:off x="1173480" y="2828836"/>
            <a:ext cx="96926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import sys</a:t>
            </a:r>
          </a:p>
          <a:p>
            <a:r>
              <a:rPr lang="en-US" sz="2800" dirty="0"/>
              <a:t>def </a:t>
            </a:r>
            <a:r>
              <a:rPr lang="en-US" sz="2800" dirty="0" err="1"/>
              <a:t>get_string</a:t>
            </a:r>
            <a:r>
              <a:rPr lang="en-US" sz="2800" dirty="0"/>
              <a:t>(): </a:t>
            </a:r>
          </a:p>
          <a:p>
            <a:r>
              <a:rPr lang="en-US" sz="2800" dirty="0"/>
              <a:t>    return </a:t>
            </a:r>
            <a:r>
              <a:rPr lang="en-US" sz="2800" dirty="0" err="1"/>
              <a:t>sys.stdin.readline</a:t>
            </a:r>
            <a:r>
              <a:rPr lang="en-US" sz="2800" dirty="0"/>
              <a:t>().strip()</a:t>
            </a:r>
          </a:p>
          <a:p>
            <a:r>
              <a:rPr lang="en-US" sz="2800" dirty="0"/>
              <a:t>string = </a:t>
            </a:r>
            <a:r>
              <a:rPr lang="en-US" sz="2800" dirty="0" err="1"/>
              <a:t>get_string</a:t>
            </a:r>
            <a:r>
              <a:rPr lang="en-US" sz="28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161991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00EFF-98A9-D9DD-4B15-173AB7FC9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1594E-92F3-97D0-D905-6F8E59880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76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2561</TotalTime>
  <Words>1601</Words>
  <Application>Microsoft Macintosh PowerPoint</Application>
  <PresentationFormat>Widescreen</PresentationFormat>
  <Paragraphs>234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Courier New</vt:lpstr>
      <vt:lpstr>Google Sans</vt:lpstr>
      <vt:lpstr>Nunito</vt:lpstr>
      <vt:lpstr>Office Theme</vt:lpstr>
      <vt:lpstr>PythonDS-06 Input and Output</vt:lpstr>
      <vt:lpstr>input in python</vt:lpstr>
      <vt:lpstr>Type Casting</vt:lpstr>
      <vt:lpstr>PowerPoint Presentation</vt:lpstr>
      <vt:lpstr>PowerPoint Presentation</vt:lpstr>
      <vt:lpstr>PowerPoint Presentation</vt:lpstr>
      <vt:lpstr>PowerPoint Presentation</vt:lpstr>
      <vt:lpstr>2. Standard Output using print()</vt:lpstr>
      <vt:lpstr>PowerPoint Presentation</vt:lpstr>
      <vt:lpstr>3. Modern Output Formatting</vt:lpstr>
      <vt:lpstr>PowerPoint Presentation</vt:lpstr>
      <vt:lpstr>PowerPoint Presentation</vt:lpstr>
      <vt:lpstr>PowerPoint Presentation</vt:lpstr>
      <vt:lpstr>Text Alignment and Table Columns</vt:lpstr>
      <vt:lpstr>1. Normal Method of inputs</vt:lpstr>
      <vt:lpstr>2. Faster Method Using stdin and stdout</vt:lpstr>
      <vt:lpstr>3. Taking User Input in Separate Variables</vt:lpstr>
      <vt:lpstr>4. Taking User Inputs as a List of Integers</vt:lpstr>
      <vt:lpstr>5. Taking String Input Efficiently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136</cp:revision>
  <dcterms:created xsi:type="dcterms:W3CDTF">2026-01-15T04:12:31Z</dcterms:created>
  <dcterms:modified xsi:type="dcterms:W3CDTF">2026-08-18T09:11:01Z</dcterms:modified>
</cp:coreProperties>
</file>