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6" r:id="rId3"/>
    <p:sldId id="277" r:id="rId4"/>
    <p:sldId id="278" r:id="rId5"/>
    <p:sldId id="279" r:id="rId6"/>
    <p:sldId id="280" r:id="rId7"/>
    <p:sldId id="281" r:id="rId8"/>
    <p:sldId id="282" r:id="rId9"/>
    <p:sldId id="257" r:id="rId10"/>
    <p:sldId id="258" r:id="rId11"/>
    <p:sldId id="259" r:id="rId12"/>
    <p:sldId id="260" r:id="rId13"/>
    <p:sldId id="261" r:id="rId14"/>
    <p:sldId id="263" r:id="rId15"/>
    <p:sldId id="262" r:id="rId16"/>
    <p:sldId id="264" r:id="rId17"/>
    <p:sldId id="275" r:id="rId18"/>
    <p:sldId id="284" r:id="rId19"/>
    <p:sldId id="285" r:id="rId20"/>
    <p:sldId id="286" r:id="rId21"/>
    <p:sldId id="287" r:id="rId22"/>
    <p:sldId id="297" r:id="rId23"/>
    <p:sldId id="288" r:id="rId24"/>
    <p:sldId id="298" r:id="rId25"/>
    <p:sldId id="289" r:id="rId26"/>
    <p:sldId id="299" r:id="rId27"/>
    <p:sldId id="290" r:id="rId28"/>
    <p:sldId id="300" r:id="rId29"/>
    <p:sldId id="291" r:id="rId30"/>
    <p:sldId id="301" r:id="rId31"/>
    <p:sldId id="302" r:id="rId32"/>
    <p:sldId id="292" r:id="rId33"/>
    <p:sldId id="293" r:id="rId34"/>
    <p:sldId id="303" r:id="rId35"/>
    <p:sldId id="294" r:id="rId36"/>
    <p:sldId id="304" r:id="rId37"/>
    <p:sldId id="295" r:id="rId38"/>
    <p:sldId id="305" r:id="rId39"/>
    <p:sldId id="296" r:id="rId40"/>
    <p:sldId id="30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8/13/26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8/13/26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faker.readthedocs.io/en/master/"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Python Introduction</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B6B9-95BB-BF66-6DD7-972F9A1CEAB0}"/>
              </a:ext>
            </a:extLst>
          </p:cNvPr>
          <p:cNvSpPr>
            <a:spLocks noGrp="1"/>
          </p:cNvSpPr>
          <p:nvPr>
            <p:ph type="title"/>
          </p:nvPr>
        </p:nvSpPr>
        <p:spPr/>
        <p:txBody>
          <a:bodyPr/>
          <a:lstStyle/>
          <a:p>
            <a:r>
              <a:rPr lang="en-IN" b="1" dirty="0">
                <a:effectLst/>
              </a:rPr>
              <a:t>1. Language Introduction and History</a:t>
            </a:r>
            <a:endParaRPr lang="en-US" dirty="0"/>
          </a:p>
        </p:txBody>
      </p:sp>
      <p:sp>
        <p:nvSpPr>
          <p:cNvPr id="3" name="Content Placeholder 2">
            <a:extLst>
              <a:ext uri="{FF2B5EF4-FFF2-40B4-BE49-F238E27FC236}">
                <a16:creationId xmlns:a16="http://schemas.microsoft.com/office/drawing/2014/main" id="{7AE9E7A0-4DCC-3591-FF34-04F753220DE7}"/>
              </a:ext>
            </a:extLst>
          </p:cNvPr>
          <p:cNvSpPr>
            <a:spLocks noGrp="1"/>
          </p:cNvSpPr>
          <p:nvPr>
            <p:ph idx="1"/>
          </p:nvPr>
        </p:nvSpPr>
        <p:spPr/>
        <p:txBody>
          <a:bodyPr>
            <a:normAutofit lnSpcReduction="10000"/>
          </a:bodyPr>
          <a:lstStyle/>
          <a:p>
            <a:pPr algn="l">
              <a:buFont typeface="Arial" panose="020B0604020202020204" pitchFamily="34" charset="0"/>
              <a:buChar char="•"/>
            </a:pPr>
            <a:r>
              <a:rPr lang="en-IN" b="1" i="0" dirty="0">
                <a:effectLst/>
                <a:latin typeface="Google Sans Text"/>
              </a:rPr>
              <a:t>Definition:</a:t>
            </a:r>
            <a:r>
              <a:rPr lang="en-IN" b="0" i="0" dirty="0">
                <a:effectLst/>
                <a:latin typeface="Google Sans Text"/>
              </a:rPr>
              <a:t> Python is a </a:t>
            </a:r>
            <a:r>
              <a:rPr lang="en-IN" b="1" i="0" dirty="0">
                <a:effectLst/>
                <a:latin typeface="Google Sans Text"/>
              </a:rPr>
              <a:t>general-purpose, high-level</a:t>
            </a:r>
            <a:r>
              <a:rPr lang="en-IN" b="0" i="0" dirty="0">
                <a:effectLst/>
                <a:latin typeface="Google Sans Text"/>
              </a:rPr>
              <a:t> programming language.</a:t>
            </a:r>
          </a:p>
          <a:p>
            <a:pPr algn="l">
              <a:buFont typeface="Arial" panose="020B0604020202020204" pitchFamily="34" charset="0"/>
              <a:buChar char="•"/>
            </a:pPr>
            <a:r>
              <a:rPr lang="en-IN" b="1" i="0" dirty="0">
                <a:effectLst/>
                <a:latin typeface="Google Sans Text"/>
              </a:rPr>
              <a:t>Origin:</a:t>
            </a:r>
            <a:r>
              <a:rPr lang="en-IN" b="0" i="0" dirty="0">
                <a:effectLst/>
                <a:latin typeface="Google Sans Text"/>
              </a:rPr>
              <a:t> Developed by </a:t>
            </a:r>
            <a:r>
              <a:rPr lang="en-IN" b="1" i="0" dirty="0">
                <a:effectLst/>
                <a:latin typeface="Google Sans Text"/>
              </a:rPr>
              <a:t>Guido Van Rossum in 1989</a:t>
            </a:r>
            <a:r>
              <a:rPr lang="en-IN" b="0" i="0" dirty="0">
                <a:effectLst/>
                <a:latin typeface="Google Sans Text"/>
              </a:rPr>
              <a:t> at the National Research Institute in the Netherlands.</a:t>
            </a:r>
          </a:p>
          <a:p>
            <a:pPr algn="l">
              <a:buFont typeface="Arial" panose="020B0604020202020204" pitchFamily="34" charset="0"/>
              <a:buChar char="•"/>
            </a:pPr>
            <a:r>
              <a:rPr lang="en-IN" b="1" i="0" dirty="0">
                <a:effectLst/>
                <a:latin typeface="Google Sans Text"/>
              </a:rPr>
              <a:t>Official Release:</a:t>
            </a:r>
            <a:r>
              <a:rPr lang="en-IN" b="0" i="0" dirty="0">
                <a:effectLst/>
                <a:latin typeface="Google Sans Text"/>
              </a:rPr>
              <a:t> It was made available to the public on </a:t>
            </a:r>
            <a:r>
              <a:rPr lang="en-IN" b="1" i="0" dirty="0">
                <a:effectLst/>
                <a:latin typeface="Google Sans Text"/>
              </a:rPr>
              <a:t>February 20, 1991</a:t>
            </a:r>
            <a:r>
              <a:rPr lang="en-IN" b="0" i="0" dirty="0">
                <a:effectLst/>
                <a:latin typeface="Google Sans Text"/>
              </a:rPr>
              <a:t>.</a:t>
            </a:r>
          </a:p>
          <a:p>
            <a:pPr algn="l">
              <a:buFont typeface="Arial" panose="020B0604020202020204" pitchFamily="34" charset="0"/>
              <a:buChar char="•"/>
            </a:pPr>
            <a:r>
              <a:rPr lang="en-IN" b="1" i="0" dirty="0">
                <a:effectLst/>
                <a:latin typeface="Google Sans Text"/>
              </a:rPr>
              <a:t>Naming:</a:t>
            </a:r>
            <a:r>
              <a:rPr lang="en-IN" b="0" i="0" dirty="0">
                <a:effectLst/>
                <a:latin typeface="Google Sans Text"/>
              </a:rPr>
              <a:t> The name "Python" was inspired by the BBC TV show </a:t>
            </a:r>
            <a:r>
              <a:rPr lang="en-IN" b="1" i="0" dirty="0">
                <a:effectLst/>
                <a:latin typeface="Google Sans Text"/>
              </a:rPr>
              <a:t>"The Complete Monty Python's Circus"</a:t>
            </a:r>
            <a:r>
              <a:rPr lang="en-IN" b="0" i="0" dirty="0">
                <a:effectLst/>
                <a:latin typeface="Google Sans Text"/>
              </a:rPr>
              <a:t> (1969–1974)</a:t>
            </a:r>
          </a:p>
          <a:p>
            <a:br>
              <a:rPr lang="en-IN" dirty="0"/>
            </a:br>
            <a:endParaRPr lang="en-US" dirty="0"/>
          </a:p>
        </p:txBody>
      </p:sp>
    </p:spTree>
    <p:extLst>
      <p:ext uri="{BB962C8B-B14F-4D97-AF65-F5344CB8AC3E}">
        <p14:creationId xmlns:p14="http://schemas.microsoft.com/office/powerpoint/2010/main" val="25242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8F49-D0A3-1301-76F5-CD3FB8C68F30}"/>
              </a:ext>
            </a:extLst>
          </p:cNvPr>
          <p:cNvSpPr>
            <a:spLocks noGrp="1"/>
          </p:cNvSpPr>
          <p:nvPr>
            <p:ph type="title"/>
          </p:nvPr>
        </p:nvSpPr>
        <p:spPr/>
        <p:txBody>
          <a:bodyPr/>
          <a:lstStyle/>
          <a:p>
            <a:r>
              <a:rPr lang="en-IN" b="1" dirty="0">
                <a:effectLst/>
              </a:rPr>
              <a:t>2. Hybrid Features</a:t>
            </a:r>
            <a:endParaRPr lang="en-US" dirty="0"/>
          </a:p>
        </p:txBody>
      </p:sp>
      <p:sp>
        <p:nvSpPr>
          <p:cNvPr id="3" name="Content Placeholder 2">
            <a:extLst>
              <a:ext uri="{FF2B5EF4-FFF2-40B4-BE49-F238E27FC236}">
                <a16:creationId xmlns:a16="http://schemas.microsoft.com/office/drawing/2014/main" id="{2A5C2144-4B7C-CFE9-23A3-6F72CBE619F8}"/>
              </a:ext>
            </a:extLst>
          </p:cNvPr>
          <p:cNvSpPr>
            <a:spLocks noGrp="1"/>
          </p:cNvSpPr>
          <p:nvPr>
            <p:ph idx="1"/>
          </p:nvPr>
        </p:nvSpPr>
        <p:spPr/>
        <p:txBody>
          <a:bodyPr/>
          <a:lstStyle/>
          <a:p>
            <a:r>
              <a:rPr lang="en-IN" dirty="0">
                <a:effectLst/>
              </a:rPr>
              <a:t>Guido Van Rossum integrated features from several programming paradigms into Python:</a:t>
            </a:r>
          </a:p>
          <a:p>
            <a:pPr algn="l">
              <a:buFont typeface="Arial" panose="020B0604020202020204" pitchFamily="34" charset="0"/>
              <a:buChar char="•"/>
            </a:pPr>
            <a:r>
              <a:rPr lang="en-IN" b="1" i="0" dirty="0">
                <a:effectLst/>
                <a:latin typeface="Google Sans Text"/>
              </a:rPr>
              <a:t>Functional Programming:</a:t>
            </a:r>
            <a:r>
              <a:rPr lang="en-IN" b="0" i="0" dirty="0">
                <a:effectLst/>
                <a:latin typeface="Google Sans Text"/>
              </a:rPr>
              <a:t> Inherited from C.</a:t>
            </a:r>
          </a:p>
          <a:p>
            <a:pPr algn="l">
              <a:buFont typeface="Arial" panose="020B0604020202020204" pitchFamily="34" charset="0"/>
              <a:buChar char="•"/>
            </a:pPr>
            <a:r>
              <a:rPr lang="en-IN" b="1" i="0" dirty="0">
                <a:effectLst/>
                <a:latin typeface="Google Sans Text"/>
              </a:rPr>
              <a:t>Object-Oriented Programming (OOP):</a:t>
            </a:r>
            <a:r>
              <a:rPr lang="en-IN" b="0" i="0" dirty="0">
                <a:effectLst/>
                <a:latin typeface="Google Sans Text"/>
              </a:rPr>
              <a:t> Inherited from C++.</a:t>
            </a:r>
          </a:p>
          <a:p>
            <a:pPr algn="l">
              <a:buFont typeface="Arial" panose="020B0604020202020204" pitchFamily="34" charset="0"/>
              <a:buChar char="•"/>
            </a:pPr>
            <a:r>
              <a:rPr lang="en-IN" b="1" i="0" dirty="0">
                <a:effectLst/>
                <a:latin typeface="Google Sans Text"/>
              </a:rPr>
              <a:t>Scripting Capabilities:</a:t>
            </a:r>
            <a:r>
              <a:rPr lang="en-IN" b="0" i="0" dirty="0">
                <a:effectLst/>
                <a:latin typeface="Google Sans Text"/>
              </a:rPr>
              <a:t> Taken from Perl and Shell Script.</a:t>
            </a:r>
          </a:p>
          <a:p>
            <a:pPr algn="l">
              <a:buFont typeface="Arial" panose="020B0604020202020204" pitchFamily="34" charset="0"/>
              <a:buChar char="•"/>
            </a:pPr>
            <a:r>
              <a:rPr lang="en-IN" b="1" i="0" dirty="0">
                <a:effectLst/>
                <a:latin typeface="Google Sans Text"/>
              </a:rPr>
              <a:t>Modular Programming:</a:t>
            </a:r>
            <a:r>
              <a:rPr lang="en-IN" b="0" i="0" dirty="0">
                <a:effectLst/>
                <a:latin typeface="Google Sans Text"/>
              </a:rPr>
              <a:t> Inherited from Modula-3.</a:t>
            </a:r>
          </a:p>
          <a:p>
            <a:pPr algn="l">
              <a:buFont typeface="Arial" panose="020B0604020202020204" pitchFamily="34" charset="0"/>
              <a:buChar char="•"/>
            </a:pPr>
            <a:r>
              <a:rPr lang="en-IN" b="1" i="0" dirty="0">
                <a:effectLst/>
                <a:latin typeface="Google Sans Text"/>
              </a:rPr>
              <a:t>Syntax:</a:t>
            </a:r>
            <a:r>
              <a:rPr lang="en-IN" b="0" i="0" dirty="0">
                <a:effectLst/>
                <a:latin typeface="Google Sans Text"/>
              </a:rPr>
              <a:t> Most of the syntax is derived from C and the ABC language</a:t>
            </a:r>
          </a:p>
          <a:p>
            <a:endParaRPr lang="en-US" dirty="0"/>
          </a:p>
        </p:txBody>
      </p:sp>
    </p:spTree>
    <p:extLst>
      <p:ext uri="{BB962C8B-B14F-4D97-AF65-F5344CB8AC3E}">
        <p14:creationId xmlns:p14="http://schemas.microsoft.com/office/powerpoint/2010/main" val="2318335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F2451-14E1-1A12-9409-6F060FC96E7C}"/>
              </a:ext>
            </a:extLst>
          </p:cNvPr>
          <p:cNvSpPr>
            <a:spLocks noGrp="1"/>
          </p:cNvSpPr>
          <p:nvPr>
            <p:ph type="title"/>
          </p:nvPr>
        </p:nvSpPr>
        <p:spPr/>
        <p:txBody>
          <a:bodyPr/>
          <a:lstStyle/>
          <a:p>
            <a:r>
              <a:rPr lang="en-IN" b="1" dirty="0">
                <a:effectLst/>
              </a:rPr>
              <a:t>3. Application Areas</a:t>
            </a:r>
            <a:endParaRPr lang="en-US" dirty="0"/>
          </a:p>
        </p:txBody>
      </p:sp>
      <p:sp>
        <p:nvSpPr>
          <p:cNvPr id="3" name="Content Placeholder 2">
            <a:extLst>
              <a:ext uri="{FF2B5EF4-FFF2-40B4-BE49-F238E27FC236}">
                <a16:creationId xmlns:a16="http://schemas.microsoft.com/office/drawing/2014/main" id="{C3C72627-9CC8-C697-837B-5ACD447793B5}"/>
              </a:ext>
            </a:extLst>
          </p:cNvPr>
          <p:cNvSpPr>
            <a:spLocks noGrp="1"/>
          </p:cNvSpPr>
          <p:nvPr>
            <p:ph idx="1"/>
          </p:nvPr>
        </p:nvSpPr>
        <p:spPr/>
        <p:txBody>
          <a:bodyPr/>
          <a:lstStyle/>
          <a:p>
            <a:r>
              <a:rPr lang="en-IN" dirty="0">
                <a:effectLst/>
              </a:rPr>
              <a:t>Python is versatile and can be used for:</a:t>
            </a:r>
          </a:p>
          <a:p>
            <a:pPr algn="l">
              <a:buFont typeface="Arial" panose="020B0604020202020204" pitchFamily="34" charset="0"/>
              <a:buChar char="•"/>
            </a:pPr>
            <a:r>
              <a:rPr lang="en-IN" b="0" i="0" dirty="0">
                <a:effectLst/>
                <a:latin typeface="Google Sans Text"/>
              </a:rPr>
              <a:t>Desktop, Web, and Database Applications.</a:t>
            </a:r>
          </a:p>
          <a:p>
            <a:pPr algn="l">
              <a:buFont typeface="Arial" panose="020B0604020202020204" pitchFamily="34" charset="0"/>
              <a:buChar char="•"/>
            </a:pPr>
            <a:r>
              <a:rPr lang="en-IN" b="0" i="0" dirty="0">
                <a:effectLst/>
                <a:latin typeface="Google Sans Text"/>
              </a:rPr>
              <a:t>Network Programming and Games.</a:t>
            </a:r>
          </a:p>
          <a:p>
            <a:pPr algn="l">
              <a:buFont typeface="Arial" panose="020B0604020202020204" pitchFamily="34" charset="0"/>
              <a:buChar char="•"/>
            </a:pPr>
            <a:r>
              <a:rPr lang="en-IN" b="1" i="0" dirty="0">
                <a:effectLst/>
                <a:latin typeface="Google Sans Text"/>
              </a:rPr>
              <a:t>Data Analysis, Machine Learning, and Artificial Intelligence (AI).</a:t>
            </a:r>
            <a:endParaRPr lang="en-IN" b="0" i="0" dirty="0">
              <a:effectLst/>
              <a:latin typeface="Google Sans Text"/>
            </a:endParaRPr>
          </a:p>
          <a:p>
            <a:pPr algn="l">
              <a:buFont typeface="Arial" panose="020B0604020202020204" pitchFamily="34" charset="0"/>
              <a:buChar char="•"/>
            </a:pPr>
            <a:r>
              <a:rPr lang="en-IN" b="0" i="0" dirty="0">
                <a:effectLst/>
                <a:latin typeface="Google Sans Text"/>
              </a:rPr>
              <a:t>Internet of Things (IOT).</a:t>
            </a:r>
          </a:p>
          <a:p>
            <a:pPr algn="l">
              <a:buFont typeface="Arial" panose="020B0604020202020204" pitchFamily="34" charset="0"/>
              <a:buChar char="•"/>
            </a:pPr>
            <a:r>
              <a:rPr lang="en-IN" b="1" i="0" dirty="0">
                <a:effectLst/>
                <a:latin typeface="Google Sans Text"/>
              </a:rPr>
              <a:t>Industry Use:</a:t>
            </a:r>
            <a:r>
              <a:rPr lang="en-IN" b="0" i="0" dirty="0">
                <a:effectLst/>
                <a:latin typeface="Google Sans Text"/>
              </a:rPr>
              <a:t> Companies like </a:t>
            </a:r>
            <a:r>
              <a:rPr lang="en-IN" b="1" i="0" dirty="0">
                <a:effectLst/>
                <a:latin typeface="Google Sans Text"/>
              </a:rPr>
              <a:t>Google, YouTube, NASA, Microsoft, and IBM</a:t>
            </a:r>
            <a:r>
              <a:rPr lang="en-IN" b="0" i="0" dirty="0">
                <a:effectLst/>
                <a:latin typeface="Google Sans Text"/>
              </a:rPr>
              <a:t> utilize Python for their internal systems</a:t>
            </a:r>
          </a:p>
          <a:p>
            <a:endParaRPr lang="en-US" dirty="0"/>
          </a:p>
        </p:txBody>
      </p:sp>
    </p:spTree>
    <p:extLst>
      <p:ext uri="{BB962C8B-B14F-4D97-AF65-F5344CB8AC3E}">
        <p14:creationId xmlns:p14="http://schemas.microsoft.com/office/powerpoint/2010/main" val="29791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1E08A-510B-51B4-298B-6A14ECD50382}"/>
              </a:ext>
            </a:extLst>
          </p:cNvPr>
          <p:cNvSpPr>
            <a:spLocks noGrp="1"/>
          </p:cNvSpPr>
          <p:nvPr>
            <p:ph type="title"/>
          </p:nvPr>
        </p:nvSpPr>
        <p:spPr/>
        <p:txBody>
          <a:bodyPr/>
          <a:lstStyle/>
          <a:p>
            <a:r>
              <a:rPr lang="en-IN" b="1" dirty="0">
                <a:effectLst/>
              </a:rPr>
              <a:t>4. Key Features of Python</a:t>
            </a:r>
            <a:endParaRPr lang="en-US" dirty="0"/>
          </a:p>
        </p:txBody>
      </p:sp>
      <p:sp>
        <p:nvSpPr>
          <p:cNvPr id="3" name="Content Placeholder 2">
            <a:extLst>
              <a:ext uri="{FF2B5EF4-FFF2-40B4-BE49-F238E27FC236}">
                <a16:creationId xmlns:a16="http://schemas.microsoft.com/office/drawing/2014/main" id="{66957653-37ED-46F3-B4A0-5F261FAD1AF9}"/>
              </a:ext>
            </a:extLst>
          </p:cNvPr>
          <p:cNvSpPr>
            <a:spLocks noGrp="1"/>
          </p:cNvSpPr>
          <p:nvPr>
            <p:ph idx="1"/>
          </p:nvPr>
        </p:nvSpPr>
        <p:spPr/>
        <p:txBody>
          <a:bodyPr>
            <a:normAutofit fontScale="77500" lnSpcReduction="20000"/>
          </a:bodyPr>
          <a:lstStyle/>
          <a:p>
            <a:pPr algn="l">
              <a:buFont typeface="+mj-lt"/>
              <a:buAutoNum type="arabicPeriod"/>
            </a:pPr>
            <a:r>
              <a:rPr lang="en-IN" b="1" i="0" dirty="0">
                <a:effectLst/>
                <a:latin typeface="Google Sans Text"/>
              </a:rPr>
              <a:t>Simple and Easy to Learn:</a:t>
            </a:r>
            <a:r>
              <a:rPr lang="en-IN" b="0" i="0" dirty="0">
                <a:effectLst/>
                <a:latin typeface="Google Sans Text"/>
              </a:rPr>
              <a:t> The syntax resembles plain English, emphasizing readability. It uses only </a:t>
            </a:r>
            <a:r>
              <a:rPr lang="en-IN" b="1" i="0" dirty="0">
                <a:effectLst/>
                <a:latin typeface="Google Sans Text"/>
              </a:rPr>
              <a:t>30+ keywords</a:t>
            </a:r>
            <a:r>
              <a:rPr lang="en-IN" b="0" i="0" dirty="0">
                <a:effectLst/>
                <a:latin typeface="Google Sans Text"/>
              </a:rPr>
              <a:t> and requires fewer lines of code compared to Java or C.</a:t>
            </a:r>
          </a:p>
          <a:p>
            <a:pPr algn="l">
              <a:buFont typeface="+mj-lt"/>
              <a:buAutoNum type="arabicPeriod"/>
            </a:pPr>
            <a:r>
              <a:rPr lang="en-IN" b="1" i="0" dirty="0">
                <a:effectLst/>
                <a:latin typeface="Google Sans Text"/>
              </a:rPr>
              <a:t>Freeware and Open Source:</a:t>
            </a:r>
            <a:r>
              <a:rPr lang="en-IN" b="0" i="0" dirty="0">
                <a:effectLst/>
                <a:latin typeface="Google Sans Text"/>
              </a:rPr>
              <a:t> It is free to use. Being open-source allows for customization, such as </a:t>
            </a:r>
            <a:r>
              <a:rPr lang="en-IN" b="1" i="0" dirty="0" err="1">
                <a:effectLst/>
                <a:latin typeface="Google Sans Text"/>
              </a:rPr>
              <a:t>Jython</a:t>
            </a:r>
            <a:r>
              <a:rPr lang="en-IN" b="0" i="0" dirty="0">
                <a:effectLst/>
                <a:latin typeface="Google Sans Text"/>
              </a:rPr>
              <a:t>, which is a version of Python tailored for Java applications.</a:t>
            </a:r>
          </a:p>
          <a:p>
            <a:pPr algn="l">
              <a:buFont typeface="+mj-lt"/>
              <a:buAutoNum type="arabicPeriod"/>
            </a:pPr>
            <a:r>
              <a:rPr lang="en-IN" b="1" i="0" dirty="0">
                <a:effectLst/>
                <a:latin typeface="Google Sans Text"/>
              </a:rPr>
              <a:t>High-Level Language:</a:t>
            </a:r>
            <a:r>
              <a:rPr lang="en-IN" b="0" i="0" dirty="0">
                <a:effectLst/>
                <a:latin typeface="Google Sans Text"/>
              </a:rPr>
              <a:t> It is programmer-friendly because users do not need to manage low-level activities like memory management or security.</a:t>
            </a:r>
          </a:p>
          <a:p>
            <a:pPr algn="l">
              <a:buFont typeface="+mj-lt"/>
              <a:buAutoNum type="arabicPeriod"/>
            </a:pPr>
            <a:r>
              <a:rPr lang="en-IN" b="1" i="0" dirty="0">
                <a:effectLst/>
                <a:latin typeface="Google Sans Text"/>
              </a:rPr>
              <a:t>Platform Independent:</a:t>
            </a:r>
            <a:r>
              <a:rPr lang="en-IN" b="0" i="0" dirty="0">
                <a:effectLst/>
                <a:latin typeface="Google Sans Text"/>
              </a:rPr>
              <a:t> Code can run on any platform once written. The </a:t>
            </a:r>
            <a:r>
              <a:rPr lang="en-IN" b="1" i="0" dirty="0">
                <a:effectLst/>
                <a:latin typeface="Google Sans Text"/>
              </a:rPr>
              <a:t>Python Virtual Machine (PVM)</a:t>
            </a:r>
            <a:r>
              <a:rPr lang="en-IN" b="0" i="0" dirty="0">
                <a:effectLst/>
                <a:latin typeface="Google Sans Text"/>
              </a:rPr>
              <a:t> handles the conversion into machine-understandable form.</a:t>
            </a:r>
          </a:p>
          <a:p>
            <a:pPr algn="l">
              <a:buFont typeface="+mj-lt"/>
              <a:buAutoNum type="arabicPeriod"/>
            </a:pPr>
            <a:r>
              <a:rPr lang="en-IN" b="1" i="0" dirty="0">
                <a:effectLst/>
                <a:latin typeface="Google Sans Text"/>
              </a:rPr>
              <a:t>Portability:</a:t>
            </a:r>
            <a:r>
              <a:rPr lang="en-IN" b="0" i="0" dirty="0">
                <a:effectLst/>
                <a:latin typeface="Google Sans Text"/>
              </a:rPr>
              <a:t> Python programs provide consistent results across different platforms.</a:t>
            </a:r>
          </a:p>
          <a:p>
            <a:pPr algn="l">
              <a:buFont typeface="+mj-lt"/>
              <a:buAutoNum type="arabicPeriod"/>
            </a:pPr>
            <a:r>
              <a:rPr lang="en-IN" b="1" i="0" dirty="0">
                <a:effectLst/>
                <a:latin typeface="Google Sans Text"/>
              </a:rPr>
              <a:t>Dynamically Typed:</a:t>
            </a:r>
            <a:r>
              <a:rPr lang="en-IN" b="0" i="0" dirty="0">
                <a:effectLst/>
                <a:latin typeface="Google Sans Text"/>
              </a:rPr>
              <a:t> Types are assigned automatically based on the value provided (e.g., a = 10 is automatically an int). This differs from statically typed languages like Java, where types must be declared upfront.</a:t>
            </a:r>
          </a:p>
          <a:p>
            <a:pPr algn="l">
              <a:buFont typeface="+mj-lt"/>
              <a:buAutoNum type="arabicPeriod"/>
            </a:pPr>
            <a:endParaRPr lang="en-IN" b="0" i="0" dirty="0">
              <a:effectLst/>
              <a:latin typeface="Google Sans Text"/>
            </a:endParaRPr>
          </a:p>
          <a:p>
            <a:endParaRPr lang="en-US" dirty="0"/>
          </a:p>
        </p:txBody>
      </p:sp>
    </p:spTree>
    <p:extLst>
      <p:ext uri="{BB962C8B-B14F-4D97-AF65-F5344CB8AC3E}">
        <p14:creationId xmlns:p14="http://schemas.microsoft.com/office/powerpoint/2010/main" val="3479599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A7A0B-271C-14E4-2005-9EE0850A3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987B-4272-E364-0CB0-F1F4F8C30816}"/>
              </a:ext>
            </a:extLst>
          </p:cNvPr>
          <p:cNvSpPr>
            <a:spLocks noGrp="1"/>
          </p:cNvSpPr>
          <p:nvPr>
            <p:ph type="title"/>
          </p:nvPr>
        </p:nvSpPr>
        <p:spPr/>
        <p:txBody>
          <a:bodyPr/>
          <a:lstStyle/>
          <a:p>
            <a:r>
              <a:rPr lang="en-IN" b="1" dirty="0">
                <a:effectLst/>
              </a:rPr>
              <a:t>4. Key Features of Python</a:t>
            </a:r>
            <a:r>
              <a:rPr lang="en-IN" b="1" dirty="0"/>
              <a:t> (cont.)</a:t>
            </a:r>
            <a:endParaRPr lang="en-US" dirty="0"/>
          </a:p>
        </p:txBody>
      </p:sp>
      <p:sp>
        <p:nvSpPr>
          <p:cNvPr id="3" name="Content Placeholder 2">
            <a:extLst>
              <a:ext uri="{FF2B5EF4-FFF2-40B4-BE49-F238E27FC236}">
                <a16:creationId xmlns:a16="http://schemas.microsoft.com/office/drawing/2014/main" id="{366AE5C6-44CB-22EB-8AE7-B6B04A15FA69}"/>
              </a:ext>
            </a:extLst>
          </p:cNvPr>
          <p:cNvSpPr>
            <a:spLocks noGrp="1"/>
          </p:cNvSpPr>
          <p:nvPr>
            <p:ph idx="1"/>
          </p:nvPr>
        </p:nvSpPr>
        <p:spPr/>
        <p:txBody>
          <a:bodyPr>
            <a:normAutofit fontScale="70000" lnSpcReduction="20000"/>
          </a:bodyPr>
          <a:lstStyle/>
          <a:p>
            <a:pPr algn="l">
              <a:buFont typeface="+mj-lt"/>
              <a:buAutoNum type="arabicPeriod"/>
            </a:pPr>
            <a:endParaRPr lang="en-IN" b="0" i="0" dirty="0">
              <a:effectLst/>
              <a:latin typeface="Google Sans Text"/>
            </a:endParaRPr>
          </a:p>
          <a:p>
            <a:pPr algn="l">
              <a:buFont typeface="+mj-lt"/>
              <a:buAutoNum type="arabicPeriod"/>
            </a:pPr>
            <a:r>
              <a:rPr lang="en-IN" b="1" i="0" dirty="0">
                <a:effectLst/>
                <a:latin typeface="Google Sans Text"/>
              </a:rPr>
              <a:t>Dynamically Typed:</a:t>
            </a:r>
            <a:r>
              <a:rPr lang="en-IN" b="0" i="0" dirty="0">
                <a:effectLst/>
                <a:latin typeface="Google Sans Text"/>
              </a:rPr>
              <a:t> Types are assigned automatically based on the value provided (e.g., a = 10 is automatically an int). This differs from statically typed languages like Java, where types must be declared upfront.</a:t>
            </a:r>
          </a:p>
          <a:p>
            <a:pPr algn="l">
              <a:buFont typeface="+mj-lt"/>
              <a:buAutoNum type="arabicPeriod"/>
            </a:pPr>
            <a:r>
              <a:rPr lang="en-IN" b="1" i="0" dirty="0">
                <a:effectLst/>
                <a:latin typeface="Google Sans Text"/>
              </a:rPr>
              <a:t>Both Procedure and Object-Oriented:</a:t>
            </a:r>
            <a:r>
              <a:rPr lang="en-IN" b="0" i="0" dirty="0">
                <a:effectLst/>
                <a:latin typeface="Google Sans Text"/>
              </a:rPr>
              <a:t> Supports both paradigms, offering the benefits of security and reusability.</a:t>
            </a:r>
          </a:p>
          <a:p>
            <a:pPr algn="l">
              <a:buFont typeface="+mj-lt"/>
              <a:buAutoNum type="arabicPeriod"/>
            </a:pPr>
            <a:r>
              <a:rPr lang="en-IN" b="1" i="0" dirty="0">
                <a:effectLst/>
                <a:latin typeface="Google Sans Text"/>
              </a:rPr>
              <a:t>Interpreted:</a:t>
            </a:r>
            <a:r>
              <a:rPr lang="en-IN" b="0" i="0" dirty="0">
                <a:effectLst/>
                <a:latin typeface="Google Sans Text"/>
              </a:rPr>
              <a:t> There is no need for explicit compilation. The interpreter handles it internally; if errors are found, it raises syntax errors, otherwise, the PVM executes the code.</a:t>
            </a:r>
          </a:p>
          <a:p>
            <a:pPr algn="l">
              <a:buFont typeface="+mj-lt"/>
              <a:buAutoNum type="arabicPeriod"/>
            </a:pPr>
            <a:r>
              <a:rPr lang="en-IN" b="1" i="0" dirty="0">
                <a:effectLst/>
                <a:latin typeface="Google Sans Text"/>
              </a:rPr>
              <a:t>Extensible:</a:t>
            </a:r>
            <a:r>
              <a:rPr lang="en-IN" b="0" i="0" dirty="0">
                <a:effectLst/>
                <a:latin typeface="Google Sans Text"/>
              </a:rPr>
              <a:t> Programs written in other languages can be used within Python to improve performance or leverage legacy code.</a:t>
            </a:r>
          </a:p>
          <a:p>
            <a:pPr algn="l">
              <a:buFont typeface="+mj-lt"/>
              <a:buAutoNum type="arabicPeriod"/>
            </a:pPr>
            <a:r>
              <a:rPr lang="en-IN" b="1" i="0" dirty="0">
                <a:effectLst/>
                <a:latin typeface="Google Sans Text"/>
              </a:rPr>
              <a:t>Embedded:</a:t>
            </a:r>
            <a:r>
              <a:rPr lang="en-IN" b="0" i="0" dirty="0">
                <a:effectLst/>
                <a:latin typeface="Google Sans Text"/>
              </a:rPr>
              <a:t> Python programs can be embedded within other programming environments.</a:t>
            </a:r>
          </a:p>
          <a:p>
            <a:pPr algn="l">
              <a:buFont typeface="+mj-lt"/>
              <a:buAutoNum type="arabicPeriod"/>
            </a:pPr>
            <a:r>
              <a:rPr lang="en-IN" b="1" i="0" dirty="0">
                <a:effectLst/>
                <a:latin typeface="Google Sans Text"/>
              </a:rPr>
              <a:t>Extensive Library:</a:t>
            </a:r>
            <a:r>
              <a:rPr lang="en-IN" b="0" i="0" dirty="0">
                <a:effectLst/>
                <a:latin typeface="Google Sans Text"/>
              </a:rPr>
              <a:t> It features a rich built-in library, reducing the need for programmers to implement standard functionalities from scratch</a:t>
            </a:r>
          </a:p>
          <a:p>
            <a:endParaRPr lang="en-US" dirty="0"/>
          </a:p>
        </p:txBody>
      </p:sp>
    </p:spTree>
    <p:extLst>
      <p:ext uri="{BB962C8B-B14F-4D97-AF65-F5344CB8AC3E}">
        <p14:creationId xmlns:p14="http://schemas.microsoft.com/office/powerpoint/2010/main" val="3068797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EFD75-31E2-4DC3-C68F-59764DC25E8C}"/>
              </a:ext>
            </a:extLst>
          </p:cNvPr>
          <p:cNvSpPr>
            <a:spLocks noGrp="1"/>
          </p:cNvSpPr>
          <p:nvPr>
            <p:ph type="title"/>
          </p:nvPr>
        </p:nvSpPr>
        <p:spPr/>
        <p:txBody>
          <a:bodyPr/>
          <a:lstStyle/>
          <a:p>
            <a:r>
              <a:rPr lang="en-IN" b="1" dirty="0">
                <a:effectLst/>
              </a:rPr>
              <a:t>5. Identifiers in Python</a:t>
            </a:r>
            <a:endParaRPr lang="en-US" dirty="0"/>
          </a:p>
        </p:txBody>
      </p:sp>
      <p:sp>
        <p:nvSpPr>
          <p:cNvPr id="3" name="Content Placeholder 2">
            <a:extLst>
              <a:ext uri="{FF2B5EF4-FFF2-40B4-BE49-F238E27FC236}">
                <a16:creationId xmlns:a16="http://schemas.microsoft.com/office/drawing/2014/main" id="{0D10A440-79DD-6614-13BB-DDFB9456924B}"/>
              </a:ext>
            </a:extLst>
          </p:cNvPr>
          <p:cNvSpPr>
            <a:spLocks noGrp="1"/>
          </p:cNvSpPr>
          <p:nvPr>
            <p:ph idx="1"/>
          </p:nvPr>
        </p:nvSpPr>
        <p:spPr/>
        <p:txBody>
          <a:bodyPr>
            <a:normAutofit fontScale="92500" lnSpcReduction="10000"/>
          </a:bodyPr>
          <a:lstStyle/>
          <a:p>
            <a:r>
              <a:rPr lang="en-IN" dirty="0">
                <a:effectLst/>
              </a:rPr>
              <a:t>An identifier is a name used in a program, such as a variable, function, module, or class name.</a:t>
            </a:r>
          </a:p>
          <a:p>
            <a:r>
              <a:rPr lang="en-IN" b="1" dirty="0">
                <a:effectLst/>
              </a:rPr>
              <a:t>Rules for Defining Identifiers:</a:t>
            </a:r>
            <a:endParaRPr lang="en-IN" dirty="0">
              <a:effectLst/>
            </a:endParaRPr>
          </a:p>
          <a:p>
            <a:pPr algn="l">
              <a:buFont typeface="Arial" panose="020B0604020202020204" pitchFamily="34" charset="0"/>
              <a:buChar char="•"/>
            </a:pPr>
            <a:r>
              <a:rPr lang="en-IN" b="1" i="0" dirty="0">
                <a:effectLst/>
                <a:latin typeface="Google Sans Text"/>
              </a:rPr>
              <a:t>Allowed Characters:</a:t>
            </a:r>
            <a:r>
              <a:rPr lang="en-IN" b="0" i="0" dirty="0">
                <a:effectLst/>
                <a:latin typeface="Google Sans Text"/>
              </a:rPr>
              <a:t> Lowercase/uppercase alphabets, digits (0-9), and the underscore (_).</a:t>
            </a:r>
          </a:p>
          <a:p>
            <a:pPr algn="l">
              <a:buFont typeface="Arial" panose="020B0604020202020204" pitchFamily="34" charset="0"/>
              <a:buChar char="•"/>
            </a:pPr>
            <a:r>
              <a:rPr lang="en-IN" b="1" i="0" dirty="0">
                <a:effectLst/>
                <a:latin typeface="Google Sans Text"/>
              </a:rPr>
              <a:t>Constraints:</a:t>
            </a:r>
            <a:endParaRPr lang="en-IN" b="0" i="0" dirty="0">
              <a:effectLst/>
              <a:latin typeface="Google Sans Text"/>
            </a:endParaRPr>
          </a:p>
          <a:p>
            <a:pPr marL="742950" lvl="1" indent="-285750" algn="l">
              <a:buFont typeface="Arial" panose="020B0604020202020204" pitchFamily="34" charset="0"/>
              <a:buChar char="•"/>
            </a:pPr>
            <a:r>
              <a:rPr lang="en-IN" b="0" i="0" dirty="0">
                <a:effectLst/>
                <a:latin typeface="Google Sans Text"/>
              </a:rPr>
              <a:t>Cannot start with a digit (e.g., total123 is valid, but 123total is invalid).</a:t>
            </a:r>
          </a:p>
          <a:p>
            <a:pPr marL="742950" lvl="1" indent="-285750" algn="l">
              <a:buFont typeface="Arial" panose="020B0604020202020204" pitchFamily="34" charset="0"/>
              <a:buChar char="•"/>
            </a:pPr>
            <a:r>
              <a:rPr lang="en-IN" b="1" i="0" dirty="0">
                <a:effectLst/>
                <a:latin typeface="Google Sans Text"/>
              </a:rPr>
              <a:t>Case Sensitive:</a:t>
            </a:r>
            <a:r>
              <a:rPr lang="en-IN" b="0" i="0" dirty="0">
                <a:effectLst/>
                <a:latin typeface="Google Sans Text"/>
              </a:rPr>
              <a:t> total and TOTAL are considered two different identifiers.</a:t>
            </a:r>
          </a:p>
          <a:p>
            <a:pPr marL="742950" lvl="1" indent="-285750" algn="l">
              <a:buFont typeface="Arial" panose="020B0604020202020204" pitchFamily="34" charset="0"/>
              <a:buChar char="•"/>
            </a:pPr>
            <a:r>
              <a:rPr lang="en-IN" b="1" i="0" dirty="0">
                <a:effectLst/>
                <a:latin typeface="Google Sans Text"/>
              </a:rPr>
              <a:t>No Reserved Words:</a:t>
            </a:r>
            <a:r>
              <a:rPr lang="en-IN" b="0" i="0" dirty="0">
                <a:effectLst/>
                <a:latin typeface="Google Sans Text"/>
              </a:rPr>
              <a:t> You cannot use keywords (like def or if) as identifier names.</a:t>
            </a:r>
          </a:p>
          <a:p>
            <a:pPr marL="742950" lvl="1" indent="-285750" algn="l">
              <a:buFont typeface="Arial" panose="020B0604020202020204" pitchFamily="34" charset="0"/>
              <a:buChar char="•"/>
            </a:pPr>
            <a:r>
              <a:rPr lang="en-IN" b="1" i="0" dirty="0">
                <a:effectLst/>
                <a:latin typeface="Google Sans Text"/>
              </a:rPr>
              <a:t>Symbols:</a:t>
            </a:r>
            <a:r>
              <a:rPr lang="en-IN" b="0" i="0" dirty="0">
                <a:effectLst/>
                <a:latin typeface="Google Sans Text"/>
              </a:rPr>
              <a:t> Special symbols like the dollar sign ($) are strictly prohibited.</a:t>
            </a:r>
          </a:p>
          <a:p>
            <a:pPr marL="742950" lvl="1" indent="-285750" algn="l">
              <a:buFont typeface="Arial" panose="020B0604020202020204" pitchFamily="34" charset="0"/>
              <a:buChar char="•"/>
            </a:pPr>
            <a:r>
              <a:rPr lang="en-IN" b="1" i="0" dirty="0">
                <a:effectLst/>
                <a:latin typeface="Google Sans Text"/>
              </a:rPr>
              <a:t>Length:</a:t>
            </a:r>
            <a:r>
              <a:rPr lang="en-IN" b="0" i="0" dirty="0">
                <a:effectLst/>
                <a:latin typeface="Google Sans Text"/>
              </a:rPr>
              <a:t> There is no official length limit, but excessively long names are not recommended</a:t>
            </a:r>
          </a:p>
          <a:p>
            <a:endParaRPr lang="en-US" dirty="0"/>
          </a:p>
        </p:txBody>
      </p:sp>
    </p:spTree>
    <p:extLst>
      <p:ext uri="{BB962C8B-B14F-4D97-AF65-F5344CB8AC3E}">
        <p14:creationId xmlns:p14="http://schemas.microsoft.com/office/powerpoint/2010/main" val="2371730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8CC5-1D03-FA3A-A7E7-B9D38F46E25E}"/>
              </a:ext>
            </a:extLst>
          </p:cNvPr>
          <p:cNvSpPr>
            <a:spLocks noGrp="1"/>
          </p:cNvSpPr>
          <p:nvPr>
            <p:ph type="title"/>
          </p:nvPr>
        </p:nvSpPr>
        <p:spPr/>
        <p:txBody>
          <a:bodyPr/>
          <a:lstStyle/>
          <a:p>
            <a:r>
              <a:rPr lang="en-IN" b="1" dirty="0">
                <a:effectLst/>
              </a:rPr>
              <a:t>Special Underscore Conventions:</a:t>
            </a:r>
            <a:endParaRPr lang="en-US" dirty="0"/>
          </a:p>
        </p:txBody>
      </p:sp>
      <p:sp>
        <p:nvSpPr>
          <p:cNvPr id="3" name="Content Placeholder 2">
            <a:extLst>
              <a:ext uri="{FF2B5EF4-FFF2-40B4-BE49-F238E27FC236}">
                <a16:creationId xmlns:a16="http://schemas.microsoft.com/office/drawing/2014/main" id="{417A195A-FD83-18F1-BC3E-EA293AF57C3A}"/>
              </a:ext>
            </a:extLst>
          </p:cNvPr>
          <p:cNvSpPr>
            <a:spLocks noGrp="1"/>
          </p:cNvSpPr>
          <p:nvPr>
            <p:ph idx="1"/>
          </p:nvPr>
        </p:nvSpPr>
        <p:spPr/>
        <p:txBody>
          <a:bodyPr/>
          <a:lstStyle/>
          <a:p>
            <a:pPr algn="l">
              <a:buFont typeface="+mj-lt"/>
              <a:buAutoNum type="arabicPeriod"/>
            </a:pPr>
            <a:r>
              <a:rPr lang="en-IN" b="1" i="0" dirty="0">
                <a:effectLst/>
                <a:latin typeface="Google Sans Text"/>
              </a:rPr>
              <a:t>Single Underscore (</a:t>
            </a:r>
            <a:r>
              <a:rPr lang="en-IN" b="0" i="0" dirty="0">
                <a:effectLst/>
                <a:latin typeface="Google Sans Code"/>
              </a:rPr>
              <a:t>_</a:t>
            </a:r>
            <a:r>
              <a:rPr lang="en-IN" b="1" i="0" dirty="0">
                <a:effectLst/>
                <a:latin typeface="Google Sans Text"/>
              </a:rPr>
              <a:t>):</a:t>
            </a:r>
            <a:r>
              <a:rPr lang="en-IN" b="0" i="0" dirty="0">
                <a:effectLst/>
                <a:latin typeface="Google Sans Text"/>
              </a:rPr>
              <a:t> Indicates the identifier is </a:t>
            </a:r>
            <a:r>
              <a:rPr lang="en-IN" b="1" i="0" dirty="0">
                <a:effectLst/>
                <a:latin typeface="Google Sans Text"/>
              </a:rPr>
              <a:t>private</a:t>
            </a:r>
            <a:r>
              <a:rPr lang="en-IN" b="0" i="0" dirty="0">
                <a:effectLst/>
                <a:latin typeface="Google Sans Text"/>
              </a:rPr>
              <a:t>.</a:t>
            </a:r>
          </a:p>
          <a:p>
            <a:pPr algn="l">
              <a:buFont typeface="+mj-lt"/>
              <a:buAutoNum type="arabicPeriod"/>
            </a:pPr>
            <a:r>
              <a:rPr lang="en-IN" b="1" i="0" dirty="0">
                <a:effectLst/>
                <a:latin typeface="Google Sans Text"/>
              </a:rPr>
              <a:t>Double Underscore (</a:t>
            </a:r>
            <a:r>
              <a:rPr lang="en-IN" b="0" i="0" dirty="0">
                <a:effectLst/>
                <a:latin typeface="Google Sans Code"/>
              </a:rPr>
              <a:t>__</a:t>
            </a:r>
            <a:r>
              <a:rPr lang="en-IN" b="1" i="0" dirty="0">
                <a:effectLst/>
                <a:latin typeface="Google Sans Text"/>
              </a:rPr>
              <a:t>):</a:t>
            </a:r>
            <a:r>
              <a:rPr lang="en-IN" b="0" i="0" dirty="0">
                <a:effectLst/>
                <a:latin typeface="Google Sans Text"/>
              </a:rPr>
              <a:t> Indicates a </a:t>
            </a:r>
            <a:r>
              <a:rPr lang="en-IN" b="1" i="0" dirty="0">
                <a:effectLst/>
                <a:latin typeface="Google Sans Text"/>
              </a:rPr>
              <a:t>strongly private</a:t>
            </a:r>
            <a:r>
              <a:rPr lang="en-IN" b="0" i="0" dirty="0">
                <a:effectLst/>
                <a:latin typeface="Google Sans Text"/>
              </a:rPr>
              <a:t> identifier.</a:t>
            </a:r>
          </a:p>
          <a:p>
            <a:pPr algn="l">
              <a:buFont typeface="+mj-lt"/>
              <a:buAutoNum type="arabicPeriod"/>
            </a:pPr>
            <a:r>
              <a:rPr lang="en-IN" b="1" i="0" dirty="0">
                <a:effectLst/>
                <a:latin typeface="Google Sans Text"/>
              </a:rPr>
              <a:t>Dunder (Double start and end </a:t>
            </a:r>
            <a:r>
              <a:rPr lang="en-IN" b="0" i="0" dirty="0">
                <a:effectLst/>
                <a:latin typeface="Google Sans Code"/>
              </a:rPr>
              <a:t>__name__</a:t>
            </a:r>
            <a:r>
              <a:rPr lang="en-IN" b="1" i="0" dirty="0">
                <a:effectLst/>
                <a:latin typeface="Google Sans Text"/>
              </a:rPr>
              <a:t>):</a:t>
            </a:r>
            <a:r>
              <a:rPr lang="en-IN" b="0" i="0" dirty="0">
                <a:effectLst/>
                <a:latin typeface="Google Sans Text"/>
              </a:rPr>
              <a:t> Indicates a language-defined special name or </a:t>
            </a:r>
            <a:r>
              <a:rPr lang="en-IN" b="1" i="0" dirty="0">
                <a:effectLst/>
                <a:latin typeface="Google Sans Text"/>
              </a:rPr>
              <a:t>magic method</a:t>
            </a:r>
            <a:r>
              <a:rPr lang="en-IN" b="0" i="0" dirty="0">
                <a:effectLst/>
                <a:latin typeface="Google Sans Text"/>
              </a:rPr>
              <a:t> (e.g., __add__)</a:t>
            </a:r>
          </a:p>
          <a:p>
            <a:endParaRPr lang="en-US" dirty="0"/>
          </a:p>
        </p:txBody>
      </p:sp>
    </p:spTree>
    <p:extLst>
      <p:ext uri="{BB962C8B-B14F-4D97-AF65-F5344CB8AC3E}">
        <p14:creationId xmlns:p14="http://schemas.microsoft.com/office/powerpoint/2010/main" val="3187991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55312-C277-9FA4-8983-AD6CDE542571}"/>
              </a:ext>
            </a:extLst>
          </p:cNvPr>
          <p:cNvSpPr>
            <a:spLocks noGrp="1"/>
          </p:cNvSpPr>
          <p:nvPr>
            <p:ph type="title"/>
          </p:nvPr>
        </p:nvSpPr>
        <p:spPr/>
        <p:txBody>
          <a:bodyPr/>
          <a:lstStyle/>
          <a:p>
            <a:r>
              <a:rPr lang="en-US" dirty="0"/>
              <a:t>Python Background</a:t>
            </a:r>
          </a:p>
        </p:txBody>
      </p:sp>
      <p:sp>
        <p:nvSpPr>
          <p:cNvPr id="3" name="Content Placeholder 2">
            <a:extLst>
              <a:ext uri="{FF2B5EF4-FFF2-40B4-BE49-F238E27FC236}">
                <a16:creationId xmlns:a16="http://schemas.microsoft.com/office/drawing/2014/main" id="{A363457D-290A-677B-D9FB-C4134250FB55}"/>
              </a:ext>
            </a:extLst>
          </p:cNvPr>
          <p:cNvSpPr>
            <a:spLocks noGrp="1"/>
          </p:cNvSpPr>
          <p:nvPr>
            <p:ph idx="1"/>
          </p:nvPr>
        </p:nvSpPr>
        <p:spPr/>
        <p:txBody>
          <a:bodyPr>
            <a:normAutofit fontScale="92500" lnSpcReduction="10000"/>
          </a:bodyPr>
          <a:lstStyle/>
          <a:p>
            <a:pPr algn="l"/>
            <a:r>
              <a:rPr lang="en-IN" b="0" i="0" dirty="0">
                <a:effectLst/>
                <a:latin typeface="Google Sans"/>
              </a:rPr>
              <a:t>Python was created by the Dutch programmer </a:t>
            </a:r>
            <a:r>
              <a:rPr lang="en-IN" b="1" i="0" dirty="0">
                <a:effectLst/>
                <a:latin typeface="Google Sans"/>
              </a:rPr>
              <a:t>Guido van Rossum</a:t>
            </a:r>
            <a:r>
              <a:rPr lang="en-IN" b="0" i="0" dirty="0">
                <a:effectLst/>
                <a:latin typeface="Google Sans"/>
              </a:rPr>
              <a:t> in the late 1980s as a hobby project and was first released in </a:t>
            </a:r>
            <a:r>
              <a:rPr lang="en-IN" b="1" i="0" dirty="0">
                <a:effectLst/>
                <a:latin typeface="Google Sans"/>
              </a:rPr>
              <a:t>February 1991</a:t>
            </a:r>
            <a:r>
              <a:rPr lang="en-IN" b="0" i="0" dirty="0">
                <a:effectLst/>
                <a:latin typeface="Google Sans"/>
              </a:rPr>
              <a:t>. </a:t>
            </a:r>
          </a:p>
          <a:p>
            <a:pPr algn="l"/>
            <a:r>
              <a:rPr lang="en-IN" b="0" i="0" dirty="0">
                <a:effectLst/>
                <a:latin typeface="Google Sans"/>
              </a:rPr>
              <a:t>It was designed to be a readable and intuitive scripting language with a focus on simple, clean syntax. </a:t>
            </a:r>
          </a:p>
          <a:p>
            <a:r>
              <a:rPr lang="en-IN" b="0" i="0" dirty="0">
                <a:effectLst/>
                <a:latin typeface="Google Sans"/>
              </a:rPr>
              <a:t>Python is a popular, general-purpose programming language known for its emphasis on </a:t>
            </a:r>
            <a:r>
              <a:rPr lang="en-IN" b="1" i="0" dirty="0">
                <a:effectLst/>
                <a:latin typeface="Google Sans"/>
              </a:rPr>
              <a:t>code readability</a:t>
            </a:r>
            <a:r>
              <a:rPr lang="en-IN" b="0" i="0" dirty="0">
                <a:effectLst/>
                <a:latin typeface="Google Sans"/>
              </a:rPr>
              <a:t> and </a:t>
            </a:r>
            <a:r>
              <a:rPr lang="en-IN" b="1" i="0" dirty="0">
                <a:effectLst/>
                <a:latin typeface="Google Sans"/>
              </a:rPr>
              <a:t>simplicity</a:t>
            </a:r>
            <a:r>
              <a:rPr lang="en-IN" b="0" i="0" dirty="0">
                <a:effectLst/>
                <a:latin typeface="Google Sans"/>
              </a:rPr>
              <a:t>, which makes it an excellent choice for both beginners and experienced developers. Key features include: </a:t>
            </a:r>
          </a:p>
          <a:p>
            <a:pPr algn="l"/>
            <a:r>
              <a:rPr lang="en-IN" b="0" i="0" dirty="0">
                <a:effectLst/>
                <a:latin typeface="Google Sans"/>
              </a:rPr>
              <a:t>The main limitations of Python programming include its slow execution speed compared to compiled languages, high memory consumption, and limitations in mobile application development and concurrent programming. </a:t>
            </a:r>
          </a:p>
        </p:txBody>
      </p:sp>
    </p:spTree>
    <p:extLst>
      <p:ext uri="{BB962C8B-B14F-4D97-AF65-F5344CB8AC3E}">
        <p14:creationId xmlns:p14="http://schemas.microsoft.com/office/powerpoint/2010/main" val="1474260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8551D-4E71-B469-D9CF-D4FA805F618A}"/>
              </a:ext>
            </a:extLst>
          </p:cNvPr>
          <p:cNvSpPr>
            <a:spLocks noGrp="1"/>
          </p:cNvSpPr>
          <p:nvPr>
            <p:ph type="title"/>
          </p:nvPr>
        </p:nvSpPr>
        <p:spPr/>
        <p:txBody>
          <a:bodyPr/>
          <a:lstStyle/>
          <a:p>
            <a:r>
              <a:rPr lang="en-IN" b="1" i="0" dirty="0">
                <a:effectLst/>
                <a:latin typeface="Google Sans"/>
              </a:rPr>
              <a:t>Key Milestones</a:t>
            </a:r>
            <a:endParaRPr lang="en-US" dirty="0"/>
          </a:p>
        </p:txBody>
      </p:sp>
      <p:sp>
        <p:nvSpPr>
          <p:cNvPr id="3" name="Content Placeholder 2">
            <a:extLst>
              <a:ext uri="{FF2B5EF4-FFF2-40B4-BE49-F238E27FC236}">
                <a16:creationId xmlns:a16="http://schemas.microsoft.com/office/drawing/2014/main" id="{D796323D-89F6-D2FD-26F0-839FCEB50507}"/>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IN" b="1" i="0" dirty="0">
                <a:effectLst/>
                <a:latin typeface="Google Sans"/>
              </a:rPr>
              <a:t>Origins at CWI</a:t>
            </a:r>
            <a:r>
              <a:rPr lang="en-IN" b="0" i="0" dirty="0">
                <a:effectLst/>
                <a:latin typeface="Google Sans"/>
              </a:rPr>
              <a:t>: Van Rossum began working on Python in December 1989 at the Centrum </a:t>
            </a:r>
            <a:r>
              <a:rPr lang="en-IN" b="0" i="0" dirty="0" err="1">
                <a:effectLst/>
                <a:latin typeface="Google Sans"/>
              </a:rPr>
              <a:t>Wiskunde</a:t>
            </a:r>
            <a:r>
              <a:rPr lang="en-IN" b="0" i="0" dirty="0">
                <a:effectLst/>
                <a:latin typeface="Google Sans"/>
              </a:rPr>
              <a:t> &amp; Informatica (CWI) in the Netherlands. It was conceived as a successor to the ABC programming language, aiming to fix its limitations and appeal to Unix/C programmers.</a:t>
            </a:r>
          </a:p>
          <a:p>
            <a:pPr algn="l">
              <a:buFont typeface="Arial" panose="020B0604020202020204" pitchFamily="34" charset="0"/>
              <a:buChar char="•"/>
            </a:pPr>
            <a:r>
              <a:rPr lang="en-IN" b="1" i="0" dirty="0">
                <a:effectLst/>
                <a:latin typeface="Google Sans"/>
              </a:rPr>
              <a:t>The Name</a:t>
            </a:r>
            <a:r>
              <a:rPr lang="en-IN" b="0" i="0" dirty="0">
                <a:effectLst/>
                <a:latin typeface="Google Sans"/>
              </a:rPr>
              <a:t>: The name "</a:t>
            </a:r>
            <a:r>
              <a:rPr lang="en-IN" b="1" i="0" dirty="0">
                <a:effectLst/>
                <a:latin typeface="Google Sans"/>
              </a:rPr>
              <a:t>Python</a:t>
            </a:r>
            <a:r>
              <a:rPr lang="en-IN" b="0" i="0" dirty="0">
                <a:effectLst/>
                <a:latin typeface="Google Sans"/>
              </a:rPr>
              <a:t>" was inspired by the </a:t>
            </a:r>
            <a:r>
              <a:rPr lang="en-IN" b="1" i="0" dirty="0">
                <a:effectLst/>
                <a:latin typeface="Google Sans"/>
              </a:rPr>
              <a:t>British comedy series </a:t>
            </a:r>
            <a:r>
              <a:rPr lang="en-IN" b="1" i="1" dirty="0">
                <a:effectLst/>
                <a:latin typeface="Google Sans"/>
              </a:rPr>
              <a:t>Monty Python's Flying Circus</a:t>
            </a:r>
            <a:r>
              <a:rPr lang="en-IN" b="0" i="0" dirty="0">
                <a:effectLst/>
                <a:latin typeface="Google Sans"/>
              </a:rPr>
              <a:t>, of which van Rossum was a big fan, and it is not about the snake as the name suggests.</a:t>
            </a:r>
          </a:p>
          <a:p>
            <a:pPr algn="l">
              <a:buFont typeface="Arial" panose="020B0604020202020204" pitchFamily="34" charset="0"/>
              <a:buChar char="•"/>
            </a:pPr>
            <a:r>
              <a:rPr lang="en-IN" b="1" i="0" dirty="0">
                <a:effectLst/>
                <a:latin typeface="Google Sans"/>
              </a:rPr>
              <a:t>First Release (1991)</a:t>
            </a:r>
            <a:r>
              <a:rPr lang="en-IN" b="0" i="0" dirty="0">
                <a:effectLst/>
                <a:latin typeface="Google Sans"/>
              </a:rPr>
              <a:t>: Python 0.9.0 was published to the </a:t>
            </a:r>
            <a:r>
              <a:rPr lang="en-IN" b="0" i="0" dirty="0" err="1">
                <a:effectLst/>
                <a:latin typeface="Google Sans"/>
              </a:rPr>
              <a:t>alt.sources</a:t>
            </a:r>
            <a:r>
              <a:rPr lang="en-IN" b="0" i="0" dirty="0">
                <a:effectLst/>
                <a:latin typeface="Google Sans"/>
              </a:rPr>
              <a:t> Usenet group, featuring core data types like list and </a:t>
            </a:r>
            <a:r>
              <a:rPr lang="en-IN" b="0" i="0" dirty="0" err="1">
                <a:effectLst/>
                <a:latin typeface="Google Sans"/>
              </a:rPr>
              <a:t>dict</a:t>
            </a:r>
            <a:r>
              <a:rPr lang="en-IN" b="0" i="0" dirty="0">
                <a:effectLst/>
                <a:latin typeface="Google Sans"/>
              </a:rPr>
              <a:t>, classes with inheritance, and exception handling.</a:t>
            </a:r>
          </a:p>
          <a:p>
            <a:pPr algn="l">
              <a:buFont typeface="Arial" panose="020B0604020202020204" pitchFamily="34" charset="0"/>
              <a:buChar char="•"/>
            </a:pPr>
            <a:r>
              <a:rPr lang="en-IN" b="1" i="0" dirty="0">
                <a:effectLst/>
                <a:latin typeface="Google Sans"/>
              </a:rPr>
              <a:t>Python 1.0 (1994)</a:t>
            </a:r>
            <a:r>
              <a:rPr lang="en-IN" b="0" i="0" dirty="0">
                <a:effectLst/>
                <a:latin typeface="Google Sans"/>
              </a:rPr>
              <a:t>: This version included new features such as the lambda, map, filter, and reduce functions.</a:t>
            </a:r>
          </a:p>
          <a:p>
            <a:pPr algn="l">
              <a:buFont typeface="Arial" panose="020B0604020202020204" pitchFamily="34" charset="0"/>
              <a:buChar char="•"/>
            </a:pPr>
            <a:r>
              <a:rPr lang="en-IN" b="1" i="0" dirty="0">
                <a:effectLst/>
                <a:latin typeface="Google Sans"/>
              </a:rPr>
              <a:t>Python 2.0 (2000)</a:t>
            </a:r>
            <a:r>
              <a:rPr lang="en-IN" b="0" i="0" dirty="0">
                <a:effectLst/>
                <a:latin typeface="Google Sans"/>
              </a:rPr>
              <a:t>: A pivotal release that introduced significant new features including list comprehensions, a cycle-detecting garbage collector, and Unicode support.</a:t>
            </a:r>
          </a:p>
          <a:p>
            <a:endParaRPr lang="en-US" dirty="0"/>
          </a:p>
        </p:txBody>
      </p:sp>
    </p:spTree>
    <p:extLst>
      <p:ext uri="{BB962C8B-B14F-4D97-AF65-F5344CB8AC3E}">
        <p14:creationId xmlns:p14="http://schemas.microsoft.com/office/powerpoint/2010/main" val="561249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2E28A-6002-7FF6-9792-F720E7357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F8B90-02D4-311F-2EEC-A7C5BCB3C1B1}"/>
              </a:ext>
            </a:extLst>
          </p:cNvPr>
          <p:cNvSpPr>
            <a:spLocks noGrp="1"/>
          </p:cNvSpPr>
          <p:nvPr>
            <p:ph type="title"/>
          </p:nvPr>
        </p:nvSpPr>
        <p:spPr/>
        <p:txBody>
          <a:bodyPr/>
          <a:lstStyle/>
          <a:p>
            <a:r>
              <a:rPr lang="en-IN" b="1" i="0" dirty="0">
                <a:effectLst/>
                <a:latin typeface="Google Sans"/>
              </a:rPr>
              <a:t>Key Milestones</a:t>
            </a:r>
            <a:endParaRPr lang="en-US" dirty="0"/>
          </a:p>
        </p:txBody>
      </p:sp>
      <p:sp>
        <p:nvSpPr>
          <p:cNvPr id="3" name="Content Placeholder 2">
            <a:extLst>
              <a:ext uri="{FF2B5EF4-FFF2-40B4-BE49-F238E27FC236}">
                <a16:creationId xmlns:a16="http://schemas.microsoft.com/office/drawing/2014/main" id="{007A055D-E846-E7AA-580C-B688821D868E}"/>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IN" b="1" i="0" dirty="0">
                <a:effectLst/>
                <a:latin typeface="Google Sans"/>
              </a:rPr>
              <a:t>Python 3.0 (2008)</a:t>
            </a:r>
            <a:r>
              <a:rPr lang="en-IN" b="0" i="0" dirty="0">
                <a:effectLst/>
                <a:latin typeface="Google Sans"/>
              </a:rPr>
              <a:t>: A major, backward-incompatible revision designed to remove redundant constructs and "fix" some of the language's fundamental design flaws that had accumulated over time. Key changes included making print a function and changing integer division </a:t>
            </a:r>
            <a:r>
              <a:rPr lang="en-IN" b="0" i="0" dirty="0" err="1">
                <a:effectLst/>
                <a:latin typeface="Google Sans"/>
              </a:rPr>
              <a:t>behavior</a:t>
            </a:r>
            <a:r>
              <a:rPr lang="en-IN" b="0" i="0" dirty="0">
                <a:effectLst/>
                <a:latin typeface="Google Sans"/>
              </a:rPr>
              <a:t>. The transition from Python 2 to 3 was a significant, multi-year community effort that concluded with Python 2.7's official end-of-life in 2020.</a:t>
            </a:r>
          </a:p>
          <a:p>
            <a:pPr algn="l">
              <a:buFont typeface="Arial" panose="020B0604020202020204" pitchFamily="34" charset="0"/>
              <a:buChar char="•"/>
            </a:pPr>
            <a:r>
              <a:rPr lang="en-IN" b="1" i="0" dirty="0">
                <a:effectLst/>
                <a:latin typeface="Google Sans"/>
              </a:rPr>
              <a:t>Governance Shift (2018)</a:t>
            </a:r>
            <a:r>
              <a:rPr lang="en-IN" b="0" i="0" dirty="0">
                <a:effectLst/>
                <a:latin typeface="Google Sans"/>
              </a:rPr>
              <a:t>: Guido van Rossum stepped down from his role as "Benevolent Dictator for Life" (BDFL), and a five-member Steering Council was elected by the core developers to lead the project's future development and direction.</a:t>
            </a:r>
          </a:p>
          <a:p>
            <a:pPr algn="l">
              <a:buFont typeface="Arial" panose="020B0604020202020204" pitchFamily="34" charset="0"/>
              <a:buChar char="•"/>
            </a:pPr>
            <a:r>
              <a:rPr lang="en-IN" b="1" i="0" dirty="0">
                <a:effectLst/>
                <a:latin typeface="Google Sans"/>
              </a:rPr>
              <a:t>Modern Era</a:t>
            </a:r>
            <a:r>
              <a:rPr lang="en-IN" b="0" i="0" dirty="0">
                <a:effectLst/>
                <a:latin typeface="Google Sans"/>
              </a:rPr>
              <a:t>: Python's popularity has soared, particularly in the last decade, becoming a dominant language for </a:t>
            </a:r>
            <a:r>
              <a:rPr lang="en-IN" b="1" i="0" dirty="0">
                <a:effectLst/>
                <a:latin typeface="Google Sans"/>
              </a:rPr>
              <a:t>data science, machine learning, and artificial intelligence</a:t>
            </a:r>
            <a:r>
              <a:rPr lang="en-IN" b="0" i="0" dirty="0">
                <a:effectLst/>
                <a:latin typeface="Google Sans"/>
              </a:rPr>
              <a:t>, supported by a rich ecosystem of libraries like TensorFlow, NumPy, and Pandas. It consistently ranks as one of the most popular programming languages worldwide. </a:t>
            </a:r>
          </a:p>
          <a:p>
            <a:endParaRPr lang="en-US" dirty="0"/>
          </a:p>
        </p:txBody>
      </p:sp>
    </p:spTree>
    <p:extLst>
      <p:ext uri="{BB962C8B-B14F-4D97-AF65-F5344CB8AC3E}">
        <p14:creationId xmlns:p14="http://schemas.microsoft.com/office/powerpoint/2010/main" val="3721483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4778-3C78-D3B2-A2C4-1B1B64F518F2}"/>
              </a:ext>
            </a:extLst>
          </p:cNvPr>
          <p:cNvSpPr>
            <a:spLocks noGrp="1"/>
          </p:cNvSpPr>
          <p:nvPr>
            <p:ph type="title"/>
          </p:nvPr>
        </p:nvSpPr>
        <p:spPr/>
        <p:txBody>
          <a:bodyPr/>
          <a:lstStyle/>
          <a:p>
            <a:r>
              <a:rPr lang="en-IN" b="1" i="0" dirty="0">
                <a:solidFill>
                  <a:srgbClr val="273239"/>
                </a:solidFill>
                <a:effectLst/>
                <a:latin typeface="Nunito" pitchFamily="2" charset="77"/>
              </a:rPr>
              <a:t>Popularity and Usage</a:t>
            </a:r>
            <a:endParaRPr lang="en-US" dirty="0"/>
          </a:p>
        </p:txBody>
      </p:sp>
      <p:sp>
        <p:nvSpPr>
          <p:cNvPr id="3" name="Content Placeholder 2">
            <a:extLst>
              <a:ext uri="{FF2B5EF4-FFF2-40B4-BE49-F238E27FC236}">
                <a16:creationId xmlns:a16="http://schemas.microsoft.com/office/drawing/2014/main" id="{785CA619-7FD8-4177-5E6F-1B9561165DD2}"/>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Python is widely used for:</a:t>
            </a:r>
          </a:p>
          <a:p>
            <a:pPr algn="l" fontAlgn="base">
              <a:buFont typeface="Arial" panose="020B0604020202020204" pitchFamily="34" charset="0"/>
              <a:buChar char="•"/>
            </a:pPr>
            <a:r>
              <a:rPr lang="en-IN" b="0" i="0" dirty="0">
                <a:solidFill>
                  <a:srgbClr val="273239"/>
                </a:solidFill>
                <a:effectLst/>
                <a:latin typeface="Nunito" pitchFamily="2" charset="77"/>
              </a:rPr>
              <a:t>Web development</a:t>
            </a:r>
          </a:p>
          <a:p>
            <a:pPr algn="l" fontAlgn="base">
              <a:buFont typeface="Arial" panose="020B0604020202020204" pitchFamily="34" charset="0"/>
              <a:buChar char="•"/>
            </a:pPr>
            <a:r>
              <a:rPr lang="en-IN" b="0" i="0" dirty="0">
                <a:solidFill>
                  <a:srgbClr val="273239"/>
                </a:solidFill>
                <a:effectLst/>
                <a:latin typeface="Nunito" pitchFamily="2" charset="77"/>
              </a:rPr>
              <a:t>Scripting and automation</a:t>
            </a:r>
          </a:p>
          <a:p>
            <a:pPr algn="l" fontAlgn="base">
              <a:buFont typeface="Arial" panose="020B0604020202020204" pitchFamily="34" charset="0"/>
              <a:buChar char="•"/>
            </a:pPr>
            <a:r>
              <a:rPr lang="en-IN" b="0" i="0" dirty="0">
                <a:solidFill>
                  <a:srgbClr val="273239"/>
                </a:solidFill>
                <a:effectLst/>
                <a:latin typeface="Nunito" pitchFamily="2" charset="77"/>
              </a:rPr>
              <a:t>Software testing</a:t>
            </a:r>
          </a:p>
          <a:p>
            <a:pPr algn="l" fontAlgn="base">
              <a:buFont typeface="Arial" panose="020B0604020202020204" pitchFamily="34" charset="0"/>
              <a:buChar char="•"/>
            </a:pPr>
            <a:r>
              <a:rPr lang="en-IN" b="0" i="0" dirty="0">
                <a:solidFill>
                  <a:srgbClr val="273239"/>
                </a:solidFill>
                <a:effectLst/>
                <a:latin typeface="Nunito" pitchFamily="2" charset="77"/>
              </a:rPr>
              <a:t>Data science and machine learning</a:t>
            </a:r>
          </a:p>
          <a:p>
            <a:endParaRPr lang="en-US" dirty="0"/>
          </a:p>
        </p:txBody>
      </p:sp>
    </p:spTree>
    <p:extLst>
      <p:ext uri="{BB962C8B-B14F-4D97-AF65-F5344CB8AC3E}">
        <p14:creationId xmlns:p14="http://schemas.microsoft.com/office/powerpoint/2010/main" val="2407517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86E7-CE65-FADC-3C59-7B1F28ECEB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08D6E7-5435-A690-67AF-C3C62C587425}"/>
              </a:ext>
            </a:extLst>
          </p:cNvPr>
          <p:cNvSpPr>
            <a:spLocks noGrp="1"/>
          </p:cNvSpPr>
          <p:nvPr>
            <p:ph idx="1"/>
          </p:nvPr>
        </p:nvSpPr>
        <p:spPr/>
        <p:txBody>
          <a:bodyPr>
            <a:noAutofit/>
          </a:bodyPr>
          <a:lstStyle/>
          <a:p>
            <a:pPr algn="l"/>
            <a:r>
              <a:rPr lang="en-IN" sz="2000" b="1" i="0" dirty="0">
                <a:solidFill>
                  <a:srgbClr val="05192D"/>
                </a:solidFill>
                <a:effectLst/>
                <a:latin typeface="Studio-Feixen-Sans"/>
              </a:rPr>
              <a:t>1. Python for data analysis</a:t>
            </a:r>
          </a:p>
          <a:p>
            <a:pPr algn="l"/>
            <a:r>
              <a:rPr lang="en-IN" sz="2000" b="1" i="0" dirty="0">
                <a:solidFill>
                  <a:srgbClr val="05192D"/>
                </a:solidFill>
                <a:effectLst/>
                <a:latin typeface="Studio-Feixen-Sans"/>
              </a:rPr>
              <a:t>2. Python for data visualization</a:t>
            </a:r>
          </a:p>
          <a:p>
            <a:pPr algn="l"/>
            <a:r>
              <a:rPr lang="en-IN" sz="2000" b="1" i="0" dirty="0">
                <a:solidFill>
                  <a:srgbClr val="05192D"/>
                </a:solidFill>
                <a:effectLst/>
                <a:latin typeface="Studio-Feixen-Sans"/>
              </a:rPr>
              <a:t>3. Python for machine learning</a:t>
            </a:r>
          </a:p>
          <a:p>
            <a:pPr algn="l"/>
            <a:r>
              <a:rPr lang="en-IN" sz="2000" b="1" i="0" dirty="0">
                <a:solidFill>
                  <a:srgbClr val="05192D"/>
                </a:solidFill>
                <a:effectLst/>
                <a:latin typeface="Studio-Feixen-Sans"/>
              </a:rPr>
              <a:t>4. Python in AI and deep learning</a:t>
            </a:r>
          </a:p>
          <a:p>
            <a:pPr algn="l"/>
            <a:r>
              <a:rPr lang="en-IN" sz="2000" b="1" i="0" dirty="0">
                <a:solidFill>
                  <a:srgbClr val="05192D"/>
                </a:solidFill>
                <a:effectLst/>
                <a:latin typeface="Studio-Feixen-Sans"/>
              </a:rPr>
              <a:t>5. Python for software development</a:t>
            </a:r>
          </a:p>
          <a:p>
            <a:pPr algn="l"/>
            <a:r>
              <a:rPr lang="en-IN" sz="2000" b="1" i="0" dirty="0">
                <a:solidFill>
                  <a:srgbClr val="05192D"/>
                </a:solidFill>
                <a:effectLst/>
                <a:latin typeface="Studio-Feixen-Sans"/>
              </a:rPr>
              <a:t>6. Python for web development</a:t>
            </a:r>
          </a:p>
          <a:p>
            <a:pPr algn="l"/>
            <a:r>
              <a:rPr lang="en-IN" sz="2000" b="1" i="0" dirty="0">
                <a:solidFill>
                  <a:srgbClr val="05192D"/>
                </a:solidFill>
                <a:effectLst/>
                <a:latin typeface="Studio-Feixen-Sans"/>
              </a:rPr>
              <a:t>7. Python for task automation and scripting</a:t>
            </a:r>
            <a:endParaRPr lang="en-IN" sz="2000" dirty="0"/>
          </a:p>
          <a:p>
            <a:pPr algn="l">
              <a:buFont typeface="Arial" panose="020B0604020202020204" pitchFamily="34" charset="0"/>
              <a:buChar char="•"/>
            </a:pPr>
            <a:r>
              <a:rPr lang="en-IN" sz="2000" b="0" i="0" dirty="0">
                <a:solidFill>
                  <a:srgbClr val="05192D"/>
                </a:solidFill>
                <a:effectLst/>
                <a:latin typeface="Studio-Feixen-Sans"/>
              </a:rPr>
              <a:t>Monitoring the stock market</a:t>
            </a:r>
          </a:p>
          <a:p>
            <a:pPr algn="l">
              <a:buFont typeface="Arial" panose="020B0604020202020204" pitchFamily="34" charset="0"/>
              <a:buChar char="•"/>
            </a:pPr>
            <a:r>
              <a:rPr lang="en-IN" sz="2000" b="0" i="0" dirty="0">
                <a:solidFill>
                  <a:srgbClr val="05192D"/>
                </a:solidFill>
                <a:effectLst/>
                <a:latin typeface="Studio-Feixen-Sans"/>
              </a:rPr>
              <a:t>Web scraping</a:t>
            </a:r>
          </a:p>
          <a:p>
            <a:pPr algn="l">
              <a:buFont typeface="Arial" panose="020B0604020202020204" pitchFamily="34" charset="0"/>
              <a:buChar char="•"/>
            </a:pPr>
            <a:r>
              <a:rPr lang="en-IN" sz="2000" b="0" i="0" dirty="0">
                <a:solidFill>
                  <a:srgbClr val="05192D"/>
                </a:solidFill>
                <a:effectLst/>
                <a:latin typeface="Studio-Feixen-Sans"/>
              </a:rPr>
              <a:t>Keeping updated a to-do list</a:t>
            </a:r>
          </a:p>
          <a:p>
            <a:pPr algn="l">
              <a:buFont typeface="Arial" panose="020B0604020202020204" pitchFamily="34" charset="0"/>
              <a:buChar char="•"/>
            </a:pPr>
            <a:r>
              <a:rPr lang="en-IN" sz="2000" b="0" i="0" dirty="0">
                <a:solidFill>
                  <a:srgbClr val="05192D"/>
                </a:solidFill>
                <a:effectLst/>
                <a:latin typeface="Studio-Feixen-Sans"/>
              </a:rPr>
              <a:t>Creating bots</a:t>
            </a:r>
          </a:p>
          <a:p>
            <a:pPr algn="l">
              <a:buFont typeface="Arial" panose="020B0604020202020204" pitchFamily="34" charset="0"/>
              <a:buChar char="•"/>
            </a:pPr>
            <a:r>
              <a:rPr lang="en-IN" sz="2000" b="0" i="0" dirty="0">
                <a:solidFill>
                  <a:srgbClr val="05192D"/>
                </a:solidFill>
                <a:effectLst/>
                <a:latin typeface="Studio-Feixen-Sans"/>
              </a:rPr>
              <a:t>Generating lists of </a:t>
            </a:r>
            <a:r>
              <a:rPr lang="en-IN" sz="2000" b="1" i="0" u="none" strike="noStrike" dirty="0">
                <a:solidFill>
                  <a:srgbClr val="0075AD"/>
                </a:solidFill>
                <a:effectLst/>
                <a:latin typeface="Studio-Feixen-Sans"/>
                <a:hlinkClick r:id="rId2"/>
              </a:rPr>
              <a:t>random</a:t>
            </a:r>
            <a:r>
              <a:rPr lang="en-IN" sz="2000" b="0" i="0" dirty="0">
                <a:solidFill>
                  <a:srgbClr val="05192D"/>
                </a:solidFill>
                <a:effectLst/>
                <a:latin typeface="Studio-Feixen-Sans"/>
              </a:rPr>
              <a:t> names, </a:t>
            </a:r>
            <a:r>
              <a:rPr lang="en-IN" sz="2000" b="0" i="0" dirty="0" err="1">
                <a:solidFill>
                  <a:srgbClr val="05192D"/>
                </a:solidFill>
                <a:effectLst/>
                <a:latin typeface="Studio-Feixen-Sans"/>
              </a:rPr>
              <a:t>colors</a:t>
            </a:r>
            <a:r>
              <a:rPr lang="en-IN" sz="2000" b="0" i="0" dirty="0">
                <a:solidFill>
                  <a:srgbClr val="05192D"/>
                </a:solidFill>
                <a:effectLst/>
                <a:latin typeface="Studio-Feixen-Sans"/>
              </a:rPr>
              <a:t>, phone numbers, currencies, etc.</a:t>
            </a:r>
            <a:endParaRPr lang="en-US" sz="2000" dirty="0"/>
          </a:p>
        </p:txBody>
      </p:sp>
    </p:spTree>
    <p:extLst>
      <p:ext uri="{BB962C8B-B14F-4D97-AF65-F5344CB8AC3E}">
        <p14:creationId xmlns:p14="http://schemas.microsoft.com/office/powerpoint/2010/main" val="1911735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3AA3-43DF-04AA-B919-EBFCF24F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189E8-50A2-E761-3A8B-5AC78CA97B1F}"/>
              </a:ext>
            </a:extLst>
          </p:cNvPr>
          <p:cNvSpPr>
            <a:spLocks noGrp="1"/>
          </p:cNvSpPr>
          <p:nvPr>
            <p:ph type="title"/>
          </p:nvPr>
        </p:nvSpPr>
        <p:spPr/>
        <p:txBody>
          <a:bodyPr/>
          <a:lstStyle/>
          <a:p>
            <a:r>
              <a:rPr lang="en-US" dirty="0"/>
              <a:t>Features of Python</a:t>
            </a:r>
          </a:p>
        </p:txBody>
      </p:sp>
      <p:sp>
        <p:nvSpPr>
          <p:cNvPr id="3" name="Content Placeholder 2">
            <a:extLst>
              <a:ext uri="{FF2B5EF4-FFF2-40B4-BE49-F238E27FC236}">
                <a16:creationId xmlns:a16="http://schemas.microsoft.com/office/drawing/2014/main" id="{65F8DCC4-BA29-7C1F-F3CD-EA9A6F637545}"/>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IN" b="1" i="0" dirty="0">
                <a:effectLst/>
                <a:latin typeface="Google Sans"/>
              </a:rPr>
              <a:t>Simple and Easy to Learn</a:t>
            </a:r>
            <a:r>
              <a:rPr lang="en-IN" b="0" i="0" dirty="0">
                <a:effectLst/>
                <a:latin typeface="Google Sans"/>
              </a:rPr>
              <a:t>: Python's syntax is clean and often resembles everyday English, using indentation instead of semicolons or brackets to define code blocks.</a:t>
            </a:r>
          </a:p>
          <a:p>
            <a:pPr algn="l">
              <a:buFont typeface="Arial" panose="020B0604020202020204" pitchFamily="34" charset="0"/>
              <a:buChar char="•"/>
            </a:pPr>
            <a:r>
              <a:rPr lang="en-IN" b="1" i="0" dirty="0">
                <a:effectLst/>
                <a:latin typeface="Google Sans"/>
              </a:rPr>
              <a:t>Free and Open Source</a:t>
            </a:r>
            <a:r>
              <a:rPr lang="en-IN" b="0" i="0" dirty="0">
                <a:effectLst/>
                <a:latin typeface="Google Sans"/>
              </a:rPr>
              <a:t>: The Python interpreter and extensive standard library are freely available for use, modification, and distribution, even for commercial purposes.</a:t>
            </a:r>
          </a:p>
          <a:p>
            <a:pPr algn="l">
              <a:buFont typeface="Arial" panose="020B0604020202020204" pitchFamily="34" charset="0"/>
              <a:buChar char="•"/>
            </a:pPr>
            <a:r>
              <a:rPr lang="en-IN" b="1" i="0" dirty="0">
                <a:effectLst/>
                <a:latin typeface="Google Sans"/>
              </a:rPr>
              <a:t>Interpreted Language</a:t>
            </a:r>
            <a:r>
              <a:rPr lang="en-IN" b="0" i="0" dirty="0">
                <a:effectLst/>
                <a:latin typeface="Google Sans"/>
              </a:rPr>
              <a:t>: Python code is executed line by line at runtime rather than being compiled all at once, which facilitates rapid prototyping and easier debugging.</a:t>
            </a:r>
          </a:p>
          <a:p>
            <a:pPr algn="l">
              <a:buFont typeface="Arial" panose="020B0604020202020204" pitchFamily="34" charset="0"/>
              <a:buChar char="•"/>
            </a:pPr>
            <a:r>
              <a:rPr lang="en-IN" b="1" i="0" dirty="0">
                <a:effectLst/>
                <a:latin typeface="Google Sans"/>
              </a:rPr>
              <a:t>Dynamically Typed</a:t>
            </a:r>
            <a:r>
              <a:rPr lang="en-IN" b="0" i="0" dirty="0">
                <a:effectLst/>
                <a:latin typeface="Google Sans"/>
              </a:rPr>
              <a:t>: Developers do not need to explicitly declare variable types (like int or string); the interpreter determines the type at runtime, which saves time and provides flexibility.</a:t>
            </a:r>
          </a:p>
          <a:p>
            <a:pPr algn="l">
              <a:buFont typeface="Arial" panose="020B0604020202020204" pitchFamily="34" charset="0"/>
              <a:buChar char="•"/>
            </a:pPr>
            <a:r>
              <a:rPr lang="en-IN" b="1" i="0" dirty="0">
                <a:effectLst/>
                <a:latin typeface="Google Sans"/>
              </a:rPr>
              <a:t>High-Level Language</a:t>
            </a:r>
            <a:r>
              <a:rPr lang="en-IN" b="0" i="0" dirty="0">
                <a:effectLst/>
                <a:latin typeface="Google Sans"/>
              </a:rPr>
              <a:t>: Python abstracts away low-level system details like memory management and hardware interactions, allowing programmers to focus on problem-solving logic.</a:t>
            </a:r>
          </a:p>
          <a:p>
            <a:pPr algn="l">
              <a:buFont typeface="Arial" panose="020B0604020202020204" pitchFamily="34" charset="0"/>
              <a:buChar char="•"/>
            </a:pPr>
            <a:r>
              <a:rPr lang="en-IN" b="1" i="0" dirty="0">
                <a:effectLst/>
                <a:latin typeface="Google Sans"/>
              </a:rPr>
              <a:t>Object-Oriented Programming (OOP) Support</a:t>
            </a:r>
            <a:r>
              <a:rPr lang="en-IN" b="0" i="0" dirty="0">
                <a:effectLst/>
                <a:latin typeface="Google Sans"/>
              </a:rPr>
              <a:t>: Python supports OOP concepts such as classes, objects, inheritance, and polymorphism, enabling developers to build modular and reusable code.</a:t>
            </a:r>
          </a:p>
        </p:txBody>
      </p:sp>
    </p:spTree>
    <p:extLst>
      <p:ext uri="{BB962C8B-B14F-4D97-AF65-F5344CB8AC3E}">
        <p14:creationId xmlns:p14="http://schemas.microsoft.com/office/powerpoint/2010/main" val="1817580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68FD-7613-B7C1-59B7-32FBFD4E093A}"/>
              </a:ext>
            </a:extLst>
          </p:cNvPr>
          <p:cNvSpPr>
            <a:spLocks noGrp="1"/>
          </p:cNvSpPr>
          <p:nvPr>
            <p:ph type="title"/>
          </p:nvPr>
        </p:nvSpPr>
        <p:spPr/>
        <p:txBody>
          <a:bodyPr/>
          <a:lstStyle/>
          <a:p>
            <a:r>
              <a:rPr lang="en-US" dirty="0"/>
              <a:t>Features of Python</a:t>
            </a:r>
          </a:p>
        </p:txBody>
      </p:sp>
      <p:sp>
        <p:nvSpPr>
          <p:cNvPr id="3" name="Content Placeholder 2">
            <a:extLst>
              <a:ext uri="{FF2B5EF4-FFF2-40B4-BE49-F238E27FC236}">
                <a16:creationId xmlns:a16="http://schemas.microsoft.com/office/drawing/2014/main" id="{D8679EA5-93D2-7AF0-A7AE-F14A83105572}"/>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IN" sz="2400" b="1" i="0" dirty="0">
                <a:effectLst/>
                <a:latin typeface="Google Sans"/>
              </a:rPr>
              <a:t>Large Standard Library and Robust Ecosystem</a:t>
            </a:r>
            <a:r>
              <a:rPr lang="en-IN" sz="2400" b="0" i="0" dirty="0">
                <a:effectLst/>
                <a:latin typeface="Google Sans"/>
              </a:rPr>
              <a:t>: Python comes with a vast collection of built-in modules and functions, so developers don't have to write code from scratch for every task. Beyond that, a massive third-party library ecosystem (accessible via the Python Package Index, or </a:t>
            </a:r>
            <a:r>
              <a:rPr lang="en-IN" sz="2400" b="0" i="0" dirty="0" err="1">
                <a:effectLst/>
                <a:latin typeface="Google Sans"/>
              </a:rPr>
              <a:t>PyPI</a:t>
            </a:r>
            <a:r>
              <a:rPr lang="en-IN" sz="2400" b="0" i="0" dirty="0">
                <a:effectLst/>
                <a:latin typeface="Google Sans"/>
              </a:rPr>
              <a:t>) supports diverse applications in fields like data science (NumPy, Pandas), web development (Django, Flask), and machine learning (TensorFlow, </a:t>
            </a:r>
            <a:r>
              <a:rPr lang="en-IN" sz="2400" b="0" i="0" dirty="0" err="1">
                <a:effectLst/>
                <a:latin typeface="Google Sans"/>
              </a:rPr>
              <a:t>PyTorch</a:t>
            </a:r>
            <a:r>
              <a:rPr lang="en-IN" sz="2400" b="0" i="0" dirty="0">
                <a:effectLst/>
                <a:latin typeface="Google Sans"/>
              </a:rPr>
              <a:t>).</a:t>
            </a:r>
          </a:p>
          <a:p>
            <a:pPr algn="l">
              <a:buFont typeface="Arial" panose="020B0604020202020204" pitchFamily="34" charset="0"/>
              <a:buChar char="•"/>
            </a:pPr>
            <a:r>
              <a:rPr lang="en-IN" sz="2400" b="1" i="0" dirty="0">
                <a:effectLst/>
                <a:latin typeface="Google Sans"/>
              </a:rPr>
              <a:t>Cross-Platform Compatibility</a:t>
            </a:r>
            <a:r>
              <a:rPr lang="en-IN" sz="2400" b="0" i="0" dirty="0">
                <a:effectLst/>
                <a:latin typeface="Google Sans"/>
              </a:rPr>
              <a:t>: Python code can run on major operating systems like Windows, macOS, and Linux with minimal or no modification, making it a portable language.</a:t>
            </a:r>
          </a:p>
          <a:p>
            <a:pPr algn="l">
              <a:buFont typeface="Arial" panose="020B0604020202020204" pitchFamily="34" charset="0"/>
              <a:buChar char="•"/>
            </a:pPr>
            <a:r>
              <a:rPr lang="en-IN" sz="2400" b="1" i="0" dirty="0">
                <a:effectLst/>
                <a:latin typeface="Google Sans"/>
              </a:rPr>
              <a:t>Extensible and Embeddable</a:t>
            </a:r>
            <a:r>
              <a:rPr lang="en-IN" sz="2400" b="0" i="0" dirty="0">
                <a:effectLst/>
                <a:latin typeface="Google Sans"/>
              </a:rPr>
              <a:t>: Python's capabilities can be enhanced by integrating modules written in other languages like C or C++, and Python code can be embedded within other applications to provide scripting capabilities.</a:t>
            </a:r>
          </a:p>
          <a:p>
            <a:pPr algn="l">
              <a:buFont typeface="Arial" panose="020B0604020202020204" pitchFamily="34" charset="0"/>
              <a:buChar char="•"/>
            </a:pPr>
            <a:r>
              <a:rPr lang="en-IN" sz="2400" b="1" i="0" dirty="0">
                <a:effectLst/>
                <a:latin typeface="Google Sans"/>
              </a:rPr>
              <a:t>Extensive Community Support</a:t>
            </a:r>
            <a:r>
              <a:rPr lang="en-IN" sz="2400" b="0" i="0" dirty="0">
                <a:effectLst/>
                <a:latin typeface="Google Sans"/>
              </a:rPr>
              <a:t>: A large and active community provides abundant resources, tutorials, forums, and ongoing improvements to the language, making help readily available. </a:t>
            </a:r>
          </a:p>
          <a:p>
            <a:pPr algn="l"/>
            <a:r>
              <a:rPr lang="en-IN" sz="2400" b="0" i="0" dirty="0">
                <a:effectLst/>
                <a:latin typeface="Google Sans"/>
              </a:rPr>
              <a:t>These features collectively make Python a versatile and powerful language used in a wide range of real-world applications, from powering backend services for tech giants like Netflix and Google to automating everyday tasks. </a:t>
            </a:r>
          </a:p>
        </p:txBody>
      </p:sp>
    </p:spTree>
    <p:extLst>
      <p:ext uri="{BB962C8B-B14F-4D97-AF65-F5344CB8AC3E}">
        <p14:creationId xmlns:p14="http://schemas.microsoft.com/office/powerpoint/2010/main" val="2595865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B4FE8-E188-B15A-FAAA-C783DDBE39F4}"/>
              </a:ext>
            </a:extLst>
          </p:cNvPr>
          <p:cNvSpPr>
            <a:spLocks noGrp="1"/>
          </p:cNvSpPr>
          <p:nvPr>
            <p:ph type="title"/>
          </p:nvPr>
        </p:nvSpPr>
        <p:spPr/>
        <p:txBody>
          <a:bodyPr/>
          <a:lstStyle/>
          <a:p>
            <a:pPr algn="l"/>
            <a:r>
              <a:rPr lang="en-IN" b="0" i="0" dirty="0">
                <a:effectLst/>
                <a:latin typeface="Google Sans"/>
              </a:rPr>
              <a:t>Key limitations of Python</a:t>
            </a:r>
          </a:p>
        </p:txBody>
      </p:sp>
      <p:sp>
        <p:nvSpPr>
          <p:cNvPr id="3" name="Content Placeholder 2">
            <a:extLst>
              <a:ext uri="{FF2B5EF4-FFF2-40B4-BE49-F238E27FC236}">
                <a16:creationId xmlns:a16="http://schemas.microsoft.com/office/drawing/2014/main" id="{64DE199D-68F7-47DC-9E0D-FE9916EB5393}"/>
              </a:ext>
            </a:extLst>
          </p:cNvPr>
          <p:cNvSpPr>
            <a:spLocks noGrp="1"/>
          </p:cNvSpPr>
          <p:nvPr>
            <p:ph idx="1"/>
          </p:nvPr>
        </p:nvSpPr>
        <p:spPr/>
        <p:txBody>
          <a:bodyPr>
            <a:normAutofit fontScale="55000" lnSpcReduction="20000"/>
          </a:bodyPr>
          <a:lstStyle/>
          <a:p>
            <a:pPr algn="l">
              <a:buFont typeface="Arial" panose="020B0604020202020204" pitchFamily="34" charset="0"/>
              <a:buChar char="•"/>
            </a:pPr>
            <a:r>
              <a:rPr lang="en-IN" b="1" i="0" dirty="0">
                <a:effectLst/>
                <a:latin typeface="Google Sans"/>
              </a:rPr>
              <a:t>Speed Limitations</a:t>
            </a:r>
            <a:r>
              <a:rPr lang="en-IN" b="0" i="0" dirty="0">
                <a:effectLst/>
                <a:latin typeface="Google Sans"/>
              </a:rPr>
              <a:t>: Python is an interpreted language, meaning code is executed line-by-line at runtime, which makes it slower than compiled languages like C++ or Java. This can be a bottleneck for applications that require high performance, such as video games or real-time systems.</a:t>
            </a:r>
          </a:p>
          <a:p>
            <a:pPr algn="l">
              <a:buFont typeface="Arial" panose="020B0604020202020204" pitchFamily="34" charset="0"/>
              <a:buChar char="•"/>
            </a:pPr>
            <a:r>
              <a:rPr lang="en-IN" b="1" i="0" dirty="0">
                <a:effectLst/>
                <a:latin typeface="Google Sans"/>
              </a:rPr>
              <a:t>High Memory Consumption</a:t>
            </a:r>
            <a:r>
              <a:rPr lang="en-IN" b="0" i="0" dirty="0">
                <a:effectLst/>
                <a:latin typeface="Google Sans"/>
              </a:rPr>
              <a:t>: Python's object-oriented nature and flexible data structures lead to higher memory usage compared to other languages. This makes it less suitable for memory-limited environments like embedded systems or mobile devices.</a:t>
            </a:r>
          </a:p>
          <a:p>
            <a:pPr algn="l">
              <a:buFont typeface="Arial" panose="020B0604020202020204" pitchFamily="34" charset="0"/>
              <a:buChar char="•"/>
            </a:pPr>
            <a:r>
              <a:rPr lang="en-IN" b="1" i="0" dirty="0">
                <a:effectLst/>
                <a:latin typeface="Google Sans"/>
              </a:rPr>
              <a:t>Weak Mobile Computing and Browser Support</a:t>
            </a:r>
            <a:r>
              <a:rPr lang="en-IN" b="0" i="0" dirty="0">
                <a:effectLst/>
                <a:latin typeface="Google Sans"/>
              </a:rPr>
              <a:t>: Python is not natively supported by web browsers (unlike JavaScript) and is generally not an ideal choice for mobile app development. Languages like Swift (iOS) and Kotlin (Android) are preferred for native mobile applications due to better performance and more mature frameworks.</a:t>
            </a:r>
          </a:p>
          <a:p>
            <a:pPr algn="l">
              <a:buFont typeface="Arial" panose="020B0604020202020204" pitchFamily="34" charset="0"/>
              <a:buChar char="•"/>
            </a:pPr>
            <a:r>
              <a:rPr lang="en-IN" b="1" i="0" dirty="0">
                <a:effectLst/>
                <a:latin typeface="Google Sans"/>
              </a:rPr>
              <a:t>Global Interpreter Lock (GIL)</a:t>
            </a:r>
            <a:r>
              <a:rPr lang="en-IN" b="0" i="0" dirty="0">
                <a:effectLst/>
                <a:latin typeface="Google Sans"/>
              </a:rPr>
              <a:t>: The default </a:t>
            </a:r>
            <a:r>
              <a:rPr lang="en-IN" b="0" i="0" dirty="0" err="1">
                <a:effectLst/>
                <a:latin typeface="Google Sans"/>
              </a:rPr>
              <a:t>CPython</a:t>
            </a:r>
            <a:r>
              <a:rPr lang="en-IN" b="0" i="0" dirty="0">
                <a:effectLst/>
                <a:latin typeface="Google Sans"/>
              </a:rPr>
              <a:t> implementation uses a GIL, which prevents multiple native threads from executing Python bytecodes simultaneously within the same process. This limits the true parallelism of multi-threaded programs for CPU-bound tasks, although multiprocessing can be used as a workaround.</a:t>
            </a:r>
          </a:p>
          <a:p>
            <a:pPr algn="l">
              <a:buFont typeface="Arial" panose="020B0604020202020204" pitchFamily="34" charset="0"/>
              <a:buChar char="•"/>
            </a:pPr>
            <a:r>
              <a:rPr lang="en-IN" b="1" i="0" dirty="0">
                <a:effectLst/>
                <a:latin typeface="Google Sans"/>
              </a:rPr>
              <a:t>Runtime Errors</a:t>
            </a:r>
            <a:r>
              <a:rPr lang="en-IN" b="0" i="0" dirty="0">
                <a:effectLst/>
                <a:latin typeface="Google Sans"/>
              </a:rPr>
              <a:t>: As a dynamically typed language, Python does not require variable types to be explicitly declared, and type checks are performed at runtime. This means that some errors that would be caught during compilation in statically typed languages can only be found during program execution, requiring more thorough testing.</a:t>
            </a:r>
          </a:p>
          <a:p>
            <a:pPr algn="l">
              <a:buFont typeface="Arial" panose="020B0604020202020204" pitchFamily="34" charset="0"/>
              <a:buChar char="•"/>
            </a:pPr>
            <a:r>
              <a:rPr lang="en-IN" b="1" i="0" dirty="0">
                <a:effectLst/>
                <a:latin typeface="Google Sans"/>
              </a:rPr>
              <a:t>Underdeveloped Database Access Layers</a:t>
            </a:r>
            <a:r>
              <a:rPr lang="en-IN" b="0" i="0" dirty="0">
                <a:effectLst/>
                <a:latin typeface="Google Sans"/>
              </a:rPr>
              <a:t>: Compared to other technologies like JDBC and ODBC, Python's database access layers are sometimes considered primitive or less developed, which can pose challenges for applications requiring complex, high-volume database interactions.</a:t>
            </a:r>
          </a:p>
          <a:p>
            <a:pPr algn="l">
              <a:buFont typeface="Arial" panose="020B0604020202020204" pitchFamily="34" charset="0"/>
              <a:buChar char="•"/>
            </a:pPr>
            <a:r>
              <a:rPr lang="en-IN" b="1" i="0" dirty="0">
                <a:effectLst/>
                <a:latin typeface="Google Sans"/>
              </a:rPr>
              <a:t>Package Management Complexity</a:t>
            </a:r>
            <a:r>
              <a:rPr lang="en-IN" b="0" i="0" dirty="0">
                <a:effectLst/>
                <a:latin typeface="Google Sans"/>
              </a:rPr>
              <a:t>: While Python has a vast ecosystem of third-party libraries, managing dependencies and resolving version conflicts can sometimes be cumbersome in large projects. </a:t>
            </a:r>
          </a:p>
          <a:p>
            <a:endParaRPr lang="en-US" dirty="0"/>
          </a:p>
        </p:txBody>
      </p:sp>
    </p:spTree>
    <p:extLst>
      <p:ext uri="{BB962C8B-B14F-4D97-AF65-F5344CB8AC3E}">
        <p14:creationId xmlns:p14="http://schemas.microsoft.com/office/powerpoint/2010/main" val="965289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79246-4E14-3364-78D6-20D6DFDCD053}"/>
              </a:ext>
            </a:extLst>
          </p:cNvPr>
          <p:cNvSpPr>
            <a:spLocks noGrp="1"/>
          </p:cNvSpPr>
          <p:nvPr>
            <p:ph type="title"/>
          </p:nvPr>
        </p:nvSpPr>
        <p:spPr/>
        <p:txBody>
          <a:bodyPr/>
          <a:lstStyle/>
          <a:p>
            <a:r>
              <a:rPr lang="en-US" dirty="0"/>
              <a:t>Different ways to execute Python Code</a:t>
            </a:r>
          </a:p>
        </p:txBody>
      </p:sp>
      <p:sp>
        <p:nvSpPr>
          <p:cNvPr id="3" name="Content Placeholder 2">
            <a:extLst>
              <a:ext uri="{FF2B5EF4-FFF2-40B4-BE49-F238E27FC236}">
                <a16:creationId xmlns:a16="http://schemas.microsoft.com/office/drawing/2014/main" id="{F0580018-91EC-EF14-370F-57D5772F0881}"/>
              </a:ext>
            </a:extLst>
          </p:cNvPr>
          <p:cNvSpPr>
            <a:spLocks noGrp="1"/>
          </p:cNvSpPr>
          <p:nvPr>
            <p:ph idx="1"/>
          </p:nvPr>
        </p:nvSpPr>
        <p:spPr/>
        <p:txBody>
          <a:bodyPr/>
          <a:lstStyle/>
          <a:p>
            <a:r>
              <a:rPr lang="en-IN" b="0" u="none" strike="noStrike" dirty="0">
                <a:effectLst/>
                <a:latin typeface="Google Sans"/>
              </a:rPr>
              <a:t>There are </a:t>
            </a:r>
            <a:r>
              <a:rPr lang="en-IN" b="1" u="none" strike="noStrike" dirty="0">
                <a:effectLst/>
                <a:latin typeface="Google Sans"/>
              </a:rPr>
              <a:t>four primary environments</a:t>
            </a:r>
            <a:r>
              <a:rPr lang="en-IN" b="0" u="none" strike="noStrike" dirty="0">
                <a:effectLst/>
                <a:latin typeface="Google Sans"/>
              </a:rPr>
              <a:t> used to execute Python code: interactive shells, script files, integrated development environments (IDEs), and web-based notebooks.</a:t>
            </a:r>
          </a:p>
          <a:p>
            <a:endParaRPr lang="en-US" dirty="0"/>
          </a:p>
        </p:txBody>
      </p:sp>
    </p:spTree>
    <p:extLst>
      <p:ext uri="{BB962C8B-B14F-4D97-AF65-F5344CB8AC3E}">
        <p14:creationId xmlns:p14="http://schemas.microsoft.com/office/powerpoint/2010/main" val="2446883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B894E-0B1D-2922-9B72-B6EED6AF808B}"/>
              </a:ext>
            </a:extLst>
          </p:cNvPr>
          <p:cNvSpPr>
            <a:spLocks noGrp="1"/>
          </p:cNvSpPr>
          <p:nvPr>
            <p:ph type="title"/>
          </p:nvPr>
        </p:nvSpPr>
        <p:spPr/>
        <p:txBody>
          <a:bodyPr/>
          <a:lstStyle/>
          <a:p>
            <a:r>
              <a:rPr lang="en-IN" b="1" u="none" strike="noStrike" dirty="0">
                <a:effectLst/>
                <a:latin typeface="Google Sans"/>
              </a:rPr>
              <a:t>2. Script File Executions</a:t>
            </a:r>
            <a:endParaRPr lang="en-US" dirty="0"/>
          </a:p>
        </p:txBody>
      </p:sp>
      <p:sp>
        <p:nvSpPr>
          <p:cNvPr id="3" name="Content Placeholder 2">
            <a:extLst>
              <a:ext uri="{FF2B5EF4-FFF2-40B4-BE49-F238E27FC236}">
                <a16:creationId xmlns:a16="http://schemas.microsoft.com/office/drawing/2014/main" id="{C1B04B02-98A3-7F74-AFE1-838F4CDFD440}"/>
              </a:ext>
            </a:extLst>
          </p:cNvPr>
          <p:cNvSpPr>
            <a:spLocks noGrp="1"/>
          </p:cNvSpPr>
          <p:nvPr>
            <p:ph idx="1"/>
          </p:nvPr>
        </p:nvSpPr>
        <p:spPr/>
        <p:txBody>
          <a:bodyPr>
            <a:normAutofit/>
          </a:bodyPr>
          <a:lstStyle/>
          <a:p>
            <a:r>
              <a:rPr lang="en-IN" b="0" u="none" strike="noStrike" dirty="0">
                <a:effectLst/>
                <a:latin typeface="Google Sans"/>
              </a:rPr>
              <a:t>This method runs entire blocks of code saved in text files. It is the standard approach for production code and automation.</a:t>
            </a:r>
          </a:p>
          <a:p>
            <a:r>
              <a:rPr lang="en-IN" b="1" u="none" strike="noStrike" dirty="0">
                <a:effectLst/>
                <a:latin typeface="Google Sans"/>
              </a:rPr>
              <a:t>Command Line / Terminal</a:t>
            </a:r>
            <a:r>
              <a:rPr lang="en-IN" b="0" u="none" strike="noStrike" dirty="0">
                <a:effectLst/>
                <a:latin typeface="Google Sans"/>
              </a:rPr>
              <a:t>: Save your code as </a:t>
            </a:r>
            <a:r>
              <a:rPr lang="en-IN" b="0" u="none" strike="noStrike" dirty="0" err="1">
                <a:effectLst/>
                <a:latin typeface="Google Sans"/>
              </a:rPr>
              <a:t>script.py</a:t>
            </a:r>
            <a:r>
              <a:rPr lang="en-IN" b="0" u="none" strike="noStrike" dirty="0">
                <a:effectLst/>
                <a:latin typeface="Google Sans"/>
              </a:rPr>
              <a:t> and run it using the command python </a:t>
            </a:r>
            <a:r>
              <a:rPr lang="en-IN" b="0" u="none" strike="noStrike" dirty="0" err="1">
                <a:effectLst/>
                <a:latin typeface="Google Sans"/>
              </a:rPr>
              <a:t>script.py</a:t>
            </a:r>
            <a:r>
              <a:rPr lang="en-IN" b="0" u="none" strike="noStrike" dirty="0">
                <a:effectLst/>
                <a:latin typeface="Google Sans"/>
              </a:rPr>
              <a:t>.</a:t>
            </a:r>
          </a:p>
          <a:p>
            <a:r>
              <a:rPr lang="en-IN" b="1" u="none" strike="noStrike" dirty="0">
                <a:effectLst/>
                <a:latin typeface="Google Sans"/>
              </a:rPr>
              <a:t>Executable Script</a:t>
            </a:r>
            <a:r>
              <a:rPr lang="en-IN" b="0" u="none" strike="noStrike" dirty="0">
                <a:effectLst/>
                <a:latin typeface="Google Sans"/>
              </a:rPr>
              <a:t>: Add a shebang line (#!/</a:t>
            </a:r>
            <a:r>
              <a:rPr lang="en-IN" b="0" u="none" strike="noStrike" dirty="0" err="1">
                <a:effectLst/>
                <a:latin typeface="Google Sans"/>
              </a:rPr>
              <a:t>usr</a:t>
            </a:r>
            <a:r>
              <a:rPr lang="en-IN" b="0" u="none" strike="noStrike" dirty="0">
                <a:effectLst/>
                <a:latin typeface="Google Sans"/>
              </a:rPr>
              <a:t>/bin/env python3) at the top of your file, run </a:t>
            </a:r>
            <a:r>
              <a:rPr lang="en-IN" b="0" u="none" strike="noStrike" dirty="0" err="1">
                <a:effectLst/>
                <a:latin typeface="Google Sans"/>
              </a:rPr>
              <a:t>chmod</a:t>
            </a:r>
            <a:r>
              <a:rPr lang="en-IN" b="0" u="none" strike="noStrike" dirty="0">
                <a:effectLst/>
                <a:latin typeface="Google Sans"/>
              </a:rPr>
              <a:t> +x </a:t>
            </a:r>
            <a:r>
              <a:rPr lang="en-IN" b="0" u="none" strike="noStrike" dirty="0" err="1">
                <a:effectLst/>
                <a:latin typeface="Google Sans"/>
              </a:rPr>
              <a:t>script.py</a:t>
            </a:r>
            <a:r>
              <a:rPr lang="en-IN" b="0" u="none" strike="noStrike" dirty="0">
                <a:effectLst/>
                <a:latin typeface="Google Sans"/>
              </a:rPr>
              <a:t> in Unix systems, and execute it directly as ./</a:t>
            </a:r>
            <a:r>
              <a:rPr lang="en-IN" b="0" u="none" strike="noStrike" dirty="0" err="1">
                <a:effectLst/>
                <a:latin typeface="Google Sans"/>
              </a:rPr>
              <a:t>script.py</a:t>
            </a:r>
            <a:r>
              <a:rPr lang="en-IN" b="0" u="none" strike="noStrike" dirty="0">
                <a:effectLst/>
                <a:latin typeface="Google Sans"/>
              </a:rPr>
              <a:t>.</a:t>
            </a:r>
          </a:p>
          <a:p>
            <a:r>
              <a:rPr lang="en-IN" b="1" u="none" strike="noStrike" dirty="0">
                <a:effectLst/>
                <a:latin typeface="Google Sans"/>
              </a:rPr>
              <a:t>Double-Clicking (OS GUI)</a:t>
            </a:r>
            <a:r>
              <a:rPr lang="en-IN" b="0" u="none" strike="noStrike" dirty="0">
                <a:effectLst/>
                <a:latin typeface="Google Sans"/>
              </a:rPr>
              <a:t>: Configure your operating system to launch </a:t>
            </a:r>
            <a:r>
              <a:rPr lang="en-IN" b="0" u="none" strike="noStrike" dirty="0">
                <a:effectLst/>
                <a:latin typeface="Courier New" panose="02070309020205020404" pitchFamily="49" charset="0"/>
              </a:rPr>
              <a:t>.</a:t>
            </a:r>
            <a:r>
              <a:rPr lang="en-IN" b="0" u="none" strike="noStrike" dirty="0" err="1">
                <a:effectLst/>
                <a:latin typeface="Courier New" panose="02070309020205020404" pitchFamily="49" charset="0"/>
              </a:rPr>
              <a:t>py</a:t>
            </a:r>
            <a:r>
              <a:rPr lang="en-IN" b="0" u="none" strike="noStrike" dirty="0">
                <a:effectLst/>
                <a:latin typeface="Google Sans"/>
              </a:rPr>
              <a:t> files automatically using the Python interpreter when clicked.</a:t>
            </a:r>
          </a:p>
          <a:p>
            <a:endParaRPr lang="en-US" dirty="0"/>
          </a:p>
        </p:txBody>
      </p:sp>
    </p:spTree>
    <p:extLst>
      <p:ext uri="{BB962C8B-B14F-4D97-AF65-F5344CB8AC3E}">
        <p14:creationId xmlns:p14="http://schemas.microsoft.com/office/powerpoint/2010/main" val="3807976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98BE9-85BE-00DF-066B-7333D50D849C}"/>
              </a:ext>
            </a:extLst>
          </p:cNvPr>
          <p:cNvSpPr>
            <a:spLocks noGrp="1"/>
          </p:cNvSpPr>
          <p:nvPr>
            <p:ph type="title"/>
          </p:nvPr>
        </p:nvSpPr>
        <p:spPr/>
        <p:txBody>
          <a:bodyPr/>
          <a:lstStyle/>
          <a:p>
            <a:r>
              <a:rPr lang="en-IN" b="1" u="none" strike="noStrike" dirty="0">
                <a:effectLst/>
                <a:latin typeface="Google Sans"/>
              </a:rPr>
              <a:t>3. Development Tools</a:t>
            </a:r>
            <a:endParaRPr lang="en-US" dirty="0"/>
          </a:p>
        </p:txBody>
      </p:sp>
      <p:sp>
        <p:nvSpPr>
          <p:cNvPr id="3" name="Content Placeholder 2">
            <a:extLst>
              <a:ext uri="{FF2B5EF4-FFF2-40B4-BE49-F238E27FC236}">
                <a16:creationId xmlns:a16="http://schemas.microsoft.com/office/drawing/2014/main" id="{DDC7ADE3-F369-E036-5AA8-636DFF156C67}"/>
              </a:ext>
            </a:extLst>
          </p:cNvPr>
          <p:cNvSpPr>
            <a:spLocks noGrp="1"/>
          </p:cNvSpPr>
          <p:nvPr>
            <p:ph idx="1"/>
          </p:nvPr>
        </p:nvSpPr>
        <p:spPr/>
        <p:txBody>
          <a:bodyPr/>
          <a:lstStyle/>
          <a:p>
            <a:r>
              <a:rPr lang="en-IN" b="0" u="none" strike="noStrike" dirty="0">
                <a:effectLst/>
                <a:latin typeface="Google Sans"/>
              </a:rPr>
              <a:t>These tools combine code editing, file management, and execution environments into a single software package.</a:t>
            </a:r>
          </a:p>
          <a:p>
            <a:r>
              <a:rPr lang="en-IN" b="1" u="none" strike="noStrike" dirty="0">
                <a:effectLst/>
                <a:latin typeface="Google Sans"/>
              </a:rPr>
              <a:t>IDEs (Integrated Development Environments)</a:t>
            </a:r>
            <a:r>
              <a:rPr lang="en-IN" b="0" u="none" strike="noStrike" dirty="0">
                <a:effectLst/>
                <a:latin typeface="Google Sans"/>
              </a:rPr>
              <a:t>: Use full-featured software like PyCharm or Spyder, which include built-in "Run" buttons to execute your scripts.</a:t>
            </a:r>
          </a:p>
          <a:p>
            <a:r>
              <a:rPr lang="en-IN" b="1" u="none" strike="noStrike" dirty="0">
                <a:effectLst/>
                <a:latin typeface="Google Sans"/>
              </a:rPr>
              <a:t>Code Editors</a:t>
            </a:r>
            <a:r>
              <a:rPr lang="en-IN" b="0" u="none" strike="noStrike" dirty="0">
                <a:effectLst/>
                <a:latin typeface="Google Sans"/>
              </a:rPr>
              <a:t>: Use lightweight editors like Visual Studio Code or Sublime Text equipped with Python extensions to run code via keyboard shortcuts. </a:t>
            </a:r>
          </a:p>
          <a:p>
            <a:endParaRPr lang="en-US" dirty="0"/>
          </a:p>
        </p:txBody>
      </p:sp>
    </p:spTree>
    <p:extLst>
      <p:ext uri="{BB962C8B-B14F-4D97-AF65-F5344CB8AC3E}">
        <p14:creationId xmlns:p14="http://schemas.microsoft.com/office/powerpoint/2010/main" val="2096456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62127-7A19-1AFD-A67B-1A366CF2A242}"/>
              </a:ext>
            </a:extLst>
          </p:cNvPr>
          <p:cNvSpPr>
            <a:spLocks noGrp="1"/>
          </p:cNvSpPr>
          <p:nvPr>
            <p:ph type="title"/>
          </p:nvPr>
        </p:nvSpPr>
        <p:spPr/>
        <p:txBody>
          <a:bodyPr/>
          <a:lstStyle/>
          <a:p>
            <a:r>
              <a:rPr lang="en-IN" b="1" u="none" strike="noStrike" dirty="0">
                <a:effectLst/>
                <a:latin typeface="Google Sans"/>
              </a:rPr>
              <a:t>4. Browser &amp; Notebook Environments</a:t>
            </a:r>
            <a:endParaRPr lang="en-US" dirty="0"/>
          </a:p>
        </p:txBody>
      </p:sp>
      <p:sp>
        <p:nvSpPr>
          <p:cNvPr id="3" name="Content Placeholder 2">
            <a:extLst>
              <a:ext uri="{FF2B5EF4-FFF2-40B4-BE49-F238E27FC236}">
                <a16:creationId xmlns:a16="http://schemas.microsoft.com/office/drawing/2014/main" id="{0FC9DBB9-40A9-1454-1FAA-F54CD395BBE6}"/>
              </a:ext>
            </a:extLst>
          </p:cNvPr>
          <p:cNvSpPr>
            <a:spLocks noGrp="1"/>
          </p:cNvSpPr>
          <p:nvPr>
            <p:ph idx="1"/>
          </p:nvPr>
        </p:nvSpPr>
        <p:spPr/>
        <p:txBody>
          <a:bodyPr/>
          <a:lstStyle/>
          <a:p>
            <a:r>
              <a:rPr lang="en-IN" b="0" u="none" strike="noStrike" dirty="0">
                <a:effectLst/>
                <a:latin typeface="Google Sans"/>
              </a:rPr>
              <a:t>These environments blend executable code blocks, rich text elements, and visual charts inside a web browser. </a:t>
            </a:r>
          </a:p>
          <a:p>
            <a:r>
              <a:rPr lang="en-IN" b="1" u="none" strike="noStrike" dirty="0" err="1">
                <a:effectLst/>
                <a:latin typeface="Google Sans"/>
              </a:rPr>
              <a:t>Jupyter</a:t>
            </a:r>
            <a:r>
              <a:rPr lang="en-IN" b="1" u="none" strike="noStrike" dirty="0">
                <a:effectLst/>
                <a:latin typeface="Google Sans"/>
              </a:rPr>
              <a:t> Notebooks</a:t>
            </a:r>
            <a:r>
              <a:rPr lang="en-IN" b="0" u="none" strike="noStrike" dirty="0">
                <a:effectLst/>
                <a:latin typeface="Google Sans"/>
              </a:rPr>
              <a:t>: Run individual code blocks or "cells" locally in your browser, keeping the data variables in memory between runs.</a:t>
            </a:r>
          </a:p>
          <a:p>
            <a:r>
              <a:rPr lang="en-IN" b="1" u="none" strike="noStrike" dirty="0">
                <a:effectLst/>
                <a:latin typeface="Google Sans"/>
              </a:rPr>
              <a:t>Cloud Notebooks</a:t>
            </a:r>
            <a:r>
              <a:rPr lang="en-IN" b="0" u="none" strike="noStrike" dirty="0">
                <a:effectLst/>
                <a:latin typeface="Google Sans"/>
              </a:rPr>
              <a:t>: Execute Python code on remote servers using platforms like Google </a:t>
            </a:r>
            <a:r>
              <a:rPr lang="en-IN" b="0" u="none" strike="noStrike" dirty="0" err="1">
                <a:effectLst/>
                <a:latin typeface="Google Sans"/>
              </a:rPr>
              <a:t>Colab</a:t>
            </a:r>
            <a:r>
              <a:rPr lang="en-IN" b="0" u="none" strike="noStrike" dirty="0">
                <a:effectLst/>
                <a:latin typeface="Google Sans"/>
              </a:rPr>
              <a:t> or Kaggle without installing Python on your local machine. </a:t>
            </a:r>
          </a:p>
          <a:p>
            <a:endParaRPr lang="en-US" dirty="0"/>
          </a:p>
        </p:txBody>
      </p:sp>
    </p:spTree>
    <p:extLst>
      <p:ext uri="{BB962C8B-B14F-4D97-AF65-F5344CB8AC3E}">
        <p14:creationId xmlns:p14="http://schemas.microsoft.com/office/powerpoint/2010/main" val="673733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ED3BA-B020-2245-6115-01956ADE50EC}"/>
              </a:ext>
            </a:extLst>
          </p:cNvPr>
          <p:cNvSpPr>
            <a:spLocks noGrp="1"/>
          </p:cNvSpPr>
          <p:nvPr>
            <p:ph type="title"/>
          </p:nvPr>
        </p:nvSpPr>
        <p:spPr/>
        <p:txBody>
          <a:bodyPr/>
          <a:lstStyle/>
          <a:p>
            <a:r>
              <a:rPr lang="en-US" dirty="0"/>
              <a:t>MCQs Time</a:t>
            </a:r>
          </a:p>
        </p:txBody>
      </p:sp>
      <p:sp>
        <p:nvSpPr>
          <p:cNvPr id="3" name="Content Placeholder 2">
            <a:extLst>
              <a:ext uri="{FF2B5EF4-FFF2-40B4-BE49-F238E27FC236}">
                <a16:creationId xmlns:a16="http://schemas.microsoft.com/office/drawing/2014/main" id="{E25623CE-D16E-331B-2A05-878DD996719B}"/>
              </a:ext>
            </a:extLst>
          </p:cNvPr>
          <p:cNvSpPr>
            <a:spLocks noGrp="1"/>
          </p:cNvSpPr>
          <p:nvPr>
            <p:ph idx="1"/>
          </p:nvPr>
        </p:nvSpPr>
        <p:spPr/>
        <p:txBody>
          <a:bodyPr>
            <a:normAutofit/>
          </a:bodyPr>
          <a:lstStyle/>
          <a:p>
            <a:pPr marL="0" indent="0">
              <a:buNone/>
            </a:pPr>
            <a:r>
              <a:rPr lang="en-IN" b="1" dirty="0"/>
              <a:t>1. Who developed the Python programming language?</a:t>
            </a:r>
            <a:r>
              <a:rPr lang="en-IN" dirty="0"/>
              <a:t> </a:t>
            </a:r>
          </a:p>
          <a:p>
            <a:pPr marL="0" indent="0">
              <a:buNone/>
            </a:pPr>
            <a:r>
              <a:rPr lang="en-IN" dirty="0"/>
              <a:t>A) James Gosling </a:t>
            </a:r>
          </a:p>
          <a:p>
            <a:pPr marL="0" indent="0">
              <a:buNone/>
            </a:pPr>
            <a:r>
              <a:rPr lang="en-IN" dirty="0"/>
              <a:t>B) Guido Van Rossum </a:t>
            </a:r>
          </a:p>
          <a:p>
            <a:pPr marL="0" indent="0">
              <a:buNone/>
            </a:pPr>
            <a:r>
              <a:rPr lang="en-IN" dirty="0"/>
              <a:t>C) Dennis Ritchie </a:t>
            </a:r>
          </a:p>
          <a:p>
            <a:pPr marL="0" indent="0">
              <a:buNone/>
            </a:pPr>
            <a:r>
              <a:rPr lang="en-IN" dirty="0"/>
              <a:t>D) Bjarne </a:t>
            </a:r>
            <a:r>
              <a:rPr lang="en-IN" dirty="0" err="1"/>
              <a:t>Stroustrup</a:t>
            </a:r>
            <a:endParaRPr lang="en-IN" dirty="0"/>
          </a:p>
        </p:txBody>
      </p:sp>
    </p:spTree>
    <p:extLst>
      <p:ext uri="{BB962C8B-B14F-4D97-AF65-F5344CB8AC3E}">
        <p14:creationId xmlns:p14="http://schemas.microsoft.com/office/powerpoint/2010/main" val="72094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ED2EB-708E-7A93-3B72-4FF3D6EC4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994A0-94C0-049A-5315-1C58D7E965F1}"/>
              </a:ext>
            </a:extLst>
          </p:cNvPr>
          <p:cNvSpPr>
            <a:spLocks noGrp="1"/>
          </p:cNvSpPr>
          <p:nvPr>
            <p:ph type="title"/>
          </p:nvPr>
        </p:nvSpPr>
        <p:spPr/>
        <p:txBody>
          <a:bodyPr/>
          <a:lstStyle/>
          <a:p>
            <a:r>
              <a:rPr lang="en-US" dirty="0"/>
              <a:t>MCQs Time</a:t>
            </a:r>
          </a:p>
        </p:txBody>
      </p:sp>
      <p:sp>
        <p:nvSpPr>
          <p:cNvPr id="3" name="Content Placeholder 2">
            <a:extLst>
              <a:ext uri="{FF2B5EF4-FFF2-40B4-BE49-F238E27FC236}">
                <a16:creationId xmlns:a16="http://schemas.microsoft.com/office/drawing/2014/main" id="{C308B9B8-41F6-07BE-451E-446D1963BB26}"/>
              </a:ext>
            </a:extLst>
          </p:cNvPr>
          <p:cNvSpPr>
            <a:spLocks noGrp="1"/>
          </p:cNvSpPr>
          <p:nvPr>
            <p:ph idx="1"/>
          </p:nvPr>
        </p:nvSpPr>
        <p:spPr/>
        <p:txBody>
          <a:bodyPr>
            <a:normAutofit/>
          </a:bodyPr>
          <a:lstStyle/>
          <a:p>
            <a:pPr marL="0" indent="0">
              <a:buNone/>
            </a:pPr>
            <a:r>
              <a:rPr lang="en-IN" b="1" dirty="0"/>
              <a:t>1. Who developed the Python programming language?</a:t>
            </a:r>
            <a:r>
              <a:rPr lang="en-IN" dirty="0"/>
              <a:t> </a:t>
            </a:r>
          </a:p>
          <a:p>
            <a:pPr marL="0" indent="0">
              <a:buNone/>
            </a:pPr>
            <a:r>
              <a:rPr lang="en-IN" dirty="0"/>
              <a:t>A) James Gosling </a:t>
            </a:r>
          </a:p>
          <a:p>
            <a:pPr marL="0" indent="0">
              <a:buNone/>
            </a:pPr>
            <a:r>
              <a:rPr lang="en-IN" b="1" dirty="0"/>
              <a:t>B) Guido Van Rossum</a:t>
            </a:r>
            <a:r>
              <a:rPr lang="en-IN" dirty="0"/>
              <a:t> </a:t>
            </a:r>
          </a:p>
          <a:p>
            <a:pPr marL="0" indent="0">
              <a:buNone/>
            </a:pPr>
            <a:r>
              <a:rPr lang="en-IN" dirty="0"/>
              <a:t>C) Dennis Ritchie </a:t>
            </a:r>
          </a:p>
          <a:p>
            <a:pPr marL="0" indent="0">
              <a:buNone/>
            </a:pPr>
            <a:r>
              <a:rPr lang="en-IN" dirty="0"/>
              <a:t>D) Bjarne </a:t>
            </a:r>
            <a:r>
              <a:rPr lang="en-IN" dirty="0" err="1"/>
              <a:t>Stroustrup</a:t>
            </a:r>
            <a:endParaRPr lang="en-IN" dirty="0"/>
          </a:p>
        </p:txBody>
      </p:sp>
    </p:spTree>
    <p:extLst>
      <p:ext uri="{BB962C8B-B14F-4D97-AF65-F5344CB8AC3E}">
        <p14:creationId xmlns:p14="http://schemas.microsoft.com/office/powerpoint/2010/main" val="4161278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5CECA-9775-833C-14E0-E76C91542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06E9B-127C-673C-3086-7F329B401E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C5C7CD-A7BA-F85C-D84A-77DB4A484B12}"/>
              </a:ext>
            </a:extLst>
          </p:cNvPr>
          <p:cNvSpPr>
            <a:spLocks noGrp="1"/>
          </p:cNvSpPr>
          <p:nvPr>
            <p:ph idx="1"/>
          </p:nvPr>
        </p:nvSpPr>
        <p:spPr/>
        <p:txBody>
          <a:bodyPr>
            <a:normAutofit/>
          </a:bodyPr>
          <a:lstStyle/>
          <a:p>
            <a:pPr marL="0" indent="0">
              <a:buNone/>
            </a:pPr>
            <a:r>
              <a:rPr lang="en-IN" b="1" dirty="0"/>
              <a:t>2. What is the official "Date of Birth" for Python, when it was first made available to the public?</a:t>
            </a:r>
            <a:r>
              <a:rPr lang="en-IN" dirty="0"/>
              <a:t> </a:t>
            </a:r>
          </a:p>
          <a:p>
            <a:pPr marL="514350" indent="-514350">
              <a:buAutoNum type="alphaUcParenR"/>
            </a:pPr>
            <a:r>
              <a:rPr lang="en-IN" dirty="0"/>
              <a:t>January 1, 1989 </a:t>
            </a:r>
          </a:p>
          <a:p>
            <a:pPr marL="514350" indent="-514350">
              <a:buAutoNum type="alphaUcParenR"/>
            </a:pPr>
            <a:r>
              <a:rPr lang="en-IN" dirty="0"/>
              <a:t>December 3, 2008 </a:t>
            </a:r>
          </a:p>
          <a:p>
            <a:pPr marL="514350" indent="-514350">
              <a:buAutoNum type="alphaUcParenR"/>
            </a:pPr>
            <a:r>
              <a:rPr lang="en-IN" dirty="0"/>
              <a:t>February 20, 1991 </a:t>
            </a:r>
          </a:p>
          <a:p>
            <a:pPr marL="514350" indent="-514350">
              <a:buAutoNum type="alphaUcParenR"/>
            </a:pPr>
            <a:r>
              <a:rPr lang="en-IN" dirty="0"/>
              <a:t>October 24, 2000</a:t>
            </a:r>
          </a:p>
        </p:txBody>
      </p:sp>
    </p:spTree>
    <p:extLst>
      <p:ext uri="{BB962C8B-B14F-4D97-AF65-F5344CB8AC3E}">
        <p14:creationId xmlns:p14="http://schemas.microsoft.com/office/powerpoint/2010/main" val="3751752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03F9E-7B1E-8342-68CF-F6C399DA4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B48E2-49D0-9EAE-660D-BAEEE29EE2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77C515-85FA-3CE2-FDB5-8898D9E7A31C}"/>
              </a:ext>
            </a:extLst>
          </p:cNvPr>
          <p:cNvSpPr>
            <a:spLocks noGrp="1"/>
          </p:cNvSpPr>
          <p:nvPr>
            <p:ph idx="1"/>
          </p:nvPr>
        </p:nvSpPr>
        <p:spPr/>
        <p:txBody>
          <a:bodyPr>
            <a:normAutofit/>
          </a:bodyPr>
          <a:lstStyle/>
          <a:p>
            <a:pPr marL="0" indent="0">
              <a:buNone/>
            </a:pPr>
            <a:r>
              <a:rPr lang="en-IN" b="1" dirty="0"/>
              <a:t>2. What is the official "Date of Birth" for Python, when it was first made available to the public?</a:t>
            </a:r>
            <a:r>
              <a:rPr lang="en-IN" dirty="0"/>
              <a:t> </a:t>
            </a:r>
          </a:p>
          <a:p>
            <a:pPr marL="514350" indent="-514350">
              <a:buAutoNum type="alphaUcParenR"/>
            </a:pPr>
            <a:r>
              <a:rPr lang="en-IN" dirty="0"/>
              <a:t>January 1, 1989 </a:t>
            </a:r>
          </a:p>
          <a:p>
            <a:pPr marL="514350" indent="-514350">
              <a:buAutoNum type="alphaUcParenR"/>
            </a:pPr>
            <a:r>
              <a:rPr lang="en-IN" dirty="0"/>
              <a:t>December 3, 2008 </a:t>
            </a:r>
          </a:p>
          <a:p>
            <a:pPr marL="514350" indent="-514350">
              <a:buAutoNum type="alphaUcParenR"/>
            </a:pPr>
            <a:r>
              <a:rPr lang="en-IN" b="1" dirty="0"/>
              <a:t>February 20, 1991</a:t>
            </a:r>
            <a:r>
              <a:rPr lang="en-IN" dirty="0"/>
              <a:t> </a:t>
            </a:r>
          </a:p>
          <a:p>
            <a:pPr marL="514350" indent="-514350">
              <a:buAutoNum type="alphaUcParenR"/>
            </a:pPr>
            <a:r>
              <a:rPr lang="en-IN" dirty="0"/>
              <a:t>October 24, 2000</a:t>
            </a:r>
          </a:p>
        </p:txBody>
      </p:sp>
    </p:spTree>
    <p:extLst>
      <p:ext uri="{BB962C8B-B14F-4D97-AF65-F5344CB8AC3E}">
        <p14:creationId xmlns:p14="http://schemas.microsoft.com/office/powerpoint/2010/main" val="3528778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BBBA7-09FE-4C9B-EDE0-B87EC9714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43400-B6E4-A281-E87E-C34FCDD77C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C9BAF1-C3B4-2CF3-66AB-BE33E5D7D364}"/>
              </a:ext>
            </a:extLst>
          </p:cNvPr>
          <p:cNvSpPr>
            <a:spLocks noGrp="1"/>
          </p:cNvSpPr>
          <p:nvPr>
            <p:ph idx="1"/>
          </p:nvPr>
        </p:nvSpPr>
        <p:spPr/>
        <p:txBody>
          <a:bodyPr>
            <a:normAutofit/>
          </a:bodyPr>
          <a:lstStyle/>
          <a:p>
            <a:pPr marL="0" indent="0">
              <a:buNone/>
            </a:pPr>
            <a:r>
              <a:rPr lang="en-IN" b="1" dirty="0"/>
              <a:t>3. The name "Python" was selected from which of the following?</a:t>
            </a:r>
            <a:r>
              <a:rPr lang="en-IN" dirty="0"/>
              <a:t> A) A species of large snakes </a:t>
            </a:r>
          </a:p>
          <a:p>
            <a:pPr marL="0" indent="0">
              <a:buNone/>
            </a:pPr>
            <a:r>
              <a:rPr lang="en-IN" dirty="0"/>
              <a:t>B) The TV show "The Complete Monty Python's Circus" </a:t>
            </a:r>
          </a:p>
          <a:p>
            <a:pPr marL="0" indent="0">
              <a:buNone/>
            </a:pPr>
            <a:r>
              <a:rPr lang="en-IN" dirty="0"/>
              <a:t>C) A famous computer scientist named Python </a:t>
            </a:r>
          </a:p>
          <a:p>
            <a:pPr marL="0" indent="0">
              <a:buNone/>
            </a:pPr>
            <a:r>
              <a:rPr lang="en-IN" dirty="0"/>
              <a:t>D) An acronym for "Programming Yielding Total High-level Output Network"</a:t>
            </a:r>
          </a:p>
        </p:txBody>
      </p:sp>
    </p:spTree>
    <p:extLst>
      <p:ext uri="{BB962C8B-B14F-4D97-AF65-F5344CB8AC3E}">
        <p14:creationId xmlns:p14="http://schemas.microsoft.com/office/powerpoint/2010/main" val="2287633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F1001-17A6-24E8-A2DB-AC76F4F30F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DC14E-D921-BB80-1FDB-6F70203774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67E694-6EEC-057D-8255-3700875BC2A5}"/>
              </a:ext>
            </a:extLst>
          </p:cNvPr>
          <p:cNvSpPr>
            <a:spLocks noGrp="1"/>
          </p:cNvSpPr>
          <p:nvPr>
            <p:ph idx="1"/>
          </p:nvPr>
        </p:nvSpPr>
        <p:spPr/>
        <p:txBody>
          <a:bodyPr>
            <a:normAutofit/>
          </a:bodyPr>
          <a:lstStyle/>
          <a:p>
            <a:pPr marL="0" indent="0">
              <a:buNone/>
            </a:pPr>
            <a:r>
              <a:rPr lang="en-IN" b="1" dirty="0"/>
              <a:t>3. The name "Python" was selected from which of the following?</a:t>
            </a:r>
            <a:r>
              <a:rPr lang="en-IN" dirty="0"/>
              <a:t> A) A species of large snakes </a:t>
            </a:r>
          </a:p>
          <a:p>
            <a:pPr marL="0" indent="0">
              <a:buNone/>
            </a:pPr>
            <a:r>
              <a:rPr lang="en-IN" b="1" dirty="0"/>
              <a:t>B) The TV show "The Complete Monty Python's Circus"</a:t>
            </a:r>
            <a:r>
              <a:rPr lang="en-IN" dirty="0"/>
              <a:t> </a:t>
            </a:r>
          </a:p>
          <a:p>
            <a:pPr marL="0" indent="0">
              <a:buNone/>
            </a:pPr>
            <a:r>
              <a:rPr lang="en-IN" dirty="0"/>
              <a:t>C) A famous computer scientist named Python </a:t>
            </a:r>
          </a:p>
          <a:p>
            <a:pPr marL="0" indent="0">
              <a:buNone/>
            </a:pPr>
            <a:r>
              <a:rPr lang="en-IN" dirty="0"/>
              <a:t>D) An acronym for "Programming Yielding Total High-level Output Network"</a:t>
            </a:r>
          </a:p>
        </p:txBody>
      </p:sp>
    </p:spTree>
    <p:extLst>
      <p:ext uri="{BB962C8B-B14F-4D97-AF65-F5344CB8AC3E}">
        <p14:creationId xmlns:p14="http://schemas.microsoft.com/office/powerpoint/2010/main" val="295788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54837-E90D-39AA-A8D1-6611D03B4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58CAB-2AAF-FC8C-C7F6-57FCD8E2DE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92154D-1091-F188-C608-55DD9A3E8F9E}"/>
              </a:ext>
            </a:extLst>
          </p:cNvPr>
          <p:cNvSpPr>
            <a:spLocks noGrp="1"/>
          </p:cNvSpPr>
          <p:nvPr>
            <p:ph idx="1"/>
          </p:nvPr>
        </p:nvSpPr>
        <p:spPr/>
        <p:txBody>
          <a:bodyPr>
            <a:normAutofit/>
          </a:bodyPr>
          <a:lstStyle/>
          <a:p>
            <a:pPr marL="0" indent="0">
              <a:buNone/>
            </a:pPr>
            <a:r>
              <a:rPr lang="en-IN" b="1" dirty="0"/>
              <a:t>4. From which programming language did Python inherit its Functional Programming features?</a:t>
            </a:r>
            <a:r>
              <a:rPr lang="en-IN" dirty="0"/>
              <a:t> </a:t>
            </a:r>
          </a:p>
          <a:p>
            <a:pPr marL="514350" indent="-514350">
              <a:buAutoNum type="alphaUcParenR"/>
            </a:pPr>
            <a:r>
              <a:rPr lang="en-IN" dirty="0"/>
              <a:t>C </a:t>
            </a:r>
          </a:p>
          <a:p>
            <a:pPr marL="514350" indent="-514350">
              <a:buAutoNum type="alphaUcParenR"/>
            </a:pPr>
            <a:r>
              <a:rPr lang="en-IN" dirty="0"/>
              <a:t>C++ </a:t>
            </a:r>
          </a:p>
          <a:p>
            <a:pPr marL="514350" indent="-514350">
              <a:buAutoNum type="alphaUcParenR"/>
            </a:pPr>
            <a:r>
              <a:rPr lang="en-IN" dirty="0"/>
              <a:t>Perl </a:t>
            </a:r>
          </a:p>
          <a:p>
            <a:pPr marL="514350" indent="-514350">
              <a:buAutoNum type="alphaUcParenR"/>
            </a:pPr>
            <a:r>
              <a:rPr lang="en-IN" dirty="0"/>
              <a:t>Modula-3</a:t>
            </a:r>
          </a:p>
        </p:txBody>
      </p:sp>
    </p:spTree>
    <p:extLst>
      <p:ext uri="{BB962C8B-B14F-4D97-AF65-F5344CB8AC3E}">
        <p14:creationId xmlns:p14="http://schemas.microsoft.com/office/powerpoint/2010/main" val="2364318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555F5-0728-E0FF-8A25-029322E67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4F7F3-B817-365F-2D30-C0CFAB5630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3FB00E-6C30-1BD4-5444-351C898ED7F1}"/>
              </a:ext>
            </a:extLst>
          </p:cNvPr>
          <p:cNvSpPr>
            <a:spLocks noGrp="1"/>
          </p:cNvSpPr>
          <p:nvPr>
            <p:ph idx="1"/>
          </p:nvPr>
        </p:nvSpPr>
        <p:spPr/>
        <p:txBody>
          <a:bodyPr>
            <a:normAutofit/>
          </a:bodyPr>
          <a:lstStyle/>
          <a:p>
            <a:pPr marL="0" indent="0">
              <a:buNone/>
            </a:pPr>
            <a:r>
              <a:rPr lang="en-IN" b="1" dirty="0"/>
              <a:t>4. From which programming language did Python inherit its Functional Programming features?</a:t>
            </a:r>
            <a:r>
              <a:rPr lang="en-IN" dirty="0"/>
              <a:t> </a:t>
            </a:r>
          </a:p>
          <a:p>
            <a:pPr marL="514350" indent="-514350">
              <a:buAutoNum type="alphaUcParenR"/>
            </a:pPr>
            <a:r>
              <a:rPr lang="en-IN" b="1" dirty="0"/>
              <a:t>C</a:t>
            </a:r>
            <a:r>
              <a:rPr lang="en-IN" dirty="0"/>
              <a:t> </a:t>
            </a:r>
          </a:p>
          <a:p>
            <a:pPr marL="514350" indent="-514350">
              <a:buAutoNum type="alphaUcParenR"/>
            </a:pPr>
            <a:r>
              <a:rPr lang="en-IN" dirty="0"/>
              <a:t>C++ </a:t>
            </a:r>
          </a:p>
          <a:p>
            <a:pPr marL="514350" indent="-514350">
              <a:buAutoNum type="alphaUcParenR"/>
            </a:pPr>
            <a:r>
              <a:rPr lang="en-IN" dirty="0"/>
              <a:t>Perl </a:t>
            </a:r>
          </a:p>
          <a:p>
            <a:pPr marL="514350" indent="-514350">
              <a:buAutoNum type="alphaUcParenR"/>
            </a:pPr>
            <a:r>
              <a:rPr lang="en-IN" dirty="0"/>
              <a:t>Modula-3</a:t>
            </a:r>
          </a:p>
        </p:txBody>
      </p:sp>
    </p:spTree>
    <p:extLst>
      <p:ext uri="{BB962C8B-B14F-4D97-AF65-F5344CB8AC3E}">
        <p14:creationId xmlns:p14="http://schemas.microsoft.com/office/powerpoint/2010/main" val="2242145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43B9-C140-DC31-4DCC-BC5903B17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6D0D0-2881-1179-5775-8BE8D7849C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05C563-9929-656F-E749-402FC757BCB8}"/>
              </a:ext>
            </a:extLst>
          </p:cNvPr>
          <p:cNvSpPr>
            <a:spLocks noGrp="1"/>
          </p:cNvSpPr>
          <p:nvPr>
            <p:ph idx="1"/>
          </p:nvPr>
        </p:nvSpPr>
        <p:spPr/>
        <p:txBody>
          <a:bodyPr>
            <a:normAutofit/>
          </a:bodyPr>
          <a:lstStyle/>
          <a:p>
            <a:pPr marL="0" indent="0">
              <a:buNone/>
            </a:pPr>
            <a:r>
              <a:rPr lang="en-IN" b="1" dirty="0"/>
              <a:t>5. Python is considered "Programmer Friendly" because it is a High-Level language. This means programmers do not need to concentrate on which of the following?</a:t>
            </a:r>
            <a:r>
              <a:rPr lang="en-IN" dirty="0"/>
              <a:t> </a:t>
            </a:r>
          </a:p>
          <a:p>
            <a:pPr marL="514350" indent="-514350">
              <a:buAutoNum type="alphaUcParenR"/>
            </a:pPr>
            <a:r>
              <a:rPr lang="en-IN" dirty="0"/>
              <a:t>Writing code in English-like syntax </a:t>
            </a:r>
          </a:p>
          <a:p>
            <a:pPr marL="514350" indent="-514350">
              <a:buAutoNum type="alphaUcParenR"/>
            </a:pPr>
            <a:r>
              <a:rPr lang="en-IN" dirty="0"/>
              <a:t>Low-level activities like memory management and security </a:t>
            </a:r>
          </a:p>
          <a:p>
            <a:pPr marL="514350" indent="-514350">
              <a:buAutoNum type="alphaUcParenR"/>
            </a:pPr>
            <a:r>
              <a:rPr lang="en-IN" dirty="0"/>
              <a:t>Defining the logic of the application </a:t>
            </a:r>
          </a:p>
          <a:p>
            <a:pPr marL="514350" indent="-514350">
              <a:buAutoNum type="alphaUcParenR"/>
            </a:pPr>
            <a:r>
              <a:rPr lang="en-IN" dirty="0"/>
              <a:t>Using more than 30 keywords</a:t>
            </a:r>
          </a:p>
        </p:txBody>
      </p:sp>
    </p:spTree>
    <p:extLst>
      <p:ext uri="{BB962C8B-B14F-4D97-AF65-F5344CB8AC3E}">
        <p14:creationId xmlns:p14="http://schemas.microsoft.com/office/powerpoint/2010/main" val="2525288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D6AA3-26B9-8992-AF03-8CF8355FC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43D04-AD40-1EC1-48F6-64919D0072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2B4FB2-62C1-F6EB-8611-9AF8F22A7D19}"/>
              </a:ext>
            </a:extLst>
          </p:cNvPr>
          <p:cNvSpPr>
            <a:spLocks noGrp="1"/>
          </p:cNvSpPr>
          <p:nvPr>
            <p:ph idx="1"/>
          </p:nvPr>
        </p:nvSpPr>
        <p:spPr/>
        <p:txBody>
          <a:bodyPr>
            <a:normAutofit/>
          </a:bodyPr>
          <a:lstStyle/>
          <a:p>
            <a:pPr marL="0" indent="0">
              <a:buNone/>
            </a:pPr>
            <a:r>
              <a:rPr lang="en-IN" b="1" dirty="0"/>
              <a:t>5. Python is considered "Programmer Friendly" because it is a High-Level language. This means programmers do not need to concentrate on which of the following?</a:t>
            </a:r>
            <a:r>
              <a:rPr lang="en-IN" dirty="0"/>
              <a:t> </a:t>
            </a:r>
          </a:p>
          <a:p>
            <a:pPr marL="514350" indent="-514350">
              <a:buAutoNum type="alphaUcParenR"/>
            </a:pPr>
            <a:r>
              <a:rPr lang="en-IN" dirty="0"/>
              <a:t>Writing code in English-like syntax </a:t>
            </a:r>
          </a:p>
          <a:p>
            <a:pPr marL="514350" indent="-514350">
              <a:buAutoNum type="alphaUcParenR"/>
            </a:pPr>
            <a:r>
              <a:rPr lang="en-IN" b="1" dirty="0"/>
              <a:t>Low-level activities like memory management and security</a:t>
            </a:r>
            <a:r>
              <a:rPr lang="en-IN" dirty="0"/>
              <a:t> </a:t>
            </a:r>
          </a:p>
          <a:p>
            <a:pPr marL="514350" indent="-514350">
              <a:buAutoNum type="alphaUcParenR"/>
            </a:pPr>
            <a:r>
              <a:rPr lang="en-IN" dirty="0"/>
              <a:t>Defining the logic of the application </a:t>
            </a:r>
          </a:p>
          <a:p>
            <a:pPr marL="514350" indent="-514350">
              <a:buAutoNum type="alphaUcParenR"/>
            </a:pPr>
            <a:r>
              <a:rPr lang="en-IN" dirty="0"/>
              <a:t>Using more than 30 keywords</a:t>
            </a:r>
          </a:p>
        </p:txBody>
      </p:sp>
    </p:spTree>
    <p:extLst>
      <p:ext uri="{BB962C8B-B14F-4D97-AF65-F5344CB8AC3E}">
        <p14:creationId xmlns:p14="http://schemas.microsoft.com/office/powerpoint/2010/main" val="581830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5A7E8-31E6-8CFF-1A14-55816AF19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4741B-04AD-9743-76BF-5AD3285F48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DB18E3-404B-F86A-083C-173A46DB5E63}"/>
              </a:ext>
            </a:extLst>
          </p:cNvPr>
          <p:cNvSpPr>
            <a:spLocks noGrp="1"/>
          </p:cNvSpPr>
          <p:nvPr>
            <p:ph idx="1"/>
          </p:nvPr>
        </p:nvSpPr>
        <p:spPr/>
        <p:txBody>
          <a:bodyPr>
            <a:normAutofit/>
          </a:bodyPr>
          <a:lstStyle/>
          <a:p>
            <a:pPr marL="0" indent="0">
              <a:buNone/>
            </a:pPr>
            <a:r>
              <a:rPr lang="en-IN" b="1" dirty="0"/>
              <a:t>6. Which component is internally responsible for converting Python code into a machine-understandable form to make it platform-independent?</a:t>
            </a:r>
            <a:r>
              <a:rPr lang="en-IN" dirty="0"/>
              <a:t> </a:t>
            </a:r>
          </a:p>
          <a:p>
            <a:pPr marL="514350" indent="-514350">
              <a:buAutoNum type="alphaUcParenR"/>
            </a:pPr>
            <a:r>
              <a:rPr lang="en-IN" dirty="0"/>
              <a:t>The Python Compiler </a:t>
            </a:r>
          </a:p>
          <a:p>
            <a:pPr marL="0" indent="0">
              <a:buNone/>
            </a:pPr>
            <a:r>
              <a:rPr lang="en-IN" dirty="0"/>
              <a:t>B)   The Java Virtual Machine (JVM) </a:t>
            </a:r>
          </a:p>
          <a:p>
            <a:pPr marL="0" indent="0">
              <a:buNone/>
            </a:pPr>
            <a:r>
              <a:rPr lang="en-IN" dirty="0"/>
              <a:t>C) The Python Virtual Machine (PVM) </a:t>
            </a:r>
          </a:p>
          <a:p>
            <a:pPr marL="0" indent="0">
              <a:buNone/>
            </a:pPr>
            <a:r>
              <a:rPr lang="en-IN" dirty="0"/>
              <a:t>D) The Windows Command Prompt</a:t>
            </a:r>
          </a:p>
        </p:txBody>
      </p:sp>
    </p:spTree>
    <p:extLst>
      <p:ext uri="{BB962C8B-B14F-4D97-AF65-F5344CB8AC3E}">
        <p14:creationId xmlns:p14="http://schemas.microsoft.com/office/powerpoint/2010/main" val="213269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1BF5F-34FF-6C57-7AF4-6237BE550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EFFB3-44B5-AAEC-5FA2-8D1A956842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930C42-A4EC-5272-3339-0775AFFBF3AD}"/>
              </a:ext>
            </a:extLst>
          </p:cNvPr>
          <p:cNvSpPr>
            <a:spLocks noGrp="1"/>
          </p:cNvSpPr>
          <p:nvPr>
            <p:ph idx="1"/>
          </p:nvPr>
        </p:nvSpPr>
        <p:spPr/>
        <p:txBody>
          <a:bodyPr>
            <a:normAutofit/>
          </a:bodyPr>
          <a:lstStyle/>
          <a:p>
            <a:pPr marL="0" indent="0">
              <a:buNone/>
            </a:pPr>
            <a:r>
              <a:rPr lang="en-IN" b="1" dirty="0"/>
              <a:t>6. Which component is internally responsible for converting Python code into a machine-understandable form to make it platform-independent?</a:t>
            </a:r>
            <a:r>
              <a:rPr lang="en-IN" dirty="0"/>
              <a:t> </a:t>
            </a:r>
          </a:p>
          <a:p>
            <a:pPr marL="514350" indent="-514350">
              <a:buAutoNum type="alphaUcParenR"/>
            </a:pPr>
            <a:r>
              <a:rPr lang="en-IN" dirty="0"/>
              <a:t>The Python Compiler </a:t>
            </a:r>
          </a:p>
          <a:p>
            <a:pPr marL="0" indent="0">
              <a:buNone/>
            </a:pPr>
            <a:r>
              <a:rPr lang="en-IN" dirty="0"/>
              <a:t>B)  The Java Virtual Machine (JVM) </a:t>
            </a:r>
          </a:p>
          <a:p>
            <a:pPr marL="0" indent="0">
              <a:buNone/>
            </a:pPr>
            <a:r>
              <a:rPr lang="en-IN" b="1" dirty="0"/>
              <a:t>C) The Python Virtual Machine (PVM)</a:t>
            </a:r>
            <a:r>
              <a:rPr lang="en-IN" dirty="0"/>
              <a:t> </a:t>
            </a:r>
          </a:p>
          <a:p>
            <a:pPr marL="0" indent="0">
              <a:buNone/>
            </a:pPr>
            <a:r>
              <a:rPr lang="en-IN" dirty="0"/>
              <a:t>D) The Windows Command Prompt</a:t>
            </a:r>
          </a:p>
        </p:txBody>
      </p:sp>
    </p:spTree>
    <p:extLst>
      <p:ext uri="{BB962C8B-B14F-4D97-AF65-F5344CB8AC3E}">
        <p14:creationId xmlns:p14="http://schemas.microsoft.com/office/powerpoint/2010/main" val="433306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063BD-3820-7442-E77E-56A19FB64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EA123-D350-C904-2BC4-5CCCC35862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E26B5C-695B-E45F-3F73-8EF3B48C2298}"/>
              </a:ext>
            </a:extLst>
          </p:cNvPr>
          <p:cNvSpPr>
            <a:spLocks noGrp="1"/>
          </p:cNvSpPr>
          <p:nvPr>
            <p:ph idx="1"/>
          </p:nvPr>
        </p:nvSpPr>
        <p:spPr/>
        <p:txBody>
          <a:bodyPr>
            <a:normAutofit/>
          </a:bodyPr>
          <a:lstStyle/>
          <a:p>
            <a:pPr marL="0" indent="0">
              <a:buNone/>
            </a:pPr>
            <a:r>
              <a:rPr lang="en-IN" b="1" dirty="0"/>
              <a:t>7. Python is described as a "Dynamically Typed" language. What does this mean?</a:t>
            </a:r>
            <a:r>
              <a:rPr lang="en-IN" dirty="0"/>
              <a:t> </a:t>
            </a:r>
          </a:p>
          <a:p>
            <a:pPr marL="514350" indent="-514350">
              <a:buAutoNum type="alphaUcParenR"/>
            </a:pPr>
            <a:r>
              <a:rPr lang="en-IN" dirty="0"/>
              <a:t>You must declare the data type of a variable before using it. </a:t>
            </a:r>
          </a:p>
          <a:p>
            <a:pPr marL="0" indent="0">
              <a:buNone/>
            </a:pPr>
            <a:r>
              <a:rPr lang="en-IN" dirty="0"/>
              <a:t>B) The type of a variable can only be changed during compilation. </a:t>
            </a:r>
          </a:p>
          <a:p>
            <a:pPr marL="0" indent="0">
              <a:buNone/>
            </a:pPr>
            <a:r>
              <a:rPr lang="en-IN" dirty="0"/>
              <a:t>C) Types are allocated automatically based on the value assigned to the variable. </a:t>
            </a:r>
          </a:p>
          <a:p>
            <a:pPr marL="0" indent="0">
              <a:buNone/>
            </a:pPr>
            <a:r>
              <a:rPr lang="en-IN" dirty="0"/>
              <a:t>D) It is a statically typed language like Java or C. </a:t>
            </a:r>
          </a:p>
        </p:txBody>
      </p:sp>
    </p:spTree>
    <p:extLst>
      <p:ext uri="{BB962C8B-B14F-4D97-AF65-F5344CB8AC3E}">
        <p14:creationId xmlns:p14="http://schemas.microsoft.com/office/powerpoint/2010/main" val="4067526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CB7B1-42ED-3F61-FC7D-3BB5F22C6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0D9F9-5DD4-11EE-7E43-F10BE36EDF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E0CDC2-046A-B733-AA08-36693662C22C}"/>
              </a:ext>
            </a:extLst>
          </p:cNvPr>
          <p:cNvSpPr>
            <a:spLocks noGrp="1"/>
          </p:cNvSpPr>
          <p:nvPr>
            <p:ph idx="1"/>
          </p:nvPr>
        </p:nvSpPr>
        <p:spPr/>
        <p:txBody>
          <a:bodyPr>
            <a:normAutofit/>
          </a:bodyPr>
          <a:lstStyle/>
          <a:p>
            <a:pPr marL="0" indent="0">
              <a:buNone/>
            </a:pPr>
            <a:r>
              <a:rPr lang="en-IN" b="1" dirty="0"/>
              <a:t>7. Python is described as a "Dynamically Typed" language. What does this mean?</a:t>
            </a:r>
            <a:r>
              <a:rPr lang="en-IN" dirty="0"/>
              <a:t> </a:t>
            </a:r>
          </a:p>
          <a:p>
            <a:pPr marL="514350" indent="-514350">
              <a:buAutoNum type="alphaUcParenR"/>
            </a:pPr>
            <a:r>
              <a:rPr lang="en-IN" dirty="0"/>
              <a:t>You must declare the data type of a variable before using it. </a:t>
            </a:r>
          </a:p>
          <a:p>
            <a:pPr marL="0" indent="0">
              <a:buNone/>
            </a:pPr>
            <a:r>
              <a:rPr lang="en-IN" dirty="0"/>
              <a:t>B) The type of a variable can only be changed during compilation. </a:t>
            </a:r>
          </a:p>
          <a:p>
            <a:pPr marL="0" indent="0">
              <a:buNone/>
            </a:pPr>
            <a:r>
              <a:rPr lang="en-IN" b="1" dirty="0"/>
              <a:t>C) Types are allocated automatically based on the value assigned to the variable.</a:t>
            </a:r>
            <a:r>
              <a:rPr lang="en-IN" dirty="0"/>
              <a:t> </a:t>
            </a:r>
          </a:p>
          <a:p>
            <a:pPr marL="0" indent="0">
              <a:buNone/>
            </a:pPr>
            <a:r>
              <a:rPr lang="en-IN" dirty="0"/>
              <a:t>D) It is a statically typed language like Java or C. </a:t>
            </a:r>
          </a:p>
        </p:txBody>
      </p:sp>
    </p:spTree>
    <p:extLst>
      <p:ext uri="{BB962C8B-B14F-4D97-AF65-F5344CB8AC3E}">
        <p14:creationId xmlns:p14="http://schemas.microsoft.com/office/powerpoint/2010/main" val="1919032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61F0-768F-95A7-4938-35F90D668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314A30-455A-33F4-63D5-A8F6F7F1F5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782E23-1E04-CF2D-9666-E2E0FB6363A3}"/>
              </a:ext>
            </a:extLst>
          </p:cNvPr>
          <p:cNvSpPr>
            <a:spLocks noGrp="1"/>
          </p:cNvSpPr>
          <p:nvPr>
            <p:ph idx="1"/>
          </p:nvPr>
        </p:nvSpPr>
        <p:spPr/>
        <p:txBody>
          <a:bodyPr>
            <a:normAutofit/>
          </a:bodyPr>
          <a:lstStyle/>
          <a:p>
            <a:pPr marL="0" indent="0">
              <a:buNone/>
            </a:pPr>
            <a:r>
              <a:rPr lang="en-IN" b="1" dirty="0"/>
              <a:t>8. According to the notes, which of the following companies utilize Python coding internally?</a:t>
            </a:r>
            <a:r>
              <a:rPr lang="en-IN" dirty="0"/>
              <a:t> </a:t>
            </a:r>
          </a:p>
          <a:p>
            <a:pPr marL="514350" indent="-514350">
              <a:buAutoNum type="alphaUcParenR"/>
            </a:pPr>
            <a:r>
              <a:rPr lang="en-IN" dirty="0"/>
              <a:t>Google and YouTube </a:t>
            </a:r>
          </a:p>
          <a:p>
            <a:pPr marL="0" indent="0">
              <a:buNone/>
            </a:pPr>
            <a:r>
              <a:rPr lang="en-IN" dirty="0"/>
              <a:t>B) NASA </a:t>
            </a:r>
          </a:p>
          <a:p>
            <a:pPr marL="0" indent="0">
              <a:buNone/>
            </a:pPr>
            <a:r>
              <a:rPr lang="en-IN" dirty="0"/>
              <a:t>C) Microsoft and IBM </a:t>
            </a:r>
          </a:p>
          <a:p>
            <a:pPr marL="0" indent="0">
              <a:buNone/>
            </a:pPr>
            <a:r>
              <a:rPr lang="en-IN" dirty="0"/>
              <a:t>D) All of the above</a:t>
            </a:r>
          </a:p>
        </p:txBody>
      </p:sp>
    </p:spTree>
    <p:extLst>
      <p:ext uri="{BB962C8B-B14F-4D97-AF65-F5344CB8AC3E}">
        <p14:creationId xmlns:p14="http://schemas.microsoft.com/office/powerpoint/2010/main" val="2965186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4388-C27F-817D-8094-A990E854FA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58089-2163-95C8-6890-E7E5CC039B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B8C5FF-CC12-A93A-82CA-B6B6D86D90CC}"/>
              </a:ext>
            </a:extLst>
          </p:cNvPr>
          <p:cNvSpPr>
            <a:spLocks noGrp="1"/>
          </p:cNvSpPr>
          <p:nvPr>
            <p:ph idx="1"/>
          </p:nvPr>
        </p:nvSpPr>
        <p:spPr/>
        <p:txBody>
          <a:bodyPr>
            <a:normAutofit/>
          </a:bodyPr>
          <a:lstStyle/>
          <a:p>
            <a:pPr marL="0" indent="0">
              <a:buNone/>
            </a:pPr>
            <a:r>
              <a:rPr lang="en-IN" b="1" dirty="0"/>
              <a:t>8. According to the notes, which of the following companies utilize Python coding internally?</a:t>
            </a:r>
            <a:r>
              <a:rPr lang="en-IN" dirty="0"/>
              <a:t> </a:t>
            </a:r>
          </a:p>
          <a:p>
            <a:pPr marL="514350" indent="-514350">
              <a:buAutoNum type="alphaUcParenR"/>
            </a:pPr>
            <a:r>
              <a:rPr lang="en-IN" dirty="0"/>
              <a:t>Google and YouTube </a:t>
            </a:r>
          </a:p>
          <a:p>
            <a:pPr marL="0" indent="0">
              <a:buNone/>
            </a:pPr>
            <a:r>
              <a:rPr lang="en-IN" dirty="0"/>
              <a:t>B) NASA </a:t>
            </a:r>
          </a:p>
          <a:p>
            <a:pPr marL="0" indent="0">
              <a:buNone/>
            </a:pPr>
            <a:r>
              <a:rPr lang="en-IN" dirty="0"/>
              <a:t>C) Microsoft and IBM </a:t>
            </a:r>
          </a:p>
          <a:p>
            <a:pPr marL="0" indent="0">
              <a:buNone/>
            </a:pPr>
            <a:r>
              <a:rPr lang="en-IN" b="1" dirty="0"/>
              <a:t>D) All of the above</a:t>
            </a:r>
            <a:endParaRPr lang="en-IN" dirty="0"/>
          </a:p>
        </p:txBody>
      </p:sp>
    </p:spTree>
    <p:extLst>
      <p:ext uri="{BB962C8B-B14F-4D97-AF65-F5344CB8AC3E}">
        <p14:creationId xmlns:p14="http://schemas.microsoft.com/office/powerpoint/2010/main" val="668202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849C-55E4-85F0-AACF-858DB470F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51B44-159C-B123-86D1-4EC6D4FFFF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673984-A20F-FE99-B335-CF9B17EAA5E2}"/>
              </a:ext>
            </a:extLst>
          </p:cNvPr>
          <p:cNvSpPr>
            <a:spLocks noGrp="1"/>
          </p:cNvSpPr>
          <p:nvPr>
            <p:ph idx="1"/>
          </p:nvPr>
        </p:nvSpPr>
        <p:spPr/>
        <p:txBody>
          <a:bodyPr>
            <a:normAutofit/>
          </a:bodyPr>
          <a:lstStyle/>
          <a:p>
            <a:pPr marL="0" indent="0">
              <a:buNone/>
            </a:pPr>
            <a:r>
              <a:rPr lang="en-IN" b="1" dirty="0"/>
              <a:t>9. What happens if the Python interpreter finds syntax errors during the internal compilation process?</a:t>
            </a:r>
            <a:r>
              <a:rPr lang="en-IN" dirty="0"/>
              <a:t> </a:t>
            </a:r>
          </a:p>
          <a:p>
            <a:pPr marL="514350" indent="-514350">
              <a:buAutoNum type="alphaUcParenR"/>
            </a:pPr>
            <a:r>
              <a:rPr lang="en-IN" dirty="0"/>
              <a:t>The PVM executes the code anyway and ignores the error. </a:t>
            </a:r>
          </a:p>
          <a:p>
            <a:pPr marL="0" indent="0">
              <a:buNone/>
            </a:pPr>
            <a:r>
              <a:rPr lang="en-IN" dirty="0"/>
              <a:t>B) The interpreter raises syntax errors and the program does not execute. </a:t>
            </a:r>
          </a:p>
          <a:p>
            <a:pPr marL="0" indent="0">
              <a:buNone/>
            </a:pPr>
            <a:r>
              <a:rPr lang="en-IN" dirty="0"/>
              <a:t>C) The program runs but provides inconsistent results. </a:t>
            </a:r>
          </a:p>
          <a:p>
            <a:pPr marL="0" indent="0">
              <a:buNone/>
            </a:pPr>
            <a:r>
              <a:rPr lang="en-IN" dirty="0"/>
              <a:t>D) The programmer must explicitly compile the code to see the errors. </a:t>
            </a:r>
          </a:p>
        </p:txBody>
      </p:sp>
    </p:spTree>
    <p:extLst>
      <p:ext uri="{BB962C8B-B14F-4D97-AF65-F5344CB8AC3E}">
        <p14:creationId xmlns:p14="http://schemas.microsoft.com/office/powerpoint/2010/main" val="847167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DA44E-C44F-1A40-D1C6-9DA40B9E5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119CB-7369-682E-83CF-A8284E575A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E49C11-BAB9-36CC-D6D7-BEF0A3A4B1D1}"/>
              </a:ext>
            </a:extLst>
          </p:cNvPr>
          <p:cNvSpPr>
            <a:spLocks noGrp="1"/>
          </p:cNvSpPr>
          <p:nvPr>
            <p:ph idx="1"/>
          </p:nvPr>
        </p:nvSpPr>
        <p:spPr/>
        <p:txBody>
          <a:bodyPr>
            <a:normAutofit/>
          </a:bodyPr>
          <a:lstStyle/>
          <a:p>
            <a:pPr marL="0" indent="0">
              <a:buNone/>
            </a:pPr>
            <a:r>
              <a:rPr lang="en-IN" b="1" dirty="0"/>
              <a:t>9. What happens if the Python interpreter finds syntax errors during the internal compilation process?</a:t>
            </a:r>
            <a:r>
              <a:rPr lang="en-IN" dirty="0"/>
              <a:t> </a:t>
            </a:r>
          </a:p>
          <a:p>
            <a:pPr marL="514350" indent="-514350">
              <a:buAutoNum type="alphaUcParenR"/>
            </a:pPr>
            <a:r>
              <a:rPr lang="en-IN" dirty="0"/>
              <a:t>The PVM executes the code anyway and ignores the error. </a:t>
            </a:r>
          </a:p>
          <a:p>
            <a:pPr marL="0" indent="0">
              <a:buNone/>
            </a:pPr>
            <a:r>
              <a:rPr lang="en-IN" b="1" dirty="0"/>
              <a:t>B) The interpreter raises syntax errors and the program does not execute.</a:t>
            </a:r>
            <a:r>
              <a:rPr lang="en-IN" dirty="0"/>
              <a:t> </a:t>
            </a:r>
          </a:p>
          <a:p>
            <a:pPr marL="0" indent="0">
              <a:buNone/>
            </a:pPr>
            <a:r>
              <a:rPr lang="en-IN" dirty="0"/>
              <a:t>C) The program runs but provides inconsistent results. </a:t>
            </a:r>
          </a:p>
          <a:p>
            <a:pPr marL="0" indent="0">
              <a:buNone/>
            </a:pPr>
            <a:r>
              <a:rPr lang="en-IN" dirty="0"/>
              <a:t>D) The programmer must explicitly compile the code to see the errors. </a:t>
            </a:r>
          </a:p>
        </p:txBody>
      </p:sp>
    </p:spTree>
    <p:extLst>
      <p:ext uri="{BB962C8B-B14F-4D97-AF65-F5344CB8AC3E}">
        <p14:creationId xmlns:p14="http://schemas.microsoft.com/office/powerpoint/2010/main" val="16268468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BAB7-8A81-6E53-442F-7FC60B10B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1E079-C6EF-FEDC-39D9-95DB151783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F3FDED-F43B-C8B4-7BAE-38CB8624289A}"/>
              </a:ext>
            </a:extLst>
          </p:cNvPr>
          <p:cNvSpPr>
            <a:spLocks noGrp="1"/>
          </p:cNvSpPr>
          <p:nvPr>
            <p:ph idx="1"/>
          </p:nvPr>
        </p:nvSpPr>
        <p:spPr/>
        <p:txBody>
          <a:bodyPr>
            <a:normAutofit/>
          </a:bodyPr>
          <a:lstStyle/>
          <a:p>
            <a:pPr marL="0" indent="0">
              <a:buNone/>
            </a:pPr>
            <a:r>
              <a:rPr lang="en-IN" b="1" dirty="0"/>
              <a:t>10. Roughly how many keywords are available in Python according to its basic features?</a:t>
            </a:r>
            <a:r>
              <a:rPr lang="en-IN" dirty="0"/>
              <a:t> </a:t>
            </a:r>
          </a:p>
          <a:p>
            <a:pPr marL="514350" indent="-514350">
              <a:buAutoNum type="alphaUcParenR"/>
            </a:pPr>
            <a:r>
              <a:rPr lang="en-IN" dirty="0"/>
              <a:t>10+ </a:t>
            </a:r>
          </a:p>
          <a:p>
            <a:pPr marL="0" indent="0">
              <a:buNone/>
            </a:pPr>
            <a:r>
              <a:rPr lang="en-IN" dirty="0"/>
              <a:t>B) 20+ </a:t>
            </a:r>
          </a:p>
          <a:p>
            <a:pPr marL="0" indent="0">
              <a:buNone/>
            </a:pPr>
            <a:r>
              <a:rPr lang="en-IN" dirty="0"/>
              <a:t>C) 30+ </a:t>
            </a:r>
          </a:p>
          <a:p>
            <a:pPr marL="0" indent="0">
              <a:buNone/>
            </a:pPr>
            <a:r>
              <a:rPr lang="en-IN" dirty="0"/>
              <a:t>D) 100+</a:t>
            </a:r>
            <a:endParaRPr lang="en-US" dirty="0"/>
          </a:p>
        </p:txBody>
      </p:sp>
    </p:spTree>
    <p:extLst>
      <p:ext uri="{BB962C8B-B14F-4D97-AF65-F5344CB8AC3E}">
        <p14:creationId xmlns:p14="http://schemas.microsoft.com/office/powerpoint/2010/main" val="18565206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50955-61D8-F8EC-5E69-67DCD929B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8BD4D-5AB8-DB90-087B-7E5A131510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7737F8-F342-8216-230F-AE06ADABD944}"/>
              </a:ext>
            </a:extLst>
          </p:cNvPr>
          <p:cNvSpPr>
            <a:spLocks noGrp="1"/>
          </p:cNvSpPr>
          <p:nvPr>
            <p:ph idx="1"/>
          </p:nvPr>
        </p:nvSpPr>
        <p:spPr/>
        <p:txBody>
          <a:bodyPr>
            <a:normAutofit/>
          </a:bodyPr>
          <a:lstStyle/>
          <a:p>
            <a:pPr marL="0" indent="0">
              <a:buNone/>
            </a:pPr>
            <a:r>
              <a:rPr lang="en-IN" b="1" dirty="0"/>
              <a:t>10. Roughly how many keywords are available in Python according to its basic features?</a:t>
            </a:r>
            <a:r>
              <a:rPr lang="en-IN" dirty="0"/>
              <a:t> </a:t>
            </a:r>
          </a:p>
          <a:p>
            <a:pPr marL="514350" indent="-514350">
              <a:buAutoNum type="alphaUcParenR"/>
            </a:pPr>
            <a:r>
              <a:rPr lang="en-IN" dirty="0"/>
              <a:t>10+ </a:t>
            </a:r>
          </a:p>
          <a:p>
            <a:pPr marL="0" indent="0">
              <a:buNone/>
            </a:pPr>
            <a:r>
              <a:rPr lang="en-IN" dirty="0"/>
              <a:t>B) 20+ </a:t>
            </a:r>
          </a:p>
          <a:p>
            <a:pPr marL="0" indent="0">
              <a:buNone/>
            </a:pPr>
            <a:r>
              <a:rPr lang="en-IN" b="1" dirty="0"/>
              <a:t>C) 30+</a:t>
            </a:r>
            <a:r>
              <a:rPr lang="en-IN" dirty="0"/>
              <a:t> </a:t>
            </a:r>
          </a:p>
          <a:p>
            <a:pPr marL="0" indent="0">
              <a:buNone/>
            </a:pPr>
            <a:r>
              <a:rPr lang="en-IN" dirty="0"/>
              <a:t>D) 100+</a:t>
            </a:r>
            <a:endParaRPr lang="en-US" dirty="0"/>
          </a:p>
        </p:txBody>
      </p:sp>
    </p:spTree>
    <p:extLst>
      <p:ext uri="{BB962C8B-B14F-4D97-AF65-F5344CB8AC3E}">
        <p14:creationId xmlns:p14="http://schemas.microsoft.com/office/powerpoint/2010/main" val="2927851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3384</TotalTime>
  <Words>3167</Words>
  <Application>Microsoft Macintosh PowerPoint</Application>
  <PresentationFormat>Widescreen</PresentationFormat>
  <Paragraphs>223</Paragraphs>
  <Slides>40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Aptos</vt:lpstr>
      <vt:lpstr>Aptos Display</vt:lpstr>
      <vt:lpstr>Arial</vt:lpstr>
      <vt:lpstr>Courier New</vt:lpstr>
      <vt:lpstr>Google Sans</vt:lpstr>
      <vt:lpstr>Google Sans Code</vt:lpstr>
      <vt:lpstr>Google Sans Text</vt:lpstr>
      <vt:lpstr>Nunito</vt:lpstr>
      <vt:lpstr>Studio-Feixen-Sans</vt:lpstr>
      <vt:lpstr>Office Theme</vt:lpstr>
      <vt:lpstr>Python Introduction</vt:lpstr>
      <vt:lpstr>1. Language Introduction and History</vt:lpstr>
      <vt:lpstr>2. Hybrid Features</vt:lpstr>
      <vt:lpstr>3. Application Areas</vt:lpstr>
      <vt:lpstr>4. Key Features of Python</vt:lpstr>
      <vt:lpstr>4. Key Features of Python (cont.)</vt:lpstr>
      <vt:lpstr>5. Identifiers in Python</vt:lpstr>
      <vt:lpstr>Special Underscore Conventions:</vt:lpstr>
      <vt:lpstr>Python Background</vt:lpstr>
      <vt:lpstr>Key Milestones</vt:lpstr>
      <vt:lpstr>Key Milestones</vt:lpstr>
      <vt:lpstr>Popularity and Usage</vt:lpstr>
      <vt:lpstr>PowerPoint Presentation</vt:lpstr>
      <vt:lpstr>Features of Python</vt:lpstr>
      <vt:lpstr>Features of Python</vt:lpstr>
      <vt:lpstr>Key limitations of Python</vt:lpstr>
      <vt:lpstr>Different ways to execute Python Code</vt:lpstr>
      <vt:lpstr>2. Script File Executions</vt:lpstr>
      <vt:lpstr>3. Development Tools</vt:lpstr>
      <vt:lpstr>4. Browser &amp; Notebook Environments</vt:lpstr>
      <vt:lpstr>MCQs Time</vt:lpstr>
      <vt:lpstr>MCQs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168</cp:revision>
  <dcterms:created xsi:type="dcterms:W3CDTF">2026-01-15T04:12:31Z</dcterms:created>
  <dcterms:modified xsi:type="dcterms:W3CDTF">2026-08-13T04:43:55Z</dcterms:modified>
</cp:coreProperties>
</file>