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4" r:id="rId13"/>
    <p:sldId id="268" r:id="rId14"/>
    <p:sldId id="285" r:id="rId15"/>
    <p:sldId id="269" r:id="rId16"/>
    <p:sldId id="286" r:id="rId17"/>
    <p:sldId id="270" r:id="rId18"/>
    <p:sldId id="287" r:id="rId19"/>
    <p:sldId id="271" r:id="rId20"/>
    <p:sldId id="288" r:id="rId21"/>
    <p:sldId id="272" r:id="rId22"/>
    <p:sldId id="289" r:id="rId23"/>
    <p:sldId id="273" r:id="rId24"/>
    <p:sldId id="290" r:id="rId25"/>
    <p:sldId id="282" r:id="rId26"/>
    <p:sldId id="291" r:id="rId27"/>
    <p:sldId id="274" r:id="rId28"/>
    <p:sldId id="292" r:id="rId29"/>
    <p:sldId id="275" r:id="rId30"/>
    <p:sldId id="293" r:id="rId31"/>
    <p:sldId id="276" r:id="rId32"/>
    <p:sldId id="294" r:id="rId33"/>
    <p:sldId id="277" r:id="rId34"/>
    <p:sldId id="295" r:id="rId35"/>
    <p:sldId id="283" r:id="rId36"/>
    <p:sldId id="296" r:id="rId37"/>
    <p:sldId id="278" r:id="rId38"/>
    <p:sldId id="297" r:id="rId39"/>
    <p:sldId id="279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66" r:id="rId52"/>
    <p:sldId id="367" r:id="rId53"/>
    <p:sldId id="36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65"/>
    <p:restoredTop sz="94476"/>
  </p:normalViewPr>
  <p:slideViewPr>
    <p:cSldViewPr snapToGrid="0">
      <p:cViewPr varScale="1">
        <p:scale>
          <a:sx n="84" d="100"/>
          <a:sy n="84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memory-management-in-python/" TargetMode="Externa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ython/python_sys_getsizeof_method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Identifiers and </a:t>
            </a:r>
            <a:r>
              <a:rPr lang="en-US"/>
              <a:t>Reserved Keywords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8BB9-B56A-6E42-3BBE-35C27D6F3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DBA36-0A1A-2F13-023E-5C7A038E4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An </a:t>
            </a:r>
            <a:r>
              <a:rPr lang="en-IN" b="1" u="none" strike="noStrike" dirty="0">
                <a:effectLst/>
                <a:latin typeface="Google Sans"/>
              </a:rPr>
              <a:t>identifier</a:t>
            </a:r>
            <a:r>
              <a:rPr lang="en-IN" b="0" u="none" strike="noStrike" dirty="0">
                <a:effectLst/>
                <a:latin typeface="Google Sans"/>
              </a:rPr>
              <a:t> is a name used to identify a variable, function, class, module, or other object in Python.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1025" name="Picture 1" descr="page9image24340640">
            <a:extLst>
              <a:ext uri="{FF2B5EF4-FFF2-40B4-BE49-F238E27FC236}">
                <a16:creationId xmlns:a16="http://schemas.microsoft.com/office/drawing/2014/main" id="{D8E5766A-7E61-52EE-DA84-EAEEB747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083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015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BA84-56B9-2CAC-9775-166C298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Rules for Creating Identifiers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9D990-CAD9-B431-22E7-6B3A52CA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Allowed Characters</a:t>
            </a:r>
            <a:r>
              <a:rPr lang="en-IN" b="0" u="none" strike="noStrike" dirty="0">
                <a:effectLst/>
                <a:latin typeface="Google Sans"/>
              </a:rPr>
              <a:t>: Combination of lowercase letters (a-z), uppercase letters (A-Z), digits (0-9), or an underscore (_).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First Character</a:t>
            </a:r>
            <a:r>
              <a:rPr lang="en-IN" b="0" u="none" strike="noStrike" dirty="0">
                <a:effectLst/>
                <a:latin typeface="Google Sans"/>
              </a:rPr>
              <a:t>: Must start with a letter or an underscore. It </a:t>
            </a:r>
            <a:r>
              <a:rPr lang="en-IN" b="1" u="none" strike="noStrike" dirty="0">
                <a:effectLst/>
                <a:latin typeface="Google Sans"/>
              </a:rPr>
              <a:t>cannot</a:t>
            </a:r>
            <a:r>
              <a:rPr lang="en-IN" b="0" u="none" strike="noStrike" dirty="0">
                <a:effectLst/>
                <a:latin typeface="Google Sans"/>
              </a:rPr>
              <a:t> start with a digit.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Case-Sensitivity</a:t>
            </a:r>
            <a:r>
              <a:rPr lang="en-IN" b="0" u="none" strike="noStrike" dirty="0">
                <a:effectLst/>
                <a:latin typeface="Google Sans"/>
              </a:rPr>
              <a:t>: Python is case-sensitive. </a:t>
            </a:r>
            <a:r>
              <a:rPr lang="en-IN" b="0" u="none" strike="noStrike" dirty="0" err="1">
                <a:effectLst/>
                <a:latin typeface="Google Sans"/>
              </a:rPr>
              <a:t>myVar</a:t>
            </a:r>
            <a:r>
              <a:rPr lang="en-IN" b="0" u="none" strike="noStrike" dirty="0">
                <a:effectLst/>
                <a:latin typeface="Google Sans"/>
              </a:rPr>
              <a:t> and </a:t>
            </a:r>
            <a:r>
              <a:rPr lang="en-IN" b="0" u="none" strike="noStrike" dirty="0" err="1">
                <a:effectLst/>
                <a:latin typeface="Google Sans"/>
              </a:rPr>
              <a:t>myvar</a:t>
            </a:r>
            <a:r>
              <a:rPr lang="en-IN" b="0" u="none" strike="noStrike" dirty="0">
                <a:effectLst/>
                <a:latin typeface="Google Sans"/>
              </a:rPr>
              <a:t> are two different identifiers.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No Reserved Keywords</a:t>
            </a:r>
            <a:r>
              <a:rPr lang="en-IN" b="0" u="none" strike="noStrike" dirty="0">
                <a:effectLst/>
                <a:latin typeface="Google Sans"/>
              </a:rPr>
              <a:t>: You cannot use Python keywords (like if, else, while, def, class) as identifiers.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No Special Characters</a:t>
            </a:r>
            <a:r>
              <a:rPr lang="en-IN" b="0" u="none" strike="noStrike" dirty="0">
                <a:effectLst/>
                <a:latin typeface="Google Sans"/>
              </a:rPr>
              <a:t>: Symbols like @, $, %, and ! are not allowed.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Unlimited Length</a:t>
            </a:r>
            <a:r>
              <a:rPr lang="en-IN" b="0" u="none" strike="noStrike" dirty="0">
                <a:effectLst/>
                <a:latin typeface="Google Sans"/>
              </a:rPr>
              <a:t>: Python identifiers can be of any length.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6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6202-2647-3EA1-7A45-62747F97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C828-778B-F3D8-34AE-3BC2B4630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Use descriptive names (e.g., </a:t>
            </a:r>
            <a:r>
              <a:rPr lang="en-IN" b="0" u="none" strike="noStrike" dirty="0" err="1">
                <a:effectLst/>
                <a:latin typeface="Google Sans"/>
              </a:rPr>
              <a:t>user_age</a:t>
            </a:r>
            <a:r>
              <a:rPr lang="en-IN" b="0" u="none" strike="noStrike" dirty="0">
                <a:effectLst/>
                <a:latin typeface="Google Sans"/>
              </a:rPr>
              <a:t> instead of </a:t>
            </a:r>
            <a:r>
              <a:rPr lang="en-IN" b="0" u="none" strike="noStrike" dirty="0" err="1">
                <a:effectLst/>
                <a:latin typeface="Google Sans"/>
              </a:rPr>
              <a:t>ua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r>
              <a:rPr lang="en-IN" b="0" u="none" strike="noStrike" dirty="0">
                <a:effectLst/>
                <a:latin typeface="Google Sans"/>
              </a:rPr>
              <a:t>Use lowercase with underscores for functions and variables (</a:t>
            </a:r>
            <a:r>
              <a:rPr lang="en-IN" b="0" u="none" strike="noStrike" dirty="0" err="1">
                <a:effectLst/>
                <a:latin typeface="Google Sans"/>
              </a:rPr>
              <a:t>snake_case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r>
              <a:rPr lang="en-IN" b="0" u="none" strike="noStrike" dirty="0">
                <a:effectLst/>
                <a:latin typeface="Google Sans"/>
              </a:rPr>
              <a:t>Use CamelCase for class names (</a:t>
            </a:r>
            <a:r>
              <a:rPr lang="en-IN" b="0" u="none" strike="noStrike" dirty="0" err="1">
                <a:effectLst/>
                <a:latin typeface="Google Sans"/>
              </a:rPr>
              <a:t>PascalCase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r>
              <a:rPr lang="en-IN" b="0" u="none" strike="noStrike" dirty="0">
                <a:effectLst/>
                <a:latin typeface="Google Sans"/>
              </a:rPr>
              <a:t>Use all uppercase letters for constants (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MAX_VALUE</a:t>
            </a:r>
            <a:r>
              <a:rPr lang="en-IN" b="0" u="none" strike="noStrike" dirty="0">
                <a:effectLst/>
                <a:latin typeface="Google Sans"/>
              </a:rPr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87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FF53-88F9-9769-FF03-76518537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Python Reserved keywords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F23D-7CAC-E6E7-EC22-9BBB1C512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Python keywords</a:t>
            </a:r>
            <a:r>
              <a:rPr lang="en-IN" b="0" u="none" strike="noStrike" dirty="0">
                <a:effectLst/>
                <a:latin typeface="Google Sans"/>
              </a:rPr>
              <a:t> are reserved words that have specific meanings and purposes built into the language. You cannot use these words as ordinary identifiers (like variable names, function names, or class names).</a:t>
            </a:r>
          </a:p>
          <a:p>
            <a:endParaRPr lang="en-US" dirty="0"/>
          </a:p>
          <a:p>
            <a:r>
              <a:rPr lang="en-US" dirty="0"/>
              <a:t>&gt;&gt;&gt; import keyword</a:t>
            </a:r>
          </a:p>
          <a:p>
            <a:r>
              <a:rPr lang="en-US" dirty="0"/>
              <a:t>&gt;&gt;&gt; </a:t>
            </a:r>
            <a:r>
              <a:rPr lang="en-US" dirty="0" err="1"/>
              <a:t>keyword.kwlist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import keyword</a:t>
            </a:r>
          </a:p>
          <a:p>
            <a:pPr marL="0" indent="0">
              <a:buNone/>
            </a:pPr>
            <a:r>
              <a:rPr lang="en-US" dirty="0"/>
              <a:t>print("The list of keywords are : ")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keyword.kwlist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3311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0F5B-22B5-0B70-3528-ED05E61B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Python contains 35 reserved keywords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87FE2-6AF7-6F3B-65CC-201E88BC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Value Keywords:</a:t>
            </a:r>
            <a:r>
              <a:rPr lang="en-IN" b="0" u="none" strike="noStrike" dirty="0">
                <a:effectLst/>
                <a:latin typeface="Google Sans"/>
              </a:rPr>
              <a:t> True, False, None</a:t>
            </a:r>
          </a:p>
          <a:p>
            <a:r>
              <a:rPr lang="en-IN" b="1" u="none" strike="noStrike" dirty="0">
                <a:effectLst/>
                <a:latin typeface="Google Sans"/>
              </a:rPr>
              <a:t>Logical Operators:</a:t>
            </a:r>
            <a:r>
              <a:rPr lang="en-IN" b="0" u="none" strike="noStrike" dirty="0">
                <a:effectLst/>
                <a:latin typeface="Google Sans"/>
              </a:rPr>
              <a:t> and, or, not</a:t>
            </a:r>
          </a:p>
          <a:p>
            <a:r>
              <a:rPr lang="en-IN" b="1" u="none" strike="noStrike" dirty="0">
                <a:effectLst/>
                <a:latin typeface="Google Sans"/>
              </a:rPr>
              <a:t>Control Flow:</a:t>
            </a:r>
            <a:r>
              <a:rPr lang="en-IN" b="0" u="none" strike="noStrike" dirty="0">
                <a:effectLst/>
                <a:latin typeface="Google Sans"/>
              </a:rPr>
              <a:t> if, </a:t>
            </a:r>
            <a:r>
              <a:rPr lang="en-IN" b="0" u="none" strike="noStrike" dirty="0" err="1">
                <a:effectLst/>
                <a:latin typeface="Google Sans"/>
              </a:rPr>
              <a:t>elif</a:t>
            </a:r>
            <a:r>
              <a:rPr lang="en-IN" b="0" u="none" strike="noStrike" dirty="0">
                <a:effectLst/>
                <a:latin typeface="Google Sans"/>
              </a:rPr>
              <a:t>, else</a:t>
            </a:r>
          </a:p>
          <a:p>
            <a:r>
              <a:rPr lang="en-IN" b="1" u="none" strike="noStrike" dirty="0">
                <a:effectLst/>
                <a:latin typeface="Google Sans"/>
              </a:rPr>
              <a:t>Loops:</a:t>
            </a:r>
            <a:r>
              <a:rPr lang="en-IN" b="0" u="none" strike="noStrike" dirty="0">
                <a:effectLst/>
                <a:latin typeface="Google Sans"/>
              </a:rPr>
              <a:t> for, while, break, continue, pass</a:t>
            </a:r>
          </a:p>
          <a:p>
            <a:r>
              <a:rPr lang="en-IN" b="1" u="none" strike="noStrike" dirty="0">
                <a:effectLst/>
                <a:latin typeface="Google Sans"/>
              </a:rPr>
              <a:t>Structural Matching:</a:t>
            </a:r>
            <a:r>
              <a:rPr lang="en-IN" b="0" u="none" strike="noStrike" dirty="0">
                <a:effectLst/>
                <a:latin typeface="Google Sans"/>
              </a:rPr>
              <a:t> match, case</a:t>
            </a:r>
          </a:p>
          <a:p>
            <a:r>
              <a:rPr lang="en-IN" b="1" u="none" strike="noStrike" dirty="0">
                <a:effectLst/>
                <a:latin typeface="Google Sans"/>
              </a:rPr>
              <a:t>Functions &amp; Classes:</a:t>
            </a:r>
            <a:r>
              <a:rPr lang="en-IN" b="0" u="none" strike="noStrike" dirty="0">
                <a:effectLst/>
                <a:latin typeface="Google Sans"/>
              </a:rPr>
              <a:t> def, class, return, lambda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Exception Handling:</a:t>
            </a:r>
            <a:r>
              <a:rPr lang="en-IN" b="0" u="none" strike="noStrike" dirty="0">
                <a:effectLst/>
                <a:latin typeface="Google Sans"/>
              </a:rPr>
              <a:t> try, except, finally, raise, assert</a:t>
            </a:r>
          </a:p>
          <a:p>
            <a:r>
              <a:rPr lang="en-IN" b="1" u="none" strike="noStrike" dirty="0">
                <a:effectLst/>
                <a:latin typeface="Google Sans"/>
              </a:rPr>
              <a:t>Importing Modules:</a:t>
            </a:r>
            <a:r>
              <a:rPr lang="en-IN" b="0" u="none" strike="noStrike" dirty="0">
                <a:effectLst/>
                <a:latin typeface="Google Sans"/>
              </a:rPr>
              <a:t> import, from, as</a:t>
            </a:r>
          </a:p>
          <a:p>
            <a:r>
              <a:rPr lang="en-IN" b="1" u="none" strike="noStrike" dirty="0">
                <a:effectLst/>
                <a:latin typeface="Google Sans"/>
              </a:rPr>
              <a:t>Variable Scope:</a:t>
            </a:r>
            <a:r>
              <a:rPr lang="en-IN" b="0" u="none" strike="noStrike" dirty="0">
                <a:effectLst/>
                <a:latin typeface="Google Sans"/>
              </a:rPr>
              <a:t> global, nonlocal</a:t>
            </a:r>
          </a:p>
          <a:p>
            <a:r>
              <a:rPr lang="en-IN" b="1" u="none" strike="noStrike" dirty="0">
                <a:effectLst/>
                <a:latin typeface="Google Sans"/>
              </a:rPr>
              <a:t>Asynchronous Programming:</a:t>
            </a:r>
            <a:r>
              <a:rPr lang="en-IN" b="0" u="none" strike="noStrike" dirty="0">
                <a:effectLst/>
                <a:latin typeface="Google Sans"/>
              </a:rPr>
              <a:t> async, await</a:t>
            </a:r>
          </a:p>
          <a:p>
            <a:r>
              <a:rPr lang="en-IN" b="1" u="none" strike="noStrike" dirty="0">
                <a:effectLst/>
                <a:latin typeface="Google Sans"/>
              </a:rPr>
              <a:t>Context Managers:</a:t>
            </a:r>
            <a:r>
              <a:rPr lang="en-IN" b="0" u="none" strike="noStrike" dirty="0">
                <a:effectLst/>
                <a:latin typeface="Google Sans"/>
              </a:rPr>
              <a:t> with</a:t>
            </a:r>
          </a:p>
          <a:p>
            <a:r>
              <a:rPr lang="en-IN" b="1" u="none" strike="noStrike" dirty="0">
                <a:effectLst/>
                <a:latin typeface="Google Sans"/>
              </a:rPr>
              <a:t>Object Identity &amp; Membership:</a:t>
            </a:r>
            <a:r>
              <a:rPr lang="en-IN" b="0" u="none" strike="noStrike" dirty="0">
                <a:effectLst/>
                <a:latin typeface="Google Sans"/>
              </a:rPr>
              <a:t> is, in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Deleting Objects:</a:t>
            </a:r>
            <a:r>
              <a:rPr lang="en-IN" b="0" u="none" strike="noStrike" dirty="0">
                <a:effectLst/>
                <a:latin typeface="Google Sans"/>
              </a:rPr>
              <a:t> del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57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2BB5-4CDC-62EE-B2F7-65F3805C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623DB-F21D-3764-7BEC-C593B5DCF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Python has </a:t>
            </a:r>
            <a:r>
              <a:rPr lang="en-IN" b="1" u="none" strike="noStrike" dirty="0">
                <a:effectLst/>
                <a:latin typeface="Google Sans"/>
              </a:rPr>
              <a:t>built-in data types</a:t>
            </a:r>
            <a:r>
              <a:rPr lang="en-IN" b="0" u="none" strike="noStrike" dirty="0">
                <a:effectLst/>
                <a:latin typeface="Google Sans"/>
              </a:rPr>
              <a:t> categorized into numeric, sequence, text, mapping, set, and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types.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13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6029-A717-8CD3-E1E8-3FAEBBB7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A624DC-BC0D-D80D-678D-8C7F2E8210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743584"/>
              </p:ext>
            </p:extLst>
          </p:nvPr>
        </p:nvGraphicFramePr>
        <p:xfrm>
          <a:off x="838200" y="1825625"/>
          <a:ext cx="10515600" cy="495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182926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101277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996995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42396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CategoryData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57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"Hello"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Character string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9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Numeric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int, float, complex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 3.14, 1j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Whole numbers, decimals, imaginary numbers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83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list, tuple, 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[1, 2], (1, 2), range(5)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Ordered collections of items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06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Mapping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{"key": "value"}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Key-value pairs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710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set,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frozenset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{1, 2},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frozenset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({1, 2})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Unordered collections of unique items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38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Truth values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0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bytes,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bytearray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b"Hello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bytearray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Binary data manipulation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96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TypeNone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the absence of a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34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95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5767C-FFB7-1EBD-2EC4-5D96F652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"/>
            <a:ext cx="10515600" cy="5994083"/>
          </a:xfrm>
        </p:spPr>
        <p:txBody>
          <a:bodyPr>
            <a:normAutofit fontScale="700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Text Type</a:t>
            </a:r>
          </a:p>
          <a:p>
            <a:r>
              <a:rPr lang="en-IN" b="0" u="none" strike="noStrike" dirty="0">
                <a:effectLst/>
                <a:latin typeface="Google Sans"/>
              </a:rPr>
              <a:t>str: Holds text data wrapped in single, double, or triple quotes.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Numeric Types</a:t>
            </a:r>
          </a:p>
          <a:p>
            <a:r>
              <a:rPr lang="en-IN" b="0" u="none" strike="noStrike" dirty="0">
                <a:effectLst/>
                <a:latin typeface="Google Sans"/>
              </a:rPr>
              <a:t>int: Holds whole numbers of unlimited length.</a:t>
            </a:r>
          </a:p>
          <a:p>
            <a:r>
              <a:rPr lang="en-IN" b="0" u="none" strike="noStrike" dirty="0">
                <a:effectLst/>
                <a:latin typeface="Google Sans"/>
              </a:rPr>
              <a:t>float: Holds floating-point numbers containing decimals.</a:t>
            </a:r>
          </a:p>
          <a:p>
            <a:r>
              <a:rPr lang="en-IN" b="0" u="none" strike="noStrike" dirty="0">
                <a:effectLst/>
                <a:latin typeface="Google Sans"/>
              </a:rPr>
              <a:t>complex: Holds complex numbers written with a "j" as the imaginary part.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Sequence Types</a:t>
            </a:r>
          </a:p>
          <a:p>
            <a:r>
              <a:rPr lang="en-IN" b="0" u="none" strike="noStrike" dirty="0">
                <a:effectLst/>
                <a:latin typeface="Google Sans"/>
              </a:rPr>
              <a:t>list: Ordered, mutable (changeable) collection. Allows duplicate members.</a:t>
            </a:r>
          </a:p>
          <a:p>
            <a:r>
              <a:rPr lang="en-IN" b="0" u="none" strike="noStrike" dirty="0">
                <a:effectLst/>
                <a:latin typeface="Google Sans"/>
              </a:rPr>
              <a:t>tuple: Ordered, immutable (unchangeable) collection. Allows duplicate members.</a:t>
            </a:r>
          </a:p>
          <a:p>
            <a:r>
              <a:rPr lang="en-IN" b="0" u="none" strike="noStrike" dirty="0">
                <a:effectLst/>
                <a:latin typeface="Google Sans"/>
              </a:rPr>
              <a:t>range: Represents an immutable sequence of numbers, commonly used in loops.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Mapping Type</a:t>
            </a:r>
          </a:p>
          <a:p>
            <a:r>
              <a:rPr lang="en-IN" b="0" u="none" strike="noStrike" dirty="0" err="1">
                <a:effectLst/>
                <a:latin typeface="Google Sans"/>
              </a:rPr>
              <a:t>dict</a:t>
            </a:r>
            <a:r>
              <a:rPr lang="en-IN" b="0" u="none" strike="noStrike" dirty="0">
                <a:effectLst/>
                <a:latin typeface="Google Sans"/>
              </a:rPr>
              <a:t>: Unordered, mutable collection of key-value pairs. No duplicate keys allowed.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Set Types</a:t>
            </a:r>
          </a:p>
          <a:p>
            <a:r>
              <a:rPr lang="en-IN" b="0" u="none" strike="noStrike" dirty="0">
                <a:effectLst/>
                <a:latin typeface="Google Sans"/>
              </a:rPr>
              <a:t>set: Unordered, mutable collection. No duplicate members.</a:t>
            </a:r>
          </a:p>
          <a:p>
            <a:r>
              <a:rPr lang="en-IN" b="0" u="none" strike="noStrike" dirty="0" err="1">
                <a:effectLst/>
                <a:latin typeface="Google Sans"/>
              </a:rPr>
              <a:t>frozenset</a:t>
            </a:r>
            <a:r>
              <a:rPr lang="en-IN" b="0" u="none" strike="noStrike" dirty="0">
                <a:effectLst/>
                <a:latin typeface="Google Sans"/>
              </a:rPr>
              <a:t>: Immutable version of a set.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Boolean Type</a:t>
            </a:r>
          </a:p>
          <a:p>
            <a:r>
              <a:rPr lang="en-IN" b="0" u="none" strike="noStrike" dirty="0">
                <a:effectLst/>
                <a:latin typeface="Google Sans"/>
              </a:rPr>
              <a:t>bool: Evaluates to either True or False.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CFB0-F3CD-71F9-CF3D-358355FF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B159-7909-DB97-F6C4-869E0433B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find the data type of any object by using the built-in </a:t>
            </a:r>
            <a:r>
              <a:rPr lang="en-IN" b="1" u="none" strike="noStrike" dirty="0">
                <a:effectLst/>
                <a:latin typeface="Google Sans"/>
              </a:rPr>
              <a:t>type() function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</a:p>
          <a:p>
            <a:r>
              <a:rPr lang="en-US" dirty="0"/>
              <a:t>x = 5</a:t>
            </a:r>
          </a:p>
          <a:p>
            <a:r>
              <a:rPr lang="en-US" dirty="0"/>
              <a:t>print(type(x))  # Output: &lt;class 'int'&gt;</a:t>
            </a:r>
          </a:p>
          <a:p>
            <a:endParaRPr lang="en-US" dirty="0"/>
          </a:p>
          <a:p>
            <a:r>
              <a:rPr lang="en-US" dirty="0"/>
              <a:t>y = ["apple", "banana"]</a:t>
            </a:r>
          </a:p>
          <a:p>
            <a:r>
              <a:rPr lang="en-US" dirty="0"/>
              <a:t>print(type(y))  # Output: &lt;class 'list'&gt;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23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F3FA-CFFC-F6B0-3668-A22F82A0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E3FBA-6792-54DD-205A-0B61E6E15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1. Which of the following is a set of rules for defining valid identifiers in Python?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A) Must start with a digit and can contain the symbol $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Can only contain uppercase alphabets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Allowed characters are alphabets, digits, and underscores, but it cannot start with a digit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There is a strict 15-character length limit for all names</a:t>
            </a:r>
          </a:p>
        </p:txBody>
      </p:sp>
    </p:spTree>
    <p:extLst>
      <p:ext uri="{BB962C8B-B14F-4D97-AF65-F5344CB8AC3E}">
        <p14:creationId xmlns:p14="http://schemas.microsoft.com/office/powerpoint/2010/main" val="481365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E00A7-6F5A-44DA-E2B2-D92D61FF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6A41-279A-4C63-8AE0-52B34523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D1702-8009-5CC4-BB10-7AD15E74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1. Which of the following is a set of rules for defining valid identifiers in Python?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A) Must start with a digit and can contain the symbol $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Can only contain uppercase alphabets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Allowed characters are alphabets, digits, and underscores, but it cannot start with a digit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There is a strict 15-character length limit for all names</a:t>
            </a:r>
          </a:p>
        </p:txBody>
      </p:sp>
    </p:spTree>
    <p:extLst>
      <p:ext uri="{BB962C8B-B14F-4D97-AF65-F5344CB8AC3E}">
        <p14:creationId xmlns:p14="http://schemas.microsoft.com/office/powerpoint/2010/main" val="319925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B7BF-EF8F-FF2E-C93A-EB8BC87B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FA47-A793-29A2-09EF-96ADDA23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ECBA-0F5A-0D17-6533-6FB0A34BA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of the following identifiers would Python treat as private?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total_123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123total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</a:t>
            </a:r>
            <a:r>
              <a:rPr lang="en-IN" dirty="0">
                <a:effectLst/>
                <a:latin typeface="Google Sans Code"/>
              </a:rPr>
              <a:t>_cash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ca$h</a:t>
            </a:r>
            <a:r>
              <a:rPr lang="en-IN" dirty="0">
                <a:effectLst/>
              </a:rPr>
              <a:t> </a:t>
            </a:r>
            <a:r>
              <a:rPr lang="en-IN" b="1" dirty="0">
                <a:effectLst/>
              </a:rPr>
              <a:t>Citation: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7127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9045-E649-7D48-BD7E-0883EF78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7178-5F9E-39A6-15B3-2167D221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6001-B3E9-FB86-F63C-5AE64EF1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of the following identifiers would Python treat as private?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total_123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123total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</a:t>
            </a:r>
            <a:r>
              <a:rPr lang="en-IN" b="0" dirty="0">
                <a:effectLst/>
                <a:latin typeface="Google Sans Code"/>
              </a:rPr>
              <a:t>_cash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ca$h</a:t>
            </a:r>
            <a:r>
              <a:rPr lang="en-IN" dirty="0">
                <a:effectLst/>
              </a:rPr>
              <a:t> </a:t>
            </a:r>
            <a:r>
              <a:rPr lang="en-IN" b="1" dirty="0">
                <a:effectLst/>
              </a:rPr>
              <a:t>Citation: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1330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2EAD-12BA-2C7B-FF6C-2218424E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86A7-A821-53F4-7564-E2EF32CE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A736C-E34F-88C8-D5DF-DB97F1AA2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3. In Python, are the identifiers </a:t>
            </a:r>
            <a:r>
              <a:rPr lang="en-IN" b="0" dirty="0">
                <a:effectLst/>
                <a:latin typeface="Google Sans Code"/>
              </a:rPr>
              <a:t>total</a:t>
            </a:r>
            <a:r>
              <a:rPr lang="en-IN" b="1" dirty="0">
                <a:effectLst/>
              </a:rPr>
              <a:t> and </a:t>
            </a:r>
            <a:r>
              <a:rPr lang="en-IN" b="0" dirty="0">
                <a:effectLst/>
                <a:latin typeface="Google Sans Code"/>
              </a:rPr>
              <a:t>TOTAL</a:t>
            </a:r>
            <a:r>
              <a:rPr lang="en-IN" b="1" dirty="0">
                <a:effectLst/>
              </a:rPr>
              <a:t> considered the same?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No, because Python is a case-sensitive language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Yes, because Python ignores case in variable names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Yes, but only if they are assigned the same value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No, because TOTAL is a reserved keyword</a:t>
            </a:r>
          </a:p>
        </p:txBody>
      </p:sp>
    </p:spTree>
    <p:extLst>
      <p:ext uri="{BB962C8B-B14F-4D97-AF65-F5344CB8AC3E}">
        <p14:creationId xmlns:p14="http://schemas.microsoft.com/office/powerpoint/2010/main" val="4159360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CF7B-77A2-C47C-8CAC-63A47114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A523-C168-E4E3-AFA3-1FA3B27F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09713-1A64-2339-B961-A8168CE3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3. In Python, are the identifiers </a:t>
            </a:r>
            <a:r>
              <a:rPr lang="en-IN" b="0" dirty="0">
                <a:effectLst/>
                <a:latin typeface="Google Sans Code"/>
              </a:rPr>
              <a:t>total</a:t>
            </a:r>
            <a:r>
              <a:rPr lang="en-IN" b="1" dirty="0">
                <a:effectLst/>
              </a:rPr>
              <a:t> and </a:t>
            </a:r>
            <a:r>
              <a:rPr lang="en-IN" b="0" dirty="0">
                <a:effectLst/>
                <a:latin typeface="Google Sans Code"/>
              </a:rPr>
              <a:t>TOTAL</a:t>
            </a:r>
            <a:r>
              <a:rPr lang="en-IN" b="1" dirty="0">
                <a:effectLst/>
              </a:rPr>
              <a:t> considered the same?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b="1" dirty="0">
                <a:effectLst/>
              </a:rPr>
              <a:t>No, because Python is a case-sensitive language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Yes, because Python ignores case in variable names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Yes, but only if they are assigned the same value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No, because TOTAL is a reserved keyword</a:t>
            </a:r>
          </a:p>
        </p:txBody>
      </p:sp>
    </p:spTree>
    <p:extLst>
      <p:ext uri="{BB962C8B-B14F-4D97-AF65-F5344CB8AC3E}">
        <p14:creationId xmlns:p14="http://schemas.microsoft.com/office/powerpoint/2010/main" val="2511589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0E86-F6BD-ADC8-6347-1B9F5F2C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2971-16AC-D8FB-B703-5B71E12D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2930-FF6C-D85E-0911-33EC0804F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What happens if a programmer attempts to use a reserved word like </a:t>
            </a:r>
            <a:r>
              <a:rPr lang="en-IN" b="0" dirty="0">
                <a:effectLst/>
                <a:latin typeface="Google Sans Code"/>
              </a:rPr>
              <a:t>def</a:t>
            </a:r>
            <a:r>
              <a:rPr lang="en-IN" b="1" dirty="0">
                <a:effectLst/>
              </a:rPr>
              <a:t> or </a:t>
            </a:r>
            <a:r>
              <a:rPr lang="en-IN" b="0" dirty="0">
                <a:effectLst/>
                <a:latin typeface="Google Sans Code"/>
              </a:rPr>
              <a:t>if</a:t>
            </a:r>
            <a:r>
              <a:rPr lang="en-IN" b="1" dirty="0">
                <a:effectLst/>
              </a:rPr>
              <a:t> as an identifier name?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Python redefines the keyword for that script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It results in a </a:t>
            </a:r>
            <a:r>
              <a:rPr lang="en-IN" dirty="0" err="1">
                <a:effectLst/>
              </a:rPr>
              <a:t>SyntaxError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Python automatically adds an underscore to the name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 program runs but performs unexpected logical shifts</a:t>
            </a:r>
          </a:p>
        </p:txBody>
      </p:sp>
    </p:spTree>
    <p:extLst>
      <p:ext uri="{BB962C8B-B14F-4D97-AF65-F5344CB8AC3E}">
        <p14:creationId xmlns:p14="http://schemas.microsoft.com/office/powerpoint/2010/main" val="29170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5A77-28E9-4B83-35EE-02D1A287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5D26-751B-5FE5-A751-67DF8D2C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31DDC-D8C7-7139-228B-BB9FAC5E5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What happens if a programmer attempts to use a reserved word like </a:t>
            </a:r>
            <a:r>
              <a:rPr lang="en-IN" b="0" dirty="0">
                <a:effectLst/>
                <a:latin typeface="Google Sans Code"/>
              </a:rPr>
              <a:t>def</a:t>
            </a:r>
            <a:r>
              <a:rPr lang="en-IN" b="1" dirty="0">
                <a:effectLst/>
              </a:rPr>
              <a:t> or </a:t>
            </a:r>
            <a:r>
              <a:rPr lang="en-IN" b="0" dirty="0">
                <a:effectLst/>
                <a:latin typeface="Google Sans Code"/>
              </a:rPr>
              <a:t>if</a:t>
            </a:r>
            <a:r>
              <a:rPr lang="en-IN" b="1" dirty="0">
                <a:effectLst/>
              </a:rPr>
              <a:t> as an identifier name?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Python redefines the keyword for that script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B) It results in a </a:t>
            </a:r>
            <a:r>
              <a:rPr lang="en-IN" b="1" dirty="0" err="1">
                <a:effectLst/>
              </a:rPr>
              <a:t>SyntaxError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Python automatically adds an underscore to the name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 program runs but performs unexpected logical shifts</a:t>
            </a:r>
          </a:p>
        </p:txBody>
      </p:sp>
    </p:spTree>
    <p:extLst>
      <p:ext uri="{BB962C8B-B14F-4D97-AF65-F5344CB8AC3E}">
        <p14:creationId xmlns:p14="http://schemas.microsoft.com/office/powerpoint/2010/main" val="530070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B4A4-0441-2342-0708-A5D02747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DF1D-62EC-ED22-0FE1-40854243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2E31-C373-4957-60E1-40C37B3F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What is indicated by an identifier that starts and ends with two underscore symbols, such as </a:t>
            </a:r>
            <a:r>
              <a:rPr lang="en-IN" b="0" dirty="0">
                <a:effectLst/>
                <a:latin typeface="Google Sans Code"/>
              </a:rPr>
              <a:t>__add__</a:t>
            </a:r>
            <a:r>
              <a:rPr lang="en-IN" b="1" dirty="0">
                <a:effectLst/>
              </a:rPr>
              <a:t>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It is a strongly private identifier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it is a local variable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It is a language-defined special name, also known as a magic method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It is a constant that cannot be changed</a:t>
            </a:r>
          </a:p>
        </p:txBody>
      </p:sp>
    </p:spTree>
    <p:extLst>
      <p:ext uri="{BB962C8B-B14F-4D97-AF65-F5344CB8AC3E}">
        <p14:creationId xmlns:p14="http://schemas.microsoft.com/office/powerpoint/2010/main" val="2756084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46D3-25AA-21D7-183B-C8899DD1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2C8C-D92D-726F-DA68-F4EBA077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83D5-FCF3-AB8F-5B27-FD324340C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What is indicated by an identifier that starts and ends with two underscore symbols, such as </a:t>
            </a:r>
            <a:r>
              <a:rPr lang="en-IN" b="0" dirty="0">
                <a:effectLst/>
                <a:latin typeface="Google Sans Code"/>
              </a:rPr>
              <a:t>__add__</a:t>
            </a:r>
            <a:r>
              <a:rPr lang="en-IN" b="1" dirty="0">
                <a:effectLst/>
              </a:rPr>
              <a:t>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It is a strongly private identifier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it is a local variable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It is a language-defined special name, also known as a magic method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It is a constant that cannot be changed</a:t>
            </a:r>
          </a:p>
        </p:txBody>
      </p:sp>
    </p:spTree>
    <p:extLst>
      <p:ext uri="{BB962C8B-B14F-4D97-AF65-F5344CB8AC3E}">
        <p14:creationId xmlns:p14="http://schemas.microsoft.com/office/powerpoint/2010/main" val="3011414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444E-2DB9-61E8-57B7-EBE80C2E6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6716-4A11-A6EB-6B68-8CE1C8C2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0A76A-CD4E-4417-1E59-64491EDC1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Which of the following statements is true regarding the capitalization of Python keywords?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All keywords must be written in ALL CAPS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All keywords are strictly lowercase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All are lowercase except for </a:t>
            </a:r>
            <a:r>
              <a:rPr lang="en-IN" dirty="0">
                <a:effectLst/>
                <a:latin typeface="Google Sans Code"/>
              </a:rPr>
              <a:t>True</a:t>
            </a:r>
            <a:r>
              <a:rPr lang="en-IN" dirty="0">
                <a:effectLst/>
              </a:rPr>
              <a:t>, </a:t>
            </a:r>
            <a:r>
              <a:rPr lang="en-IN" dirty="0">
                <a:effectLst/>
                <a:latin typeface="Google Sans Code"/>
              </a:rPr>
              <a:t>False</a:t>
            </a:r>
            <a:r>
              <a:rPr lang="en-IN" dirty="0">
                <a:effectLst/>
              </a:rPr>
              <a:t>, and </a:t>
            </a:r>
            <a:r>
              <a:rPr lang="en-IN" dirty="0">
                <a:effectLst/>
                <a:latin typeface="Google Sans Code"/>
              </a:rPr>
              <a:t>None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Only the import and from keywords start with a capital letter</a:t>
            </a:r>
          </a:p>
        </p:txBody>
      </p:sp>
    </p:spTree>
    <p:extLst>
      <p:ext uri="{BB962C8B-B14F-4D97-AF65-F5344CB8AC3E}">
        <p14:creationId xmlns:p14="http://schemas.microsoft.com/office/powerpoint/2010/main" val="2933428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E5BF-9FE2-6709-1874-B9DC4DE1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0159-B2D9-FBED-169E-FFF3FB4D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CB8E-8757-E141-7BEF-6579C5D1D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Which of the following statements is true regarding the capitalization of Python keywords?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All keywords must be written in ALL CAPS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All keywords are strictly lowercase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All are lowercase except for </a:t>
            </a:r>
            <a:r>
              <a:rPr lang="en-IN" b="0" dirty="0">
                <a:effectLst/>
                <a:latin typeface="Google Sans Code"/>
              </a:rPr>
              <a:t>True</a:t>
            </a:r>
            <a:r>
              <a:rPr lang="en-IN" b="1" dirty="0">
                <a:effectLst/>
              </a:rPr>
              <a:t>, </a:t>
            </a:r>
            <a:r>
              <a:rPr lang="en-IN" b="0" dirty="0">
                <a:effectLst/>
                <a:latin typeface="Google Sans Code"/>
              </a:rPr>
              <a:t>False</a:t>
            </a:r>
            <a:r>
              <a:rPr lang="en-IN" b="1" dirty="0">
                <a:effectLst/>
              </a:rPr>
              <a:t>, and </a:t>
            </a:r>
            <a:r>
              <a:rPr lang="en-IN" b="0" dirty="0">
                <a:effectLst/>
                <a:latin typeface="Google Sans Code"/>
              </a:rPr>
              <a:t>None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Only the import and from keywords start with a capital letter</a:t>
            </a:r>
          </a:p>
        </p:txBody>
      </p:sp>
    </p:spTree>
    <p:extLst>
      <p:ext uri="{BB962C8B-B14F-4D97-AF65-F5344CB8AC3E}">
        <p14:creationId xmlns:p14="http://schemas.microsoft.com/office/powerpoint/2010/main" val="191607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49E9-758A-1DFD-E616-ACC8390F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630A-510D-2408-2593-706F9EA5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863F4-8EC1-7A3C-9C81-BB8101882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module and attribute can a programmer use to see the complete list of all reserved keywords in their Python environment?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 err="1">
                <a:effectLst/>
              </a:rPr>
              <a:t>sys.keywords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</a:t>
            </a:r>
            <a:r>
              <a:rPr lang="en-IN" dirty="0" err="1">
                <a:effectLst/>
              </a:rPr>
              <a:t>builtins.list</a:t>
            </a:r>
            <a:r>
              <a:rPr lang="en-IN" dirty="0">
                <a:effectLst/>
              </a:rPr>
              <a:t>()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</a:t>
            </a:r>
            <a:r>
              <a:rPr lang="en-IN" dirty="0" err="1">
                <a:effectLst/>
                <a:latin typeface="Google Sans Code"/>
              </a:rPr>
              <a:t>keyword.kwlist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math.reserved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855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A5CE4-3FA2-4D54-31EA-86B42F40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2AEE-46DC-8D29-DB82-04FD421A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C9048-703E-2805-C6AF-77DE5DD9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module and attribute can a programmer use to see the complete list of all reserved keywords in their Python environment?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 err="1">
                <a:effectLst/>
              </a:rPr>
              <a:t>sys.keywords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</a:t>
            </a:r>
            <a:r>
              <a:rPr lang="en-IN" dirty="0" err="1">
                <a:effectLst/>
              </a:rPr>
              <a:t>builtins.list</a:t>
            </a:r>
            <a:r>
              <a:rPr lang="en-IN" dirty="0">
                <a:effectLst/>
              </a:rPr>
              <a:t>()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</a:t>
            </a:r>
            <a:r>
              <a:rPr lang="en-IN" b="0" dirty="0" err="1">
                <a:effectLst/>
                <a:latin typeface="Google Sans Code"/>
              </a:rPr>
              <a:t>keyword.kwlist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math.reserved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9346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F095-D6C2-D30F-FD06-AFEBC8FC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647BD-020F-C788-6376-B7B66257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</a:rPr>
              <a:t>3. If you use the code </a:t>
            </a:r>
            <a:r>
              <a:rPr lang="en-IN" b="0" dirty="0">
                <a:effectLst/>
                <a:latin typeface="Google Sans Code"/>
              </a:rPr>
              <a:t>for = 10</a:t>
            </a:r>
            <a:r>
              <a:rPr lang="en-IN" b="1" dirty="0">
                <a:effectLst/>
              </a:rPr>
              <a:t>, why will Python raise an error?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Because 10 is an integer and for expects a string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Because for is a constant and cannot be modified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Because </a:t>
            </a:r>
            <a:r>
              <a:rPr lang="en-IN" dirty="0">
                <a:effectLst/>
                <a:latin typeface="Google Sans Code"/>
              </a:rPr>
              <a:t>for</a:t>
            </a:r>
            <a:r>
              <a:rPr lang="en-IN" dirty="0">
                <a:effectLst/>
              </a:rPr>
              <a:t> is a reserved keyword and cannot be used as a variable name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Because identifiers must be at least four characters long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40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3EB1-E7C0-D1ED-8A45-D92C33730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F58F-0FAC-AC59-5281-CAC1A003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37C0-A355-4D6A-68D6-EC7627E33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</a:rPr>
              <a:t>3. If you use the code </a:t>
            </a:r>
            <a:r>
              <a:rPr lang="en-IN" b="0" dirty="0">
                <a:effectLst/>
                <a:latin typeface="Google Sans Code"/>
              </a:rPr>
              <a:t>for = 10</a:t>
            </a:r>
            <a:r>
              <a:rPr lang="en-IN" b="1" dirty="0">
                <a:effectLst/>
              </a:rPr>
              <a:t>, why will Python raise an error?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Because 10 is an integer and for expects a string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Because for is a constant and cannot be modified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Because </a:t>
            </a:r>
            <a:r>
              <a:rPr lang="en-IN" b="0" dirty="0">
                <a:effectLst/>
                <a:latin typeface="Google Sans Code"/>
              </a:rPr>
              <a:t>for</a:t>
            </a:r>
            <a:r>
              <a:rPr lang="en-IN" b="1" dirty="0">
                <a:effectLst/>
              </a:rPr>
              <a:t> is a reserved keyword and cannot be used as a variable name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Because identifiers must be at least four characters long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53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BF3F-3FC7-BD04-4970-623936ED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5DEC-B8BE-F746-BF62-5F8E73FBD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5978-7FA3-EB8F-839B-9A0DC5FD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Which category do keywords like </a:t>
            </a:r>
            <a:r>
              <a:rPr lang="en-IN" b="0" dirty="0">
                <a:effectLst/>
                <a:latin typeface="Google Sans Code"/>
              </a:rPr>
              <a:t>if</a:t>
            </a:r>
            <a:r>
              <a:rPr lang="en-IN" b="1" dirty="0">
                <a:effectLst/>
              </a:rPr>
              <a:t>, </a:t>
            </a:r>
            <a:r>
              <a:rPr lang="en-IN" b="0" dirty="0" err="1">
                <a:effectLst/>
                <a:latin typeface="Google Sans Code"/>
              </a:rPr>
              <a:t>elif</a:t>
            </a:r>
            <a:r>
              <a:rPr lang="en-IN" b="1" dirty="0">
                <a:effectLst/>
              </a:rPr>
              <a:t>, and </a:t>
            </a:r>
            <a:r>
              <a:rPr lang="en-IN" b="0" dirty="0">
                <a:effectLst/>
                <a:latin typeface="Google Sans Code"/>
              </a:rPr>
              <a:t>else</a:t>
            </a:r>
            <a:r>
              <a:rPr lang="en-IN" b="1" dirty="0">
                <a:effectLst/>
              </a:rPr>
              <a:t> belong to?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Value Keywords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Operator Keywords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Control Flow Keywords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Async Programming Keywords</a:t>
            </a:r>
          </a:p>
        </p:txBody>
      </p:sp>
    </p:spTree>
    <p:extLst>
      <p:ext uri="{BB962C8B-B14F-4D97-AF65-F5344CB8AC3E}">
        <p14:creationId xmlns:p14="http://schemas.microsoft.com/office/powerpoint/2010/main" val="2660063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604C-C205-ACFD-2D80-776BECA4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F1A0-6663-C376-67C5-8D4B4256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E26BF-C196-9570-91C1-63DEE969C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Which category do keywords like </a:t>
            </a:r>
            <a:r>
              <a:rPr lang="en-IN" b="0" dirty="0">
                <a:effectLst/>
                <a:latin typeface="Google Sans Code"/>
              </a:rPr>
              <a:t>if</a:t>
            </a:r>
            <a:r>
              <a:rPr lang="en-IN" b="1" dirty="0">
                <a:effectLst/>
              </a:rPr>
              <a:t>, </a:t>
            </a:r>
            <a:r>
              <a:rPr lang="en-IN" b="0" dirty="0" err="1">
                <a:effectLst/>
                <a:latin typeface="Google Sans Code"/>
              </a:rPr>
              <a:t>elif</a:t>
            </a:r>
            <a:r>
              <a:rPr lang="en-IN" b="1" dirty="0">
                <a:effectLst/>
              </a:rPr>
              <a:t>, and </a:t>
            </a:r>
            <a:r>
              <a:rPr lang="en-IN" b="0" dirty="0">
                <a:effectLst/>
                <a:latin typeface="Google Sans Code"/>
              </a:rPr>
              <a:t>else</a:t>
            </a:r>
            <a:r>
              <a:rPr lang="en-IN" b="1" dirty="0">
                <a:effectLst/>
              </a:rPr>
              <a:t> belong to?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Value Keywords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Operator Keywords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Control Flow Keywords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Async Programming Keywords</a:t>
            </a:r>
          </a:p>
        </p:txBody>
      </p:sp>
    </p:spTree>
    <p:extLst>
      <p:ext uri="{BB962C8B-B14F-4D97-AF65-F5344CB8AC3E}">
        <p14:creationId xmlns:p14="http://schemas.microsoft.com/office/powerpoint/2010/main" val="556203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A3D8-CF94-5DDB-2946-8DA0235A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816C-85CF-3020-00C4-A64AED7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71A8-FDD6-AEA7-223B-38CD08668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Which of the following is NOT a reserved keyword in Python?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yield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assert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</a:t>
            </a:r>
            <a:r>
              <a:rPr lang="en-IN" dirty="0">
                <a:effectLst/>
                <a:latin typeface="Google Sans Code"/>
              </a:rPr>
              <a:t>function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lambda</a:t>
            </a:r>
          </a:p>
        </p:txBody>
      </p:sp>
    </p:spTree>
    <p:extLst>
      <p:ext uri="{BB962C8B-B14F-4D97-AF65-F5344CB8AC3E}">
        <p14:creationId xmlns:p14="http://schemas.microsoft.com/office/powerpoint/2010/main" val="111846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57453-AF70-4C69-23D0-022BBCCA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A087-DF23-00D3-0635-796EF4A7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2644-3FB2-3F3D-41C2-6CADDF81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Which of the following is NOT a reserved keyword in Python?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yield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assert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</a:t>
            </a:r>
            <a:r>
              <a:rPr lang="en-IN" b="0" dirty="0">
                <a:effectLst/>
                <a:latin typeface="Google Sans Code"/>
              </a:rPr>
              <a:t>function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lambda</a:t>
            </a:r>
          </a:p>
        </p:txBody>
      </p:sp>
    </p:spTree>
    <p:extLst>
      <p:ext uri="{BB962C8B-B14F-4D97-AF65-F5344CB8AC3E}">
        <p14:creationId xmlns:p14="http://schemas.microsoft.com/office/powerpoint/2010/main" val="2877421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7D43-E376-24C4-739F-A8038D7A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FE4A-8565-0BDD-1832-12D9C30F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ED725-0992-A6A7-09F7-677A946AA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b="1" dirty="0">
                <a:effectLst/>
              </a:rPr>
              <a:t>Python is described as a "Dynamically Typed" language. What does this mean in the context of data types?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The programmer must explicitly declare the type before assigning a value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Variables can only store one type of data throughout their lifecycle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The type is assigned automatically based on the value provided at runtime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Data types change every time the Python Virtual Machine (PVM) is restarted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28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B77D-8D03-E6F9-E4A1-4B2A2FBA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5C5C-3771-6A52-65C9-6A9B827B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B5B8-03F6-FC4B-182C-5CD018767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b="1" dirty="0">
                <a:effectLst/>
              </a:rPr>
              <a:t>Python is described as a "Dynamically Typed" language. What does this mean in the context of data types?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The programmer must explicitly declare the type before assigning a value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Variables can only store one type of data throughout their lifecycle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C) The type is assigned automatically based on the value provided at runtime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Data types change every time the Python Virtual Machine (PVM) is restarted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1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432B-705E-DEE9-43FA-D3FDE90E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43948-92F4-CC61-4F4B-B6E25BDF4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ACE39-AE06-8C46-FDC6-72CCDEE7A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of the following are considered the "Fundamental Data Types" in Python?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list, tuple, set, </a:t>
            </a:r>
            <a:r>
              <a:rPr lang="en-IN" dirty="0" err="1">
                <a:effectLst/>
              </a:rPr>
              <a:t>dict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int, float, complex, bool, str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C) bytes, </a:t>
            </a:r>
            <a:r>
              <a:rPr lang="en-IN" dirty="0" err="1">
                <a:effectLst/>
              </a:rPr>
              <a:t>bytearray</a:t>
            </a:r>
            <a:r>
              <a:rPr lang="en-IN" dirty="0">
                <a:effectLst/>
              </a:rPr>
              <a:t>, range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class, module, function</a:t>
            </a:r>
          </a:p>
        </p:txBody>
      </p:sp>
    </p:spTree>
    <p:extLst>
      <p:ext uri="{BB962C8B-B14F-4D97-AF65-F5344CB8AC3E}">
        <p14:creationId xmlns:p14="http://schemas.microsoft.com/office/powerpoint/2010/main" val="1882950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E275-C758-1CEC-F811-FB510C57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0EC4-91F1-6AC0-F11D-3ACBB2D2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54F1-E108-3911-5AEB-08453625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2. Which of the following are considered the "Fundamental Data Types" in Python?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list, tuple, set, </a:t>
            </a:r>
            <a:r>
              <a:rPr lang="en-IN" dirty="0" err="1">
                <a:effectLst/>
              </a:rPr>
              <a:t>dict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B) int, float, complex, bool, str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C) bytes, </a:t>
            </a:r>
            <a:r>
              <a:rPr lang="en-IN" dirty="0" err="1">
                <a:effectLst/>
              </a:rPr>
              <a:t>bytearray</a:t>
            </a:r>
            <a:r>
              <a:rPr lang="en-IN" dirty="0">
                <a:effectLst/>
              </a:rPr>
              <a:t>, range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class, module, function</a:t>
            </a:r>
          </a:p>
        </p:txBody>
      </p:sp>
    </p:spTree>
    <p:extLst>
      <p:ext uri="{BB962C8B-B14F-4D97-AF65-F5344CB8AC3E}">
        <p14:creationId xmlns:p14="http://schemas.microsoft.com/office/powerpoint/2010/main" val="1175062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01DA-EA26-FDA2-8D8A-594639AD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C01E-DE81-E1C5-7B86-B8EFA0347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</a:rPr>
              <a:t>3. What is meant by "immutability" in Python fundamental data types?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The object can be deleted but not moved in memory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Once an object is created, its content cannot be changed; any "change" creates a new object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The variable name cannot be reused for a different type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 data can only be accessed by the id()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51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2F4B-6862-BC19-8B81-F8B1B879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E3C8-DAB0-A6C1-010A-61CABED4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C40BF-EA5A-B022-FC83-2ED8CD95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</a:rPr>
              <a:t>3. What is meant by "immutability" in Python fundamental data types?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The object can be deleted but not moved in memory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B) Once an object is created, its content cannot be changed; any "change" creates a new object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The variable name cannot be reused for a different type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The data can only be accessed by the id()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385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A5E1-9DC1-3141-BD74-7EF98D88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D36A-FD73-4182-E8CD-31FEF328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F3DDB-5CBF-8AF1-56FB-4C8A48CF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If a programmer needs a collection that is ordered and allows changes (mutable), which data type should they use?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b="0" dirty="0">
                <a:effectLst/>
                <a:latin typeface="Google Sans Code"/>
              </a:rPr>
              <a:t>list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tuple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str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frozenset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212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6A11-6C92-9782-0576-CBC4303A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B110-09BA-CE31-D02D-7439426A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A6C1-A4F9-89FF-7497-C9538262B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4. If a programmer needs a collection that is ordered and allows changes (mutable), which data type should they use?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b="1" dirty="0">
                <a:effectLst/>
                <a:latin typeface="Google Sans Code"/>
              </a:rPr>
              <a:t>list</a:t>
            </a:r>
            <a:r>
              <a:rPr lang="en-IN" b="1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tuple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str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</a:t>
            </a:r>
            <a:r>
              <a:rPr lang="en-IN" dirty="0" err="1">
                <a:effectLst/>
              </a:rPr>
              <a:t>frozenset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0236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FFB8-BD2B-4C0E-0D89-94866248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3DAE-B31E-F14B-9477-C8CD55073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DB69-9854-35C0-C17E-8C8033B6A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How does Python represent a complex number?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a + bi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B) </a:t>
            </a:r>
            <a:r>
              <a:rPr lang="en-IN" dirty="0">
                <a:effectLst/>
                <a:latin typeface="Google Sans Code"/>
              </a:rPr>
              <a:t>a + </a:t>
            </a:r>
            <a:r>
              <a:rPr lang="en-IN" dirty="0" err="1">
                <a:effectLst/>
                <a:latin typeface="Google Sans Code"/>
              </a:rPr>
              <a:t>bj</a:t>
            </a:r>
            <a:r>
              <a:rPr lang="en-IN" dirty="0">
                <a:effectLst/>
              </a:rPr>
              <a:t> (where </a:t>
            </a:r>
            <a:r>
              <a:rPr lang="en-IN" dirty="0">
                <a:effectLst/>
                <a:latin typeface="Google Sans Code"/>
              </a:rPr>
              <a:t>a</a:t>
            </a:r>
            <a:r>
              <a:rPr lang="en-IN" dirty="0">
                <a:effectLst/>
              </a:rPr>
              <a:t> is the real part and </a:t>
            </a:r>
            <a:r>
              <a:rPr lang="en-IN" dirty="0">
                <a:effectLst/>
                <a:latin typeface="Google Sans Code"/>
              </a:rPr>
              <a:t>b</a:t>
            </a:r>
            <a:r>
              <a:rPr lang="en-IN" dirty="0">
                <a:effectLst/>
              </a:rPr>
              <a:t> is the imaginary part)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complex(a, b, c)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By using the </a:t>
            </a:r>
            <a:r>
              <a:rPr lang="en-IN" dirty="0" err="1">
                <a:effectLst/>
              </a:rPr>
              <a:t>math.complex</a:t>
            </a:r>
            <a:r>
              <a:rPr lang="en-IN" dirty="0">
                <a:effectLst/>
              </a:rPr>
              <a:t> module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190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14AC-8333-2C6A-A732-78C802AF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DB6B-8DF5-91A2-3989-B3F69AAF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EEAC5-ADC7-9BE9-96EC-F86D408C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</a:rPr>
              <a:t>5. How does Python represent a complex number?</a:t>
            </a:r>
            <a:r>
              <a:rPr lang="en-IN" dirty="0">
                <a:effectLst/>
              </a:rPr>
              <a:t> </a:t>
            </a:r>
          </a:p>
          <a:p>
            <a:pPr marL="514350" indent="-514350">
              <a:buAutoNum type="alphaUcParenR"/>
            </a:pPr>
            <a:r>
              <a:rPr lang="en-IN" dirty="0">
                <a:effectLst/>
              </a:rPr>
              <a:t>a + bi </a:t>
            </a:r>
          </a:p>
          <a:p>
            <a:pPr marL="0" indent="0">
              <a:buNone/>
            </a:pPr>
            <a:r>
              <a:rPr lang="en-IN" b="1" dirty="0">
                <a:effectLst/>
              </a:rPr>
              <a:t>B) </a:t>
            </a:r>
            <a:r>
              <a:rPr lang="en-IN" b="0" dirty="0">
                <a:effectLst/>
                <a:latin typeface="Google Sans Code"/>
              </a:rPr>
              <a:t>a + </a:t>
            </a:r>
            <a:r>
              <a:rPr lang="en-IN" b="0" dirty="0" err="1">
                <a:effectLst/>
                <a:latin typeface="Google Sans Code"/>
              </a:rPr>
              <a:t>bj</a:t>
            </a:r>
            <a:r>
              <a:rPr lang="en-IN" b="1" dirty="0">
                <a:effectLst/>
              </a:rPr>
              <a:t> (where </a:t>
            </a:r>
            <a:r>
              <a:rPr lang="en-IN" b="0" dirty="0">
                <a:effectLst/>
                <a:latin typeface="Google Sans Code"/>
              </a:rPr>
              <a:t>a</a:t>
            </a:r>
            <a:r>
              <a:rPr lang="en-IN" b="1" dirty="0">
                <a:effectLst/>
              </a:rPr>
              <a:t> is the real part and </a:t>
            </a:r>
            <a:r>
              <a:rPr lang="en-IN" b="0" dirty="0">
                <a:effectLst/>
                <a:latin typeface="Google Sans Code"/>
              </a:rPr>
              <a:t>b</a:t>
            </a:r>
            <a:r>
              <a:rPr lang="en-IN" b="1" dirty="0">
                <a:effectLst/>
              </a:rPr>
              <a:t> is the imaginary part)</a:t>
            </a:r>
            <a:r>
              <a:rPr lang="en-IN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C) complex(a, b, c) </a:t>
            </a:r>
          </a:p>
          <a:p>
            <a:pPr marL="0" indent="0">
              <a:buNone/>
            </a:pPr>
            <a:r>
              <a:rPr lang="en-IN" dirty="0">
                <a:effectLst/>
              </a:rPr>
              <a:t>D) By using the </a:t>
            </a:r>
            <a:r>
              <a:rPr lang="en-IN" dirty="0" err="1">
                <a:effectLst/>
              </a:rPr>
              <a:t>math.complex</a:t>
            </a:r>
            <a:r>
              <a:rPr lang="en-IN" dirty="0">
                <a:effectLst/>
              </a:rPr>
              <a:t> module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073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2F2F-0DFA-65FB-3292-2BA98291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1D146-9CC4-5C14-0BD0-6532D343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Python, the int data type represents </a:t>
            </a:r>
            <a:r>
              <a:rPr lang="en-IN" b="1" u="none" strike="noStrike" dirty="0">
                <a:effectLst/>
                <a:latin typeface="Google Sans"/>
              </a:rPr>
              <a:t>arbitrary-precision integers</a:t>
            </a:r>
            <a:r>
              <a:rPr lang="en-IN" b="0" u="none" strike="noStrike" dirty="0">
                <a:effectLst/>
                <a:latin typeface="Google Sans"/>
              </a:rPr>
              <a:t>, meaning they can handle whole numbers of any size limited only by your computer's available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37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EFC4-F2FC-1DE3-F525-BA77B6F2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A4791-B89D-F401-7892-58123A65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No size limits</a:t>
            </a:r>
            <a:r>
              <a:rPr lang="en-IN" b="0" u="none" strike="noStrike" dirty="0">
                <a:effectLst/>
                <a:latin typeface="Google Sans"/>
              </a:rPr>
              <a:t>: Unlike many languages with 32-bit or 64-bit limits, Python automatically handles arbitrarily large integers.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Immutable</a:t>
            </a:r>
            <a:r>
              <a:rPr lang="en-IN" b="0" u="none" strike="noStrike" dirty="0">
                <a:effectLst/>
                <a:latin typeface="Google Sans"/>
              </a:rPr>
              <a:t>: Once an integer object is created in memory, its value cannot be changed.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Signed</a:t>
            </a:r>
            <a:r>
              <a:rPr lang="en-IN" b="0" u="none" strike="noStrike" dirty="0">
                <a:effectLst/>
                <a:latin typeface="Google Sans"/>
              </a:rPr>
              <a:t>: Integers can be positive, negative, or zero.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94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D3E2-631E-4848-A3AC-BE63F69F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Ways to Define Integers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2B00E-8E99-FABF-160A-34CE908E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write integers in standard decimal format or use literal prefixes for other number systems: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Decimal</a:t>
            </a:r>
            <a:r>
              <a:rPr lang="en-IN" b="0" u="none" strike="noStrike" dirty="0">
                <a:effectLst/>
                <a:latin typeface="Google Sans"/>
              </a:rPr>
              <a:t>: 10, -50, 0</a:t>
            </a:r>
          </a:p>
          <a:p>
            <a:r>
              <a:rPr lang="en-IN" b="1" u="none" strike="noStrike" dirty="0">
                <a:effectLst/>
                <a:latin typeface="Google Sans"/>
              </a:rPr>
              <a:t>Binary</a:t>
            </a:r>
            <a:r>
              <a:rPr lang="en-IN" b="0" u="none" strike="noStrike" dirty="0">
                <a:effectLst/>
                <a:latin typeface="Google Sans"/>
              </a:rPr>
              <a:t> (Prefix 0b or 0B): 0b1010 (Decimal 10)</a:t>
            </a:r>
          </a:p>
          <a:p>
            <a:r>
              <a:rPr lang="en-IN" b="1" u="none" strike="noStrike" dirty="0">
                <a:effectLst/>
                <a:latin typeface="Google Sans"/>
              </a:rPr>
              <a:t>Octal</a:t>
            </a:r>
            <a:r>
              <a:rPr lang="en-IN" b="0" u="none" strike="noStrike" dirty="0">
                <a:effectLst/>
                <a:latin typeface="Google Sans"/>
              </a:rPr>
              <a:t> (Prefix 0o or 0O): 0o12 (Decimal 10)</a:t>
            </a:r>
          </a:p>
          <a:p>
            <a:r>
              <a:rPr lang="en-IN" b="1" u="none" strike="noStrike" dirty="0">
                <a:effectLst/>
                <a:latin typeface="Google Sans"/>
              </a:rPr>
              <a:t>Hexadecimal</a:t>
            </a:r>
            <a:r>
              <a:rPr lang="en-IN" b="0" u="none" strike="noStrike" dirty="0">
                <a:effectLst/>
                <a:latin typeface="Google Sans"/>
              </a:rPr>
              <a:t> (Prefix 0x or 0X): 0x1A (Decimal 26)</a:t>
            </a:r>
          </a:p>
          <a:p>
            <a:r>
              <a:rPr lang="en-IN" b="1" u="none" strike="noStrike" dirty="0">
                <a:effectLst/>
                <a:latin typeface="Google Sans"/>
              </a:rPr>
              <a:t>Visual Underscores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1_000_000</a:t>
            </a:r>
            <a:r>
              <a:rPr lang="en-IN" b="0" u="none" strike="noStrike" dirty="0">
                <a:effectLst/>
                <a:latin typeface="Google Sans"/>
              </a:rPr>
              <a:t> (Python ignores underscores; used for readability)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47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F64B-5BC0-7776-E88B-D3CCCF6B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The int()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36F3-0583-5FA6-A582-D1BB2C26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int() function converts other data types or string representations into integers:</a:t>
            </a:r>
          </a:p>
          <a:p>
            <a:r>
              <a:rPr lang="en-IN" b="1" u="none" strike="noStrike" dirty="0">
                <a:effectLst/>
                <a:latin typeface="Google Sans"/>
              </a:rPr>
              <a:t>From float</a:t>
            </a:r>
            <a:r>
              <a:rPr lang="en-IN" b="0" u="none" strike="noStrike" dirty="0">
                <a:effectLst/>
                <a:latin typeface="Google Sans"/>
              </a:rPr>
              <a:t>: int(3.9) outputs 3 (it truncates towards zero, dropping the decimal).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From string</a:t>
            </a:r>
            <a:r>
              <a:rPr lang="en-IN" b="0" u="none" strike="noStrike" dirty="0">
                <a:effectLst/>
                <a:latin typeface="Google Sans"/>
              </a:rPr>
              <a:t>: int("42") outputs 42.</a:t>
            </a:r>
          </a:p>
          <a:p>
            <a:r>
              <a:rPr lang="en-IN" b="1" u="none" strike="noStrike" dirty="0">
                <a:effectLst/>
                <a:latin typeface="Google Sans"/>
              </a:rPr>
              <a:t>From different bases</a:t>
            </a:r>
            <a:r>
              <a:rPr lang="en-IN" b="0" u="none" strike="noStrike" dirty="0">
                <a:effectLst/>
                <a:latin typeface="Google Sans"/>
              </a:rPr>
              <a:t>: int("1010", 2) outputs 10 (converts base-2 binary string to integer).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6743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6AEE-151C-46F1-2B22-4E576647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Built-In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76B3-78E1-94F7-FF07-618BD2275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Addition</a:t>
            </a:r>
            <a:r>
              <a:rPr lang="en-IN" b="0" u="none" strike="noStrike" dirty="0">
                <a:effectLst/>
                <a:latin typeface="Google Sans"/>
              </a:rPr>
              <a:t>: +</a:t>
            </a:r>
          </a:p>
          <a:p>
            <a:r>
              <a:rPr lang="en-IN" b="1" u="none" strike="noStrike" dirty="0">
                <a:effectLst/>
                <a:latin typeface="Google Sans"/>
              </a:rPr>
              <a:t>Subtraction</a:t>
            </a:r>
            <a:r>
              <a:rPr lang="en-IN" b="0" u="none" strike="noStrike" dirty="0">
                <a:effectLst/>
                <a:latin typeface="Google Sans"/>
              </a:rPr>
              <a:t>: -</a:t>
            </a:r>
          </a:p>
          <a:p>
            <a:r>
              <a:rPr lang="en-IN" b="1" u="none" strike="noStrike" dirty="0">
                <a:effectLst/>
                <a:latin typeface="Google Sans"/>
              </a:rPr>
              <a:t>Multiplication</a:t>
            </a:r>
            <a:r>
              <a:rPr lang="en-IN" b="0" u="none" strike="noStrike" dirty="0">
                <a:effectLst/>
                <a:latin typeface="Google Sans"/>
              </a:rPr>
              <a:t>: *</a:t>
            </a:r>
          </a:p>
          <a:p>
            <a:r>
              <a:rPr lang="en-IN" b="1" u="none" strike="noStrike" dirty="0">
                <a:effectLst/>
                <a:latin typeface="Google Sans"/>
              </a:rPr>
              <a:t>True Division</a:t>
            </a:r>
            <a:r>
              <a:rPr lang="en-IN" b="0" u="none" strike="noStrike" dirty="0">
                <a:effectLst/>
                <a:latin typeface="Google Sans"/>
              </a:rPr>
              <a:t>: / (always returns a float, e.g., 4 / 2 results in 2.0)</a:t>
            </a:r>
          </a:p>
          <a:p>
            <a:r>
              <a:rPr lang="en-IN" b="1" u="none" strike="noStrike" dirty="0">
                <a:effectLst/>
                <a:latin typeface="Google Sans"/>
              </a:rPr>
              <a:t>Floor Division</a:t>
            </a:r>
            <a:r>
              <a:rPr lang="en-IN" b="0" u="none" strike="noStrike" dirty="0">
                <a:effectLst/>
                <a:latin typeface="Google Sans"/>
              </a:rPr>
              <a:t>: // (divides and rounds down to the nearest whole integer, e.g., 5 // 2 results in 2)</a:t>
            </a:r>
          </a:p>
          <a:p>
            <a:r>
              <a:rPr lang="en-IN" b="1" u="none" strike="noStrike" dirty="0">
                <a:effectLst/>
                <a:latin typeface="Google Sans"/>
              </a:rPr>
              <a:t>Modulo (Remainder)</a:t>
            </a:r>
            <a:r>
              <a:rPr lang="en-IN" b="0" u="none" strike="noStrike" dirty="0">
                <a:effectLst/>
                <a:latin typeface="Google Sans"/>
              </a:rPr>
              <a:t>: % (e.g., 5 % 2 results in 1)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Exponentiation (Power)</a:t>
            </a:r>
            <a:r>
              <a:rPr lang="en-IN" b="0" u="none" strike="noStrike" dirty="0">
                <a:effectLst/>
                <a:latin typeface="Google Sans"/>
              </a:rPr>
              <a:t>: ** (e.g., 2 ** 3 results in 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705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966C-FA2D-93FA-011D-6D6EA210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63989-85FC-3F62-8B75-B26041780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float data type represents real numbers</a:t>
            </a:r>
            <a:r>
              <a:rPr lang="en-IN" b="0" u="none" strike="noStrike" dirty="0">
                <a:effectLst/>
                <a:latin typeface="Google Sans"/>
              </a:rPr>
              <a:t> containing one or more decimals or numbers written in scientific notation.</a:t>
            </a:r>
          </a:p>
          <a:p>
            <a:endParaRPr lang="en-IN" dirty="0">
              <a:latin typeface="Google Sans"/>
            </a:endParaRPr>
          </a:p>
          <a:p>
            <a:r>
              <a:rPr lang="en-IN" b="0" u="none" strike="noStrike" dirty="0">
                <a:effectLst/>
                <a:latin typeface="Google Sans"/>
              </a:rPr>
              <a:t>A </a:t>
            </a:r>
            <a:r>
              <a:rPr lang="en-IN" b="1" u="none" strike="noStrike" dirty="0">
                <a:effectLst/>
                <a:latin typeface="Google Sans"/>
              </a:rPr>
              <a:t>float</a:t>
            </a:r>
            <a:r>
              <a:rPr lang="en-IN" dirty="0"/>
              <a:t> (short for "floating-point") is a fundamental data type used in computer programming to store </a:t>
            </a:r>
            <a:r>
              <a:rPr lang="en-IN" b="1" u="none" strike="noStrike" dirty="0">
                <a:effectLst/>
                <a:latin typeface="Google Sans"/>
              </a:rPr>
              <a:t>real numbers that contain fractional or decimal parts</a:t>
            </a:r>
            <a:r>
              <a:rPr lang="en-IN" dirty="0"/>
              <a:t>. Unlike integers, which only represent whole numbers, floats use a moving (floating) decimal point to handle both incredibly large and microscopic numbers efficiently.</a:t>
            </a:r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2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29DC-08E1-5DB3-FA2E-9709B23E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Core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D865-3E9D-0029-AA6A-2D40D564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64-bit precision</a:t>
            </a:r>
            <a:r>
              <a:rPr lang="en-IN" b="0" u="none" strike="noStrike" dirty="0">
                <a:effectLst/>
                <a:latin typeface="Google Sans"/>
              </a:rPr>
              <a:t>: Python floats are implemented using C double types, following the IEEE 754 standard.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Immutable</a:t>
            </a:r>
            <a:r>
              <a:rPr lang="en-IN" b="0" u="none" strike="noStrike" dirty="0">
                <a:effectLst/>
                <a:latin typeface="Google Sans"/>
              </a:rPr>
              <a:t>: You cannot alter a float value after creating it in memory.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Double precision</a:t>
            </a:r>
            <a:r>
              <a:rPr lang="en-IN" b="0" u="none" strike="noStrike" dirty="0">
                <a:effectLst/>
                <a:latin typeface="Google Sans"/>
              </a:rPr>
              <a:t>: They provide roughly 15 to 17 digits of decimal precision.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42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9809-C5BC-8F35-A9B4-5416440A4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Ways to Define Floats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9EB57-587E-30BE-1863-D4DBA2976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initialize a float using a standard decimal point or scientific notation (e or E).</a:t>
            </a:r>
          </a:p>
          <a:p>
            <a:r>
              <a:rPr lang="en-IN" b="0" u="none" strike="noStrike" dirty="0">
                <a:effectLst/>
                <a:latin typeface="Google Sans"/>
              </a:rPr>
              <a:t>x = 10.5 (Standard decimal)</a:t>
            </a:r>
          </a:p>
          <a:p>
            <a:r>
              <a:rPr lang="en-IN" b="0" u="none" strike="noStrike" dirty="0">
                <a:effectLst/>
                <a:latin typeface="Google Sans"/>
              </a:rPr>
              <a:t>y = 4.0 (Integer-like value defined as a float)</a:t>
            </a:r>
          </a:p>
          <a:p>
            <a:r>
              <a:rPr lang="en-IN" b="0" u="none" strike="noStrike" dirty="0">
                <a:effectLst/>
                <a:latin typeface="Google Sans"/>
              </a:rPr>
              <a:t>z = -35.59 (Negative float)</a:t>
            </a:r>
          </a:p>
          <a:p>
            <a:r>
              <a:rPr lang="en-IN" b="0" u="none" strike="noStrike" dirty="0">
                <a:effectLst/>
                <a:latin typeface="Google Sans"/>
              </a:rPr>
              <a:t>scientific_1 = 35e3 (35 × 10³, which equals 35000.0)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scientific_2 = 12E-4</a:t>
            </a:r>
            <a:r>
              <a:rPr lang="en-IN" b="0" u="none" strike="noStrike" dirty="0">
                <a:effectLst/>
                <a:latin typeface="Google Sans"/>
              </a:rPr>
              <a:t> (12 × 10⁻⁴, which equals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0.0012</a:t>
            </a:r>
            <a:r>
              <a:rPr lang="en-IN" b="0" u="none" strike="noStrike" dirty="0">
                <a:effectLst/>
                <a:latin typeface="Google Sans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995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72E4-1901-1546-0795-650B0564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Conversion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BBE9-535D-182E-CEF0-84BBF59D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float(5) converts an integer to 5.0.</a:t>
            </a:r>
          </a:p>
          <a:p>
            <a:r>
              <a:rPr lang="en-IN" b="0" u="none" strike="noStrike" dirty="0">
                <a:effectLst/>
                <a:latin typeface="Google Sans"/>
              </a:rPr>
              <a:t>float("3.14") parses a string into the float 3.14.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int(3.99)</a:t>
            </a:r>
            <a:r>
              <a:rPr lang="en-IN" b="0" u="none" strike="noStrike" dirty="0">
                <a:effectLst/>
                <a:latin typeface="Google Sans"/>
              </a:rPr>
              <a:t> truncates a float toward zero, returning the integer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3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57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4539-C8A4-9E83-A352-03CACF85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Floating-Point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A653-2215-5C67-7FEB-728EDD2D9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Because computers store numbers in binary, some decimal fractions cannot be represented exactly.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For example, evaluating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0.1 + 0.2</a:t>
            </a:r>
            <a:r>
              <a:rPr lang="en-IN" b="0" u="none" strike="noStrike" dirty="0">
                <a:effectLst/>
                <a:latin typeface="Google Sans"/>
              </a:rPr>
              <a:t> in Python results in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0.30000000000000004</a:t>
            </a:r>
            <a:r>
              <a:rPr lang="en-IN" b="0" u="none" strike="noStrike" dirty="0">
                <a:effectLst/>
                <a:latin typeface="Google Sans"/>
              </a:rPr>
              <a:t> instead of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0.3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0" u="none" strike="noStrike" dirty="0">
                <a:effectLst/>
                <a:latin typeface="Google Sans"/>
              </a:rPr>
              <a:t>If your application requires absolute exactness (like financial calculations), use Python's built-in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decimal</a:t>
            </a:r>
            <a:r>
              <a:rPr lang="en-IN" b="0" u="none" strike="noStrike" dirty="0">
                <a:effectLst/>
                <a:latin typeface="Google Sans"/>
              </a:rPr>
              <a:t> module instead.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45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E72C-5B0D-7CB8-2C6E-E17144F7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IEEE 754</a:t>
            </a:r>
            <a:r>
              <a:rPr lang="en-IN" dirty="0"/>
              <a:t> standard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5CE2-D727-8CC7-9BFD-26B91DF10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The IEEE 754</a:t>
            </a:r>
            <a:r>
              <a:rPr lang="en-IN" dirty="0"/>
              <a:t> standard is the official rule book for storing decimal numbers in computers. It breaks a number into three parts: a sign bit (plus or minus), a biased exponent (the power of 2), and a mantissa or fraction (the main digits). </a:t>
            </a:r>
          </a:p>
          <a:p>
            <a:endParaRPr lang="en-IN" dirty="0"/>
          </a:p>
          <a:p>
            <a:r>
              <a:rPr lang="en-IN" b="1" u="none" strike="noStrike" dirty="0">
                <a:effectLst/>
                <a:latin typeface="Google Sans"/>
              </a:rPr>
              <a:t>Main Formats</a:t>
            </a:r>
          </a:p>
          <a:p>
            <a:r>
              <a:rPr lang="en-IN" b="1" u="none" strike="noStrike" dirty="0">
                <a:effectLst/>
                <a:latin typeface="Google Sans"/>
              </a:rPr>
              <a:t>Single Precision (32-bit)</a:t>
            </a:r>
            <a:r>
              <a:rPr lang="en-IN" b="0" u="none" strike="noStrike" dirty="0">
                <a:effectLst/>
                <a:latin typeface="Google Sans"/>
              </a:rPr>
              <a:t>: Uses 1 sign bit, 8 exponent bits, and 23 fraction bits.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Double Precision (64-bit)</a:t>
            </a:r>
            <a:r>
              <a:rPr lang="en-IN" b="0" u="none" strike="noStrike" dirty="0">
                <a:effectLst/>
                <a:latin typeface="Google Sans"/>
              </a:rPr>
              <a:t>: Uses 1 sign bit, 11 exponent bits, and 52 fraction bits.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Half Precision (16-bit)</a:t>
            </a:r>
            <a:r>
              <a:rPr lang="en-IN" b="0" u="none" strike="noStrike" dirty="0">
                <a:effectLst/>
                <a:latin typeface="Google Sans"/>
              </a:rPr>
              <a:t>: Uses 1 sign bit, 5 exponent bits, and 10 fraction bits.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315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F970-35C7-A134-7432-31DF9E1D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F086B-B0A6-2133-AEDF-36BE32E95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Special Values</a:t>
            </a:r>
          </a:p>
          <a:p>
            <a:r>
              <a:rPr lang="en-IN" b="1" u="none" strike="noStrike" dirty="0">
                <a:effectLst/>
                <a:latin typeface="Google Sans"/>
              </a:rPr>
              <a:t>Zero</a:t>
            </a:r>
            <a:r>
              <a:rPr lang="en-IN" b="0" u="none" strike="noStrike" dirty="0">
                <a:effectLst/>
                <a:latin typeface="Google Sans"/>
              </a:rPr>
              <a:t>: Stored as all zeros, supporting both positive and negative zero (+0 and -0).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Infinity</a:t>
            </a:r>
            <a:r>
              <a:rPr lang="en-IN" b="0" u="none" strike="noStrike" dirty="0">
                <a:effectLst/>
                <a:latin typeface="Google Sans"/>
              </a:rPr>
              <a:t>: Stored when exponent bits are all ones and fraction bits are all zeros (+∞ and -∞).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NaN</a:t>
            </a:r>
            <a:r>
              <a:rPr lang="en-IN" b="1" u="none" strike="noStrike" dirty="0">
                <a:effectLst/>
                <a:latin typeface="Google Sans"/>
              </a:rPr>
              <a:t> (Not a Number)</a:t>
            </a:r>
            <a:r>
              <a:rPr lang="en-IN" b="0" u="none" strike="noStrike" dirty="0">
                <a:effectLst/>
                <a:latin typeface="Google Sans"/>
              </a:rPr>
              <a:t>: Stored when exponent bits are all ones and fraction bits are not zero, representing invalid math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515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C4F5-2729-BB52-C322-531883B4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A65D-4FE2-7D16-97FE-2B6C3817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Understanding Floating-Point Arithmetic: How Computers Handle Decimals and  Why It Matters | by Yuvindu Rashmike Caldera | Medium">
            <a:extLst>
              <a:ext uri="{FF2B5EF4-FFF2-40B4-BE49-F238E27FC236}">
                <a16:creationId xmlns:a16="http://schemas.microsoft.com/office/drawing/2014/main" id="{BBE95A3B-6249-C787-E93E-61F2F5C62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43" y="2404382"/>
            <a:ext cx="10795000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lf-precision floating-point format - Wikipedia">
            <a:extLst>
              <a:ext uri="{FF2B5EF4-FFF2-40B4-BE49-F238E27FC236}">
                <a16:creationId xmlns:a16="http://schemas.microsoft.com/office/drawing/2014/main" id="{094BDA5A-518C-B432-D787-7EB741747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88" y="15581"/>
            <a:ext cx="5663112" cy="239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1686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A138-A1E6-BFE2-971A-EC040883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datatype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E5226-A496-892F-3724-4ED91DF54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Python complex data types</a:t>
            </a:r>
            <a:r>
              <a:rPr lang="en-IN" b="0" u="none" strike="noStrike" dirty="0">
                <a:effectLst/>
                <a:latin typeface="Google Sans"/>
              </a:rPr>
              <a:t> include the built-in complex numeric type for mathematical calculations, as well as collection types like lists, tuples, dictionaries, and sets that store multiple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36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ACF4-F203-03E9-B97A-146B6C6C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The Built-in Numeric Complex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415D-6D80-493A-62A7-7F050E342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Python natively supports complex numbers representing mathematical values with real and imaginary parts.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Syntax</a:t>
            </a:r>
            <a:r>
              <a:rPr lang="en-IN" b="0" u="none" strike="noStrike" dirty="0">
                <a:effectLst/>
                <a:latin typeface="Google Sans"/>
              </a:rPr>
              <a:t>: Created using the j or J suffix for the imaginary part, or via the complex(real, </a:t>
            </a:r>
            <a:r>
              <a:rPr lang="en-IN" b="0" u="none" strike="noStrike" dirty="0" err="1">
                <a:effectLst/>
                <a:latin typeface="Google Sans"/>
              </a:rPr>
              <a:t>imag</a:t>
            </a:r>
            <a:r>
              <a:rPr lang="en-IN" b="0" u="none" strike="noStrike" dirty="0">
                <a:effectLst/>
                <a:latin typeface="Google Sans"/>
              </a:rPr>
              <a:t>) function.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Attributes</a:t>
            </a:r>
            <a:r>
              <a:rPr lang="en-IN" b="0" u="none" strike="noStrike" dirty="0">
                <a:effectLst/>
                <a:latin typeface="Google Sans"/>
              </a:rPr>
              <a:t>: Access components using .real and .</a:t>
            </a:r>
            <a:r>
              <a:rPr lang="en-IN" b="0" u="none" strike="noStrike" dirty="0" err="1">
                <a:effectLst/>
                <a:latin typeface="Google Sans"/>
              </a:rPr>
              <a:t>imag</a:t>
            </a:r>
            <a:r>
              <a:rPr lang="en-IN" b="0" u="none" strike="noStrike" dirty="0">
                <a:effectLst/>
                <a:latin typeface="Google Sans"/>
              </a:rPr>
              <a:t> attributes.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Example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z = 3 + 4j</a:t>
            </a:r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306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EE58-9947-069C-C03B-D0403833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on Complex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433A-0C88-858F-70F5-145381194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Python handles complex numbers using the complex data type, represented as a + </a:t>
            </a:r>
            <a:r>
              <a:rPr lang="en-IN" b="0" u="none" strike="noStrike" dirty="0" err="1">
                <a:effectLst/>
                <a:latin typeface="Google Sans"/>
              </a:rPr>
              <a:t>bj</a:t>
            </a:r>
            <a:r>
              <a:rPr lang="en-IN" b="0" u="none" strike="noStrike" dirty="0">
                <a:effectLst/>
                <a:latin typeface="Google Sans"/>
              </a:rPr>
              <a:t>, where a is the real part and b is the imaginary part.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851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6BEB-FC4D-6F91-5E66-5CEEC42F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Basic Arithmetic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1C550-60DF-8EA4-32DA-0F1CC308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Addition (+)</a:t>
            </a:r>
            <a:r>
              <a:rPr lang="en-IN" b="0" u="none" strike="noStrike" dirty="0">
                <a:effectLst/>
                <a:latin typeface="Google Sans"/>
              </a:rPr>
              <a:t>: Adds real parts and imaginary parts separately.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Subtraction (-)</a:t>
            </a:r>
            <a:r>
              <a:rPr lang="en-IN" b="0" u="none" strike="noStrike" dirty="0">
                <a:effectLst/>
                <a:latin typeface="Google Sans"/>
              </a:rPr>
              <a:t>: Subtracts real parts and imaginary parts separately.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Multiplication (*)</a:t>
            </a:r>
            <a:r>
              <a:rPr lang="en-IN" b="0" u="none" strike="noStrike" dirty="0">
                <a:effectLst/>
                <a:latin typeface="Google Sans"/>
              </a:rPr>
              <a:t>: Multiplies numbers using the algebraic foil method (j² = -1).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Division (/)</a:t>
            </a:r>
            <a:r>
              <a:rPr lang="en-IN" b="0" u="none" strike="noStrike" dirty="0">
                <a:effectLst/>
                <a:latin typeface="Google Sans"/>
              </a:rPr>
              <a:t>: Divides by multiplying the numerator and denominator by the conjugate.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Exponentiation (**)</a:t>
            </a:r>
            <a:r>
              <a:rPr lang="en-IN" b="0" u="none" strike="noStrike" dirty="0">
                <a:effectLst/>
                <a:latin typeface="Google Sans"/>
              </a:rPr>
              <a:t>: Raises a complex number to a power.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302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11992-9754-FC7A-C18F-9F81111E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ACD4-D4B7-4EDB-F8FB-4121E7952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4CD0A-EEBF-47D8-9D0C-1A85F78E789C}"/>
              </a:ext>
            </a:extLst>
          </p:cNvPr>
          <p:cNvSpPr txBox="1"/>
          <p:nvPr/>
        </p:nvSpPr>
        <p:spPr>
          <a:xfrm>
            <a:off x="3048000" y="2136339"/>
            <a:ext cx="68427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Examples of basic arithmetic</a:t>
            </a:r>
          </a:p>
          <a:p>
            <a:r>
              <a:rPr lang="en-US" sz="2800" dirty="0"/>
              <a:t>z1 = 4 + 3j</a:t>
            </a:r>
          </a:p>
          <a:p>
            <a:r>
              <a:rPr lang="en-US" sz="2800" dirty="0"/>
              <a:t>z2 = 2 - 1j</a:t>
            </a:r>
          </a:p>
          <a:p>
            <a:endParaRPr lang="en-US" sz="2800" dirty="0"/>
          </a:p>
          <a:p>
            <a:r>
              <a:rPr lang="en-US" sz="2800" dirty="0"/>
              <a:t>print(z1 + z2)   # Output: (6+2j)</a:t>
            </a:r>
          </a:p>
          <a:p>
            <a:r>
              <a:rPr lang="en-US" sz="2800" dirty="0"/>
              <a:t>print(z1 - z2)   # Output: (2+4j)</a:t>
            </a:r>
          </a:p>
          <a:p>
            <a:r>
              <a:rPr lang="en-US" sz="2800" dirty="0"/>
              <a:t>print(z1 * z2)   # Output: (11+2j)</a:t>
            </a:r>
          </a:p>
          <a:p>
            <a:r>
              <a:rPr lang="en-US" sz="2800" dirty="0"/>
              <a:t>print(z1 / z2)   # Output: (1+2j)</a:t>
            </a:r>
          </a:p>
          <a:p>
            <a:r>
              <a:rPr lang="en-US" sz="2800" dirty="0"/>
              <a:t>print(z1 ** 2)   # Output: (7+24j)</a:t>
            </a:r>
          </a:p>
        </p:txBody>
      </p:sp>
    </p:spTree>
    <p:extLst>
      <p:ext uri="{BB962C8B-B14F-4D97-AF65-F5344CB8AC3E}">
        <p14:creationId xmlns:p14="http://schemas.microsoft.com/office/powerpoint/2010/main" val="19362527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677F-6C2F-261B-EDD4-0585DAC6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Built-in Attributes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3C39-F165-AE8B-8693-604E61F3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.real</a:t>
            </a:r>
            <a:r>
              <a:rPr lang="en-IN" b="0" u="none" strike="noStrike" dirty="0">
                <a:effectLst/>
                <a:latin typeface="Google Sans"/>
              </a:rPr>
              <a:t>: Extracts the real component as a float.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.</a:t>
            </a:r>
            <a:r>
              <a:rPr lang="en-IN" b="1" u="none" strike="noStrike" dirty="0" err="1">
                <a:effectLst/>
                <a:latin typeface="Google Sans"/>
              </a:rPr>
              <a:t>imag</a:t>
            </a:r>
            <a:r>
              <a:rPr lang="en-IN" b="0" u="none" strike="noStrike" dirty="0">
                <a:effectLst/>
                <a:latin typeface="Google Sans"/>
              </a:rPr>
              <a:t>: Extracts the imaginary component as a float.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.conjugate()</a:t>
            </a:r>
            <a:r>
              <a:rPr lang="en-IN" b="0" u="none" strike="noStrike" dirty="0">
                <a:effectLst/>
                <a:latin typeface="Google Sans"/>
              </a:rPr>
              <a:t>: Reverses the sign of the imaginary part.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E866F-8D3B-CDEB-262F-68E3DC8AF469}"/>
              </a:ext>
            </a:extLst>
          </p:cNvPr>
          <p:cNvSpPr txBox="1"/>
          <p:nvPr/>
        </p:nvSpPr>
        <p:spPr>
          <a:xfrm>
            <a:off x="2255520" y="4260056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z = 3 + 4j</a:t>
            </a:r>
          </a:p>
          <a:p>
            <a:endParaRPr lang="en-US" sz="2800" dirty="0"/>
          </a:p>
          <a:p>
            <a:r>
              <a:rPr lang="en-US" sz="2800" dirty="0"/>
              <a:t>print(</a:t>
            </a:r>
            <a:r>
              <a:rPr lang="en-US" sz="2800" dirty="0" err="1"/>
              <a:t>z.real</a:t>
            </a:r>
            <a:r>
              <a:rPr lang="en-US" sz="2800" dirty="0"/>
              <a:t>)         # Output: 3.0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z.imag</a:t>
            </a:r>
            <a:r>
              <a:rPr lang="en-US" sz="2800" dirty="0"/>
              <a:t>)         # Output: 4.0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z.conjugate</a:t>
            </a:r>
            <a:r>
              <a:rPr lang="en-US" sz="2800" dirty="0"/>
              <a:t>())  # Output: (3-4j)</a:t>
            </a:r>
          </a:p>
        </p:txBody>
      </p:sp>
    </p:spTree>
    <p:extLst>
      <p:ext uri="{BB962C8B-B14F-4D97-AF65-F5344CB8AC3E}">
        <p14:creationId xmlns:p14="http://schemas.microsoft.com/office/powerpoint/2010/main" val="2270334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2813-ADE6-BFE5-89C6-FA3CDD94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Built-in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327D-CC62-A905-D916-FE2287AA3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u="none" strike="noStrike" dirty="0">
                    <a:effectLst/>
                    <a:latin typeface="Google Sans"/>
                  </a:rPr>
                  <a:t>abs()</a:t>
                </a:r>
                <a:r>
                  <a:rPr lang="en-IN" b="0" u="none" strike="noStrike" dirty="0">
                    <a:effectLst/>
                    <a:latin typeface="Google Sans"/>
                  </a:rPr>
                  <a:t>: Calculates the magnitude (absolute value) using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IN" dirty="0">
                  <a:latin typeface="Google Sans"/>
                </a:endParaRPr>
              </a:p>
              <a:p>
                <a:r>
                  <a:rPr lang="en-IN" b="1" u="none" strike="noStrike" dirty="0">
                    <a:effectLst/>
                    <a:latin typeface="Courier New" panose="02070309020205020404" pitchFamily="49" charset="0"/>
                  </a:rPr>
                  <a:t>complex()</a:t>
                </a:r>
                <a:r>
                  <a:rPr lang="en-IN" b="0" u="none" strike="noStrike" dirty="0">
                    <a:effectLst/>
                    <a:latin typeface="Google Sans"/>
                  </a:rPr>
                  <a:t>: Creates a complex number from strings or numbers.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327D-CC62-A905-D916-FE2287AA3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35A342A-F01B-D0C3-F416-5244A04758B8}"/>
              </a:ext>
            </a:extLst>
          </p:cNvPr>
          <p:cNvSpPr txBox="1"/>
          <p:nvPr/>
        </p:nvSpPr>
        <p:spPr>
          <a:xfrm>
            <a:off x="2331720" y="377237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 = 3 + 4j</a:t>
            </a:r>
          </a:p>
          <a:p>
            <a:endParaRPr lang="en-US" sz="2400" dirty="0"/>
          </a:p>
          <a:p>
            <a:r>
              <a:rPr lang="en-US" sz="2400" dirty="0"/>
              <a:t>print(abs(z))                # Output: 5.0</a:t>
            </a:r>
          </a:p>
          <a:p>
            <a:r>
              <a:rPr lang="en-US" sz="2400" dirty="0"/>
              <a:t>print(complex(5, -2))        # Output: (5-2j)</a:t>
            </a:r>
          </a:p>
          <a:p>
            <a:r>
              <a:rPr lang="en-US" sz="2400" dirty="0"/>
              <a:t>print(complex("1+2j"))       # Output: (1+2j)</a:t>
            </a:r>
          </a:p>
        </p:txBody>
      </p:sp>
    </p:spTree>
    <p:extLst>
      <p:ext uri="{BB962C8B-B14F-4D97-AF65-F5344CB8AC3E}">
        <p14:creationId xmlns:p14="http://schemas.microsoft.com/office/powerpoint/2010/main" val="27050313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C544-F96B-6B8C-03F2-C0EF98EA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 datatype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620B7-6FF8-62AA-6BA3-BEB002F52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The bool data type in Python represents one of two built-in values: True or False.</a:t>
            </a:r>
            <a:r>
              <a:rPr lang="en-IN" b="0" u="none" strike="noStrike" dirty="0">
                <a:effectLst/>
                <a:latin typeface="Google Sans"/>
              </a:rPr>
              <a:t> </a:t>
            </a:r>
          </a:p>
          <a:p>
            <a:r>
              <a:rPr lang="en-IN" b="0" u="none" strike="noStrike" dirty="0">
                <a:effectLst/>
                <a:latin typeface="Google Sans"/>
              </a:rPr>
              <a:t>It is a subclass of the integer data type (int), where True behaves like 1 and False behaves like 0 in mathematical operations.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57072-68C9-54B2-2C63-542AB0BA28D3}"/>
              </a:ext>
            </a:extLst>
          </p:cNvPr>
          <p:cNvSpPr txBox="1"/>
          <p:nvPr/>
        </p:nvSpPr>
        <p:spPr>
          <a:xfrm>
            <a:off x="2712720" y="4168616"/>
            <a:ext cx="8641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Boolean literal assignment</a:t>
            </a:r>
          </a:p>
          <a:p>
            <a:r>
              <a:rPr lang="en-US" sz="2400" dirty="0" err="1"/>
              <a:t>is_active</a:t>
            </a:r>
            <a:r>
              <a:rPr lang="en-US" sz="2400" dirty="0"/>
              <a:t> = True</a:t>
            </a:r>
          </a:p>
          <a:p>
            <a:r>
              <a:rPr lang="en-US" sz="2400" dirty="0" err="1"/>
              <a:t>is_hidden</a:t>
            </a:r>
            <a:r>
              <a:rPr lang="en-US" sz="2400" dirty="0"/>
              <a:t> = False</a:t>
            </a:r>
          </a:p>
          <a:p>
            <a:endParaRPr lang="en-US" sz="2400" dirty="0"/>
          </a:p>
          <a:p>
            <a:r>
              <a:rPr lang="en-US" sz="2400" dirty="0"/>
              <a:t>print(type(</a:t>
            </a:r>
            <a:r>
              <a:rPr lang="en-US" sz="2400" dirty="0" err="1"/>
              <a:t>is_active</a:t>
            </a:r>
            <a:r>
              <a:rPr lang="en-US" sz="2400" dirty="0"/>
              <a:t>))  # Output: &lt;class 'bool'&gt;</a:t>
            </a:r>
          </a:p>
        </p:txBody>
      </p:sp>
    </p:spTree>
    <p:extLst>
      <p:ext uri="{BB962C8B-B14F-4D97-AF65-F5344CB8AC3E}">
        <p14:creationId xmlns:p14="http://schemas.microsoft.com/office/powerpoint/2010/main" val="30342234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1E0E-EBE0-4875-52AC-7AEFCE04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Boolean Evaluation (The bool() Function)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359C2-9074-5D55-787D-EDA79C6A2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Python evaluates almost any value as either "truthy" or "</a:t>
            </a:r>
            <a:r>
              <a:rPr lang="en-IN" b="0" u="none" strike="noStrike" dirty="0" err="1">
                <a:effectLst/>
                <a:latin typeface="Google Sans"/>
              </a:rPr>
              <a:t>falsy</a:t>
            </a:r>
            <a:r>
              <a:rPr lang="en-IN" b="0" u="none" strike="noStrike" dirty="0">
                <a:effectLst/>
                <a:latin typeface="Google Sans"/>
              </a:rPr>
              <a:t>". You can check this status using the built-in </a:t>
            </a:r>
            <a:r>
              <a:rPr lang="en-IN" b="1" u="none" strike="noStrike" dirty="0">
                <a:effectLst/>
                <a:latin typeface="Google Sans"/>
              </a:rPr>
              <a:t>bool()</a:t>
            </a:r>
            <a:r>
              <a:rPr lang="en-IN" b="0" u="none" strike="noStrike" dirty="0">
                <a:effectLst/>
                <a:latin typeface="Google Sans"/>
              </a:rPr>
              <a:t> function.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❌ </a:t>
            </a:r>
            <a:r>
              <a:rPr lang="en-IN" b="1" u="none" strike="noStrike" dirty="0" err="1">
                <a:effectLst/>
                <a:latin typeface="Google Sans"/>
              </a:rPr>
              <a:t>Falsy</a:t>
            </a:r>
            <a:r>
              <a:rPr lang="en-IN" b="1" u="none" strike="noStrike" dirty="0">
                <a:effectLst/>
                <a:latin typeface="Google Sans"/>
              </a:rPr>
              <a:t> Values: </a:t>
            </a:r>
            <a:r>
              <a:rPr lang="en-IN" b="0" u="none" strike="noStrike" dirty="0">
                <a:effectLst/>
                <a:latin typeface="Google Sans"/>
              </a:rPr>
              <a:t>These values always evaluate to False:</a:t>
            </a:r>
          </a:p>
          <a:p>
            <a:r>
              <a:rPr lang="en-IN" b="0" u="none" strike="noStrike" dirty="0">
                <a:effectLst/>
                <a:latin typeface="Google Sans"/>
              </a:rPr>
              <a:t>None</a:t>
            </a:r>
          </a:p>
          <a:p>
            <a:r>
              <a:rPr lang="en-IN" b="0" u="none" strike="noStrike" dirty="0">
                <a:effectLst/>
                <a:latin typeface="Google Sans"/>
              </a:rPr>
              <a:t>False</a:t>
            </a:r>
          </a:p>
          <a:p>
            <a:r>
              <a:rPr lang="en-IN" b="0" u="none" strike="noStrike" dirty="0">
                <a:effectLst/>
                <a:latin typeface="Google Sans"/>
              </a:rPr>
              <a:t>Zero of any numeric type (0, 0.0, 0j)</a:t>
            </a:r>
          </a:p>
          <a:p>
            <a:r>
              <a:rPr lang="en-IN" b="0" u="none" strike="noStrike" dirty="0">
                <a:effectLst/>
                <a:latin typeface="Google Sans"/>
              </a:rPr>
              <a:t>Empty sequences and collections ('', [], (), {}, set())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Truthy Values: </a:t>
            </a:r>
            <a:r>
              <a:rPr lang="en-IN" b="0" u="none" strike="noStrike" dirty="0">
                <a:effectLst/>
                <a:latin typeface="Google Sans"/>
              </a:rPr>
              <a:t>These values always evaluate to True: </a:t>
            </a:r>
          </a:p>
          <a:p>
            <a:r>
              <a:rPr lang="en-IN" b="0" u="none" strike="noStrike" dirty="0">
                <a:effectLst/>
                <a:latin typeface="Google Sans"/>
              </a:rPr>
              <a:t>Non-empty strings ('Hello')</a:t>
            </a:r>
          </a:p>
          <a:p>
            <a:r>
              <a:rPr lang="en-IN" b="0" u="none" strike="noStrike" dirty="0">
                <a:effectLst/>
                <a:latin typeface="Google Sans"/>
              </a:rPr>
              <a:t>Non-zero numbers (42, -5)</a:t>
            </a:r>
          </a:p>
          <a:p>
            <a:r>
              <a:rPr lang="en-IN" b="0" u="none" strike="noStrike" dirty="0">
                <a:effectLst/>
                <a:latin typeface="Google Sans"/>
              </a:rPr>
              <a:t>Non-empty lists, tuples, or dictionaries ([1, 2])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1182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5530-D63E-0197-AD3E-CF82C666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8113-2DB5-66FD-38FE-54EB4F016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none" strike="noStrike" dirty="0">
                <a:effectLst/>
                <a:latin typeface="Google Sans"/>
              </a:rPr>
              <a:t>1. Comparison Operators: </a:t>
            </a:r>
            <a:r>
              <a:rPr lang="en-IN" sz="2000" b="0" u="none" strike="noStrike" dirty="0">
                <a:effectLst/>
                <a:latin typeface="Google Sans"/>
              </a:rPr>
              <a:t>Comparisons automatically return a </a:t>
            </a:r>
            <a:r>
              <a:rPr lang="en-IN" sz="2000" b="0" u="none" strike="noStrike" dirty="0" err="1">
                <a:effectLst/>
                <a:latin typeface="Google Sans"/>
              </a:rPr>
              <a:t>boolean</a:t>
            </a:r>
            <a:r>
              <a:rPr lang="en-IN" sz="2000" b="0" u="none" strike="noStrike" dirty="0">
                <a:effectLst/>
                <a:latin typeface="Google Sans"/>
              </a:rPr>
              <a:t> value. </a:t>
            </a:r>
          </a:p>
          <a:p>
            <a:r>
              <a:rPr lang="en-IN" sz="2000" b="0" u="none" strike="noStrike" dirty="0">
                <a:effectLst/>
                <a:latin typeface="Google Sans"/>
              </a:rPr>
              <a:t>5 &gt; 3 returns True</a:t>
            </a:r>
          </a:p>
          <a:p>
            <a:r>
              <a:rPr lang="en-IN" sz="2000" b="0" u="none" strike="noStrike" dirty="0">
                <a:effectLst/>
                <a:latin typeface="Google Sans"/>
              </a:rPr>
              <a:t>10 == 20 returns False</a:t>
            </a:r>
          </a:p>
          <a:p>
            <a:endParaRPr lang="en-IN" sz="2000" b="1" u="none" strike="noStrike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IN" sz="2000" b="1" u="none" strike="noStrike" dirty="0">
                <a:effectLst/>
                <a:latin typeface="Google Sans"/>
              </a:rPr>
              <a:t>2. Logical Operators: </a:t>
            </a:r>
            <a:r>
              <a:rPr lang="en-IN" sz="2000" b="0" u="none" strike="noStrike" dirty="0">
                <a:effectLst/>
                <a:latin typeface="Google Sans"/>
              </a:rPr>
              <a:t>Combine multiple </a:t>
            </a:r>
            <a:r>
              <a:rPr lang="en-IN" sz="2000" b="0" u="none" strike="noStrike" dirty="0" err="1">
                <a:effectLst/>
                <a:latin typeface="Google Sans"/>
              </a:rPr>
              <a:t>boolean</a:t>
            </a:r>
            <a:r>
              <a:rPr lang="en-IN" sz="2000" b="0" u="none" strike="noStrike" dirty="0">
                <a:effectLst/>
                <a:latin typeface="Google Sans"/>
              </a:rPr>
              <a:t> expressions. </a:t>
            </a:r>
          </a:p>
          <a:p>
            <a:r>
              <a:rPr lang="en-IN" sz="2000" b="0" u="none" strike="noStrike" dirty="0">
                <a:effectLst/>
                <a:latin typeface="Google Sans"/>
              </a:rPr>
              <a:t>and: Returns True if both are true (e.g., True and False is False)</a:t>
            </a:r>
          </a:p>
          <a:p>
            <a:r>
              <a:rPr lang="en-IN" sz="2000" b="0" u="none" strike="noStrike" dirty="0">
                <a:effectLst/>
                <a:latin typeface="Google Sans"/>
              </a:rPr>
              <a:t>or: Returns True if at least one is true (e.g., True or False is True)</a:t>
            </a:r>
          </a:p>
          <a:p>
            <a:r>
              <a:rPr lang="en-IN" sz="2000" b="0" u="none" strike="noStrike" dirty="0">
                <a:effectLst/>
                <a:latin typeface="Google Sans"/>
              </a:rPr>
              <a:t>not: Inverts the </a:t>
            </a:r>
            <a:r>
              <a:rPr lang="en-IN" sz="2000" b="0" u="none" strike="noStrike" dirty="0" err="1">
                <a:effectLst/>
                <a:latin typeface="Google Sans"/>
              </a:rPr>
              <a:t>boolean</a:t>
            </a:r>
            <a:r>
              <a:rPr lang="en-IN" sz="2000" b="0" u="none" strike="noStrike" dirty="0">
                <a:effectLst/>
                <a:latin typeface="Google Sans"/>
              </a:rPr>
              <a:t> value (e.g., not True is False)</a:t>
            </a:r>
          </a:p>
          <a:p>
            <a:endParaRPr lang="en-IN" sz="2000" b="1" u="none" strike="noStrike" dirty="0">
              <a:effectLst/>
              <a:latin typeface="Google Sans"/>
            </a:endParaRPr>
          </a:p>
          <a:p>
            <a:pPr marL="0" indent="0">
              <a:buNone/>
            </a:pPr>
            <a:r>
              <a:rPr lang="en-IN" sz="2000" b="1" u="none" strike="noStrike" dirty="0">
                <a:effectLst/>
                <a:latin typeface="Google Sans"/>
              </a:rPr>
              <a:t>3. Conditional Statements: </a:t>
            </a:r>
            <a:r>
              <a:rPr lang="en-IN" sz="2000" b="0" u="none" strike="noStrike" dirty="0">
                <a:effectLst/>
                <a:latin typeface="Google Sans"/>
              </a:rPr>
              <a:t>Booleans control the flow of if-else blocks.</a:t>
            </a:r>
          </a:p>
          <a:p>
            <a:endParaRPr lang="en-IN" sz="2000" dirty="0">
              <a:latin typeface="Google Sans"/>
            </a:endParaRPr>
          </a:p>
          <a:p>
            <a:endParaRPr lang="en-IN" sz="2000" b="0" u="none" strike="noStrike" dirty="0">
              <a:effectLst/>
              <a:latin typeface="Google Sans"/>
            </a:endParaRPr>
          </a:p>
          <a:p>
            <a:endParaRPr lang="en-IN" sz="2000" b="0" u="none" strike="noStrike" dirty="0">
              <a:effectLst/>
              <a:latin typeface="Google Sans"/>
            </a:endParaRP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4F576-3CB8-16FC-8493-984458EA869E}"/>
              </a:ext>
            </a:extLst>
          </p:cNvPr>
          <p:cNvSpPr txBox="1"/>
          <p:nvPr/>
        </p:nvSpPr>
        <p:spPr>
          <a:xfrm>
            <a:off x="8534400" y="432444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user_logged_in</a:t>
            </a:r>
            <a:r>
              <a:rPr lang="en-US" sz="2400" dirty="0"/>
              <a:t> = True</a:t>
            </a:r>
          </a:p>
          <a:p>
            <a:endParaRPr lang="en-US" sz="2400" dirty="0"/>
          </a:p>
          <a:p>
            <a:r>
              <a:rPr lang="en-US" sz="2400" dirty="0"/>
              <a:t>if </a:t>
            </a:r>
            <a:r>
              <a:rPr lang="en-US" sz="2400" dirty="0" err="1"/>
              <a:t>user_logged_in</a:t>
            </a:r>
            <a:r>
              <a:rPr lang="en-US" sz="2400" dirty="0"/>
              <a:t>:</a:t>
            </a:r>
          </a:p>
          <a:p>
            <a:r>
              <a:rPr lang="en-US" sz="2400" dirty="0"/>
              <a:t>    print("Welcome back!")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    print("Please log in.")</a:t>
            </a:r>
          </a:p>
        </p:txBody>
      </p:sp>
    </p:spTree>
    <p:extLst>
      <p:ext uri="{BB962C8B-B14F-4D97-AF65-F5344CB8AC3E}">
        <p14:creationId xmlns:p14="http://schemas.microsoft.com/office/powerpoint/2010/main" val="1044372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B8F9-201E-F805-E107-0B851998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DDA2E-E96C-231C-EF37-C53E4A6C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str is the built-in string class</a:t>
            </a:r>
            <a:r>
              <a:rPr lang="en-IN" b="0" u="none" strike="noStrike" dirty="0">
                <a:effectLst/>
                <a:latin typeface="Google Sans"/>
              </a:rPr>
              <a:t> used to handle text data.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Text data in Python is represented as a sequence of Unicode characters enclosed in </a:t>
            </a:r>
          </a:p>
          <a:p>
            <a:r>
              <a:rPr lang="en-IN" b="0" u="none" strike="noStrike" dirty="0">
                <a:effectLst/>
                <a:latin typeface="Google Sans"/>
              </a:rPr>
              <a:t>single ('...’), </a:t>
            </a:r>
          </a:p>
          <a:p>
            <a:r>
              <a:rPr lang="en-IN" b="0" u="none" strike="noStrike" dirty="0">
                <a:effectLst/>
                <a:latin typeface="Google Sans"/>
              </a:rPr>
              <a:t>double ("..."), or </a:t>
            </a:r>
          </a:p>
          <a:p>
            <a:r>
              <a:rPr lang="en-IN" b="0" u="none" strike="noStrike" dirty="0">
                <a:effectLst/>
                <a:latin typeface="Google Sans"/>
              </a:rPr>
              <a:t>triple ('''...''' or """...""") quotes.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2147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F1F7-52C7-D74B-BF15-D799CCB4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Creating Strings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24B24-BE36-5DF1-7F51-A71C2949B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Single quotes: 'Hello'</a:t>
            </a:r>
          </a:p>
          <a:p>
            <a:r>
              <a:rPr lang="en-IN" b="0" u="none" strike="noStrike" dirty="0">
                <a:effectLst/>
                <a:latin typeface="Google Sans"/>
              </a:rPr>
              <a:t>Double quotes: "Hello"</a:t>
            </a:r>
          </a:p>
          <a:p>
            <a:r>
              <a:rPr lang="en-IN" b="0" u="none" strike="noStrike" dirty="0">
                <a:effectLst/>
                <a:latin typeface="Google Sans"/>
              </a:rPr>
              <a:t>Triple quotes (for multi-line strings): """Hello World"""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525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9155-FE35-EC95-3430-24C4D8A6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The str()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4372-7F03-6ADA-637B-8BCD98B8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str() function converts other data types (like integers, floats, or lists) into their string representations.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str(10) outputs '10'</a:t>
            </a:r>
          </a:p>
          <a:p>
            <a:r>
              <a:rPr lang="en-IN" b="0" u="none" strike="noStrike" dirty="0">
                <a:effectLst/>
                <a:latin typeface="Google Sans"/>
              </a:rPr>
              <a:t>str(3.14) outputs '3.14'</a:t>
            </a:r>
          </a:p>
          <a:p>
            <a:r>
              <a:rPr lang="en-IN" b="0" u="none" strike="noStrike" dirty="0">
                <a:effectLst/>
                <a:latin typeface="Google Sans"/>
              </a:rPr>
              <a:t>str([1, 2]) outputs '[1, 2]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839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A06B-6899-0458-F97F-FD5D7858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DB2B-F01E-47A1-D47B-BDEBE753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Immutable</a:t>
            </a:r>
            <a:r>
              <a:rPr lang="en-IN" b="0" u="none" strike="noStrike" dirty="0">
                <a:effectLst/>
                <a:latin typeface="Google Sans"/>
              </a:rPr>
              <a:t>: You cannot change a string after it is created.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Indexed</a:t>
            </a:r>
            <a:r>
              <a:rPr lang="en-IN" b="0" u="none" strike="noStrike" dirty="0">
                <a:effectLst/>
                <a:latin typeface="Google Sans"/>
              </a:rPr>
              <a:t>: Each character has a position starting from 0.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Iterable</a:t>
            </a:r>
            <a:r>
              <a:rPr lang="en-IN" b="0" u="none" strike="noStrike" dirty="0">
                <a:effectLst/>
                <a:latin typeface="Google Sans"/>
              </a:rPr>
              <a:t>: You can loop through a string character by character.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370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40B0-384D-10E5-AE41-687CA53A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String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8B13-ABDE-0371-59C3-43D71BDBA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.upper() converts all characters to uppercase.</a:t>
            </a:r>
          </a:p>
          <a:p>
            <a:r>
              <a:rPr lang="en-IN" b="0" u="none" strike="noStrike" dirty="0">
                <a:effectLst/>
                <a:latin typeface="Google Sans"/>
              </a:rPr>
              <a:t>.lower() converts all characters to lowercase.</a:t>
            </a:r>
          </a:p>
          <a:p>
            <a:r>
              <a:rPr lang="en-IN" b="0" u="none" strike="noStrike" dirty="0">
                <a:effectLst/>
                <a:latin typeface="Google Sans"/>
              </a:rPr>
              <a:t>.strip() removes whitespace from both ends.</a:t>
            </a:r>
          </a:p>
          <a:p>
            <a:r>
              <a:rPr lang="en-IN" b="0" u="none" strike="noStrike" dirty="0">
                <a:effectLst/>
                <a:latin typeface="Google Sans"/>
              </a:rPr>
              <a:t>.split(separator) splits the string into a list.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.replace(old, new)</a:t>
            </a:r>
            <a:r>
              <a:rPr lang="en-IN" b="0" u="none" strike="noStrike" dirty="0">
                <a:effectLst/>
                <a:latin typeface="Google Sans"/>
              </a:rPr>
              <a:t> replaces a substring with a new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960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7F1A-A5D3-C550-9C2A-E6A02DAB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String Slicing 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269A8-2557-0B25-6987-7631FC897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extract parts of a string using the syntax string[</a:t>
            </a:r>
            <a:r>
              <a:rPr lang="en-IN" b="0" u="none" strike="noStrike" dirty="0" err="1">
                <a:effectLst/>
                <a:latin typeface="Google Sans"/>
              </a:rPr>
              <a:t>start:end:step</a:t>
            </a:r>
            <a:r>
              <a:rPr lang="en-IN" b="0" u="none" strike="noStrike" dirty="0">
                <a:effectLst/>
                <a:latin typeface="Google Sans"/>
              </a:rPr>
              <a:t>].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text[0:5] gets characters from index 0 to 4.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text[::-1]</a:t>
            </a:r>
            <a:r>
              <a:rPr lang="en-IN" b="0" u="none" strike="noStrike" dirty="0">
                <a:effectLst/>
                <a:latin typeface="Google Sans"/>
              </a:rPr>
              <a:t> reverses the string.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658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1610-52EF-A84D-B9AA-7428D099C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range()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4E3AF-F024-AACA-695E-49F948269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range()</a:t>
            </a:r>
            <a:r>
              <a:rPr lang="en-IN" b="0" u="none" strike="noStrike" dirty="0">
                <a:effectLst/>
                <a:latin typeface="Google Sans"/>
              </a:rPr>
              <a:t> function in Python generates a sequence of numbers, which is most commonly used to loop a specific number of times in for loops. It returns an immutable sequence object rather than a list, making it highly memory efficient.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32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EC32-A884-4C07-A6DA-E695033E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Syntax Variations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244F-C7CD-3076-7D35-F85C210DD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The function accepts up to three arguments: range(start, stop, step).</a:t>
            </a:r>
          </a:p>
          <a:p>
            <a:r>
              <a:rPr lang="en-IN" b="0" u="none" strike="noStrike" dirty="0">
                <a:effectLst/>
                <a:latin typeface="Google Sans"/>
              </a:rPr>
              <a:t>range(stop) — Generates numbers from 0 up to (but not including) stop.</a:t>
            </a:r>
          </a:p>
          <a:p>
            <a:r>
              <a:rPr lang="en-IN" b="0" u="none" strike="noStrike" dirty="0">
                <a:effectLst/>
                <a:latin typeface="Google Sans"/>
              </a:rPr>
              <a:t>range(start, stop) — Generates numbers from start up to (but not including) stop.</a:t>
            </a:r>
          </a:p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range(start, stop, step)</a:t>
            </a:r>
            <a:r>
              <a:rPr lang="en-IN" b="0" u="none" strike="noStrike" dirty="0">
                <a:effectLst/>
                <a:latin typeface="Google Sans"/>
              </a:rPr>
              <a:t> — Generates numbers from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start</a:t>
            </a:r>
            <a:r>
              <a:rPr lang="en-IN" b="0" u="none" strike="noStrike" dirty="0">
                <a:effectLst/>
                <a:latin typeface="Google Sans"/>
              </a:rPr>
              <a:t>, incrementing by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step</a:t>
            </a:r>
            <a:r>
              <a:rPr lang="en-IN" b="0" u="none" strike="noStrike" dirty="0">
                <a:effectLst/>
                <a:latin typeface="Google Sans"/>
              </a:rPr>
              <a:t>, up to (but not including)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stop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258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B2A2-2CE9-D21F-F064-4B5174D27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B63D-4A22-9C33-96DA-DBDC6A004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Single Argument</a:t>
            </a:r>
            <a:r>
              <a:rPr lang="en-IN" b="0" u="none" strike="noStrike" dirty="0">
                <a:effectLst/>
                <a:latin typeface="Google Sans"/>
              </a:rPr>
              <a:t>: range(5) produces 0, 1, 2, 3, 4.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Two Arguments</a:t>
            </a:r>
            <a:r>
              <a:rPr lang="en-IN" b="0" u="none" strike="noStrike" dirty="0">
                <a:effectLst/>
                <a:latin typeface="Google Sans"/>
              </a:rPr>
              <a:t>: range(2, 6) produces 2, 3, 4, 5.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Three Arguments</a:t>
            </a:r>
            <a:r>
              <a:rPr lang="en-IN" b="0" u="none" strike="noStrike" dirty="0">
                <a:effectLst/>
                <a:latin typeface="Google Sans"/>
              </a:rPr>
              <a:t>: range(1, 10, 2) produces 1, 3, 5, 7, 9.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Counting Down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range(5, 0, -1)</a:t>
            </a:r>
            <a:r>
              <a:rPr lang="en-IN" b="0" u="none" strike="noStrike" dirty="0">
                <a:effectLst/>
                <a:latin typeface="Google Sans"/>
              </a:rPr>
              <a:t> produces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5, 4, 3, 2, 1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040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DF1D-3AB7-1376-EFB6-9A71C1FF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7539-CDB7-A9AF-F5CF-28DB88BC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DB9B0-5A7D-EE56-D60B-7DB47D18CB72}"/>
              </a:ext>
            </a:extLst>
          </p:cNvPr>
          <p:cNvSpPr txBox="1"/>
          <p:nvPr/>
        </p:nvSpPr>
        <p:spPr>
          <a:xfrm>
            <a:off x="1790700" y="501640"/>
            <a:ext cx="8610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Using range in a standard for loop</a:t>
            </a:r>
          </a:p>
          <a:p>
            <a:r>
              <a:rPr lang="en-US" sz="2800" dirty="0"/>
              <a:t>for </a:t>
            </a:r>
            <a:r>
              <a:rPr lang="en-US" sz="2800" dirty="0" err="1"/>
              <a:t>i</a:t>
            </a:r>
            <a:r>
              <a:rPr lang="en-US" sz="2800" dirty="0"/>
              <a:t> in range(3):</a:t>
            </a:r>
          </a:p>
          <a:p>
            <a:r>
              <a:rPr lang="en-US" sz="2800" dirty="0"/>
              <a:t>    print(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</a:p>
          <a:p>
            <a:r>
              <a:rPr lang="en-US" sz="2800" dirty="0"/>
              <a:t># Output:</a:t>
            </a:r>
          </a:p>
          <a:p>
            <a:r>
              <a:rPr lang="en-US" sz="2800" dirty="0"/>
              <a:t># 0</a:t>
            </a:r>
          </a:p>
          <a:p>
            <a:r>
              <a:rPr lang="en-US" sz="2800" dirty="0"/>
              <a:t># 1</a:t>
            </a:r>
          </a:p>
          <a:p>
            <a:r>
              <a:rPr lang="en-US" sz="2800" dirty="0"/>
              <a:t># 2</a:t>
            </a:r>
          </a:p>
          <a:p>
            <a:endParaRPr lang="en-US" sz="2800" dirty="0"/>
          </a:p>
          <a:p>
            <a:r>
              <a:rPr lang="en-US" sz="2800" dirty="0"/>
              <a:t># Converting a range directly into a list</a:t>
            </a:r>
          </a:p>
          <a:p>
            <a:r>
              <a:rPr lang="en-US" sz="2800" dirty="0"/>
              <a:t>numbers = list(range(5, 10))</a:t>
            </a:r>
          </a:p>
          <a:p>
            <a:r>
              <a:rPr lang="en-US" sz="2800" dirty="0"/>
              <a:t>print(numbers)</a:t>
            </a:r>
          </a:p>
          <a:p>
            <a:r>
              <a:rPr lang="en-US" sz="2800" dirty="0"/>
              <a:t># Output: [5, 6, 7, 8, 9]</a:t>
            </a:r>
          </a:p>
        </p:txBody>
      </p:sp>
    </p:spTree>
    <p:extLst>
      <p:ext uri="{BB962C8B-B14F-4D97-AF65-F5344CB8AC3E}">
        <p14:creationId xmlns:p14="http://schemas.microsoft.com/office/powerpoint/2010/main" val="1112576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8FD7-37B0-AB10-68CA-05CB160F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Critical Rules to Remember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4C0B4-140E-ADB2-E891-43AF72BB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Exclusive Stop</a:t>
            </a:r>
            <a:r>
              <a:rPr lang="en-IN" b="0" u="none" strike="noStrike" dirty="0">
                <a:effectLst/>
                <a:latin typeface="Google Sans"/>
              </a:rPr>
              <a:t>: The stop value is never included in the output.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Integers Only</a:t>
            </a:r>
            <a:r>
              <a:rPr lang="en-IN" b="0" u="none" strike="noStrike" dirty="0">
                <a:effectLst/>
                <a:latin typeface="Google Sans"/>
              </a:rPr>
              <a:t>: All arguments must be integers; floats will cause a </a:t>
            </a:r>
            <a:r>
              <a:rPr lang="en-IN" b="0" u="none" strike="noStrike" dirty="0" err="1">
                <a:effectLst/>
                <a:latin typeface="Google Sans"/>
              </a:rPr>
              <a:t>TypeError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Default Start</a:t>
            </a:r>
            <a:r>
              <a:rPr lang="en-IN" b="0" u="none" strike="noStrike" dirty="0">
                <a:effectLst/>
                <a:latin typeface="Google Sans"/>
              </a:rPr>
              <a:t>: The start parameter defaults to 0 if omitted.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Default Step</a:t>
            </a:r>
            <a:r>
              <a:rPr lang="en-IN" b="0" u="none" strike="noStrike" dirty="0">
                <a:effectLst/>
                <a:latin typeface="Google Sans"/>
              </a:rPr>
              <a:t>: The step parameter defaults to 1 if omitted.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Zero Step</a:t>
            </a:r>
            <a:r>
              <a:rPr lang="en-IN" b="0" u="none" strike="noStrike" dirty="0">
                <a:effectLst/>
                <a:latin typeface="Google Sans"/>
              </a:rPr>
              <a:t>: Passing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step</a:t>
            </a:r>
            <a:r>
              <a:rPr lang="en-IN" b="0" u="none" strike="noStrike" dirty="0">
                <a:effectLst/>
                <a:latin typeface="Google Sans"/>
              </a:rPr>
              <a:t> value of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0</a:t>
            </a:r>
            <a:r>
              <a:rPr lang="en-IN" b="0" u="none" strike="noStrike" dirty="0">
                <a:effectLst/>
                <a:latin typeface="Google Sans"/>
              </a:rPr>
              <a:t> raises a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ValueError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6319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8B30-4797-74F0-6BE9-B104B4A9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4A43-F24F-D101-182F-2FDBC8FBB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a </a:t>
            </a:r>
            <a:r>
              <a:rPr lang="en-IN" b="1" u="none" strike="noStrike" dirty="0">
                <a:effectLst/>
                <a:latin typeface="Google Sans"/>
              </a:rPr>
              <a:t>bytes object is an immutable sequence of single byte values (integers from 0 to 255)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They are primarily used for handling binary data, such as reading files, processing network packets, or handling image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069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90C6-B5E5-5817-F21F-1B58E5FF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Quick Summary of Bytes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E0890-6098-F16A-B85C-046892D4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Immutable</a:t>
            </a:r>
            <a:r>
              <a:rPr lang="en-IN" b="0" u="none" strike="noStrike" dirty="0">
                <a:effectLst/>
                <a:latin typeface="Google Sans"/>
              </a:rPr>
              <a:t>: You cannot change elements once created.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Value Range</a:t>
            </a:r>
            <a:r>
              <a:rPr lang="en-IN" b="0" u="none" strike="noStrike" dirty="0">
                <a:effectLst/>
                <a:latin typeface="Google Sans"/>
              </a:rPr>
              <a:t>: Each element is an integer between 0 and 255.</a:t>
            </a:r>
          </a:p>
          <a:p>
            <a:r>
              <a:rPr lang="en-IN" b="1" u="none" strike="noStrike" dirty="0">
                <a:effectLst/>
                <a:latin typeface="Google Sans"/>
              </a:rPr>
              <a:t>Representation</a:t>
            </a:r>
            <a:r>
              <a:rPr lang="en-IN" b="0" u="none" strike="noStrike" dirty="0">
                <a:effectLst/>
                <a:latin typeface="Google Sans"/>
              </a:rPr>
              <a:t>: Displayed as ASCII characters if printable, or hexadecimal escapes (\x00) if not.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Prefix</a:t>
            </a:r>
            <a:r>
              <a:rPr lang="en-IN" b="0" u="none" strike="noStrike" dirty="0">
                <a:effectLst/>
                <a:latin typeface="Google Sans"/>
              </a:rPr>
              <a:t>: Defined using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b</a:t>
            </a:r>
            <a:r>
              <a:rPr lang="en-IN" b="0" u="none" strike="noStrike" dirty="0">
                <a:effectLst/>
                <a:latin typeface="Google Sans"/>
              </a:rPr>
              <a:t> prefix before quotes (e.g.,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b'hello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'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9885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879F-48AC-1FD1-8943-F93BD740C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How to Create Bytes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6F45-755F-AB0C-3591-AB5F2D180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initialize a bytes object in several ways using the official Python bytes documentation standards: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FD04A-A667-2931-F52C-2463E7D4EBFC}"/>
              </a:ext>
            </a:extLst>
          </p:cNvPr>
          <p:cNvSpPr txBox="1"/>
          <p:nvPr/>
        </p:nvSpPr>
        <p:spPr>
          <a:xfrm>
            <a:off x="1051560" y="2618581"/>
            <a:ext cx="110337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1. Using the 'b' prefix (ASCII characters only)</a:t>
            </a:r>
          </a:p>
          <a:p>
            <a:r>
              <a:rPr lang="en-US" sz="2400" dirty="0"/>
              <a:t>b1 = </a:t>
            </a:r>
            <a:r>
              <a:rPr lang="en-US" sz="2400" dirty="0" err="1"/>
              <a:t>b"hello</a:t>
            </a:r>
            <a:r>
              <a:rPr lang="en-US" sz="2400" dirty="0"/>
              <a:t>"</a:t>
            </a:r>
          </a:p>
          <a:p>
            <a:endParaRPr lang="en-US" sz="2400" dirty="0"/>
          </a:p>
          <a:p>
            <a:r>
              <a:rPr lang="en-US" sz="2400" dirty="0"/>
              <a:t># 2. Using the bytes() constructor with a size (creates a null-byte sequence)</a:t>
            </a:r>
          </a:p>
          <a:p>
            <a:r>
              <a:rPr lang="en-US" sz="2400" dirty="0"/>
              <a:t>b2 = bytes(5)  # Result: b'\x00\x00\x00\x00\x00'</a:t>
            </a:r>
          </a:p>
          <a:p>
            <a:endParaRPr lang="en-US" sz="2400" dirty="0"/>
          </a:p>
          <a:p>
            <a:r>
              <a:rPr lang="en-US" sz="2400" dirty="0"/>
              <a:t># 3. From an </a:t>
            </a:r>
            <a:r>
              <a:rPr lang="en-US" sz="2400" dirty="0" err="1"/>
              <a:t>iterable</a:t>
            </a:r>
            <a:r>
              <a:rPr lang="en-US" sz="2400" dirty="0"/>
              <a:t> of integers (0-255)</a:t>
            </a:r>
          </a:p>
          <a:p>
            <a:r>
              <a:rPr lang="en-US" sz="2400" dirty="0"/>
              <a:t>b3 = bytes([72, 101, 108, 108, 111])  # Result: </a:t>
            </a:r>
            <a:r>
              <a:rPr lang="en-US" sz="2400" dirty="0" err="1"/>
              <a:t>b'Hello</a:t>
            </a:r>
            <a:r>
              <a:rPr lang="en-US" sz="2400" dirty="0"/>
              <a:t>'</a:t>
            </a:r>
          </a:p>
          <a:p>
            <a:endParaRPr lang="en-US" sz="2400" dirty="0"/>
          </a:p>
          <a:p>
            <a:r>
              <a:rPr lang="en-US" sz="2400" dirty="0"/>
              <a:t># 4. Encoding a standard string (requires specifying an encoding)</a:t>
            </a:r>
          </a:p>
          <a:p>
            <a:r>
              <a:rPr lang="en-US" sz="2400" dirty="0"/>
              <a:t>b4 = "</a:t>
            </a:r>
            <a:r>
              <a:rPr lang="en-US" sz="2400" dirty="0" err="1"/>
              <a:t>hello".encode</a:t>
            </a:r>
            <a:r>
              <a:rPr lang="en-US" sz="2400" dirty="0"/>
              <a:t>("utf-8")</a:t>
            </a:r>
          </a:p>
        </p:txBody>
      </p:sp>
    </p:spTree>
    <p:extLst>
      <p:ext uri="{BB962C8B-B14F-4D97-AF65-F5344CB8AC3E}">
        <p14:creationId xmlns:p14="http://schemas.microsoft.com/office/powerpoint/2010/main" val="16786980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EBE3-DF3B-B2C0-2D26-902233A4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Conversion: String vs. Bytes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72F2B-8E1F-08D4-1905-A880C16EA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Strings (str) represent text data (Unicode characters), while bytes represent raw binary data. You must explicitly convert between them.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String to Bytes (.encode())</a:t>
            </a:r>
            <a:r>
              <a:rPr lang="en-IN" b="0" u="none" strike="noStrike" dirty="0">
                <a:effectLst/>
                <a:latin typeface="Google Sans"/>
              </a:rPr>
              <a:t>: Converts human-readable text into binary format.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Bytes to String (</a:t>
            </a:r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.decode()</a:t>
            </a:r>
            <a:r>
              <a:rPr lang="en-IN" b="1" u="none" strike="noStrike" dirty="0">
                <a:effectLst/>
                <a:latin typeface="Google Sans"/>
              </a:rPr>
              <a:t>)</a:t>
            </a:r>
            <a:r>
              <a:rPr lang="en-IN" b="0" u="none" strike="noStrike" dirty="0">
                <a:effectLst/>
                <a:latin typeface="Google Sans"/>
              </a:rPr>
              <a:t>: Converts binary format back into human-readable text.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4477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6788-3007-1E29-FB5F-8A2C1B51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CE54-AE30-7B2D-3C21-8A6DF914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8B470-980B-44DD-522F-F179C263BF22}"/>
              </a:ext>
            </a:extLst>
          </p:cNvPr>
          <p:cNvSpPr txBox="1"/>
          <p:nvPr/>
        </p:nvSpPr>
        <p:spPr>
          <a:xfrm>
            <a:off x="3048000" y="2274838"/>
            <a:ext cx="87172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String to Bytes</a:t>
            </a:r>
          </a:p>
          <a:p>
            <a:r>
              <a:rPr lang="en-US" sz="2800" dirty="0"/>
              <a:t>text = "Python 🐍"</a:t>
            </a:r>
          </a:p>
          <a:p>
            <a:r>
              <a:rPr lang="en-US" sz="2800" dirty="0" err="1"/>
              <a:t>binary_data</a:t>
            </a:r>
            <a:r>
              <a:rPr lang="en-US" sz="2800" dirty="0"/>
              <a:t> = </a:t>
            </a:r>
            <a:r>
              <a:rPr lang="en-US" sz="2800" dirty="0" err="1"/>
              <a:t>text.encode</a:t>
            </a:r>
            <a:r>
              <a:rPr lang="en-US" sz="2800" dirty="0"/>
              <a:t>("utf-8")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binary_data</a:t>
            </a:r>
            <a:r>
              <a:rPr lang="en-US" sz="2800" dirty="0"/>
              <a:t>)  # Output: </a:t>
            </a:r>
            <a:r>
              <a:rPr lang="en-US" sz="2800" dirty="0" err="1"/>
              <a:t>b'Python</a:t>
            </a:r>
            <a:r>
              <a:rPr lang="en-US" sz="2800" dirty="0"/>
              <a:t> \xf0\x9f\x90\x8d'</a:t>
            </a:r>
          </a:p>
          <a:p>
            <a:endParaRPr lang="en-US" sz="2800" dirty="0"/>
          </a:p>
          <a:p>
            <a:r>
              <a:rPr lang="en-US" sz="2800" dirty="0"/>
              <a:t># Bytes to String</a:t>
            </a:r>
          </a:p>
          <a:p>
            <a:r>
              <a:rPr lang="en-US" sz="2800" dirty="0" err="1"/>
              <a:t>original_text</a:t>
            </a:r>
            <a:r>
              <a:rPr lang="en-US" sz="2800" dirty="0"/>
              <a:t> = </a:t>
            </a:r>
            <a:r>
              <a:rPr lang="en-US" sz="2800" dirty="0" err="1"/>
              <a:t>binary_data.decode</a:t>
            </a:r>
            <a:r>
              <a:rPr lang="en-US" sz="2800" dirty="0"/>
              <a:t>("utf-8")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original_text</a:t>
            </a:r>
            <a:r>
              <a:rPr lang="en-US" sz="2800" dirty="0"/>
              <a:t>)  # Output: Python 🐍</a:t>
            </a:r>
          </a:p>
        </p:txBody>
      </p:sp>
    </p:spTree>
    <p:extLst>
      <p:ext uri="{BB962C8B-B14F-4D97-AF65-F5344CB8AC3E}">
        <p14:creationId xmlns:p14="http://schemas.microsoft.com/office/powerpoint/2010/main" val="39965812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5F9E-0BDE-FDE4-03BF-0B01AB21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</a:t>
            </a:r>
            <a:r>
              <a:rPr lang="en-IN" b="1" u="none" strike="noStrike" dirty="0" err="1">
                <a:effectLst/>
                <a:latin typeface="Google Sans"/>
              </a:rPr>
              <a:t>Behaviors</a:t>
            </a:r>
            <a:r>
              <a:rPr lang="en-IN" b="1" u="none" strike="noStrike" dirty="0">
                <a:effectLst/>
                <a:latin typeface="Google Sans"/>
              </a:rPr>
              <a:t> and Pitfalls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0A9A2-84EA-D075-9C32-95CC8B03E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Indexing returns integers</a:t>
            </a:r>
            <a:r>
              <a:rPr lang="en-IN" b="0" u="none" strike="noStrike" dirty="0">
                <a:effectLst/>
                <a:latin typeface="Google Sans"/>
              </a:rPr>
              <a:t>: Indexing a bytes object returns the underlying integer value, not a character.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Slicing returns bytes</a:t>
            </a:r>
            <a:r>
              <a:rPr lang="en-IN" b="0" u="none" strike="noStrike" dirty="0">
                <a:effectLst/>
                <a:latin typeface="Google Sans"/>
              </a:rPr>
              <a:t>: Slicing returns a new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bytes</a:t>
            </a:r>
            <a:r>
              <a:rPr lang="en-IN" b="0" u="none" strike="noStrike" dirty="0">
                <a:effectLst/>
                <a:latin typeface="Google Sans"/>
              </a:rPr>
              <a:t> object.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93AAC-0294-20F3-0E56-76F368BD97B8}"/>
              </a:ext>
            </a:extLst>
          </p:cNvPr>
          <p:cNvSpPr txBox="1"/>
          <p:nvPr/>
        </p:nvSpPr>
        <p:spPr>
          <a:xfrm>
            <a:off x="975360" y="4001294"/>
            <a:ext cx="7818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b_sample</a:t>
            </a:r>
            <a:r>
              <a:rPr lang="en-US" sz="2400" dirty="0"/>
              <a:t> = </a:t>
            </a:r>
            <a:r>
              <a:rPr lang="en-US" sz="2400" dirty="0" err="1"/>
              <a:t>b"ABC</a:t>
            </a:r>
            <a:r>
              <a:rPr lang="en-US" sz="2400" dirty="0"/>
              <a:t>"</a:t>
            </a:r>
          </a:p>
          <a:p>
            <a:endParaRPr lang="en-US" sz="2400" dirty="0"/>
          </a:p>
          <a:p>
            <a:r>
              <a:rPr lang="en-US" sz="2400" dirty="0"/>
              <a:t>print(</a:t>
            </a:r>
            <a:r>
              <a:rPr lang="en-US" sz="2400" dirty="0" err="1"/>
              <a:t>b_sample</a:t>
            </a:r>
            <a:r>
              <a:rPr lang="en-US" sz="2400" dirty="0"/>
              <a:t>[0])  # Output: 65 (The ASCII value of 'A')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b_sample</a:t>
            </a:r>
            <a:r>
              <a:rPr lang="en-US" sz="2400" dirty="0"/>
              <a:t>[:2])  # Output: </a:t>
            </a:r>
            <a:r>
              <a:rPr lang="en-US" sz="2400" dirty="0" err="1"/>
              <a:t>b'AB</a:t>
            </a:r>
            <a:r>
              <a:rPr lang="en-US" sz="2400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8811696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0889-EEEE-4F9D-F4C3-EDC516B2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bytes vs </a:t>
            </a:r>
            <a:r>
              <a:rPr lang="en-IN" dirty="0" err="1"/>
              <a:t>bytearray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7072-6149-2423-44A2-CC8530ADF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need a mutable version of a byte sequence (where you can modify elements in place), use a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bytearray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  <a:r>
              <a:rPr lang="en-IN" dirty="0"/>
              <a:t> 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75EC82-43EC-B159-612F-453426736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271105"/>
              </p:ext>
            </p:extLst>
          </p:nvPr>
        </p:nvGraphicFramePr>
        <p:xfrm>
          <a:off x="1163320" y="3259613"/>
          <a:ext cx="10007600" cy="2917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269">
                  <a:extLst>
                    <a:ext uri="{9D8B030D-6E8A-4147-A177-3AD203B41FA5}">
                      <a16:colId xmlns:a16="http://schemas.microsoft.com/office/drawing/2014/main" val="2173269675"/>
                    </a:ext>
                  </a:extLst>
                </a:gridCol>
                <a:gridCol w="4013464">
                  <a:extLst>
                    <a:ext uri="{9D8B030D-6E8A-4147-A177-3AD203B41FA5}">
                      <a16:colId xmlns:a16="http://schemas.microsoft.com/office/drawing/2014/main" val="2873949785"/>
                    </a:ext>
                  </a:extLst>
                </a:gridCol>
                <a:gridCol w="3335867">
                  <a:extLst>
                    <a:ext uri="{9D8B030D-6E8A-4147-A177-3AD203B41FA5}">
                      <a16:colId xmlns:a16="http://schemas.microsoft.com/office/drawing/2014/main" val="2760355342"/>
                    </a:ext>
                  </a:extLst>
                </a:gridCol>
              </a:tblGrid>
              <a:tr h="520955">
                <a:tc>
                  <a:txBody>
                    <a:bodyPr/>
                    <a:lstStyle/>
                    <a:p>
                      <a:r>
                        <a:rPr lang="en-IN" sz="2400" dirty="0"/>
                        <a:t>Feature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bytes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bytearray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32302"/>
                  </a:ext>
                </a:extLst>
              </a:tr>
              <a:tr h="937719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 (cannot change)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 (can change)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442583"/>
                  </a:ext>
                </a:extLst>
              </a:tr>
              <a:tr h="520955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b'hello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 or bytes()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bytearray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b'hello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177982"/>
                  </a:ext>
                </a:extLst>
              </a:tr>
              <a:tr h="937719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Case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binary data, dictionary keys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Modifying files, network buffers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88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9200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8B10-CA41-6E10-5498-77C739C4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762E-62A6-36E8-38E6-9FF55A64A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A </a:t>
            </a:r>
            <a:r>
              <a:rPr lang="en-IN" b="1" u="none" strike="noStrike" dirty="0">
                <a:effectLst/>
                <a:latin typeface="Google Sans"/>
              </a:rPr>
              <a:t>list</a:t>
            </a:r>
            <a:r>
              <a:rPr lang="en-IN" b="0" u="none" strike="noStrike" dirty="0">
                <a:effectLst/>
                <a:latin typeface="Google Sans"/>
              </a:rPr>
              <a:t> in Python is a built-in, ordered, and mutable data structure used to store multiple items in a single variable. Lists are defined by placing comma-separated values inside square brackets [].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529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C9CC-7541-DEE7-85BA-90829620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2F00-B491-2987-2915-804540D6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Ordered</a:t>
            </a:r>
            <a:r>
              <a:rPr lang="en-IN" b="0" u="none" strike="noStrike" dirty="0">
                <a:effectLst/>
                <a:latin typeface="Google Sans"/>
              </a:rPr>
              <a:t>: Items have a defined order that will not change.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Mutable</a:t>
            </a:r>
            <a:r>
              <a:rPr lang="en-IN" b="0" u="none" strike="noStrike" dirty="0">
                <a:effectLst/>
                <a:latin typeface="Google Sans"/>
              </a:rPr>
              <a:t>: You can change, add, and remove items after creation.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Allow Duplicates</a:t>
            </a:r>
            <a:r>
              <a:rPr lang="en-IN" b="0" u="none" strike="noStrike" dirty="0">
                <a:effectLst/>
                <a:latin typeface="Google Sans"/>
              </a:rPr>
              <a:t>: Lists can have multiple items with the same value.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Heterogeneous</a:t>
            </a:r>
            <a:r>
              <a:rPr lang="en-IN" b="0" u="none" strike="noStrike" dirty="0">
                <a:effectLst/>
                <a:latin typeface="Google Sans"/>
              </a:rPr>
              <a:t>: Items can be of different data types (e.g., strings, integers, </a:t>
            </a:r>
            <a:r>
              <a:rPr lang="en-IN" b="0" u="none" strike="noStrike" dirty="0" err="1">
                <a:effectLst/>
                <a:latin typeface="Google Sans"/>
              </a:rPr>
              <a:t>booleans</a:t>
            </a:r>
            <a:r>
              <a:rPr lang="en-IN" b="0" u="none" strike="noStrike" dirty="0">
                <a:effectLst/>
                <a:latin typeface="Google Sans"/>
              </a:rPr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462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31F4-093A-CE19-05A4-471987C7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Core Operations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8F8CB-45EE-1465-BBA1-45C6F007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1. Creating a List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DEDB5-9089-9F2C-596A-01A826041CCB}"/>
              </a:ext>
            </a:extLst>
          </p:cNvPr>
          <p:cNvSpPr txBox="1"/>
          <p:nvPr/>
        </p:nvSpPr>
        <p:spPr>
          <a:xfrm>
            <a:off x="838200" y="2690336"/>
            <a:ext cx="7589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Empty list</a:t>
            </a:r>
          </a:p>
          <a:p>
            <a:r>
              <a:rPr lang="en-US" sz="2400" dirty="0" err="1"/>
              <a:t>empty_list</a:t>
            </a:r>
            <a:r>
              <a:rPr lang="en-US" sz="2400" dirty="0"/>
              <a:t> = []</a:t>
            </a:r>
          </a:p>
          <a:p>
            <a:endParaRPr lang="en-US" sz="2400" dirty="0"/>
          </a:p>
          <a:p>
            <a:r>
              <a:rPr lang="en-US" sz="2400" dirty="0"/>
              <a:t># List with mixed data types</a:t>
            </a:r>
          </a:p>
          <a:p>
            <a:r>
              <a:rPr lang="en-US" sz="2400" dirty="0" err="1"/>
              <a:t>my_list</a:t>
            </a:r>
            <a:r>
              <a:rPr lang="en-US" sz="2400" dirty="0"/>
              <a:t> = ["apple", 42, True, 3.14]</a:t>
            </a:r>
          </a:p>
        </p:txBody>
      </p:sp>
    </p:spTree>
    <p:extLst>
      <p:ext uri="{BB962C8B-B14F-4D97-AF65-F5344CB8AC3E}">
        <p14:creationId xmlns:p14="http://schemas.microsoft.com/office/powerpoint/2010/main" val="6169066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5D3A-9855-142A-1274-BDA2257D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Accessing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27A5-40D3-B579-06C3-8CAF24011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Lists use zero-based indexing. You can also use negative indexing to count from the end.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02AAC-C340-F72C-FE16-68722E2AC1E2}"/>
              </a:ext>
            </a:extLst>
          </p:cNvPr>
          <p:cNvSpPr txBox="1"/>
          <p:nvPr/>
        </p:nvSpPr>
        <p:spPr>
          <a:xfrm>
            <a:off x="1173480" y="3606076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fruits = ["apple", "banana", "cherry"]</a:t>
            </a:r>
          </a:p>
          <a:p>
            <a:endParaRPr lang="en-US" sz="2800" dirty="0"/>
          </a:p>
          <a:p>
            <a:r>
              <a:rPr lang="en-US" sz="2800" dirty="0"/>
              <a:t>print(fruits[0])   # Output: apple (First item)</a:t>
            </a:r>
          </a:p>
          <a:p>
            <a:r>
              <a:rPr lang="en-US" sz="2800" dirty="0"/>
              <a:t>print(fruits[-1])  # Output: cherry (Last item)</a:t>
            </a:r>
          </a:p>
        </p:txBody>
      </p:sp>
    </p:spTree>
    <p:extLst>
      <p:ext uri="{BB962C8B-B14F-4D97-AF65-F5344CB8AC3E}">
        <p14:creationId xmlns:p14="http://schemas.microsoft.com/office/powerpoint/2010/main" val="35763037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B1C7-8ECD-F65F-85A6-201EC359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Modifying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A108-1C8C-537D-2BFF-384F463D9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49E4E-B596-5DED-08E2-68E74EE0E436}"/>
              </a:ext>
            </a:extLst>
          </p:cNvPr>
          <p:cNvSpPr txBox="1"/>
          <p:nvPr/>
        </p:nvSpPr>
        <p:spPr>
          <a:xfrm>
            <a:off x="3048000" y="2828836"/>
            <a:ext cx="89611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["apple", "banana", "cherry"]</a:t>
            </a:r>
          </a:p>
          <a:p>
            <a:r>
              <a:rPr lang="en-US" sz="3200" dirty="0"/>
              <a:t>fruits[1] = "blueberry"</a:t>
            </a:r>
          </a:p>
          <a:p>
            <a:endParaRPr lang="en-US" sz="3200" dirty="0"/>
          </a:p>
          <a:p>
            <a:r>
              <a:rPr lang="en-US" sz="3200" dirty="0"/>
              <a:t>print(fruits) # Output: ['apple', 'blueberry', 'cherry']</a:t>
            </a:r>
          </a:p>
        </p:txBody>
      </p:sp>
    </p:spTree>
    <p:extLst>
      <p:ext uri="{BB962C8B-B14F-4D97-AF65-F5344CB8AC3E}">
        <p14:creationId xmlns:p14="http://schemas.microsoft.com/office/powerpoint/2010/main" val="26803157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8CA0-8D1E-EA95-AFFB-B6FE3C75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Adding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4EC8-5661-49B6-C600-B84799A5A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append()</a:t>
            </a:r>
            <a:r>
              <a:rPr lang="en-IN" b="0" u="none" strike="noStrike" dirty="0">
                <a:effectLst/>
                <a:latin typeface="Google Sans"/>
              </a:rPr>
              <a:t>: Adds an item to the end of the list.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insert()</a:t>
            </a:r>
            <a:r>
              <a:rPr lang="en-IN" b="0" u="none" strike="noStrike" dirty="0">
                <a:effectLst/>
                <a:latin typeface="Google Sans"/>
              </a:rPr>
              <a:t>: Adds an item at a specific index.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extend()</a:t>
            </a:r>
            <a:r>
              <a:rPr lang="en-IN" b="0" u="none" strike="noStrike" dirty="0">
                <a:effectLst/>
                <a:latin typeface="Google Sans"/>
              </a:rPr>
              <a:t>: Appends elements from another </a:t>
            </a:r>
            <a:r>
              <a:rPr lang="en-IN" b="0" u="none" strike="noStrike" dirty="0" err="1">
                <a:effectLst/>
                <a:latin typeface="Google Sans"/>
              </a:rPr>
              <a:t>iterable</a:t>
            </a:r>
            <a:r>
              <a:rPr lang="en-IN" b="0" u="none" strike="noStrike" dirty="0">
                <a:effectLst/>
                <a:latin typeface="Google Sans"/>
              </a:rPr>
              <a:t> to the current list.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9DCD5-03B0-600F-DCC6-465947179C63}"/>
              </a:ext>
            </a:extLst>
          </p:cNvPr>
          <p:cNvSpPr txBox="1"/>
          <p:nvPr/>
        </p:nvSpPr>
        <p:spPr>
          <a:xfrm>
            <a:off x="1409700" y="4001294"/>
            <a:ext cx="9372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numbers = [1, 2, 3]</a:t>
            </a:r>
          </a:p>
          <a:p>
            <a:endParaRPr lang="en-US" sz="2800" dirty="0"/>
          </a:p>
          <a:p>
            <a:r>
              <a:rPr lang="en-US" sz="2800" dirty="0" err="1"/>
              <a:t>numbers.append</a:t>
            </a:r>
            <a:r>
              <a:rPr lang="en-US" sz="2800" dirty="0"/>
              <a:t>(4)        # [1, 2, 3, 4]</a:t>
            </a:r>
          </a:p>
          <a:p>
            <a:r>
              <a:rPr lang="en-US" sz="2800" dirty="0" err="1"/>
              <a:t>numbers.insert</a:t>
            </a:r>
            <a:r>
              <a:rPr lang="en-US" sz="2800" dirty="0"/>
              <a:t>(1, 1.5)   # [1, 1.5, 2, 3, 4]</a:t>
            </a:r>
          </a:p>
          <a:p>
            <a:r>
              <a:rPr lang="en-US" sz="2800" dirty="0" err="1"/>
              <a:t>numbers.extend</a:t>
            </a:r>
            <a:r>
              <a:rPr lang="en-US" sz="2800" dirty="0"/>
              <a:t>([5, 6])   # [1, 1.5, 2, 3, 4, 5, 6]</a:t>
            </a:r>
          </a:p>
        </p:txBody>
      </p:sp>
    </p:spTree>
    <p:extLst>
      <p:ext uri="{BB962C8B-B14F-4D97-AF65-F5344CB8AC3E}">
        <p14:creationId xmlns:p14="http://schemas.microsoft.com/office/powerpoint/2010/main" val="30107160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D4A2-18E2-F73D-D150-20A3DBDD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Removing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49B25-EBD4-786A-7FE4-A01623B2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remove()</a:t>
            </a:r>
            <a:r>
              <a:rPr lang="en-IN" b="0" u="none" strike="noStrike" dirty="0">
                <a:effectLst/>
                <a:latin typeface="Google Sans"/>
              </a:rPr>
              <a:t>: Removes the first occurrence of a specific value.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pop()</a:t>
            </a:r>
            <a:r>
              <a:rPr lang="en-IN" b="0" u="none" strike="noStrike" dirty="0">
                <a:effectLst/>
                <a:latin typeface="Google Sans"/>
              </a:rPr>
              <a:t>: Removes and returns the item at a specific index (defaults to the last item).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clear()</a:t>
            </a:r>
            <a:r>
              <a:rPr lang="en-IN" b="0" u="none" strike="noStrike" dirty="0">
                <a:effectLst/>
                <a:latin typeface="Google Sans"/>
              </a:rPr>
              <a:t>: Empties the entire list.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F604B-FE9E-20A8-7463-7EFDA58C003C}"/>
              </a:ext>
            </a:extLst>
          </p:cNvPr>
          <p:cNvSpPr txBox="1"/>
          <p:nvPr/>
        </p:nvSpPr>
        <p:spPr>
          <a:xfrm>
            <a:off x="838200" y="4001294"/>
            <a:ext cx="10972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items = ["ax", "box", "chair", "box"]</a:t>
            </a:r>
          </a:p>
          <a:p>
            <a:endParaRPr lang="en-US" sz="2800" dirty="0"/>
          </a:p>
          <a:p>
            <a:r>
              <a:rPr lang="en-US" sz="2800" dirty="0" err="1"/>
              <a:t>items.remove</a:t>
            </a:r>
            <a:r>
              <a:rPr lang="en-US" sz="2800" dirty="0"/>
              <a:t>("box")  # Removes the first "box" -&gt; ["ax", "chair", "box"]</a:t>
            </a:r>
          </a:p>
          <a:p>
            <a:r>
              <a:rPr lang="en-US" sz="2800" dirty="0" err="1"/>
              <a:t>last_item</a:t>
            </a:r>
            <a:r>
              <a:rPr lang="en-US" sz="2800" dirty="0"/>
              <a:t> = </a:t>
            </a:r>
            <a:r>
              <a:rPr lang="en-US" sz="2800" dirty="0" err="1"/>
              <a:t>items.pop</a:t>
            </a:r>
            <a:r>
              <a:rPr lang="en-US" sz="2800" dirty="0"/>
              <a:t>()  # Removes and returns "box" -&gt; ["ax", "chair"]</a:t>
            </a:r>
          </a:p>
          <a:p>
            <a:r>
              <a:rPr lang="en-US" sz="2800" dirty="0" err="1"/>
              <a:t>items.clear</a:t>
            </a:r>
            <a:r>
              <a:rPr lang="en-US" sz="2800" dirty="0"/>
              <a:t>()        # Empties the list -&gt; []</a:t>
            </a:r>
          </a:p>
        </p:txBody>
      </p:sp>
    </p:spTree>
    <p:extLst>
      <p:ext uri="{BB962C8B-B14F-4D97-AF65-F5344CB8AC3E}">
        <p14:creationId xmlns:p14="http://schemas.microsoft.com/office/powerpoint/2010/main" val="12947867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247C-D46D-833A-DF43-45BD99FD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6. Common Utility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1AB37-BE54-2833-84A2-EFEB7C7EB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 err="1">
                <a:effectLst/>
                <a:latin typeface="Google Sans"/>
              </a:rPr>
              <a:t>len</a:t>
            </a:r>
            <a:r>
              <a:rPr lang="en-IN" b="1" u="none" strike="noStrike" dirty="0">
                <a:effectLst/>
                <a:latin typeface="Google Sans"/>
              </a:rPr>
              <a:t>(list)</a:t>
            </a:r>
            <a:r>
              <a:rPr lang="en-IN" b="0" u="none" strike="noStrike" dirty="0">
                <a:effectLst/>
                <a:latin typeface="Google Sans"/>
              </a:rPr>
              <a:t>: Returns the number of items in the list.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sort()</a:t>
            </a:r>
            <a:r>
              <a:rPr lang="en-IN" b="0" u="none" strike="noStrike" dirty="0">
                <a:effectLst/>
                <a:latin typeface="Google Sans"/>
              </a:rPr>
              <a:t>: Sorts the list in ascending order permanently.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reverse()</a:t>
            </a:r>
            <a:r>
              <a:rPr lang="en-IN" b="0" u="none" strike="noStrike" dirty="0">
                <a:effectLst/>
                <a:latin typeface="Google Sans"/>
              </a:rPr>
              <a:t>: Reverses the order of the list permanently.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count(value)</a:t>
            </a:r>
            <a:r>
              <a:rPr lang="en-IN" b="0" u="none" strike="noStrike" dirty="0">
                <a:effectLst/>
                <a:latin typeface="Google Sans"/>
              </a:rPr>
              <a:t>: Returns the number of times a value appears.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563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BC48E-C19D-F68F-8D81-3B3D330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List Comprehension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27FA0-9F44-1225-5EE2-CD38BA94D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List comprehension offers a shorter syntax to create a new list based on the values of an existing list.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BE407-D421-C1EB-BB31-30B0A79CB5A3}"/>
              </a:ext>
            </a:extLst>
          </p:cNvPr>
          <p:cNvSpPr txBox="1"/>
          <p:nvPr/>
        </p:nvSpPr>
        <p:spPr>
          <a:xfrm>
            <a:off x="3048000" y="2967335"/>
            <a:ext cx="7696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Create a list of squares for numbers 0 to 4</a:t>
            </a:r>
          </a:p>
          <a:p>
            <a:r>
              <a:rPr lang="en-US" sz="2800" dirty="0"/>
              <a:t>squares = [x**2 for x in range(5)]</a:t>
            </a:r>
          </a:p>
          <a:p>
            <a:r>
              <a:rPr lang="en-US" sz="2800" dirty="0"/>
              <a:t>print(squares)  # Output: [0, 1, 4, 9, 16]</a:t>
            </a:r>
          </a:p>
        </p:txBody>
      </p:sp>
    </p:spTree>
    <p:extLst>
      <p:ext uri="{BB962C8B-B14F-4D97-AF65-F5344CB8AC3E}">
        <p14:creationId xmlns:p14="http://schemas.microsoft.com/office/powerpoint/2010/main" val="7864185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253E-EA1A-8D20-AF44-E006B8E5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8B5CB-0682-4359-5243-371140932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A </a:t>
            </a:r>
            <a:r>
              <a:rPr lang="en-IN" b="1" u="none" strike="noStrike" dirty="0">
                <a:effectLst/>
                <a:latin typeface="Google Sans"/>
              </a:rPr>
              <a:t>tuple</a:t>
            </a:r>
            <a:r>
              <a:rPr lang="en-IN" b="0" u="none" strike="noStrike" dirty="0">
                <a:effectLst/>
                <a:latin typeface="Google Sans"/>
              </a:rPr>
              <a:t> in Python is an immutable, ordered collection of items used to store multiple pieces of data in a single variable.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Core Characteristics</a:t>
            </a:r>
          </a:p>
          <a:p>
            <a:r>
              <a:rPr lang="en-IN" b="1" u="none" strike="noStrike" dirty="0">
                <a:effectLst/>
                <a:latin typeface="Google Sans"/>
              </a:rPr>
              <a:t>Ordered</a:t>
            </a:r>
            <a:r>
              <a:rPr lang="en-IN" b="0" u="none" strike="noStrike" dirty="0">
                <a:effectLst/>
                <a:latin typeface="Google Sans"/>
              </a:rPr>
              <a:t>: Items have a defined order that will not change.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Immutable</a:t>
            </a:r>
            <a:r>
              <a:rPr lang="en-IN" b="0" u="none" strike="noStrike" dirty="0">
                <a:effectLst/>
                <a:latin typeface="Google Sans"/>
              </a:rPr>
              <a:t>: Items cannot be changed, added, or removed after creation.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Duplicates</a:t>
            </a:r>
            <a:r>
              <a:rPr lang="en-IN" b="0" u="none" strike="noStrike" dirty="0">
                <a:effectLst/>
                <a:latin typeface="Google Sans"/>
              </a:rPr>
              <a:t>: Duplicate values are allowed since items are indexed.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Heterogeneous</a:t>
            </a:r>
            <a:r>
              <a:rPr lang="en-IN" b="0" u="none" strike="noStrike" dirty="0">
                <a:effectLst/>
                <a:latin typeface="Google Sans"/>
              </a:rPr>
              <a:t>: Items can be of any data type (strings, integers, </a:t>
            </a:r>
            <a:r>
              <a:rPr lang="en-IN" b="0" u="none" strike="noStrike" dirty="0" err="1">
                <a:effectLst/>
                <a:latin typeface="Google Sans"/>
              </a:rPr>
              <a:t>booleans</a:t>
            </a:r>
            <a:r>
              <a:rPr lang="en-IN" b="0" u="none" strike="noStrike" dirty="0">
                <a:effectLst/>
                <a:latin typeface="Google Sans"/>
              </a:rPr>
              <a:t>).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361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A997-00C1-5473-4A49-4A05DD9B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720B-C21D-9E80-2997-19A39A1B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 Empty tuple</a:t>
            </a:r>
          </a:p>
          <a:p>
            <a:r>
              <a:rPr lang="en-US" dirty="0" err="1"/>
              <a:t>empty_tuple</a:t>
            </a:r>
            <a:r>
              <a:rPr lang="en-US" dirty="0"/>
              <a:t> = ()</a:t>
            </a:r>
          </a:p>
          <a:p>
            <a:endParaRPr lang="en-US" dirty="0"/>
          </a:p>
          <a:p>
            <a:r>
              <a:rPr lang="en-US" dirty="0"/>
              <a:t># Single item tuple (requires a trailing comma)</a:t>
            </a:r>
          </a:p>
          <a:p>
            <a:r>
              <a:rPr lang="en-US" dirty="0" err="1"/>
              <a:t>single_tuple</a:t>
            </a:r>
            <a:r>
              <a:rPr lang="en-US" dirty="0"/>
              <a:t> = ("apple",)</a:t>
            </a:r>
          </a:p>
          <a:p>
            <a:endParaRPr lang="en-US" dirty="0"/>
          </a:p>
          <a:p>
            <a:r>
              <a:rPr lang="en-US" dirty="0"/>
              <a:t># Multiple items</a:t>
            </a:r>
          </a:p>
          <a:p>
            <a:r>
              <a:rPr lang="en-US" dirty="0" err="1"/>
              <a:t>fruit_tuple</a:t>
            </a:r>
            <a:r>
              <a:rPr lang="en-US" dirty="0"/>
              <a:t> = ("apple", "banana", "cherry")</a:t>
            </a:r>
          </a:p>
          <a:p>
            <a:endParaRPr lang="en-US" dirty="0"/>
          </a:p>
          <a:p>
            <a:r>
              <a:rPr lang="en-US" dirty="0"/>
              <a:t># Without parentheses (tuple packing)</a:t>
            </a:r>
          </a:p>
          <a:p>
            <a:r>
              <a:rPr lang="en-US" dirty="0" err="1"/>
              <a:t>packed_tuple</a:t>
            </a:r>
            <a:r>
              <a:rPr lang="en-US" dirty="0"/>
              <a:t> = 1, 2,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423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9821-C78B-8165-7C7F-9F298660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Essential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276BF-3A06-2E65-AA22-0F263F11B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Indexing</a:t>
            </a:r>
            <a:r>
              <a:rPr lang="en-IN" b="0" u="none" strike="noStrike" dirty="0">
                <a:effectLst/>
                <a:latin typeface="Google Sans"/>
              </a:rPr>
              <a:t>: Access items using square brackets (e.g., </a:t>
            </a:r>
            <a:r>
              <a:rPr lang="en-IN" b="0" u="none" strike="noStrike" dirty="0" err="1">
                <a:effectLst/>
                <a:latin typeface="Google Sans"/>
              </a:rPr>
              <a:t>fruit_tuple</a:t>
            </a:r>
            <a:r>
              <a:rPr lang="en-IN" b="0" u="none" strike="noStrike" dirty="0">
                <a:effectLst/>
                <a:latin typeface="Google Sans"/>
              </a:rPr>
              <a:t>[0] returns "apple").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Slicing</a:t>
            </a:r>
            <a:r>
              <a:rPr lang="en-IN" b="0" u="none" strike="noStrike" dirty="0">
                <a:effectLst/>
                <a:latin typeface="Google Sans"/>
              </a:rPr>
              <a:t>: Extract a portion using a range (e.g., </a:t>
            </a:r>
            <a:r>
              <a:rPr lang="en-IN" b="0" u="none" strike="noStrike" dirty="0" err="1">
                <a:effectLst/>
                <a:latin typeface="Google Sans"/>
              </a:rPr>
              <a:t>fruit_tuple</a:t>
            </a:r>
            <a:r>
              <a:rPr lang="en-IN" b="0" u="none" strike="noStrike" dirty="0">
                <a:effectLst/>
                <a:latin typeface="Google Sans"/>
              </a:rPr>
              <a:t>[1:3]).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Unpacking</a:t>
            </a:r>
            <a:r>
              <a:rPr lang="en-IN" b="0" u="none" strike="noStrike" dirty="0">
                <a:effectLst/>
                <a:latin typeface="Google Sans"/>
              </a:rPr>
              <a:t>: Assign tuple values back into variables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a, b, c =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fruit_tuple</a:t>
            </a:r>
            <a:r>
              <a:rPr lang="en-IN" b="0" u="none" strike="noStrike" dirty="0">
                <a:effectLst/>
                <a:latin typeface="Google Sans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1340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0B43-2275-2E54-F0FE-7E65E641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Built-in Tuple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1C86-0801-982E-8620-1613F7F3D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Tuples have only two built-in methods because they cannot be modified:</a:t>
            </a:r>
          </a:p>
          <a:p>
            <a:r>
              <a:rPr lang="en-IN" b="1" u="none" strike="noStrike" dirty="0">
                <a:effectLst/>
                <a:latin typeface="Google Sans"/>
              </a:rPr>
              <a:t>count(value)</a:t>
            </a:r>
            <a:r>
              <a:rPr lang="en-IN" b="0" u="none" strike="noStrike" dirty="0">
                <a:effectLst/>
                <a:latin typeface="Google Sans"/>
              </a:rPr>
              <a:t>: Returns the number of times a specified value occurs.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index(value)</a:t>
            </a:r>
            <a:r>
              <a:rPr lang="en-IN" b="0" u="none" strike="noStrike" dirty="0">
                <a:effectLst/>
                <a:latin typeface="Google Sans"/>
              </a:rPr>
              <a:t>: Returns the index of the first occurrence of a specified value.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666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4E35-5B80-7682-5D6F-BAD95CCD7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Tuple vs. List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A61D52-E568-8F8F-8798-5ACA44E89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266219"/>
              </p:ext>
            </p:extLst>
          </p:nvPr>
        </p:nvGraphicFramePr>
        <p:xfrm>
          <a:off x="838200" y="1825624"/>
          <a:ext cx="11353800" cy="3584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265984994"/>
                    </a:ext>
                  </a:extLst>
                </a:gridCol>
                <a:gridCol w="4678680">
                  <a:extLst>
                    <a:ext uri="{9D8B030D-6E8A-4147-A177-3AD203B41FA5}">
                      <a16:colId xmlns:a16="http://schemas.microsoft.com/office/drawing/2014/main" val="1489636639"/>
                    </a:ext>
                  </a:extLst>
                </a:gridCol>
                <a:gridCol w="4358640">
                  <a:extLst>
                    <a:ext uri="{9D8B030D-6E8A-4147-A177-3AD203B41FA5}">
                      <a16:colId xmlns:a16="http://schemas.microsoft.com/office/drawing/2014/main" val="3914164061"/>
                    </a:ext>
                  </a:extLst>
                </a:gridCol>
              </a:tblGrid>
              <a:tr h="484402">
                <a:tc>
                  <a:txBody>
                    <a:bodyPr/>
                    <a:lstStyle/>
                    <a:p>
                      <a:r>
                        <a:rPr lang="en-IN" sz="2400" dirty="0"/>
                        <a:t>Feature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Tuple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List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41963"/>
                  </a:ext>
                </a:extLst>
              </a:tr>
              <a:tr h="484402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Parentheses ()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 brackets []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283836"/>
                  </a:ext>
                </a:extLst>
              </a:tr>
              <a:tr h="871924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Mutability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 (cannot change)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 (can change)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873560"/>
                  </a:ext>
                </a:extLst>
              </a:tr>
              <a:tr h="871924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Faster, consumes less memory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Slower, consumes more memory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01675"/>
                  </a:ext>
                </a:extLst>
              </a:tr>
              <a:tr h="871924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Case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Read-only data, fixed collections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that needs frequent updates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53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50588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3936-F1F9-C0F2-524E-CD43447E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A10F-A1E7-B503-0E26-8ED4570A3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In Python, a </a:t>
            </a:r>
            <a:r>
              <a:rPr lang="en-IN" b="1" i="0" dirty="0">
                <a:effectLst/>
                <a:latin typeface="Google Sans"/>
              </a:rPr>
              <a:t>set</a:t>
            </a:r>
            <a:r>
              <a:rPr lang="en-IN" b="0" i="0" dirty="0">
                <a:effectLst/>
                <a:latin typeface="Google Sans"/>
              </a:rPr>
              <a:t> is an unordered collection of unique elements. Sets are mutable, meaning you can add or remove items, but the elements themselves must be immutable (</a:t>
            </a:r>
            <a:r>
              <a:rPr lang="en-IN" b="0" i="0" dirty="0" err="1">
                <a:effectLst/>
                <a:latin typeface="Google Sans"/>
              </a:rPr>
              <a:t>hashable</a:t>
            </a:r>
            <a:r>
              <a:rPr lang="en-IN" b="0" i="0" dirty="0">
                <a:effectLst/>
                <a:latin typeface="Google Sans"/>
              </a:rPr>
              <a:t>) types like strings, numbers, or tuples.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61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87E5-C760-7D89-DBBA-665A56A9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Creating a 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79E1C-EB2F-3489-1A47-20FF1581C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create a set by placing comma-separated values inside curly braces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{}</a:t>
            </a:r>
            <a:r>
              <a:rPr lang="en-IN" b="0" u="none" strike="noStrike" dirty="0">
                <a:effectLst/>
                <a:latin typeface="Google Sans"/>
              </a:rPr>
              <a:t> or by using the built-in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set()</a:t>
            </a:r>
            <a:r>
              <a:rPr lang="en-IN" b="0" u="none" strike="noStrike" dirty="0">
                <a:effectLst/>
                <a:latin typeface="Google Sans"/>
              </a:rPr>
              <a:t> function.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F318C-944B-DE45-9E92-DF1941DF2FCE}"/>
              </a:ext>
            </a:extLst>
          </p:cNvPr>
          <p:cNvSpPr txBox="1"/>
          <p:nvPr/>
        </p:nvSpPr>
        <p:spPr>
          <a:xfrm>
            <a:off x="1051560" y="2887682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Using curly braces</a:t>
            </a:r>
          </a:p>
          <a:p>
            <a:r>
              <a:rPr lang="en-US" sz="2800" dirty="0"/>
              <a:t>fruits = {"apple", "banana", "cherry"}</a:t>
            </a:r>
          </a:p>
          <a:p>
            <a:endParaRPr lang="en-US" sz="2800" dirty="0"/>
          </a:p>
          <a:p>
            <a:r>
              <a:rPr lang="en-US" sz="2800" dirty="0"/>
              <a:t># Using the set() constructor</a:t>
            </a:r>
          </a:p>
          <a:p>
            <a:r>
              <a:rPr lang="en-US" sz="2800" dirty="0"/>
              <a:t>numbers = set([1, 2, 3, 4, 5])</a:t>
            </a:r>
          </a:p>
          <a:p>
            <a:endParaRPr lang="en-US" sz="2800" dirty="0"/>
          </a:p>
          <a:p>
            <a:r>
              <a:rPr lang="en-US" sz="2800" dirty="0"/>
              <a:t># Creating an empty set (Note: {} creates an empty dictionary)</a:t>
            </a:r>
          </a:p>
          <a:p>
            <a:r>
              <a:rPr lang="en-US" sz="2800" dirty="0" err="1"/>
              <a:t>empty_set</a:t>
            </a:r>
            <a:r>
              <a:rPr lang="en-US" sz="2800" dirty="0"/>
              <a:t> = set()</a:t>
            </a:r>
          </a:p>
        </p:txBody>
      </p:sp>
    </p:spTree>
    <p:extLst>
      <p:ext uri="{BB962C8B-B14F-4D97-AF65-F5344CB8AC3E}">
        <p14:creationId xmlns:p14="http://schemas.microsoft.com/office/powerpoint/2010/main" val="23219207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A788-40F2-B5E4-243B-D273C132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Core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2CE7-6D9F-847C-E5C8-45D64FCD4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Unique Elements</a:t>
            </a:r>
            <a:r>
              <a:rPr lang="en-IN" b="0" u="none" strike="noStrike" dirty="0">
                <a:effectLst/>
                <a:latin typeface="Google Sans"/>
              </a:rPr>
              <a:t>: Sets automatically remove duplicate values.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Unordered</a:t>
            </a:r>
            <a:r>
              <a:rPr lang="en-IN" b="0" u="none" strike="noStrike" dirty="0">
                <a:effectLst/>
                <a:latin typeface="Google Sans"/>
              </a:rPr>
              <a:t>: Items do not have a defined order, so you cannot access them by indexing or slicing.</a:t>
            </a:r>
          </a:p>
          <a:p>
            <a:r>
              <a:rPr lang="en-IN" b="1" u="none" strike="noStrike" dirty="0">
                <a:effectLst/>
                <a:latin typeface="Google Sans"/>
              </a:rPr>
              <a:t>Unchangeable Elements</a:t>
            </a:r>
            <a:r>
              <a:rPr lang="en-IN" b="0" u="none" strike="noStrike" dirty="0">
                <a:effectLst/>
                <a:latin typeface="Google Sans"/>
              </a:rPr>
              <a:t>: You cannot modify elements once they are in the set, but you can add or remove them.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0466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3316B-F251-3108-D9C2-A83AD552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Set Operations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2065EA-2676-558F-C4B6-D555D0F46F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95244"/>
              </p:ext>
            </p:extLst>
          </p:nvPr>
        </p:nvGraphicFramePr>
        <p:xfrm>
          <a:off x="0" y="1825625"/>
          <a:ext cx="11993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7960">
                  <a:extLst>
                    <a:ext uri="{9D8B030D-6E8A-4147-A177-3AD203B41FA5}">
                      <a16:colId xmlns:a16="http://schemas.microsoft.com/office/drawing/2014/main" val="3107954977"/>
                    </a:ext>
                  </a:extLst>
                </a:gridCol>
                <a:gridCol w="3997960">
                  <a:extLst>
                    <a:ext uri="{9D8B030D-6E8A-4147-A177-3AD203B41FA5}">
                      <a16:colId xmlns:a16="http://schemas.microsoft.com/office/drawing/2014/main" val="4152584194"/>
                    </a:ext>
                  </a:extLst>
                </a:gridCol>
                <a:gridCol w="3997960">
                  <a:extLst>
                    <a:ext uri="{9D8B030D-6E8A-4147-A177-3AD203B41FA5}">
                      <a16:colId xmlns:a16="http://schemas.microsoft.com/office/drawing/2014/main" val="1173269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Operation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Method / Syntax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Example Result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413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an item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s.add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{"a"}.add("b") → {"a", "b"}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718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an item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s.remove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Throws an error if item is missing.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67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safely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s.discard</a:t>
                      </a:r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(item)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nothing if item is missing.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86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| s2 or s1.union(s2)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Combines all unique items from both sets.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59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Intersection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&amp; s2 or s1.intersection(s2)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only items present in both sets.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24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s1 - s2 or s1.difference(s2)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items in s1 that are not in s2.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2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8005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67E0-36DE-82D8-F180-D11441FE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7B3B9-11DA-C303-398C-EE3C738E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79A5B-DFAD-9209-6D31-1446CCC8F433}"/>
              </a:ext>
            </a:extLst>
          </p:cNvPr>
          <p:cNvSpPr txBox="1"/>
          <p:nvPr/>
        </p:nvSpPr>
        <p:spPr>
          <a:xfrm>
            <a:off x="3048000" y="2413338"/>
            <a:ext cx="76504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Eliminating duplicates from a list</a:t>
            </a:r>
          </a:p>
          <a:p>
            <a:r>
              <a:rPr lang="en-US" sz="2800" dirty="0"/>
              <a:t>numbers = [1, 2, 2, 3, 4, 4, 5]</a:t>
            </a:r>
          </a:p>
          <a:p>
            <a:r>
              <a:rPr lang="en-US" sz="2800" dirty="0" err="1"/>
              <a:t>unique_numbers</a:t>
            </a:r>
            <a:r>
              <a:rPr lang="en-US" sz="2800" dirty="0"/>
              <a:t> = set(numbers)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unique_numbers</a:t>
            </a:r>
            <a:r>
              <a:rPr lang="en-US" sz="2800" dirty="0"/>
              <a:t>)  # Output: {1, 2, 3, 4, 5}</a:t>
            </a:r>
          </a:p>
          <a:p>
            <a:endParaRPr lang="en-US" sz="2800" dirty="0"/>
          </a:p>
          <a:p>
            <a:r>
              <a:rPr lang="en-US" sz="2800" dirty="0"/>
              <a:t># Checking for membership (highly optimized and fast)</a:t>
            </a:r>
          </a:p>
          <a:p>
            <a:r>
              <a:rPr lang="en-US" sz="2800" dirty="0"/>
              <a:t>print(3 in </a:t>
            </a:r>
            <a:r>
              <a:rPr lang="en-US" sz="2800" dirty="0" err="1"/>
              <a:t>unique_numbers</a:t>
            </a:r>
            <a:r>
              <a:rPr lang="en-US" sz="2800" dirty="0"/>
              <a:t>)  # Output: True</a:t>
            </a:r>
          </a:p>
        </p:txBody>
      </p:sp>
    </p:spTree>
    <p:extLst>
      <p:ext uri="{BB962C8B-B14F-4D97-AF65-F5344CB8AC3E}">
        <p14:creationId xmlns:p14="http://schemas.microsoft.com/office/powerpoint/2010/main" val="15836688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5FCB-EEE4-724B-B97C-13E075F0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cict</a:t>
            </a:r>
            <a:r>
              <a:rPr lang="en-US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B771-1C22-F3C9-8528-5F379A2DB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A </a:t>
            </a:r>
            <a:r>
              <a:rPr lang="en-IN" b="1" u="none" strike="noStrike" dirty="0">
                <a:effectLst/>
                <a:latin typeface="Google Sans"/>
              </a:rPr>
              <a:t>dictionary</a:t>
            </a:r>
            <a:r>
              <a:rPr lang="en-IN" b="0" u="none" strike="noStrike" dirty="0">
                <a:effectLst/>
                <a:latin typeface="Google Sans"/>
              </a:rPr>
              <a:t> in Python is a built-in data structure that stores data in </a:t>
            </a:r>
            <a:r>
              <a:rPr lang="en-IN" b="1" u="none" strike="noStrike" dirty="0">
                <a:effectLst/>
                <a:latin typeface="Google Sans"/>
              </a:rPr>
              <a:t>key-value pairs</a:t>
            </a:r>
            <a:r>
              <a:rPr lang="en-IN" b="0" u="none" strike="noStrike" dirty="0">
                <a:effectLst/>
                <a:latin typeface="Google Sans"/>
              </a:rPr>
              <a:t>, where each unique key maps to a specific value.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C95BC-47BE-3296-5FAC-A06E3D50F723}"/>
              </a:ext>
            </a:extLst>
          </p:cNvPr>
          <p:cNvSpPr txBox="1"/>
          <p:nvPr/>
        </p:nvSpPr>
        <p:spPr>
          <a:xfrm>
            <a:off x="2118360" y="3429000"/>
            <a:ext cx="78028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Creating a dictionary</a:t>
            </a:r>
          </a:p>
          <a:p>
            <a:r>
              <a:rPr lang="en-US" sz="2800" dirty="0"/>
              <a:t>user = {"name": "Alice", "age": 30, "city": "New York"}</a:t>
            </a:r>
          </a:p>
          <a:p>
            <a:endParaRPr lang="en-US" sz="2800" dirty="0"/>
          </a:p>
          <a:p>
            <a:r>
              <a:rPr lang="en-US" sz="2800" dirty="0"/>
              <a:t># Accessing a value</a:t>
            </a:r>
          </a:p>
          <a:p>
            <a:r>
              <a:rPr lang="en-US" sz="2800" dirty="0"/>
              <a:t>print(user["name"])  # Output: Alice</a:t>
            </a:r>
          </a:p>
        </p:txBody>
      </p:sp>
    </p:spTree>
    <p:extLst>
      <p:ext uri="{BB962C8B-B14F-4D97-AF65-F5344CB8AC3E}">
        <p14:creationId xmlns:p14="http://schemas.microsoft.com/office/powerpoint/2010/main" val="39838240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AF11-9109-14EC-20E3-100BC997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38537-2F65-097A-21E1-D4AFC907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Ordered</a:t>
            </a:r>
            <a:r>
              <a:rPr lang="en-IN" b="0" u="none" strike="noStrike" dirty="0">
                <a:effectLst/>
                <a:latin typeface="Google Sans"/>
              </a:rPr>
              <a:t>: Elements maintain their insertion order (Python 3.7+).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Mutable</a:t>
            </a:r>
            <a:r>
              <a:rPr lang="en-IN" b="0" u="none" strike="noStrike" dirty="0">
                <a:effectLst/>
                <a:latin typeface="Google Sans"/>
              </a:rPr>
              <a:t>: You can add, change, or remove items after creation.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Unique Keys</a:t>
            </a:r>
            <a:r>
              <a:rPr lang="en-IN" b="0" u="none" strike="noStrike" dirty="0">
                <a:effectLst/>
                <a:latin typeface="Google Sans"/>
              </a:rPr>
              <a:t>: Duplicate keys are not allowed; assigning a duplicate overwrites the old value.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Hashable</a:t>
            </a:r>
            <a:r>
              <a:rPr lang="en-IN" b="1" u="none" strike="noStrike" dirty="0">
                <a:effectLst/>
                <a:latin typeface="Google Sans"/>
              </a:rPr>
              <a:t> Keys</a:t>
            </a:r>
            <a:r>
              <a:rPr lang="en-IN" b="0" u="none" strike="noStrike" dirty="0">
                <a:effectLst/>
                <a:latin typeface="Google Sans"/>
              </a:rPr>
              <a:t>: Keys must be immutable types (like strings, numbers, or tuples). Values can be any data type.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468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BDE3-1D53-D438-EA84-732E7985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AC238-C267-59F9-95C7-74F85F35D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1. Accessing Items</a:t>
            </a:r>
          </a:p>
          <a:p>
            <a:r>
              <a:rPr lang="en-IN" b="1" u="none" strike="noStrike" dirty="0">
                <a:effectLst/>
                <a:latin typeface="Google Sans"/>
              </a:rPr>
              <a:t>Square brackets</a:t>
            </a:r>
            <a:r>
              <a:rPr lang="en-IN" b="0" u="none" strike="noStrike" dirty="0">
                <a:effectLst/>
                <a:latin typeface="Google Sans"/>
              </a:rPr>
              <a:t>: user["name"] (Throws a </a:t>
            </a:r>
            <a:r>
              <a:rPr lang="en-IN" b="0" u="none" strike="noStrike" dirty="0" err="1">
                <a:effectLst/>
                <a:latin typeface="Google Sans"/>
              </a:rPr>
              <a:t>KeyError</a:t>
            </a:r>
            <a:r>
              <a:rPr lang="en-IN" b="0" u="none" strike="noStrike" dirty="0">
                <a:effectLst/>
                <a:latin typeface="Google Sans"/>
              </a:rPr>
              <a:t> if the key does not exist).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get() method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 err="1">
                <a:effectLst/>
                <a:latin typeface="Google Sans"/>
              </a:rPr>
              <a:t>user.get</a:t>
            </a:r>
            <a:r>
              <a:rPr lang="en-IN" b="0" u="none" strike="noStrike" dirty="0">
                <a:effectLst/>
                <a:latin typeface="Google Sans"/>
              </a:rPr>
              <a:t>("email", "Not Found") (Returns a default value instead of an error).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2. Adding and Modifying</a:t>
            </a:r>
          </a:p>
          <a:p>
            <a:r>
              <a:rPr lang="en-IN" b="1" u="none" strike="noStrike" dirty="0">
                <a:effectLst/>
                <a:latin typeface="Google Sans"/>
              </a:rPr>
              <a:t>Add/Update</a:t>
            </a:r>
            <a:r>
              <a:rPr lang="en-IN" b="0" u="none" strike="noStrike" dirty="0">
                <a:effectLst/>
                <a:latin typeface="Google Sans"/>
              </a:rPr>
              <a:t>: user["email"] = "</a:t>
            </a:r>
            <a:r>
              <a:rPr lang="en-IN" b="0" u="none" strike="noStrike" dirty="0" err="1">
                <a:effectLst/>
                <a:latin typeface="Google Sans"/>
              </a:rPr>
              <a:t>alice@example.com</a:t>
            </a:r>
            <a:r>
              <a:rPr lang="en-IN" b="0" u="none" strike="noStrike" dirty="0">
                <a:effectLst/>
                <a:latin typeface="Google Sans"/>
              </a:rPr>
              <a:t>"</a:t>
            </a:r>
          </a:p>
          <a:p>
            <a:r>
              <a:rPr lang="en-IN" b="1" u="none" strike="noStrike" dirty="0">
                <a:effectLst/>
                <a:latin typeface="Google Sans"/>
              </a:rPr>
              <a:t>update() method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 err="1">
                <a:effectLst/>
                <a:latin typeface="Google Sans"/>
              </a:rPr>
              <a:t>user.update</a:t>
            </a:r>
            <a:r>
              <a:rPr lang="en-IN" b="0" u="none" strike="noStrike" dirty="0">
                <a:effectLst/>
                <a:latin typeface="Google Sans"/>
              </a:rPr>
              <a:t>({"age": 31, "country": "USA"})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608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B870-73AE-BEE0-315D-0EF8D547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3A4F-98A7-A581-CE8A-50DC0B3C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1B58-56FF-228A-7B0C-4F55D9570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3. Removing Items</a:t>
            </a:r>
          </a:p>
          <a:p>
            <a:r>
              <a:rPr lang="en-IN" b="1" u="none" strike="noStrike" dirty="0">
                <a:effectLst/>
                <a:latin typeface="Google Sans"/>
              </a:rPr>
              <a:t>pop(key)</a:t>
            </a:r>
            <a:r>
              <a:rPr lang="en-IN" b="0" u="none" strike="noStrike" dirty="0">
                <a:effectLst/>
                <a:latin typeface="Google Sans"/>
              </a:rPr>
              <a:t>: Removes the key and returns its value.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popitem</a:t>
            </a:r>
            <a:r>
              <a:rPr lang="en-IN" b="1" u="none" strike="noStrike" dirty="0">
                <a:effectLst/>
                <a:latin typeface="Google Sans"/>
              </a:rPr>
              <a:t>()</a:t>
            </a:r>
            <a:r>
              <a:rPr lang="en-IN" b="0" u="none" strike="noStrike" dirty="0">
                <a:effectLst/>
                <a:latin typeface="Google Sans"/>
              </a:rPr>
              <a:t>: Removes and returns the last inserted key-value pair.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del user[key]</a:t>
            </a:r>
            <a:r>
              <a:rPr lang="en-IN" b="0" u="none" strike="noStrike" dirty="0">
                <a:effectLst/>
                <a:latin typeface="Google Sans"/>
              </a:rPr>
              <a:t>: Deletes the specific key.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clear()</a:t>
            </a:r>
            <a:r>
              <a:rPr lang="en-IN" b="0" u="none" strike="noStrike" dirty="0">
                <a:effectLst/>
                <a:latin typeface="Google Sans"/>
              </a:rPr>
              <a:t>: Empties the entire dictionary.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4. Looping Through Dictionaries</a:t>
            </a:r>
          </a:p>
          <a:p>
            <a:r>
              <a:rPr lang="en-IN" b="1" u="none" strike="noStrike" dirty="0">
                <a:effectLst/>
                <a:latin typeface="Google Sans"/>
              </a:rPr>
              <a:t>Keys</a:t>
            </a:r>
            <a:r>
              <a:rPr lang="en-IN" b="0" u="none" strike="noStrike" dirty="0">
                <a:effectLst/>
                <a:latin typeface="Google Sans"/>
              </a:rPr>
              <a:t>: for key in </a:t>
            </a:r>
            <a:r>
              <a:rPr lang="en-IN" b="0" u="none" strike="noStrike" dirty="0" err="1">
                <a:effectLst/>
                <a:latin typeface="Google Sans"/>
              </a:rPr>
              <a:t>user.keys</a:t>
            </a:r>
            <a:r>
              <a:rPr lang="en-IN" b="0" u="none" strike="noStrike" dirty="0">
                <a:effectLst/>
                <a:latin typeface="Google Sans"/>
              </a:rPr>
              <a:t>():</a:t>
            </a:r>
          </a:p>
          <a:p>
            <a:r>
              <a:rPr lang="en-IN" b="1" u="none" strike="noStrike" dirty="0">
                <a:effectLst/>
                <a:latin typeface="Google Sans"/>
              </a:rPr>
              <a:t>Values</a:t>
            </a:r>
            <a:r>
              <a:rPr lang="en-IN" b="0" u="none" strike="noStrike" dirty="0">
                <a:effectLst/>
                <a:latin typeface="Google Sans"/>
              </a:rPr>
              <a:t>: for value in </a:t>
            </a:r>
            <a:r>
              <a:rPr lang="en-IN" b="0" u="none" strike="noStrike" dirty="0" err="1">
                <a:effectLst/>
                <a:latin typeface="Google Sans"/>
              </a:rPr>
              <a:t>user.values</a:t>
            </a:r>
            <a:r>
              <a:rPr lang="en-IN" b="0" u="none" strike="noStrike" dirty="0">
                <a:effectLst/>
                <a:latin typeface="Google Sans"/>
              </a:rPr>
              <a:t>():</a:t>
            </a:r>
          </a:p>
          <a:p>
            <a:r>
              <a:rPr lang="en-IN" b="1" u="none" strike="noStrike" dirty="0">
                <a:effectLst/>
                <a:latin typeface="Google Sans"/>
              </a:rPr>
              <a:t>Both</a:t>
            </a:r>
            <a:r>
              <a:rPr lang="en-IN" b="0" u="none" strike="noStrike" dirty="0">
                <a:effectLst/>
                <a:latin typeface="Google Sans"/>
              </a:rPr>
              <a:t>: for key, value in </a:t>
            </a:r>
            <a:r>
              <a:rPr lang="en-IN" b="0" u="none" strike="noStrike" dirty="0" err="1">
                <a:effectLst/>
                <a:latin typeface="Google Sans"/>
              </a:rPr>
              <a:t>user.items</a:t>
            </a:r>
            <a:r>
              <a:rPr lang="en-IN" b="0" u="none" strike="noStrike" dirty="0">
                <a:effectLst/>
                <a:latin typeface="Google Sans"/>
              </a:rPr>
              <a:t>():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644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8112-2E05-BF30-575D-F589A90E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consumption by basic datatypes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1C8D-2E0E-991D-EC07-F3A0CE8E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Python, basic data types consume </a:t>
            </a:r>
            <a:r>
              <a:rPr lang="en-IN" dirty="0"/>
              <a:t>significantly more memory than in lower-level languages like C because </a:t>
            </a:r>
            <a:r>
              <a:rPr lang="en-IN" b="1" u="none" strike="noStrike" dirty="0">
                <a:effectLst/>
                <a:latin typeface="Google Sans"/>
              </a:rPr>
              <a:t>every data type is implemented as a complete object</a:t>
            </a:r>
            <a:r>
              <a:rPr lang="en-IN" dirty="0"/>
              <a:t> with substantial internal metadata overhead. </a:t>
            </a:r>
          </a:p>
          <a:p>
            <a:endParaRPr lang="en-IN" dirty="0"/>
          </a:p>
          <a:p>
            <a:r>
              <a:rPr lang="en-IN" b="1" u="none" strike="noStrike" dirty="0">
                <a:effectLst/>
                <a:latin typeface="Google Sans"/>
              </a:rPr>
              <a:t>Memory Size by Data Type (64-bit System): </a:t>
            </a:r>
            <a:r>
              <a:rPr lang="en-IN" dirty="0"/>
              <a:t>Below is the standard memory allocation for basic data types in standard </a:t>
            </a:r>
            <a:r>
              <a:rPr lang="en-IN" dirty="0" err="1"/>
              <a:t>CPython</a:t>
            </a:r>
            <a:r>
              <a:rPr lang="en-IN" dirty="0"/>
              <a:t> on a 64-bit system:</a:t>
            </a:r>
            <a:endParaRPr lang="en-IN" b="1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102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2EFA-948E-C8B5-D8D8-DEEE26C2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57F7B-FD9F-AAB9-87A8-87928F68E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046256"/>
              </p:ext>
            </p:extLst>
          </p:nvPr>
        </p:nvGraphicFramePr>
        <p:xfrm>
          <a:off x="838200" y="1825625"/>
          <a:ext cx="10515600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807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32883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0346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27491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Base / Empty 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Size with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29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(Integer)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0, 42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(for 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(adds 4 bytes per extra digit/digit array allocation)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21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 (Float)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 bytes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(fixed size, wraps a 64-bit C double)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6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 (Boolean)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 / 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 bytes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(subclass of integer)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089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 bytes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(singleton object)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6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 (String)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"hello"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 bytes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(empty)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 bytes + 1 byte per ASCII character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036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45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5366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8919-997F-EDF7-522A-A5B2EDC3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Container Overheads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0C3F-2ACF-BAB0-BC9C-D5212D91F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When working with collections of basic types, the memory </a:t>
            </a:r>
            <a:r>
              <a:rPr lang="en-IN" b="0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 changes. Container sizes </a:t>
            </a:r>
            <a:r>
              <a:rPr lang="en-IN" b="1" u="none" strike="noStrike" dirty="0">
                <a:effectLst/>
                <a:latin typeface="Google Sans"/>
              </a:rPr>
              <a:t>only represent the structural shell and the memory addresses (pointers)</a:t>
            </a:r>
            <a:r>
              <a:rPr lang="en-IN" b="0" u="none" strike="noStrike" dirty="0">
                <a:effectLst/>
                <a:latin typeface="Google Sans"/>
              </a:rPr>
              <a:t> pointing to the items, not the items themselves.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list</a:t>
            </a:r>
            <a:r>
              <a:rPr lang="en-IN" b="0" u="none" strike="noStrike" dirty="0">
                <a:effectLst/>
                <a:latin typeface="Google Sans"/>
              </a:rPr>
              <a:t>: An empty list starts at </a:t>
            </a:r>
            <a:r>
              <a:rPr lang="en-IN" b="1" u="none" strike="noStrike" dirty="0">
                <a:effectLst/>
                <a:latin typeface="Google Sans"/>
              </a:rPr>
              <a:t>56 bytes</a:t>
            </a:r>
            <a:r>
              <a:rPr lang="en-IN" b="0" u="none" strike="noStrike" dirty="0">
                <a:effectLst/>
                <a:latin typeface="Google Sans"/>
              </a:rPr>
              <a:t>. Each item added appends </a:t>
            </a:r>
            <a:r>
              <a:rPr lang="en-IN" b="1" u="none" strike="noStrike" dirty="0">
                <a:effectLst/>
                <a:latin typeface="Google Sans"/>
              </a:rPr>
              <a:t>8 bytes</a:t>
            </a:r>
            <a:r>
              <a:rPr lang="en-IN" b="0" u="none" strike="noStrike" dirty="0">
                <a:effectLst/>
                <a:latin typeface="Google Sans"/>
              </a:rPr>
              <a:t> for its memory pointer. Lists also over-allocate extra slots dynamically to accommodate future growth.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tuple</a:t>
            </a:r>
            <a:r>
              <a:rPr lang="en-IN" b="0" u="none" strike="noStrike" dirty="0">
                <a:effectLst/>
                <a:latin typeface="Google Sans"/>
              </a:rPr>
              <a:t>: An empty tuple starts at </a:t>
            </a:r>
            <a:r>
              <a:rPr lang="en-IN" b="1" u="none" strike="noStrike" dirty="0">
                <a:effectLst/>
                <a:latin typeface="Google Sans"/>
              </a:rPr>
              <a:t>40 bytes</a:t>
            </a:r>
            <a:r>
              <a:rPr lang="en-IN" b="0" u="none" strike="noStrike" dirty="0">
                <a:effectLst/>
                <a:latin typeface="Google Sans"/>
              </a:rPr>
              <a:t>. It is smaller than a list because it is immutable and requires no extra dynamic slot padding.</a:t>
            </a:r>
          </a:p>
          <a:p>
            <a:r>
              <a:rPr lang="en-IN" b="1" u="none" strike="noStrike" dirty="0" err="1">
                <a:effectLst/>
                <a:latin typeface="Courier New" panose="02070309020205020404" pitchFamily="49" charset="0"/>
              </a:rPr>
              <a:t>dict</a:t>
            </a:r>
            <a:r>
              <a:rPr lang="en-IN" b="0" u="none" strike="noStrike" dirty="0">
                <a:effectLst/>
                <a:latin typeface="Google Sans"/>
              </a:rPr>
              <a:t>: An empty dictionary requires a base minimum of </a:t>
            </a:r>
            <a:r>
              <a:rPr lang="en-IN" b="1" u="none" strike="noStrike" dirty="0">
                <a:effectLst/>
                <a:latin typeface="Google Sans"/>
              </a:rPr>
              <a:t>64 bytes</a:t>
            </a:r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052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C31E-C9D6-75DA-3873-F4A2E0B8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Why is the Overhead So Large?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4CF9C-2AE1-352A-4958-854A08C9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Every standard Python object must carry metadata to allow Python to run smoothly as a dynamic language. For instance, a simple integer requires 28 bytes because it contains:</a:t>
            </a:r>
          </a:p>
          <a:p>
            <a:r>
              <a:rPr lang="en-IN" b="1" u="none" strike="noStrike" dirty="0">
                <a:effectLst/>
                <a:latin typeface="Google Sans"/>
              </a:rPr>
              <a:t>Reference Count (8 bytes)</a:t>
            </a:r>
            <a:r>
              <a:rPr lang="en-IN" b="0" u="none" strike="noStrike" dirty="0">
                <a:effectLst/>
                <a:latin typeface="Google Sans"/>
              </a:rPr>
              <a:t>: Tracks how many variables reference this object for automated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Garbage Collection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Type Pointer (8 bytes)</a:t>
            </a:r>
            <a:r>
              <a:rPr lang="en-IN" b="0" u="none" strike="noStrike" dirty="0">
                <a:effectLst/>
                <a:latin typeface="Google Sans"/>
              </a:rPr>
              <a:t>: Points to the actual data type definition so Python knows it is an integer.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Size Information (8 bytes)</a:t>
            </a:r>
            <a:r>
              <a:rPr lang="en-IN" b="0" u="none" strike="noStrike" dirty="0">
                <a:effectLst/>
                <a:latin typeface="Google Sans"/>
              </a:rPr>
              <a:t>: Tracks the length of the data array (crucial for arbitrary-precision integers).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Actual Value (4 bytes)</a:t>
            </a:r>
            <a:r>
              <a:rPr lang="en-IN" b="0" u="none" strike="noStrike" dirty="0">
                <a:effectLst/>
                <a:latin typeface="Google Sans"/>
              </a:rPr>
              <a:t>: The actual numeric value you intended to store.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3991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A77E-44CD-9FBD-6EE2-8366ABEC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How to Check Memory Yourself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869A-1E78-CF80-8714-F3483B402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verify the memory consumption of any object directly in your code using the built-in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sys module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3BCAB-58CF-68A1-D304-440CBAE99BF8}"/>
              </a:ext>
            </a:extLst>
          </p:cNvPr>
          <p:cNvSpPr txBox="1"/>
          <p:nvPr/>
        </p:nvSpPr>
        <p:spPr>
          <a:xfrm>
            <a:off x="960120" y="3203357"/>
            <a:ext cx="914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import sys</a:t>
            </a:r>
          </a:p>
          <a:p>
            <a:endParaRPr lang="en-US" sz="2800" dirty="0"/>
          </a:p>
          <a:p>
            <a:r>
              <a:rPr lang="en-US" sz="2800" dirty="0"/>
              <a:t># Check standard primitive data sizes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sys.getsizeof</a:t>
            </a:r>
            <a:r>
              <a:rPr lang="en-US" sz="2800" dirty="0"/>
              <a:t>(0))       # Output: 24 bytes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sys.getsizeof</a:t>
            </a:r>
            <a:r>
              <a:rPr lang="en-US" sz="2800" dirty="0"/>
              <a:t>(100))     # Output: 28 bytes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sys.getsizeof</a:t>
            </a:r>
            <a:r>
              <a:rPr lang="en-US" sz="2800" dirty="0"/>
              <a:t>(3.14))    # Output: 24 bytes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sys.getsizeof</a:t>
            </a:r>
            <a:r>
              <a:rPr lang="en-US" sz="2800" dirty="0"/>
              <a:t>("hello")) # Output: 54 bytes</a:t>
            </a:r>
          </a:p>
        </p:txBody>
      </p:sp>
    </p:spTree>
    <p:extLst>
      <p:ext uri="{BB962C8B-B14F-4D97-AF65-F5344CB8AC3E}">
        <p14:creationId xmlns:p14="http://schemas.microsoft.com/office/powerpoint/2010/main" val="144660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2894</TotalTime>
  <Words>6884</Words>
  <Application>Microsoft Macintosh PowerPoint</Application>
  <PresentationFormat>Widescreen</PresentationFormat>
  <Paragraphs>732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7" baseType="lpstr">
      <vt:lpstr>Aptos</vt:lpstr>
      <vt:lpstr>Aptos Display</vt:lpstr>
      <vt:lpstr>Arial</vt:lpstr>
      <vt:lpstr>Cambria Math</vt:lpstr>
      <vt:lpstr>Courier New</vt:lpstr>
      <vt:lpstr>Google Sans</vt:lpstr>
      <vt:lpstr>Google Sans Code</vt:lpstr>
      <vt:lpstr>Office Theme</vt:lpstr>
      <vt:lpstr>Identifiers and Reserved Keywords</vt:lpstr>
      <vt:lpstr>PowerPoint Presentation</vt:lpstr>
      <vt:lpstr>Rules for Creating Identifiers</vt:lpstr>
      <vt:lpstr>Best Practices</vt:lpstr>
      <vt:lpstr>Python Reserved keywords</vt:lpstr>
      <vt:lpstr>Python contains 35 reserved keywords</vt:lpstr>
      <vt:lpstr>Data types in Python</vt:lpstr>
      <vt:lpstr>PowerPoint Presentation</vt:lpstr>
      <vt:lpstr>PowerPoint Presentation</vt:lpstr>
      <vt:lpstr>PowerPoint Presentation</vt:lpstr>
      <vt:lpstr>MCQs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 in python</vt:lpstr>
      <vt:lpstr>Key Characteristics</vt:lpstr>
      <vt:lpstr>Ways to Define Integers</vt:lpstr>
      <vt:lpstr>The int() Constructor</vt:lpstr>
      <vt:lpstr>Common Built-In Operations</vt:lpstr>
      <vt:lpstr>Float in python</vt:lpstr>
      <vt:lpstr>Core Characteristics</vt:lpstr>
      <vt:lpstr>Ways to Define Floats</vt:lpstr>
      <vt:lpstr>Common Conversion Functions</vt:lpstr>
      <vt:lpstr>Floating-Point Limitations</vt:lpstr>
      <vt:lpstr>IEEE 754 standard</vt:lpstr>
      <vt:lpstr>PowerPoint Presentation</vt:lpstr>
      <vt:lpstr>PowerPoint Presentation</vt:lpstr>
      <vt:lpstr>Complex datatype in python</vt:lpstr>
      <vt:lpstr>The Built-in Numeric Complex Type</vt:lpstr>
      <vt:lpstr>Operations on Complex datatype</vt:lpstr>
      <vt:lpstr>Basic Arithmetic Operations</vt:lpstr>
      <vt:lpstr>PowerPoint Presentation</vt:lpstr>
      <vt:lpstr>Built-in Attributes and Methods</vt:lpstr>
      <vt:lpstr>Built-in Functions</vt:lpstr>
      <vt:lpstr>bool datatype in python</vt:lpstr>
      <vt:lpstr>Boolean Evaluation (The bool() Function)</vt:lpstr>
      <vt:lpstr>Common Uses</vt:lpstr>
      <vt:lpstr>str in python</vt:lpstr>
      <vt:lpstr>Creating Strings</vt:lpstr>
      <vt:lpstr>The str() Function</vt:lpstr>
      <vt:lpstr>Key Characteristics</vt:lpstr>
      <vt:lpstr>Common String Methods</vt:lpstr>
      <vt:lpstr>String Slicing Syntax</vt:lpstr>
      <vt:lpstr>range() in python</vt:lpstr>
      <vt:lpstr>Syntax Variations</vt:lpstr>
      <vt:lpstr>Key Examples</vt:lpstr>
      <vt:lpstr>PowerPoint Presentation</vt:lpstr>
      <vt:lpstr>Critical Rules to Remember</vt:lpstr>
      <vt:lpstr>Bytes in python</vt:lpstr>
      <vt:lpstr>Quick Summary of Bytes</vt:lpstr>
      <vt:lpstr>How to Create Bytes</vt:lpstr>
      <vt:lpstr>Conversion: String vs. Bytes</vt:lpstr>
      <vt:lpstr>PowerPoint Presentation</vt:lpstr>
      <vt:lpstr>Key Behaviors and Pitfalls</vt:lpstr>
      <vt:lpstr>bytes vs bytearray</vt:lpstr>
      <vt:lpstr>List in python</vt:lpstr>
      <vt:lpstr>Key Characteristics</vt:lpstr>
      <vt:lpstr>Core Operations and Methods</vt:lpstr>
      <vt:lpstr>2. Accessing Items</vt:lpstr>
      <vt:lpstr>3. Modifying Items</vt:lpstr>
      <vt:lpstr>4. Adding Items</vt:lpstr>
      <vt:lpstr>5. Removing Items</vt:lpstr>
      <vt:lpstr>6. Common Utility Methods</vt:lpstr>
      <vt:lpstr>List Comprehension</vt:lpstr>
      <vt:lpstr>Tuple in python</vt:lpstr>
      <vt:lpstr>PowerPoint Presentation</vt:lpstr>
      <vt:lpstr>Essential Operations</vt:lpstr>
      <vt:lpstr>Built-in Tuple Methods</vt:lpstr>
      <vt:lpstr>Tuple vs. List</vt:lpstr>
      <vt:lpstr>Set in python</vt:lpstr>
      <vt:lpstr>Creating a Set</vt:lpstr>
      <vt:lpstr>Core Characteristics</vt:lpstr>
      <vt:lpstr>Common Set Operations</vt:lpstr>
      <vt:lpstr>PowerPoint Presentation</vt:lpstr>
      <vt:lpstr>cict in python</vt:lpstr>
      <vt:lpstr>Key Characteristics</vt:lpstr>
      <vt:lpstr>Common Operations</vt:lpstr>
      <vt:lpstr>Common Operations</vt:lpstr>
      <vt:lpstr>Memory consumption by basic datatypes in python</vt:lpstr>
      <vt:lpstr>PowerPoint Presentation</vt:lpstr>
      <vt:lpstr>Key Container Overheads</vt:lpstr>
      <vt:lpstr>Why is the Overhead So Large?</vt:lpstr>
      <vt:lpstr>How to Check Memory Yourself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310</cp:revision>
  <dcterms:created xsi:type="dcterms:W3CDTF">2026-01-15T04:12:31Z</dcterms:created>
  <dcterms:modified xsi:type="dcterms:W3CDTF">2026-08-13T04:50:48Z</dcterms:modified>
</cp:coreProperties>
</file>