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PythonDS-05 Math Functions math module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9AE6-EFA0-E126-AAF2-5CFEFCF2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0CAE1-E230-B133-3E1F-1AF0832F3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The </a:t>
            </a:r>
            <a:r>
              <a:rPr lang="en-IN" b="1" u="none" strike="noStrike" dirty="0">
                <a:effectLst/>
                <a:latin typeface="Google Sans"/>
              </a:rPr>
              <a:t>print() function</a:t>
            </a:r>
            <a:r>
              <a:rPr lang="en-IN" dirty="0"/>
              <a:t> in Python is a built-in function used to </a:t>
            </a:r>
            <a:r>
              <a:rPr lang="en-IN" b="1" u="none" strike="noStrike" dirty="0">
                <a:effectLst/>
                <a:latin typeface="Google Sans"/>
              </a:rPr>
              <a:t>send data to the standard output device</a:t>
            </a:r>
            <a:r>
              <a:rPr lang="en-IN" dirty="0"/>
              <a:t> (usually your screen or console). It converts objects into text format before displaying them. </a:t>
            </a:r>
          </a:p>
          <a:p>
            <a:endParaRPr lang="en-IN" dirty="0"/>
          </a:p>
          <a:p>
            <a:r>
              <a:rPr lang="en-IN" dirty="0"/>
              <a:t>The full signature of the print() function as defined in the official </a:t>
            </a:r>
            <a:r>
              <a:rPr lang="en-IN" b="0" u="none" strike="noStrike" dirty="0">
                <a:effectLst/>
                <a:latin typeface="Google Sans"/>
              </a:rPr>
              <a:t>Python Documentation</a:t>
            </a:r>
            <a:r>
              <a:rPr lang="en-IN" dirty="0"/>
              <a:t> includes the following arguments:</a:t>
            </a:r>
          </a:p>
          <a:p>
            <a:r>
              <a:rPr lang="en-IN" sz="2000" b="0" u="none" strike="noStrike" dirty="0">
                <a:effectLst/>
                <a:highlight>
                  <a:srgbClr val="808080"/>
                </a:highlight>
                <a:latin typeface="Courier New" panose="02070309020205020404" pitchFamily="49" charset="0"/>
              </a:rPr>
              <a:t>print(*objects, </a:t>
            </a:r>
            <a:r>
              <a:rPr lang="en-IN" sz="2000" b="0" u="none" strike="noStrike" dirty="0" err="1">
                <a:effectLst/>
                <a:highlight>
                  <a:srgbClr val="808080"/>
                </a:highlight>
                <a:latin typeface="Courier New" panose="02070309020205020404" pitchFamily="49" charset="0"/>
              </a:rPr>
              <a:t>sep</a:t>
            </a:r>
            <a:r>
              <a:rPr lang="en-IN" sz="2000" b="0" u="none" strike="noStrike" dirty="0">
                <a:effectLst/>
                <a:highlight>
                  <a:srgbClr val="808080"/>
                </a:highlight>
                <a:latin typeface="Courier New" panose="02070309020205020404" pitchFamily="49" charset="0"/>
              </a:rPr>
              <a:t>=' ', end='\n', file=</a:t>
            </a:r>
            <a:r>
              <a:rPr lang="en-IN" sz="2000" b="0" u="none" strike="noStrike" dirty="0" err="1">
                <a:effectLst/>
                <a:highlight>
                  <a:srgbClr val="808080"/>
                </a:highlight>
                <a:latin typeface="Courier New" panose="02070309020205020404" pitchFamily="49" charset="0"/>
              </a:rPr>
              <a:t>sys.stdout</a:t>
            </a:r>
            <a:r>
              <a:rPr lang="en-IN" sz="2000" b="0" u="none" strike="noStrike" dirty="0">
                <a:effectLst/>
                <a:highlight>
                  <a:srgbClr val="808080"/>
                </a:highlight>
                <a:latin typeface="Courier New" panose="02070309020205020404" pitchFamily="49" charset="0"/>
              </a:rPr>
              <a:t>, flush=False) </a:t>
            </a:r>
            <a:endParaRPr lang="en-IN" sz="2000" b="0" u="none" strike="noStrike" dirty="0">
              <a:effectLst/>
              <a:highlight>
                <a:srgbClr val="808080"/>
              </a:highlight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66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0BFC-C026-6EB4-5DE0-50E520D6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9C0E3-000F-483E-4B44-C91FF8614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function accepts both positional and keyword arguments to customize its </a:t>
            </a:r>
            <a:r>
              <a:rPr lang="en-IN" dirty="0" err="1"/>
              <a:t>behavior</a:t>
            </a:r>
            <a:r>
              <a:rPr lang="en-IN" dirty="0"/>
              <a:t>: </a:t>
            </a:r>
          </a:p>
          <a:p>
            <a:endParaRPr lang="en-IN" dirty="0"/>
          </a:p>
          <a:p>
            <a:r>
              <a:rPr lang="en-IN" b="1" u="none" strike="noStrike" dirty="0">
                <a:effectLst/>
                <a:latin typeface="Google Sans"/>
              </a:rPr>
              <a:t>1. *objects</a:t>
            </a:r>
          </a:p>
          <a:p>
            <a:r>
              <a:rPr lang="en-IN" b="1" u="none" strike="noStrike" dirty="0">
                <a:effectLst/>
                <a:latin typeface="Google Sans"/>
              </a:rPr>
              <a:t>What it is</a:t>
            </a:r>
            <a:r>
              <a:rPr lang="en-IN" b="0" u="none" strike="noStrike" dirty="0">
                <a:effectLst/>
                <a:latin typeface="Google Sans"/>
              </a:rPr>
              <a:t>: The data value or sequence of values you want to output.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You can pass zero, one, or multiple comma-separated items.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Handling</a:t>
            </a:r>
            <a:r>
              <a:rPr lang="en-IN" b="0" u="none" strike="noStrike" dirty="0">
                <a:effectLst/>
                <a:latin typeface="Google Sans"/>
              </a:rPr>
              <a:t>: Non-string items (like integers, lists, or dictionaries) are automatically converted into strings behind the scenes.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598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60EE-C8E5-1DA7-5878-1CEC8E4B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086A-A0C5-2ED3-C121-9AB3B9A65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A859F-C756-86A5-FB48-78A008148F73}"/>
              </a:ext>
            </a:extLst>
          </p:cNvPr>
          <p:cNvSpPr txBox="1"/>
          <p:nvPr/>
        </p:nvSpPr>
        <p:spPr>
          <a:xfrm>
            <a:off x="838200" y="2877909"/>
            <a:ext cx="8305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Zero objects prints a blank line</a:t>
            </a:r>
          </a:p>
          <a:p>
            <a:r>
              <a:rPr lang="en-US" sz="2800" dirty="0"/>
              <a:t>print() </a:t>
            </a:r>
          </a:p>
          <a:p>
            <a:endParaRPr lang="en-US" sz="2800" dirty="0"/>
          </a:p>
          <a:p>
            <a:r>
              <a:rPr lang="en-US" sz="2800" dirty="0"/>
              <a:t># Multiple objects of different types</a:t>
            </a:r>
          </a:p>
          <a:p>
            <a:r>
              <a:rPr lang="en-US" sz="2800" dirty="0"/>
              <a:t>print("Age:", 25, True)  # Output: Age: 25 True</a:t>
            </a:r>
          </a:p>
        </p:txBody>
      </p:sp>
    </p:spTree>
    <p:extLst>
      <p:ext uri="{BB962C8B-B14F-4D97-AF65-F5344CB8AC3E}">
        <p14:creationId xmlns:p14="http://schemas.microsoft.com/office/powerpoint/2010/main" val="3951865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A01BA-0922-C250-7D95-AC972CD4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F869-613C-8177-2AE2-59168CBB7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2. </a:t>
            </a:r>
            <a:r>
              <a:rPr lang="en-IN" b="1" u="none" strike="noStrike" dirty="0" err="1">
                <a:effectLst/>
                <a:latin typeface="Google Sans"/>
              </a:rPr>
              <a:t>sep</a:t>
            </a:r>
            <a:r>
              <a:rPr lang="en-IN" b="1" u="none" strike="noStrike" dirty="0">
                <a:effectLst/>
                <a:latin typeface="Google Sans"/>
              </a:rPr>
              <a:t>=' ' (Separator) </a:t>
            </a:r>
          </a:p>
          <a:p>
            <a:r>
              <a:rPr lang="en-IN" b="1" u="none" strike="noStrike" dirty="0">
                <a:effectLst/>
                <a:latin typeface="Google Sans"/>
              </a:rPr>
              <a:t>What it is</a:t>
            </a:r>
            <a:r>
              <a:rPr lang="en-IN" b="0" u="none" strike="noStrike" dirty="0">
                <a:effectLst/>
                <a:latin typeface="Google Sans"/>
              </a:rPr>
              <a:t>: The string that separates multiple objects on the same line.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It defaults to a single blank space (' ').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Customization</a:t>
            </a:r>
            <a:r>
              <a:rPr lang="en-IN" b="0" u="none" strike="noStrike" dirty="0">
                <a:effectLst/>
                <a:latin typeface="Google Sans"/>
              </a:rPr>
              <a:t>: You can change it to any string or character.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78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4AF0E-6A41-98DB-0BCA-3768F4CC5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EDF56-9FBA-2912-9EFE-8AB3A2D3F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E1B7D-8731-08DE-9085-70DD0C7B633F}"/>
              </a:ext>
            </a:extLst>
          </p:cNvPr>
          <p:cNvSpPr txBox="1"/>
          <p:nvPr/>
        </p:nvSpPr>
        <p:spPr>
          <a:xfrm>
            <a:off x="838200" y="2447022"/>
            <a:ext cx="79552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Default behavior</a:t>
            </a:r>
          </a:p>
          <a:p>
            <a:r>
              <a:rPr lang="en-US" sz="2800" dirty="0"/>
              <a:t>print("A", "B", "C")  # Output: A B C</a:t>
            </a:r>
          </a:p>
          <a:p>
            <a:endParaRPr lang="en-US" sz="2800" dirty="0"/>
          </a:p>
          <a:p>
            <a:r>
              <a:rPr lang="en-US" sz="2800" dirty="0"/>
              <a:t># Custom separator</a:t>
            </a:r>
          </a:p>
          <a:p>
            <a:r>
              <a:rPr lang="en-US" sz="2800" dirty="0"/>
              <a:t>print("A", "B", "C", </a:t>
            </a:r>
            <a:r>
              <a:rPr lang="en-US" sz="2800" dirty="0" err="1"/>
              <a:t>sep</a:t>
            </a:r>
            <a:r>
              <a:rPr lang="en-US" sz="2800" dirty="0"/>
              <a:t>="-")  # Output: A-B-C</a:t>
            </a:r>
          </a:p>
          <a:p>
            <a:r>
              <a:rPr lang="en-US" sz="2800" dirty="0"/>
              <a:t>print("apple", "banana", </a:t>
            </a:r>
            <a:r>
              <a:rPr lang="en-US" sz="2800" dirty="0" err="1"/>
              <a:t>sep</a:t>
            </a:r>
            <a:r>
              <a:rPr lang="en-US" sz="2800" dirty="0"/>
              <a:t>="\n")  # Prints each on a new line</a:t>
            </a:r>
          </a:p>
        </p:txBody>
      </p:sp>
    </p:spTree>
    <p:extLst>
      <p:ext uri="{BB962C8B-B14F-4D97-AF65-F5344CB8AC3E}">
        <p14:creationId xmlns:p14="http://schemas.microsoft.com/office/powerpoint/2010/main" val="281943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61EDD-3F4B-67F1-06D9-0E7556A4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9E12E-7E1D-4C26-B05F-7613732B6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3. end='\n' (End Line character) </a:t>
            </a:r>
          </a:p>
          <a:p>
            <a:r>
              <a:rPr lang="en-IN" b="1" u="none" strike="noStrike" dirty="0">
                <a:effectLst/>
                <a:latin typeface="Google Sans"/>
              </a:rPr>
              <a:t>What it is</a:t>
            </a:r>
            <a:r>
              <a:rPr lang="en-IN" b="0" u="none" strike="noStrike" dirty="0">
                <a:effectLst/>
                <a:latin typeface="Google Sans"/>
              </a:rPr>
              <a:t>: The string that is appended after the very last object is printed.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It defaults to a newline character (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'\n'</a:t>
            </a:r>
            <a:r>
              <a:rPr lang="en-IN" b="0" u="none" strike="noStrike" dirty="0">
                <a:effectLst/>
                <a:latin typeface="Google Sans"/>
              </a:rPr>
              <a:t>), meaning every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print()</a:t>
            </a:r>
            <a:r>
              <a:rPr lang="en-IN" b="0" u="none" strike="noStrike" dirty="0">
                <a:effectLst/>
                <a:latin typeface="Google Sans"/>
              </a:rPr>
              <a:t> call starts on a fresh line.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Customization</a:t>
            </a:r>
            <a:r>
              <a:rPr lang="en-IN" b="0" u="none" strike="noStrike" dirty="0">
                <a:effectLst/>
                <a:latin typeface="Google Sans"/>
              </a:rPr>
              <a:t>: Pass an empty string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""</a:t>
            </a:r>
            <a:r>
              <a:rPr lang="en-IN" b="0" u="none" strike="noStrike" dirty="0">
                <a:effectLst/>
                <a:latin typeface="Google Sans"/>
              </a:rPr>
              <a:t> to prevent a line break, or use any other string.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26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F35A-64EB-2AAA-7000-6E35E221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80122-220C-DE7A-7B8F-739A31A16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A544A-46FF-B377-D026-A8609CFB4B8D}"/>
              </a:ext>
            </a:extLst>
          </p:cNvPr>
          <p:cNvSpPr txBox="1"/>
          <p:nvPr/>
        </p:nvSpPr>
        <p:spPr>
          <a:xfrm>
            <a:off x="1127760" y="2967335"/>
            <a:ext cx="8016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Keeping output on the same line</a:t>
            </a:r>
          </a:p>
          <a:p>
            <a:r>
              <a:rPr lang="en-US" sz="2800" dirty="0"/>
              <a:t>print("Hello", end=" ")</a:t>
            </a:r>
          </a:p>
          <a:p>
            <a:r>
              <a:rPr lang="en-US" sz="2800" dirty="0"/>
              <a:t>print("World")  # Output: Hello World</a:t>
            </a:r>
          </a:p>
        </p:txBody>
      </p:sp>
    </p:spTree>
    <p:extLst>
      <p:ext uri="{BB962C8B-B14F-4D97-AF65-F5344CB8AC3E}">
        <p14:creationId xmlns:p14="http://schemas.microsoft.com/office/powerpoint/2010/main" val="293415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F59C7-48C7-93E3-E07D-6EB355FE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43B96-9200-075C-EF5C-62294D485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4. file=</a:t>
            </a:r>
            <a:r>
              <a:rPr lang="en-IN" b="1" u="none" strike="noStrike" dirty="0" err="1">
                <a:effectLst/>
                <a:latin typeface="Google Sans"/>
              </a:rPr>
              <a:t>sys.stdout</a:t>
            </a:r>
            <a:endParaRPr lang="en-IN" b="1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What it is</a:t>
            </a:r>
            <a:r>
              <a:rPr lang="en-IN" b="0" u="none" strike="noStrike" dirty="0">
                <a:effectLst/>
                <a:latin typeface="Google Sans"/>
              </a:rPr>
              <a:t>: The destination stream where the text is written.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By default, it sends data to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sys.stdout</a:t>
            </a:r>
            <a:r>
              <a:rPr lang="en-IN" b="0" u="none" strike="noStrike" dirty="0">
                <a:effectLst/>
                <a:latin typeface="Google Sans"/>
              </a:rPr>
              <a:t> (the system console).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Customization</a:t>
            </a:r>
            <a:r>
              <a:rPr lang="en-IN" b="0" u="none" strike="noStrike" dirty="0">
                <a:effectLst/>
                <a:latin typeface="Google Sans"/>
              </a:rPr>
              <a:t>: You can redirect the output of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print()</a:t>
            </a:r>
            <a:r>
              <a:rPr lang="en-IN" b="0" u="none" strike="noStrike" dirty="0">
                <a:effectLst/>
                <a:latin typeface="Google Sans"/>
              </a:rPr>
              <a:t> directly into a text file or log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242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E68-5920-4348-DD94-B171CE4B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D606D-C1B1-1E5B-94A6-63C54810D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7EEDA-95E1-36CA-3439-AF2E9C3763EF}"/>
              </a:ext>
            </a:extLst>
          </p:cNvPr>
          <p:cNvSpPr txBox="1"/>
          <p:nvPr/>
        </p:nvSpPr>
        <p:spPr>
          <a:xfrm>
            <a:off x="1005840" y="2828836"/>
            <a:ext cx="81381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Writing console output directly into a file</a:t>
            </a:r>
          </a:p>
          <a:p>
            <a:r>
              <a:rPr lang="en-US" sz="2800" dirty="0"/>
              <a:t>with open("</a:t>
            </a:r>
            <a:r>
              <a:rPr lang="en-US" sz="2800" dirty="0" err="1"/>
              <a:t>output.txt</a:t>
            </a:r>
            <a:r>
              <a:rPr lang="en-US" sz="2800" dirty="0"/>
              <a:t>", "w") as f:</a:t>
            </a:r>
          </a:p>
          <a:p>
            <a:r>
              <a:rPr lang="en-US" sz="2800" dirty="0"/>
              <a:t>    print("This text goes into the file instead of the screen.", file=f)</a:t>
            </a:r>
          </a:p>
        </p:txBody>
      </p:sp>
    </p:spTree>
    <p:extLst>
      <p:ext uri="{BB962C8B-B14F-4D97-AF65-F5344CB8AC3E}">
        <p14:creationId xmlns:p14="http://schemas.microsoft.com/office/powerpoint/2010/main" val="141337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561D-B07A-BF07-F7EE-175208A92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5BDD7-15C5-6565-5E85-47CE228D1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5. flush=False </a:t>
            </a:r>
          </a:p>
          <a:p>
            <a:r>
              <a:rPr lang="en-IN" b="1" u="none" strike="noStrike" dirty="0">
                <a:effectLst/>
                <a:latin typeface="Google Sans"/>
              </a:rPr>
              <a:t>What it is</a:t>
            </a:r>
            <a:r>
              <a:rPr lang="en-IN" b="0" u="none" strike="noStrike" dirty="0">
                <a:effectLst/>
                <a:latin typeface="Google Sans"/>
              </a:rPr>
              <a:t>: A </a:t>
            </a:r>
            <a:r>
              <a:rPr lang="en-IN" b="0" u="none" strike="noStrike" dirty="0" err="1">
                <a:effectLst/>
                <a:latin typeface="Google Sans"/>
              </a:rPr>
              <a:t>boolean</a:t>
            </a:r>
            <a:r>
              <a:rPr lang="en-IN" b="0" u="none" strike="noStrike" dirty="0">
                <a:effectLst/>
                <a:latin typeface="Google Sans"/>
              </a:rPr>
              <a:t> flag that forces the output stream to write immediately.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: Python usually buffers output data to optimize performance (waiting for a newline to display everything at once).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Customization</a:t>
            </a:r>
            <a:r>
              <a:rPr lang="en-IN" b="0" u="none" strike="noStrike" dirty="0">
                <a:effectLst/>
                <a:latin typeface="Google Sans"/>
              </a:rPr>
              <a:t>: Setting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flush=True</a:t>
            </a:r>
            <a:r>
              <a:rPr lang="en-IN" b="0" u="none" strike="noStrike" dirty="0">
                <a:effectLst/>
                <a:latin typeface="Google Sans"/>
              </a:rPr>
              <a:t> bypasses buffering. This is critical for real-time progress bars or streaming logs.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014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B349-27A2-E9A1-C0DE-2DE137015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Popular String Formatting Techniques with print()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ECE30-238A-79CA-FBEB-30C18C1D0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103643"/>
              </p:ext>
            </p:extLst>
          </p:nvPr>
        </p:nvGraphicFramePr>
        <p:xfrm>
          <a:off x="838200" y="1825625"/>
          <a:ext cx="105155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09288167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521376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44706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Technique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 Syntax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When to Use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87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f-Strings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(Python 3.6+)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f"User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{name} is {age} years old.")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Modern standard; cleanest and fastest.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627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.format() 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print("User {} is {} years 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old.".format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(name, age))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 for reusing variables across a template.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34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 Operator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(Legacy)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print("User %s is %d years old." % (name, age))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Avoid unless working with old legacy codebases.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738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512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A9E45-D247-94B9-1E70-CF7B192E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975B7-9040-B72B-FE12-05541974D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The </a:t>
            </a:r>
            <a:r>
              <a:rPr lang="en-IN" b="1" u="none" strike="noStrike" dirty="0">
                <a:effectLst/>
                <a:latin typeface="Google Sans"/>
              </a:rPr>
              <a:t>input() function</a:t>
            </a:r>
            <a:r>
              <a:rPr lang="en-IN" dirty="0"/>
              <a:t> in Python is a built-in tool used to </a:t>
            </a:r>
            <a:r>
              <a:rPr lang="en-IN" b="1" u="none" strike="noStrike" dirty="0">
                <a:effectLst/>
                <a:latin typeface="Google Sans"/>
              </a:rPr>
              <a:t>pause program execution and accept text data from the user</a:t>
            </a:r>
            <a:r>
              <a:rPr lang="en-IN" dirty="0"/>
              <a:t> via the keyboard. </a:t>
            </a:r>
          </a:p>
          <a:p>
            <a:endParaRPr lang="en-IN" b="1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1. Basic Syntax and Core </a:t>
            </a:r>
            <a:r>
              <a:rPr lang="en-IN" b="1" u="none" strike="noStrike" dirty="0" err="1">
                <a:effectLst/>
                <a:latin typeface="Google Sans"/>
              </a:rPr>
              <a:t>Behavior</a:t>
            </a:r>
            <a:endParaRPr lang="en-IN" dirty="0"/>
          </a:p>
          <a:p>
            <a:r>
              <a:rPr lang="en-US" dirty="0">
                <a:highlight>
                  <a:srgbClr val="808080"/>
                </a:highlight>
              </a:rPr>
              <a:t>variable = input(prompt)</a:t>
            </a:r>
          </a:p>
          <a:p>
            <a:endParaRPr lang="en-US" dirty="0"/>
          </a:p>
          <a:p>
            <a:r>
              <a:rPr lang="en-IN" b="1" u="none" strike="noStrike" dirty="0">
                <a:effectLst/>
                <a:latin typeface="Google Sans"/>
              </a:rPr>
              <a:t>prompt (Optional)</a:t>
            </a:r>
            <a:r>
              <a:rPr lang="en-IN" b="0" u="none" strike="noStrike" dirty="0">
                <a:effectLst/>
                <a:latin typeface="Google Sans"/>
              </a:rPr>
              <a:t>: A string displayed on the screen to inform the user what to type.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Execution Pause</a:t>
            </a:r>
            <a:r>
              <a:rPr lang="en-IN" b="0" u="none" strike="noStrike" dirty="0">
                <a:effectLst/>
                <a:latin typeface="Google Sans"/>
              </a:rPr>
              <a:t>: The program stops completely until the user types their input and presses the </a:t>
            </a:r>
            <a:r>
              <a:rPr lang="en-IN" b="1" u="none" strike="noStrike" dirty="0">
                <a:effectLst/>
                <a:latin typeface="Google Sans"/>
              </a:rPr>
              <a:t>Enter</a:t>
            </a:r>
            <a:r>
              <a:rPr lang="en-IN" b="0" u="none" strike="noStrike" dirty="0">
                <a:effectLst/>
                <a:latin typeface="Google Sans"/>
              </a:rPr>
              <a:t> key.</a:t>
            </a:r>
          </a:p>
          <a:p>
            <a:r>
              <a:rPr lang="en-IN" b="1" u="none" strike="noStrike" dirty="0">
                <a:effectLst/>
                <a:latin typeface="Google Sans"/>
              </a:rPr>
              <a:t>The "String" Rule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1" u="none" strike="noStrike" dirty="0">
                <a:effectLst/>
                <a:latin typeface="Google Sans"/>
              </a:rPr>
              <a:t>input() always returns data as a string (str)</a:t>
            </a:r>
            <a:r>
              <a:rPr lang="en-IN" b="0" u="none" strike="noStrike" dirty="0">
                <a:effectLst/>
                <a:latin typeface="Google Sans"/>
              </a:rPr>
              <a:t>, even if the user types numbers like 45 or 12.5.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448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5D2E-2CFF-22EF-9A07-15DC290B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0A70-A94A-DC65-DD03-8BFEF74A0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7241A-83C1-C2A0-C4BB-B23156A86630}"/>
              </a:ext>
            </a:extLst>
          </p:cNvPr>
          <p:cNvSpPr txBox="1"/>
          <p:nvPr/>
        </p:nvSpPr>
        <p:spPr>
          <a:xfrm>
            <a:off x="929640" y="2952095"/>
            <a:ext cx="97688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name = input("Enter your name: ")</a:t>
            </a:r>
          </a:p>
          <a:p>
            <a:r>
              <a:rPr lang="en-US" sz="3200" dirty="0"/>
              <a:t>print("Hello, " + name) </a:t>
            </a:r>
          </a:p>
          <a:p>
            <a:r>
              <a:rPr lang="en-US" sz="3200" dirty="0"/>
              <a:t># If user types: Alex -&gt; Output: Hello, Alex</a:t>
            </a:r>
          </a:p>
        </p:txBody>
      </p:sp>
    </p:spTree>
    <p:extLst>
      <p:ext uri="{BB962C8B-B14F-4D97-AF65-F5344CB8AC3E}">
        <p14:creationId xmlns:p14="http://schemas.microsoft.com/office/powerpoint/2010/main" val="2572362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6155-8CE5-97B5-4934-8CCD42F1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2. Handling Numbers (Typecasting)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ABFA3-CCA3-5E23-4592-0E2E7AFBF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Because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input()</a:t>
            </a:r>
            <a:r>
              <a:rPr lang="en-IN" b="0" u="none" strike="noStrike" dirty="0">
                <a:effectLst/>
                <a:latin typeface="Google Sans"/>
              </a:rPr>
              <a:t> reads everything as text, performing mathematical operations on it directly will cause errors or unexpected bugs (e.g.,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"5" + "5"</a:t>
            </a:r>
            <a:r>
              <a:rPr lang="en-IN" b="0" u="none" strike="noStrike" dirty="0">
                <a:effectLst/>
                <a:latin typeface="Google Sans"/>
              </a:rPr>
              <a:t> results in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"55"</a:t>
            </a:r>
            <a:r>
              <a:rPr lang="en-IN" b="0" u="none" strike="noStrike" dirty="0">
                <a:effectLst/>
                <a:latin typeface="Google Sans"/>
              </a:rPr>
              <a:t>, not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10</a:t>
            </a:r>
            <a:r>
              <a:rPr lang="en-IN" b="0" u="none" strike="noStrike" dirty="0">
                <a:effectLst/>
                <a:latin typeface="Google Sans"/>
              </a:rPr>
              <a:t>). You must explicitly convert the type using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int()</a:t>
            </a:r>
            <a:r>
              <a:rPr lang="en-IN" b="0" u="none" strike="noStrike" dirty="0">
                <a:effectLst/>
                <a:latin typeface="Google Sans"/>
              </a:rPr>
              <a:t> or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float()</a:t>
            </a:r>
            <a:r>
              <a:rPr lang="en-IN" b="0" u="none" strike="noStrike" dirty="0">
                <a:effectLst/>
                <a:latin typeface="Google Sans"/>
              </a:rPr>
              <a:t>. </a:t>
            </a:r>
            <a:endParaRPr lang="en-IN" dirty="0">
              <a:latin typeface="Google Sans"/>
            </a:endParaRP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0" u="none" strike="noStrike" dirty="0">
                <a:effectLst/>
                <a:latin typeface="Google Sans"/>
              </a:rPr>
              <a:t>age = int(input("Enter your age: "))</a:t>
            </a:r>
          </a:p>
          <a:p>
            <a:r>
              <a:rPr lang="en-IN" b="0" u="none" strike="noStrike" dirty="0">
                <a:effectLst/>
                <a:latin typeface="Google Sans"/>
              </a:rPr>
              <a:t>print(age + 1)  # Works correctly as math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644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229A-0DC8-FA72-B7D3-CE02DFB1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B8B2A-1C56-4C63-16C0-35396889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Floating-Point (Decimal) Input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⚠️ </a:t>
            </a:r>
            <a:r>
              <a:rPr lang="en-IN" b="1" u="none" strike="noStrike" dirty="0">
                <a:effectLst/>
                <a:latin typeface="Google Sans"/>
              </a:rPr>
              <a:t>Warning</a:t>
            </a:r>
            <a:r>
              <a:rPr lang="en-IN" dirty="0"/>
              <a:t>: If a user types text like "</a:t>
            </a:r>
            <a:r>
              <a:rPr lang="en-IN" dirty="0" err="1"/>
              <a:t>abc</a:t>
            </a:r>
            <a:r>
              <a:rPr lang="en-IN" dirty="0"/>
              <a:t>" when you expect an integer, Python will crash with a </a:t>
            </a:r>
            <a:r>
              <a:rPr lang="en-IN" dirty="0" err="1"/>
              <a:t>ValueError</a:t>
            </a:r>
            <a:r>
              <a:rPr lang="en-IN" dirty="0"/>
              <a:t>.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237EB-522C-506A-9871-2FEDEE06F0C1}"/>
              </a:ext>
            </a:extLst>
          </p:cNvPr>
          <p:cNvSpPr txBox="1"/>
          <p:nvPr/>
        </p:nvSpPr>
        <p:spPr>
          <a:xfrm>
            <a:off x="960120" y="2474893"/>
            <a:ext cx="8183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price = float(input("Enter item price: "))</a:t>
            </a:r>
          </a:p>
          <a:p>
            <a:r>
              <a:rPr lang="en-US" sz="2800" dirty="0"/>
              <a:t>print(price * 0.10)  # Calculates 10% tax</a:t>
            </a:r>
          </a:p>
        </p:txBody>
      </p:sp>
    </p:spTree>
    <p:extLst>
      <p:ext uri="{BB962C8B-B14F-4D97-AF65-F5344CB8AC3E}">
        <p14:creationId xmlns:p14="http://schemas.microsoft.com/office/powerpoint/2010/main" val="3176636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598A-B95B-5096-3FCD-B4961CD6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3. Reading Multiple Inputs in One 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A13A7-6CDD-A1CA-1118-39D9F59CE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If you want a user to enter multiple data points at the same time, combine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input()</a:t>
            </a:r>
            <a:r>
              <a:rPr lang="en-IN" b="0" u="none" strike="noStrike" dirty="0">
                <a:effectLst/>
                <a:latin typeface="Google Sans"/>
              </a:rPr>
              <a:t> with 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.split()</a:t>
            </a:r>
            <a:r>
              <a:rPr lang="en-IN" b="0" u="none" strike="noStrike" dirty="0">
                <a:effectLst/>
                <a:latin typeface="Google Sans"/>
              </a:rPr>
              <a:t> method. By default,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.split()</a:t>
            </a:r>
            <a:r>
              <a:rPr lang="en-IN" b="0" u="none" strike="noStrike" dirty="0">
                <a:effectLst/>
                <a:latin typeface="Google Sans"/>
              </a:rPr>
              <a:t> breaks text wherever there is a blank space.</a:t>
            </a:r>
          </a:p>
          <a:p>
            <a:endParaRPr lang="en-IN" dirty="0">
              <a:latin typeface="Google Sans"/>
            </a:endParaRP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30AE8-64E2-BC2B-9450-BFDD97BABB9D}"/>
              </a:ext>
            </a:extLst>
          </p:cNvPr>
          <p:cNvSpPr txBox="1"/>
          <p:nvPr/>
        </p:nvSpPr>
        <p:spPr>
          <a:xfrm>
            <a:off x="1143000" y="3429000"/>
            <a:ext cx="11049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first_name</a:t>
            </a:r>
            <a:r>
              <a:rPr lang="en-US" sz="2800" dirty="0"/>
              <a:t>, </a:t>
            </a:r>
            <a:r>
              <a:rPr lang="en-US" sz="2800" dirty="0" err="1"/>
              <a:t>last_name</a:t>
            </a:r>
            <a:r>
              <a:rPr lang="en-US" sz="2800" dirty="0"/>
              <a:t> = input("Enter your first and last name: ").split()</a:t>
            </a:r>
          </a:p>
          <a:p>
            <a:r>
              <a:rPr lang="en-US" sz="2800" dirty="0"/>
              <a:t># Input: John Doe -&gt; </a:t>
            </a:r>
            <a:r>
              <a:rPr lang="en-US" sz="2800" dirty="0" err="1"/>
              <a:t>first_name</a:t>
            </a:r>
            <a:r>
              <a:rPr lang="en-US" sz="2800" dirty="0"/>
              <a:t>="John", </a:t>
            </a:r>
            <a:r>
              <a:rPr lang="en-US" sz="2800" dirty="0" err="1"/>
              <a:t>last_name</a:t>
            </a:r>
            <a:r>
              <a:rPr lang="en-US" sz="2800" dirty="0"/>
              <a:t>="Doe"</a:t>
            </a:r>
          </a:p>
        </p:txBody>
      </p:sp>
    </p:spTree>
    <p:extLst>
      <p:ext uri="{BB962C8B-B14F-4D97-AF65-F5344CB8AC3E}">
        <p14:creationId xmlns:p14="http://schemas.microsoft.com/office/powerpoint/2010/main" val="1119931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DBA6-DCEC-8DC6-BC25-5CBF2CE4B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30281-7590-3651-2BB6-1D92FC8A0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Multiple Numbers (Using map())</a:t>
            </a:r>
          </a:p>
          <a:p>
            <a:r>
              <a:rPr lang="en-IN" b="0" u="none" strike="noStrike" dirty="0">
                <a:effectLst/>
                <a:latin typeface="Google Sans"/>
              </a:rPr>
              <a:t>To convert multiple space-separated string values into integers instantly, wrap them in 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map()</a:t>
            </a:r>
            <a:r>
              <a:rPr lang="en-IN" b="0" u="none" strike="noStrike" dirty="0">
                <a:effectLst/>
                <a:latin typeface="Google Sans"/>
              </a:rPr>
              <a:t> function: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626A3-B968-A328-6696-A372887AD33A}"/>
              </a:ext>
            </a:extLst>
          </p:cNvPr>
          <p:cNvSpPr txBox="1"/>
          <p:nvPr/>
        </p:nvSpPr>
        <p:spPr>
          <a:xfrm>
            <a:off x="449580" y="3429000"/>
            <a:ext cx="125196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x, y, z = map(int, input("Enter three numbers separated by space: ").split())</a:t>
            </a:r>
          </a:p>
          <a:p>
            <a:r>
              <a:rPr lang="en-US" sz="2800" dirty="0"/>
              <a:t># Input: 10 20 30 -&gt; x=10, y=20, z=30</a:t>
            </a:r>
          </a:p>
        </p:txBody>
      </p:sp>
    </p:spTree>
    <p:extLst>
      <p:ext uri="{BB962C8B-B14F-4D97-AF65-F5344CB8AC3E}">
        <p14:creationId xmlns:p14="http://schemas.microsoft.com/office/powerpoint/2010/main" val="1315788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B86F0-24D3-C161-B451-40553D6C3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4. Reading an Entire List from Input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EF67B-A7BA-8735-B60F-7467C8008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parse a variable number of items into a native Python list in a single line: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456588-DAD1-1E75-69F5-5F6412D6F514}"/>
              </a:ext>
            </a:extLst>
          </p:cNvPr>
          <p:cNvSpPr txBox="1"/>
          <p:nvPr/>
        </p:nvSpPr>
        <p:spPr>
          <a:xfrm>
            <a:off x="198120" y="2828836"/>
            <a:ext cx="11871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Create a list of integers from a space-separated entry</a:t>
            </a:r>
          </a:p>
          <a:p>
            <a:r>
              <a:rPr lang="en-US" sz="2800" dirty="0"/>
              <a:t>numbers = list(map(int, input("Enter a series of numbers: ").split()))</a:t>
            </a:r>
          </a:p>
          <a:p>
            <a:r>
              <a:rPr lang="en-US" sz="2800" dirty="0"/>
              <a:t># Input: 1 5 8 12 -&gt; numbers = [1, 5, 8, 12]</a:t>
            </a:r>
          </a:p>
        </p:txBody>
      </p:sp>
    </p:spTree>
    <p:extLst>
      <p:ext uri="{BB962C8B-B14F-4D97-AF65-F5344CB8AC3E}">
        <p14:creationId xmlns:p14="http://schemas.microsoft.com/office/powerpoint/2010/main" val="2960918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1AC2-E1D3-E047-F37C-6E3A93CF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5. Safe Input with Error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04F61-DF12-027C-954A-3CCA2796D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To keep your code from crashing when a user makes a typing mistake, wrap 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input()</a:t>
            </a:r>
            <a:r>
              <a:rPr lang="en-IN" b="0" u="none" strike="noStrike" dirty="0">
                <a:effectLst/>
                <a:latin typeface="Google Sans"/>
              </a:rPr>
              <a:t> function inside a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try-except</a:t>
            </a:r>
            <a:r>
              <a:rPr lang="en-IN" b="0" u="none" strike="noStrike" dirty="0">
                <a:effectLst/>
                <a:latin typeface="Google Sans"/>
              </a:rPr>
              <a:t> block: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5552A-8CF2-D516-1427-B634DE5517CC}"/>
              </a:ext>
            </a:extLst>
          </p:cNvPr>
          <p:cNvSpPr txBox="1"/>
          <p:nvPr/>
        </p:nvSpPr>
        <p:spPr>
          <a:xfrm>
            <a:off x="289560" y="2690336"/>
            <a:ext cx="116281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try: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user_num</a:t>
            </a:r>
            <a:r>
              <a:rPr lang="en-US" sz="2800" dirty="0"/>
              <a:t> = int(input("Please enter a valid integer: "))</a:t>
            </a:r>
          </a:p>
          <a:p>
            <a:r>
              <a:rPr lang="en-US" sz="2800" dirty="0"/>
              <a:t>    print(</a:t>
            </a:r>
            <a:r>
              <a:rPr lang="en-US" sz="2800" dirty="0" err="1"/>
              <a:t>f"Success</a:t>
            </a:r>
            <a:r>
              <a:rPr lang="en-US" sz="2800" dirty="0"/>
              <a:t>! Your number is {</a:t>
            </a:r>
            <a:r>
              <a:rPr lang="en-US" sz="2800" dirty="0" err="1"/>
              <a:t>user_num</a:t>
            </a:r>
            <a:r>
              <a:rPr lang="en-US" sz="2800" dirty="0"/>
              <a:t>}")</a:t>
            </a:r>
          </a:p>
          <a:p>
            <a:r>
              <a:rPr lang="en-US" sz="2800" dirty="0"/>
              <a:t>except </a:t>
            </a:r>
            <a:r>
              <a:rPr lang="en-US" sz="2800" dirty="0" err="1"/>
              <a:t>ValueError</a:t>
            </a:r>
            <a:r>
              <a:rPr lang="en-US" sz="2800" dirty="0"/>
              <a:t>:</a:t>
            </a:r>
          </a:p>
          <a:p>
            <a:r>
              <a:rPr lang="en-US" sz="2800" dirty="0"/>
              <a:t>    print("That was not a valid number!")</a:t>
            </a:r>
          </a:p>
        </p:txBody>
      </p:sp>
    </p:spTree>
    <p:extLst>
      <p:ext uri="{BB962C8B-B14F-4D97-AF65-F5344CB8AC3E}">
        <p14:creationId xmlns:p14="http://schemas.microsoft.com/office/powerpoint/2010/main" val="3859649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96F2C-774C-93FE-89B3-B8A72EE7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>
                <a:effectLst/>
                <a:latin typeface="Google Sans"/>
              </a:rPr>
              <a:t>Historical Note (Python 2 vs Python 3)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5767-CDD1-8925-9F19-AA7FCEFBE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In </a:t>
            </a:r>
            <a:r>
              <a:rPr lang="en-IN" b="1" u="none" strike="noStrike" dirty="0">
                <a:effectLst/>
                <a:latin typeface="Google Sans"/>
              </a:rPr>
              <a:t>Python 3.x</a:t>
            </a:r>
            <a:r>
              <a:rPr lang="en-IN" b="0" u="none" strike="noStrike" dirty="0">
                <a:effectLst/>
                <a:latin typeface="Google Sans"/>
              </a:rPr>
              <a:t>, input() is the standard function used globally.</a:t>
            </a:r>
          </a:p>
          <a:p>
            <a:r>
              <a:rPr lang="en-IN" b="0" u="none" strike="noStrike" dirty="0">
                <a:effectLst/>
                <a:latin typeface="Google Sans"/>
              </a:rPr>
              <a:t>If you encounter old legacy code written in </a:t>
            </a:r>
            <a:r>
              <a:rPr lang="en-IN" b="1" u="none" strike="noStrike" dirty="0">
                <a:effectLst/>
                <a:latin typeface="Google Sans"/>
              </a:rPr>
              <a:t>Python 2.x</a:t>
            </a:r>
            <a:r>
              <a:rPr lang="en-IN" b="0" u="none" strike="noStrike" dirty="0">
                <a:effectLst/>
                <a:latin typeface="Google Sans"/>
              </a:rPr>
              <a:t>, you will see </a:t>
            </a:r>
            <a:r>
              <a:rPr lang="en-IN" b="1" u="none" strike="noStrike" dirty="0" err="1">
                <a:effectLst/>
                <a:latin typeface="Google Sans"/>
              </a:rPr>
              <a:t>raw_input</a:t>
            </a:r>
            <a:r>
              <a:rPr lang="en-IN" b="1" u="none" strike="noStrike" dirty="0">
                <a:effectLst/>
                <a:latin typeface="Google Sans"/>
              </a:rPr>
              <a:t>()</a:t>
            </a:r>
            <a:r>
              <a:rPr lang="en-IN" b="0" u="none" strike="noStrike" dirty="0">
                <a:effectLst/>
                <a:latin typeface="Google Sans"/>
              </a:rPr>
              <a:t>. </a:t>
            </a:r>
            <a:r>
              <a:rPr lang="en-IN" b="0" u="none" strike="noStrike" dirty="0" err="1">
                <a:effectLst/>
                <a:latin typeface="Google Sans"/>
              </a:rPr>
              <a:t>raw_input</a:t>
            </a:r>
            <a:r>
              <a:rPr lang="en-IN" b="0" u="none" strike="noStrike" dirty="0">
                <a:effectLst/>
                <a:latin typeface="Google Sans"/>
              </a:rPr>
              <a:t>() behaves exactly like Python 3's input(), whereas Python 2's version of input() actually evaluated the user entry as raw python code, creating massive security risks.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14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2338</TotalTime>
  <Words>1293</Words>
  <Application>Microsoft Macintosh PowerPoint</Application>
  <PresentationFormat>Widescreen</PresentationFormat>
  <Paragraphs>110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Google Sans</vt:lpstr>
      <vt:lpstr>Office Theme</vt:lpstr>
      <vt:lpstr>PythonDS-05 Math Functions math module</vt:lpstr>
      <vt:lpstr>print()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Popular String Formatting Techniques with print()</vt:lpstr>
      <vt:lpstr>input() function</vt:lpstr>
      <vt:lpstr>PowerPoint Presentation</vt:lpstr>
      <vt:lpstr>2. Handling Numbers (Typecasting)</vt:lpstr>
      <vt:lpstr>PowerPoint Presentation</vt:lpstr>
      <vt:lpstr>3. Reading Multiple Inputs in One Line</vt:lpstr>
      <vt:lpstr>PowerPoint Presentation</vt:lpstr>
      <vt:lpstr>4. Reading an Entire List from Input</vt:lpstr>
      <vt:lpstr>5. Safe Input with Error Handling</vt:lpstr>
      <vt:lpstr>Historical Note (Python 2 vs Python 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143</cp:revision>
  <dcterms:created xsi:type="dcterms:W3CDTF">2026-01-15T04:12:31Z</dcterms:created>
  <dcterms:modified xsi:type="dcterms:W3CDTF">2026-08-12T08:22:23Z</dcterms:modified>
</cp:coreProperties>
</file>