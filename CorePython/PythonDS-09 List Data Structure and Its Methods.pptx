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4" r:id="rId5"/>
    <p:sldId id="275" r:id="rId6"/>
    <p:sldId id="259" r:id="rId7"/>
    <p:sldId id="260" r:id="rId8"/>
    <p:sldId id="276" r:id="rId9"/>
    <p:sldId id="277" r:id="rId10"/>
    <p:sldId id="278" r:id="rId11"/>
    <p:sldId id="279"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60"/>
  </p:normalViewPr>
  <p:slideViewPr>
    <p:cSldViewPr snapToGrid="0">
      <p:cViewPr varScale="1">
        <p:scale>
          <a:sx n="90" d="100"/>
          <a:sy n="90" d="100"/>
        </p:scale>
        <p:origin x="232"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2/12/26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2/12/26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normAutofit/>
          </a:bodyPr>
          <a:lstStyle/>
          <a:p>
            <a:r>
              <a:rPr lang="en-US"/>
              <a:t>PythonDS-09 List Data Structure and Its Methods</a:t>
            </a:r>
            <a:endParaRPr lang="en-US" dirty="0"/>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2BE29-4F1B-7279-73E5-04A9E147F9C0}"/>
              </a:ext>
            </a:extLst>
          </p:cNvPr>
          <p:cNvSpPr>
            <a:spLocks noGrp="1"/>
          </p:cNvSpPr>
          <p:nvPr>
            <p:ph type="title"/>
          </p:nvPr>
        </p:nvSpPr>
        <p:spPr/>
        <p:txBody>
          <a:bodyPr/>
          <a:lstStyle/>
          <a:p>
            <a:r>
              <a:rPr lang="en-US" dirty="0"/>
              <a:t>Python Lists</a:t>
            </a:r>
          </a:p>
        </p:txBody>
      </p:sp>
      <p:sp>
        <p:nvSpPr>
          <p:cNvPr id="3" name="Content Placeholder 2">
            <a:extLst>
              <a:ext uri="{FF2B5EF4-FFF2-40B4-BE49-F238E27FC236}">
                <a16:creationId xmlns:a16="http://schemas.microsoft.com/office/drawing/2014/main" id="{AFEB601A-2142-256B-9FA7-C4DFE08FA95A}"/>
              </a:ext>
            </a:extLst>
          </p:cNvPr>
          <p:cNvSpPr>
            <a:spLocks noGrp="1"/>
          </p:cNvSpPr>
          <p:nvPr>
            <p:ph idx="1"/>
          </p:nvPr>
        </p:nvSpPr>
        <p:spPr/>
        <p:txBody>
          <a:bodyPr>
            <a:normAutofit fontScale="85000" lnSpcReduction="20000"/>
          </a:bodyPr>
          <a:lstStyle/>
          <a:p>
            <a:pPr algn="l"/>
            <a:r>
              <a:rPr lang="en-IN" b="0" i="0" dirty="0">
                <a:effectLst/>
                <a:latin typeface="Google Sans"/>
              </a:rPr>
              <a:t>A Python list is an </a:t>
            </a:r>
            <a:r>
              <a:rPr lang="en-IN" b="1" i="0" dirty="0">
                <a:effectLst/>
                <a:latin typeface="Google Sans"/>
              </a:rPr>
              <a:t>ordered</a:t>
            </a:r>
            <a:r>
              <a:rPr lang="en-IN" b="0" i="0" dirty="0">
                <a:effectLst/>
                <a:latin typeface="Google Sans"/>
              </a:rPr>
              <a:t>, </a:t>
            </a:r>
            <a:r>
              <a:rPr lang="en-IN" b="1" i="0" dirty="0">
                <a:effectLst/>
                <a:latin typeface="Google Sans"/>
              </a:rPr>
              <a:t>mutable</a:t>
            </a:r>
            <a:r>
              <a:rPr lang="en-IN" b="0" i="0" dirty="0">
                <a:effectLst/>
                <a:latin typeface="Google Sans"/>
              </a:rPr>
              <a:t> (changeable) collection of items that allows </a:t>
            </a:r>
            <a:r>
              <a:rPr lang="en-IN" b="1" i="0" dirty="0">
                <a:effectLst/>
                <a:latin typeface="Google Sans"/>
              </a:rPr>
              <a:t>duplicate</a:t>
            </a:r>
            <a:r>
              <a:rPr lang="en-IN" b="0" i="0" dirty="0">
                <a:effectLst/>
                <a:latin typeface="Google Sans"/>
              </a:rPr>
              <a:t> members and can contain mixed data types.</a:t>
            </a:r>
          </a:p>
          <a:p>
            <a:pPr algn="l"/>
            <a:r>
              <a:rPr lang="en-IN" b="1" i="0" dirty="0">
                <a:effectLst/>
                <a:latin typeface="Google Sans"/>
              </a:rPr>
              <a:t>Key Characteristics</a:t>
            </a:r>
          </a:p>
          <a:p>
            <a:pPr algn="l">
              <a:buFont typeface="Arial" panose="020B0604020202020204" pitchFamily="34" charset="0"/>
              <a:buChar char="•"/>
            </a:pPr>
            <a:r>
              <a:rPr lang="en-IN" b="1" i="0" dirty="0">
                <a:effectLst/>
                <a:latin typeface="Google Sans"/>
              </a:rPr>
              <a:t>Ordered</a:t>
            </a:r>
            <a:r>
              <a:rPr lang="en-IN" b="0" i="0" dirty="0">
                <a:effectLst/>
                <a:latin typeface="Google Sans"/>
              </a:rPr>
              <a:t>: Items maintain a defined order, which won't change unless explicitly modified.</a:t>
            </a:r>
          </a:p>
          <a:p>
            <a:pPr algn="l">
              <a:buFont typeface="Arial" panose="020B0604020202020204" pitchFamily="34" charset="0"/>
              <a:buChar char="•"/>
            </a:pPr>
            <a:r>
              <a:rPr lang="en-IN" b="1" i="0" dirty="0">
                <a:effectLst/>
                <a:latin typeface="Google Sans"/>
              </a:rPr>
              <a:t>Mutable</a:t>
            </a:r>
            <a:r>
              <a:rPr lang="en-IN" b="0" i="0" dirty="0">
                <a:effectLst/>
                <a:latin typeface="Google Sans"/>
              </a:rPr>
              <a:t>: You can change, add, or remove items after the list has been created.</a:t>
            </a:r>
          </a:p>
          <a:p>
            <a:pPr algn="l">
              <a:buFont typeface="Arial" panose="020B0604020202020204" pitchFamily="34" charset="0"/>
              <a:buChar char="•"/>
            </a:pPr>
            <a:r>
              <a:rPr lang="en-IN" b="1" i="0" dirty="0">
                <a:effectLst/>
                <a:latin typeface="Google Sans"/>
              </a:rPr>
              <a:t>Allows Duplicates</a:t>
            </a:r>
            <a:r>
              <a:rPr lang="en-IN" b="0" i="0" dirty="0">
                <a:effectLst/>
                <a:latin typeface="Google Sans"/>
              </a:rPr>
              <a:t>: Because items are indexed, the same value can appear multiple times.</a:t>
            </a:r>
          </a:p>
          <a:p>
            <a:pPr algn="l">
              <a:buFont typeface="Arial" panose="020B0604020202020204" pitchFamily="34" charset="0"/>
              <a:buChar char="•"/>
            </a:pPr>
            <a:r>
              <a:rPr lang="en-IN" b="1" i="0" dirty="0">
                <a:effectLst/>
                <a:latin typeface="Google Sans"/>
              </a:rPr>
              <a:t>Mixed (heterogeneous) Data Types</a:t>
            </a:r>
            <a:r>
              <a:rPr lang="en-IN" b="0" i="0" dirty="0">
                <a:effectLst/>
                <a:latin typeface="Google Sans"/>
              </a:rPr>
              <a:t>: A single list can contain integers, strings, </a:t>
            </a:r>
            <a:r>
              <a:rPr lang="en-IN" b="0" i="0" dirty="0" err="1">
                <a:effectLst/>
                <a:latin typeface="Google Sans"/>
              </a:rPr>
              <a:t>booleans</a:t>
            </a:r>
            <a:r>
              <a:rPr lang="en-IN" b="0" i="0" dirty="0">
                <a:effectLst/>
                <a:latin typeface="Google Sans"/>
              </a:rPr>
              <a:t>, and even other lists (nested lists).</a:t>
            </a:r>
          </a:p>
          <a:p>
            <a:pPr algn="l">
              <a:buFont typeface="Arial" panose="020B0604020202020204" pitchFamily="34" charset="0"/>
              <a:buChar char="•"/>
            </a:pPr>
            <a:r>
              <a:rPr lang="en-IN" b="1" i="0" dirty="0">
                <a:effectLst/>
                <a:latin typeface="Google Sans"/>
              </a:rPr>
              <a:t>Index-based</a:t>
            </a:r>
            <a:r>
              <a:rPr lang="en-IN" b="0" i="0" dirty="0">
                <a:effectLst/>
                <a:latin typeface="Google Sans"/>
              </a:rPr>
              <a:t>: Elements are accessed using zero-based indexing (the first element is at index 0). </a:t>
            </a:r>
          </a:p>
        </p:txBody>
      </p:sp>
    </p:spTree>
    <p:extLst>
      <p:ext uri="{BB962C8B-B14F-4D97-AF65-F5344CB8AC3E}">
        <p14:creationId xmlns:p14="http://schemas.microsoft.com/office/powerpoint/2010/main" val="2646642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B30F-5056-4137-A623-2AF32DB2D55E}"/>
              </a:ext>
            </a:extLst>
          </p:cNvPr>
          <p:cNvSpPr>
            <a:spLocks noGrp="1"/>
          </p:cNvSpPr>
          <p:nvPr>
            <p:ph type="title"/>
          </p:nvPr>
        </p:nvSpPr>
        <p:spPr/>
        <p:txBody>
          <a:bodyPr/>
          <a:lstStyle/>
          <a:p>
            <a:r>
              <a:rPr lang="en-IN" b="1" i="0" dirty="0">
                <a:effectLst/>
                <a:latin typeface="Google Sans"/>
              </a:rPr>
              <a:t>Creating a List</a:t>
            </a:r>
            <a:endParaRPr lang="en-US" dirty="0"/>
          </a:p>
        </p:txBody>
      </p:sp>
      <p:sp>
        <p:nvSpPr>
          <p:cNvPr id="3" name="Content Placeholder 2">
            <a:extLst>
              <a:ext uri="{FF2B5EF4-FFF2-40B4-BE49-F238E27FC236}">
                <a16:creationId xmlns:a16="http://schemas.microsoft.com/office/drawing/2014/main" id="{071A3E3F-4363-02D5-8B62-D36EBDD7CC23}"/>
              </a:ext>
            </a:extLst>
          </p:cNvPr>
          <p:cNvSpPr>
            <a:spLocks noGrp="1"/>
          </p:cNvSpPr>
          <p:nvPr>
            <p:ph idx="1"/>
          </p:nvPr>
        </p:nvSpPr>
        <p:spPr/>
        <p:txBody>
          <a:bodyPr>
            <a:normAutofit/>
          </a:bodyPr>
          <a:lstStyle/>
          <a:p>
            <a:pPr algn="l"/>
            <a:r>
              <a:rPr lang="en-IN" b="0" i="0" dirty="0">
                <a:effectLst/>
                <a:latin typeface="Google Sans"/>
              </a:rPr>
              <a:t>Lists can be created in several ways:</a:t>
            </a:r>
          </a:p>
          <a:p>
            <a:pPr algn="l">
              <a:buFont typeface="Arial" panose="020B0604020202020204" pitchFamily="34" charset="0"/>
              <a:buChar char="•"/>
            </a:pPr>
            <a:r>
              <a:rPr lang="en-IN" b="1" i="0" dirty="0">
                <a:effectLst/>
                <a:latin typeface="Google Sans"/>
              </a:rPr>
              <a:t>Using square brackets</a:t>
            </a:r>
            <a:r>
              <a:rPr lang="en-IN" b="0" i="0" dirty="0">
                <a:effectLst/>
                <a:latin typeface="Google Sans"/>
              </a:rPr>
              <a:t>: </a:t>
            </a:r>
          </a:p>
          <a:p>
            <a:pPr algn="l">
              <a:buFont typeface="Arial" panose="020B0604020202020204" pitchFamily="34" charset="0"/>
              <a:buChar char="•"/>
            </a:pPr>
            <a:r>
              <a:rPr lang="en-IN" b="0" i="0" dirty="0" err="1">
                <a:effectLst/>
                <a:latin typeface="Google Sans"/>
              </a:rPr>
              <a:t>my_list</a:t>
            </a:r>
            <a:r>
              <a:rPr lang="en-IN" b="0" i="0" dirty="0">
                <a:effectLst/>
                <a:latin typeface="Google Sans"/>
              </a:rPr>
              <a:t> = ["apple", "banana", "cherry"]</a:t>
            </a:r>
          </a:p>
          <a:p>
            <a:pPr algn="l">
              <a:buFont typeface="Arial" panose="020B0604020202020204" pitchFamily="34" charset="0"/>
              <a:buChar char="•"/>
            </a:pPr>
            <a:r>
              <a:rPr lang="en-IN" b="1" i="0" dirty="0">
                <a:effectLst/>
                <a:latin typeface="Google Sans"/>
              </a:rPr>
              <a:t>Using the list() constructor</a:t>
            </a:r>
            <a:r>
              <a:rPr lang="en-IN" b="0" i="0" dirty="0">
                <a:effectLst/>
                <a:latin typeface="Google Sans"/>
              </a:rPr>
              <a:t>: </a:t>
            </a:r>
          </a:p>
          <a:p>
            <a:pPr algn="l">
              <a:buFont typeface="Arial" panose="020B0604020202020204" pitchFamily="34" charset="0"/>
              <a:buChar char="•"/>
            </a:pPr>
            <a:r>
              <a:rPr lang="en-IN" b="0" i="0" dirty="0" err="1">
                <a:effectLst/>
                <a:latin typeface="Google Sans"/>
              </a:rPr>
              <a:t>my_list</a:t>
            </a:r>
            <a:r>
              <a:rPr lang="en-IN" b="0" i="0" dirty="0">
                <a:effectLst/>
                <a:latin typeface="Google Sans"/>
              </a:rPr>
              <a:t> = list(("apple", "banana", "cherry"))</a:t>
            </a:r>
          </a:p>
          <a:p>
            <a:pPr algn="l">
              <a:buFont typeface="Arial" panose="020B0604020202020204" pitchFamily="34" charset="0"/>
              <a:buChar char="•"/>
            </a:pPr>
            <a:r>
              <a:rPr lang="en-IN" b="1" i="0" dirty="0">
                <a:effectLst/>
                <a:latin typeface="Google Sans"/>
              </a:rPr>
              <a:t>Using the multiplication operator</a:t>
            </a:r>
            <a:r>
              <a:rPr lang="en-IN" b="0" i="0" dirty="0">
                <a:effectLst/>
                <a:latin typeface="Google Sans"/>
              </a:rPr>
              <a:t>: </a:t>
            </a:r>
          </a:p>
          <a:p>
            <a:pPr algn="l">
              <a:buFont typeface="Arial" panose="020B0604020202020204" pitchFamily="34" charset="0"/>
              <a:buChar char="•"/>
            </a:pPr>
            <a:r>
              <a:rPr lang="en-IN" b="0" i="0" dirty="0" err="1">
                <a:effectLst/>
                <a:latin typeface="Google Sans"/>
              </a:rPr>
              <a:t>repeated_list</a:t>
            </a:r>
            <a:r>
              <a:rPr lang="en-IN" b="0" i="0" dirty="0">
                <a:effectLst/>
                <a:latin typeface="Google Sans"/>
              </a:rPr>
              <a:t> = ['Hi!'] * 4 </a:t>
            </a:r>
          </a:p>
          <a:p>
            <a:pPr algn="l">
              <a:buFont typeface="Arial" panose="020B0604020202020204" pitchFamily="34" charset="0"/>
              <a:buChar char="•"/>
            </a:pPr>
            <a:r>
              <a:rPr lang="en-IN" dirty="0">
                <a:latin typeface="Google Sans"/>
              </a:rPr>
              <a:t>#</a:t>
            </a:r>
            <a:r>
              <a:rPr lang="en-IN" b="0" i="0" dirty="0">
                <a:effectLst/>
                <a:latin typeface="Google Sans"/>
              </a:rPr>
              <a:t>results in ['Hi!', 'Hi!', 'Hi!', 'Hi!'] </a:t>
            </a:r>
          </a:p>
        </p:txBody>
      </p:sp>
    </p:spTree>
    <p:extLst>
      <p:ext uri="{BB962C8B-B14F-4D97-AF65-F5344CB8AC3E}">
        <p14:creationId xmlns:p14="http://schemas.microsoft.com/office/powerpoint/2010/main" val="2522862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57312-7B57-F4E7-F119-76176EABD3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064DCB-3AAB-FC34-434A-D3E44213717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1A43887-F0FE-2EA4-2781-CD482F2677E1}"/>
              </a:ext>
            </a:extLst>
          </p:cNvPr>
          <p:cNvPicPr>
            <a:picLocks noChangeAspect="1"/>
          </p:cNvPicPr>
          <p:nvPr/>
        </p:nvPicPr>
        <p:blipFill>
          <a:blip r:embed="rId2"/>
          <a:stretch>
            <a:fillRect/>
          </a:stretch>
        </p:blipFill>
        <p:spPr>
          <a:xfrm>
            <a:off x="2209800" y="1641676"/>
            <a:ext cx="7772400" cy="3574648"/>
          </a:xfrm>
          <a:prstGeom prst="rect">
            <a:avLst/>
          </a:prstGeom>
        </p:spPr>
      </p:pic>
    </p:spTree>
    <p:extLst>
      <p:ext uri="{BB962C8B-B14F-4D97-AF65-F5344CB8AC3E}">
        <p14:creationId xmlns:p14="http://schemas.microsoft.com/office/powerpoint/2010/main" val="204812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07BFC-1EDE-FB5F-DC49-5D5663A97B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85838B-EA8C-2DFC-792F-EC54B5BC317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DB172AD-5FCC-0BC0-360F-9925B6E67070}"/>
              </a:ext>
            </a:extLst>
          </p:cNvPr>
          <p:cNvPicPr>
            <a:picLocks noChangeAspect="1"/>
          </p:cNvPicPr>
          <p:nvPr/>
        </p:nvPicPr>
        <p:blipFill>
          <a:blip r:embed="rId2"/>
          <a:stretch>
            <a:fillRect/>
          </a:stretch>
        </p:blipFill>
        <p:spPr>
          <a:xfrm>
            <a:off x="2209800" y="1354067"/>
            <a:ext cx="7772400" cy="4149865"/>
          </a:xfrm>
          <a:prstGeom prst="rect">
            <a:avLst/>
          </a:prstGeom>
        </p:spPr>
      </p:pic>
    </p:spTree>
    <p:extLst>
      <p:ext uri="{BB962C8B-B14F-4D97-AF65-F5344CB8AC3E}">
        <p14:creationId xmlns:p14="http://schemas.microsoft.com/office/powerpoint/2010/main" val="2021266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29B9B-FCB3-BA0C-9B3B-26C02D9FEA8E}"/>
              </a:ext>
            </a:extLst>
          </p:cNvPr>
          <p:cNvSpPr>
            <a:spLocks noGrp="1"/>
          </p:cNvSpPr>
          <p:nvPr>
            <p:ph type="title"/>
          </p:nvPr>
        </p:nvSpPr>
        <p:spPr/>
        <p:txBody>
          <a:bodyPr/>
          <a:lstStyle/>
          <a:p>
            <a:r>
              <a:rPr lang="en-US" dirty="0"/>
              <a:t>List Operations and Methods</a:t>
            </a:r>
          </a:p>
        </p:txBody>
      </p:sp>
      <p:sp>
        <p:nvSpPr>
          <p:cNvPr id="3" name="Content Placeholder 2">
            <a:extLst>
              <a:ext uri="{FF2B5EF4-FFF2-40B4-BE49-F238E27FC236}">
                <a16:creationId xmlns:a16="http://schemas.microsoft.com/office/drawing/2014/main" id="{F72102BE-BC72-3FFC-3091-F6140C78CD1B}"/>
              </a:ext>
            </a:extLst>
          </p:cNvPr>
          <p:cNvSpPr>
            <a:spLocks noGrp="1"/>
          </p:cNvSpPr>
          <p:nvPr>
            <p:ph idx="1"/>
          </p:nvPr>
        </p:nvSpPr>
        <p:spPr/>
        <p:txBody>
          <a:bodyPr>
            <a:normAutofit fontScale="92500" lnSpcReduction="10000"/>
          </a:bodyPr>
          <a:lstStyle/>
          <a:p>
            <a:r>
              <a:rPr lang="en-US" sz="1600" dirty="0"/>
              <a:t>Python provides numerous built-in methods and functions to work with lists. </a:t>
            </a:r>
          </a:p>
          <a:p>
            <a:pPr marL="514350" indent="-514350">
              <a:buFont typeface="+mj-lt"/>
              <a:buAutoNum type="arabicPeriod"/>
            </a:pPr>
            <a:r>
              <a:rPr lang="en-US" sz="1600" dirty="0"/>
              <a:t>Method 	Description	Example</a:t>
            </a:r>
          </a:p>
          <a:p>
            <a:pPr marL="514350" indent="-514350">
              <a:buFont typeface="+mj-lt"/>
              <a:buAutoNum type="arabicPeriod"/>
            </a:pPr>
            <a:r>
              <a:rPr lang="en-US" sz="1600" dirty="0"/>
              <a:t>append()	Adds a single element to the end of the list.	</a:t>
            </a:r>
            <a:r>
              <a:rPr lang="en-US" sz="1600" dirty="0" err="1"/>
              <a:t>list.append</a:t>
            </a:r>
            <a:r>
              <a:rPr lang="en-US" sz="1600" dirty="0"/>
              <a:t>("orange")</a:t>
            </a:r>
          </a:p>
          <a:p>
            <a:pPr marL="514350" indent="-514350">
              <a:buFont typeface="+mj-lt"/>
              <a:buAutoNum type="arabicPeriod"/>
            </a:pPr>
            <a:r>
              <a:rPr lang="en-US" sz="1600" dirty="0"/>
              <a:t>insert()	Inserts an element at a specified index.	</a:t>
            </a:r>
            <a:r>
              <a:rPr lang="en-US" sz="1600" dirty="0" err="1"/>
              <a:t>list.insert</a:t>
            </a:r>
            <a:r>
              <a:rPr lang="en-US" sz="1600" dirty="0"/>
              <a:t>(1, "grape")</a:t>
            </a:r>
          </a:p>
          <a:p>
            <a:pPr marL="514350" indent="-514350">
              <a:buFont typeface="+mj-lt"/>
              <a:buAutoNum type="arabicPeriod"/>
            </a:pPr>
            <a:r>
              <a:rPr lang="en-US" sz="1600" dirty="0"/>
              <a:t>extend()	Adds the elements of another </a:t>
            </a:r>
            <a:r>
              <a:rPr lang="en-US" sz="1600" dirty="0" err="1"/>
              <a:t>iterable</a:t>
            </a:r>
            <a:r>
              <a:rPr lang="en-US" sz="1600" dirty="0"/>
              <a:t> (like a list) to the end of the current list.	</a:t>
            </a:r>
            <a:r>
              <a:rPr lang="en-US" sz="1600" dirty="0" err="1"/>
              <a:t>list.extend</a:t>
            </a:r>
            <a:r>
              <a:rPr lang="en-US" sz="1600" dirty="0"/>
              <a:t>(["melon", "kiwi"])</a:t>
            </a:r>
          </a:p>
          <a:p>
            <a:pPr marL="514350" indent="-514350">
              <a:buFont typeface="+mj-lt"/>
              <a:buAutoNum type="arabicPeriod"/>
            </a:pPr>
            <a:r>
              <a:rPr lang="en-US" sz="1600" dirty="0"/>
              <a:t>remove()	Removes the first occurrence of a specified value.	</a:t>
            </a:r>
            <a:r>
              <a:rPr lang="en-US" sz="1600" dirty="0" err="1"/>
              <a:t>list.remove</a:t>
            </a:r>
            <a:r>
              <a:rPr lang="en-US" sz="1600" dirty="0"/>
              <a:t>("banana")</a:t>
            </a:r>
          </a:p>
          <a:p>
            <a:pPr marL="514350" indent="-514350">
              <a:buFont typeface="+mj-lt"/>
              <a:buAutoNum type="arabicPeriod"/>
            </a:pPr>
            <a:r>
              <a:rPr lang="en-US" sz="1600" dirty="0"/>
              <a:t>pop()	Removes and returns the item at a given index (or the last item if no index is specified).	</a:t>
            </a:r>
            <a:r>
              <a:rPr lang="en-US" sz="1600" dirty="0" err="1"/>
              <a:t>removed_item</a:t>
            </a:r>
            <a:r>
              <a:rPr lang="en-US" sz="1600" dirty="0"/>
              <a:t> = </a:t>
            </a:r>
            <a:r>
              <a:rPr lang="en-US" sz="1600" dirty="0" err="1"/>
              <a:t>list.pop</a:t>
            </a:r>
            <a:r>
              <a:rPr lang="en-US" sz="1600" dirty="0"/>
              <a:t>(0)</a:t>
            </a:r>
          </a:p>
          <a:p>
            <a:pPr marL="514350" indent="-514350">
              <a:buFont typeface="+mj-lt"/>
              <a:buAutoNum type="arabicPeriod"/>
            </a:pPr>
            <a:r>
              <a:rPr lang="en-US" sz="1600" dirty="0"/>
              <a:t>del statement	Deletes an element at a specific index or the entire list.	del list[0]</a:t>
            </a:r>
          </a:p>
          <a:p>
            <a:pPr marL="514350" indent="-514350">
              <a:buFont typeface="+mj-lt"/>
              <a:buAutoNum type="arabicPeriod"/>
            </a:pPr>
            <a:r>
              <a:rPr lang="en-US" sz="1600" dirty="0"/>
              <a:t>sort()	Sorts the list in place (modifies the original list).	</a:t>
            </a:r>
            <a:r>
              <a:rPr lang="en-US" sz="1600" dirty="0" err="1"/>
              <a:t>list.sort</a:t>
            </a:r>
            <a:r>
              <a:rPr lang="en-US" sz="1600" dirty="0"/>
              <a:t>()</a:t>
            </a:r>
          </a:p>
          <a:p>
            <a:pPr marL="514350" indent="-514350">
              <a:buFont typeface="+mj-lt"/>
              <a:buAutoNum type="arabicPeriod"/>
            </a:pPr>
            <a:r>
              <a:rPr lang="en-US" sz="1600" dirty="0"/>
              <a:t>reverse()	Reverses the order of elements in the list in place.	</a:t>
            </a:r>
            <a:r>
              <a:rPr lang="en-US" sz="1600" dirty="0" err="1"/>
              <a:t>list.reverse</a:t>
            </a:r>
            <a:r>
              <a:rPr lang="en-US" sz="1600" dirty="0"/>
              <a:t>()</a:t>
            </a:r>
          </a:p>
          <a:p>
            <a:pPr marL="514350" indent="-514350">
              <a:buFont typeface="+mj-lt"/>
              <a:buAutoNum type="arabicPeriod"/>
            </a:pPr>
            <a:r>
              <a:rPr lang="en-US" sz="1600" dirty="0" err="1"/>
              <a:t>len</a:t>
            </a:r>
            <a:r>
              <a:rPr lang="en-US" sz="1600" dirty="0"/>
              <a:t>()	A built-in function that returns the number of items in the list.	length = </a:t>
            </a:r>
            <a:r>
              <a:rPr lang="en-US" sz="1600" dirty="0" err="1"/>
              <a:t>len</a:t>
            </a:r>
            <a:r>
              <a:rPr lang="en-US" sz="1600" dirty="0"/>
              <a:t>(list)</a:t>
            </a:r>
          </a:p>
          <a:p>
            <a:pPr marL="514350" indent="-514350">
              <a:buFont typeface="+mj-lt"/>
              <a:buAutoNum type="arabicPeriod"/>
            </a:pPr>
            <a:r>
              <a:rPr lang="en-US" sz="1600" dirty="0"/>
              <a:t>index()	Returns the index of the first occurrence of a specified value.	index = </a:t>
            </a:r>
            <a:r>
              <a:rPr lang="en-US" sz="1600" dirty="0" err="1"/>
              <a:t>list.index</a:t>
            </a:r>
            <a:r>
              <a:rPr lang="en-US" sz="1600" dirty="0"/>
              <a:t>("cherry")</a:t>
            </a:r>
          </a:p>
        </p:txBody>
      </p:sp>
    </p:spTree>
    <p:extLst>
      <p:ext uri="{BB962C8B-B14F-4D97-AF65-F5344CB8AC3E}">
        <p14:creationId xmlns:p14="http://schemas.microsoft.com/office/powerpoint/2010/main" val="2638352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25C0-12F8-BD12-172F-6AAAE7FD05E1}"/>
              </a:ext>
            </a:extLst>
          </p:cNvPr>
          <p:cNvSpPr>
            <a:spLocks noGrp="1"/>
          </p:cNvSpPr>
          <p:nvPr>
            <p:ph type="title"/>
          </p:nvPr>
        </p:nvSpPr>
        <p:spPr/>
        <p:txBody>
          <a:bodyPr/>
          <a:lstStyle/>
          <a:p>
            <a:r>
              <a:rPr lang="en-IN" b="1" i="0" dirty="0">
                <a:effectLst/>
                <a:latin typeface="Google Sans"/>
              </a:rPr>
              <a:t>Accessing and Slicing Lists</a:t>
            </a:r>
            <a:endParaRPr lang="en-US" dirty="0"/>
          </a:p>
        </p:txBody>
      </p:sp>
      <p:sp>
        <p:nvSpPr>
          <p:cNvPr id="3" name="Content Placeholder 2">
            <a:extLst>
              <a:ext uri="{FF2B5EF4-FFF2-40B4-BE49-F238E27FC236}">
                <a16:creationId xmlns:a16="http://schemas.microsoft.com/office/drawing/2014/main" id="{32C1DF14-03A9-8A66-3788-4C8405A82E91}"/>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en-IN" b="1" i="0" dirty="0">
                <a:effectLst/>
                <a:latin typeface="Google Sans"/>
              </a:rPr>
              <a:t>Indexing</a:t>
            </a:r>
            <a:r>
              <a:rPr lang="en-IN" b="0" i="0" dirty="0">
                <a:effectLst/>
                <a:latin typeface="Google Sans"/>
              </a:rPr>
              <a:t>: Use square brackets and the index number to access individual elements. e.g., </a:t>
            </a:r>
          </a:p>
          <a:p>
            <a:pPr algn="l">
              <a:buFont typeface="Arial" panose="020B0604020202020204" pitchFamily="34" charset="0"/>
              <a:buChar char="•"/>
            </a:pPr>
            <a:r>
              <a:rPr lang="en-IN" b="0" i="0" dirty="0" err="1">
                <a:effectLst/>
                <a:latin typeface="Google Sans"/>
              </a:rPr>
              <a:t>my_list</a:t>
            </a:r>
            <a:r>
              <a:rPr lang="en-IN" b="0" i="0" dirty="0">
                <a:effectLst/>
                <a:latin typeface="Google Sans"/>
              </a:rPr>
              <a:t>[0]</a:t>
            </a:r>
          </a:p>
          <a:p>
            <a:pPr algn="l">
              <a:buFont typeface="Arial" panose="020B0604020202020204" pitchFamily="34" charset="0"/>
              <a:buChar char="•"/>
            </a:pPr>
            <a:endParaRPr lang="en-IN" b="0" i="0" dirty="0">
              <a:effectLst/>
              <a:latin typeface="Google Sans"/>
            </a:endParaRPr>
          </a:p>
          <a:p>
            <a:pPr algn="l">
              <a:buFont typeface="Arial" panose="020B0604020202020204" pitchFamily="34" charset="0"/>
              <a:buChar char="•"/>
            </a:pPr>
            <a:r>
              <a:rPr lang="en-IN" b="1" i="0" dirty="0">
                <a:effectLst/>
                <a:latin typeface="Google Sans"/>
              </a:rPr>
              <a:t>Negative Indexing</a:t>
            </a:r>
            <a:r>
              <a:rPr lang="en-IN" b="0" i="0" dirty="0">
                <a:effectLst/>
                <a:latin typeface="Google Sans"/>
              </a:rPr>
              <a:t>: Access elements from the end of the list, starting with -1 for the last item. e.g.</a:t>
            </a:r>
          </a:p>
          <a:p>
            <a:pPr algn="l">
              <a:buFont typeface="Arial" panose="020B0604020202020204" pitchFamily="34" charset="0"/>
              <a:buChar char="•"/>
            </a:pPr>
            <a:r>
              <a:rPr lang="en-IN" b="0" i="0" dirty="0" err="1">
                <a:effectLst/>
                <a:latin typeface="Google Sans"/>
              </a:rPr>
              <a:t>my_list</a:t>
            </a:r>
            <a:r>
              <a:rPr lang="en-IN" b="0" i="0" dirty="0">
                <a:effectLst/>
                <a:latin typeface="Google Sans"/>
              </a:rPr>
              <a:t>[-1]</a:t>
            </a:r>
          </a:p>
          <a:p>
            <a:pPr algn="l">
              <a:buFont typeface="Arial" panose="020B0604020202020204" pitchFamily="34" charset="0"/>
              <a:buChar char="•"/>
            </a:pPr>
            <a:endParaRPr lang="en-IN" b="0" i="0" dirty="0">
              <a:effectLst/>
              <a:latin typeface="Google Sans"/>
            </a:endParaRPr>
          </a:p>
          <a:p>
            <a:pPr algn="l">
              <a:buFont typeface="Arial" panose="020B0604020202020204" pitchFamily="34" charset="0"/>
              <a:buChar char="•"/>
            </a:pPr>
            <a:r>
              <a:rPr lang="en-IN" b="1" i="0" dirty="0">
                <a:effectLst/>
                <a:latin typeface="Google Sans"/>
              </a:rPr>
              <a:t>Slicing</a:t>
            </a:r>
            <a:r>
              <a:rPr lang="en-IN" b="0" i="0" dirty="0">
                <a:effectLst/>
                <a:latin typeface="Google Sans"/>
              </a:rPr>
              <a:t>: Extract a sub-list using a colon-separated start and end index. The slice includes the start index but excludes the end index. </a:t>
            </a:r>
          </a:p>
          <a:p>
            <a:pPr algn="l">
              <a:buFont typeface="Arial" panose="020B0604020202020204" pitchFamily="34" charset="0"/>
              <a:buChar char="•"/>
            </a:pPr>
            <a:r>
              <a:rPr lang="en-IN" b="0" i="0" dirty="0" err="1">
                <a:effectLst/>
                <a:latin typeface="Google Sans"/>
              </a:rPr>
              <a:t>my_list</a:t>
            </a:r>
            <a:r>
              <a:rPr lang="en-IN" b="0" i="0" dirty="0">
                <a:effectLst/>
                <a:latin typeface="Google Sans"/>
              </a:rPr>
              <a:t>[1:3]</a:t>
            </a:r>
          </a:p>
        </p:txBody>
      </p:sp>
    </p:spTree>
    <p:extLst>
      <p:ext uri="{BB962C8B-B14F-4D97-AF65-F5344CB8AC3E}">
        <p14:creationId xmlns:p14="http://schemas.microsoft.com/office/powerpoint/2010/main" val="600617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154C-5146-A9FF-0D99-E2638F05289C}"/>
              </a:ext>
            </a:extLst>
          </p:cNvPr>
          <p:cNvSpPr>
            <a:spLocks noGrp="1"/>
          </p:cNvSpPr>
          <p:nvPr>
            <p:ph type="title"/>
          </p:nvPr>
        </p:nvSpPr>
        <p:spPr/>
        <p:txBody>
          <a:bodyPr/>
          <a:lstStyle/>
          <a:p>
            <a:r>
              <a:rPr lang="en-US" dirty="0"/>
              <a:t>Updating Elements</a:t>
            </a:r>
          </a:p>
        </p:txBody>
      </p:sp>
      <p:sp>
        <p:nvSpPr>
          <p:cNvPr id="3" name="Content Placeholder 2">
            <a:extLst>
              <a:ext uri="{FF2B5EF4-FFF2-40B4-BE49-F238E27FC236}">
                <a16:creationId xmlns:a16="http://schemas.microsoft.com/office/drawing/2014/main" id="{AF984FBE-9A4F-435C-DBB7-CE32CAD278DA}"/>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42A0D8ED-378D-ACBB-AC24-9A1EB9D027D6}"/>
              </a:ext>
            </a:extLst>
          </p:cNvPr>
          <p:cNvPicPr>
            <a:picLocks noChangeAspect="1"/>
          </p:cNvPicPr>
          <p:nvPr/>
        </p:nvPicPr>
        <p:blipFill>
          <a:blip r:embed="rId2"/>
          <a:stretch>
            <a:fillRect/>
          </a:stretch>
        </p:blipFill>
        <p:spPr>
          <a:xfrm>
            <a:off x="4779462" y="2295003"/>
            <a:ext cx="6248400" cy="3657600"/>
          </a:xfrm>
          <a:prstGeom prst="rect">
            <a:avLst/>
          </a:prstGeom>
        </p:spPr>
      </p:pic>
    </p:spTree>
    <p:extLst>
      <p:ext uri="{BB962C8B-B14F-4D97-AF65-F5344CB8AC3E}">
        <p14:creationId xmlns:p14="http://schemas.microsoft.com/office/powerpoint/2010/main" val="4260214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80B20-0965-B1EC-0C64-78E8A907446B}"/>
              </a:ext>
            </a:extLst>
          </p:cNvPr>
          <p:cNvSpPr>
            <a:spLocks noGrp="1"/>
          </p:cNvSpPr>
          <p:nvPr>
            <p:ph type="title"/>
          </p:nvPr>
        </p:nvSpPr>
        <p:spPr/>
        <p:txBody>
          <a:bodyPr/>
          <a:lstStyle/>
          <a:p>
            <a:r>
              <a:rPr lang="en-IN" b="1" i="0" dirty="0">
                <a:solidFill>
                  <a:srgbClr val="273239"/>
                </a:solidFill>
                <a:effectLst/>
                <a:latin typeface="Nunito" pitchFamily="2" charset="77"/>
              </a:rPr>
              <a:t>Removing Elements from List</a:t>
            </a:r>
            <a:endParaRPr lang="en-US" dirty="0"/>
          </a:p>
        </p:txBody>
      </p:sp>
      <p:sp>
        <p:nvSpPr>
          <p:cNvPr id="3" name="Content Placeholder 2">
            <a:extLst>
              <a:ext uri="{FF2B5EF4-FFF2-40B4-BE49-F238E27FC236}">
                <a16:creationId xmlns:a16="http://schemas.microsoft.com/office/drawing/2014/main" id="{7D2B5102-C4E4-82AD-EAC2-A3487B739245}"/>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We can remove elements from a list using:</a:t>
            </a:r>
          </a:p>
          <a:p>
            <a:pPr algn="l" fontAlgn="base">
              <a:buFont typeface="Arial" panose="020B0604020202020204" pitchFamily="34" charset="0"/>
              <a:buChar char="•"/>
            </a:pPr>
            <a:r>
              <a:rPr lang="en-IN" b="1" i="0" dirty="0">
                <a:solidFill>
                  <a:srgbClr val="273239"/>
                </a:solidFill>
                <a:effectLst/>
                <a:latin typeface="Nunito" pitchFamily="2" charset="77"/>
              </a:rPr>
              <a:t>remove(): </a:t>
            </a:r>
            <a:r>
              <a:rPr lang="en-IN" b="0" i="0" dirty="0">
                <a:solidFill>
                  <a:srgbClr val="273239"/>
                </a:solidFill>
                <a:effectLst/>
                <a:latin typeface="Nunito" pitchFamily="2" charset="77"/>
              </a:rPr>
              <a:t>Removes the first occurrence of an element.</a:t>
            </a:r>
          </a:p>
          <a:p>
            <a:pPr algn="l" fontAlgn="base">
              <a:buFont typeface="Arial" panose="020B0604020202020204" pitchFamily="34" charset="0"/>
              <a:buChar char="•"/>
            </a:pPr>
            <a:r>
              <a:rPr lang="en-IN" b="1" i="0" dirty="0">
                <a:solidFill>
                  <a:srgbClr val="273239"/>
                </a:solidFill>
                <a:effectLst/>
                <a:latin typeface="Nunito" pitchFamily="2" charset="77"/>
              </a:rPr>
              <a:t>pop(): </a:t>
            </a:r>
            <a:r>
              <a:rPr lang="en-IN" b="0" i="0" dirty="0">
                <a:solidFill>
                  <a:srgbClr val="273239"/>
                </a:solidFill>
                <a:effectLst/>
                <a:latin typeface="Nunito" pitchFamily="2" charset="77"/>
              </a:rPr>
              <a:t>Removes the element at a specific index or the last element if no index is specified.</a:t>
            </a:r>
          </a:p>
          <a:p>
            <a:pPr algn="l" fontAlgn="base">
              <a:buFont typeface="Arial" panose="020B0604020202020204" pitchFamily="34" charset="0"/>
              <a:buChar char="•"/>
            </a:pPr>
            <a:r>
              <a:rPr lang="en-IN" b="1" i="0" dirty="0">
                <a:solidFill>
                  <a:srgbClr val="273239"/>
                </a:solidFill>
                <a:effectLst/>
                <a:latin typeface="Nunito" pitchFamily="2" charset="77"/>
              </a:rPr>
              <a:t>del statement:</a:t>
            </a:r>
            <a:r>
              <a:rPr lang="en-IN" b="0" i="0" dirty="0">
                <a:solidFill>
                  <a:srgbClr val="273239"/>
                </a:solidFill>
                <a:effectLst/>
                <a:latin typeface="Nunito" pitchFamily="2" charset="77"/>
              </a:rPr>
              <a:t> Deletes an element at a specified index.</a:t>
            </a:r>
          </a:p>
          <a:p>
            <a:endParaRPr lang="en-US" dirty="0"/>
          </a:p>
        </p:txBody>
      </p:sp>
    </p:spTree>
    <p:extLst>
      <p:ext uri="{BB962C8B-B14F-4D97-AF65-F5344CB8AC3E}">
        <p14:creationId xmlns:p14="http://schemas.microsoft.com/office/powerpoint/2010/main" val="199426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2555-E879-56D0-2F4B-8BA054496C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C35219-7B0C-82BE-AF7F-92CD888F463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7A44CF4-50A4-4088-3830-AD9211004E72}"/>
              </a:ext>
            </a:extLst>
          </p:cNvPr>
          <p:cNvPicPr>
            <a:picLocks noChangeAspect="1"/>
          </p:cNvPicPr>
          <p:nvPr/>
        </p:nvPicPr>
        <p:blipFill>
          <a:blip r:embed="rId2"/>
          <a:stretch>
            <a:fillRect/>
          </a:stretch>
        </p:blipFill>
        <p:spPr>
          <a:xfrm>
            <a:off x="2209800" y="156998"/>
            <a:ext cx="7772400" cy="6544003"/>
          </a:xfrm>
          <a:prstGeom prst="rect">
            <a:avLst/>
          </a:prstGeom>
        </p:spPr>
      </p:pic>
    </p:spTree>
    <p:extLst>
      <p:ext uri="{BB962C8B-B14F-4D97-AF65-F5344CB8AC3E}">
        <p14:creationId xmlns:p14="http://schemas.microsoft.com/office/powerpoint/2010/main" val="324185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0F271-E1DB-7CC9-AA27-0C712794CF68}"/>
              </a:ext>
            </a:extLst>
          </p:cNvPr>
          <p:cNvSpPr>
            <a:spLocks noGrp="1"/>
          </p:cNvSpPr>
          <p:nvPr>
            <p:ph type="title"/>
          </p:nvPr>
        </p:nvSpPr>
        <p:spPr/>
        <p:txBody>
          <a:bodyPr/>
          <a:lstStyle/>
          <a:p>
            <a:r>
              <a:rPr lang="en-IN" b="1" i="0" dirty="0">
                <a:solidFill>
                  <a:srgbClr val="273239"/>
                </a:solidFill>
                <a:effectLst/>
                <a:latin typeface="Nunito" pitchFamily="2" charset="77"/>
              </a:rPr>
              <a:t>Nested Lists</a:t>
            </a:r>
            <a:endParaRPr lang="en-US" dirty="0"/>
          </a:p>
        </p:txBody>
      </p:sp>
      <p:sp>
        <p:nvSpPr>
          <p:cNvPr id="3" name="Content Placeholder 2">
            <a:extLst>
              <a:ext uri="{FF2B5EF4-FFF2-40B4-BE49-F238E27FC236}">
                <a16:creationId xmlns:a16="http://schemas.microsoft.com/office/drawing/2014/main" id="{78316868-EE11-9CA6-4AD0-F850E86DF460}"/>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A nested list is a list within another list, which is useful for representing matrices or tables. We can access nested elements by chaining indexes.</a:t>
            </a:r>
          </a:p>
          <a:p>
            <a:endParaRPr lang="en-US" dirty="0"/>
          </a:p>
        </p:txBody>
      </p:sp>
      <p:pic>
        <p:nvPicPr>
          <p:cNvPr id="6" name="Picture 5">
            <a:extLst>
              <a:ext uri="{FF2B5EF4-FFF2-40B4-BE49-F238E27FC236}">
                <a16:creationId xmlns:a16="http://schemas.microsoft.com/office/drawing/2014/main" id="{FF159BEB-206B-CFB3-9295-8A2CDF6FA757}"/>
              </a:ext>
            </a:extLst>
          </p:cNvPr>
          <p:cNvPicPr>
            <a:picLocks noChangeAspect="1"/>
          </p:cNvPicPr>
          <p:nvPr/>
        </p:nvPicPr>
        <p:blipFill>
          <a:blip r:embed="rId2"/>
          <a:stretch>
            <a:fillRect/>
          </a:stretch>
        </p:blipFill>
        <p:spPr>
          <a:xfrm>
            <a:off x="6225284" y="2717800"/>
            <a:ext cx="5842000" cy="4140200"/>
          </a:xfrm>
          <a:prstGeom prst="rect">
            <a:avLst/>
          </a:prstGeom>
        </p:spPr>
      </p:pic>
    </p:spTree>
    <p:extLst>
      <p:ext uri="{BB962C8B-B14F-4D97-AF65-F5344CB8AC3E}">
        <p14:creationId xmlns:p14="http://schemas.microsoft.com/office/powerpoint/2010/main" val="1445510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B9C0-5E6D-774B-101F-B1851556AE57}"/>
              </a:ext>
            </a:extLst>
          </p:cNvPr>
          <p:cNvSpPr>
            <a:spLocks noGrp="1"/>
          </p:cNvSpPr>
          <p:nvPr>
            <p:ph type="title"/>
          </p:nvPr>
        </p:nvSpPr>
        <p:spPr/>
        <p:txBody>
          <a:bodyPr/>
          <a:lstStyle/>
          <a:p>
            <a:r>
              <a:rPr lang="en-IN" b="1" i="0" dirty="0">
                <a:effectLst/>
                <a:latin typeface="Google Sans"/>
              </a:rPr>
              <a:t>List Comprehensions</a:t>
            </a:r>
            <a:endParaRPr lang="en-US" dirty="0"/>
          </a:p>
        </p:txBody>
      </p:sp>
      <p:sp>
        <p:nvSpPr>
          <p:cNvPr id="3" name="Content Placeholder 2">
            <a:extLst>
              <a:ext uri="{FF2B5EF4-FFF2-40B4-BE49-F238E27FC236}">
                <a16:creationId xmlns:a16="http://schemas.microsoft.com/office/drawing/2014/main" id="{C086D276-46C6-D9B2-121B-18D28A5444B0}"/>
              </a:ext>
            </a:extLst>
          </p:cNvPr>
          <p:cNvSpPr>
            <a:spLocks noGrp="1"/>
          </p:cNvSpPr>
          <p:nvPr>
            <p:ph idx="1"/>
          </p:nvPr>
        </p:nvSpPr>
        <p:spPr/>
        <p:txBody>
          <a:bodyPr/>
          <a:lstStyle/>
          <a:p>
            <a:pPr algn="l"/>
            <a:r>
              <a:rPr lang="en-IN" b="0" i="0" dirty="0">
                <a:effectLst/>
                <a:latin typeface="Google Sans"/>
              </a:rPr>
              <a:t>List comprehension offers a concise way to create new lists from existing </a:t>
            </a:r>
            <a:r>
              <a:rPr lang="en-IN" b="0" i="0" dirty="0" err="1">
                <a:effectLst/>
                <a:latin typeface="Google Sans"/>
              </a:rPr>
              <a:t>iterables</a:t>
            </a:r>
            <a:r>
              <a:rPr lang="en-IN" b="0" i="0" dirty="0">
                <a:effectLst/>
                <a:latin typeface="Google Sans"/>
              </a:rPr>
              <a:t> in a single line of code. </a:t>
            </a:r>
          </a:p>
          <a:p>
            <a:pPr algn="l"/>
            <a:endParaRPr lang="en-IN" b="0" i="0" dirty="0">
              <a:effectLst/>
              <a:latin typeface="Google Sans"/>
            </a:endParaRPr>
          </a:p>
          <a:p>
            <a:r>
              <a:rPr lang="en-US" dirty="0"/>
              <a:t>squares = [x**2 for x in range(1, 6)]</a:t>
            </a:r>
          </a:p>
          <a:p>
            <a:r>
              <a:rPr lang="en-US" dirty="0"/>
              <a:t># Result: [1, 4, 9, 16, 25]</a:t>
            </a:r>
          </a:p>
          <a:p>
            <a:endParaRPr lang="en-US" dirty="0"/>
          </a:p>
        </p:txBody>
      </p:sp>
    </p:spTree>
    <p:extLst>
      <p:ext uri="{BB962C8B-B14F-4D97-AF65-F5344CB8AC3E}">
        <p14:creationId xmlns:p14="http://schemas.microsoft.com/office/powerpoint/2010/main" val="837987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F0FF9-8921-5A07-1653-855DB8DD9E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88DDFA-31DF-8902-D3BD-4AB46DF954B7}"/>
              </a:ext>
            </a:extLst>
          </p:cNvPr>
          <p:cNvSpPr>
            <a:spLocks noGrp="1"/>
          </p:cNvSpPr>
          <p:nvPr>
            <p:ph idx="1"/>
          </p:nvPr>
        </p:nvSpPr>
        <p:spPr/>
        <p:txBody>
          <a:bodyPr/>
          <a:lstStyle/>
          <a:p>
            <a:pPr algn="l"/>
            <a:r>
              <a:rPr lang="en-IN" b="0" i="0" dirty="0">
                <a:solidFill>
                  <a:srgbClr val="05192D"/>
                </a:solidFill>
                <a:effectLst/>
                <a:latin typeface="Studio-Feixen-Sans"/>
              </a:rPr>
              <a:t>The sort() method is a built-in Python method that, by default, sorts the list in ascending order. However, you can modify the order from ascending to descending by specifying the sorting criteria.</a:t>
            </a:r>
          </a:p>
          <a:p>
            <a:br>
              <a:rPr lang="en-IN" dirty="0"/>
            </a:br>
            <a:endParaRPr lang="en-US" dirty="0"/>
          </a:p>
        </p:txBody>
      </p:sp>
      <p:pic>
        <p:nvPicPr>
          <p:cNvPr id="4" name="Picture 3">
            <a:extLst>
              <a:ext uri="{FF2B5EF4-FFF2-40B4-BE49-F238E27FC236}">
                <a16:creationId xmlns:a16="http://schemas.microsoft.com/office/drawing/2014/main" id="{3A40DB2B-76A3-6741-9A66-210631A5A296}"/>
              </a:ext>
            </a:extLst>
          </p:cNvPr>
          <p:cNvPicPr>
            <a:picLocks noChangeAspect="1"/>
          </p:cNvPicPr>
          <p:nvPr/>
        </p:nvPicPr>
        <p:blipFill>
          <a:blip r:embed="rId2"/>
          <a:stretch>
            <a:fillRect/>
          </a:stretch>
        </p:blipFill>
        <p:spPr>
          <a:xfrm>
            <a:off x="3795713" y="3429000"/>
            <a:ext cx="3886200" cy="2184479"/>
          </a:xfrm>
          <a:prstGeom prst="rect">
            <a:avLst/>
          </a:prstGeom>
        </p:spPr>
      </p:pic>
    </p:spTree>
    <p:extLst>
      <p:ext uri="{BB962C8B-B14F-4D97-AF65-F5344CB8AC3E}">
        <p14:creationId xmlns:p14="http://schemas.microsoft.com/office/powerpoint/2010/main" val="1237611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2683-F4E2-23EC-9DE4-5744040081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58C9A9-1A24-D0A1-B27F-4695CE6083EE}"/>
              </a:ext>
            </a:extLst>
          </p:cNvPr>
          <p:cNvSpPr>
            <a:spLocks noGrp="1"/>
          </p:cNvSpPr>
          <p:nvPr>
            <p:ph idx="1"/>
          </p:nvPr>
        </p:nvSpPr>
        <p:spPr/>
        <p:txBody>
          <a:bodyPr/>
          <a:lstStyle/>
          <a:p>
            <a:pPr algn="l"/>
            <a:r>
              <a:rPr lang="en-IN" b="0" i="0" dirty="0">
                <a:solidFill>
                  <a:srgbClr val="05192D"/>
                </a:solidFill>
                <a:effectLst/>
                <a:latin typeface="Studio-Feixen-Sans"/>
              </a:rPr>
              <a:t>For the type() function, it returns the class type of an object.</a:t>
            </a:r>
          </a:p>
          <a:p>
            <a:br>
              <a:rPr lang="en-IN" dirty="0"/>
            </a:br>
            <a:endParaRPr lang="en-US" dirty="0"/>
          </a:p>
        </p:txBody>
      </p:sp>
      <p:pic>
        <p:nvPicPr>
          <p:cNvPr id="5" name="Picture 4">
            <a:extLst>
              <a:ext uri="{FF2B5EF4-FFF2-40B4-BE49-F238E27FC236}">
                <a16:creationId xmlns:a16="http://schemas.microsoft.com/office/drawing/2014/main" id="{941DAE92-C2F7-5451-1DAE-43D27E667918}"/>
              </a:ext>
            </a:extLst>
          </p:cNvPr>
          <p:cNvPicPr>
            <a:picLocks noChangeAspect="1"/>
          </p:cNvPicPr>
          <p:nvPr/>
        </p:nvPicPr>
        <p:blipFill>
          <a:blip r:embed="rId2"/>
          <a:stretch>
            <a:fillRect/>
          </a:stretch>
        </p:blipFill>
        <p:spPr>
          <a:xfrm>
            <a:off x="2209800" y="2260272"/>
            <a:ext cx="7772400" cy="2337456"/>
          </a:xfrm>
          <a:prstGeom prst="rect">
            <a:avLst/>
          </a:prstGeom>
        </p:spPr>
      </p:pic>
    </p:spTree>
    <p:extLst>
      <p:ext uri="{BB962C8B-B14F-4D97-AF65-F5344CB8AC3E}">
        <p14:creationId xmlns:p14="http://schemas.microsoft.com/office/powerpoint/2010/main" val="753372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4ECAC-53F0-5F6A-9F37-7604FEE0DE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A7F2BA-E384-ED83-BE07-B132CEBB1CE9}"/>
              </a:ext>
            </a:extLst>
          </p:cNvPr>
          <p:cNvSpPr>
            <a:spLocks noGrp="1"/>
          </p:cNvSpPr>
          <p:nvPr>
            <p:ph idx="1"/>
          </p:nvPr>
        </p:nvSpPr>
        <p:spPr/>
        <p:txBody>
          <a:bodyPr/>
          <a:lstStyle/>
          <a:p>
            <a:pPr algn="l"/>
            <a:r>
              <a:rPr lang="en-IN" b="0" i="0" dirty="0">
                <a:solidFill>
                  <a:srgbClr val="05192D"/>
                </a:solidFill>
                <a:effectLst/>
                <a:latin typeface="Studio-Feixen-Sans"/>
              </a:rPr>
              <a:t>The append() method will add certain content you enter to the end of the elements you select.</a:t>
            </a:r>
          </a:p>
          <a:p>
            <a:br>
              <a:rPr lang="en-IN" dirty="0"/>
            </a:br>
            <a:endParaRPr lang="en-US" dirty="0"/>
          </a:p>
        </p:txBody>
      </p:sp>
      <p:pic>
        <p:nvPicPr>
          <p:cNvPr id="4" name="Picture 3">
            <a:extLst>
              <a:ext uri="{FF2B5EF4-FFF2-40B4-BE49-F238E27FC236}">
                <a16:creationId xmlns:a16="http://schemas.microsoft.com/office/drawing/2014/main" id="{15EC8266-6BDC-41C7-AD0C-D3CD6427D06B}"/>
              </a:ext>
            </a:extLst>
          </p:cNvPr>
          <p:cNvPicPr>
            <a:picLocks noChangeAspect="1"/>
          </p:cNvPicPr>
          <p:nvPr/>
        </p:nvPicPr>
        <p:blipFill>
          <a:blip r:embed="rId2"/>
          <a:stretch>
            <a:fillRect/>
          </a:stretch>
        </p:blipFill>
        <p:spPr>
          <a:xfrm>
            <a:off x="3581400" y="2855379"/>
            <a:ext cx="7772400" cy="3456521"/>
          </a:xfrm>
          <a:prstGeom prst="rect">
            <a:avLst/>
          </a:prstGeom>
        </p:spPr>
      </p:pic>
    </p:spTree>
    <p:extLst>
      <p:ext uri="{BB962C8B-B14F-4D97-AF65-F5344CB8AC3E}">
        <p14:creationId xmlns:p14="http://schemas.microsoft.com/office/powerpoint/2010/main" val="333792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4D34D-7E7E-C128-A901-036D73C297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E7E149-8077-395D-8126-C9BB74059631}"/>
              </a:ext>
            </a:extLst>
          </p:cNvPr>
          <p:cNvSpPr>
            <a:spLocks noGrp="1"/>
          </p:cNvSpPr>
          <p:nvPr>
            <p:ph idx="1"/>
          </p:nvPr>
        </p:nvSpPr>
        <p:spPr/>
        <p:txBody>
          <a:bodyPr/>
          <a:lstStyle/>
          <a:p>
            <a:pPr algn="l"/>
            <a:r>
              <a:rPr lang="en-IN" b="0" i="0" dirty="0">
                <a:solidFill>
                  <a:srgbClr val="05192D"/>
                </a:solidFill>
                <a:effectLst/>
                <a:latin typeface="Studio-Feixen-Sans"/>
              </a:rPr>
              <a:t>The extend() method increases the length of the list by the number of elements that are provided to the method, so if you want to add multiple elements to the list, you can use this method.</a:t>
            </a:r>
          </a:p>
          <a:p>
            <a:pPr marL="0" indent="0">
              <a:buNone/>
            </a:pPr>
            <a:endParaRPr lang="en-US" dirty="0"/>
          </a:p>
        </p:txBody>
      </p:sp>
      <p:pic>
        <p:nvPicPr>
          <p:cNvPr id="4" name="Picture 3">
            <a:extLst>
              <a:ext uri="{FF2B5EF4-FFF2-40B4-BE49-F238E27FC236}">
                <a16:creationId xmlns:a16="http://schemas.microsoft.com/office/drawing/2014/main" id="{5E8F52FD-0C77-F2DF-2FD7-3674C15FDEE2}"/>
              </a:ext>
            </a:extLst>
          </p:cNvPr>
          <p:cNvPicPr>
            <a:picLocks noChangeAspect="1"/>
          </p:cNvPicPr>
          <p:nvPr/>
        </p:nvPicPr>
        <p:blipFill>
          <a:blip r:embed="rId2"/>
          <a:stretch>
            <a:fillRect/>
          </a:stretch>
        </p:blipFill>
        <p:spPr>
          <a:xfrm>
            <a:off x="7354888" y="2987395"/>
            <a:ext cx="3998912" cy="3870605"/>
          </a:xfrm>
          <a:prstGeom prst="rect">
            <a:avLst/>
          </a:prstGeom>
        </p:spPr>
      </p:pic>
    </p:spTree>
    <p:extLst>
      <p:ext uri="{BB962C8B-B14F-4D97-AF65-F5344CB8AC3E}">
        <p14:creationId xmlns:p14="http://schemas.microsoft.com/office/powerpoint/2010/main" val="1529082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95AC-F0A3-0398-3254-4CC6A81F0D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890226-E6A3-EF29-BF47-31707DCE0EDA}"/>
              </a:ext>
            </a:extLst>
          </p:cNvPr>
          <p:cNvSpPr>
            <a:spLocks noGrp="1"/>
          </p:cNvSpPr>
          <p:nvPr>
            <p:ph idx="1"/>
          </p:nvPr>
        </p:nvSpPr>
        <p:spPr/>
        <p:txBody>
          <a:bodyPr/>
          <a:lstStyle/>
          <a:p>
            <a:pPr algn="l"/>
            <a:r>
              <a:rPr lang="en-IN" b="0" i="0" dirty="0">
                <a:solidFill>
                  <a:srgbClr val="05192D"/>
                </a:solidFill>
                <a:effectLst/>
                <a:latin typeface="Studio-Feixen-Sans"/>
              </a:rPr>
              <a:t>The index() method returns the first appearance of the specified value.</a:t>
            </a:r>
          </a:p>
          <a:p>
            <a:br>
              <a:rPr lang="en-IN" dirty="0"/>
            </a:br>
            <a:endParaRPr lang="en-US" dirty="0"/>
          </a:p>
        </p:txBody>
      </p:sp>
      <p:pic>
        <p:nvPicPr>
          <p:cNvPr id="4" name="Picture 3">
            <a:extLst>
              <a:ext uri="{FF2B5EF4-FFF2-40B4-BE49-F238E27FC236}">
                <a16:creationId xmlns:a16="http://schemas.microsoft.com/office/drawing/2014/main" id="{FB5BC30C-3DD3-68F9-B1A8-84E6036AEACB}"/>
              </a:ext>
            </a:extLst>
          </p:cNvPr>
          <p:cNvPicPr>
            <a:picLocks noChangeAspect="1"/>
          </p:cNvPicPr>
          <p:nvPr/>
        </p:nvPicPr>
        <p:blipFill>
          <a:blip r:embed="rId2"/>
          <a:stretch>
            <a:fillRect/>
          </a:stretch>
        </p:blipFill>
        <p:spPr>
          <a:xfrm>
            <a:off x="2538412" y="2507029"/>
            <a:ext cx="7772400" cy="3985846"/>
          </a:xfrm>
          <a:prstGeom prst="rect">
            <a:avLst/>
          </a:prstGeom>
        </p:spPr>
      </p:pic>
    </p:spTree>
    <p:extLst>
      <p:ext uri="{BB962C8B-B14F-4D97-AF65-F5344CB8AC3E}">
        <p14:creationId xmlns:p14="http://schemas.microsoft.com/office/powerpoint/2010/main" val="1402688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DA898-8D16-9A2E-6CF8-0A8D10C4AB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B6D187-91DE-787F-7226-C5A3B84BB6C2}"/>
              </a:ext>
            </a:extLst>
          </p:cNvPr>
          <p:cNvSpPr>
            <a:spLocks noGrp="1"/>
          </p:cNvSpPr>
          <p:nvPr>
            <p:ph idx="1"/>
          </p:nvPr>
        </p:nvSpPr>
        <p:spPr/>
        <p:txBody>
          <a:bodyPr/>
          <a:lstStyle/>
          <a:p>
            <a:pPr algn="l"/>
            <a:r>
              <a:rPr lang="en-IN" b="0" i="0" dirty="0">
                <a:solidFill>
                  <a:srgbClr val="05192D"/>
                </a:solidFill>
                <a:effectLst/>
                <a:latin typeface="Studio-Feixen-Sans"/>
              </a:rPr>
              <a:t>The max() function will return the highest value of the inputted values.</a:t>
            </a:r>
          </a:p>
          <a:p>
            <a:br>
              <a:rPr lang="en-IN" dirty="0"/>
            </a:br>
            <a:endParaRPr lang="en-US" dirty="0"/>
          </a:p>
        </p:txBody>
      </p:sp>
      <p:pic>
        <p:nvPicPr>
          <p:cNvPr id="4" name="Picture 3">
            <a:extLst>
              <a:ext uri="{FF2B5EF4-FFF2-40B4-BE49-F238E27FC236}">
                <a16:creationId xmlns:a16="http://schemas.microsoft.com/office/drawing/2014/main" id="{E9BDEA7B-9CE3-19FB-CD87-91F93B1F2A48}"/>
              </a:ext>
            </a:extLst>
          </p:cNvPr>
          <p:cNvPicPr>
            <a:picLocks noChangeAspect="1"/>
          </p:cNvPicPr>
          <p:nvPr/>
        </p:nvPicPr>
        <p:blipFill>
          <a:blip r:embed="rId2"/>
          <a:stretch>
            <a:fillRect/>
          </a:stretch>
        </p:blipFill>
        <p:spPr>
          <a:xfrm>
            <a:off x="3033712" y="2406172"/>
            <a:ext cx="7772400" cy="3905728"/>
          </a:xfrm>
          <a:prstGeom prst="rect">
            <a:avLst/>
          </a:prstGeom>
        </p:spPr>
      </p:pic>
    </p:spTree>
    <p:extLst>
      <p:ext uri="{BB962C8B-B14F-4D97-AF65-F5344CB8AC3E}">
        <p14:creationId xmlns:p14="http://schemas.microsoft.com/office/powerpoint/2010/main" val="582935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F60D-6255-4CDC-0F0B-37597DC56E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F39460-A210-4219-88F3-263F9031EF54}"/>
              </a:ext>
            </a:extLst>
          </p:cNvPr>
          <p:cNvSpPr>
            <a:spLocks noGrp="1"/>
          </p:cNvSpPr>
          <p:nvPr>
            <p:ph idx="1"/>
          </p:nvPr>
        </p:nvSpPr>
        <p:spPr/>
        <p:txBody>
          <a:bodyPr/>
          <a:lstStyle/>
          <a:p>
            <a:pPr algn="l"/>
            <a:r>
              <a:rPr lang="en-IN" b="0" i="0" dirty="0">
                <a:solidFill>
                  <a:srgbClr val="05192D"/>
                </a:solidFill>
                <a:effectLst/>
                <a:latin typeface="Studio-Feixen-Sans"/>
              </a:rPr>
              <a:t>The min() function will return the lowest value of the inputted values.</a:t>
            </a:r>
          </a:p>
          <a:p>
            <a:br>
              <a:rPr lang="en-IN" dirty="0"/>
            </a:br>
            <a:endParaRPr lang="en-US" dirty="0"/>
          </a:p>
        </p:txBody>
      </p:sp>
      <p:pic>
        <p:nvPicPr>
          <p:cNvPr id="4" name="Picture 3">
            <a:extLst>
              <a:ext uri="{FF2B5EF4-FFF2-40B4-BE49-F238E27FC236}">
                <a16:creationId xmlns:a16="http://schemas.microsoft.com/office/drawing/2014/main" id="{F8FB3665-BB92-4B27-44D0-8105E1B8A76C}"/>
              </a:ext>
            </a:extLst>
          </p:cNvPr>
          <p:cNvPicPr>
            <a:picLocks noChangeAspect="1"/>
          </p:cNvPicPr>
          <p:nvPr/>
        </p:nvPicPr>
        <p:blipFill>
          <a:blip r:embed="rId2"/>
          <a:stretch>
            <a:fillRect/>
          </a:stretch>
        </p:blipFill>
        <p:spPr>
          <a:xfrm>
            <a:off x="4786312" y="2256998"/>
            <a:ext cx="5141521" cy="4601002"/>
          </a:xfrm>
          <a:prstGeom prst="rect">
            <a:avLst/>
          </a:prstGeom>
        </p:spPr>
      </p:pic>
    </p:spTree>
    <p:extLst>
      <p:ext uri="{BB962C8B-B14F-4D97-AF65-F5344CB8AC3E}">
        <p14:creationId xmlns:p14="http://schemas.microsoft.com/office/powerpoint/2010/main" val="424871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1D418-AB08-317C-99CB-489471C038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52CE14-D1BE-B6B1-A6B3-0C42743B98F0}"/>
              </a:ext>
            </a:extLst>
          </p:cNvPr>
          <p:cNvSpPr>
            <a:spLocks noGrp="1"/>
          </p:cNvSpPr>
          <p:nvPr>
            <p:ph idx="1"/>
          </p:nvPr>
        </p:nvSpPr>
        <p:spPr/>
        <p:txBody>
          <a:bodyPr/>
          <a:lstStyle/>
          <a:p>
            <a:pPr algn="l"/>
            <a:r>
              <a:rPr lang="en-IN" b="0" i="0" dirty="0">
                <a:solidFill>
                  <a:srgbClr val="05192D"/>
                </a:solidFill>
                <a:effectLst/>
                <a:latin typeface="Studio-Feixen-Sans"/>
              </a:rPr>
              <a:t>The </a:t>
            </a:r>
            <a:r>
              <a:rPr lang="en-IN" b="0" i="0" dirty="0" err="1">
                <a:solidFill>
                  <a:srgbClr val="05192D"/>
                </a:solidFill>
                <a:effectLst/>
                <a:latin typeface="Studio-Feixen-Sans"/>
              </a:rPr>
              <a:t>len</a:t>
            </a:r>
            <a:r>
              <a:rPr lang="en-IN" b="0" i="0" dirty="0">
                <a:solidFill>
                  <a:srgbClr val="05192D"/>
                </a:solidFill>
                <a:effectLst/>
                <a:latin typeface="Studio-Feixen-Sans"/>
              </a:rPr>
              <a:t>() function shows the number of elements in a list. In the below example, we will look at stock price data again using integers.</a:t>
            </a:r>
          </a:p>
          <a:p>
            <a:br>
              <a:rPr lang="en-IN" dirty="0"/>
            </a:br>
            <a:endParaRPr lang="en-US" dirty="0"/>
          </a:p>
        </p:txBody>
      </p:sp>
      <p:pic>
        <p:nvPicPr>
          <p:cNvPr id="4" name="Picture 3">
            <a:extLst>
              <a:ext uri="{FF2B5EF4-FFF2-40B4-BE49-F238E27FC236}">
                <a16:creationId xmlns:a16="http://schemas.microsoft.com/office/drawing/2014/main" id="{7AE5F752-A923-4911-A79E-454CE7F62DB3}"/>
              </a:ext>
            </a:extLst>
          </p:cNvPr>
          <p:cNvPicPr>
            <a:picLocks noChangeAspect="1"/>
          </p:cNvPicPr>
          <p:nvPr/>
        </p:nvPicPr>
        <p:blipFill>
          <a:blip r:embed="rId2"/>
          <a:stretch>
            <a:fillRect/>
          </a:stretch>
        </p:blipFill>
        <p:spPr>
          <a:xfrm>
            <a:off x="2209800" y="2775450"/>
            <a:ext cx="7772400" cy="3821699"/>
          </a:xfrm>
          <a:prstGeom prst="rect">
            <a:avLst/>
          </a:prstGeom>
        </p:spPr>
      </p:pic>
    </p:spTree>
    <p:extLst>
      <p:ext uri="{BB962C8B-B14F-4D97-AF65-F5344CB8AC3E}">
        <p14:creationId xmlns:p14="http://schemas.microsoft.com/office/powerpoint/2010/main" val="338017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9F855-6B79-CFF0-A7D6-16C8B049DB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4A4F95-F928-0DB0-F344-234C18F271EC}"/>
              </a:ext>
            </a:extLst>
          </p:cNvPr>
          <p:cNvSpPr>
            <a:spLocks noGrp="1"/>
          </p:cNvSpPr>
          <p:nvPr>
            <p:ph idx="1"/>
          </p:nvPr>
        </p:nvSpPr>
        <p:spPr/>
        <p:txBody>
          <a:bodyPr/>
          <a:lstStyle/>
          <a:p>
            <a:pPr algn="l"/>
            <a:r>
              <a:rPr lang="en-IN" b="0" i="0" dirty="0">
                <a:solidFill>
                  <a:srgbClr val="05192D"/>
                </a:solidFill>
                <a:effectLst/>
                <a:latin typeface="Studio-Feixen-Sans"/>
              </a:rPr>
              <a:t>The list() function takes an </a:t>
            </a:r>
            <a:r>
              <a:rPr lang="en-IN" b="0" i="0" dirty="0" err="1">
                <a:solidFill>
                  <a:srgbClr val="05192D"/>
                </a:solidFill>
                <a:effectLst/>
                <a:latin typeface="Studio-Feixen-Sans"/>
              </a:rPr>
              <a:t>iterable</a:t>
            </a:r>
            <a:r>
              <a:rPr lang="en-IN" b="0" i="0" dirty="0">
                <a:solidFill>
                  <a:srgbClr val="05192D"/>
                </a:solidFill>
                <a:effectLst/>
                <a:latin typeface="Studio-Feixen-Sans"/>
              </a:rPr>
              <a:t> construct and turns it into a list.</a:t>
            </a:r>
          </a:p>
          <a:p>
            <a:br>
              <a:rPr lang="en-IN" dirty="0"/>
            </a:br>
            <a:endParaRPr lang="en-US" dirty="0"/>
          </a:p>
        </p:txBody>
      </p:sp>
      <p:pic>
        <p:nvPicPr>
          <p:cNvPr id="4" name="Picture 3">
            <a:extLst>
              <a:ext uri="{FF2B5EF4-FFF2-40B4-BE49-F238E27FC236}">
                <a16:creationId xmlns:a16="http://schemas.microsoft.com/office/drawing/2014/main" id="{1E2B2021-2360-D647-C43A-5472DCF94730}"/>
              </a:ext>
            </a:extLst>
          </p:cNvPr>
          <p:cNvPicPr>
            <a:picLocks noChangeAspect="1"/>
          </p:cNvPicPr>
          <p:nvPr/>
        </p:nvPicPr>
        <p:blipFill>
          <a:blip r:embed="rId2"/>
          <a:stretch>
            <a:fillRect/>
          </a:stretch>
        </p:blipFill>
        <p:spPr>
          <a:xfrm>
            <a:off x="4772024" y="2244212"/>
            <a:ext cx="5155809" cy="4613788"/>
          </a:xfrm>
          <a:prstGeom prst="rect">
            <a:avLst/>
          </a:prstGeom>
        </p:spPr>
      </p:pic>
    </p:spTree>
    <p:extLst>
      <p:ext uri="{BB962C8B-B14F-4D97-AF65-F5344CB8AC3E}">
        <p14:creationId xmlns:p14="http://schemas.microsoft.com/office/powerpoint/2010/main" val="1280400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7998D-4D35-2DBA-1BF0-9556AFD884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377634-8AF1-595F-4C2B-50ED65C57982}"/>
              </a:ext>
            </a:extLst>
          </p:cNvPr>
          <p:cNvSpPr>
            <a:spLocks noGrp="1"/>
          </p:cNvSpPr>
          <p:nvPr>
            <p:ph idx="1"/>
          </p:nvPr>
        </p:nvSpPr>
        <p:spPr/>
        <p:txBody>
          <a:bodyPr/>
          <a:lstStyle/>
          <a:p>
            <a:pPr algn="l"/>
            <a:r>
              <a:rPr lang="en-IN" b="0" i="0" dirty="0">
                <a:solidFill>
                  <a:srgbClr val="05192D"/>
                </a:solidFill>
                <a:effectLst/>
                <a:latin typeface="Studio-Feixen-Sans"/>
              </a:rPr>
              <a:t>For the </a:t>
            </a:r>
            <a:r>
              <a:rPr lang="en-IN" b="0" i="0" dirty="0" err="1">
                <a:solidFill>
                  <a:srgbClr val="05192D"/>
                </a:solidFill>
                <a:effectLst/>
                <a:latin typeface="Studio-Feixen-Sans"/>
              </a:rPr>
              <a:t>cmp</a:t>
            </a:r>
            <a:r>
              <a:rPr lang="en-IN" b="0" i="0" dirty="0">
                <a:solidFill>
                  <a:srgbClr val="05192D"/>
                </a:solidFill>
                <a:effectLst/>
                <a:latin typeface="Studio-Feixen-Sans"/>
              </a:rPr>
              <a:t>() function, it takes two values and compares them against one another. It will then return a negative, zero, or positive value based on what was inputted.</a:t>
            </a:r>
          </a:p>
          <a:p>
            <a:br>
              <a:rPr lang="en-IN" dirty="0"/>
            </a:br>
            <a:endParaRPr lang="en-US" dirty="0"/>
          </a:p>
        </p:txBody>
      </p:sp>
      <p:pic>
        <p:nvPicPr>
          <p:cNvPr id="4" name="Picture 3">
            <a:extLst>
              <a:ext uri="{FF2B5EF4-FFF2-40B4-BE49-F238E27FC236}">
                <a16:creationId xmlns:a16="http://schemas.microsoft.com/office/drawing/2014/main" id="{D98341B6-C8A6-10BE-62BD-BB60AEAD7696}"/>
              </a:ext>
            </a:extLst>
          </p:cNvPr>
          <p:cNvPicPr>
            <a:picLocks noChangeAspect="1"/>
          </p:cNvPicPr>
          <p:nvPr/>
        </p:nvPicPr>
        <p:blipFill>
          <a:blip r:embed="rId2"/>
          <a:stretch>
            <a:fillRect/>
          </a:stretch>
        </p:blipFill>
        <p:spPr>
          <a:xfrm>
            <a:off x="6315074" y="2631550"/>
            <a:ext cx="5876925" cy="4226450"/>
          </a:xfrm>
          <a:prstGeom prst="rect">
            <a:avLst/>
          </a:prstGeom>
        </p:spPr>
      </p:pic>
    </p:spTree>
    <p:extLst>
      <p:ext uri="{BB962C8B-B14F-4D97-AF65-F5344CB8AC3E}">
        <p14:creationId xmlns:p14="http://schemas.microsoft.com/office/powerpoint/2010/main" val="3716773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DAD26-E27D-BF9C-E8D1-99A0FE7575A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BCE1E8E-D5E6-6ACC-DF05-A8281CB2E891}"/>
              </a:ext>
            </a:extLst>
          </p:cNvPr>
          <p:cNvSpPr>
            <a:spLocks noGrp="1"/>
          </p:cNvSpPr>
          <p:nvPr>
            <p:ph idx="1"/>
          </p:nvPr>
        </p:nvSpPr>
        <p:spPr/>
        <p:txBody>
          <a:bodyPr/>
          <a:lstStyle/>
          <a:p>
            <a:pPr algn="l"/>
            <a:r>
              <a:rPr lang="en-IN" b="0" i="0" dirty="0">
                <a:solidFill>
                  <a:srgbClr val="05192D"/>
                </a:solidFill>
                <a:effectLst/>
                <a:latin typeface="Studio-Feixen-Sans"/>
              </a:rPr>
              <a:t>For the filter() function, it takes a function and the lists and returns an iterator of filtered elements. You can either create a Python filter function or use a lambda function to get a filtered list. </a:t>
            </a:r>
          </a:p>
          <a:p>
            <a:br>
              <a:rPr lang="en-IN" dirty="0"/>
            </a:br>
            <a:endParaRPr lang="en-US" dirty="0"/>
          </a:p>
        </p:txBody>
      </p:sp>
      <p:pic>
        <p:nvPicPr>
          <p:cNvPr id="4" name="Picture 3">
            <a:extLst>
              <a:ext uri="{FF2B5EF4-FFF2-40B4-BE49-F238E27FC236}">
                <a16:creationId xmlns:a16="http://schemas.microsoft.com/office/drawing/2014/main" id="{A4ECBFA4-E7AD-524A-0B7D-5F7D3F12B380}"/>
              </a:ext>
            </a:extLst>
          </p:cNvPr>
          <p:cNvPicPr>
            <a:picLocks noChangeAspect="1"/>
          </p:cNvPicPr>
          <p:nvPr/>
        </p:nvPicPr>
        <p:blipFill>
          <a:blip r:embed="rId2"/>
          <a:stretch>
            <a:fillRect/>
          </a:stretch>
        </p:blipFill>
        <p:spPr>
          <a:xfrm>
            <a:off x="7124700" y="2896420"/>
            <a:ext cx="5067300" cy="3869776"/>
          </a:xfrm>
          <a:prstGeom prst="rect">
            <a:avLst/>
          </a:prstGeom>
        </p:spPr>
      </p:pic>
      <p:pic>
        <p:nvPicPr>
          <p:cNvPr id="5" name="Picture 4">
            <a:extLst>
              <a:ext uri="{FF2B5EF4-FFF2-40B4-BE49-F238E27FC236}">
                <a16:creationId xmlns:a16="http://schemas.microsoft.com/office/drawing/2014/main" id="{B3C4EF8E-2003-9030-BE29-718F9771629B}"/>
              </a:ext>
            </a:extLst>
          </p:cNvPr>
          <p:cNvPicPr>
            <a:picLocks noChangeAspect="1"/>
          </p:cNvPicPr>
          <p:nvPr/>
        </p:nvPicPr>
        <p:blipFill>
          <a:blip r:embed="rId3"/>
          <a:stretch>
            <a:fillRect/>
          </a:stretch>
        </p:blipFill>
        <p:spPr>
          <a:xfrm>
            <a:off x="0" y="3245693"/>
            <a:ext cx="7124700" cy="3395557"/>
          </a:xfrm>
          <a:prstGeom prst="rect">
            <a:avLst/>
          </a:prstGeom>
        </p:spPr>
      </p:pic>
    </p:spTree>
    <p:extLst>
      <p:ext uri="{BB962C8B-B14F-4D97-AF65-F5344CB8AC3E}">
        <p14:creationId xmlns:p14="http://schemas.microsoft.com/office/powerpoint/2010/main" val="3086341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1649D-0511-4EAB-BCD5-A4AFFB1891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6A685D-FAD5-7E54-A5F2-AC8B1DC9BAC7}"/>
              </a:ext>
            </a:extLst>
          </p:cNvPr>
          <p:cNvSpPr>
            <a:spLocks noGrp="1"/>
          </p:cNvSpPr>
          <p:nvPr>
            <p:ph idx="1"/>
          </p:nvPr>
        </p:nvSpPr>
        <p:spPr/>
        <p:txBody>
          <a:bodyPr/>
          <a:lstStyle/>
          <a:p>
            <a:pPr algn="l"/>
            <a:r>
              <a:rPr lang="en-IN" b="0" i="0" dirty="0">
                <a:solidFill>
                  <a:srgbClr val="05192D"/>
                </a:solidFill>
                <a:effectLst/>
                <a:latin typeface="Studio-Feixen-Sans"/>
              </a:rPr>
              <a:t>The sort() method is a built-in Python method that, by default, sorts the list in ascending order. However, you can modify the order from ascending to descending by specifying the sorting criteria.</a:t>
            </a:r>
          </a:p>
          <a:p>
            <a:br>
              <a:rPr lang="en-IN" dirty="0"/>
            </a:br>
            <a:endParaRPr lang="en-US" dirty="0"/>
          </a:p>
        </p:txBody>
      </p:sp>
      <p:pic>
        <p:nvPicPr>
          <p:cNvPr id="4" name="Picture 3">
            <a:extLst>
              <a:ext uri="{FF2B5EF4-FFF2-40B4-BE49-F238E27FC236}">
                <a16:creationId xmlns:a16="http://schemas.microsoft.com/office/drawing/2014/main" id="{48FF7CB9-9D58-53B9-EBD3-B1858C9BC8CF}"/>
              </a:ext>
            </a:extLst>
          </p:cNvPr>
          <p:cNvPicPr>
            <a:picLocks noChangeAspect="1"/>
          </p:cNvPicPr>
          <p:nvPr/>
        </p:nvPicPr>
        <p:blipFill>
          <a:blip r:embed="rId2"/>
          <a:stretch>
            <a:fillRect/>
          </a:stretch>
        </p:blipFill>
        <p:spPr>
          <a:xfrm>
            <a:off x="4196218" y="3119801"/>
            <a:ext cx="6650277" cy="3738199"/>
          </a:xfrm>
          <a:prstGeom prst="rect">
            <a:avLst/>
          </a:prstGeom>
        </p:spPr>
      </p:pic>
    </p:spTree>
    <p:extLst>
      <p:ext uri="{BB962C8B-B14F-4D97-AF65-F5344CB8AC3E}">
        <p14:creationId xmlns:p14="http://schemas.microsoft.com/office/powerpoint/2010/main" val="2708778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300F3-8864-1F3D-5FDA-C60D070E6FCC}"/>
              </a:ext>
            </a:extLst>
          </p:cNvPr>
          <p:cNvSpPr>
            <a:spLocks noGrp="1"/>
          </p:cNvSpPr>
          <p:nvPr>
            <p:ph type="title"/>
          </p:nvPr>
        </p:nvSpPr>
        <p:spPr/>
        <p:txBody>
          <a:bodyPr/>
          <a:lstStyle/>
          <a:p>
            <a:r>
              <a:rPr lang="en-IN" b="1" i="0" dirty="0">
                <a:solidFill>
                  <a:srgbClr val="273239"/>
                </a:solidFill>
                <a:effectLst/>
                <a:latin typeface="Nunito" pitchFamily="2" charset="77"/>
              </a:rPr>
              <a:t>How Python Stores List Elements?</a:t>
            </a:r>
            <a:endParaRPr lang="en-US" dirty="0"/>
          </a:p>
        </p:txBody>
      </p:sp>
      <p:sp>
        <p:nvSpPr>
          <p:cNvPr id="3" name="Content Placeholder 2">
            <a:extLst>
              <a:ext uri="{FF2B5EF4-FFF2-40B4-BE49-F238E27FC236}">
                <a16:creationId xmlns:a16="http://schemas.microsoft.com/office/drawing/2014/main" id="{E449DBAA-E5F2-4953-144B-51BABCA5C752}"/>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In Python, a list doesn’t store actual values directly. Instead, it stores references (pointers) to objects in memory. This means numbers, strings and </a:t>
            </a:r>
            <a:r>
              <a:rPr lang="en-IN" b="0" i="0" dirty="0" err="1">
                <a:solidFill>
                  <a:srgbClr val="273239"/>
                </a:solidFill>
                <a:effectLst/>
                <a:latin typeface="Nunito" pitchFamily="2" charset="77"/>
              </a:rPr>
              <a:t>booleans</a:t>
            </a:r>
            <a:r>
              <a:rPr lang="en-IN" b="0" i="0" dirty="0">
                <a:solidFill>
                  <a:srgbClr val="273239"/>
                </a:solidFill>
                <a:effectLst/>
                <a:latin typeface="Nunito" pitchFamily="2" charset="77"/>
              </a:rPr>
              <a:t> are separate objects in memory and the list just keeps their addresses.</a:t>
            </a:r>
          </a:p>
          <a:p>
            <a:pPr algn="l" rtl="0" fontAlgn="base"/>
            <a:r>
              <a:rPr lang="en-IN" b="0" i="0" dirty="0">
                <a:solidFill>
                  <a:srgbClr val="273239"/>
                </a:solidFill>
                <a:effectLst/>
                <a:latin typeface="Nunito" pitchFamily="2" charset="77"/>
              </a:rPr>
              <a:t>That’s why modifying a mutable element (like another list or dictionary) can change the original object, while </a:t>
            </a:r>
            <a:r>
              <a:rPr lang="en-IN" b="0" i="0" dirty="0" err="1">
                <a:solidFill>
                  <a:srgbClr val="273239"/>
                </a:solidFill>
                <a:effectLst/>
                <a:latin typeface="Nunito" pitchFamily="2" charset="77"/>
              </a:rPr>
              <a:t>immutables</a:t>
            </a:r>
            <a:r>
              <a:rPr lang="en-IN" b="0" i="0" dirty="0">
                <a:solidFill>
                  <a:srgbClr val="273239"/>
                </a:solidFill>
                <a:effectLst/>
                <a:latin typeface="Nunito" pitchFamily="2" charset="77"/>
              </a:rPr>
              <a:t> remain unaffected.</a:t>
            </a:r>
          </a:p>
          <a:p>
            <a:endParaRPr lang="en-US" dirty="0"/>
          </a:p>
        </p:txBody>
      </p:sp>
    </p:spTree>
    <p:extLst>
      <p:ext uri="{BB962C8B-B14F-4D97-AF65-F5344CB8AC3E}">
        <p14:creationId xmlns:p14="http://schemas.microsoft.com/office/powerpoint/2010/main" val="2588283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04063-0C10-7B7A-A005-3826252D6D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784275-B6F9-2F46-7EBF-3A64DB29A246}"/>
              </a:ext>
            </a:extLst>
          </p:cNvPr>
          <p:cNvSpPr>
            <a:spLocks noGrp="1"/>
          </p:cNvSpPr>
          <p:nvPr>
            <p:ph idx="1"/>
          </p:nvPr>
        </p:nvSpPr>
        <p:spPr/>
        <p:txBody>
          <a:bodyPr/>
          <a:lstStyle/>
          <a:p>
            <a:endParaRPr lang="en-US"/>
          </a:p>
        </p:txBody>
      </p:sp>
      <p:pic>
        <p:nvPicPr>
          <p:cNvPr id="2050" name="Picture 2" descr="python-list">
            <a:extLst>
              <a:ext uri="{FF2B5EF4-FFF2-40B4-BE49-F238E27FC236}">
                <a16:creationId xmlns:a16="http://schemas.microsoft.com/office/drawing/2014/main" id="{B5773DE5-C6D7-B10B-6D2C-D0F68D0E6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1771650"/>
            <a:ext cx="81280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7406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2357</TotalTime>
  <Words>1091</Words>
  <Application>Microsoft Macintosh PowerPoint</Application>
  <PresentationFormat>Widescreen</PresentationFormat>
  <Paragraphs>83</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Google Sans</vt:lpstr>
      <vt:lpstr>Nunito</vt:lpstr>
      <vt:lpstr>Studio-Feixen-Sans</vt:lpstr>
      <vt:lpstr>Office Theme</vt:lpstr>
      <vt:lpstr>PythonDS-09 List Data Structure and Its Methods</vt:lpstr>
      <vt:lpstr>Python Lists</vt:lpstr>
      <vt:lpstr>Creating a List</vt:lpstr>
      <vt:lpstr>PowerPoint Presentation</vt:lpstr>
      <vt:lpstr>PowerPoint Presentation</vt:lpstr>
      <vt:lpstr>List Operations and Methods</vt:lpstr>
      <vt:lpstr>Accessing and Slicing Lists</vt:lpstr>
      <vt:lpstr>Updating Elements</vt:lpstr>
      <vt:lpstr>Removing Elements from List</vt:lpstr>
      <vt:lpstr>PowerPoint Presentation</vt:lpstr>
      <vt:lpstr>Nested Lists</vt:lpstr>
      <vt:lpstr>List Comprehensions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Python Stores List Elements?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151</cp:revision>
  <dcterms:created xsi:type="dcterms:W3CDTF">2026-01-15T04:12:31Z</dcterms:created>
  <dcterms:modified xsi:type="dcterms:W3CDTF">2026-02-12T13:49:36Z</dcterms:modified>
</cp:coreProperties>
</file>