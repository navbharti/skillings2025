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476"/>
  </p:normalViewPr>
  <p:slideViewPr>
    <p:cSldViewPr snapToGrid="0">
      <p:cViewPr varScale="1">
        <p:scale>
          <a:sx n="84" d="100"/>
          <a:sy n="84" d="100"/>
        </p:scale>
        <p:origin x="11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python/python-vs-cpython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/reading-python-file-like-objects-from-c-python/" TargetMode="External"/><Relationship Id="rId2" Type="http://schemas.openxmlformats.org/officeDocument/2006/relationships/hyperlink" Target="https://www.geeksforgeeks.org/python/python-programming-language-tutorial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java/difference-between-byte-code-and-machine-code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download-app?source=promotion_paragraph---post_body_banner_better_screentime--df83ca6a79a6---------------------------------------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Introduction (PVM)</a:t>
            </a:r>
            <a:br>
              <a:rPr lang="en-US" dirty="0"/>
            </a:br>
            <a:r>
              <a:rPr lang="en-US" dirty="0"/>
              <a:t>Python Virtual Machine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7DB63-A950-34AC-9186-3A7FE8E91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Virtual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7594F-6095-D0AD-4127-12896BE4E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IN" sz="1600" b="0" i="0" dirty="0">
                <a:effectLst/>
                <a:latin typeface="Google Sans"/>
              </a:rPr>
              <a:t>The Python Virtual Machine (PVM) is the runtime engine of the Python programming language that executes platform-independent </a:t>
            </a:r>
            <a:r>
              <a:rPr lang="en-IN" sz="1600" b="1" i="0" dirty="0">
                <a:effectLst/>
                <a:latin typeface="Google Sans"/>
              </a:rPr>
              <a:t>bytecode</a:t>
            </a:r>
            <a:r>
              <a:rPr lang="en-IN" sz="1600" b="0" i="0" dirty="0">
                <a:effectLst/>
                <a:latin typeface="Google Sans"/>
              </a:rPr>
              <a:t> using a </a:t>
            </a:r>
            <a:r>
              <a:rPr lang="en-IN" sz="1600" b="1" i="0" dirty="0">
                <a:effectLst/>
                <a:latin typeface="Google Sans"/>
              </a:rPr>
              <a:t>stack-based architecture</a:t>
            </a:r>
            <a:r>
              <a:rPr lang="en-IN" sz="1600" b="0" i="0" dirty="0">
                <a:effectLst/>
                <a:latin typeface="Google Sans"/>
              </a:rPr>
              <a:t>. </a:t>
            </a:r>
          </a:p>
          <a:p>
            <a:pPr algn="l" rtl="0"/>
            <a:r>
              <a:rPr lang="en-IN" sz="1600" b="0" i="0" dirty="0">
                <a:effectLst/>
                <a:latin typeface="Google Sans"/>
              </a:rPr>
              <a:t>The primary components of the PVM architecture and its execution process are: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IN" sz="1600" b="1" i="0" dirty="0">
                <a:effectLst/>
                <a:latin typeface="Google Sans"/>
              </a:rPr>
              <a:t>Bytecode Compiler</a:t>
            </a:r>
            <a:r>
              <a:rPr lang="en-IN" sz="1600" b="0" i="0" dirty="0">
                <a:effectLst/>
                <a:latin typeface="Google Sans"/>
              </a:rPr>
              <a:t>: When Python source code (.</a:t>
            </a:r>
            <a:r>
              <a:rPr lang="en-IN" sz="1600" b="0" i="0" dirty="0" err="1">
                <a:effectLst/>
                <a:latin typeface="Google Sans"/>
              </a:rPr>
              <a:t>py</a:t>
            </a:r>
            <a:r>
              <a:rPr lang="en-IN" sz="1600" b="0" i="0" dirty="0">
                <a:effectLst/>
                <a:latin typeface="Google Sans"/>
              </a:rPr>
              <a:t> file) is run, the compiler first translates it into a low-level, platform-independent intermediate representation called bytecode. These instructions are cached in .</a:t>
            </a:r>
            <a:r>
              <a:rPr lang="en-IN" sz="1600" b="0" i="0" dirty="0" err="1">
                <a:effectLst/>
                <a:latin typeface="Google Sans"/>
              </a:rPr>
              <a:t>pyc</a:t>
            </a:r>
            <a:r>
              <a:rPr lang="en-IN" sz="1600" b="0" i="0" dirty="0">
                <a:effectLst/>
                <a:latin typeface="Google Sans"/>
              </a:rPr>
              <a:t> files.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IN" sz="1600" b="1" i="0" dirty="0">
                <a:effectLst/>
                <a:latin typeface="Google Sans"/>
              </a:rPr>
              <a:t>Memory Management</a:t>
            </a:r>
            <a:r>
              <a:rPr lang="en-IN" sz="1600" b="0" i="0" dirty="0">
                <a:effectLst/>
                <a:latin typeface="Google Sans"/>
              </a:rPr>
              <a:t>: The PVM manages memory dynamically, including memory allocation and an automatic garbage collector that reclaims unused memory.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IN" sz="1600" b="1" i="0" dirty="0">
                <a:effectLst/>
                <a:latin typeface="Google Sans"/>
              </a:rPr>
              <a:t>Stack-based Execution Engine (Interpreter Loop)</a:t>
            </a:r>
            <a:r>
              <a:rPr lang="en-IN" sz="1600" b="0" i="0" dirty="0">
                <a:effectLst/>
                <a:latin typeface="Google Sans"/>
              </a:rPr>
              <a:t>: The core of the PVM is the interpreter loop, which fetches, decodes, and executes the bytecode instructions sequentially. It is a stack-based machine, meaning it uses a value stack to store and retrieve intermediate values, operands, and results during computations.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IN" sz="1600" b="1" i="0" dirty="0">
                <a:effectLst/>
                <a:latin typeface="Google Sans"/>
              </a:rPr>
              <a:t>Frame Objects</a:t>
            </a:r>
            <a:r>
              <a:rPr lang="en-IN" sz="1600" b="0" i="0" dirty="0">
                <a:effectLst/>
                <a:latin typeface="Google Sans"/>
              </a:rPr>
              <a:t>: The PVM uses frame objects to manage the runtime environment of a function call, including references to local and global variables, the code object of the function, and the current instruction pointer.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IN" sz="1600" b="1" i="0" dirty="0">
                <a:effectLst/>
                <a:latin typeface="Google Sans"/>
              </a:rPr>
              <a:t>Python Object Model and Standard Library</a:t>
            </a:r>
            <a:r>
              <a:rPr lang="en-IN" sz="1600" b="0" i="0" dirty="0">
                <a:effectLst/>
                <a:latin typeface="Google Sans"/>
              </a:rPr>
              <a:t>: The PVM maintains the Python object model for all data types (integers, strings, lists, etc.) and interacts with Python's extensive standard library during execution. </a:t>
            </a:r>
          </a:p>
          <a:p>
            <a:pPr algn="l" rtl="0"/>
            <a:r>
              <a:rPr lang="en-IN" sz="1600" b="0" i="0" dirty="0">
                <a:effectLst/>
                <a:latin typeface="Google Sans"/>
              </a:rPr>
              <a:t>This architecture provides Python with its key advantage of cross-platform compatibility: the same bytecode can run on any system that has a compatible PVM installed. The most common implementation of the PVM is part of </a:t>
            </a:r>
            <a:r>
              <a:rPr lang="en-IN" sz="1600" b="0" i="0" dirty="0">
                <a:effectLst/>
                <a:latin typeface="Google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CPython</a:t>
            </a:r>
            <a:r>
              <a:rPr lang="en-IN" sz="1600" b="0" i="0" dirty="0">
                <a:effectLst/>
                <a:latin typeface="Google Sans"/>
              </a:rPr>
              <a:t>, the reference implementation of Python. 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76166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3F157-0A5E-ED07-DB8D-651C63B4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FD23E-3ECA-2D3B-D81E-0566E7C1F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46B54E-7FDA-99CA-7592-97C5AA7E7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090" y="14288"/>
            <a:ext cx="111633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D3770F2C-7996-29C5-0F9A-17415B5DA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40" y="2757920"/>
            <a:ext cx="10515599" cy="355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461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1ADE4-36AC-16D4-898E-F8CC2718A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AFD80-F50A-0DE3-390B-4D862D779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The Python Virtual Machine (VM) is a crucial component of the Python runtime environment. It executes Python bytecode, which is generated from Python source code or intermediate representations like Abstract Syntax Trees (ASTs). </a:t>
            </a:r>
          </a:p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The Python Virtual Machine, often referred to as the </a:t>
            </a:r>
            <a:r>
              <a:rPr lang="en-IN" b="0" i="0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Python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interpreter, is responsible for executing Python code. It serves as an abstraction layer between the Python bytecode and the underlying hardware, providing a consistent environment for running Python programs across different platforms. The Python VM is implemented in </a:t>
            </a:r>
            <a:r>
              <a:rPr lang="en-IN" b="0" i="0" u="sng" dirty="0">
                <a:solidFill>
                  <a:srgbClr val="357960"/>
                </a:solidFill>
                <a:effectLst/>
                <a:latin typeface="Nunito" pitchFamily="2" charset="77"/>
                <a:hlinkClick r:id="rId3"/>
              </a:rPr>
              <a:t>CPython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, the reference implementation of Python.</a:t>
            </a:r>
            <a:br>
              <a:rPr lang="en-IN" dirty="0"/>
            </a:b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068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12159-1B46-AB88-34BB-9EC33767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Architecture of the Python Virtual Machine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F480D-A590-C53E-3C76-479E6BA6C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Bytecode Generation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: Before execution, Python source code is compiled into bytecode. This bytecode is a platform-independent intermediate representation of the Python code.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Interpreter Loop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: The heart of the Python VM is the interpreter loop. It fetches bytecode instructions, decodes them, and executes them sequentially.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Python Object Model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: The Python VM maintains a Python object model to represent data types, such as integers, strings, lists, and custom objects. It manages the creation, manipulation, and destruction of these objects during execution.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Memory Management: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The Python VM handles memory allocation and garbage collection to manage the memory used by Python objects dynamically.</a:t>
            </a:r>
          </a:p>
        </p:txBody>
      </p:sp>
    </p:spTree>
    <p:extLst>
      <p:ext uri="{BB962C8B-B14F-4D97-AF65-F5344CB8AC3E}">
        <p14:creationId xmlns:p14="http://schemas.microsoft.com/office/powerpoint/2010/main" val="4167670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71922-FFCE-D7E4-DFE5-2D5A28C98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Bytecode Execution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2AB46-78CA-2061-04B2-7A1BBBCBE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Loading Bytecode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: The Python VM loads bytecode from the compiled .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pyc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files or directly from memory if the code is generated dynamically.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Interpreter Loop Execution: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The interpreter loop fetches bytecode instructions, interprets them, and executes corresponding operations. It maintains a stack to store intermediate values and operands.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Execution of Instructions: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</a:t>
            </a:r>
            <a:r>
              <a:rPr lang="en-IN" b="0" i="0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Bytecode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instructions represent operations like loading values, arithmetic computations, function calls, and control flow (e.g., jumps, loops). The interpreter executes these instructions efficiently.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Runtime Environment Management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: The Python VM manages the runtime environment, including namespaces, function calls, exceptions, and module imports.</a:t>
            </a:r>
          </a:p>
        </p:txBody>
      </p:sp>
    </p:spTree>
    <p:extLst>
      <p:ext uri="{BB962C8B-B14F-4D97-AF65-F5344CB8AC3E}">
        <p14:creationId xmlns:p14="http://schemas.microsoft.com/office/powerpoint/2010/main" val="2402477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8C1A-9014-3E03-9DFF-02C1B5DEE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874FF-75F6-F9F9-AB8C-26A5BB7C9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The architecture comprises of four important parts:</a:t>
            </a:r>
          </a:p>
          <a:p>
            <a:pPr algn="l"/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1] Compiler</a:t>
            </a:r>
          </a:p>
          <a:p>
            <a:pPr algn="l"/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2] Interpreter</a:t>
            </a:r>
          </a:p>
          <a:p>
            <a:pPr algn="l"/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3] Memory manager</a:t>
            </a:r>
          </a:p>
          <a:p>
            <a:pPr algn="l"/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4] Stack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045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ECA4E-A2A4-1CA9-420F-BEE630FA6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808B4-2E34-DE47-1CE2-3A6D99E85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From the above figure, let us consider we have a file named “</a:t>
            </a:r>
            <a:r>
              <a:rPr lang="en-IN" b="0" i="0" dirty="0" err="1">
                <a:solidFill>
                  <a:srgbClr val="242424"/>
                </a:solidFill>
                <a:effectLst/>
                <a:latin typeface="source-serif-pro"/>
              </a:rPr>
              <a:t>basics.py</a:t>
            </a: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”. </a:t>
            </a:r>
          </a:p>
          <a:p>
            <a:pPr algn="l"/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This is the source file, now the compiler will take this file and do its lexical analysis, syntax analysis, semantics analysis, and then bytecode generation is done. </a:t>
            </a:r>
          </a:p>
          <a:p>
            <a:pPr algn="l"/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Provided there are no errors in any of the processes. In Bytecode, it can be compared to instructions in assembly language.</a:t>
            </a:r>
          </a:p>
          <a:p>
            <a:pPr algn="l"/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Later, in this Bytecode, if we check in any editor, it would be like certain garbage values as the editor won’t understand the bytecode.</a:t>
            </a:r>
          </a:p>
          <a:p>
            <a:pPr algn="l"/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After these states, the interpreter will now come into the picture.</a:t>
            </a:r>
            <a:br>
              <a:rPr lang="en-IN" dirty="0"/>
            </a:br>
            <a:br>
              <a:rPr lang="en-IN" b="0" i="0" u="none" strike="noStrike" dirty="0">
                <a:effectLst/>
                <a:latin typeface="inherit"/>
                <a:hlinkClick r:id="rId2"/>
              </a:rPr>
            </a:br>
            <a:endParaRPr lang="en-IN" b="0" i="0" dirty="0">
              <a:effectLst/>
              <a:latin typeface="medium-content-sans-serif-fon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725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E7CAE-4241-0BCF-4A4F-72EB4C3C8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548F5-4B82-0C18-AA2E-015A4CF79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7B0C536-140E-8132-C4F1-696CA115F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0550" y="1301750"/>
            <a:ext cx="8470900" cy="425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1219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D3B40-BBD5-71E1-44DB-042954274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750"/>
            <a:ext cx="10515600" cy="589121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After the generation of the bytecode from the source code now PVM functioning will start. </a:t>
            </a:r>
          </a:p>
          <a:p>
            <a:pPr algn="l"/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We have an interpreter, which will take the Bytecode and call the memory manager via some functions or APIs and ask to create a memory object in the memory section. </a:t>
            </a:r>
          </a:p>
          <a:p>
            <a:pPr algn="l"/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Using some other API’s Memory manager will create these objects. Also, the interpreter will create a stack for the execution and the memories for the instruction set will be referenced which was the prior task of the memory manager.</a:t>
            </a:r>
          </a:p>
          <a:p>
            <a:pPr algn="l"/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So, now in the stack execution, we have something called the Call stack. </a:t>
            </a:r>
          </a:p>
          <a:p>
            <a:pPr algn="l"/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It is in the frame format with the Value stack and Block stack being part of each frame. </a:t>
            </a:r>
          </a:p>
          <a:p>
            <a:pPr algn="l"/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As we saw earlier we have a memory manager which is responsible for making the links for a memory object. </a:t>
            </a:r>
          </a:p>
          <a:p>
            <a:pPr algn="l"/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For the stack in each frame, it will have allocated memory references pointing to these memory objects.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141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26266-62CB-D2A7-C7C4-788194898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BEEB3-27C3-26B3-DA04-64E9E52C5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C9D7AA3-8702-BED2-B1FB-FF35FA884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324414"/>
            <a:ext cx="9591675" cy="6414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2497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3386</TotalTime>
  <Words>949</Words>
  <Application>Microsoft Macintosh PowerPoint</Application>
  <PresentationFormat>Widescreen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Aptos Display</vt:lpstr>
      <vt:lpstr>Arial</vt:lpstr>
      <vt:lpstr>Google Sans</vt:lpstr>
      <vt:lpstr>inherit</vt:lpstr>
      <vt:lpstr>medium-content-sans-serif-font</vt:lpstr>
      <vt:lpstr>Nunito</vt:lpstr>
      <vt:lpstr>source-serif-pro</vt:lpstr>
      <vt:lpstr>Office Theme</vt:lpstr>
      <vt:lpstr>Python Introduction (PVM) Python Virtual Machine</vt:lpstr>
      <vt:lpstr>Python Virtual Machine</vt:lpstr>
      <vt:lpstr>PowerPoint Presentation</vt:lpstr>
      <vt:lpstr>PowerPoint Presentation</vt:lpstr>
      <vt:lpstr>Architecture of the Python Virtual Machine</vt:lpstr>
      <vt:lpstr>Bytecode Execution Process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170</cp:revision>
  <dcterms:created xsi:type="dcterms:W3CDTF">2026-01-15T04:12:31Z</dcterms:created>
  <dcterms:modified xsi:type="dcterms:W3CDTF">2026-08-13T04:42:24Z</dcterms:modified>
</cp:coreProperties>
</file>