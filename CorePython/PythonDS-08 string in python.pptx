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58" r:id="rId5"/>
    <p:sldId id="268" r:id="rId6"/>
    <p:sldId id="269" r:id="rId7"/>
    <p:sldId id="270" r:id="rId8"/>
    <p:sldId id="264" r:id="rId9"/>
    <p:sldId id="259" r:id="rId10"/>
    <p:sldId id="266" r:id="rId11"/>
    <p:sldId id="260" r:id="rId12"/>
    <p:sldId id="261" r:id="rId13"/>
    <p:sldId id="267" r:id="rId14"/>
    <p:sldId id="262" r:id="rId15"/>
    <p:sldId id="263" r:id="rId16"/>
    <p:sldId id="272" r:id="rId17"/>
    <p:sldId id="271"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8/19/26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dirty="0"/>
              <a:t>PythonDS-08 String in Python</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DFF1-3D14-3BD5-DD7A-484CFDD7FFFB}"/>
              </a:ext>
            </a:extLst>
          </p:cNvPr>
          <p:cNvSpPr>
            <a:spLocks noGrp="1"/>
          </p:cNvSpPr>
          <p:nvPr>
            <p:ph type="title"/>
          </p:nvPr>
        </p:nvSpPr>
        <p:spPr/>
        <p:txBody>
          <a:bodyPr/>
          <a:lstStyle/>
          <a:p>
            <a:r>
              <a:rPr lang="en-US" dirty="0"/>
              <a:t>String in python</a:t>
            </a:r>
          </a:p>
        </p:txBody>
      </p:sp>
      <p:sp>
        <p:nvSpPr>
          <p:cNvPr id="3" name="Content Placeholder 2">
            <a:extLst>
              <a:ext uri="{FF2B5EF4-FFF2-40B4-BE49-F238E27FC236}">
                <a16:creationId xmlns:a16="http://schemas.microsoft.com/office/drawing/2014/main" id="{3A84E61F-9A19-9911-0257-649063F2373E}"/>
              </a:ext>
            </a:extLst>
          </p:cNvPr>
          <p:cNvSpPr>
            <a:spLocks noGrp="1"/>
          </p:cNvSpPr>
          <p:nvPr>
            <p:ph idx="1"/>
          </p:nvPr>
        </p:nvSpPr>
        <p:spPr/>
        <p:txBody>
          <a:bodyPr>
            <a:normAutofit fontScale="92500" lnSpcReduction="20000"/>
          </a:bodyPr>
          <a:lstStyle/>
          <a:p>
            <a:r>
              <a:rPr lang="en-IN" b="0" u="none" strike="noStrike" dirty="0">
                <a:effectLst/>
                <a:latin typeface="Google Sans"/>
              </a:rPr>
              <a:t>In Python, </a:t>
            </a:r>
            <a:r>
              <a:rPr lang="en-IN" b="1" u="none" strike="noStrike" dirty="0">
                <a:effectLst/>
                <a:latin typeface="Google Sans"/>
              </a:rPr>
              <a:t>str is a built-in immutable sequence data type</a:t>
            </a:r>
            <a:r>
              <a:rPr lang="en-IN" dirty="0"/>
              <a:t> used to store and manipulate textual data. It represents a sequence of </a:t>
            </a:r>
            <a:r>
              <a:rPr lang="en-IN" b="1" dirty="0"/>
              <a:t>Unicode</a:t>
            </a:r>
            <a:r>
              <a:rPr lang="en-IN" dirty="0"/>
              <a:t> characters, meaning it can natively store letters, numbers, symbols, and even emojis. </a:t>
            </a:r>
          </a:p>
          <a:p>
            <a:endParaRPr lang="en-IN" dirty="0"/>
          </a:p>
          <a:p>
            <a:pPr marL="0" indent="0">
              <a:buNone/>
            </a:pPr>
            <a:r>
              <a:rPr lang="en-IN" b="1" u="none" strike="noStrike" dirty="0">
                <a:effectLst/>
                <a:latin typeface="Google Sans"/>
              </a:rPr>
              <a:t>Standard Quotes (Single &amp; Double)</a:t>
            </a:r>
          </a:p>
          <a:p>
            <a:r>
              <a:rPr lang="en-IN" b="0" u="none" strike="noStrike" dirty="0">
                <a:effectLst/>
                <a:latin typeface="Google Sans"/>
              </a:rPr>
              <a:t>These are the most common ways to create standard text strings. They behave identically.</a:t>
            </a:r>
          </a:p>
          <a:p>
            <a:r>
              <a:rPr lang="en-IN" b="1" u="none" strike="noStrike" dirty="0">
                <a:effectLst/>
                <a:latin typeface="Google Sans"/>
              </a:rPr>
              <a:t>Single-quoted strings</a:t>
            </a:r>
            <a:r>
              <a:rPr lang="en-IN" b="0" u="none" strike="noStrike" dirty="0">
                <a:effectLst/>
                <a:latin typeface="Google Sans"/>
              </a:rPr>
              <a:t>: Enclosed in '...'. Useful if the text contains double quotes.</a:t>
            </a:r>
          </a:p>
          <a:p>
            <a:r>
              <a:rPr lang="en-IN" b="1" u="none" strike="noStrike" dirty="0">
                <a:effectLst/>
                <a:latin typeface="Google Sans"/>
              </a:rPr>
              <a:t>Double-quoted strings</a:t>
            </a:r>
            <a:r>
              <a:rPr lang="en-IN" b="0" u="none" strike="noStrike" dirty="0">
                <a:effectLst/>
                <a:latin typeface="Google Sans"/>
              </a:rPr>
              <a:t>: Enclosed in "...". Useful if the text contains single quotes (like apostrophes). </a:t>
            </a:r>
          </a:p>
          <a:p>
            <a:endParaRPr lang="en-IN" dirty="0"/>
          </a:p>
          <a:p>
            <a:endParaRPr lang="en-US" dirty="0"/>
          </a:p>
        </p:txBody>
      </p:sp>
    </p:spTree>
    <p:extLst>
      <p:ext uri="{BB962C8B-B14F-4D97-AF65-F5344CB8AC3E}">
        <p14:creationId xmlns:p14="http://schemas.microsoft.com/office/powerpoint/2010/main" val="65528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FCD5C-0813-9486-8ECA-CAD447B03B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55E4A1-1A0B-2F82-F6A1-EEF5E92F9EF4}"/>
              </a:ext>
            </a:extLst>
          </p:cNvPr>
          <p:cNvSpPr>
            <a:spLocks noGrp="1"/>
          </p:cNvSpPr>
          <p:nvPr>
            <p:ph idx="1"/>
          </p:nvPr>
        </p:nvSpPr>
        <p:spPr/>
        <p:txBody>
          <a:bodyPr/>
          <a:lstStyle/>
          <a:p>
            <a:endParaRPr lang="en-US"/>
          </a:p>
        </p:txBody>
      </p:sp>
      <p:pic>
        <p:nvPicPr>
          <p:cNvPr id="2050" name="Picture 2" descr="Python Data Types - GeeksforGeeks">
            <a:extLst>
              <a:ext uri="{FF2B5EF4-FFF2-40B4-BE49-F238E27FC236}">
                <a16:creationId xmlns:a16="http://schemas.microsoft.com/office/drawing/2014/main" id="{C58703C5-E321-F377-85BE-658473506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085850"/>
            <a:ext cx="10160000"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12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4EF39-297C-291E-C632-5FF4DFD2DC71}"/>
              </a:ext>
            </a:extLst>
          </p:cNvPr>
          <p:cNvSpPr>
            <a:spLocks noGrp="1"/>
          </p:cNvSpPr>
          <p:nvPr>
            <p:ph type="title"/>
          </p:nvPr>
        </p:nvSpPr>
        <p:spPr/>
        <p:txBody>
          <a:bodyPr/>
          <a:lstStyle/>
          <a:p>
            <a:r>
              <a:rPr lang="en-IN" b="1" u="none" strike="noStrike" dirty="0">
                <a:effectLst/>
                <a:latin typeface="Google Sans"/>
              </a:rPr>
              <a:t>1. Creating Strings</a:t>
            </a:r>
            <a:endParaRPr lang="en-US" dirty="0"/>
          </a:p>
        </p:txBody>
      </p:sp>
      <p:sp>
        <p:nvSpPr>
          <p:cNvPr id="3" name="Content Placeholder 2">
            <a:extLst>
              <a:ext uri="{FF2B5EF4-FFF2-40B4-BE49-F238E27FC236}">
                <a16:creationId xmlns:a16="http://schemas.microsoft.com/office/drawing/2014/main" id="{8B4AA897-9F13-E9F4-FD41-420D161AE47F}"/>
              </a:ext>
            </a:extLst>
          </p:cNvPr>
          <p:cNvSpPr>
            <a:spLocks noGrp="1"/>
          </p:cNvSpPr>
          <p:nvPr>
            <p:ph idx="1"/>
          </p:nvPr>
        </p:nvSpPr>
        <p:spPr/>
        <p:txBody>
          <a:bodyPr/>
          <a:lstStyle/>
          <a:p>
            <a:r>
              <a:rPr lang="en-IN" b="0" u="none" strike="noStrike" dirty="0">
                <a:effectLst/>
                <a:latin typeface="Google Sans"/>
              </a:rPr>
              <a:t>Python provides several syntax options to define a string literal:</a:t>
            </a:r>
          </a:p>
          <a:p>
            <a:endParaRPr lang="en-US" dirty="0"/>
          </a:p>
        </p:txBody>
      </p:sp>
      <p:sp>
        <p:nvSpPr>
          <p:cNvPr id="5" name="TextBox 4">
            <a:extLst>
              <a:ext uri="{FF2B5EF4-FFF2-40B4-BE49-F238E27FC236}">
                <a16:creationId xmlns:a16="http://schemas.microsoft.com/office/drawing/2014/main" id="{5EAD9159-5F2D-F19E-8C44-8210B31AF8DE}"/>
              </a:ext>
            </a:extLst>
          </p:cNvPr>
          <p:cNvSpPr txBox="1"/>
          <p:nvPr/>
        </p:nvSpPr>
        <p:spPr>
          <a:xfrm>
            <a:off x="457200" y="2455843"/>
            <a:ext cx="11841480" cy="4401205"/>
          </a:xfrm>
          <a:prstGeom prst="rect">
            <a:avLst/>
          </a:prstGeom>
          <a:noFill/>
        </p:spPr>
        <p:txBody>
          <a:bodyPr wrap="square">
            <a:spAutoFit/>
          </a:bodyPr>
          <a:lstStyle/>
          <a:p>
            <a:r>
              <a:rPr lang="en-US" sz="2800" dirty="0"/>
              <a:t># Single or Double Quotes (Standard)</a:t>
            </a:r>
          </a:p>
          <a:p>
            <a:r>
              <a:rPr lang="en-US" sz="2800" dirty="0" err="1"/>
              <a:t>single_coords</a:t>
            </a:r>
            <a:r>
              <a:rPr lang="en-US" sz="2800" dirty="0"/>
              <a:t> = 'Hello'</a:t>
            </a:r>
          </a:p>
          <a:p>
            <a:r>
              <a:rPr lang="en-US" sz="2800" dirty="0" err="1"/>
              <a:t>double_coords</a:t>
            </a:r>
            <a:r>
              <a:rPr lang="en-US" sz="2800" dirty="0"/>
              <a:t> = "World"</a:t>
            </a:r>
          </a:p>
          <a:p>
            <a:endParaRPr lang="en-US" sz="2800" dirty="0"/>
          </a:p>
          <a:p>
            <a:r>
              <a:rPr lang="en-US" sz="2800" dirty="0"/>
              <a:t># Triple Quotes (Multi-line strings, preserves formatting/newlines)</a:t>
            </a:r>
          </a:p>
          <a:p>
            <a:r>
              <a:rPr lang="en-US" sz="2800" dirty="0"/>
              <a:t>multiline = """This is a</a:t>
            </a:r>
          </a:p>
          <a:p>
            <a:r>
              <a:rPr lang="en-US" sz="2800" dirty="0"/>
              <a:t>multi-line string."""</a:t>
            </a:r>
          </a:p>
          <a:p>
            <a:endParaRPr lang="en-US" sz="2800" dirty="0"/>
          </a:p>
          <a:p>
            <a:r>
              <a:rPr lang="en-US" sz="2800" dirty="0"/>
              <a:t># Raw Strings (Prevents backslash escaping; ideal for </a:t>
            </a:r>
            <a:r>
              <a:rPr lang="en-US" sz="2800" dirty="0" err="1"/>
              <a:t>RegEx</a:t>
            </a:r>
            <a:r>
              <a:rPr lang="en-US" sz="2800" dirty="0"/>
              <a:t> or file paths)</a:t>
            </a:r>
          </a:p>
          <a:p>
            <a:r>
              <a:rPr lang="en-US" sz="2800" dirty="0" err="1"/>
              <a:t>raw_path</a:t>
            </a:r>
            <a:r>
              <a:rPr lang="en-US" sz="2800" dirty="0"/>
              <a:t> = </a:t>
            </a:r>
            <a:r>
              <a:rPr lang="en-US" sz="2800" dirty="0" err="1"/>
              <a:t>r"C</a:t>
            </a:r>
            <a:r>
              <a:rPr lang="en-US" sz="2800" dirty="0"/>
              <a:t>:\next\folder\</a:t>
            </a:r>
            <a:r>
              <a:rPr lang="en-US" sz="2800" dirty="0" err="1"/>
              <a:t>file.txt</a:t>
            </a:r>
            <a:r>
              <a:rPr lang="en-US" sz="2800" dirty="0"/>
              <a:t>" </a:t>
            </a:r>
          </a:p>
        </p:txBody>
      </p:sp>
    </p:spTree>
    <p:extLst>
      <p:ext uri="{BB962C8B-B14F-4D97-AF65-F5344CB8AC3E}">
        <p14:creationId xmlns:p14="http://schemas.microsoft.com/office/powerpoint/2010/main" val="761689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08F3-1697-F5E2-DFE7-ABF6DC279B23}"/>
              </a:ext>
            </a:extLst>
          </p:cNvPr>
          <p:cNvSpPr>
            <a:spLocks noGrp="1"/>
          </p:cNvSpPr>
          <p:nvPr>
            <p:ph type="title"/>
          </p:nvPr>
        </p:nvSpPr>
        <p:spPr/>
        <p:txBody>
          <a:bodyPr/>
          <a:lstStyle/>
          <a:p>
            <a:r>
              <a:rPr lang="en-IN" b="1" u="none" strike="noStrike" dirty="0">
                <a:effectLst/>
                <a:latin typeface="Google Sans"/>
              </a:rPr>
              <a:t>Multiline Strings (Triple Quotes)</a:t>
            </a:r>
            <a:endParaRPr lang="en-US" dirty="0"/>
          </a:p>
        </p:txBody>
      </p:sp>
      <p:sp>
        <p:nvSpPr>
          <p:cNvPr id="3" name="Content Placeholder 2">
            <a:extLst>
              <a:ext uri="{FF2B5EF4-FFF2-40B4-BE49-F238E27FC236}">
                <a16:creationId xmlns:a16="http://schemas.microsoft.com/office/drawing/2014/main" id="{075C82B9-E5A1-5C57-B5AD-9B0710F6E54F}"/>
              </a:ext>
            </a:extLst>
          </p:cNvPr>
          <p:cNvSpPr>
            <a:spLocks noGrp="1"/>
          </p:cNvSpPr>
          <p:nvPr>
            <p:ph idx="1"/>
          </p:nvPr>
        </p:nvSpPr>
        <p:spPr/>
        <p:txBody>
          <a:bodyPr/>
          <a:lstStyle/>
          <a:p>
            <a:r>
              <a:rPr lang="en-IN" b="0" u="none" strike="noStrike" dirty="0">
                <a:effectLst/>
                <a:latin typeface="Google Sans"/>
              </a:rPr>
              <a:t>Enclosed in '''...''' or """...""". They allow text to span across multiple lines while preserving all line breaks and spaces automatically. They are also frequently used as "docstrings" for code documentation.</a:t>
            </a:r>
          </a:p>
          <a:p>
            <a:endParaRPr lang="en-US" dirty="0"/>
          </a:p>
        </p:txBody>
      </p:sp>
      <p:sp>
        <p:nvSpPr>
          <p:cNvPr id="7" name="TextBox 6">
            <a:extLst>
              <a:ext uri="{FF2B5EF4-FFF2-40B4-BE49-F238E27FC236}">
                <a16:creationId xmlns:a16="http://schemas.microsoft.com/office/drawing/2014/main" id="{FAF49F70-3D4D-B6E5-B5AF-2BE01669F136}"/>
              </a:ext>
            </a:extLst>
          </p:cNvPr>
          <p:cNvSpPr txBox="1"/>
          <p:nvPr/>
        </p:nvSpPr>
        <p:spPr>
          <a:xfrm>
            <a:off x="3048000" y="3105835"/>
            <a:ext cx="6096000" cy="954107"/>
          </a:xfrm>
          <a:prstGeom prst="rect">
            <a:avLst/>
          </a:prstGeom>
          <a:noFill/>
        </p:spPr>
        <p:txBody>
          <a:bodyPr wrap="square">
            <a:spAutoFit/>
          </a:bodyPr>
          <a:lstStyle/>
          <a:p>
            <a:r>
              <a:rPr lang="en-US" sz="2800" dirty="0"/>
              <a:t>multiline = """This is line one.</a:t>
            </a:r>
          </a:p>
          <a:p>
            <a:r>
              <a:rPr lang="en-US" sz="2800" dirty="0"/>
              <a:t>This is line two."""</a:t>
            </a:r>
          </a:p>
        </p:txBody>
      </p:sp>
    </p:spTree>
    <p:extLst>
      <p:ext uri="{BB962C8B-B14F-4D97-AF65-F5344CB8AC3E}">
        <p14:creationId xmlns:p14="http://schemas.microsoft.com/office/powerpoint/2010/main" val="2715522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AED8-40E4-0770-C62B-0DA61D6C3940}"/>
              </a:ext>
            </a:extLst>
          </p:cNvPr>
          <p:cNvSpPr>
            <a:spLocks noGrp="1"/>
          </p:cNvSpPr>
          <p:nvPr>
            <p:ph type="title"/>
          </p:nvPr>
        </p:nvSpPr>
        <p:spPr/>
        <p:txBody>
          <a:bodyPr/>
          <a:lstStyle/>
          <a:p>
            <a:r>
              <a:rPr lang="en-IN" b="1" u="none" strike="noStrike" dirty="0">
                <a:effectLst/>
                <a:latin typeface="Google Sans"/>
              </a:rPr>
              <a:t>Special Prefix Strings</a:t>
            </a:r>
            <a:endParaRPr lang="en-US" dirty="0"/>
          </a:p>
        </p:txBody>
      </p:sp>
      <p:sp>
        <p:nvSpPr>
          <p:cNvPr id="3" name="Content Placeholder 2">
            <a:extLst>
              <a:ext uri="{FF2B5EF4-FFF2-40B4-BE49-F238E27FC236}">
                <a16:creationId xmlns:a16="http://schemas.microsoft.com/office/drawing/2014/main" id="{09891A13-C859-229F-1BD3-228E7296F6FA}"/>
              </a:ext>
            </a:extLst>
          </p:cNvPr>
          <p:cNvSpPr>
            <a:spLocks noGrp="1"/>
          </p:cNvSpPr>
          <p:nvPr>
            <p:ph idx="1"/>
          </p:nvPr>
        </p:nvSpPr>
        <p:spPr/>
        <p:txBody>
          <a:bodyPr>
            <a:normAutofit/>
          </a:bodyPr>
          <a:lstStyle/>
          <a:p>
            <a:r>
              <a:rPr lang="en-IN" b="0" u="none" strike="noStrike" dirty="0">
                <a:effectLst/>
                <a:latin typeface="Google Sans"/>
              </a:rPr>
              <a:t>You can add a lowercase or uppercase letter right before the opening quote to give the string special properties: []</a:t>
            </a:r>
          </a:p>
          <a:p>
            <a:r>
              <a:rPr lang="en-IN" b="1" u="none" strike="noStrike" dirty="0">
                <a:effectLst/>
                <a:latin typeface="Google Sans"/>
              </a:rPr>
              <a:t>F-Strings (Formatted Strings) f"..."</a:t>
            </a:r>
            <a:r>
              <a:rPr lang="en-IN" b="0" u="none" strike="noStrike" dirty="0">
                <a:effectLst/>
                <a:latin typeface="Google Sans"/>
              </a:rPr>
              <a:t>: Evaluates variables or mathematical expressions directly inside curly braces {} at runtime. []</a:t>
            </a:r>
          </a:p>
          <a:p>
            <a:r>
              <a:rPr lang="en-IN" b="1" u="none" strike="noStrike" dirty="0">
                <a:effectLst/>
                <a:latin typeface="Google Sans"/>
              </a:rPr>
              <a:t>Raw Strings r"..."</a:t>
            </a:r>
            <a:r>
              <a:rPr lang="en-IN" b="0" u="none" strike="noStrike" dirty="0">
                <a:effectLst/>
                <a:latin typeface="Google Sans"/>
              </a:rPr>
              <a:t>: Treats backslashes \ as literal characters instead of escape characters. Essential for windows file paths or regular expressions (regex). </a:t>
            </a:r>
          </a:p>
          <a:p>
            <a:r>
              <a:rPr lang="en-IN" b="1" u="none" strike="noStrike" dirty="0">
                <a:effectLst/>
                <a:latin typeface="Google Sans"/>
              </a:rPr>
              <a:t>Byte Strings </a:t>
            </a:r>
            <a:r>
              <a:rPr lang="en-IN" b="1" u="none" strike="noStrike" dirty="0">
                <a:effectLst/>
                <a:latin typeface="Courier New" panose="02070309020205020404" pitchFamily="49" charset="0"/>
              </a:rPr>
              <a:t>b"..."</a:t>
            </a:r>
            <a:r>
              <a:rPr lang="en-IN" b="0" u="none" strike="noStrike" dirty="0">
                <a:effectLst/>
                <a:latin typeface="Google Sans"/>
              </a:rPr>
              <a:t>: Creates a </a:t>
            </a:r>
            <a:r>
              <a:rPr lang="en-IN" b="0" u="none" strike="noStrike" dirty="0">
                <a:effectLst/>
                <a:latin typeface="Courier New" panose="02070309020205020404" pitchFamily="49" charset="0"/>
              </a:rPr>
              <a:t>bytes</a:t>
            </a:r>
            <a:r>
              <a:rPr lang="en-IN" b="0" u="none" strike="noStrike" dirty="0">
                <a:effectLst/>
                <a:latin typeface="Google Sans"/>
              </a:rPr>
              <a:t> object rather than a regular string (</a:t>
            </a:r>
            <a:r>
              <a:rPr lang="en-IN" b="0" u="none" strike="noStrike" dirty="0">
                <a:effectLst/>
                <a:latin typeface="Courier New" panose="02070309020205020404" pitchFamily="49" charset="0"/>
              </a:rPr>
              <a:t>str</a:t>
            </a:r>
            <a:r>
              <a:rPr lang="en-IN" b="0" u="none" strike="noStrike" dirty="0">
                <a:effectLst/>
                <a:latin typeface="Google Sans"/>
              </a:rPr>
              <a:t>). It represents raw 8-bit bytes and is heavily used in file handling, network sockets, and data streaming. </a:t>
            </a:r>
          </a:p>
          <a:p>
            <a:endParaRPr lang="en-US" dirty="0"/>
          </a:p>
        </p:txBody>
      </p:sp>
    </p:spTree>
    <p:extLst>
      <p:ext uri="{BB962C8B-B14F-4D97-AF65-F5344CB8AC3E}">
        <p14:creationId xmlns:p14="http://schemas.microsoft.com/office/powerpoint/2010/main" val="223413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9D1F-5FC3-1E98-6F84-5E42455F8C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BC2720-D9BA-D603-FCC6-16CAF192FAEB}"/>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59C915FF-E425-8EB2-224B-6A78F71412BF}"/>
              </a:ext>
            </a:extLst>
          </p:cNvPr>
          <p:cNvSpPr txBox="1"/>
          <p:nvPr/>
        </p:nvSpPr>
        <p:spPr>
          <a:xfrm>
            <a:off x="838200" y="2551837"/>
            <a:ext cx="10515600" cy="1938992"/>
          </a:xfrm>
          <a:prstGeom prst="rect">
            <a:avLst/>
          </a:prstGeom>
          <a:noFill/>
        </p:spPr>
        <p:txBody>
          <a:bodyPr wrap="square">
            <a:spAutoFit/>
          </a:bodyPr>
          <a:lstStyle/>
          <a:p>
            <a:r>
              <a:rPr lang="en-US" sz="2400" dirty="0"/>
              <a:t>name = "Alice"</a:t>
            </a:r>
          </a:p>
          <a:p>
            <a:r>
              <a:rPr lang="en-US" sz="2400" dirty="0"/>
              <a:t>print(</a:t>
            </a:r>
            <a:r>
              <a:rPr lang="en-US" sz="2400" dirty="0" err="1"/>
              <a:t>f"Hello</a:t>
            </a:r>
            <a:r>
              <a:rPr lang="en-US" sz="2400" dirty="0"/>
              <a:t>, {name}")       # Output: Hello, Alice</a:t>
            </a:r>
          </a:p>
          <a:p>
            <a:r>
              <a:rPr lang="en-US" sz="2400" dirty="0"/>
              <a:t>print(</a:t>
            </a:r>
            <a:r>
              <a:rPr lang="en-US" sz="2400" dirty="0" err="1"/>
              <a:t>r"C</a:t>
            </a:r>
            <a:r>
              <a:rPr lang="en-US" sz="2400" dirty="0"/>
              <a:t>:\Users\name\new")   # Output: C:\Users\name\new (ignores \n newline)</a:t>
            </a:r>
          </a:p>
          <a:p>
            <a:r>
              <a:rPr lang="en-US" sz="2400" dirty="0"/>
              <a:t>print(</a:t>
            </a:r>
            <a:r>
              <a:rPr lang="en-US" sz="2400" dirty="0" err="1"/>
              <a:t>b"Hello</a:t>
            </a:r>
            <a:r>
              <a:rPr lang="en-US" sz="2400" dirty="0"/>
              <a:t>")               # Output: </a:t>
            </a:r>
            <a:r>
              <a:rPr lang="en-US" sz="2400" dirty="0" err="1"/>
              <a:t>b'Hello</a:t>
            </a:r>
            <a:r>
              <a:rPr lang="en-US" sz="2400" dirty="0"/>
              <a:t>' (Type: &lt;class 'bytes'&gt;)</a:t>
            </a:r>
          </a:p>
        </p:txBody>
      </p:sp>
    </p:spTree>
    <p:extLst>
      <p:ext uri="{BB962C8B-B14F-4D97-AF65-F5344CB8AC3E}">
        <p14:creationId xmlns:p14="http://schemas.microsoft.com/office/powerpoint/2010/main" val="705982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1.11. More on strings and functions — Python Programming">
            <a:extLst>
              <a:ext uri="{FF2B5EF4-FFF2-40B4-BE49-F238E27FC236}">
                <a16:creationId xmlns:a16="http://schemas.microsoft.com/office/drawing/2014/main" id="{EBC1F73D-18D8-DF70-B85F-AE3285A8638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58851" y="643466"/>
            <a:ext cx="7874298"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58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E8733-24F1-B510-289C-541182081895}"/>
              </a:ext>
            </a:extLst>
          </p:cNvPr>
          <p:cNvSpPr>
            <a:spLocks noGrp="1"/>
          </p:cNvSpPr>
          <p:nvPr>
            <p:ph type="title"/>
          </p:nvPr>
        </p:nvSpPr>
        <p:spPr/>
        <p:txBody>
          <a:bodyPr/>
          <a:lstStyle/>
          <a:p>
            <a:r>
              <a:rPr lang="en-IN" b="1" u="none" strike="noStrike" dirty="0">
                <a:effectLst/>
                <a:latin typeface="Google Sans"/>
              </a:rPr>
              <a:t>2. Core Concepts: Indexing and Slicing</a:t>
            </a:r>
            <a:endParaRPr lang="en-US" dirty="0"/>
          </a:p>
        </p:txBody>
      </p:sp>
      <p:sp>
        <p:nvSpPr>
          <p:cNvPr id="3" name="Content Placeholder 2">
            <a:extLst>
              <a:ext uri="{FF2B5EF4-FFF2-40B4-BE49-F238E27FC236}">
                <a16:creationId xmlns:a16="http://schemas.microsoft.com/office/drawing/2014/main" id="{6DAC1A21-B66B-0E3E-874A-4DFAFA09B632}"/>
              </a:ext>
            </a:extLst>
          </p:cNvPr>
          <p:cNvSpPr>
            <a:spLocks noGrp="1"/>
          </p:cNvSpPr>
          <p:nvPr>
            <p:ph idx="1"/>
          </p:nvPr>
        </p:nvSpPr>
        <p:spPr/>
        <p:txBody>
          <a:bodyPr/>
          <a:lstStyle/>
          <a:p>
            <a:r>
              <a:rPr lang="en-IN" b="0" u="none" strike="noStrike" dirty="0">
                <a:effectLst/>
                <a:latin typeface="Google Sans"/>
              </a:rPr>
              <a:t>Strings use </a:t>
            </a:r>
            <a:r>
              <a:rPr lang="en-IN" b="1" u="none" strike="noStrike" dirty="0">
                <a:effectLst/>
                <a:latin typeface="Google Sans"/>
              </a:rPr>
              <a:t>zero-based indexing</a:t>
            </a:r>
            <a:r>
              <a:rPr lang="en-IN" b="0" u="none" strike="noStrike" dirty="0">
                <a:effectLst/>
                <a:latin typeface="Google Sans"/>
              </a:rPr>
              <a:t> to access individual characters and supporting negative indices to access characters starting from the end. []</a:t>
            </a:r>
          </a:p>
          <a:p>
            <a:endParaRPr lang="en-US" dirty="0"/>
          </a:p>
        </p:txBody>
      </p:sp>
      <p:sp>
        <p:nvSpPr>
          <p:cNvPr id="5" name="TextBox 4">
            <a:extLst>
              <a:ext uri="{FF2B5EF4-FFF2-40B4-BE49-F238E27FC236}">
                <a16:creationId xmlns:a16="http://schemas.microsoft.com/office/drawing/2014/main" id="{AC49AFBA-5722-A008-4C1B-7272C8D73CF8}"/>
              </a:ext>
            </a:extLst>
          </p:cNvPr>
          <p:cNvSpPr txBox="1"/>
          <p:nvPr/>
        </p:nvSpPr>
        <p:spPr>
          <a:xfrm>
            <a:off x="2758440" y="2703016"/>
            <a:ext cx="11673840" cy="4154984"/>
          </a:xfrm>
          <a:prstGeom prst="rect">
            <a:avLst/>
          </a:prstGeom>
          <a:noFill/>
        </p:spPr>
        <p:txBody>
          <a:bodyPr wrap="square">
            <a:spAutoFit/>
          </a:bodyPr>
          <a:lstStyle/>
          <a:p>
            <a:r>
              <a:rPr lang="en-US" sz="2400" dirty="0"/>
              <a:t>text = "Python"</a:t>
            </a:r>
          </a:p>
          <a:p>
            <a:endParaRPr lang="en-US" sz="2400" dirty="0"/>
          </a:p>
          <a:p>
            <a:r>
              <a:rPr lang="en-US" sz="2400" dirty="0"/>
              <a:t># Indexing</a:t>
            </a:r>
          </a:p>
          <a:p>
            <a:r>
              <a:rPr lang="en-US" sz="2400" dirty="0"/>
              <a:t>print(text[0])   # Output: 'P'</a:t>
            </a:r>
          </a:p>
          <a:p>
            <a:r>
              <a:rPr lang="en-US" sz="2400" dirty="0"/>
              <a:t>print(text[-1])  # Output: 'n' (last character)</a:t>
            </a:r>
          </a:p>
          <a:p>
            <a:endParaRPr lang="en-US" sz="2400" dirty="0"/>
          </a:p>
          <a:p>
            <a:r>
              <a:rPr lang="en-US" sz="2400" dirty="0"/>
              <a:t># Slicing syntax -&gt; text[</a:t>
            </a:r>
            <a:r>
              <a:rPr lang="en-US" sz="2400" dirty="0" err="1"/>
              <a:t>start:end:step</a:t>
            </a:r>
            <a:r>
              <a:rPr lang="en-US" sz="2400" dirty="0"/>
              <a:t>]</a:t>
            </a:r>
          </a:p>
          <a:p>
            <a:r>
              <a:rPr lang="en-US" sz="2400" dirty="0"/>
              <a:t>print(text[0:2])   # Output: '</a:t>
            </a:r>
            <a:r>
              <a:rPr lang="en-US" sz="2400" dirty="0" err="1"/>
              <a:t>Py</a:t>
            </a:r>
            <a:r>
              <a:rPr lang="en-US" sz="2400" dirty="0"/>
              <a:t>' (index 2 is excluded)</a:t>
            </a:r>
          </a:p>
          <a:p>
            <a:r>
              <a:rPr lang="en-US" sz="2400" dirty="0"/>
              <a:t>print(text[:4])    # Output: '</a:t>
            </a:r>
            <a:r>
              <a:rPr lang="en-US" sz="2400" dirty="0" err="1"/>
              <a:t>Pyth</a:t>
            </a:r>
            <a:r>
              <a:rPr lang="en-US" sz="2400" dirty="0"/>
              <a:t>' (defaults start to 0)</a:t>
            </a:r>
          </a:p>
          <a:p>
            <a:r>
              <a:rPr lang="en-US" sz="2400" dirty="0"/>
              <a:t>print(text[::2])   # Output: '</a:t>
            </a:r>
            <a:r>
              <a:rPr lang="en-US" sz="2400" dirty="0" err="1"/>
              <a:t>Pto</a:t>
            </a:r>
            <a:r>
              <a:rPr lang="en-US" sz="2400" dirty="0"/>
              <a:t>' (steps by 2 items)</a:t>
            </a:r>
          </a:p>
          <a:p>
            <a:r>
              <a:rPr lang="en-US" sz="2400" dirty="0"/>
              <a:t>print(text[::-1])  # Output: '</a:t>
            </a:r>
            <a:r>
              <a:rPr lang="en-US" sz="2400" dirty="0" err="1"/>
              <a:t>nohtyP</a:t>
            </a:r>
            <a:r>
              <a:rPr lang="en-US" sz="2400" dirty="0"/>
              <a:t>' (reverses the string)</a:t>
            </a:r>
          </a:p>
        </p:txBody>
      </p:sp>
      <p:pic>
        <p:nvPicPr>
          <p:cNvPr id="1026" name="Picture 2" descr="Python String - GeeksforGeeks">
            <a:extLst>
              <a:ext uri="{FF2B5EF4-FFF2-40B4-BE49-F238E27FC236}">
                <a16:creationId xmlns:a16="http://schemas.microsoft.com/office/drawing/2014/main" id="{CFF4AD20-BC8F-016F-FDFE-A25416C58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6777" y="2703016"/>
            <a:ext cx="5464065" cy="116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7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3832-8FEB-6F7B-1681-F335A111FE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4A809E-EDD6-9E65-0015-F4A9D5EA604B}"/>
              </a:ext>
            </a:extLst>
          </p:cNvPr>
          <p:cNvSpPr>
            <a:spLocks noGrp="1"/>
          </p:cNvSpPr>
          <p:nvPr>
            <p:ph idx="1"/>
          </p:nvPr>
        </p:nvSpPr>
        <p:spPr/>
        <p:txBody>
          <a:bodyPr/>
          <a:lstStyle/>
          <a:p>
            <a:endParaRPr lang="en-US"/>
          </a:p>
        </p:txBody>
      </p:sp>
      <p:pic>
        <p:nvPicPr>
          <p:cNvPr id="4098" name="Picture 2" descr="Python Strings - Tpoint Tech">
            <a:extLst>
              <a:ext uri="{FF2B5EF4-FFF2-40B4-BE49-F238E27FC236}">
                <a16:creationId xmlns:a16="http://schemas.microsoft.com/office/drawing/2014/main" id="{398287E3-2F4A-7F75-B246-50B22C416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679450"/>
            <a:ext cx="8255000" cy="549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98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CE95-AE4E-6EFF-CDD2-252D4E62FE33}"/>
              </a:ext>
            </a:extLst>
          </p:cNvPr>
          <p:cNvSpPr>
            <a:spLocks noGrp="1"/>
          </p:cNvSpPr>
          <p:nvPr>
            <p:ph type="title"/>
          </p:nvPr>
        </p:nvSpPr>
        <p:spPr/>
        <p:txBody>
          <a:bodyPr/>
          <a:lstStyle/>
          <a:p>
            <a:r>
              <a:rPr lang="en-IN" b="1" u="none" strike="noStrike" dirty="0">
                <a:effectLst/>
                <a:latin typeface="Google Sans"/>
              </a:rPr>
              <a:t>3. Structural Immutability</a:t>
            </a:r>
            <a:endParaRPr lang="en-US" dirty="0"/>
          </a:p>
        </p:txBody>
      </p:sp>
      <p:sp>
        <p:nvSpPr>
          <p:cNvPr id="3" name="Content Placeholder 2">
            <a:extLst>
              <a:ext uri="{FF2B5EF4-FFF2-40B4-BE49-F238E27FC236}">
                <a16:creationId xmlns:a16="http://schemas.microsoft.com/office/drawing/2014/main" id="{3ADF7E67-7DB1-38F9-CCC5-06E875E5EEA0}"/>
              </a:ext>
            </a:extLst>
          </p:cNvPr>
          <p:cNvSpPr>
            <a:spLocks noGrp="1"/>
          </p:cNvSpPr>
          <p:nvPr>
            <p:ph idx="1"/>
          </p:nvPr>
        </p:nvSpPr>
        <p:spPr/>
        <p:txBody>
          <a:bodyPr/>
          <a:lstStyle/>
          <a:p>
            <a:r>
              <a:rPr lang="en-IN" b="0" u="none" strike="noStrike" dirty="0">
                <a:effectLst/>
                <a:latin typeface="Google Sans"/>
              </a:rPr>
              <a:t>Strings are </a:t>
            </a:r>
            <a:r>
              <a:rPr lang="en-IN" b="1" u="none" strike="noStrike" dirty="0">
                <a:effectLst/>
                <a:latin typeface="Google Sans"/>
              </a:rPr>
              <a:t>immutable</a:t>
            </a:r>
            <a:r>
              <a:rPr lang="en-IN" b="0" u="none" strike="noStrike" dirty="0">
                <a:effectLst/>
                <a:latin typeface="Google Sans"/>
              </a:rPr>
              <a:t>, meaning their characters cannot be updated or altered in place once created. Any modification operation creates a completely new string object in memory.</a:t>
            </a:r>
          </a:p>
          <a:p>
            <a:endParaRPr lang="en-US" dirty="0"/>
          </a:p>
        </p:txBody>
      </p:sp>
      <p:sp>
        <p:nvSpPr>
          <p:cNvPr id="5" name="TextBox 4">
            <a:extLst>
              <a:ext uri="{FF2B5EF4-FFF2-40B4-BE49-F238E27FC236}">
                <a16:creationId xmlns:a16="http://schemas.microsoft.com/office/drawing/2014/main" id="{ED82E5E3-045D-E9A5-56FD-63821535E75A}"/>
              </a:ext>
            </a:extLst>
          </p:cNvPr>
          <p:cNvSpPr txBox="1"/>
          <p:nvPr/>
        </p:nvSpPr>
        <p:spPr>
          <a:xfrm>
            <a:off x="586740" y="3754458"/>
            <a:ext cx="11018520" cy="2308324"/>
          </a:xfrm>
          <a:prstGeom prst="rect">
            <a:avLst/>
          </a:prstGeom>
          <a:noFill/>
        </p:spPr>
        <p:txBody>
          <a:bodyPr wrap="square">
            <a:spAutoFit/>
          </a:bodyPr>
          <a:lstStyle/>
          <a:p>
            <a:r>
              <a:rPr lang="en-US" sz="2400" dirty="0"/>
              <a:t>msg = "Hello"</a:t>
            </a:r>
          </a:p>
          <a:p>
            <a:r>
              <a:rPr lang="en-US" sz="2400" dirty="0"/>
              <a:t># msg[0] = "Y"  --&gt; Raises </a:t>
            </a:r>
            <a:r>
              <a:rPr lang="en-US" sz="2400" dirty="0" err="1"/>
              <a:t>TypeError</a:t>
            </a:r>
            <a:r>
              <a:rPr lang="en-US" sz="2400" dirty="0"/>
              <a:t>: 'str' object does not support item assignment</a:t>
            </a:r>
          </a:p>
          <a:p>
            <a:endParaRPr lang="en-US" sz="2400" dirty="0"/>
          </a:p>
          <a:p>
            <a:r>
              <a:rPr lang="en-US" sz="2400" dirty="0"/>
              <a:t># Correct Approach: Reassign or construct a new string</a:t>
            </a:r>
          </a:p>
          <a:p>
            <a:r>
              <a:rPr lang="en-US" sz="2400" dirty="0"/>
              <a:t>msg = "Y" + msg[1:] </a:t>
            </a:r>
          </a:p>
          <a:p>
            <a:r>
              <a:rPr lang="en-US" sz="2400" dirty="0"/>
              <a:t>print(msg)  # Output: "Yello"</a:t>
            </a:r>
          </a:p>
        </p:txBody>
      </p:sp>
    </p:spTree>
    <p:extLst>
      <p:ext uri="{BB962C8B-B14F-4D97-AF65-F5344CB8AC3E}">
        <p14:creationId xmlns:p14="http://schemas.microsoft.com/office/powerpoint/2010/main" val="2350501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B473B-4703-D99C-B4FC-FBD07A56165A}"/>
              </a:ext>
            </a:extLst>
          </p:cNvPr>
          <p:cNvSpPr>
            <a:spLocks noGrp="1"/>
          </p:cNvSpPr>
          <p:nvPr>
            <p:ph type="title"/>
          </p:nvPr>
        </p:nvSpPr>
        <p:spPr/>
        <p:txBody>
          <a:bodyPr>
            <a:normAutofit/>
          </a:bodyPr>
          <a:lstStyle/>
          <a:p>
            <a:r>
              <a:rPr lang="en-IN" b="1" u="none" strike="noStrike" dirty="0">
                <a:effectLst/>
                <a:latin typeface="Google Sans"/>
              </a:rPr>
              <a:t>4. Essential Built-in String Methods</a:t>
            </a:r>
            <a:endParaRPr lang="en-US" dirty="0"/>
          </a:p>
        </p:txBody>
      </p:sp>
      <p:graphicFrame>
        <p:nvGraphicFramePr>
          <p:cNvPr id="4" name="Content Placeholder 3">
            <a:extLst>
              <a:ext uri="{FF2B5EF4-FFF2-40B4-BE49-F238E27FC236}">
                <a16:creationId xmlns:a16="http://schemas.microsoft.com/office/drawing/2014/main" id="{1A646348-85F3-7DBA-AB70-0FF6722C199D}"/>
              </a:ext>
            </a:extLst>
          </p:cNvPr>
          <p:cNvGraphicFramePr>
            <a:graphicFrameLocks noGrp="1"/>
          </p:cNvGraphicFramePr>
          <p:nvPr>
            <p:ph idx="1"/>
            <p:extLst>
              <p:ext uri="{D42A27DB-BD31-4B8C-83A1-F6EECF244321}">
                <p14:modId xmlns:p14="http://schemas.microsoft.com/office/powerpoint/2010/main" val="994077339"/>
              </p:ext>
            </p:extLst>
          </p:nvPr>
        </p:nvGraphicFramePr>
        <p:xfrm>
          <a:off x="838200" y="1307465"/>
          <a:ext cx="10515600" cy="5425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10482124"/>
                    </a:ext>
                  </a:extLst>
                </a:gridCol>
                <a:gridCol w="1645920">
                  <a:extLst>
                    <a:ext uri="{9D8B030D-6E8A-4147-A177-3AD203B41FA5}">
                      <a16:colId xmlns:a16="http://schemas.microsoft.com/office/drawing/2014/main" val="2975756168"/>
                    </a:ext>
                  </a:extLst>
                </a:gridCol>
                <a:gridCol w="2560320">
                  <a:extLst>
                    <a:ext uri="{9D8B030D-6E8A-4147-A177-3AD203B41FA5}">
                      <a16:colId xmlns:a16="http://schemas.microsoft.com/office/drawing/2014/main" val="2539552958"/>
                    </a:ext>
                  </a:extLst>
                </a:gridCol>
                <a:gridCol w="2834640">
                  <a:extLst>
                    <a:ext uri="{9D8B030D-6E8A-4147-A177-3AD203B41FA5}">
                      <a16:colId xmlns:a16="http://schemas.microsoft.com/office/drawing/2014/main" val="2808692235"/>
                    </a:ext>
                  </a:extLst>
                </a:gridCol>
                <a:gridCol w="1371600">
                  <a:extLst>
                    <a:ext uri="{9D8B030D-6E8A-4147-A177-3AD203B41FA5}">
                      <a16:colId xmlns:a16="http://schemas.microsoft.com/office/drawing/2014/main" val="947265007"/>
                    </a:ext>
                  </a:extLst>
                </a:gridCol>
              </a:tblGrid>
              <a:tr h="370840">
                <a:tc>
                  <a:txBody>
                    <a:bodyPr/>
                    <a:lstStyle/>
                    <a:p>
                      <a:r>
                        <a:rPr lang="en-IN" sz="1800" dirty="0"/>
                        <a:t>Category</a:t>
                      </a:r>
                      <a:endParaRPr lang="en-US" sz="1800" dirty="0"/>
                    </a:p>
                  </a:txBody>
                  <a:tcPr/>
                </a:tc>
                <a:tc>
                  <a:txBody>
                    <a:bodyPr/>
                    <a:lstStyle/>
                    <a:p>
                      <a:r>
                        <a:rPr lang="en-IN" sz="1800" dirty="0"/>
                        <a:t>Method</a:t>
                      </a:r>
                      <a:endParaRPr lang="en-US" sz="1800" dirty="0"/>
                    </a:p>
                  </a:txBody>
                  <a:tcPr/>
                </a:tc>
                <a:tc>
                  <a:txBody>
                    <a:bodyPr/>
                    <a:lstStyle/>
                    <a:p>
                      <a:r>
                        <a:rPr lang="en-IN" sz="1800" dirty="0"/>
                        <a:t>Description</a:t>
                      </a:r>
                      <a:endParaRPr lang="en-US" sz="1800" dirty="0"/>
                    </a:p>
                  </a:txBody>
                  <a:tcPr/>
                </a:tc>
                <a:tc>
                  <a:txBody>
                    <a:bodyPr/>
                    <a:lstStyle/>
                    <a:p>
                      <a:r>
                        <a:rPr lang="en-IN" sz="1800" dirty="0"/>
                        <a:t>Code Example</a:t>
                      </a:r>
                      <a:endParaRPr lang="en-US" sz="1800" dirty="0"/>
                    </a:p>
                  </a:txBody>
                  <a:tcPr/>
                </a:tc>
                <a:tc>
                  <a:txBody>
                    <a:bodyPr/>
                    <a:lstStyle/>
                    <a:p>
                      <a:r>
                        <a:rPr lang="en-IN" sz="1800" dirty="0"/>
                        <a:t>Output</a:t>
                      </a:r>
                      <a:endParaRPr lang="en-US" sz="1800" dirty="0"/>
                    </a:p>
                  </a:txBody>
                  <a:tcPr/>
                </a:tc>
                <a:extLst>
                  <a:ext uri="{0D108BD9-81ED-4DB2-BD59-A6C34878D82A}">
                    <a16:rowId xmlns:a16="http://schemas.microsoft.com/office/drawing/2014/main" val="1317344635"/>
                  </a:ext>
                </a:extLst>
              </a:tr>
              <a:tr h="370840">
                <a:tc>
                  <a:txBody>
                    <a:bodyPr/>
                    <a:lstStyle/>
                    <a:p>
                      <a:r>
                        <a:rPr lang="en-IN" sz="1800" b="1" u="none" strike="noStrike" kern="1200" dirty="0">
                          <a:solidFill>
                            <a:schemeClr val="dk1"/>
                          </a:solidFill>
                          <a:effectLst/>
                          <a:latin typeface="+mn-lt"/>
                          <a:ea typeface="+mn-ea"/>
                          <a:cs typeface="+mn-cs"/>
                        </a:rPr>
                        <a:t>Case Changes</a:t>
                      </a:r>
                      <a:endParaRPr lang="en-US" sz="1800" dirty="0"/>
                    </a:p>
                  </a:txBody>
                  <a:tcPr/>
                </a:tc>
                <a:tc>
                  <a:txBody>
                    <a:bodyPr/>
                    <a:lstStyle/>
                    <a:p>
                      <a:r>
                        <a:rPr lang="en-IN" sz="1800" b="0" u="none" strike="noStrike" kern="1200" dirty="0">
                          <a:solidFill>
                            <a:schemeClr val="dk1"/>
                          </a:solidFill>
                          <a:effectLst/>
                          <a:latin typeface="+mn-lt"/>
                          <a:ea typeface="+mn-ea"/>
                          <a:cs typeface="+mn-cs"/>
                        </a:rPr>
                        <a:t>.upper()</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to uppercase</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a:t>
                      </a:r>
                      <a:r>
                        <a:rPr lang="en-IN" sz="1800" b="0" u="none" strike="noStrike" kern="1200" dirty="0">
                          <a:solidFill>
                            <a:schemeClr val="dk1"/>
                          </a:solidFill>
                          <a:effectLst/>
                          <a:latin typeface="+mn-lt"/>
                          <a:ea typeface="+mn-ea"/>
                          <a:cs typeface="+mn-cs"/>
                        </a:rPr>
                        <a:t>".upper()</a:t>
                      </a:r>
                      <a:endParaRPr lang="en-US" sz="1800" dirty="0"/>
                    </a:p>
                  </a:txBody>
                  <a:tcPr/>
                </a:tc>
                <a:tc>
                  <a:txBody>
                    <a:bodyPr/>
                    <a:lstStyle/>
                    <a:p>
                      <a:r>
                        <a:rPr lang="en-IN" sz="1800" b="0" u="none" strike="noStrike" kern="1200" dirty="0">
                          <a:solidFill>
                            <a:schemeClr val="dk1"/>
                          </a:solidFill>
                          <a:effectLst/>
                          <a:latin typeface="+mn-lt"/>
                          <a:ea typeface="+mn-ea"/>
                          <a:cs typeface="+mn-cs"/>
                        </a:rPr>
                        <a:t>"PY"</a:t>
                      </a:r>
                      <a:endParaRPr lang="en-US" sz="1800" dirty="0"/>
                    </a:p>
                  </a:txBody>
                  <a:tcPr/>
                </a:tc>
                <a:extLst>
                  <a:ext uri="{0D108BD9-81ED-4DB2-BD59-A6C34878D82A}">
                    <a16:rowId xmlns:a16="http://schemas.microsoft.com/office/drawing/2014/main" val="3509665604"/>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.lower()</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to lowercase</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PY".lower</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a:t>
                      </a:r>
                      <a:r>
                        <a:rPr lang="en-IN" sz="1800" b="0" u="none" strike="noStrike" kern="1200" dirty="0">
                          <a:solidFill>
                            <a:schemeClr val="dk1"/>
                          </a:solidFill>
                          <a:effectLst/>
                          <a:latin typeface="+mn-lt"/>
                          <a:ea typeface="+mn-ea"/>
                          <a:cs typeface="+mn-cs"/>
                        </a:rPr>
                        <a:t>"</a:t>
                      </a:r>
                      <a:endParaRPr lang="en-US" sz="1800" dirty="0"/>
                    </a:p>
                  </a:txBody>
                  <a:tcPr/>
                </a:tc>
                <a:extLst>
                  <a:ext uri="{0D108BD9-81ED-4DB2-BD59-A6C34878D82A}">
                    <a16:rowId xmlns:a16="http://schemas.microsoft.com/office/drawing/2014/main" val="2901936948"/>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.capitalize()</a:t>
                      </a:r>
                      <a:endParaRPr lang="en-US" sz="1800" dirty="0"/>
                    </a:p>
                  </a:txBody>
                  <a:tcPr/>
                </a:tc>
                <a:tc>
                  <a:txBody>
                    <a:bodyPr/>
                    <a:lstStyle/>
                    <a:p>
                      <a:r>
                        <a:rPr lang="en-IN" sz="1800" b="0" u="none" strike="noStrike" kern="1200" dirty="0">
                          <a:solidFill>
                            <a:schemeClr val="dk1"/>
                          </a:solidFill>
                          <a:effectLst/>
                          <a:latin typeface="+mn-lt"/>
                          <a:ea typeface="+mn-ea"/>
                          <a:cs typeface="+mn-cs"/>
                        </a:rPr>
                        <a:t>Capitalizes the first character</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hello".capitalize</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"Hello"</a:t>
                      </a:r>
                      <a:endParaRPr lang="en-US" sz="1800" dirty="0"/>
                    </a:p>
                  </a:txBody>
                  <a:tcPr/>
                </a:tc>
                <a:extLst>
                  <a:ext uri="{0D108BD9-81ED-4DB2-BD59-A6C34878D82A}">
                    <a16:rowId xmlns:a16="http://schemas.microsoft.com/office/drawing/2014/main" val="2787130177"/>
                  </a:ext>
                </a:extLst>
              </a:tr>
              <a:tr h="370840">
                <a:tc>
                  <a:txBody>
                    <a:bodyPr/>
                    <a:lstStyle/>
                    <a:p>
                      <a:r>
                        <a:rPr lang="en-IN" sz="1800" b="1" u="none" strike="noStrike" kern="1200" dirty="0">
                          <a:solidFill>
                            <a:schemeClr val="dk1"/>
                          </a:solidFill>
                          <a:effectLst/>
                          <a:latin typeface="+mn-lt"/>
                          <a:ea typeface="+mn-ea"/>
                          <a:cs typeface="+mn-cs"/>
                        </a:rPr>
                        <a:t>Search &amp; Test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startswith</a:t>
                      </a:r>
                      <a:r>
                        <a:rPr lang="en-IN" sz="1800" b="0" u="none" strike="noStrike" kern="1200" dirty="0">
                          <a:solidFill>
                            <a:schemeClr val="dk1"/>
                          </a:solidFill>
                          <a:effectLst/>
                          <a:latin typeface="+mn-lt"/>
                          <a:ea typeface="+mn-ea"/>
                          <a:cs typeface="+mn-cs"/>
                        </a:rPr>
                        <a:t>(x)</a:t>
                      </a:r>
                      <a:endParaRPr lang="en-US" sz="1800" dirty="0"/>
                    </a:p>
                  </a:txBody>
                  <a:tcPr/>
                </a:tc>
                <a:tc>
                  <a:txBody>
                    <a:bodyPr/>
                    <a:lstStyle/>
                    <a:p>
                      <a:r>
                        <a:rPr lang="en-IN" sz="1800" b="0" u="none" strike="noStrike" kern="1200" dirty="0">
                          <a:solidFill>
                            <a:schemeClr val="dk1"/>
                          </a:solidFill>
                          <a:effectLst/>
                          <a:latin typeface="+mn-lt"/>
                          <a:ea typeface="+mn-ea"/>
                          <a:cs typeface="+mn-cs"/>
                        </a:rPr>
                        <a:t>Checks prefix string</a:t>
                      </a:r>
                      <a:endParaRPr lang="en-US" sz="1800" dirty="0"/>
                    </a:p>
                  </a:txBody>
                  <a:tcPr/>
                </a:tc>
                <a:tc>
                  <a:txBody>
                    <a:bodyPr/>
                    <a:lstStyle/>
                    <a:p>
                      <a:r>
                        <a:rPr lang="en-IN" sz="1800" b="0" u="none" strike="noStrike" kern="1200" dirty="0">
                          <a:solidFill>
                            <a:schemeClr val="dk1"/>
                          </a:solidFill>
                          <a:effectLst/>
                          <a:latin typeface="+mn-lt"/>
                          <a:ea typeface="+mn-ea"/>
                          <a:cs typeface="+mn-cs"/>
                        </a:rPr>
                        <a:t>“test.txt".</a:t>
                      </a:r>
                      <a:r>
                        <a:rPr lang="en-IN" sz="1800" b="0" u="none" strike="noStrike" kern="1200" dirty="0" err="1">
                          <a:solidFill>
                            <a:schemeClr val="dk1"/>
                          </a:solidFill>
                          <a:effectLst/>
                          <a:latin typeface="+mn-lt"/>
                          <a:ea typeface="+mn-ea"/>
                          <a:cs typeface="+mn-cs"/>
                        </a:rPr>
                        <a:t>startswith</a:t>
                      </a:r>
                      <a:r>
                        <a:rPr lang="en-IN" sz="1800" b="0" u="none" strike="noStrike" kern="1200" dirty="0">
                          <a:solidFill>
                            <a:schemeClr val="dk1"/>
                          </a:solidFill>
                          <a:effectLst/>
                          <a:latin typeface="+mn-lt"/>
                          <a:ea typeface="+mn-ea"/>
                          <a:cs typeface="+mn-cs"/>
                        </a:rPr>
                        <a:t>("test")</a:t>
                      </a:r>
                      <a:endParaRPr lang="en-US" sz="1800" dirty="0"/>
                    </a:p>
                  </a:txBody>
                  <a:tcPr/>
                </a:tc>
                <a:tc>
                  <a:txBody>
                    <a:bodyPr/>
                    <a:lstStyle/>
                    <a:p>
                      <a:r>
                        <a:rPr lang="en-IN" sz="1800" b="0" u="none" strike="noStrike" kern="1200" dirty="0">
                          <a:solidFill>
                            <a:schemeClr val="dk1"/>
                          </a:solidFill>
                          <a:effectLst/>
                          <a:latin typeface="+mn-lt"/>
                          <a:ea typeface="+mn-ea"/>
                          <a:cs typeface="+mn-cs"/>
                        </a:rPr>
                        <a:t>True</a:t>
                      </a:r>
                      <a:endParaRPr lang="en-US" sz="1800" dirty="0"/>
                    </a:p>
                  </a:txBody>
                  <a:tcPr/>
                </a:tc>
                <a:extLst>
                  <a:ext uri="{0D108BD9-81ED-4DB2-BD59-A6C34878D82A}">
                    <a16:rowId xmlns:a16="http://schemas.microsoft.com/office/drawing/2014/main" val="1066629973"/>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endswith</a:t>
                      </a:r>
                      <a:r>
                        <a:rPr lang="en-IN" sz="1800" b="0" u="none" strike="noStrike" kern="1200" dirty="0">
                          <a:solidFill>
                            <a:schemeClr val="dk1"/>
                          </a:solidFill>
                          <a:effectLst/>
                          <a:latin typeface="+mn-lt"/>
                          <a:ea typeface="+mn-ea"/>
                          <a:cs typeface="+mn-cs"/>
                        </a:rPr>
                        <a:t>(x)</a:t>
                      </a:r>
                      <a:endParaRPr lang="en-US" sz="1800" dirty="0"/>
                    </a:p>
                  </a:txBody>
                  <a:tcPr/>
                </a:tc>
                <a:tc>
                  <a:txBody>
                    <a:bodyPr/>
                    <a:lstStyle/>
                    <a:p>
                      <a:r>
                        <a:rPr lang="en-IN" sz="1800" b="0" u="none" strike="noStrike" kern="1200" dirty="0">
                          <a:solidFill>
                            <a:schemeClr val="dk1"/>
                          </a:solidFill>
                          <a:effectLst/>
                          <a:latin typeface="+mn-lt"/>
                          <a:ea typeface="+mn-ea"/>
                          <a:cs typeface="+mn-cs"/>
                        </a:rPr>
                        <a:t>Checks suffix string</a:t>
                      </a:r>
                      <a:endParaRPr lang="en-US" sz="1800" dirty="0"/>
                    </a:p>
                  </a:txBody>
                  <a:tcPr/>
                </a:tc>
                <a:tc>
                  <a:txBody>
                    <a:bodyPr/>
                    <a:lstStyle/>
                    <a:p>
                      <a:r>
                        <a:rPr lang="en-IN" sz="1800" b="0" u="none" strike="noStrike" kern="1200" dirty="0">
                          <a:solidFill>
                            <a:schemeClr val="dk1"/>
                          </a:solidFill>
                          <a:effectLst/>
                          <a:latin typeface="+mn-lt"/>
                          <a:ea typeface="+mn-ea"/>
                          <a:cs typeface="+mn-cs"/>
                        </a:rPr>
                        <a:t>"test.txt".</a:t>
                      </a:r>
                      <a:r>
                        <a:rPr lang="en-IN" sz="1800" b="0" u="none" strike="noStrike" kern="1200" dirty="0" err="1">
                          <a:solidFill>
                            <a:schemeClr val="dk1"/>
                          </a:solidFill>
                          <a:effectLst/>
                          <a:latin typeface="+mn-lt"/>
                          <a:ea typeface="+mn-ea"/>
                          <a:cs typeface="+mn-cs"/>
                        </a:rPr>
                        <a:t>endswith</a:t>
                      </a:r>
                      <a:r>
                        <a:rPr lang="en-IN" sz="1800" b="0" u="none" strike="noStrike" kern="1200" dirty="0">
                          <a:solidFill>
                            <a:schemeClr val="dk1"/>
                          </a:solidFill>
                          <a:effectLst/>
                          <a:latin typeface="+mn-lt"/>
                          <a:ea typeface="+mn-ea"/>
                          <a:cs typeface="+mn-cs"/>
                        </a:rPr>
                        <a:t>(".txt")</a:t>
                      </a:r>
                      <a:endParaRPr lang="en-US" sz="1800" dirty="0"/>
                    </a:p>
                  </a:txBody>
                  <a:tcPr/>
                </a:tc>
                <a:tc>
                  <a:txBody>
                    <a:bodyPr/>
                    <a:lstStyle/>
                    <a:p>
                      <a:r>
                        <a:rPr lang="en-IN" sz="1800" b="0" u="none" strike="noStrike" kern="1200" dirty="0">
                          <a:solidFill>
                            <a:schemeClr val="dk1"/>
                          </a:solidFill>
                          <a:effectLst/>
                          <a:latin typeface="+mn-lt"/>
                          <a:ea typeface="+mn-ea"/>
                          <a:cs typeface="+mn-cs"/>
                        </a:rPr>
                        <a:t>True</a:t>
                      </a:r>
                      <a:endParaRPr lang="en-US" sz="1800" dirty="0"/>
                    </a:p>
                  </a:txBody>
                  <a:tcPr/>
                </a:tc>
                <a:extLst>
                  <a:ext uri="{0D108BD9-81ED-4DB2-BD59-A6C34878D82A}">
                    <a16:rowId xmlns:a16="http://schemas.microsoft.com/office/drawing/2014/main" val="2376045495"/>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.find(x)</a:t>
                      </a:r>
                      <a:endParaRPr lang="en-US" sz="1800" dirty="0"/>
                    </a:p>
                  </a:txBody>
                  <a:tcPr/>
                </a:tc>
                <a:tc>
                  <a:txBody>
                    <a:bodyPr/>
                    <a:lstStyle/>
                    <a:p>
                      <a:r>
                        <a:rPr lang="en-IN" sz="1800" b="0" u="none" strike="noStrike" kern="1200" dirty="0">
                          <a:solidFill>
                            <a:schemeClr val="dk1"/>
                          </a:solidFill>
                          <a:effectLst/>
                          <a:latin typeface="+mn-lt"/>
                          <a:ea typeface="+mn-ea"/>
                          <a:cs typeface="+mn-cs"/>
                        </a:rPr>
                        <a:t>Returns first match index or -1</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apple".find</a:t>
                      </a:r>
                      <a:r>
                        <a:rPr lang="en-IN" sz="1800" b="0" u="none" strike="noStrike" kern="1200" dirty="0">
                          <a:solidFill>
                            <a:schemeClr val="dk1"/>
                          </a:solidFill>
                          <a:effectLst/>
                          <a:latin typeface="+mn-lt"/>
                          <a:ea typeface="+mn-ea"/>
                          <a:cs typeface="+mn-cs"/>
                        </a:rPr>
                        <a:t>("p")</a:t>
                      </a:r>
                      <a:endParaRPr lang="en-US" sz="1800" dirty="0"/>
                    </a:p>
                  </a:txBody>
                  <a:tcPr/>
                </a:tc>
                <a:tc>
                  <a:txBody>
                    <a:bodyPr/>
                    <a:lstStyle/>
                    <a:p>
                      <a:r>
                        <a:rPr lang="en-US" sz="1800" dirty="0"/>
                        <a:t>1</a:t>
                      </a:r>
                    </a:p>
                  </a:txBody>
                  <a:tcPr/>
                </a:tc>
                <a:extLst>
                  <a:ext uri="{0D108BD9-81ED-4DB2-BD59-A6C34878D82A}">
                    <a16:rowId xmlns:a16="http://schemas.microsoft.com/office/drawing/2014/main" val="3723906892"/>
                  </a:ext>
                </a:extLst>
              </a:tr>
              <a:tr h="370840">
                <a:tc>
                  <a:txBody>
                    <a:bodyPr/>
                    <a:lstStyle/>
                    <a:p>
                      <a:r>
                        <a:rPr lang="en-IN" sz="1800" b="1" u="none" strike="noStrike" kern="1200" dirty="0">
                          <a:solidFill>
                            <a:schemeClr val="dk1"/>
                          </a:solidFill>
                          <a:effectLst/>
                          <a:latin typeface="+mn-lt"/>
                          <a:ea typeface="+mn-ea"/>
                          <a:cs typeface="+mn-cs"/>
                        </a:rPr>
                        <a:t>Clean &amp; Alter</a:t>
                      </a:r>
                      <a:endParaRPr lang="en-US" sz="1800" dirty="0"/>
                    </a:p>
                  </a:txBody>
                  <a:tcPr/>
                </a:tc>
                <a:tc>
                  <a:txBody>
                    <a:bodyPr/>
                    <a:lstStyle/>
                    <a:p>
                      <a:r>
                        <a:rPr lang="en-IN" sz="1800" b="0" u="none" strike="noStrike" kern="1200" dirty="0">
                          <a:solidFill>
                            <a:schemeClr val="dk1"/>
                          </a:solidFill>
                          <a:effectLst/>
                          <a:latin typeface="+mn-lt"/>
                          <a:ea typeface="+mn-ea"/>
                          <a:cs typeface="+mn-cs"/>
                        </a:rPr>
                        <a:t>.strip()</a:t>
                      </a:r>
                      <a:endParaRPr lang="en-US" sz="1800" dirty="0"/>
                    </a:p>
                  </a:txBody>
                  <a:tcPr/>
                </a:tc>
                <a:tc>
                  <a:txBody>
                    <a:bodyPr/>
                    <a:lstStyle/>
                    <a:p>
                      <a:r>
                        <a:rPr lang="en-IN" sz="1800" b="0" u="none" strike="noStrike" kern="1200" dirty="0">
                          <a:solidFill>
                            <a:schemeClr val="dk1"/>
                          </a:solidFill>
                          <a:effectLst/>
                          <a:latin typeface="+mn-lt"/>
                          <a:ea typeface="+mn-ea"/>
                          <a:cs typeface="+mn-cs"/>
                        </a:rPr>
                        <a:t>Removes flanking whitespace</a:t>
                      </a:r>
                      <a:endParaRPr lang="en-US" sz="1800" dirty="0"/>
                    </a:p>
                  </a:txBody>
                  <a:tcPr/>
                </a:tc>
                <a:tc>
                  <a:txBody>
                    <a:bodyPr/>
                    <a:lstStyle/>
                    <a:p>
                      <a:r>
                        <a:rPr lang="en-IN" sz="1800" b="0" u="none" strike="noStrike" kern="1200" dirty="0">
                          <a:solidFill>
                            <a:schemeClr val="dk1"/>
                          </a:solidFill>
                          <a:effectLst/>
                          <a:latin typeface="+mn-lt"/>
                          <a:ea typeface="+mn-ea"/>
                          <a:cs typeface="+mn-cs"/>
                        </a:rPr>
                        <a:t>" hi ".strip()</a:t>
                      </a:r>
                      <a:endParaRPr lang="en-US" sz="1800" dirty="0"/>
                    </a:p>
                  </a:txBody>
                  <a:tcPr/>
                </a:tc>
                <a:tc>
                  <a:txBody>
                    <a:bodyPr/>
                    <a:lstStyle/>
                    <a:p>
                      <a:r>
                        <a:rPr lang="en-IN" sz="1800" b="0" u="none" strike="noStrike" kern="1200" dirty="0">
                          <a:solidFill>
                            <a:schemeClr val="dk1"/>
                          </a:solidFill>
                          <a:effectLst/>
                          <a:latin typeface="+mn-lt"/>
                          <a:ea typeface="+mn-ea"/>
                          <a:cs typeface="+mn-cs"/>
                        </a:rPr>
                        <a:t>"hi"</a:t>
                      </a:r>
                      <a:endParaRPr lang="en-US" sz="1800" dirty="0"/>
                    </a:p>
                  </a:txBody>
                  <a:tcPr/>
                </a:tc>
                <a:extLst>
                  <a:ext uri="{0D108BD9-81ED-4DB2-BD59-A6C34878D82A}">
                    <a16:rowId xmlns:a16="http://schemas.microsoft.com/office/drawing/2014/main" val="4056413865"/>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.replace(o, n)</a:t>
                      </a:r>
                      <a:endParaRPr lang="en-US" sz="1800" dirty="0"/>
                    </a:p>
                  </a:txBody>
                  <a:tcPr/>
                </a:tc>
                <a:tc>
                  <a:txBody>
                    <a:bodyPr/>
                    <a:lstStyle/>
                    <a:p>
                      <a:r>
                        <a:rPr lang="en-IN" sz="1800" b="0" u="none" strike="noStrike" kern="1200" dirty="0">
                          <a:solidFill>
                            <a:schemeClr val="dk1"/>
                          </a:solidFill>
                          <a:effectLst/>
                          <a:latin typeface="+mn-lt"/>
                          <a:ea typeface="+mn-ea"/>
                          <a:cs typeface="+mn-cs"/>
                        </a:rPr>
                        <a:t>Replaces old text with new</a:t>
                      </a:r>
                      <a:endParaRPr lang="en-US" sz="1800" dirty="0"/>
                    </a:p>
                  </a:txBody>
                  <a:tcPr/>
                </a:tc>
                <a:tc>
                  <a:txBody>
                    <a:bodyPr/>
                    <a:lstStyle/>
                    <a:p>
                      <a:r>
                        <a:rPr lang="en-IN" sz="1800" b="0" u="none" strike="noStrike" kern="1200" dirty="0">
                          <a:solidFill>
                            <a:schemeClr val="dk1"/>
                          </a:solidFill>
                          <a:effectLst/>
                          <a:latin typeface="+mn-lt"/>
                          <a:ea typeface="+mn-ea"/>
                          <a:cs typeface="+mn-cs"/>
                        </a:rPr>
                        <a:t>"a-b-</a:t>
                      </a:r>
                      <a:r>
                        <a:rPr lang="en-IN" sz="1800" b="0" u="none" strike="noStrike" kern="1200" dirty="0" err="1">
                          <a:solidFill>
                            <a:schemeClr val="dk1"/>
                          </a:solidFill>
                          <a:effectLst/>
                          <a:latin typeface="+mn-lt"/>
                          <a:ea typeface="+mn-ea"/>
                          <a:cs typeface="+mn-cs"/>
                        </a:rPr>
                        <a:t>c".replace</a:t>
                      </a:r>
                      <a:r>
                        <a:rPr lang="en-IN" sz="1800" b="0" u="none" strike="noStrike" kern="1200" dirty="0">
                          <a:solidFill>
                            <a:schemeClr val="dk1"/>
                          </a:solidFill>
                          <a:effectLst/>
                          <a:latin typeface="+mn-lt"/>
                          <a:ea typeface="+mn-ea"/>
                          <a:cs typeface="+mn-cs"/>
                        </a:rPr>
                        <a:t>("-", "/")</a:t>
                      </a:r>
                      <a:endParaRPr lang="en-US" sz="1800" dirty="0"/>
                    </a:p>
                  </a:txBody>
                  <a:tcPr/>
                </a:tc>
                <a:tc>
                  <a:txBody>
                    <a:bodyPr/>
                    <a:lstStyle/>
                    <a:p>
                      <a:r>
                        <a:rPr lang="en-IN" sz="1800" b="0" u="none" strike="noStrike" kern="1200" dirty="0">
                          <a:solidFill>
                            <a:schemeClr val="dk1"/>
                          </a:solidFill>
                          <a:effectLst/>
                          <a:latin typeface="+mn-lt"/>
                          <a:ea typeface="+mn-ea"/>
                          <a:cs typeface="+mn-cs"/>
                        </a:rPr>
                        <a:t>"a/b/c"</a:t>
                      </a:r>
                      <a:endParaRPr lang="en-US" sz="1800" dirty="0"/>
                    </a:p>
                  </a:txBody>
                  <a:tcPr/>
                </a:tc>
                <a:extLst>
                  <a:ext uri="{0D108BD9-81ED-4DB2-BD59-A6C34878D82A}">
                    <a16:rowId xmlns:a16="http://schemas.microsoft.com/office/drawing/2014/main" val="1612582604"/>
                  </a:ext>
                </a:extLst>
              </a:tr>
              <a:tr h="370840">
                <a:tc>
                  <a:txBody>
                    <a:bodyPr/>
                    <a:lstStyle/>
                    <a:p>
                      <a:r>
                        <a:rPr lang="en-IN" sz="1800" b="1" u="none" strike="noStrike" kern="1200" dirty="0">
                          <a:solidFill>
                            <a:schemeClr val="dk1"/>
                          </a:solidFill>
                          <a:effectLst/>
                          <a:latin typeface="+mn-lt"/>
                          <a:ea typeface="+mn-ea"/>
                          <a:cs typeface="+mn-cs"/>
                        </a:rPr>
                        <a:t>Split &amp; Join</a:t>
                      </a:r>
                      <a:endParaRPr lang="en-US" sz="1800" dirty="0"/>
                    </a:p>
                  </a:txBody>
                  <a:tcPr/>
                </a:tc>
                <a:tc>
                  <a:txBody>
                    <a:bodyPr/>
                    <a:lstStyle/>
                    <a:p>
                      <a:r>
                        <a:rPr lang="en-IN" sz="1800" b="0" u="none" strike="noStrike" kern="1200" dirty="0">
                          <a:solidFill>
                            <a:schemeClr val="dk1"/>
                          </a:solidFill>
                          <a:effectLst/>
                          <a:latin typeface="+mn-lt"/>
                          <a:ea typeface="+mn-ea"/>
                          <a:cs typeface="+mn-cs"/>
                        </a:rPr>
                        <a:t>.split(x)</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string into list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a,b,c".split</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['a', 'b', 'c']</a:t>
                      </a:r>
                      <a:endParaRPr lang="en-US" sz="1800" dirty="0"/>
                    </a:p>
                  </a:txBody>
                  <a:tcPr/>
                </a:tc>
                <a:extLst>
                  <a:ext uri="{0D108BD9-81ED-4DB2-BD59-A6C34878D82A}">
                    <a16:rowId xmlns:a16="http://schemas.microsoft.com/office/drawing/2014/main" val="820441910"/>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.join(</a:t>
                      </a:r>
                      <a:r>
                        <a:rPr lang="en-IN" sz="1800" b="0" u="none" strike="noStrike" kern="1200" dirty="0" err="1">
                          <a:solidFill>
                            <a:schemeClr val="dk1"/>
                          </a:solidFill>
                          <a:effectLst/>
                          <a:latin typeface="+mn-lt"/>
                          <a:ea typeface="+mn-ea"/>
                          <a:cs typeface="+mn-cs"/>
                        </a:rPr>
                        <a:t>iterable</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Merges </a:t>
                      </a:r>
                      <a:r>
                        <a:rPr lang="en-IN" sz="1800" b="0" u="none" strike="noStrike" kern="1200" dirty="0" err="1">
                          <a:solidFill>
                            <a:schemeClr val="dk1"/>
                          </a:solidFill>
                          <a:effectLst/>
                          <a:latin typeface="+mn-lt"/>
                          <a:ea typeface="+mn-ea"/>
                          <a:cs typeface="+mn-cs"/>
                        </a:rPr>
                        <a:t>iterable</a:t>
                      </a:r>
                      <a:r>
                        <a:rPr lang="en-IN" sz="1800" b="0" u="none" strike="noStrike" kern="1200" dirty="0">
                          <a:solidFill>
                            <a:schemeClr val="dk1"/>
                          </a:solidFill>
                          <a:effectLst/>
                          <a:latin typeface="+mn-lt"/>
                          <a:ea typeface="+mn-ea"/>
                          <a:cs typeface="+mn-cs"/>
                        </a:rPr>
                        <a:t> into string</a:t>
                      </a:r>
                      <a:endParaRPr lang="en-US" sz="1800" dirty="0"/>
                    </a:p>
                  </a:txBody>
                  <a:tcPr/>
                </a:tc>
                <a:tc>
                  <a:txBody>
                    <a:bodyPr/>
                    <a:lstStyle/>
                    <a:p>
                      <a:r>
                        <a:rPr lang="en-IN" sz="1800" b="0" u="none" strike="noStrike" kern="1200" dirty="0">
                          <a:solidFill>
                            <a:schemeClr val="dk1"/>
                          </a:solidFill>
                          <a:effectLst/>
                          <a:latin typeface="+mn-lt"/>
                          <a:ea typeface="+mn-ea"/>
                          <a:cs typeface="+mn-cs"/>
                        </a:rPr>
                        <a:t>"-".join(['a', 'b'])</a:t>
                      </a:r>
                      <a:endParaRPr lang="en-US" sz="1800" dirty="0"/>
                    </a:p>
                  </a:txBody>
                  <a:tcPr/>
                </a:tc>
                <a:tc>
                  <a:txBody>
                    <a:bodyPr/>
                    <a:lstStyle/>
                    <a:p>
                      <a:r>
                        <a:rPr lang="en-IN" sz="1800" b="0" u="none" strike="noStrike" kern="1200" dirty="0">
                          <a:solidFill>
                            <a:schemeClr val="dk1"/>
                          </a:solidFill>
                          <a:effectLst/>
                          <a:latin typeface="+mn-lt"/>
                          <a:ea typeface="+mn-ea"/>
                          <a:cs typeface="+mn-cs"/>
                        </a:rPr>
                        <a:t>"a-b"</a:t>
                      </a:r>
                      <a:endParaRPr lang="en-US" sz="1800" dirty="0"/>
                    </a:p>
                  </a:txBody>
                  <a:tcPr/>
                </a:tc>
                <a:extLst>
                  <a:ext uri="{0D108BD9-81ED-4DB2-BD59-A6C34878D82A}">
                    <a16:rowId xmlns:a16="http://schemas.microsoft.com/office/drawing/2014/main" val="485210565"/>
                  </a:ext>
                </a:extLst>
              </a:tr>
            </a:tbl>
          </a:graphicData>
        </a:graphic>
      </p:graphicFrame>
    </p:spTree>
    <p:extLst>
      <p:ext uri="{BB962C8B-B14F-4D97-AF65-F5344CB8AC3E}">
        <p14:creationId xmlns:p14="http://schemas.microsoft.com/office/powerpoint/2010/main" val="3818771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4380-A452-C2A3-6CB5-E48AEF147F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59F78F-9E52-D91D-DE70-C12608255AFD}"/>
              </a:ext>
            </a:extLst>
          </p:cNvPr>
          <p:cNvSpPr>
            <a:spLocks noGrp="1"/>
          </p:cNvSpPr>
          <p:nvPr>
            <p:ph idx="1"/>
          </p:nvPr>
        </p:nvSpPr>
        <p:spPr/>
        <p:txBody>
          <a:bodyPr/>
          <a:lstStyle/>
          <a:p>
            <a:endParaRPr lang="en-US"/>
          </a:p>
        </p:txBody>
      </p:sp>
      <p:pic>
        <p:nvPicPr>
          <p:cNvPr id="5122" name="Picture 2" descr="40+ Python String Methods Explained | List, Syntax &amp; Code Examples">
            <a:extLst>
              <a:ext uri="{FF2B5EF4-FFF2-40B4-BE49-F238E27FC236}">
                <a16:creationId xmlns:a16="http://schemas.microsoft.com/office/drawing/2014/main" id="{8ABEAE21-C60E-123C-95BB-3DF41E47E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46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3D861-38BB-6BDE-9210-43A5E0040180}"/>
              </a:ext>
            </a:extLst>
          </p:cNvPr>
          <p:cNvSpPr>
            <a:spLocks noGrp="1"/>
          </p:cNvSpPr>
          <p:nvPr>
            <p:ph type="title"/>
          </p:nvPr>
        </p:nvSpPr>
        <p:spPr/>
        <p:txBody>
          <a:bodyPr/>
          <a:lstStyle/>
          <a:p>
            <a:r>
              <a:rPr lang="en-IN" b="1" u="none" strike="noStrike" dirty="0">
                <a:effectLst/>
                <a:latin typeface="Google Sans"/>
              </a:rPr>
              <a:t>5. String Formatting</a:t>
            </a:r>
            <a:endParaRPr lang="en-US" dirty="0"/>
          </a:p>
        </p:txBody>
      </p:sp>
      <p:sp>
        <p:nvSpPr>
          <p:cNvPr id="3" name="Content Placeholder 2">
            <a:extLst>
              <a:ext uri="{FF2B5EF4-FFF2-40B4-BE49-F238E27FC236}">
                <a16:creationId xmlns:a16="http://schemas.microsoft.com/office/drawing/2014/main" id="{E0A0A31D-7AE4-C32B-3DAC-2B5959A131EF}"/>
              </a:ext>
            </a:extLst>
          </p:cNvPr>
          <p:cNvSpPr>
            <a:spLocks noGrp="1"/>
          </p:cNvSpPr>
          <p:nvPr>
            <p:ph idx="1"/>
          </p:nvPr>
        </p:nvSpPr>
        <p:spPr/>
        <p:txBody>
          <a:bodyPr/>
          <a:lstStyle/>
          <a:p>
            <a:r>
              <a:rPr lang="en-IN" b="0" u="none" strike="noStrike" dirty="0">
                <a:effectLst/>
                <a:latin typeface="Google Sans"/>
              </a:rPr>
              <a:t>Modern Python applications primarily utilize </a:t>
            </a:r>
            <a:r>
              <a:rPr lang="en-IN" b="1" u="none" strike="noStrike" dirty="0">
                <a:effectLst/>
                <a:latin typeface="Google Sans"/>
              </a:rPr>
              <a:t>Formatted String Literals (f-strings)</a:t>
            </a:r>
            <a:r>
              <a:rPr lang="en-IN" b="0" u="none" strike="noStrike" dirty="0">
                <a:effectLst/>
                <a:latin typeface="Google Sans"/>
              </a:rPr>
              <a:t> for cleaner variable injections.</a:t>
            </a:r>
          </a:p>
          <a:p>
            <a:endParaRPr lang="en-US" dirty="0"/>
          </a:p>
        </p:txBody>
      </p:sp>
      <p:sp>
        <p:nvSpPr>
          <p:cNvPr id="5" name="TextBox 4">
            <a:extLst>
              <a:ext uri="{FF2B5EF4-FFF2-40B4-BE49-F238E27FC236}">
                <a16:creationId xmlns:a16="http://schemas.microsoft.com/office/drawing/2014/main" id="{A70ADE8C-509F-86AD-2B9F-708589CBC400}"/>
              </a:ext>
            </a:extLst>
          </p:cNvPr>
          <p:cNvSpPr txBox="1"/>
          <p:nvPr/>
        </p:nvSpPr>
        <p:spPr>
          <a:xfrm>
            <a:off x="510540" y="2953445"/>
            <a:ext cx="11170920" cy="3539430"/>
          </a:xfrm>
          <a:prstGeom prst="rect">
            <a:avLst/>
          </a:prstGeom>
          <a:noFill/>
        </p:spPr>
        <p:txBody>
          <a:bodyPr wrap="square">
            <a:spAutoFit/>
          </a:bodyPr>
          <a:lstStyle/>
          <a:p>
            <a:r>
              <a:rPr lang="en-US" sz="2800" dirty="0"/>
              <a:t>name = "Alice"</a:t>
            </a:r>
          </a:p>
          <a:p>
            <a:r>
              <a:rPr lang="en-US" sz="2800" dirty="0"/>
              <a:t>age = 30</a:t>
            </a:r>
          </a:p>
          <a:p>
            <a:endParaRPr lang="en-US" sz="2800" dirty="0"/>
          </a:p>
          <a:p>
            <a:r>
              <a:rPr lang="en-US" sz="2800" dirty="0"/>
              <a:t># Modern f-string approach</a:t>
            </a:r>
          </a:p>
          <a:p>
            <a:r>
              <a:rPr lang="en-US" sz="2800" dirty="0"/>
              <a:t>print(</a:t>
            </a:r>
            <a:r>
              <a:rPr lang="en-US" sz="2800" dirty="0" err="1"/>
              <a:t>f"Name</a:t>
            </a:r>
            <a:r>
              <a:rPr lang="en-US" sz="2800" dirty="0"/>
              <a:t>: {name}, Age: {age}")  # Output: Name: Alice, Age: 30</a:t>
            </a:r>
          </a:p>
          <a:p>
            <a:endParaRPr lang="en-US" sz="2800" dirty="0"/>
          </a:p>
          <a:p>
            <a:r>
              <a:rPr lang="en-US" sz="2800" dirty="0"/>
              <a:t># Legacy .format() method approach</a:t>
            </a:r>
          </a:p>
          <a:p>
            <a:r>
              <a:rPr lang="en-US" sz="2800" dirty="0"/>
              <a:t>print("Name: {}, Age: {}".format(name, age)) </a:t>
            </a:r>
          </a:p>
        </p:txBody>
      </p:sp>
    </p:spTree>
    <p:extLst>
      <p:ext uri="{BB962C8B-B14F-4D97-AF65-F5344CB8AC3E}">
        <p14:creationId xmlns:p14="http://schemas.microsoft.com/office/powerpoint/2010/main" val="413234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62CD-9220-4913-A96F-A586AB5BFD1C}"/>
              </a:ext>
            </a:extLst>
          </p:cNvPr>
          <p:cNvSpPr>
            <a:spLocks noGrp="1"/>
          </p:cNvSpPr>
          <p:nvPr>
            <p:ph type="title"/>
          </p:nvPr>
        </p:nvSpPr>
        <p:spPr/>
        <p:txBody>
          <a:bodyPr/>
          <a:lstStyle/>
          <a:p>
            <a:r>
              <a:rPr lang="en-IN" b="1" u="none" strike="noStrike" dirty="0">
                <a:effectLst/>
                <a:latin typeface="Google Sans"/>
              </a:rPr>
              <a:t>6. The str() Global Constructor Function</a:t>
            </a:r>
            <a:endParaRPr lang="en-US" dirty="0"/>
          </a:p>
        </p:txBody>
      </p:sp>
      <p:sp>
        <p:nvSpPr>
          <p:cNvPr id="3" name="Content Placeholder 2">
            <a:extLst>
              <a:ext uri="{FF2B5EF4-FFF2-40B4-BE49-F238E27FC236}">
                <a16:creationId xmlns:a16="http://schemas.microsoft.com/office/drawing/2014/main" id="{FA2F55C9-692E-53C6-FB02-3D86EB847F1A}"/>
              </a:ext>
            </a:extLst>
          </p:cNvPr>
          <p:cNvSpPr>
            <a:spLocks noGrp="1"/>
          </p:cNvSpPr>
          <p:nvPr>
            <p:ph idx="1"/>
          </p:nvPr>
        </p:nvSpPr>
        <p:spPr/>
        <p:txBody>
          <a:bodyPr/>
          <a:lstStyle/>
          <a:p>
            <a:r>
              <a:rPr lang="en-IN" b="0" u="none" strike="noStrike" dirty="0">
                <a:effectLst/>
                <a:latin typeface="Google Sans"/>
              </a:rPr>
              <a:t>The built-in global function str(object, encoding, errors) transforms non-string objects (like integers, floats, lists, or dictionary keys) into their readable text representations. </a:t>
            </a:r>
          </a:p>
          <a:p>
            <a:endParaRPr lang="en-US" dirty="0"/>
          </a:p>
        </p:txBody>
      </p:sp>
      <p:sp>
        <p:nvSpPr>
          <p:cNvPr id="5" name="TextBox 4">
            <a:extLst>
              <a:ext uri="{FF2B5EF4-FFF2-40B4-BE49-F238E27FC236}">
                <a16:creationId xmlns:a16="http://schemas.microsoft.com/office/drawing/2014/main" id="{3E6B4018-AD72-014A-6C78-2392935B75D1}"/>
              </a:ext>
            </a:extLst>
          </p:cNvPr>
          <p:cNvSpPr txBox="1"/>
          <p:nvPr/>
        </p:nvSpPr>
        <p:spPr>
          <a:xfrm>
            <a:off x="1196340" y="4001294"/>
            <a:ext cx="9799320" cy="1384995"/>
          </a:xfrm>
          <a:prstGeom prst="rect">
            <a:avLst/>
          </a:prstGeom>
          <a:noFill/>
        </p:spPr>
        <p:txBody>
          <a:bodyPr wrap="square">
            <a:spAutoFit/>
          </a:bodyPr>
          <a:lstStyle/>
          <a:p>
            <a:r>
              <a:rPr lang="en-US" sz="2800" dirty="0"/>
              <a:t>num = 456</a:t>
            </a:r>
          </a:p>
          <a:p>
            <a:r>
              <a:rPr lang="en-US" sz="2800" dirty="0"/>
              <a:t>converted = str(num)  # Converts integer 456 to string "456"</a:t>
            </a:r>
          </a:p>
          <a:p>
            <a:r>
              <a:rPr lang="en-US" sz="2800" dirty="0"/>
              <a:t>print(type(converted))  # Output: &lt;class 'str'&gt;</a:t>
            </a:r>
          </a:p>
        </p:txBody>
      </p:sp>
    </p:spTree>
    <p:extLst>
      <p:ext uri="{BB962C8B-B14F-4D97-AF65-F5344CB8AC3E}">
        <p14:creationId xmlns:p14="http://schemas.microsoft.com/office/powerpoint/2010/main" val="3624429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E606E-601B-5035-F539-3553BD57B07C}"/>
              </a:ext>
            </a:extLst>
          </p:cNvPr>
          <p:cNvSpPr>
            <a:spLocks noGrp="1"/>
          </p:cNvSpPr>
          <p:nvPr>
            <p:ph type="title"/>
          </p:nvPr>
        </p:nvSpPr>
        <p:spPr/>
        <p:txBody>
          <a:bodyPr/>
          <a:lstStyle/>
          <a:p>
            <a:r>
              <a:rPr lang="en-US" dirty="0"/>
              <a:t>Level-0</a:t>
            </a:r>
          </a:p>
        </p:txBody>
      </p:sp>
      <p:sp>
        <p:nvSpPr>
          <p:cNvPr id="3" name="Content Placeholder 2">
            <a:extLst>
              <a:ext uri="{FF2B5EF4-FFF2-40B4-BE49-F238E27FC236}">
                <a16:creationId xmlns:a16="http://schemas.microsoft.com/office/drawing/2014/main" id="{236CF30E-50C9-D170-5C08-834E9A28E1BA}"/>
              </a:ext>
            </a:extLst>
          </p:cNvPr>
          <p:cNvSpPr>
            <a:spLocks noGrp="1"/>
          </p:cNvSpPr>
          <p:nvPr>
            <p:ph idx="1"/>
          </p:nvPr>
        </p:nvSpPr>
        <p:spPr/>
        <p:txBody>
          <a:bodyPr>
            <a:normAutofit fontScale="92500" lnSpcReduction="10000"/>
          </a:bodyPr>
          <a:lstStyle/>
          <a:p>
            <a:r>
              <a:rPr lang="en-IN" b="1" u="none" strike="noStrike" dirty="0">
                <a:effectLst/>
                <a:latin typeface="Google Sans"/>
              </a:rPr>
              <a:t>Vowel and Consonant Counter</a:t>
            </a:r>
            <a:r>
              <a:rPr lang="en-IN" b="0" u="none" strike="noStrike" dirty="0">
                <a:effectLst/>
                <a:latin typeface="Google Sans"/>
              </a:rPr>
              <a:t>: Write a program to count the total number of vowels and consonants in a given sentence while ignoring digits and spaces. </a:t>
            </a:r>
          </a:p>
          <a:p>
            <a:r>
              <a:rPr lang="en-IN" b="1" u="none" strike="noStrike" dirty="0">
                <a:effectLst/>
                <a:latin typeface="Google Sans"/>
              </a:rPr>
              <a:t>Character Extraction</a:t>
            </a:r>
            <a:r>
              <a:rPr lang="en-IN" b="0" u="none" strike="noStrike" dirty="0">
                <a:effectLst/>
                <a:latin typeface="Google Sans"/>
              </a:rPr>
              <a:t>: Take an input string and generate a new string made exclusively of its first, middle, and last characters. </a:t>
            </a:r>
          </a:p>
          <a:p>
            <a:r>
              <a:rPr lang="en-IN" b="1" u="none" strike="noStrike" dirty="0">
                <a:effectLst/>
                <a:latin typeface="Google Sans"/>
              </a:rPr>
              <a:t>Case Toggler</a:t>
            </a:r>
            <a:r>
              <a:rPr lang="en-IN" b="0" u="none" strike="noStrike" dirty="0">
                <a:effectLst/>
                <a:latin typeface="Google Sans"/>
              </a:rPr>
              <a:t>: Iterate through a string and convert all lowercase characters to uppercase, and vice versa. </a:t>
            </a:r>
          </a:p>
          <a:p>
            <a:r>
              <a:rPr lang="en-IN" b="1" u="none" strike="noStrike" dirty="0">
                <a:effectLst/>
                <a:latin typeface="Google Sans"/>
              </a:rPr>
              <a:t>Character Search</a:t>
            </a:r>
            <a:r>
              <a:rPr lang="en-IN" b="0" u="none" strike="noStrike" dirty="0">
                <a:effectLst/>
                <a:latin typeface="Google Sans"/>
              </a:rPr>
              <a:t>: Given a string and a single target character, return the first index where the character appears, or -1 if it is not present. </a:t>
            </a:r>
          </a:p>
          <a:p>
            <a:r>
              <a:rPr lang="en-IN" b="1" u="none" strike="noStrike" dirty="0">
                <a:effectLst/>
                <a:latin typeface="Google Sans"/>
              </a:rPr>
              <a:t>Digit-Only Check</a:t>
            </a:r>
            <a:r>
              <a:rPr lang="en-IN" b="0" u="none" strike="noStrike" dirty="0">
                <a:effectLst/>
                <a:latin typeface="Google Sans"/>
              </a:rPr>
              <a:t>: Write a </a:t>
            </a:r>
            <a:r>
              <a:rPr lang="en-IN" b="0" u="none" strike="noStrike" dirty="0" err="1">
                <a:effectLst/>
                <a:latin typeface="Google Sans"/>
              </a:rPr>
              <a:t>boolean</a:t>
            </a:r>
            <a:r>
              <a:rPr lang="en-IN" b="0" u="none" strike="noStrike" dirty="0">
                <a:effectLst/>
                <a:latin typeface="Google Sans"/>
              </a:rPr>
              <a:t> function that verifies if a given string contains only numerical digits.</a:t>
            </a:r>
          </a:p>
          <a:p>
            <a:endParaRPr lang="en-US" dirty="0"/>
          </a:p>
        </p:txBody>
      </p:sp>
    </p:spTree>
    <p:extLst>
      <p:ext uri="{BB962C8B-B14F-4D97-AF65-F5344CB8AC3E}">
        <p14:creationId xmlns:p14="http://schemas.microsoft.com/office/powerpoint/2010/main" val="2089772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FA922-9AE3-D7C0-5025-D10E12BE634C}"/>
              </a:ext>
            </a:extLst>
          </p:cNvPr>
          <p:cNvSpPr>
            <a:spLocks noGrp="1"/>
          </p:cNvSpPr>
          <p:nvPr>
            <p:ph type="title"/>
          </p:nvPr>
        </p:nvSpPr>
        <p:spPr/>
        <p:txBody>
          <a:bodyPr/>
          <a:lstStyle/>
          <a:p>
            <a:r>
              <a:rPr lang="en-US" dirty="0"/>
              <a:t>Level-1</a:t>
            </a:r>
          </a:p>
        </p:txBody>
      </p:sp>
      <p:sp>
        <p:nvSpPr>
          <p:cNvPr id="3" name="Content Placeholder 2">
            <a:extLst>
              <a:ext uri="{FF2B5EF4-FFF2-40B4-BE49-F238E27FC236}">
                <a16:creationId xmlns:a16="http://schemas.microsoft.com/office/drawing/2014/main" id="{061B9678-1B25-589E-E65F-4EC5DB2D5071}"/>
              </a:ext>
            </a:extLst>
          </p:cNvPr>
          <p:cNvSpPr>
            <a:spLocks noGrp="1"/>
          </p:cNvSpPr>
          <p:nvPr>
            <p:ph idx="1"/>
          </p:nvPr>
        </p:nvSpPr>
        <p:spPr/>
        <p:txBody>
          <a:bodyPr>
            <a:normAutofit fontScale="92500" lnSpcReduction="20000"/>
          </a:bodyPr>
          <a:lstStyle/>
          <a:p>
            <a:r>
              <a:rPr lang="en-IN" b="1" u="none" strike="noStrike" dirty="0">
                <a:effectLst/>
                <a:latin typeface="Google Sans"/>
              </a:rPr>
              <a:t>String Reversal (In-Place)</a:t>
            </a:r>
            <a:r>
              <a:rPr lang="en-IN" b="0" u="none" strike="noStrike" dirty="0">
                <a:effectLst/>
                <a:latin typeface="Google Sans"/>
              </a:rPr>
              <a:t>: Reverse the sequence of characters in a string without utilizing an additional array or temporary string variable.</a:t>
            </a:r>
          </a:p>
          <a:p>
            <a:r>
              <a:rPr lang="en-IN" b="1" u="none" strike="noStrike" dirty="0">
                <a:effectLst/>
                <a:latin typeface="Google Sans"/>
              </a:rPr>
              <a:t>Word Reverser</a:t>
            </a:r>
            <a:r>
              <a:rPr lang="en-IN" b="0" u="none" strike="noStrike" dirty="0">
                <a:effectLst/>
                <a:latin typeface="Google Sans"/>
              </a:rPr>
              <a:t>: Reverse the order of words in a sentence while keeping the characters within the individual words in their original order.</a:t>
            </a:r>
          </a:p>
          <a:p>
            <a:r>
              <a:rPr lang="en-IN" b="1" u="none" strike="noStrike" dirty="0">
                <a:effectLst/>
                <a:latin typeface="Google Sans"/>
              </a:rPr>
              <a:t>First Non-Repeating Character</a:t>
            </a:r>
            <a:r>
              <a:rPr lang="en-IN" b="0" u="none" strike="noStrike" dirty="0">
                <a:effectLst/>
                <a:latin typeface="Google Sans"/>
              </a:rPr>
              <a:t>: Scan a string and find the very first character that does not repeat anywhere else in the sequence.</a:t>
            </a:r>
          </a:p>
          <a:p>
            <a:r>
              <a:rPr lang="en-IN" b="1" u="none" strike="noStrike" dirty="0">
                <a:effectLst/>
                <a:latin typeface="Google Sans"/>
              </a:rPr>
              <a:t>Anagram Validator</a:t>
            </a:r>
            <a:r>
              <a:rPr lang="en-IN" b="0" u="none" strike="noStrike" dirty="0">
                <a:effectLst/>
                <a:latin typeface="Google Sans"/>
              </a:rPr>
              <a:t>: Take two strings and determine if they are anagrams of each other (meaning they contain identical character counts in a different order).</a:t>
            </a:r>
          </a:p>
          <a:p>
            <a:r>
              <a:rPr lang="en-IN" b="1" u="none" strike="noStrike" dirty="0">
                <a:effectLst/>
                <a:latin typeface="Google Sans"/>
              </a:rPr>
              <a:t>Palindrome Checker</a:t>
            </a:r>
            <a:r>
              <a:rPr lang="en-IN" b="0" u="none" strike="noStrike" dirty="0">
                <a:effectLst/>
                <a:latin typeface="Google Sans"/>
              </a:rPr>
              <a:t>: Check if a string reads the exact same forward and backward, ignoring case differences and punctuation.</a:t>
            </a:r>
          </a:p>
          <a:p>
            <a:r>
              <a:rPr lang="en-IN" b="1" u="none" strike="noStrike" dirty="0">
                <a:effectLst/>
                <a:latin typeface="Google Sans"/>
              </a:rPr>
              <a:t>Character Frequency Map</a:t>
            </a:r>
            <a:r>
              <a:rPr lang="en-IN" b="0" u="none" strike="noStrike" dirty="0">
                <a:effectLst/>
                <a:latin typeface="Google Sans"/>
              </a:rPr>
              <a:t>: Create a function that tallies and prints the occurrence count of every distinct alphabet character inside a string.</a:t>
            </a:r>
          </a:p>
          <a:p>
            <a:endParaRPr lang="en-US" dirty="0"/>
          </a:p>
        </p:txBody>
      </p:sp>
    </p:spTree>
    <p:extLst>
      <p:ext uri="{BB962C8B-B14F-4D97-AF65-F5344CB8AC3E}">
        <p14:creationId xmlns:p14="http://schemas.microsoft.com/office/powerpoint/2010/main" val="381885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6BA7-D013-AFBD-0D45-0DDBAA2FBB77}"/>
              </a:ext>
            </a:extLst>
          </p:cNvPr>
          <p:cNvSpPr>
            <a:spLocks noGrp="1"/>
          </p:cNvSpPr>
          <p:nvPr>
            <p:ph type="title"/>
          </p:nvPr>
        </p:nvSpPr>
        <p:spPr/>
        <p:txBody>
          <a:bodyPr/>
          <a:lstStyle/>
          <a:p>
            <a:r>
              <a:rPr lang="en-US" dirty="0"/>
              <a:t>Level-2 (Advance)</a:t>
            </a:r>
          </a:p>
        </p:txBody>
      </p:sp>
      <p:sp>
        <p:nvSpPr>
          <p:cNvPr id="3" name="Content Placeholder 2">
            <a:extLst>
              <a:ext uri="{FF2B5EF4-FFF2-40B4-BE49-F238E27FC236}">
                <a16:creationId xmlns:a16="http://schemas.microsoft.com/office/drawing/2014/main" id="{9E047D15-D2B4-C3E5-2F4F-8DE4DF59BB83}"/>
              </a:ext>
            </a:extLst>
          </p:cNvPr>
          <p:cNvSpPr>
            <a:spLocks noGrp="1"/>
          </p:cNvSpPr>
          <p:nvPr>
            <p:ph idx="1"/>
          </p:nvPr>
        </p:nvSpPr>
        <p:spPr/>
        <p:txBody>
          <a:bodyPr>
            <a:normAutofit fontScale="85000" lnSpcReduction="20000"/>
          </a:bodyPr>
          <a:lstStyle/>
          <a:p>
            <a:r>
              <a:rPr lang="en-IN" i="1">
                <a:latin typeface="Google Sans"/>
              </a:rPr>
              <a:t>Based on</a:t>
            </a:r>
            <a:r>
              <a:rPr lang="en-IN" b="0" i="1" u="none" strike="noStrike">
                <a:effectLst/>
                <a:latin typeface="Google Sans"/>
              </a:rPr>
              <a:t>: </a:t>
            </a:r>
            <a:r>
              <a:rPr lang="en-IN" b="0" i="1" u="none" strike="noStrike" dirty="0">
                <a:effectLst/>
                <a:latin typeface="Google Sans"/>
              </a:rPr>
              <a:t>Dynamic programming, pattern matching, and complex parsing constraints.</a:t>
            </a:r>
            <a:endParaRPr lang="en-IN" b="0" u="none" strike="noStrike" dirty="0">
              <a:effectLst/>
              <a:latin typeface="Google Sans"/>
            </a:endParaRPr>
          </a:p>
          <a:p>
            <a:r>
              <a:rPr lang="en-IN" b="1" u="none" strike="noStrike" dirty="0">
                <a:effectLst/>
                <a:latin typeface="Google Sans"/>
              </a:rPr>
              <a:t>Longest Unique Substring</a:t>
            </a:r>
            <a:r>
              <a:rPr lang="en-IN" b="0" u="none" strike="noStrike" dirty="0">
                <a:effectLst/>
                <a:latin typeface="Google Sans"/>
              </a:rPr>
              <a:t>: Find the length of the longest continuous substring that contains no repeating characters.</a:t>
            </a:r>
          </a:p>
          <a:p>
            <a:r>
              <a:rPr lang="en-IN" b="1" u="none" strike="noStrike" dirty="0">
                <a:effectLst/>
                <a:latin typeface="Google Sans"/>
              </a:rPr>
              <a:t>String Rotation Check</a:t>
            </a:r>
            <a:r>
              <a:rPr lang="en-IN" b="0" u="none" strike="noStrike" dirty="0">
                <a:effectLst/>
                <a:latin typeface="Google Sans"/>
              </a:rPr>
              <a:t>: Given two strings, write a program to verify if one string is a valid rotation of the other (e.g., "clear" and "</a:t>
            </a:r>
            <a:r>
              <a:rPr lang="en-IN" b="0" u="none" strike="noStrike" dirty="0" err="1">
                <a:effectLst/>
                <a:latin typeface="Google Sans"/>
              </a:rPr>
              <a:t>earcl</a:t>
            </a:r>
            <a:r>
              <a:rPr lang="en-IN" b="0" u="none" strike="noStrike" dirty="0">
                <a:effectLst/>
                <a:latin typeface="Google Sans"/>
              </a:rPr>
              <a:t>"). </a:t>
            </a:r>
          </a:p>
          <a:p>
            <a:r>
              <a:rPr lang="en-IN" b="1" u="none" strike="noStrike" dirty="0">
                <a:effectLst/>
                <a:latin typeface="Google Sans"/>
              </a:rPr>
              <a:t>Valid Parentheses</a:t>
            </a:r>
            <a:r>
              <a:rPr lang="en-IN" b="0" u="none" strike="noStrike" dirty="0">
                <a:effectLst/>
                <a:latin typeface="Google Sans"/>
              </a:rPr>
              <a:t>: Use a stack tracking mechanism to confirm if a string containing brackets ((), [], {}) opens and closes in the correct, balanced order.</a:t>
            </a:r>
          </a:p>
          <a:p>
            <a:r>
              <a:rPr lang="en-IN" b="1" u="none" strike="noStrike" dirty="0">
                <a:effectLst/>
                <a:latin typeface="Google Sans"/>
              </a:rPr>
              <a:t>Run-Length Encoding (RLE)</a:t>
            </a:r>
            <a:r>
              <a:rPr lang="en-IN" b="0" u="none" strike="noStrike" dirty="0">
                <a:effectLst/>
                <a:latin typeface="Google Sans"/>
              </a:rPr>
              <a:t>: Implement a basic data compression algorithm that converts a string like "AAABBC" into its compressed structural summary, "A3B2C1". </a:t>
            </a:r>
          </a:p>
          <a:p>
            <a:r>
              <a:rPr lang="en-IN" b="1" u="none" strike="noStrike" dirty="0">
                <a:effectLst/>
                <a:latin typeface="Google Sans"/>
              </a:rPr>
              <a:t>String-to-Integer (</a:t>
            </a:r>
            <a:r>
              <a:rPr lang="en-IN" b="1" u="none" strike="noStrike" dirty="0" err="1">
                <a:effectLst/>
                <a:latin typeface="Courier New" panose="02070309020205020404" pitchFamily="49" charset="0"/>
              </a:rPr>
              <a:t>atoi</a:t>
            </a:r>
            <a:r>
              <a:rPr lang="en-IN" b="1" u="none" strike="noStrike" dirty="0">
                <a:effectLst/>
                <a:latin typeface="Google Sans"/>
              </a:rPr>
              <a:t>)</a:t>
            </a:r>
            <a:r>
              <a:rPr lang="en-IN" b="0" u="none" strike="noStrike" dirty="0">
                <a:effectLst/>
                <a:latin typeface="Google Sans"/>
              </a:rPr>
              <a:t>: Manually implement the conversion of a numeric text string into an actual integer variable, managing edge cases like negative signs, leading whitespaces, and overflow errors. </a:t>
            </a:r>
          </a:p>
          <a:p>
            <a:endParaRPr lang="en-US" dirty="0"/>
          </a:p>
        </p:txBody>
      </p:sp>
    </p:spTree>
    <p:extLst>
      <p:ext uri="{BB962C8B-B14F-4D97-AF65-F5344CB8AC3E}">
        <p14:creationId xmlns:p14="http://schemas.microsoft.com/office/powerpoint/2010/main" val="3957230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2350</TotalTime>
  <Words>1437</Words>
  <Application>Microsoft Macintosh PowerPoint</Application>
  <PresentationFormat>Widescreen</PresentationFormat>
  <Paragraphs>143</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Courier New</vt:lpstr>
      <vt:lpstr>Google Sans</vt:lpstr>
      <vt:lpstr>Office Theme</vt:lpstr>
      <vt:lpstr>PythonDS-08 String in Python</vt:lpstr>
      <vt:lpstr>String in python</vt:lpstr>
      <vt:lpstr>PowerPoint Presentation</vt:lpstr>
      <vt:lpstr>1. Creating Strings</vt:lpstr>
      <vt:lpstr>Multiline Strings (Triple Quotes)</vt:lpstr>
      <vt:lpstr>Special Prefix Strings</vt:lpstr>
      <vt:lpstr>PowerPoint Presentation</vt:lpstr>
      <vt:lpstr>PowerPoint Presentation</vt:lpstr>
      <vt:lpstr>2. Core Concepts: Indexing and Slicing</vt:lpstr>
      <vt:lpstr>PowerPoint Presentation</vt:lpstr>
      <vt:lpstr>3. Structural Immutability</vt:lpstr>
      <vt:lpstr>4. Essential Built-in String Methods</vt:lpstr>
      <vt:lpstr>PowerPoint Presentation</vt:lpstr>
      <vt:lpstr>5. String Formatting</vt:lpstr>
      <vt:lpstr>6. The str() Global Constructor Function</vt:lpstr>
      <vt:lpstr>Level-0</vt:lpstr>
      <vt:lpstr>Level-1</vt:lpstr>
      <vt:lpstr>Level-2 (Advance)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145</cp:revision>
  <dcterms:created xsi:type="dcterms:W3CDTF">2026-01-15T04:12:31Z</dcterms:created>
  <dcterms:modified xsi:type="dcterms:W3CDTF">2026-08-19T06:49:05Z</dcterms:modified>
</cp:coreProperties>
</file>