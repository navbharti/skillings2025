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85" r:id="rId9"/>
    <p:sldId id="286" r:id="rId10"/>
    <p:sldId id="287" r:id="rId11"/>
    <p:sldId id="26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8" r:id="rId34"/>
    <p:sldId id="289" r:id="rId35"/>
    <p:sldId id="291" r:id="rId36"/>
    <p:sldId id="290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476"/>
  </p:normalViewPr>
  <p:slideViewPr>
    <p:cSldViewPr snapToGrid="0">
      <p:cViewPr>
        <p:scale>
          <a:sx n="73" d="100"/>
          <a:sy n="73" d="100"/>
        </p:scale>
        <p:origin x="133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introduction-to-dynamic-programming-data-structures-and-algorithm-tutorial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DSA-21: Introduction to Dynamic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8A23-1758-5E14-0AAB-12BDCD71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1F6A-43DC-62E4-A335-E84B1A8DC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programming (</a:t>
            </a:r>
            <a:r>
              <a:rPr lang="en-US" b="1" dirty="0"/>
              <a:t>DP</a:t>
            </a:r>
            <a:r>
              <a:rPr lang="en-US" dirty="0"/>
              <a:t>) is an algorithmic technique that solves </a:t>
            </a:r>
            <a:r>
              <a:rPr lang="en-US" b="1" dirty="0"/>
              <a:t>complex problems</a:t>
            </a:r>
            <a:r>
              <a:rPr lang="en-US" dirty="0"/>
              <a:t> by breaking them into </a:t>
            </a:r>
            <a:r>
              <a:rPr lang="en-US" b="1" dirty="0"/>
              <a:t>smaller</a:t>
            </a:r>
            <a:r>
              <a:rPr lang="en-US" dirty="0"/>
              <a:t>, </a:t>
            </a:r>
            <a:r>
              <a:rPr lang="en-US" b="1" dirty="0"/>
              <a:t>overlapping subproblems</a:t>
            </a:r>
            <a:r>
              <a:rPr lang="en-US" dirty="0"/>
              <a:t> and storing the results (</a:t>
            </a:r>
            <a:r>
              <a:rPr lang="en-US" b="1" dirty="0" err="1"/>
              <a:t>memoization</a:t>
            </a:r>
            <a:r>
              <a:rPr lang="en-US" dirty="0"/>
              <a:t>) to </a:t>
            </a:r>
            <a:r>
              <a:rPr lang="en-US" b="1" dirty="0"/>
              <a:t>avoid redundant computations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It </a:t>
            </a:r>
            <a:r>
              <a:rPr lang="en-US" b="1" dirty="0"/>
              <a:t>optimizes recursive</a:t>
            </a:r>
            <a:r>
              <a:rPr lang="en-US" dirty="0"/>
              <a:t> solutions from exponential to polynomial time complexity. </a:t>
            </a:r>
          </a:p>
          <a:p>
            <a:r>
              <a:rPr lang="en-US" dirty="0"/>
              <a:t>Key applications include </a:t>
            </a:r>
            <a:r>
              <a:rPr lang="en-US" b="1" dirty="0"/>
              <a:t>Fibonacci numbers</a:t>
            </a:r>
            <a:r>
              <a:rPr lang="en-US" dirty="0"/>
              <a:t>, </a:t>
            </a:r>
            <a:r>
              <a:rPr lang="en-US" b="1" dirty="0"/>
              <a:t>shortest path algorithms (Bellman-Ford, Floyd-</a:t>
            </a:r>
            <a:r>
              <a:rPr lang="en-US" b="1" dirty="0" err="1"/>
              <a:t>Warshall</a:t>
            </a:r>
            <a:r>
              <a:rPr lang="en-US" b="1" dirty="0"/>
              <a:t>)</a:t>
            </a:r>
            <a:r>
              <a:rPr lang="en-US" dirty="0"/>
              <a:t>, and edit distance.</a:t>
            </a:r>
          </a:p>
        </p:txBody>
      </p:sp>
    </p:spTree>
    <p:extLst>
      <p:ext uri="{BB962C8B-B14F-4D97-AF65-F5344CB8AC3E}">
        <p14:creationId xmlns:p14="http://schemas.microsoft.com/office/powerpoint/2010/main" val="221453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75E3-3D35-DD41-8164-E5DCCFCC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57AF1-DB85-2579-AA85-F8D34CCD5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The essence of dynamic programming is to avoid repeated calculation.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Often, dynamic programming problems are naturally solvable by recursion. In such cases, it's easiest to write the recursive solution, then save repeated states in a lookup table.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This process is known as </a:t>
            </a:r>
            <a:r>
              <a:rPr lang="en-IN" b="1" i="0" dirty="0">
                <a:effectLst/>
                <a:latin typeface="Roboto" panose="02000000000000000000" pitchFamily="2" charset="0"/>
              </a:rPr>
              <a:t>top-down dynamic programming with </a:t>
            </a:r>
            <a:r>
              <a:rPr lang="en-IN" b="1" i="0" dirty="0" err="1">
                <a:effectLst/>
                <a:latin typeface="Roboto" panose="02000000000000000000" pitchFamily="2" charset="0"/>
              </a:rPr>
              <a:t>memoization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. That's read "</a:t>
            </a:r>
            <a:r>
              <a:rPr lang="en-IN" b="1" i="0" dirty="0" err="1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memoisation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" (like we are writing in a memo pad) not </a:t>
            </a:r>
            <a: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memorization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One of the most basic, classic examples of this process is the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fibonacci</a:t>
            </a:r>
            <a:r>
              <a:rPr lang="en-IN" b="0" i="0" dirty="0">
                <a:effectLst/>
                <a:latin typeface="Roboto" panose="02000000000000000000" pitchFamily="2" charset="0"/>
              </a:rPr>
              <a:t> sequence. Its recursive formulation is  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f(n) = f(n-1) + f(n-2)  where  n &gt;= 2  and  f(0)=0  and  f(1)=1.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Program would be expressed as:</a:t>
            </a:r>
          </a:p>
          <a:p>
            <a:pPr algn="l"/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int</a:t>
            </a:r>
            <a:r>
              <a:rPr lang="en-IN" b="0" i="0" dirty="0"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A846B9"/>
                </a:solidFill>
                <a:effectLst/>
                <a:latin typeface="Roboto" panose="02000000000000000000" pitchFamily="2" charset="0"/>
              </a:rPr>
              <a:t>f</a:t>
            </a:r>
            <a:r>
              <a:rPr lang="en-IN" b="0" i="0" dirty="0">
                <a:effectLst/>
                <a:latin typeface="Roboto" panose="02000000000000000000" pitchFamily="2" charset="0"/>
              </a:rPr>
              <a:t>(</a:t>
            </a:r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int</a:t>
            </a:r>
            <a:r>
              <a:rPr lang="en-IN" b="0" i="0" dirty="0"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n</a:t>
            </a:r>
            <a:r>
              <a:rPr lang="en-IN" b="0" i="0" dirty="0">
                <a:effectLst/>
                <a:latin typeface="Roboto" panose="02000000000000000000" pitchFamily="2" charset="0"/>
              </a:rPr>
              <a:t>) { </a:t>
            </a:r>
          </a:p>
          <a:p>
            <a:pPr algn="l"/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if</a:t>
            </a:r>
            <a:r>
              <a:rPr lang="en-IN" b="0" i="0" dirty="0">
                <a:effectLst/>
                <a:latin typeface="Roboto" panose="02000000000000000000" pitchFamily="2" charset="0"/>
              </a:rPr>
              <a:t> (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n</a:t>
            </a:r>
            <a:r>
              <a:rPr lang="en-IN" b="0" i="0" dirty="0">
                <a:effectLst/>
                <a:latin typeface="Roboto" panose="02000000000000000000" pitchFamily="2" charset="0"/>
              </a:rPr>
              <a:t> ==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0</a:t>
            </a:r>
            <a:r>
              <a:rPr lang="en-IN" b="0" i="0" dirty="0">
                <a:effectLst/>
                <a:latin typeface="Roboto" panose="02000000000000000000" pitchFamily="2" charset="0"/>
              </a:rPr>
              <a:t>) </a:t>
            </a:r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return</a:t>
            </a:r>
            <a:r>
              <a:rPr lang="en-IN" b="0" i="0" dirty="0"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0</a:t>
            </a:r>
            <a:r>
              <a:rPr lang="en-IN" b="0" i="0" dirty="0">
                <a:effectLst/>
                <a:latin typeface="Roboto" panose="02000000000000000000" pitchFamily="2" charset="0"/>
              </a:rPr>
              <a:t>; </a:t>
            </a:r>
          </a:p>
          <a:p>
            <a:pPr algn="l"/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if</a:t>
            </a:r>
            <a:r>
              <a:rPr lang="en-IN" b="0" i="0" dirty="0">
                <a:effectLst/>
                <a:latin typeface="Roboto" panose="02000000000000000000" pitchFamily="2" charset="0"/>
              </a:rPr>
              <a:t> (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n</a:t>
            </a:r>
            <a:r>
              <a:rPr lang="en-IN" b="0" i="0" dirty="0">
                <a:effectLst/>
                <a:latin typeface="Roboto" panose="02000000000000000000" pitchFamily="2" charset="0"/>
              </a:rPr>
              <a:t> ==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1</a:t>
            </a:r>
            <a:r>
              <a:rPr lang="en-IN" b="0" i="0" dirty="0">
                <a:effectLst/>
                <a:latin typeface="Roboto" panose="02000000000000000000" pitchFamily="2" charset="0"/>
              </a:rPr>
              <a:t>) </a:t>
            </a:r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return</a:t>
            </a:r>
            <a:r>
              <a:rPr lang="en-IN" b="0" i="0" dirty="0"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1</a:t>
            </a:r>
            <a:r>
              <a:rPr lang="en-IN" b="0" i="0" dirty="0">
                <a:effectLst/>
                <a:latin typeface="Roboto" panose="02000000000000000000" pitchFamily="2" charset="0"/>
              </a:rPr>
              <a:t>; </a:t>
            </a:r>
          </a:p>
          <a:p>
            <a:pPr algn="l"/>
            <a:r>
              <a:rPr lang="en-IN" b="0" i="0" dirty="0">
                <a:solidFill>
                  <a:srgbClr val="3F6EC6"/>
                </a:solidFill>
                <a:effectLst/>
                <a:latin typeface="Roboto" panose="02000000000000000000" pitchFamily="2" charset="0"/>
              </a:rPr>
              <a:t>return</a:t>
            </a:r>
            <a:r>
              <a:rPr lang="en-IN" b="0" i="0" dirty="0"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f</a:t>
            </a:r>
            <a:r>
              <a:rPr lang="en-IN" b="0" i="0" dirty="0">
                <a:effectLst/>
                <a:latin typeface="Roboto" panose="02000000000000000000" pitchFamily="2" charset="0"/>
              </a:rPr>
              <a:t>(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n</a:t>
            </a:r>
            <a:r>
              <a:rPr lang="en-IN" b="0" i="0" dirty="0">
                <a:effectLst/>
                <a:latin typeface="Roboto" panose="02000000000000000000" pitchFamily="2" charset="0"/>
              </a:rPr>
              <a:t> -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1</a:t>
            </a:r>
            <a:r>
              <a:rPr lang="en-IN" b="0" i="0" dirty="0">
                <a:effectLst/>
                <a:latin typeface="Roboto" panose="02000000000000000000" pitchFamily="2" charset="0"/>
              </a:rPr>
              <a:t>) + 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f</a:t>
            </a:r>
            <a:r>
              <a:rPr lang="en-IN" b="0" i="0" dirty="0">
                <a:effectLst/>
                <a:latin typeface="Roboto" panose="02000000000000000000" pitchFamily="2" charset="0"/>
              </a:rPr>
              <a:t>(</a:t>
            </a:r>
            <a:r>
              <a:rPr lang="en-IN" b="0" i="0" dirty="0">
                <a:solidFill>
                  <a:srgbClr val="36464E"/>
                </a:solidFill>
                <a:effectLst/>
                <a:latin typeface="Roboto" panose="02000000000000000000" pitchFamily="2" charset="0"/>
              </a:rPr>
              <a:t>n</a:t>
            </a:r>
            <a:r>
              <a:rPr lang="en-IN" b="0" i="0" dirty="0">
                <a:effectLst/>
                <a:latin typeface="Roboto" panose="02000000000000000000" pitchFamily="2" charset="0"/>
              </a:rPr>
              <a:t> - </a:t>
            </a:r>
            <a:r>
              <a:rPr lang="en-IN" b="0" i="0" dirty="0">
                <a:solidFill>
                  <a:srgbClr val="D52A2A"/>
                </a:solidFill>
                <a:effectLst/>
                <a:latin typeface="Roboto" panose="02000000000000000000" pitchFamily="2" charset="0"/>
              </a:rPr>
              <a:t>2</a:t>
            </a:r>
            <a:r>
              <a:rPr lang="en-IN" b="0" i="0" dirty="0">
                <a:effectLst/>
                <a:latin typeface="Roboto" panose="02000000000000000000" pitchFamily="2" charset="0"/>
              </a:rPr>
              <a:t>);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6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2C53-9CAF-D032-47F9-B45C6A15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5838-303A-BF87-7F7C-FD16085C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The runtime of this recursive function is </a:t>
            </a:r>
            <a:r>
              <a:rPr lang="en-IN" b="1" i="0" dirty="0">
                <a:effectLst/>
                <a:latin typeface="Roboto" panose="02000000000000000000" pitchFamily="2" charset="0"/>
              </a:rPr>
              <a:t>exponential</a:t>
            </a:r>
            <a:r>
              <a:rPr lang="en-IN" b="0" i="0" dirty="0">
                <a:effectLst/>
                <a:latin typeface="Roboto" panose="02000000000000000000" pitchFamily="2" charset="0"/>
              </a:rPr>
              <a:t> - approximately  O(2^n)  since one function call (  f(n)  ) results in 2 similarly sized function calls ( f(n-1)  and  f(n-2)s  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39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1AFE-6C92-257A-3C84-A0A1B22C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928E4-DD4C-867D-7A86-5700B0704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Overlapping Subproblems</a:t>
            </a:r>
            <a:r>
              <a:rPr lang="en-US" dirty="0"/>
              <a:t>: DP is used when a recursive algorithm revisits the same subproblems repeatedly.</a:t>
            </a:r>
          </a:p>
          <a:p>
            <a:endParaRPr lang="en-US" dirty="0"/>
          </a:p>
          <a:p>
            <a:r>
              <a:rPr lang="en-US" b="1" dirty="0"/>
              <a:t>Optimal Substructure</a:t>
            </a:r>
            <a:r>
              <a:rPr lang="en-US" dirty="0"/>
              <a:t>: A problem has optimal substructure if an optimal solution to the entire problem can be constructed from optimal solutions to its subproblems.</a:t>
            </a:r>
          </a:p>
          <a:p>
            <a:endParaRPr lang="en-US" dirty="0"/>
          </a:p>
          <a:p>
            <a:r>
              <a:rPr lang="en-US" b="1" dirty="0" err="1"/>
              <a:t>Memoization</a:t>
            </a:r>
            <a:r>
              <a:rPr lang="en-US" b="1" dirty="0"/>
              <a:t>/Tabulation</a:t>
            </a:r>
            <a:r>
              <a:rPr lang="en-US" dirty="0"/>
              <a:t>: Storing the results of solved subproblems to avoid re-computation. </a:t>
            </a:r>
          </a:p>
        </p:txBody>
      </p:sp>
    </p:spTree>
    <p:extLst>
      <p:ext uri="{BB962C8B-B14F-4D97-AF65-F5344CB8AC3E}">
        <p14:creationId xmlns:p14="http://schemas.microsoft.com/office/powerpoint/2010/main" val="312385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F1E1-435F-730D-E837-843EBCE6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E0B7-580A-92D3-26DF-6AC1E35C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Top-down (</a:t>
            </a:r>
            <a:r>
              <a:rPr lang="en-US" b="1" dirty="0" err="1"/>
              <a:t>Memoization</a:t>
            </a:r>
            <a:r>
              <a:rPr lang="en-US" b="1" dirty="0"/>
              <a:t>)</a:t>
            </a:r>
            <a:r>
              <a:rPr lang="en-US" dirty="0"/>
              <a:t>: Start with the original problem and recursively break it down. If a subproblem is solved, store it; if needed again, return the cached result.</a:t>
            </a:r>
          </a:p>
          <a:p>
            <a:endParaRPr lang="en-US" dirty="0"/>
          </a:p>
          <a:p>
            <a:r>
              <a:rPr lang="en-US" b="1" dirty="0"/>
              <a:t>Bottom-up (Tabulation)</a:t>
            </a:r>
            <a:r>
              <a:rPr lang="en-US" dirty="0"/>
              <a:t>: Start from the smallest subproblems (base cases) and fill a table iteratively to compute larger solutions. </a:t>
            </a:r>
          </a:p>
        </p:txBody>
      </p:sp>
    </p:spTree>
    <p:extLst>
      <p:ext uri="{BB962C8B-B14F-4D97-AF65-F5344CB8AC3E}">
        <p14:creationId xmlns:p14="http://schemas.microsoft.com/office/powerpoint/2010/main" val="185124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A635-6A82-3D55-96A6-023AFAE6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DP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CE58-B35F-D6B9-886A-67B0A274B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Fibonacci Numbers</a:t>
            </a:r>
            <a:r>
              <a:rPr lang="en-US" dirty="0"/>
              <a:t>: F(n) = F(n-1) + F(n-2)</a:t>
            </a:r>
          </a:p>
          <a:p>
            <a:endParaRPr lang="en-US" dirty="0"/>
          </a:p>
          <a:p>
            <a:r>
              <a:rPr lang="en-US" b="1" dirty="0"/>
              <a:t>Longest Common Subsequence</a:t>
            </a:r>
            <a:r>
              <a:rPr lang="en-US" dirty="0"/>
              <a:t>: Finding the longest subsequence common to two sequences.</a:t>
            </a:r>
          </a:p>
          <a:p>
            <a:endParaRPr lang="en-US" dirty="0"/>
          </a:p>
          <a:p>
            <a:r>
              <a:rPr lang="en-US" b="1" dirty="0"/>
              <a:t>0/1 Knapsack Problem</a:t>
            </a:r>
            <a:r>
              <a:rPr lang="en-US" dirty="0"/>
              <a:t>: Selecting items to maximize value within a weight limit.</a:t>
            </a:r>
          </a:p>
          <a:p>
            <a:endParaRPr lang="en-US" dirty="0"/>
          </a:p>
          <a:p>
            <a:r>
              <a:rPr lang="en-US" b="1" dirty="0"/>
              <a:t>Shortest Paths</a:t>
            </a:r>
            <a:r>
              <a:rPr lang="en-US" dirty="0"/>
              <a:t>: Algorithms like Bellman-Ford or Floyd-</a:t>
            </a:r>
            <a:r>
              <a:rPr lang="en-US" dirty="0" err="1"/>
              <a:t>Warshall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7839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E279-AA91-F24B-1881-3EEE1A52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Tabulation and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memoization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D9E32-C783-73FC-3979-AE48DFAE4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Tabulation and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memoization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are two techniques used to implement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dynamic programming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Both techniques are used when there are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overlapping subproblems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(the same subproblem is executed multiple times). Below is an overview of two approaches.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76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D5CA-0EA9-023A-8E06-9130B0A6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Memoization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9557-8EEF-1172-299F-70B915B07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Top-down approach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Stores the results of function calls in a table.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Recursive implementation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Entries are filled when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0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60DA-C06B-DB94-D4A4-4D4E8B0E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>
                <a:solidFill>
                  <a:srgbClr val="273239"/>
                </a:solidFill>
                <a:effectLst/>
                <a:latin typeface="Nunito" pitchFamily="2" charset="77"/>
              </a:rPr>
              <a:t>Tabulation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AA2A-E4AA-58C2-ED37-8311E1C6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Bottom-up approach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Stores the results of subproblems in a table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Iterative implementation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Entries are filled in a bottom-up manner from the smallest size to the final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7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FF76-61E8-4FD5-E9B9-E853F007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Speeding up Fibonacci with Dynamic Programming (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73A8-36AA-1B20-0853-5F1187074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Our recursive function currently solves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fibonacci</a:t>
            </a:r>
            <a:r>
              <a:rPr lang="en-IN" b="0" i="0" dirty="0">
                <a:effectLst/>
                <a:latin typeface="Roboto" panose="02000000000000000000" pitchFamily="2" charset="0"/>
              </a:rPr>
              <a:t> in exponential time. This means that we can only handle small input values before the problem becomes too difficult.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For instance,  f(29)  results in </a:t>
            </a:r>
            <a:r>
              <a:rPr lang="en-IN" b="0" i="1" dirty="0">
                <a:effectLst/>
                <a:latin typeface="Roboto" panose="02000000000000000000" pitchFamily="2" charset="0"/>
              </a:rPr>
              <a:t>over 1 million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 function calls!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To increase the speed, we recognize that the number of subproblems is only  O(n) .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That is, in order to calculate  f(n) we only need to know  f(n-1), f(n-2), . . ., f(0) . Therefore, instead of recalculating these subproblems, we solve them once and then save the result in a lookup table. Subsequent calls will use this lookup table and immediately return a result, thus eliminating exponential work!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23A3-7D9B-B70A-5FAF-299F4CF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5F772-6D6F-8D00-0EB5-5A4C11FB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Each recursive call will check against a lookup table to see if the value has been calculated.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This is done in  O(1)  time. If we have previously calculated it, return the result, otherwise, we calculate the function normally.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The overall runtime is  O(n) . This is an enormous improvement over our previous exponential time algorithm!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9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FFD5-7027-3B63-3506-2E4F030F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84D6A-5F1E-3009-93FE-B27E9C7B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const int MAXN = 100;</a:t>
            </a:r>
          </a:p>
          <a:p>
            <a:r>
              <a:rPr lang="en-US" dirty="0"/>
              <a:t>bool found[MAXN];</a:t>
            </a:r>
          </a:p>
          <a:p>
            <a:r>
              <a:rPr lang="en-US" dirty="0"/>
              <a:t>int memo[MAXN];</a:t>
            </a:r>
          </a:p>
          <a:p>
            <a:endParaRPr lang="en-US" dirty="0"/>
          </a:p>
          <a:p>
            <a:r>
              <a:rPr lang="en-US" dirty="0"/>
              <a:t>int f(int n) {</a:t>
            </a:r>
          </a:p>
          <a:p>
            <a:r>
              <a:rPr lang="en-US" dirty="0"/>
              <a:t>    if (found[n]) return memo[n];</a:t>
            </a:r>
          </a:p>
          <a:p>
            <a:r>
              <a:rPr lang="en-US" dirty="0"/>
              <a:t>    if (n == 0) return 0;</a:t>
            </a:r>
          </a:p>
          <a:p>
            <a:r>
              <a:rPr lang="en-US" dirty="0"/>
              <a:t>    if (n == 1) return 1;</a:t>
            </a:r>
          </a:p>
          <a:p>
            <a:endParaRPr lang="en-US" dirty="0"/>
          </a:p>
          <a:p>
            <a:r>
              <a:rPr lang="en-US" dirty="0"/>
              <a:t>    found[n] = true;</a:t>
            </a:r>
          </a:p>
          <a:p>
            <a:r>
              <a:rPr lang="en-US" dirty="0"/>
              <a:t>    return memo[n] = f(n - 1) + f(n - 2);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783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4B61-FF9F-F1AC-7C3E-68897FA4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5BE8-0617-217E-D962-4C452805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With our new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memoized</a:t>
            </a:r>
            <a:r>
              <a:rPr lang="en-IN" b="0" i="0" dirty="0">
                <a:effectLst/>
                <a:latin typeface="Roboto" panose="02000000000000000000" pitchFamily="2" charset="0"/>
              </a:rPr>
              <a:t> recursive function,  f(29), which used to result in </a:t>
            </a:r>
            <a:r>
              <a:rPr lang="en-IN" b="0" i="1" dirty="0">
                <a:effectLst/>
                <a:latin typeface="Roboto" panose="02000000000000000000" pitchFamily="2" charset="0"/>
              </a:rPr>
              <a:t>over 1 million calls</a:t>
            </a:r>
            <a:r>
              <a:rPr lang="en-IN" b="0" i="0" dirty="0">
                <a:effectLst/>
                <a:latin typeface="Roboto" panose="02000000000000000000" pitchFamily="2" charset="0"/>
              </a:rPr>
              <a:t>, now results in </a:t>
            </a:r>
            <a:r>
              <a:rPr lang="en-IN" b="0" i="1" dirty="0">
                <a:effectLst/>
                <a:latin typeface="Roboto" panose="02000000000000000000" pitchFamily="2" charset="0"/>
              </a:rPr>
              <a:t>only 57</a:t>
            </a:r>
            <a:r>
              <a:rPr lang="en-IN" b="0" i="0" dirty="0">
                <a:effectLst/>
                <a:latin typeface="Roboto" panose="02000000000000000000" pitchFamily="2" charset="0"/>
              </a:rPr>
              <a:t> calls, nearly </a:t>
            </a:r>
            <a:r>
              <a:rPr lang="en-IN" b="0" i="1" dirty="0">
                <a:effectLst/>
                <a:latin typeface="Roboto" panose="02000000000000000000" pitchFamily="2" charset="0"/>
              </a:rPr>
              <a:t>20,000 times</a:t>
            </a:r>
            <a:r>
              <a:rPr lang="en-IN" b="0" i="0" dirty="0">
                <a:effectLst/>
                <a:latin typeface="Roboto" panose="02000000000000000000" pitchFamily="2" charset="0"/>
              </a:rPr>
              <a:t> fewer function calls!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Ironically, we are now limited by our data type.  f(46)  is the last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fibonacci</a:t>
            </a:r>
            <a:r>
              <a:rPr lang="en-IN" b="0" i="0" dirty="0">
                <a:effectLst/>
                <a:latin typeface="Roboto" panose="02000000000000000000" pitchFamily="2" charset="0"/>
              </a:rPr>
              <a:t> number that can fit into a signed 32-bit integer.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Typically, we try to save states in arrays, if possible, since the lookup time is  O(1) with minimal overhead. However, more generically, we can save states any way we like. </a:t>
            </a: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Other examples include binary search trees (</a:t>
            </a:r>
            <a:r>
              <a:rPr lang="en-IN" dirty="0"/>
              <a:t>map</a:t>
            </a:r>
            <a:r>
              <a:rPr lang="en-IN" b="0" i="0" dirty="0">
                <a:effectLst/>
                <a:latin typeface="Roboto" panose="02000000000000000000" pitchFamily="2" charset="0"/>
              </a:rPr>
              <a:t> in C++) or hash tables (</a:t>
            </a:r>
            <a:r>
              <a:rPr lang="en-IN" dirty="0" err="1"/>
              <a:t>unordered_map</a:t>
            </a:r>
            <a:r>
              <a:rPr lang="en-IN" b="0" i="0" dirty="0">
                <a:effectLst/>
                <a:latin typeface="Roboto" panose="02000000000000000000" pitchFamily="2" charset="0"/>
              </a:rPr>
              <a:t> in C++).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2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3E44-FE68-0948-A662-5C017F00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AA3D-7CA9-058B-3EC0-0D436C083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unordered_map</a:t>
            </a:r>
            <a:r>
              <a:rPr lang="en-US" dirty="0"/>
              <a:t>&lt;int, int&gt; memo;</a:t>
            </a:r>
          </a:p>
          <a:p>
            <a:r>
              <a:rPr lang="en-US" dirty="0"/>
              <a:t>int f(int n) {</a:t>
            </a:r>
          </a:p>
          <a:p>
            <a:r>
              <a:rPr lang="en-US" dirty="0"/>
              <a:t>    if (</a:t>
            </a:r>
            <a:r>
              <a:rPr lang="en-US" dirty="0" err="1"/>
              <a:t>memo.count</a:t>
            </a:r>
            <a:r>
              <a:rPr lang="en-US" dirty="0"/>
              <a:t>(n)) return memo[n];</a:t>
            </a:r>
          </a:p>
          <a:p>
            <a:r>
              <a:rPr lang="en-US" dirty="0"/>
              <a:t>    if (n == 0) return 0;</a:t>
            </a:r>
          </a:p>
          <a:p>
            <a:r>
              <a:rPr lang="en-US" dirty="0"/>
              <a:t>    if (n == 1) return 1;</a:t>
            </a:r>
          </a:p>
          <a:p>
            <a:endParaRPr lang="en-US" dirty="0"/>
          </a:p>
          <a:p>
            <a:r>
              <a:rPr lang="en-US" dirty="0"/>
              <a:t>    return memo[n] = f(n - 1) + f(n - 2);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0080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8305-7D25-4A66-6B5D-978EEB59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A810-0BDB-A186-378F-5BED2898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map&lt;int, int&gt; memo;</a:t>
            </a:r>
          </a:p>
          <a:p>
            <a:r>
              <a:rPr lang="en-US" dirty="0"/>
              <a:t>int f(int n) {</a:t>
            </a:r>
          </a:p>
          <a:p>
            <a:r>
              <a:rPr lang="en-US" dirty="0"/>
              <a:t>    if (</a:t>
            </a:r>
            <a:r>
              <a:rPr lang="en-US" dirty="0" err="1"/>
              <a:t>memo.count</a:t>
            </a:r>
            <a:r>
              <a:rPr lang="en-US" dirty="0"/>
              <a:t>(n)) return memo[n];</a:t>
            </a:r>
          </a:p>
          <a:p>
            <a:r>
              <a:rPr lang="en-US" dirty="0"/>
              <a:t>    if (n == 0) return 0;</a:t>
            </a:r>
          </a:p>
          <a:p>
            <a:r>
              <a:rPr lang="en-US" dirty="0"/>
              <a:t>    if (n == 1) return 1;</a:t>
            </a:r>
          </a:p>
          <a:p>
            <a:endParaRPr lang="en-US" dirty="0"/>
          </a:p>
          <a:p>
            <a:r>
              <a:rPr lang="en-US" dirty="0"/>
              <a:t>    return memo[n] = f(n - 1) + f(n - 2);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508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C3C9-7FBF-0AED-8A5A-D3BA0F49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8ECD5-8934-BC1B-4B72-5E2626E90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Both of these will almost always be slower than the array-based version for a generic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memoized</a:t>
            </a:r>
            <a:r>
              <a:rPr lang="en-IN" b="0" i="0" dirty="0">
                <a:effectLst/>
                <a:latin typeface="Roboto" panose="02000000000000000000" pitchFamily="2" charset="0"/>
              </a:rPr>
              <a:t> recursive function.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These alternative ways of saving state are primarily useful when saving vectors or strings as part of the state space.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The layman's way of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analyzing</a:t>
            </a:r>
            <a:r>
              <a:rPr lang="en-IN" b="0" i="0" dirty="0">
                <a:effectLst/>
                <a:latin typeface="Roboto" panose="02000000000000000000" pitchFamily="2" charset="0"/>
              </a:rPr>
              <a:t> the runtime of a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memoized</a:t>
            </a:r>
            <a:r>
              <a:rPr lang="en-IN" b="0" i="0" dirty="0">
                <a:effectLst/>
                <a:latin typeface="Roboto" panose="02000000000000000000" pitchFamily="2" charset="0"/>
              </a:rPr>
              <a:t> recursive function is: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 {work per subproblem} * {number of subproblems}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Using a binary search tree (map in C++) to save states will technically result in  O(n \log n)  as each lookup and insertion will take  O(log n)  work and with  O(n)  unique subproblems we have  O(n log n)  time.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This approach is called top-down, as we can call the function with a query value and the calculation starts going from the top (queried value) down to the bottom (base cases of the recursion), and makes shortcuts via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 on the 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95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B834-409A-4472-A83D-2DDC3594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Bottom-up Dynamic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D055-4022-0E3D-8FF8-A0C21AA34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Until now you've only seen top-down dynamic programming with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memoization</a:t>
            </a:r>
            <a:r>
              <a:rPr lang="en-IN" b="0" i="0" dirty="0">
                <a:effectLst/>
                <a:latin typeface="Roboto" panose="02000000000000000000" pitchFamily="2" charset="0"/>
              </a:rPr>
              <a:t>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However, we can also solve problems with bottom-up dynamic programming. Bottom-up is exactly the opposite of top-down, you start at the bottom (base cases of the recursion), and extend it to more and more values.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To create a bottom-up approach for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fibonacci</a:t>
            </a:r>
            <a:r>
              <a:rPr lang="en-IN" b="0" i="0" dirty="0">
                <a:effectLst/>
                <a:latin typeface="Roboto" panose="02000000000000000000" pitchFamily="2" charset="0"/>
              </a:rPr>
              <a:t> numbers, we initialize the base cases in an array. Then, we simply use the recursive definition on array: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350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000A-4D48-BB1C-E554-8C72631F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00AE-CF1D-A11D-13AC-7AE85A06D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const int MAXN = 100;</a:t>
            </a:r>
          </a:p>
          <a:p>
            <a:r>
              <a:rPr lang="en-US" dirty="0"/>
              <a:t>int fib[MAXN];</a:t>
            </a:r>
          </a:p>
          <a:p>
            <a:endParaRPr lang="en-US" dirty="0"/>
          </a:p>
          <a:p>
            <a:r>
              <a:rPr lang="en-US" dirty="0"/>
              <a:t>int f(int n) {</a:t>
            </a:r>
          </a:p>
          <a:p>
            <a:r>
              <a:rPr lang="en-US" dirty="0"/>
              <a:t>    fib[0] = 0;</a:t>
            </a:r>
          </a:p>
          <a:p>
            <a:r>
              <a:rPr lang="en-US" dirty="0"/>
              <a:t>    fib[1] = 1;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2; </a:t>
            </a:r>
            <a:r>
              <a:rPr lang="en-US" dirty="0" err="1"/>
              <a:t>i</a:t>
            </a:r>
            <a:r>
              <a:rPr lang="en-US" dirty="0"/>
              <a:t> &lt;= n; </a:t>
            </a:r>
            <a:r>
              <a:rPr lang="en-US" dirty="0" err="1"/>
              <a:t>i</a:t>
            </a:r>
            <a:r>
              <a:rPr lang="en-US" dirty="0"/>
              <a:t>++) fib[</a:t>
            </a:r>
            <a:r>
              <a:rPr lang="en-US" dirty="0" err="1"/>
              <a:t>i</a:t>
            </a:r>
            <a:r>
              <a:rPr lang="en-US" dirty="0"/>
              <a:t>] = fib[</a:t>
            </a:r>
            <a:r>
              <a:rPr lang="en-US" dirty="0" err="1"/>
              <a:t>i</a:t>
            </a:r>
            <a:r>
              <a:rPr lang="en-US" dirty="0"/>
              <a:t> - 1] + fib[</a:t>
            </a:r>
            <a:r>
              <a:rPr lang="en-US" dirty="0" err="1"/>
              <a:t>i</a:t>
            </a:r>
            <a:r>
              <a:rPr lang="en-US" dirty="0"/>
              <a:t> - 2];</a:t>
            </a:r>
          </a:p>
          <a:p>
            <a:endParaRPr lang="en-US" dirty="0"/>
          </a:p>
          <a:p>
            <a:r>
              <a:rPr lang="en-US" dirty="0"/>
              <a:t>    return fib[n];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613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76C3-0654-0DB5-7FF0-A2F70A0F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8BA4-01AE-4ABF-2115-1A11A25B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Of course, as written, this is a bit silly for two reasons: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Firstly, we do repeated work if we call the function more than once.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Secondly, we only need to use the two previous values to calculate the current element. 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Therefore, we can reduce our memory from  O(n)  to  O(1) .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An example of a bottom-up dynamic programming solution for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fibonacci</a:t>
            </a:r>
            <a:r>
              <a:rPr lang="en-IN" b="0" i="0" dirty="0">
                <a:effectLst/>
                <a:latin typeface="Roboto" panose="02000000000000000000" pitchFamily="2" charset="0"/>
              </a:rPr>
              <a:t> which uses  O(1)  memory might be: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578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A833-0534-5422-206A-AF5CFAB6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2CC4-65F9-411A-CA8C-224AF99C9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const int MAX_SAVE = 3;</a:t>
            </a:r>
          </a:p>
          <a:p>
            <a:r>
              <a:rPr lang="en-US" dirty="0"/>
              <a:t>int fib[MAX_SAVE];</a:t>
            </a:r>
          </a:p>
          <a:p>
            <a:endParaRPr lang="en-US" dirty="0"/>
          </a:p>
          <a:p>
            <a:r>
              <a:rPr lang="en-US" dirty="0"/>
              <a:t>int f(int n) {</a:t>
            </a:r>
          </a:p>
          <a:p>
            <a:r>
              <a:rPr lang="en-US" dirty="0"/>
              <a:t>    fib[0] = 0;</a:t>
            </a:r>
          </a:p>
          <a:p>
            <a:r>
              <a:rPr lang="en-US" dirty="0"/>
              <a:t>    fib[1] = 1;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2; </a:t>
            </a:r>
            <a:r>
              <a:rPr lang="en-US" dirty="0" err="1"/>
              <a:t>i</a:t>
            </a:r>
            <a:r>
              <a:rPr lang="en-US" dirty="0"/>
              <a:t> &lt;=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fib[</a:t>
            </a:r>
            <a:r>
              <a:rPr lang="en-US" dirty="0" err="1"/>
              <a:t>i</a:t>
            </a:r>
            <a:r>
              <a:rPr lang="en-US" dirty="0"/>
              <a:t> % MAX_SAVE] = fib[(</a:t>
            </a:r>
            <a:r>
              <a:rPr lang="en-US" dirty="0" err="1"/>
              <a:t>i</a:t>
            </a:r>
            <a:r>
              <a:rPr lang="en-US" dirty="0"/>
              <a:t> - 1) % MAX_SAVE] + fib[(</a:t>
            </a:r>
            <a:r>
              <a:rPr lang="en-US" dirty="0" err="1"/>
              <a:t>i</a:t>
            </a:r>
            <a:r>
              <a:rPr lang="en-US" dirty="0"/>
              <a:t> - 2) % MAX_SAVE];</a:t>
            </a:r>
          </a:p>
          <a:p>
            <a:endParaRPr lang="en-US" dirty="0"/>
          </a:p>
          <a:p>
            <a:r>
              <a:rPr lang="en-US" dirty="0"/>
              <a:t>    return fib[n % MAX_SAVE];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7063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89EC-0FA5-FD7C-960F-B72D3647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8495-5A03-58DA-0437-7ACD5B31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Note that we've changed the constant from MAXN TO MAX_SAVE. This is because the total number of elements we need to access is only 3. It no longer scales with the size of input and is, by definition,  $O(1)$  memory. Additionally, we use a common trick (using the modulo operator) only maintaining the values we need.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That's it. That's the basics of dynamic programming: Don't repeat the work you've done before.</a:t>
            </a:r>
          </a:p>
          <a:p>
            <a:pPr algn="l"/>
            <a:r>
              <a:rPr lang="en-IN" b="0" i="0" dirty="0">
                <a:effectLst/>
                <a:latin typeface="Roboto" panose="02000000000000000000" pitchFamily="2" charset="0"/>
              </a:rPr>
              <a:t>One of the tricks to getting better at dynamic programming is to study some of the classic examples.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60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2EA6-6282-85D9-A77A-DA352330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Overlapping Subproblems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BBFF3-454D-3757-F790-78289C108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ntroduction_to_recursion">
            <a:extLst>
              <a:ext uri="{FF2B5EF4-FFF2-40B4-BE49-F238E27FC236}">
                <a16:creationId xmlns:a16="http://schemas.microsoft.com/office/drawing/2014/main" id="{CDD4636D-5B0F-C5D3-8C50-3BC950B7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890013"/>
            <a:ext cx="8432800" cy="496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48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94187-76E9-2F5E-0100-94865083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"/>
            <a:ext cx="5257800" cy="597884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LongestCommonSequence</a:t>
            </a:r>
            <a:r>
              <a:rPr lang="en-US" dirty="0"/>
              <a:t> {</a:t>
            </a:r>
          </a:p>
          <a:p>
            <a:r>
              <a:rPr lang="en-US" dirty="0"/>
              <a:t>// Returns length of LCS for s1[0..m-1], s2[0..n-1]</a:t>
            </a:r>
          </a:p>
          <a:p>
            <a:r>
              <a:rPr lang="en-US" dirty="0"/>
              <a:t>    int </a:t>
            </a:r>
            <a:r>
              <a:rPr lang="en-US" dirty="0" err="1"/>
              <a:t>lcsRec</a:t>
            </a:r>
            <a:r>
              <a:rPr lang="en-US" dirty="0"/>
              <a:t>(String s1, String s2, int m, int n) {</a:t>
            </a:r>
          </a:p>
          <a:p>
            <a:r>
              <a:rPr lang="en-US" dirty="0"/>
              <a:t>// Base case: If either string is empty, the length of LCS is 0</a:t>
            </a:r>
          </a:p>
          <a:p>
            <a:r>
              <a:rPr lang="en-US" dirty="0"/>
              <a:t>        if (m == 0 || n == 0)</a:t>
            </a:r>
          </a:p>
          <a:p>
            <a:r>
              <a:rPr lang="en-US" dirty="0"/>
              <a:t>            return 0;</a:t>
            </a:r>
          </a:p>
          <a:p>
            <a:r>
              <a:rPr lang="en-US" dirty="0"/>
              <a:t>// If the last characters of both substrings match</a:t>
            </a:r>
          </a:p>
          <a:p>
            <a:r>
              <a:rPr lang="en-US" dirty="0"/>
              <a:t>        if (s1.charAt(m - 1) == s2.charAt(n - 1))</a:t>
            </a:r>
          </a:p>
          <a:p>
            <a:r>
              <a:rPr lang="en-US" dirty="0"/>
              <a:t>// Include this character in LCS and recur for remaining substrings</a:t>
            </a:r>
          </a:p>
          <a:p>
            <a:r>
              <a:rPr lang="en-US" dirty="0"/>
              <a:t>            return 1 + </a:t>
            </a:r>
            <a:r>
              <a:rPr lang="en-US" dirty="0" err="1"/>
              <a:t>lcsRec</a:t>
            </a:r>
            <a:r>
              <a:rPr lang="en-US" dirty="0"/>
              <a:t>(s1, s2, m - 1, n - 1);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        // If the last characters do not match</a:t>
            </a:r>
          </a:p>
          <a:p>
            <a:r>
              <a:rPr lang="en-US" dirty="0"/>
              <a:t>            // Recur for two cases:</a:t>
            </a:r>
          </a:p>
          <a:p>
            <a:r>
              <a:rPr lang="en-US" dirty="0"/>
              <a:t>            // 1. Exclude the last character of S1 </a:t>
            </a:r>
          </a:p>
          <a:p>
            <a:r>
              <a:rPr lang="en-US" dirty="0"/>
              <a:t>            // 2. Exclude the last character of S2 </a:t>
            </a:r>
          </a:p>
          <a:p>
            <a:r>
              <a:rPr lang="en-US" dirty="0"/>
              <a:t>            // Take the maximum of these two recursive calls</a:t>
            </a:r>
          </a:p>
          <a:p>
            <a:r>
              <a:rPr lang="en-US" dirty="0"/>
              <a:t>            return </a:t>
            </a:r>
            <a:r>
              <a:rPr lang="en-US" dirty="0" err="1"/>
              <a:t>Math.max</a:t>
            </a:r>
            <a:r>
              <a:rPr lang="en-US" dirty="0"/>
              <a:t>(</a:t>
            </a:r>
            <a:r>
              <a:rPr lang="en-US" dirty="0" err="1"/>
              <a:t>lcsRec</a:t>
            </a:r>
            <a:r>
              <a:rPr lang="en-US" dirty="0"/>
              <a:t>(s1, s2, m, n - 1), </a:t>
            </a:r>
            <a:r>
              <a:rPr lang="en-US" dirty="0" err="1"/>
              <a:t>lcsRec</a:t>
            </a:r>
            <a:r>
              <a:rPr lang="en-US" dirty="0"/>
              <a:t>(s1, s2, m - 1, n));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411E3B-0C50-DEDD-F144-0875BE07851D}"/>
              </a:ext>
            </a:extLst>
          </p:cNvPr>
          <p:cNvSpPr txBox="1">
            <a:spLocks/>
          </p:cNvSpPr>
          <p:nvPr/>
        </p:nvSpPr>
        <p:spPr>
          <a:xfrm>
            <a:off x="6096000" y="213360"/>
            <a:ext cx="5257800" cy="5978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int lcs(String s1,String s2){</a:t>
            </a:r>
          </a:p>
          <a:p>
            <a:r>
              <a:rPr lang="en-US" sz="1800" dirty="0"/>
              <a:t>        int m = s1.length(), n = s2.length();</a:t>
            </a:r>
          </a:p>
          <a:p>
            <a:r>
              <a:rPr lang="en-US" sz="1800" dirty="0"/>
              <a:t>        return </a:t>
            </a:r>
            <a:r>
              <a:rPr lang="en-US" sz="1800" dirty="0" err="1"/>
              <a:t>lcsRec</a:t>
            </a:r>
            <a:r>
              <a:rPr lang="en-US" sz="1800" dirty="0"/>
              <a:t>(s1,s2,m,n);</a:t>
            </a:r>
          </a:p>
          <a:p>
            <a:r>
              <a:rPr lang="en-US" sz="1800" dirty="0"/>
              <a:t>    }</a:t>
            </a:r>
          </a:p>
          <a:p>
            <a:r>
              <a:rPr lang="en-US" sz="1800" dirty="0"/>
              <a:t>   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</a:t>
            </a:r>
          </a:p>
          <a:p>
            <a:r>
              <a:rPr lang="en-US" sz="1800" dirty="0"/>
              <a:t>        String s1 = "AGGTAB";</a:t>
            </a:r>
          </a:p>
          <a:p>
            <a:r>
              <a:rPr lang="en-US" sz="1800" dirty="0"/>
              <a:t>        String s2 = "GXTXAYB";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LongestCommonSequence</a:t>
            </a:r>
            <a:r>
              <a:rPr lang="en-US" sz="1800" dirty="0"/>
              <a:t> demo = new </a:t>
            </a:r>
            <a:r>
              <a:rPr lang="en-US" sz="1800" dirty="0" err="1"/>
              <a:t>LongestCommonSequence</a:t>
            </a:r>
            <a:r>
              <a:rPr lang="en-US" sz="1800" dirty="0"/>
              <a:t>();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</a:t>
            </a:r>
            <a:r>
              <a:rPr lang="en-US" sz="1800" dirty="0" err="1"/>
              <a:t>demo.lcs</a:t>
            </a:r>
            <a:r>
              <a:rPr lang="en-US" sz="1800" dirty="0"/>
              <a:t>(s1, s2));</a:t>
            </a:r>
          </a:p>
          <a:p>
            <a:r>
              <a:rPr lang="en-US" sz="1800" dirty="0"/>
              <a:t>    }</a:t>
            </a:r>
          </a:p>
          <a:p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0393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B89C-635C-E882-DA39-EDA1A8FE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FF5B-173A-9C49-A1FC-242833A2E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Longest-Common-Subsequence">
            <a:extLst>
              <a:ext uri="{FF2B5EF4-FFF2-40B4-BE49-F238E27FC236}">
                <a16:creationId xmlns:a16="http://schemas.microsoft.com/office/drawing/2014/main" id="{B4C8EDE5-6AA8-CE58-DADB-6456F96A9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0"/>
            <a:ext cx="8670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186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02EE-9263-DE40-B29C-3F208EA9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"/>
            <a:ext cx="5257800" cy="5994083"/>
          </a:xfrm>
        </p:spPr>
        <p:txBody>
          <a:bodyPr>
            <a:noAutofit/>
          </a:bodyPr>
          <a:lstStyle/>
          <a:p>
            <a:r>
              <a:rPr lang="en-US" sz="1500" dirty="0"/>
              <a:t>class </a:t>
            </a:r>
            <a:r>
              <a:rPr lang="en-US" sz="1500" dirty="0" err="1"/>
              <a:t>LongestCommonSequence</a:t>
            </a:r>
            <a:r>
              <a:rPr lang="en-US" sz="1500" dirty="0"/>
              <a:t> {</a:t>
            </a:r>
          </a:p>
          <a:p>
            <a:r>
              <a:rPr lang="en-US" sz="1500" dirty="0"/>
              <a:t>// Returns length of LCS for s1[0..m-1], s2[0..n-1]</a:t>
            </a:r>
          </a:p>
          <a:p>
            <a:r>
              <a:rPr lang="en-US" sz="1500" dirty="0"/>
              <a:t>    int </a:t>
            </a:r>
            <a:r>
              <a:rPr lang="en-US" sz="1500" dirty="0" err="1"/>
              <a:t>lcsRec</a:t>
            </a:r>
            <a:r>
              <a:rPr lang="en-US" sz="1500" dirty="0"/>
              <a:t>(String s1, String s2, int m, int n, int[][] memo) {</a:t>
            </a:r>
          </a:p>
          <a:p>
            <a:r>
              <a:rPr lang="en-US" sz="1500" dirty="0"/>
              <a:t>        // Base Case</a:t>
            </a:r>
          </a:p>
          <a:p>
            <a:r>
              <a:rPr lang="en-US" sz="1500" dirty="0"/>
              <a:t>        if (m == 0 || n == 0)</a:t>
            </a:r>
          </a:p>
          <a:p>
            <a:r>
              <a:rPr lang="en-US" sz="1500" dirty="0"/>
              <a:t>            return 0;</a:t>
            </a:r>
          </a:p>
          <a:p>
            <a:r>
              <a:rPr lang="en-US" sz="1500" dirty="0"/>
              <a:t>// Already exists in the memo table</a:t>
            </a:r>
          </a:p>
          <a:p>
            <a:r>
              <a:rPr lang="en-US" sz="1500" dirty="0"/>
              <a:t>        if (memo[m][n] != -1)</a:t>
            </a:r>
          </a:p>
          <a:p>
            <a:r>
              <a:rPr lang="en-US" sz="1500" dirty="0"/>
              <a:t>            return memo[m][n];</a:t>
            </a:r>
          </a:p>
          <a:p>
            <a:r>
              <a:rPr lang="en-US" sz="1500" dirty="0"/>
              <a:t>// Match</a:t>
            </a:r>
          </a:p>
          <a:p>
            <a:r>
              <a:rPr lang="en-US" sz="1500" dirty="0"/>
              <a:t>        if (s1.charAt(m - 1) == s2.charAt(n - 1)) {</a:t>
            </a:r>
          </a:p>
          <a:p>
            <a:r>
              <a:rPr lang="en-US" sz="1500" dirty="0"/>
              <a:t>            return memo[m][n]</a:t>
            </a:r>
          </a:p>
          <a:p>
            <a:r>
              <a:rPr lang="en-US" sz="1500" dirty="0"/>
              <a:t>                = 1 + </a:t>
            </a:r>
            <a:r>
              <a:rPr lang="en-US" sz="1500" dirty="0" err="1"/>
              <a:t>lcsRec</a:t>
            </a:r>
            <a:r>
              <a:rPr lang="en-US" sz="1500" dirty="0"/>
              <a:t>(s1, s2, m - 1, n - 1, memo);</a:t>
            </a:r>
          </a:p>
          <a:p>
            <a:r>
              <a:rPr lang="en-US" sz="1500" dirty="0"/>
              <a:t>        }</a:t>
            </a:r>
          </a:p>
          <a:p>
            <a:r>
              <a:rPr lang="en-US" sz="1500" dirty="0"/>
              <a:t>// Do not match</a:t>
            </a:r>
          </a:p>
          <a:p>
            <a:r>
              <a:rPr lang="en-US" sz="1500" dirty="0"/>
              <a:t>        return memo[m][n]</a:t>
            </a:r>
          </a:p>
          <a:p>
            <a:r>
              <a:rPr lang="en-US" sz="1500" dirty="0"/>
              <a:t>            = </a:t>
            </a:r>
            <a:r>
              <a:rPr lang="en-US" sz="1500" dirty="0" err="1"/>
              <a:t>Math.max</a:t>
            </a:r>
            <a:r>
              <a:rPr lang="en-US" sz="1500" dirty="0"/>
              <a:t>(</a:t>
            </a:r>
            <a:r>
              <a:rPr lang="en-US" sz="1500" dirty="0" err="1"/>
              <a:t>lcsRec</a:t>
            </a:r>
            <a:r>
              <a:rPr lang="en-US" sz="1500" dirty="0"/>
              <a:t>(s1, s2, m, n - 1, memo),</a:t>
            </a:r>
          </a:p>
          <a:p>
            <a:r>
              <a:rPr lang="en-US" sz="1500" dirty="0"/>
              <a:t>                       </a:t>
            </a:r>
            <a:r>
              <a:rPr lang="en-US" sz="1500" dirty="0" err="1"/>
              <a:t>lcsRec</a:t>
            </a:r>
            <a:r>
              <a:rPr lang="en-US" sz="1500" dirty="0"/>
              <a:t>(s1, s2, m - 1, n, memo));</a:t>
            </a:r>
          </a:p>
          <a:p>
            <a:r>
              <a:rPr lang="en-US" sz="1500" dirty="0"/>
              <a:t> 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D564DC-88B4-C3EF-F6F6-77570B797F0C}"/>
              </a:ext>
            </a:extLst>
          </p:cNvPr>
          <p:cNvSpPr txBox="1">
            <a:spLocks/>
          </p:cNvSpPr>
          <p:nvPr/>
        </p:nvSpPr>
        <p:spPr>
          <a:xfrm>
            <a:off x="6096000" y="213360"/>
            <a:ext cx="5257800" cy="599408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 lcs(String s1, String s2){</a:t>
            </a:r>
          </a:p>
          <a:p>
            <a:r>
              <a:rPr lang="en-US" dirty="0"/>
              <a:t>        int m = s1.length();</a:t>
            </a:r>
          </a:p>
          <a:p>
            <a:r>
              <a:rPr lang="en-US" dirty="0"/>
              <a:t>        int n = s2.length();</a:t>
            </a:r>
          </a:p>
          <a:p>
            <a:r>
              <a:rPr lang="en-US" dirty="0"/>
              <a:t>        int[][] memo = new int[m + 1][n + 1];</a:t>
            </a:r>
          </a:p>
          <a:p>
            <a:endParaRPr lang="en-US" dirty="0"/>
          </a:p>
          <a:p>
            <a:r>
              <a:rPr lang="en-US" dirty="0"/>
              <a:t>        // Initialize the memo table with -1</a:t>
            </a:r>
          </a:p>
          <a:p>
            <a:r>
              <a:rPr lang="en-US" dirty="0"/>
              <a:t>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&lt;= m;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    </a:t>
            </a:r>
            <a:r>
              <a:rPr lang="en-US" dirty="0" err="1"/>
              <a:t>Arrays.fill</a:t>
            </a:r>
            <a:r>
              <a:rPr lang="en-US" dirty="0"/>
              <a:t>(memo[</a:t>
            </a:r>
            <a:r>
              <a:rPr lang="en-US" dirty="0" err="1"/>
              <a:t>i</a:t>
            </a:r>
            <a:r>
              <a:rPr lang="en-US" dirty="0"/>
              <a:t>], -1);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return </a:t>
            </a:r>
            <a:r>
              <a:rPr lang="en-US" dirty="0" err="1"/>
              <a:t>lcsRec</a:t>
            </a:r>
            <a:r>
              <a:rPr lang="en-US" dirty="0"/>
              <a:t>(s1, s2, m, n, memo);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String s1 = "AGGTAB";</a:t>
            </a:r>
          </a:p>
          <a:p>
            <a:r>
              <a:rPr lang="en-US" dirty="0"/>
              <a:t>        String s2 = "GXTXAYB";</a:t>
            </a:r>
          </a:p>
          <a:p>
            <a:r>
              <a:rPr lang="en-US" dirty="0"/>
              <a:t>        </a:t>
            </a:r>
            <a:r>
              <a:rPr lang="en-US" dirty="0" err="1"/>
              <a:t>LongestCommonSequence</a:t>
            </a:r>
            <a:r>
              <a:rPr lang="en-US" dirty="0"/>
              <a:t> demo = new </a:t>
            </a:r>
            <a:r>
              <a:rPr lang="en-US" dirty="0" err="1"/>
              <a:t>LongestCommonSequence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demo.lcs</a:t>
            </a:r>
            <a:r>
              <a:rPr lang="en-US" dirty="0"/>
              <a:t>(s1, s2));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7196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53B4-70A1-2A4E-F7B2-1D423D42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A6702-649F-88E5-C64B-B0C8F511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Longest-Common-Subsequence.webp">
            <a:extLst>
              <a:ext uri="{FF2B5EF4-FFF2-40B4-BE49-F238E27FC236}">
                <a16:creationId xmlns:a16="http://schemas.microsoft.com/office/drawing/2014/main" id="{70B8D256-3A63-B1AE-DCF9-1044A4FAB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830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F411-A69F-DACC-8DD4-6A9D10EC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1D522-144E-5F72-7C13-3085447B8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ongest-Common-Subsequence-1.webp">
            <a:extLst>
              <a:ext uri="{FF2B5EF4-FFF2-40B4-BE49-F238E27FC236}">
                <a16:creationId xmlns:a16="http://schemas.microsoft.com/office/drawing/2014/main" id="{5503D2D7-A3CC-E787-89C2-6723936C1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891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AE04-E99B-F917-8687-12514A74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7DC5-A5E8-C388-D0A0-10A0F82F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Longest-Common-Subsequence-2.webp">
            <a:extLst>
              <a:ext uri="{FF2B5EF4-FFF2-40B4-BE49-F238E27FC236}">
                <a16:creationId xmlns:a16="http://schemas.microsoft.com/office/drawing/2014/main" id="{0C288711-EA1A-806D-B55B-5A805BFB9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565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FCAF-D676-1523-8A86-AB355276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4F0A-C7C1-090F-79F8-D96333412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Longest-Common-Subsequence-3.webp">
            <a:extLst>
              <a:ext uri="{FF2B5EF4-FFF2-40B4-BE49-F238E27FC236}">
                <a16:creationId xmlns:a16="http://schemas.microsoft.com/office/drawing/2014/main" id="{A5507EC5-C2C9-4A53-5F31-77932CAD5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161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D7D-B7B4-DF29-63C8-E40B79D7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B302-2A9A-EB68-D2C0-A58D5D2D9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Longest-Common-Subsequence-4.webp">
            <a:extLst>
              <a:ext uri="{FF2B5EF4-FFF2-40B4-BE49-F238E27FC236}">
                <a16:creationId xmlns:a16="http://schemas.microsoft.com/office/drawing/2014/main" id="{494F0BD8-ECC3-99C4-E3E6-235B71458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902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5101-CD05-E2DB-D5DD-F9EC9BFA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941"/>
            <a:ext cx="6187440" cy="5908022"/>
          </a:xfrm>
        </p:spPr>
        <p:txBody>
          <a:bodyPr>
            <a:noAutofit/>
          </a:bodyPr>
          <a:lstStyle/>
          <a:p>
            <a:r>
              <a:rPr lang="en-US" sz="1600" dirty="0"/>
              <a:t>class </a:t>
            </a:r>
            <a:r>
              <a:rPr lang="en-US" sz="1600" dirty="0" err="1"/>
              <a:t>LongestCommonSubsequence</a:t>
            </a:r>
            <a:r>
              <a:rPr lang="en-US" sz="1600" dirty="0"/>
              <a:t> {</a:t>
            </a:r>
          </a:p>
          <a:p>
            <a:r>
              <a:rPr lang="en-US" sz="1600" dirty="0"/>
              <a:t>// Returns length of LCS for s1[0..m-1], s2[0..n-1]</a:t>
            </a:r>
          </a:p>
          <a:p>
            <a:r>
              <a:rPr lang="en-US" sz="1600" dirty="0"/>
              <a:t>    int lcs(String S1, String S2) {</a:t>
            </a:r>
          </a:p>
          <a:p>
            <a:r>
              <a:rPr lang="en-US" sz="1600" dirty="0"/>
              <a:t>        int m = S1.length();</a:t>
            </a:r>
          </a:p>
          <a:p>
            <a:r>
              <a:rPr lang="en-US" sz="1600" dirty="0"/>
              <a:t>        int n = S2.length();</a:t>
            </a:r>
          </a:p>
          <a:p>
            <a:r>
              <a:rPr lang="en-US" sz="1600" dirty="0"/>
              <a:t>// Initializing a matrix of size (m+1)*(n+1)</a:t>
            </a:r>
          </a:p>
          <a:p>
            <a:r>
              <a:rPr lang="en-US" sz="1600" dirty="0"/>
              <a:t>        int[][] </a:t>
            </a:r>
            <a:r>
              <a:rPr lang="en-US" sz="1600" dirty="0" err="1"/>
              <a:t>dp</a:t>
            </a:r>
            <a:r>
              <a:rPr lang="en-US" sz="1600" dirty="0"/>
              <a:t> = new int[m + 1][n + 1];</a:t>
            </a:r>
          </a:p>
          <a:p>
            <a:r>
              <a:rPr lang="en-US" sz="1600" dirty="0"/>
              <a:t>// Building </a:t>
            </a:r>
            <a:r>
              <a:rPr lang="en-US" sz="1600" dirty="0" err="1"/>
              <a:t>dp</a:t>
            </a:r>
            <a:r>
              <a:rPr lang="en-US" sz="1600" dirty="0"/>
              <a:t>[m+1][n+1] in bottom-up fashion</a:t>
            </a:r>
          </a:p>
          <a:p>
            <a:r>
              <a:rPr lang="en-US" sz="1600" dirty="0"/>
              <a:t>        for (int </a:t>
            </a:r>
            <a:r>
              <a:rPr lang="en-US" sz="1600" dirty="0" err="1"/>
              <a:t>i</a:t>
            </a:r>
            <a:r>
              <a:rPr lang="en-US" sz="1600" dirty="0"/>
              <a:t> = 1; </a:t>
            </a:r>
            <a:r>
              <a:rPr lang="en-US" sz="1600" dirty="0" err="1"/>
              <a:t>i</a:t>
            </a:r>
            <a:r>
              <a:rPr lang="en-US" sz="1600" dirty="0"/>
              <a:t> &lt;= m;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r>
              <a:rPr lang="en-US" sz="1600" dirty="0"/>
              <a:t>            for (int j = 1; j &lt;= n; </a:t>
            </a:r>
            <a:r>
              <a:rPr lang="en-US" sz="1600" dirty="0" err="1"/>
              <a:t>j++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        if (S1.charAt(</a:t>
            </a:r>
            <a:r>
              <a:rPr lang="en-US" sz="1600" dirty="0" err="1"/>
              <a:t>i</a:t>
            </a:r>
            <a:r>
              <a:rPr lang="en-US" sz="1600" dirty="0"/>
              <a:t> - 1) == S2.charAt(j - 1)) {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][j] =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- 1][j - 1] + 1;</a:t>
            </a:r>
          </a:p>
          <a:p>
            <a:r>
              <a:rPr lang="en-US" sz="1600" dirty="0"/>
              <a:t>                }</a:t>
            </a:r>
          </a:p>
          <a:p>
            <a:r>
              <a:rPr lang="en-US" sz="1600" dirty="0"/>
              <a:t>                else {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][j] = </a:t>
            </a:r>
            <a:r>
              <a:rPr lang="en-US" sz="1600" dirty="0" err="1"/>
              <a:t>Math.max</a:t>
            </a:r>
            <a:r>
              <a:rPr lang="en-US" sz="1600" dirty="0"/>
              <a:t>(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- 1][j],</a:t>
            </a:r>
          </a:p>
          <a:p>
            <a:r>
              <a:rPr lang="en-US" sz="1600" dirty="0"/>
              <a:t>                                       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][j - 1]);</a:t>
            </a:r>
          </a:p>
          <a:p>
            <a:r>
              <a:rPr lang="en-US" sz="1600" dirty="0"/>
              <a:t>                }</a:t>
            </a:r>
          </a:p>
          <a:p>
            <a:r>
              <a:rPr lang="en-US" sz="1600" dirty="0"/>
              <a:t>            }</a:t>
            </a:r>
          </a:p>
          <a:p>
            <a:r>
              <a:rPr lang="en-US" sz="1600" dirty="0"/>
              <a:t>     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4FAB6F-346A-58FE-E06E-4EBE9A0E4254}"/>
              </a:ext>
            </a:extLst>
          </p:cNvPr>
          <p:cNvSpPr txBox="1">
            <a:spLocks/>
          </p:cNvSpPr>
          <p:nvPr/>
        </p:nvSpPr>
        <p:spPr>
          <a:xfrm>
            <a:off x="6096000" y="268941"/>
            <a:ext cx="5257800" cy="59080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r>
              <a:rPr lang="en-US" sz="2800" dirty="0"/>
              <a:t>// </a:t>
            </a:r>
            <a:r>
              <a:rPr lang="en-US" sz="2800" dirty="0" err="1"/>
              <a:t>dp</a:t>
            </a:r>
            <a:r>
              <a:rPr lang="en-US" sz="2800" dirty="0"/>
              <a:t>[m][n] contains length of LCS for S1[0..m-1]    // and S2[0..n-1]</a:t>
            </a:r>
          </a:p>
          <a:p>
            <a:r>
              <a:rPr lang="en-US" sz="2800" dirty="0"/>
              <a:t>        return </a:t>
            </a:r>
            <a:r>
              <a:rPr lang="en-US" sz="2800" dirty="0" err="1"/>
              <a:t>dp</a:t>
            </a:r>
            <a:r>
              <a:rPr lang="en-US" sz="2800" dirty="0"/>
              <a:t>[m][n];</a:t>
            </a:r>
          </a:p>
          <a:p>
            <a:r>
              <a:rPr lang="en-US" sz="2800" dirty="0"/>
              <a:t>    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String S1 = "AGGTAB";</a:t>
            </a:r>
          </a:p>
          <a:p>
            <a:r>
              <a:rPr lang="en-US" dirty="0"/>
              <a:t>        String S2 = "GXTXAYB";</a:t>
            </a:r>
          </a:p>
          <a:p>
            <a:r>
              <a:rPr lang="en-US" dirty="0"/>
              <a:t>        </a:t>
            </a:r>
            <a:r>
              <a:rPr lang="en-US" dirty="0" err="1"/>
              <a:t>LongestCommonSubsequence</a:t>
            </a:r>
            <a:r>
              <a:rPr lang="en-US" dirty="0"/>
              <a:t> demo = new </a:t>
            </a:r>
            <a:r>
              <a:rPr lang="en-US" dirty="0" err="1"/>
              <a:t>LongestCommonSubsequence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 </a:t>
            </a:r>
            <a:r>
              <a:rPr lang="en-US" dirty="0" err="1"/>
              <a:t>demo.lcs</a:t>
            </a:r>
            <a:r>
              <a:rPr lang="en-US" dirty="0"/>
              <a:t>(S1, S2));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0768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1923-FE4C-54BB-9761-1ED054D1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0/1 Knapsack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216F-C41A-CA89-5CDD-3E323A82C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Given two arrays, 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val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[]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and 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wt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[]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where each element represents the value and weight of an item respectively, also given an integer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W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representing the maximum capacity of the knapsack (the total weight it can hold).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Put the items into the knapsack such that the sum of values associated with them is the maximum possible, without exceeding the capacity W.</a:t>
            </a:r>
          </a:p>
          <a:p>
            <a:pPr algn="l" rtl="0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Note: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We can either include an item completely or exclude it entirely - we cannot include a fraction of an item.</a:t>
            </a:r>
          </a:p>
        </p:txBody>
      </p:sp>
    </p:spTree>
    <p:extLst>
      <p:ext uri="{BB962C8B-B14F-4D97-AF65-F5344CB8AC3E}">
        <p14:creationId xmlns:p14="http://schemas.microsoft.com/office/powerpoint/2010/main" val="980191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1889-D831-F320-71E6-5FE846E4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C50A-D86A-F8D0-4497-FF258967D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71972263">
            <a:extLst>
              <a:ext uri="{FF2B5EF4-FFF2-40B4-BE49-F238E27FC236}">
                <a16:creationId xmlns:a16="http://schemas.microsoft.com/office/drawing/2014/main" id="{402B1C01-932B-04C5-49D8-7DD0EB2F2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84150"/>
            <a:ext cx="10160000" cy="648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516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8A076-070B-CA9E-B189-F4C9256B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int </a:t>
            </a:r>
            <a:r>
              <a:rPr lang="en-US" dirty="0" err="1"/>
              <a:t>knapsackRecursive</a:t>
            </a:r>
            <a:r>
              <a:rPr lang="en-US" dirty="0"/>
              <a:t>(int W, int[] </a:t>
            </a:r>
            <a:r>
              <a:rPr lang="en-US" dirty="0" err="1"/>
              <a:t>val</a:t>
            </a:r>
            <a:r>
              <a:rPr lang="en-US" dirty="0"/>
              <a:t>, int[] </a:t>
            </a:r>
            <a:r>
              <a:rPr lang="en-US" dirty="0" err="1"/>
              <a:t>wt</a:t>
            </a:r>
            <a:r>
              <a:rPr lang="en-US" dirty="0"/>
              <a:t>, int n) {</a:t>
            </a:r>
          </a:p>
          <a:p>
            <a:r>
              <a:rPr lang="en-US" dirty="0"/>
              <a:t>// Base Case</a:t>
            </a:r>
          </a:p>
          <a:p>
            <a:r>
              <a:rPr lang="en-US" dirty="0"/>
              <a:t>        if (n == 0 || W == 0)  return 0;</a:t>
            </a:r>
          </a:p>
          <a:p>
            <a:endParaRPr lang="en-US" dirty="0"/>
          </a:p>
          <a:p>
            <a:r>
              <a:rPr lang="en-US" dirty="0"/>
              <a:t>        int pick = 0;</a:t>
            </a:r>
          </a:p>
          <a:p>
            <a:endParaRPr lang="en-US" dirty="0"/>
          </a:p>
          <a:p>
            <a:r>
              <a:rPr lang="en-US" dirty="0"/>
              <a:t>        // Pick nth item if it does not exceed the capacity of knapsack</a:t>
            </a:r>
          </a:p>
          <a:p>
            <a:r>
              <a:rPr lang="en-US" dirty="0"/>
              <a:t>        if (</a:t>
            </a:r>
            <a:r>
              <a:rPr lang="en-US" dirty="0" err="1"/>
              <a:t>wt</a:t>
            </a:r>
            <a:r>
              <a:rPr lang="en-US" dirty="0"/>
              <a:t>[n - 1] &lt;= W)</a:t>
            </a:r>
          </a:p>
          <a:p>
            <a:r>
              <a:rPr lang="en-US" dirty="0"/>
              <a:t>            pick = </a:t>
            </a:r>
            <a:r>
              <a:rPr lang="en-US" dirty="0" err="1"/>
              <a:t>val</a:t>
            </a:r>
            <a:r>
              <a:rPr lang="en-US" dirty="0"/>
              <a:t>[n - 1] + </a:t>
            </a:r>
            <a:r>
              <a:rPr lang="en-US" dirty="0" err="1"/>
              <a:t>knapsackRecursive</a:t>
            </a:r>
            <a:r>
              <a:rPr lang="en-US" dirty="0"/>
              <a:t>(W - </a:t>
            </a:r>
            <a:r>
              <a:rPr lang="en-US" dirty="0" err="1"/>
              <a:t>wt</a:t>
            </a:r>
            <a:r>
              <a:rPr lang="en-US" dirty="0"/>
              <a:t>[n - 1], 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wt</a:t>
            </a:r>
            <a:r>
              <a:rPr lang="en-US" dirty="0"/>
              <a:t>, n - 1);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Don't pick the nth item</a:t>
            </a:r>
          </a:p>
          <a:p>
            <a:r>
              <a:rPr lang="en-US" dirty="0"/>
              <a:t>        int </a:t>
            </a:r>
            <a:r>
              <a:rPr lang="en-US" dirty="0" err="1"/>
              <a:t>notPick</a:t>
            </a:r>
            <a:r>
              <a:rPr lang="en-US" dirty="0"/>
              <a:t> = </a:t>
            </a:r>
            <a:r>
              <a:rPr lang="en-US" dirty="0" err="1"/>
              <a:t>knapsackRecursive</a:t>
            </a:r>
            <a:r>
              <a:rPr lang="en-US" dirty="0"/>
              <a:t>(W, 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wt</a:t>
            </a:r>
            <a:r>
              <a:rPr lang="en-US" dirty="0"/>
              <a:t>, n - 1);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  return </a:t>
            </a:r>
            <a:r>
              <a:rPr lang="en-US" dirty="0" err="1"/>
              <a:t>Math.max</a:t>
            </a:r>
            <a:r>
              <a:rPr lang="en-US" dirty="0"/>
              <a:t>(pick, </a:t>
            </a:r>
            <a:r>
              <a:rPr lang="en-US" dirty="0" err="1"/>
              <a:t>notPick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190977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2A74-3679-E1CD-3E34-E7A6B70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61CF-E092-5110-06BC-F1ABB3C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group_3361">
            <a:extLst>
              <a:ext uri="{FF2B5EF4-FFF2-40B4-BE49-F238E27FC236}">
                <a16:creationId xmlns:a16="http://schemas.microsoft.com/office/drawing/2014/main" id="{1DA22592-FB27-EC54-8F29-465612854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0"/>
            <a:ext cx="8680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615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AFA2-120D-23D6-686A-48540513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"/>
            <a:ext cx="10515600" cy="5978843"/>
          </a:xfrm>
        </p:spPr>
        <p:txBody>
          <a:bodyPr>
            <a:noAutofit/>
          </a:bodyPr>
          <a:lstStyle/>
          <a:p>
            <a:r>
              <a:rPr lang="en-US" sz="1800" dirty="0"/>
              <a:t>int </a:t>
            </a:r>
            <a:r>
              <a:rPr lang="en-US" sz="1800" dirty="0" err="1"/>
              <a:t>knapsackTopDown</a:t>
            </a:r>
            <a:r>
              <a:rPr lang="en-US" sz="1800" dirty="0"/>
              <a:t>(int W, int[] </a:t>
            </a:r>
            <a:r>
              <a:rPr lang="en-US" sz="1800" dirty="0" err="1"/>
              <a:t>val</a:t>
            </a:r>
            <a:r>
              <a:rPr lang="en-US" sz="1800" dirty="0"/>
              <a:t>, int[] </a:t>
            </a:r>
            <a:r>
              <a:rPr lang="en-US" sz="1800" dirty="0" err="1"/>
              <a:t>wt</a:t>
            </a:r>
            <a:r>
              <a:rPr lang="en-US" sz="1800" dirty="0"/>
              <a:t>, int n, int[][] memo) {</a:t>
            </a:r>
          </a:p>
          <a:p>
            <a:r>
              <a:rPr lang="en-US" sz="1800" dirty="0"/>
              <a:t>// Base Case</a:t>
            </a:r>
          </a:p>
          <a:p>
            <a:r>
              <a:rPr lang="en-US" sz="1800" dirty="0"/>
              <a:t>        if (n == 0 || W == 0)       return 0;</a:t>
            </a:r>
          </a:p>
          <a:p>
            <a:endParaRPr lang="en-US" sz="1800" dirty="0"/>
          </a:p>
          <a:p>
            <a:r>
              <a:rPr lang="en-US" sz="1800" dirty="0"/>
              <a:t>        // Check if we have previously calculated the same subproblem</a:t>
            </a:r>
          </a:p>
          <a:p>
            <a:r>
              <a:rPr lang="en-US" sz="1800" dirty="0"/>
              <a:t>        if (memo[n][W] != -1)   return memo[n][W];</a:t>
            </a:r>
          </a:p>
          <a:p>
            <a:endParaRPr lang="en-US" sz="1800" dirty="0"/>
          </a:p>
          <a:p>
            <a:r>
              <a:rPr lang="en-US" sz="1800" dirty="0"/>
              <a:t>        int pick = 0;</a:t>
            </a:r>
          </a:p>
          <a:p>
            <a:r>
              <a:rPr lang="en-US" sz="1800" dirty="0"/>
              <a:t>// Pick nth item if it does not exceed the capacity of knapsack</a:t>
            </a:r>
          </a:p>
          <a:p>
            <a:r>
              <a:rPr lang="en-US" sz="1800" dirty="0"/>
              <a:t>        if (</a:t>
            </a:r>
            <a:r>
              <a:rPr lang="en-US" sz="1800" dirty="0" err="1"/>
              <a:t>wt</a:t>
            </a:r>
            <a:r>
              <a:rPr lang="en-US" sz="1800" dirty="0"/>
              <a:t>[n - 1] &lt;= W)</a:t>
            </a:r>
          </a:p>
          <a:p>
            <a:r>
              <a:rPr lang="en-US" sz="1800" dirty="0"/>
              <a:t>            pick = </a:t>
            </a:r>
            <a:r>
              <a:rPr lang="en-US" sz="1800" dirty="0" err="1"/>
              <a:t>val</a:t>
            </a:r>
            <a:r>
              <a:rPr lang="en-US" sz="1800" dirty="0"/>
              <a:t>[n - 1] + </a:t>
            </a:r>
            <a:r>
              <a:rPr lang="en-US" sz="1800" dirty="0" err="1"/>
              <a:t>knapsackTopDown</a:t>
            </a:r>
            <a:r>
              <a:rPr lang="en-US" sz="1800" dirty="0"/>
              <a:t>(W - </a:t>
            </a:r>
            <a:r>
              <a:rPr lang="en-US" sz="1800" dirty="0" err="1"/>
              <a:t>wt</a:t>
            </a:r>
            <a:r>
              <a:rPr lang="en-US" sz="1800" dirty="0"/>
              <a:t>[n - 1], </a:t>
            </a:r>
            <a:r>
              <a:rPr lang="en-US" sz="1800" dirty="0" err="1"/>
              <a:t>val</a:t>
            </a:r>
            <a:r>
              <a:rPr lang="en-US" sz="1800" dirty="0"/>
              <a:t>, </a:t>
            </a:r>
            <a:r>
              <a:rPr lang="en-US" sz="1800" dirty="0" err="1"/>
              <a:t>wt</a:t>
            </a:r>
            <a:r>
              <a:rPr lang="en-US" sz="1800" dirty="0"/>
              <a:t>, n - 1, memo);</a:t>
            </a:r>
          </a:p>
          <a:p>
            <a:endParaRPr lang="en-US" sz="1800" dirty="0"/>
          </a:p>
          <a:p>
            <a:r>
              <a:rPr lang="en-US" sz="1800" dirty="0"/>
              <a:t>        // Don't pick the nth item</a:t>
            </a:r>
          </a:p>
          <a:p>
            <a:r>
              <a:rPr lang="en-US" sz="1800" dirty="0"/>
              <a:t>        int </a:t>
            </a:r>
            <a:r>
              <a:rPr lang="en-US" sz="1800" dirty="0" err="1"/>
              <a:t>notPick</a:t>
            </a:r>
            <a:r>
              <a:rPr lang="en-US" sz="1800" dirty="0"/>
              <a:t> = </a:t>
            </a:r>
            <a:r>
              <a:rPr lang="en-US" sz="1800" dirty="0" err="1"/>
              <a:t>knapsackTopDown</a:t>
            </a:r>
            <a:r>
              <a:rPr lang="en-US" sz="1800" dirty="0"/>
              <a:t>(W, </a:t>
            </a:r>
            <a:r>
              <a:rPr lang="en-US" sz="1800" dirty="0" err="1"/>
              <a:t>val</a:t>
            </a:r>
            <a:r>
              <a:rPr lang="en-US" sz="1800" dirty="0"/>
              <a:t>, </a:t>
            </a:r>
            <a:r>
              <a:rPr lang="en-US" sz="1800" dirty="0" err="1"/>
              <a:t>wt</a:t>
            </a:r>
            <a:r>
              <a:rPr lang="en-US" sz="1800" dirty="0"/>
              <a:t>, n - 1, memo);</a:t>
            </a:r>
          </a:p>
          <a:p>
            <a:endParaRPr lang="en-US" sz="1800" dirty="0"/>
          </a:p>
          <a:p>
            <a:r>
              <a:rPr lang="en-US" sz="1800" dirty="0"/>
              <a:t>        // Store the result in memo[n][W] and return it</a:t>
            </a:r>
          </a:p>
          <a:p>
            <a:r>
              <a:rPr lang="en-US" sz="1800" dirty="0"/>
              <a:t>        return memo[n][W] = </a:t>
            </a:r>
            <a:r>
              <a:rPr lang="en-US" sz="1800" dirty="0" err="1"/>
              <a:t>Math.max</a:t>
            </a:r>
            <a:r>
              <a:rPr lang="en-US" sz="1800" dirty="0"/>
              <a:t>(pick, </a:t>
            </a:r>
            <a:r>
              <a:rPr lang="en-US" sz="1800" dirty="0" err="1"/>
              <a:t>notPick</a:t>
            </a:r>
            <a:r>
              <a:rPr lang="en-US" sz="1800" dirty="0"/>
              <a:t>);</a:t>
            </a:r>
          </a:p>
          <a:p>
            <a:r>
              <a:rPr lang="en-US" sz="18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536704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990C-CF15-4B1B-3F3D-3B0440525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>
            <a:noAutofit/>
          </a:bodyPr>
          <a:lstStyle/>
          <a:p>
            <a:r>
              <a:rPr lang="en-US" sz="1600"/>
              <a:t>int </a:t>
            </a:r>
            <a:r>
              <a:rPr lang="en-US" sz="1600" dirty="0"/>
              <a:t>knapsack(int W, int[] </a:t>
            </a:r>
            <a:r>
              <a:rPr lang="en-US" sz="1600" dirty="0" err="1"/>
              <a:t>val</a:t>
            </a:r>
            <a:r>
              <a:rPr lang="en-US" sz="1600" dirty="0"/>
              <a:t>, int[] </a:t>
            </a:r>
            <a:r>
              <a:rPr lang="en-US" sz="1600" dirty="0" err="1"/>
              <a:t>wt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int n = </a:t>
            </a:r>
            <a:r>
              <a:rPr lang="en-US" sz="1600" dirty="0" err="1"/>
              <a:t>wt.length</a:t>
            </a:r>
            <a:r>
              <a:rPr lang="en-US" sz="1600" dirty="0"/>
              <a:t>;     int[][] </a:t>
            </a:r>
            <a:r>
              <a:rPr lang="en-US" sz="1600" dirty="0" err="1"/>
              <a:t>dp</a:t>
            </a:r>
            <a:r>
              <a:rPr lang="en-US" sz="1600" dirty="0"/>
              <a:t> = new int[n + 1][W + 1];</a:t>
            </a:r>
          </a:p>
          <a:p>
            <a:r>
              <a:rPr lang="en-US" sz="1600" dirty="0"/>
              <a:t>// Build table </a:t>
            </a:r>
            <a:r>
              <a:rPr lang="en-US" sz="1600" dirty="0" err="1"/>
              <a:t>dp</a:t>
            </a:r>
            <a:r>
              <a:rPr lang="en-US" sz="1600" dirty="0"/>
              <a:t>[][] in bottom-up manner</a:t>
            </a:r>
          </a:p>
          <a:p>
            <a:r>
              <a:rPr lang="en-US" sz="1600" dirty="0"/>
              <a:t>      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&lt;= n;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r>
              <a:rPr lang="en-US" sz="1600" dirty="0"/>
              <a:t>            for (int j = 0; j &lt;= W; </a:t>
            </a:r>
            <a:r>
              <a:rPr lang="en-US" sz="1600" dirty="0" err="1"/>
              <a:t>j++</a:t>
            </a:r>
            <a:r>
              <a:rPr lang="en-US" sz="1600" dirty="0"/>
              <a:t>) {</a:t>
            </a:r>
          </a:p>
          <a:p>
            <a:r>
              <a:rPr lang="en-US" sz="1600" dirty="0"/>
              <a:t>// If there is no item or the knapsack's capacity is 0</a:t>
            </a:r>
          </a:p>
          <a:p>
            <a:r>
              <a:rPr lang="en-US" sz="1600" dirty="0"/>
              <a:t>                if (</a:t>
            </a:r>
            <a:r>
              <a:rPr lang="en-US" sz="1600" dirty="0" err="1"/>
              <a:t>i</a:t>
            </a:r>
            <a:r>
              <a:rPr lang="en-US" sz="1600" dirty="0"/>
              <a:t> == 0 || j == 0)  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][j] = 0;</a:t>
            </a:r>
          </a:p>
          <a:p>
            <a:r>
              <a:rPr lang="en-US" sz="1600" dirty="0"/>
              <a:t>                else {</a:t>
            </a:r>
          </a:p>
          <a:p>
            <a:r>
              <a:rPr lang="en-US" sz="1600" dirty="0"/>
              <a:t>                    int pick = 0;</a:t>
            </a:r>
          </a:p>
          <a:p>
            <a:r>
              <a:rPr lang="en-US" sz="1600" dirty="0"/>
              <a:t>// Pick </a:t>
            </a:r>
            <a:r>
              <a:rPr lang="en-US" sz="1600" dirty="0" err="1"/>
              <a:t>ith</a:t>
            </a:r>
            <a:r>
              <a:rPr lang="en-US" sz="1600" dirty="0"/>
              <a:t> item if it does not exceed the capacity of knapsack</a:t>
            </a:r>
          </a:p>
          <a:p>
            <a:r>
              <a:rPr lang="en-US" sz="1600" dirty="0"/>
              <a:t>                    if (</a:t>
            </a:r>
            <a:r>
              <a:rPr lang="en-US" sz="1600" dirty="0" err="1"/>
              <a:t>wt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 &lt;= j)         pick = </a:t>
            </a:r>
            <a:r>
              <a:rPr lang="en-US" sz="1600" dirty="0" err="1"/>
              <a:t>val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 +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- 1][j - </a:t>
            </a:r>
            <a:r>
              <a:rPr lang="en-US" sz="1600" dirty="0" err="1"/>
              <a:t>wt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- 1]];</a:t>
            </a:r>
          </a:p>
          <a:p>
            <a:endParaRPr lang="en-US" sz="1600" dirty="0"/>
          </a:p>
          <a:p>
            <a:r>
              <a:rPr lang="en-US" sz="1600" dirty="0"/>
              <a:t>                    // Don't pick the </a:t>
            </a:r>
            <a:r>
              <a:rPr lang="en-US" sz="1600" dirty="0" err="1"/>
              <a:t>ith</a:t>
            </a:r>
            <a:r>
              <a:rPr lang="en-US" sz="1600" dirty="0"/>
              <a:t> item</a:t>
            </a:r>
          </a:p>
          <a:p>
            <a:r>
              <a:rPr lang="en-US" sz="1600" dirty="0"/>
              <a:t>                    int </a:t>
            </a:r>
            <a:r>
              <a:rPr lang="en-US" sz="1600" dirty="0" err="1"/>
              <a:t>notPick</a:t>
            </a:r>
            <a:r>
              <a:rPr lang="en-US" sz="1600" dirty="0"/>
              <a:t> =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 - 1][j];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dp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][j] = </a:t>
            </a:r>
            <a:r>
              <a:rPr lang="en-US" sz="1600" dirty="0" err="1"/>
              <a:t>Math.max</a:t>
            </a:r>
            <a:r>
              <a:rPr lang="en-US" sz="1600" dirty="0"/>
              <a:t>(pick, </a:t>
            </a:r>
            <a:r>
              <a:rPr lang="en-US" sz="1600" dirty="0" err="1"/>
              <a:t>notPick</a:t>
            </a:r>
            <a:r>
              <a:rPr lang="en-US" sz="1600" dirty="0"/>
              <a:t>);</a:t>
            </a:r>
          </a:p>
          <a:p>
            <a:r>
              <a:rPr lang="en-US" sz="1600" dirty="0"/>
              <a:t>                }</a:t>
            </a:r>
          </a:p>
          <a:p>
            <a:r>
              <a:rPr lang="en-US" sz="1600" dirty="0"/>
              <a:t>            }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    return </a:t>
            </a:r>
            <a:r>
              <a:rPr lang="en-US" sz="1600" dirty="0" err="1"/>
              <a:t>dp</a:t>
            </a:r>
            <a:r>
              <a:rPr lang="en-US" sz="1600" dirty="0"/>
              <a:t>[n][W];</a:t>
            </a:r>
          </a:p>
          <a:p>
            <a:r>
              <a:rPr lang="en-US" sz="16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95498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3865</TotalTime>
  <Words>3277</Words>
  <Application>Microsoft Macintosh PowerPoint</Application>
  <PresentationFormat>Widescreen</PresentationFormat>
  <Paragraphs>293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Nunito</vt:lpstr>
      <vt:lpstr>Roboto</vt:lpstr>
      <vt:lpstr>Office Theme</vt:lpstr>
      <vt:lpstr>DSA-21: Introduction to Dynamic Programming</vt:lpstr>
      <vt:lpstr>PowerPoint Presentation</vt:lpstr>
      <vt:lpstr>PowerPoint Presentation</vt:lpstr>
      <vt:lpstr>PowerPoint Presentation</vt:lpstr>
      <vt:lpstr>Core Concepts of Dynamic Programming</vt:lpstr>
      <vt:lpstr>Approaches</vt:lpstr>
      <vt:lpstr>Classic DP Problems</vt:lpstr>
      <vt:lpstr>Tabulation and memoization</vt:lpstr>
      <vt:lpstr>Memoization</vt:lpstr>
      <vt:lpstr>Tabulation</vt:lpstr>
      <vt:lpstr>Speeding up Fibonacci with Dynamic Programming (Memoization)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Bottom-up Dynamic Programming</vt:lpstr>
      <vt:lpstr>PowerPoint Presentation</vt:lpstr>
      <vt:lpstr>PowerPoint Presentation</vt:lpstr>
      <vt:lpstr>PowerPoint Presentation</vt:lpstr>
      <vt:lpstr>PowerPoint Presentation</vt:lpstr>
      <vt:lpstr>Overlapping Subproblems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0/1 Knapsack Problem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198</cp:revision>
  <dcterms:created xsi:type="dcterms:W3CDTF">2026-01-15T04:12:31Z</dcterms:created>
  <dcterms:modified xsi:type="dcterms:W3CDTF">2026-05-05T02:26:07Z</dcterms:modified>
</cp:coreProperties>
</file>