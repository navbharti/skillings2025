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5" r:id="rId3"/>
    <p:sldId id="266" r:id="rId4"/>
    <p:sldId id="257" r:id="rId5"/>
    <p:sldId id="258" r:id="rId6"/>
    <p:sldId id="259" r:id="rId7"/>
    <p:sldId id="260" r:id="rId8"/>
    <p:sldId id="261" r:id="rId9"/>
    <p:sldId id="262" r:id="rId10"/>
    <p:sldId id="263" r:id="rId11"/>
    <p:sldId id="264" r:id="rId12"/>
    <p:sldId id="269" r:id="rId13"/>
    <p:sldId id="268" r:id="rId14"/>
    <p:sldId id="267"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29"/>
    <p:restoredTop sz="94476"/>
  </p:normalViewPr>
  <p:slideViewPr>
    <p:cSldViewPr snapToGrid="0">
      <p:cViewPr varScale="1">
        <p:scale>
          <a:sx n="84" d="100"/>
          <a:sy n="84" d="100"/>
        </p:scale>
        <p:origin x="11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3DA9-E962-4670-597E-4C9CD6E412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8A4FBF-5D81-57BE-89DE-B6FA9BF84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41C1BF3-77AA-DB2E-1DF0-59825E936C91}"/>
              </a:ext>
            </a:extLst>
          </p:cNvPr>
          <p:cNvSpPr>
            <a:spLocks noGrp="1"/>
          </p:cNvSpPr>
          <p:nvPr>
            <p:ph type="dt" sz="half" idx="10"/>
          </p:nvPr>
        </p:nvSpPr>
        <p:spPr/>
        <p:txBody>
          <a:bodyPr/>
          <a:lstStyle/>
          <a:p>
            <a:fld id="{A0723D25-A2BC-274F-A813-3B06A34CD740}" type="datetimeFigureOut">
              <a:rPr lang="en-US" smtClean="0"/>
              <a:t>4/20/26</a:t>
            </a:fld>
            <a:endParaRPr lang="en-US"/>
          </a:p>
        </p:txBody>
      </p:sp>
      <p:sp>
        <p:nvSpPr>
          <p:cNvPr id="5" name="Footer Placeholder 4">
            <a:extLst>
              <a:ext uri="{FF2B5EF4-FFF2-40B4-BE49-F238E27FC236}">
                <a16:creationId xmlns:a16="http://schemas.microsoft.com/office/drawing/2014/main" id="{CE3CE1A2-B778-3FDB-D880-08BE937EC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08238-AAA3-EB3D-2030-44EF2A37997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45142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67AC-4F97-8FBD-F886-632779C39B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2DEEFE-F85E-366F-23C8-D0A0CF0DE75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05F2CC-507C-6795-51B2-16D8369183A2}"/>
              </a:ext>
            </a:extLst>
          </p:cNvPr>
          <p:cNvSpPr>
            <a:spLocks noGrp="1"/>
          </p:cNvSpPr>
          <p:nvPr>
            <p:ph type="dt" sz="half" idx="10"/>
          </p:nvPr>
        </p:nvSpPr>
        <p:spPr/>
        <p:txBody>
          <a:bodyPr/>
          <a:lstStyle/>
          <a:p>
            <a:fld id="{A0723D25-A2BC-274F-A813-3B06A34CD740}" type="datetimeFigureOut">
              <a:rPr lang="en-US" smtClean="0"/>
              <a:t>4/20/26</a:t>
            </a:fld>
            <a:endParaRPr lang="en-US"/>
          </a:p>
        </p:txBody>
      </p:sp>
      <p:sp>
        <p:nvSpPr>
          <p:cNvPr id="5" name="Footer Placeholder 4">
            <a:extLst>
              <a:ext uri="{FF2B5EF4-FFF2-40B4-BE49-F238E27FC236}">
                <a16:creationId xmlns:a16="http://schemas.microsoft.com/office/drawing/2014/main" id="{30FB82C6-AB76-B50D-7079-FDBED2613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78F90-9858-319E-2D9B-7BED7DF7566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558895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A475C-D161-EE28-37F5-01CB65945D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B58EAF-9EA6-FAC9-DA83-5EE92332DB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6AD692-8F1E-78AF-D6FB-97D1B99B1904}"/>
              </a:ext>
            </a:extLst>
          </p:cNvPr>
          <p:cNvSpPr>
            <a:spLocks noGrp="1"/>
          </p:cNvSpPr>
          <p:nvPr>
            <p:ph type="dt" sz="half" idx="10"/>
          </p:nvPr>
        </p:nvSpPr>
        <p:spPr/>
        <p:txBody>
          <a:bodyPr/>
          <a:lstStyle/>
          <a:p>
            <a:fld id="{A0723D25-A2BC-274F-A813-3B06A34CD740}" type="datetimeFigureOut">
              <a:rPr lang="en-US" smtClean="0"/>
              <a:t>4/20/26</a:t>
            </a:fld>
            <a:endParaRPr lang="en-US"/>
          </a:p>
        </p:txBody>
      </p:sp>
      <p:sp>
        <p:nvSpPr>
          <p:cNvPr id="5" name="Footer Placeholder 4">
            <a:extLst>
              <a:ext uri="{FF2B5EF4-FFF2-40B4-BE49-F238E27FC236}">
                <a16:creationId xmlns:a16="http://schemas.microsoft.com/office/drawing/2014/main" id="{3DD4BDEE-322C-86FB-1990-5B3835015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36F1F5-8E08-10FB-70B6-3E0EE445BF80}"/>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2937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B37A-3FC4-9E76-E7FD-2835B53B9EB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E7647AC-F0F5-A131-8418-3C843D871C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6D75A3F-F688-26A1-0A51-DE674F9FDF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98B083-258B-212A-DEA0-7D0C49DAFA6B}"/>
              </a:ext>
            </a:extLst>
          </p:cNvPr>
          <p:cNvSpPr>
            <a:spLocks noGrp="1"/>
          </p:cNvSpPr>
          <p:nvPr>
            <p:ph type="dt" sz="half" idx="10"/>
          </p:nvPr>
        </p:nvSpPr>
        <p:spPr/>
        <p:txBody>
          <a:bodyPr/>
          <a:lstStyle/>
          <a:p>
            <a:fld id="{A0723D25-A2BC-274F-A813-3B06A34CD740}" type="datetimeFigureOut">
              <a:rPr lang="en-US" smtClean="0"/>
              <a:t>4/20/26</a:t>
            </a:fld>
            <a:endParaRPr lang="en-US"/>
          </a:p>
        </p:txBody>
      </p:sp>
      <p:sp>
        <p:nvSpPr>
          <p:cNvPr id="6" name="Footer Placeholder 5">
            <a:extLst>
              <a:ext uri="{FF2B5EF4-FFF2-40B4-BE49-F238E27FC236}">
                <a16:creationId xmlns:a16="http://schemas.microsoft.com/office/drawing/2014/main" id="{CB592C50-0793-6A57-870E-22B7BD618C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D6423-EEDD-EBD2-1637-86B04459E90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370706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1BA5-617B-7CDB-72DD-34B6798B3B1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C80CCF-7651-8CCF-9517-5870109B8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D4BCFD4-2E93-06B8-C482-0D21CC1EBE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660270-A358-7E87-C238-0769FE0FB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8E7A0AE-4CFF-347C-E881-82620BD145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B7C6E51-FCC1-52F4-C78F-B887C1FA308A}"/>
              </a:ext>
            </a:extLst>
          </p:cNvPr>
          <p:cNvSpPr>
            <a:spLocks noGrp="1"/>
          </p:cNvSpPr>
          <p:nvPr>
            <p:ph type="dt" sz="half" idx="10"/>
          </p:nvPr>
        </p:nvSpPr>
        <p:spPr/>
        <p:txBody>
          <a:bodyPr/>
          <a:lstStyle/>
          <a:p>
            <a:fld id="{A0723D25-A2BC-274F-A813-3B06A34CD740}" type="datetimeFigureOut">
              <a:rPr lang="en-US" smtClean="0"/>
              <a:t>4/20/26</a:t>
            </a:fld>
            <a:endParaRPr lang="en-US"/>
          </a:p>
        </p:txBody>
      </p:sp>
      <p:sp>
        <p:nvSpPr>
          <p:cNvPr id="8" name="Footer Placeholder 7">
            <a:extLst>
              <a:ext uri="{FF2B5EF4-FFF2-40B4-BE49-F238E27FC236}">
                <a16:creationId xmlns:a16="http://schemas.microsoft.com/office/drawing/2014/main" id="{BE576F17-2F94-52B2-6671-B20FA66ACE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1D5A75-636E-B0D0-E178-8EAFE094029B}"/>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882323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FB98-7E1E-0B36-4C0F-D927C13AD6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8F3EE1B-ED62-BEF9-34E2-222A596BDF57}"/>
              </a:ext>
            </a:extLst>
          </p:cNvPr>
          <p:cNvSpPr>
            <a:spLocks noGrp="1"/>
          </p:cNvSpPr>
          <p:nvPr>
            <p:ph type="dt" sz="half" idx="10"/>
          </p:nvPr>
        </p:nvSpPr>
        <p:spPr/>
        <p:txBody>
          <a:bodyPr/>
          <a:lstStyle/>
          <a:p>
            <a:fld id="{A0723D25-A2BC-274F-A813-3B06A34CD740}" type="datetimeFigureOut">
              <a:rPr lang="en-US" smtClean="0"/>
              <a:t>4/20/26</a:t>
            </a:fld>
            <a:endParaRPr lang="en-US"/>
          </a:p>
        </p:txBody>
      </p:sp>
      <p:sp>
        <p:nvSpPr>
          <p:cNvPr id="4" name="Footer Placeholder 3">
            <a:extLst>
              <a:ext uri="{FF2B5EF4-FFF2-40B4-BE49-F238E27FC236}">
                <a16:creationId xmlns:a16="http://schemas.microsoft.com/office/drawing/2014/main" id="{DFF261D6-18DB-9A91-C126-DD2F5E2E45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059ADF-81AA-2B42-2EBB-820240321765}"/>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865106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1D2292-CA5F-4083-1A9A-EB2B58E19240}"/>
              </a:ext>
            </a:extLst>
          </p:cNvPr>
          <p:cNvSpPr>
            <a:spLocks noGrp="1"/>
          </p:cNvSpPr>
          <p:nvPr>
            <p:ph type="dt" sz="half" idx="10"/>
          </p:nvPr>
        </p:nvSpPr>
        <p:spPr/>
        <p:txBody>
          <a:bodyPr/>
          <a:lstStyle/>
          <a:p>
            <a:fld id="{A0723D25-A2BC-274F-A813-3B06A34CD740}" type="datetimeFigureOut">
              <a:rPr lang="en-US" smtClean="0"/>
              <a:t>4/20/26</a:t>
            </a:fld>
            <a:endParaRPr lang="en-US"/>
          </a:p>
        </p:txBody>
      </p:sp>
      <p:sp>
        <p:nvSpPr>
          <p:cNvPr id="3" name="Footer Placeholder 2">
            <a:extLst>
              <a:ext uri="{FF2B5EF4-FFF2-40B4-BE49-F238E27FC236}">
                <a16:creationId xmlns:a16="http://schemas.microsoft.com/office/drawing/2014/main" id="{8F12B3B1-82D6-97E3-D949-FFB7FA90F6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19118-D5E2-7F99-490E-D0B7E1DF8A4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59130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26D8-8282-46D6-DCD3-C429D78063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A29B8B-7B37-8054-3412-78ED6298B2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93CB76E-5538-EFF5-3840-3F95921DE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469B70-8065-08A4-BEA2-BEB45F6659CA}"/>
              </a:ext>
            </a:extLst>
          </p:cNvPr>
          <p:cNvSpPr>
            <a:spLocks noGrp="1"/>
          </p:cNvSpPr>
          <p:nvPr>
            <p:ph type="dt" sz="half" idx="10"/>
          </p:nvPr>
        </p:nvSpPr>
        <p:spPr/>
        <p:txBody>
          <a:bodyPr/>
          <a:lstStyle/>
          <a:p>
            <a:fld id="{A0723D25-A2BC-274F-A813-3B06A34CD740}" type="datetimeFigureOut">
              <a:rPr lang="en-US" smtClean="0"/>
              <a:t>4/20/26</a:t>
            </a:fld>
            <a:endParaRPr lang="en-US"/>
          </a:p>
        </p:txBody>
      </p:sp>
      <p:sp>
        <p:nvSpPr>
          <p:cNvPr id="6" name="Footer Placeholder 5">
            <a:extLst>
              <a:ext uri="{FF2B5EF4-FFF2-40B4-BE49-F238E27FC236}">
                <a16:creationId xmlns:a16="http://schemas.microsoft.com/office/drawing/2014/main" id="{0969013F-2801-2160-2F4C-465578780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1CEC8-65E3-3969-42AC-F0ED6B13F508}"/>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601936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61C37-17AA-33E3-0390-EA606A3581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B43312D-93EC-9C8A-CE05-8F6E26D5B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453B4D-6A39-F2C2-0AC5-90587FC97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2A5798-F966-6273-EF24-8C2072EB6630}"/>
              </a:ext>
            </a:extLst>
          </p:cNvPr>
          <p:cNvSpPr>
            <a:spLocks noGrp="1"/>
          </p:cNvSpPr>
          <p:nvPr>
            <p:ph type="dt" sz="half" idx="10"/>
          </p:nvPr>
        </p:nvSpPr>
        <p:spPr/>
        <p:txBody>
          <a:bodyPr/>
          <a:lstStyle/>
          <a:p>
            <a:fld id="{A0723D25-A2BC-274F-A813-3B06A34CD740}" type="datetimeFigureOut">
              <a:rPr lang="en-US" smtClean="0"/>
              <a:t>4/20/26</a:t>
            </a:fld>
            <a:endParaRPr lang="en-US"/>
          </a:p>
        </p:txBody>
      </p:sp>
      <p:sp>
        <p:nvSpPr>
          <p:cNvPr id="6" name="Footer Placeholder 5">
            <a:extLst>
              <a:ext uri="{FF2B5EF4-FFF2-40B4-BE49-F238E27FC236}">
                <a16:creationId xmlns:a16="http://schemas.microsoft.com/office/drawing/2014/main" id="{8FA438AC-0EF4-6EFF-7122-AA7AF380C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B676E-8BCB-855E-469D-77726A6708B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472573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BF2D-DC52-AB82-D456-A9F7669986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75B52E-7C17-9742-93F2-6FBCC7C9AF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F82469-B56D-D697-74FA-E8852CA9F19B}"/>
              </a:ext>
            </a:extLst>
          </p:cNvPr>
          <p:cNvSpPr>
            <a:spLocks noGrp="1"/>
          </p:cNvSpPr>
          <p:nvPr>
            <p:ph type="dt" sz="half" idx="10"/>
          </p:nvPr>
        </p:nvSpPr>
        <p:spPr/>
        <p:txBody>
          <a:bodyPr/>
          <a:lstStyle/>
          <a:p>
            <a:fld id="{A0723D25-A2BC-274F-A813-3B06A34CD740}" type="datetimeFigureOut">
              <a:rPr lang="en-US" smtClean="0"/>
              <a:t>4/20/26</a:t>
            </a:fld>
            <a:endParaRPr lang="en-US"/>
          </a:p>
        </p:txBody>
      </p:sp>
      <p:sp>
        <p:nvSpPr>
          <p:cNvPr id="5" name="Footer Placeholder 4">
            <a:extLst>
              <a:ext uri="{FF2B5EF4-FFF2-40B4-BE49-F238E27FC236}">
                <a16:creationId xmlns:a16="http://schemas.microsoft.com/office/drawing/2014/main" id="{BA63B3DD-0851-EDC4-7258-094C58713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433DF-7287-31EC-DC3D-5EF75C9DE25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06682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12A4E-DB63-F42E-FEFE-81BF1DF702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05DC2C-31FB-BE5D-E312-3459A2BF67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695E30-A15F-0592-C0C0-D84705897AB9}"/>
              </a:ext>
            </a:extLst>
          </p:cNvPr>
          <p:cNvSpPr>
            <a:spLocks noGrp="1"/>
          </p:cNvSpPr>
          <p:nvPr>
            <p:ph type="dt" sz="half" idx="10"/>
          </p:nvPr>
        </p:nvSpPr>
        <p:spPr/>
        <p:txBody>
          <a:bodyPr/>
          <a:lstStyle/>
          <a:p>
            <a:fld id="{A0723D25-A2BC-274F-A813-3B06A34CD740}" type="datetimeFigureOut">
              <a:rPr lang="en-US" smtClean="0"/>
              <a:t>4/20/26</a:t>
            </a:fld>
            <a:endParaRPr lang="en-US"/>
          </a:p>
        </p:txBody>
      </p:sp>
      <p:sp>
        <p:nvSpPr>
          <p:cNvPr id="5" name="Footer Placeholder 4">
            <a:extLst>
              <a:ext uri="{FF2B5EF4-FFF2-40B4-BE49-F238E27FC236}">
                <a16:creationId xmlns:a16="http://schemas.microsoft.com/office/drawing/2014/main" id="{2923656B-61F3-0BFE-4769-187DCA8F8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27752-34F9-D1E1-FF95-25144EC8A666}"/>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49783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CA833E-D2CB-6565-D916-D9A794C0DF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EA88AD-984A-6993-4F53-7E5A42031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22DD2F-4490-A570-F314-42C5AE24F8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723D25-A2BC-274F-A813-3B06A34CD740}" type="datetimeFigureOut">
              <a:rPr lang="en-US" smtClean="0"/>
              <a:t>4/20/26</a:t>
            </a:fld>
            <a:endParaRPr lang="en-US"/>
          </a:p>
        </p:txBody>
      </p:sp>
      <p:sp>
        <p:nvSpPr>
          <p:cNvPr id="5" name="Footer Placeholder 4">
            <a:extLst>
              <a:ext uri="{FF2B5EF4-FFF2-40B4-BE49-F238E27FC236}">
                <a16:creationId xmlns:a16="http://schemas.microsoft.com/office/drawing/2014/main" id="{20975424-8CF4-072B-CAE3-58BD17272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E590F5-3CB3-DFF2-DE46-0A76F551A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E5FEBB-C89D-0C42-8AB8-154526A1FE25}" type="slidenum">
              <a:rPr lang="en-US" smtClean="0"/>
              <a:t>‹#›</a:t>
            </a:fld>
            <a:endParaRPr lang="en-US"/>
          </a:p>
        </p:txBody>
      </p:sp>
    </p:spTree>
    <p:extLst>
      <p:ext uri="{BB962C8B-B14F-4D97-AF65-F5344CB8AC3E}">
        <p14:creationId xmlns:p14="http://schemas.microsoft.com/office/powerpoint/2010/main" val="2120847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geeksforgeeks.org/data-science/what-is-inferential-statistics/" TargetMode="External"/><Relationship Id="rId2" Type="http://schemas.openxmlformats.org/officeDocument/2006/relationships/hyperlink" Target="https://www.geeksforgeeks.org/data-science/descriptive-statistic/"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eeksforgeeks.org/maths/qualitative-dat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geeksforgeeks.org/maths/median/" TargetMode="External"/><Relationship Id="rId2" Type="http://schemas.openxmlformats.org/officeDocument/2006/relationships/hyperlink" Target="https://www.geeksforgeeks.org/maths/what-is-mean/" TargetMode="External"/><Relationship Id="rId1" Type="http://schemas.openxmlformats.org/officeDocument/2006/relationships/slideLayout" Target="../slideLayouts/slideLayout2.xml"/><Relationship Id="rId6" Type="http://schemas.openxmlformats.org/officeDocument/2006/relationships/hyperlink" Target="https://www.geeksforgeeks.org/maths/standard-deviation-formula/" TargetMode="External"/><Relationship Id="rId5" Type="http://schemas.openxmlformats.org/officeDocument/2006/relationships/hyperlink" Target="https://www.geeksforgeeks.org/maths/variance/" TargetMode="External"/><Relationship Id="rId4" Type="http://schemas.openxmlformats.org/officeDocument/2006/relationships/hyperlink" Target="https://www.geeksforgeeks.org/maths/what-is-mode/"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geeksforgeeks.org/maths/quartile-formula/" TargetMode="External"/><Relationship Id="rId2" Type="http://schemas.openxmlformats.org/officeDocument/2006/relationships/hyperlink" Target="https://www.geeksforgeeks.org/maths/interquartile-range/"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040E-2D3D-6833-C463-92F398723407}"/>
              </a:ext>
            </a:extLst>
          </p:cNvPr>
          <p:cNvSpPr>
            <a:spLocks noGrp="1"/>
          </p:cNvSpPr>
          <p:nvPr>
            <p:ph type="ctrTitle"/>
          </p:nvPr>
        </p:nvSpPr>
        <p:spPr/>
        <p:txBody>
          <a:bodyPr>
            <a:normAutofit/>
          </a:bodyPr>
          <a:lstStyle/>
          <a:p>
            <a:r>
              <a:rPr lang="en-US" dirty="0"/>
              <a:t>PythonDS-05_1 Stats for Data Science</a:t>
            </a:r>
          </a:p>
        </p:txBody>
      </p:sp>
      <p:sp>
        <p:nvSpPr>
          <p:cNvPr id="3" name="Subtitle 2">
            <a:extLst>
              <a:ext uri="{FF2B5EF4-FFF2-40B4-BE49-F238E27FC236}">
                <a16:creationId xmlns:a16="http://schemas.microsoft.com/office/drawing/2014/main" id="{850E0D38-6295-EB40-A50D-CED5DB05B4BF}"/>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381946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DCD38-755D-ABC5-0B80-72D65BD7AEE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E397E0-2D2F-63E6-90B5-2DBBBE5E7F2B}"/>
              </a:ext>
            </a:extLst>
          </p:cNvPr>
          <p:cNvSpPr>
            <a:spLocks noGrp="1"/>
          </p:cNvSpPr>
          <p:nvPr>
            <p:ph idx="1"/>
          </p:nvPr>
        </p:nvSpPr>
        <p:spPr/>
        <p:txBody>
          <a:bodyPr/>
          <a:lstStyle/>
          <a:p>
            <a:endParaRPr lang="en-US"/>
          </a:p>
        </p:txBody>
      </p:sp>
      <p:pic>
        <p:nvPicPr>
          <p:cNvPr id="7170" name="Picture 2" descr="Is Data Science Just a Rebranding of Statistics?">
            <a:extLst>
              <a:ext uri="{FF2B5EF4-FFF2-40B4-BE49-F238E27FC236}">
                <a16:creationId xmlns:a16="http://schemas.microsoft.com/office/drawing/2014/main" id="{0D30CD9F-BB52-65FD-3C30-821DBAC218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7338" y="0"/>
            <a:ext cx="65357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2453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37168-ECFC-F27A-91BC-584527D76B7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AB335B-06B0-317C-4468-EA78C60A22A6}"/>
              </a:ext>
            </a:extLst>
          </p:cNvPr>
          <p:cNvSpPr>
            <a:spLocks noGrp="1"/>
          </p:cNvSpPr>
          <p:nvPr>
            <p:ph idx="1"/>
          </p:nvPr>
        </p:nvSpPr>
        <p:spPr/>
        <p:txBody>
          <a:bodyPr/>
          <a:lstStyle/>
          <a:p>
            <a:endParaRPr lang="en-US"/>
          </a:p>
        </p:txBody>
      </p:sp>
      <p:pic>
        <p:nvPicPr>
          <p:cNvPr id="8194" name="Picture 2" descr="stat">
            <a:extLst>
              <a:ext uri="{FF2B5EF4-FFF2-40B4-BE49-F238E27FC236}">
                <a16:creationId xmlns:a16="http://schemas.microsoft.com/office/drawing/2014/main" id="{49F1A78F-3CBA-4A72-63B0-E58A4508B3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825" y="0"/>
            <a:ext cx="99107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6091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55457-626A-8B18-9EAD-B6132709B539}"/>
              </a:ext>
            </a:extLst>
          </p:cNvPr>
          <p:cNvSpPr>
            <a:spLocks noGrp="1"/>
          </p:cNvSpPr>
          <p:nvPr>
            <p:ph type="title"/>
          </p:nvPr>
        </p:nvSpPr>
        <p:spPr/>
        <p:txBody>
          <a:bodyPr/>
          <a:lstStyle/>
          <a:p>
            <a:endParaRPr lang="en-US"/>
          </a:p>
        </p:txBody>
      </p:sp>
      <p:pic>
        <p:nvPicPr>
          <p:cNvPr id="1026" name="Picture 2" descr="file.webp">
            <a:extLst>
              <a:ext uri="{FF2B5EF4-FFF2-40B4-BE49-F238E27FC236}">
                <a16:creationId xmlns:a16="http://schemas.microsoft.com/office/drawing/2014/main" id="{2321F8CB-230F-4674-F1C5-A9E790706A5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5513" y="1825625"/>
            <a:ext cx="8680973"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3024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D2E77-B0D3-1503-1B1F-3CCE69E6AF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230C49-F50E-9A73-92FF-E5DE65F628D8}"/>
              </a:ext>
            </a:extLst>
          </p:cNvPr>
          <p:cNvSpPr>
            <a:spLocks noGrp="1"/>
          </p:cNvSpPr>
          <p:nvPr>
            <p:ph idx="1"/>
          </p:nvPr>
        </p:nvSpPr>
        <p:spPr/>
        <p:txBody>
          <a:bodyPr/>
          <a:lstStyle/>
          <a:p>
            <a:endParaRPr lang="en-US"/>
          </a:p>
        </p:txBody>
      </p:sp>
      <p:pic>
        <p:nvPicPr>
          <p:cNvPr id="2050" name="Picture 2" descr="Probability-and-Statistics-1.webp">
            <a:extLst>
              <a:ext uri="{FF2B5EF4-FFF2-40B4-BE49-F238E27FC236}">
                <a16:creationId xmlns:a16="http://schemas.microsoft.com/office/drawing/2014/main" id="{D1FAF9AB-1D84-4EA9-24F0-19D548A4A1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2650"/>
            <a:ext cx="10160000" cy="509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9816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904A7-B1FD-4E60-B2DA-E11363A7E4C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412D527-2A81-FBE4-B0C1-B89A92FBFA30}"/>
              </a:ext>
            </a:extLst>
          </p:cNvPr>
          <p:cNvSpPr>
            <a:spLocks noGrp="1"/>
          </p:cNvSpPr>
          <p:nvPr>
            <p:ph idx="1"/>
          </p:nvPr>
        </p:nvSpPr>
        <p:spPr/>
        <p:txBody>
          <a:bodyPr/>
          <a:lstStyle/>
          <a:p>
            <a:endParaRPr lang="en-US"/>
          </a:p>
        </p:txBody>
      </p:sp>
      <p:pic>
        <p:nvPicPr>
          <p:cNvPr id="3074" name="Picture 2" descr="Probability-and-Statistics-2.webp">
            <a:extLst>
              <a:ext uri="{FF2B5EF4-FFF2-40B4-BE49-F238E27FC236}">
                <a16:creationId xmlns:a16="http://schemas.microsoft.com/office/drawing/2014/main" id="{7B8050A2-D1BA-1C67-A9B6-E449F8E1F9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2650"/>
            <a:ext cx="10160000" cy="509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150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BF81F-1081-76F6-C55D-D629BA451BE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EC8B22-96EB-F9D7-B125-6C8776844A4B}"/>
              </a:ext>
            </a:extLst>
          </p:cNvPr>
          <p:cNvSpPr>
            <a:spLocks noGrp="1"/>
          </p:cNvSpPr>
          <p:nvPr>
            <p:ph idx="1"/>
          </p:nvPr>
        </p:nvSpPr>
        <p:spPr/>
        <p:txBody>
          <a:bodyPr/>
          <a:lstStyle/>
          <a:p>
            <a:endParaRPr lang="en-US"/>
          </a:p>
        </p:txBody>
      </p:sp>
      <p:pic>
        <p:nvPicPr>
          <p:cNvPr id="4098" name="Picture 2" descr="Probability-and-Statistics-3.webp">
            <a:extLst>
              <a:ext uri="{FF2B5EF4-FFF2-40B4-BE49-F238E27FC236}">
                <a16:creationId xmlns:a16="http://schemas.microsoft.com/office/drawing/2014/main" id="{26880E4F-5D99-4DC5-B33E-725E615762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9460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4E235-F43B-4A00-B4CB-06C53C6F67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87144D-D0EC-69DF-6FC5-20B5987D9601}"/>
              </a:ext>
            </a:extLst>
          </p:cNvPr>
          <p:cNvSpPr>
            <a:spLocks noGrp="1"/>
          </p:cNvSpPr>
          <p:nvPr>
            <p:ph idx="1"/>
          </p:nvPr>
        </p:nvSpPr>
        <p:spPr/>
        <p:txBody>
          <a:bodyPr/>
          <a:lstStyle/>
          <a:p>
            <a:endParaRPr lang="en-US"/>
          </a:p>
        </p:txBody>
      </p:sp>
      <p:pic>
        <p:nvPicPr>
          <p:cNvPr id="5122" name="Picture 2" descr="Probability-and-Statistics-4.webp">
            <a:extLst>
              <a:ext uri="{FF2B5EF4-FFF2-40B4-BE49-F238E27FC236}">
                <a16:creationId xmlns:a16="http://schemas.microsoft.com/office/drawing/2014/main" id="{263AF1BE-5729-80EF-59AA-79B6C51542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650" y="889000"/>
            <a:ext cx="101727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6185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DB946-E2A5-A1E1-4688-0ED3CBD4AB46}"/>
              </a:ext>
            </a:extLst>
          </p:cNvPr>
          <p:cNvSpPr>
            <a:spLocks noGrp="1"/>
          </p:cNvSpPr>
          <p:nvPr>
            <p:ph type="title"/>
          </p:nvPr>
        </p:nvSpPr>
        <p:spPr/>
        <p:txBody>
          <a:bodyPr/>
          <a:lstStyle/>
          <a:p>
            <a:r>
              <a:rPr lang="en-IN" b="1" i="0" dirty="0">
                <a:solidFill>
                  <a:srgbClr val="273239"/>
                </a:solidFill>
                <a:effectLst/>
                <a:latin typeface="Nunito" pitchFamily="2" charset="77"/>
              </a:rPr>
              <a:t>Two Types of Statistics</a:t>
            </a:r>
            <a:endParaRPr lang="en-US" dirty="0"/>
          </a:p>
        </p:txBody>
      </p:sp>
      <p:sp>
        <p:nvSpPr>
          <p:cNvPr id="3" name="Content Placeholder 2">
            <a:extLst>
              <a:ext uri="{FF2B5EF4-FFF2-40B4-BE49-F238E27FC236}">
                <a16:creationId xmlns:a16="http://schemas.microsoft.com/office/drawing/2014/main" id="{90F5B2FA-A1CB-B283-CEE8-A1DED52F1F87}"/>
              </a:ext>
            </a:extLst>
          </p:cNvPr>
          <p:cNvSpPr>
            <a:spLocks noGrp="1"/>
          </p:cNvSpPr>
          <p:nvPr>
            <p:ph idx="1"/>
          </p:nvPr>
        </p:nvSpPr>
        <p:spPr/>
        <p:txBody>
          <a:bodyPr/>
          <a:lstStyle/>
          <a:p>
            <a:pPr algn="l" fontAlgn="base">
              <a:buFont typeface="+mj-lt"/>
              <a:buAutoNum type="arabicPeriod"/>
            </a:pPr>
            <a:r>
              <a:rPr lang="en-IN" b="1" i="0" dirty="0">
                <a:solidFill>
                  <a:srgbClr val="273239"/>
                </a:solidFill>
                <a:effectLst/>
                <a:latin typeface="Nunito" pitchFamily="2" charset="77"/>
              </a:rPr>
              <a:t>Descriptive Statistics: </a:t>
            </a:r>
            <a:r>
              <a:rPr lang="en-IN" b="0" i="0" u="sng" dirty="0">
                <a:solidFill>
                  <a:srgbClr val="357960"/>
                </a:solidFill>
                <a:effectLst/>
                <a:latin typeface="Nunito" pitchFamily="2" charset="77"/>
                <a:hlinkClick r:id="rId2"/>
              </a:rPr>
              <a:t>De­scriptive Statistics</a:t>
            </a:r>
            <a:r>
              <a:rPr lang="en-IN" b="0" i="0" dirty="0">
                <a:solidFill>
                  <a:srgbClr val="273239"/>
                </a:solidFill>
                <a:effectLst/>
                <a:latin typeface="Nunito" pitchFamily="2" charset="77"/>
              </a:rPr>
              <a:t> helps us simplify and organize big chunks of data. This makes large amounts of data easier to understand.</a:t>
            </a:r>
          </a:p>
          <a:p>
            <a:pPr algn="l" fontAlgn="base">
              <a:buFont typeface="+mj-lt"/>
              <a:buAutoNum type="arabicPeriod"/>
            </a:pPr>
            <a:endParaRPr lang="en-IN" b="0" i="0" dirty="0">
              <a:solidFill>
                <a:srgbClr val="273239"/>
              </a:solidFill>
              <a:effectLst/>
              <a:latin typeface="Nunito" pitchFamily="2" charset="77"/>
            </a:endParaRPr>
          </a:p>
          <a:p>
            <a:pPr algn="l" fontAlgn="base">
              <a:buFont typeface="+mj-lt"/>
              <a:buAutoNum type="arabicPeriod" startAt="2"/>
            </a:pPr>
            <a:r>
              <a:rPr lang="en-IN" b="1" i="0" dirty="0">
                <a:solidFill>
                  <a:srgbClr val="273239"/>
                </a:solidFill>
                <a:effectLst/>
                <a:latin typeface="Nunito" pitchFamily="2" charset="77"/>
              </a:rPr>
              <a:t>Inferential Statistics: </a:t>
            </a:r>
            <a:r>
              <a:rPr lang="en-IN" b="0" i="0" u="sng" dirty="0">
                <a:solidFill>
                  <a:srgbClr val="357960"/>
                </a:solidFill>
                <a:effectLst/>
                <a:latin typeface="Nunito" pitchFamily="2" charset="77"/>
                <a:hlinkClick r:id="rId3"/>
              </a:rPr>
              <a:t>Inferential Statistics</a:t>
            </a:r>
            <a:r>
              <a:rPr lang="en-IN" b="0" i="0" dirty="0">
                <a:solidFill>
                  <a:srgbClr val="273239"/>
                </a:solidFill>
                <a:effectLst/>
                <a:latin typeface="Nunito" pitchFamily="2" charset="77"/>
              </a:rPr>
              <a:t> is a little different. It uses smaller data to conclude a larger group. It helps us predict and draw conclusions about a population.</a:t>
            </a:r>
          </a:p>
          <a:p>
            <a:endParaRPr lang="en-US" dirty="0"/>
          </a:p>
        </p:txBody>
      </p:sp>
    </p:spTree>
    <p:extLst>
      <p:ext uri="{BB962C8B-B14F-4D97-AF65-F5344CB8AC3E}">
        <p14:creationId xmlns:p14="http://schemas.microsoft.com/office/powerpoint/2010/main" val="1992658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F6D5-D820-8C1C-5BEC-34BDB37BF8B5}"/>
              </a:ext>
            </a:extLst>
          </p:cNvPr>
          <p:cNvSpPr>
            <a:spLocks noGrp="1"/>
          </p:cNvSpPr>
          <p:nvPr>
            <p:ph type="title"/>
          </p:nvPr>
        </p:nvSpPr>
        <p:spPr/>
        <p:txBody>
          <a:bodyPr/>
          <a:lstStyle/>
          <a:p>
            <a:r>
              <a:rPr lang="en-IN" b="1" i="0" dirty="0">
                <a:solidFill>
                  <a:srgbClr val="273239"/>
                </a:solidFill>
                <a:effectLst/>
                <a:latin typeface="Nunito" pitchFamily="2" charset="77"/>
              </a:rPr>
              <a:t>Types of Data </a:t>
            </a:r>
            <a:endParaRPr lang="en-US" dirty="0"/>
          </a:p>
        </p:txBody>
      </p:sp>
      <p:sp>
        <p:nvSpPr>
          <p:cNvPr id="3" name="Content Placeholder 2">
            <a:extLst>
              <a:ext uri="{FF2B5EF4-FFF2-40B4-BE49-F238E27FC236}">
                <a16:creationId xmlns:a16="http://schemas.microsoft.com/office/drawing/2014/main" id="{60C4D415-BA00-9E15-79DC-970FE5227357}"/>
              </a:ext>
            </a:extLst>
          </p:cNvPr>
          <p:cNvSpPr>
            <a:spLocks noGrp="1"/>
          </p:cNvSpPr>
          <p:nvPr>
            <p:ph idx="1"/>
          </p:nvPr>
        </p:nvSpPr>
        <p:spPr/>
        <p:txBody>
          <a:bodyPr/>
          <a:lstStyle/>
          <a:p>
            <a:pPr algn="l" rtl="0" fontAlgn="base"/>
            <a:r>
              <a:rPr lang="en-IN" b="1" i="0" dirty="0">
                <a:solidFill>
                  <a:srgbClr val="273239"/>
                </a:solidFill>
                <a:effectLst/>
                <a:latin typeface="Nunito" pitchFamily="2" charset="77"/>
              </a:rPr>
              <a:t>1. </a:t>
            </a:r>
            <a:r>
              <a:rPr lang="en-IN" b="1" i="0" u="sng" dirty="0">
                <a:solidFill>
                  <a:srgbClr val="357960"/>
                </a:solidFill>
                <a:effectLst/>
                <a:latin typeface="Nunito" pitchFamily="2" charset="77"/>
                <a:hlinkClick r:id="rId2"/>
              </a:rPr>
              <a:t>Qualitative Data:</a:t>
            </a:r>
            <a:r>
              <a:rPr lang="en-IN" b="0" i="0" dirty="0">
                <a:solidFill>
                  <a:srgbClr val="273239"/>
                </a:solidFill>
                <a:effectLst/>
                <a:latin typeface="Nunito" pitchFamily="2" charset="77"/>
              </a:rPr>
              <a:t> This data is descriptive. For example - She is beautiful, He is tall, etc.</a:t>
            </a:r>
          </a:p>
          <a:p>
            <a:pPr algn="l" rtl="0" fontAlgn="base"/>
            <a:r>
              <a:rPr lang="en-IN" b="1" i="0" dirty="0">
                <a:solidFill>
                  <a:srgbClr val="273239"/>
                </a:solidFill>
                <a:effectLst/>
                <a:latin typeface="Nunito" pitchFamily="2" charset="77"/>
              </a:rPr>
              <a:t>2. Quantitative Data: </a:t>
            </a:r>
            <a:r>
              <a:rPr lang="en-IN" b="0" i="0" dirty="0">
                <a:solidFill>
                  <a:srgbClr val="273239"/>
                </a:solidFill>
                <a:effectLst/>
                <a:latin typeface="Nunito" pitchFamily="2" charset="77"/>
              </a:rPr>
              <a:t>This is numerical information. For example- A horse has four legs.</a:t>
            </a:r>
          </a:p>
          <a:p>
            <a:pPr algn="l" fontAlgn="base">
              <a:buFont typeface="Arial" panose="020B0604020202020204" pitchFamily="34" charset="0"/>
              <a:buChar char="•"/>
            </a:pPr>
            <a:r>
              <a:rPr lang="en-IN" b="1" i="0" dirty="0">
                <a:solidFill>
                  <a:srgbClr val="273239"/>
                </a:solidFill>
                <a:effectLst/>
                <a:latin typeface="Nunito" pitchFamily="2" charset="77"/>
              </a:rPr>
              <a:t>Discrete Data: </a:t>
            </a:r>
            <a:r>
              <a:rPr lang="en-IN" b="0" i="0" dirty="0">
                <a:solidFill>
                  <a:srgbClr val="273239"/>
                </a:solidFill>
                <a:effectLst/>
                <a:latin typeface="Nunito" pitchFamily="2" charset="77"/>
              </a:rPr>
              <a:t>It has a particular fixed value and can be counted.</a:t>
            </a:r>
          </a:p>
          <a:p>
            <a:pPr algn="l" fontAlgn="base">
              <a:buFont typeface="Arial" panose="020B0604020202020204" pitchFamily="34" charset="0"/>
              <a:buChar char="•"/>
            </a:pPr>
            <a:r>
              <a:rPr lang="en-IN" b="1" i="0" dirty="0">
                <a:solidFill>
                  <a:srgbClr val="273239"/>
                </a:solidFill>
                <a:effectLst/>
                <a:latin typeface="Nunito" pitchFamily="2" charset="77"/>
              </a:rPr>
              <a:t>Continuous Data: </a:t>
            </a:r>
            <a:r>
              <a:rPr lang="en-IN" b="0" i="0" dirty="0">
                <a:solidFill>
                  <a:srgbClr val="273239"/>
                </a:solidFill>
                <a:effectLst/>
                <a:latin typeface="Nunito" pitchFamily="2" charset="77"/>
              </a:rPr>
              <a:t>It is not fixed but has a range of data and can be measured.</a:t>
            </a:r>
          </a:p>
          <a:p>
            <a:endParaRPr lang="en-US" dirty="0"/>
          </a:p>
        </p:txBody>
      </p:sp>
    </p:spTree>
    <p:extLst>
      <p:ext uri="{BB962C8B-B14F-4D97-AF65-F5344CB8AC3E}">
        <p14:creationId xmlns:p14="http://schemas.microsoft.com/office/powerpoint/2010/main" val="3809640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3610F-8843-FF0B-1660-2A46EB12FFB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316F18-0386-8259-3A39-E22292F1911C}"/>
              </a:ext>
            </a:extLst>
          </p:cNvPr>
          <p:cNvSpPr>
            <a:spLocks noGrp="1"/>
          </p:cNvSpPr>
          <p:nvPr>
            <p:ph idx="1"/>
          </p:nvPr>
        </p:nvSpPr>
        <p:spPr/>
        <p:txBody>
          <a:bodyPr/>
          <a:lstStyle/>
          <a:p>
            <a:endParaRPr lang="en-US"/>
          </a:p>
        </p:txBody>
      </p:sp>
      <p:pic>
        <p:nvPicPr>
          <p:cNvPr id="6148" name="Picture 4">
            <a:extLst>
              <a:ext uri="{FF2B5EF4-FFF2-40B4-BE49-F238E27FC236}">
                <a16:creationId xmlns:a16="http://schemas.microsoft.com/office/drawing/2014/main" id="{03E5D798-1449-5FC1-64F4-CBA84744BF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9238" y="0"/>
            <a:ext cx="91519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9581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93EE0-3DF7-2EB2-A777-32E8C45ED91C}"/>
              </a:ext>
            </a:extLst>
          </p:cNvPr>
          <p:cNvSpPr>
            <a:spLocks noGrp="1"/>
          </p:cNvSpPr>
          <p:nvPr>
            <p:ph type="title"/>
          </p:nvPr>
        </p:nvSpPr>
        <p:spPr/>
        <p:txBody>
          <a:bodyPr/>
          <a:lstStyle/>
          <a:p>
            <a:r>
              <a:rPr lang="en-US" altLang="en-US" sz="4400" i="1" dirty="0"/>
              <a:t>Descriptive Statistics</a:t>
            </a:r>
            <a:endParaRPr lang="en-US" dirty="0"/>
          </a:p>
        </p:txBody>
      </p:sp>
      <p:sp>
        <p:nvSpPr>
          <p:cNvPr id="5" name="Rectangle 3">
            <a:extLst>
              <a:ext uri="{FF2B5EF4-FFF2-40B4-BE49-F238E27FC236}">
                <a16:creationId xmlns:a16="http://schemas.microsoft.com/office/drawing/2014/main" id="{6007912E-D0A0-D87C-B998-73D736ACE4B3}"/>
              </a:ext>
            </a:extLst>
          </p:cNvPr>
          <p:cNvSpPr>
            <a:spLocks noGrp="1" noChangeArrowheads="1"/>
          </p:cNvSpPr>
          <p:nvPr>
            <p:ph idx="1"/>
          </p:nvPr>
        </p:nvSpPr>
        <p:spPr/>
        <p:txBody>
          <a:bodyPr>
            <a:normAutofit fontScale="62500" lnSpcReduction="20000"/>
          </a:bodyPr>
          <a:lstStyle/>
          <a:p>
            <a:pPr eaLnBrk="1" hangingPunct="1">
              <a:lnSpc>
                <a:spcPct val="80000"/>
              </a:lnSpc>
              <a:buFont typeface="Wingdings" pitchFamily="2" charset="2"/>
              <a:buNone/>
            </a:pPr>
            <a:r>
              <a:rPr lang="en-US" altLang="en-US" sz="2300" b="1" dirty="0"/>
              <a:t>	A</a:t>
            </a:r>
            <a:r>
              <a:rPr lang="en-US" altLang="en-US" sz="2300" dirty="0"/>
              <a:t>. </a:t>
            </a:r>
            <a:r>
              <a:rPr lang="en-US" altLang="en-US" sz="2300" i="1" dirty="0"/>
              <a:t>Measures of Central Tendency </a:t>
            </a:r>
            <a:r>
              <a:rPr lang="en-US" altLang="en-US" sz="2300" dirty="0"/>
              <a:t>(Chapter 3)</a:t>
            </a:r>
            <a:endParaRPr lang="en-US" altLang="en-US" sz="2300" b="1" dirty="0"/>
          </a:p>
          <a:p>
            <a:pPr eaLnBrk="1" hangingPunct="1">
              <a:lnSpc>
                <a:spcPct val="80000"/>
              </a:lnSpc>
              <a:buFont typeface="Wingdings" pitchFamily="2" charset="2"/>
              <a:buNone/>
            </a:pPr>
            <a:r>
              <a:rPr lang="en-US" altLang="en-US" sz="2300" b="1" dirty="0"/>
              <a:t>		1</a:t>
            </a:r>
            <a:r>
              <a:rPr lang="en-US" altLang="en-US" sz="2300" dirty="0"/>
              <a:t>. </a:t>
            </a:r>
            <a:r>
              <a:rPr lang="en-US" altLang="en-US" sz="2300" i="1" dirty="0"/>
              <a:t>Mean</a:t>
            </a:r>
            <a:endParaRPr lang="en-US" altLang="en-US" sz="2300" b="1" dirty="0"/>
          </a:p>
          <a:p>
            <a:pPr eaLnBrk="1" hangingPunct="1">
              <a:lnSpc>
                <a:spcPct val="80000"/>
              </a:lnSpc>
              <a:buFont typeface="Wingdings" pitchFamily="2" charset="2"/>
              <a:buNone/>
            </a:pPr>
            <a:r>
              <a:rPr lang="en-US" altLang="en-US" sz="2300" b="1" dirty="0"/>
              <a:t>		2</a:t>
            </a:r>
            <a:r>
              <a:rPr lang="en-US" altLang="en-US" sz="2300" dirty="0"/>
              <a:t>. </a:t>
            </a:r>
            <a:r>
              <a:rPr lang="en-US" altLang="en-US" sz="2300" i="1" dirty="0"/>
              <a:t>Median</a:t>
            </a:r>
            <a:endParaRPr lang="en-US" altLang="en-US" sz="2300" b="1" dirty="0"/>
          </a:p>
          <a:p>
            <a:pPr eaLnBrk="1" hangingPunct="1">
              <a:lnSpc>
                <a:spcPct val="80000"/>
              </a:lnSpc>
              <a:buFont typeface="Wingdings" pitchFamily="2" charset="2"/>
              <a:buNone/>
            </a:pPr>
            <a:r>
              <a:rPr lang="en-US" altLang="en-US" sz="2300" b="1" dirty="0"/>
              <a:t>		3</a:t>
            </a:r>
            <a:r>
              <a:rPr lang="en-US" altLang="en-US" sz="2300" dirty="0"/>
              <a:t>. </a:t>
            </a:r>
            <a:r>
              <a:rPr lang="en-US" altLang="en-US" sz="2300" i="1" dirty="0"/>
              <a:t>Mode</a:t>
            </a:r>
            <a:endParaRPr lang="en-US" altLang="en-US" sz="2300" b="1" dirty="0"/>
          </a:p>
          <a:p>
            <a:pPr eaLnBrk="1" hangingPunct="1">
              <a:lnSpc>
                <a:spcPct val="80000"/>
              </a:lnSpc>
              <a:buFont typeface="Wingdings" pitchFamily="2" charset="2"/>
              <a:buNone/>
            </a:pPr>
            <a:r>
              <a:rPr lang="en-US" altLang="en-US" sz="2300" b="1" dirty="0"/>
              <a:t>	B</a:t>
            </a:r>
            <a:r>
              <a:rPr lang="en-US" altLang="en-US" sz="2300" dirty="0"/>
              <a:t>. </a:t>
            </a:r>
            <a:r>
              <a:rPr lang="en-US" altLang="en-US" sz="2300" i="1" dirty="0"/>
              <a:t>Measures of Variability </a:t>
            </a:r>
            <a:r>
              <a:rPr lang="en-US" altLang="en-US" sz="2300" dirty="0"/>
              <a:t>(Chapter 4)</a:t>
            </a:r>
            <a:endParaRPr lang="en-US" altLang="en-US" sz="2300" b="1" dirty="0"/>
          </a:p>
          <a:p>
            <a:pPr eaLnBrk="1" hangingPunct="1">
              <a:lnSpc>
                <a:spcPct val="80000"/>
              </a:lnSpc>
              <a:buFont typeface="Wingdings" pitchFamily="2" charset="2"/>
              <a:buNone/>
            </a:pPr>
            <a:r>
              <a:rPr lang="en-US" altLang="en-US" sz="2300" b="1" dirty="0"/>
              <a:t>		1</a:t>
            </a:r>
            <a:r>
              <a:rPr lang="en-US" altLang="en-US" sz="2300" dirty="0"/>
              <a:t>. </a:t>
            </a:r>
            <a:r>
              <a:rPr lang="en-US" altLang="en-US" sz="2300" i="1" dirty="0"/>
              <a:t>Range</a:t>
            </a:r>
            <a:endParaRPr lang="en-US" altLang="en-US" sz="2300" dirty="0"/>
          </a:p>
          <a:p>
            <a:pPr eaLnBrk="1" hangingPunct="1">
              <a:lnSpc>
                <a:spcPct val="80000"/>
              </a:lnSpc>
              <a:buFont typeface="Wingdings" pitchFamily="2" charset="2"/>
              <a:buNone/>
            </a:pPr>
            <a:r>
              <a:rPr lang="en-US" altLang="en-US" sz="2300" dirty="0"/>
              <a:t>		</a:t>
            </a:r>
            <a:r>
              <a:rPr lang="en-US" altLang="en-US" sz="2300" b="1" dirty="0"/>
              <a:t>2</a:t>
            </a:r>
            <a:r>
              <a:rPr lang="en-US" altLang="en-US" sz="2300" dirty="0"/>
              <a:t>. </a:t>
            </a:r>
            <a:r>
              <a:rPr lang="en-US" altLang="en-US" sz="2300" i="1" dirty="0"/>
              <a:t>Mean deviation</a:t>
            </a:r>
            <a:endParaRPr lang="en-US" altLang="en-US" sz="2300" b="1" dirty="0"/>
          </a:p>
          <a:p>
            <a:pPr eaLnBrk="1" hangingPunct="1">
              <a:lnSpc>
                <a:spcPct val="80000"/>
              </a:lnSpc>
              <a:buFont typeface="Wingdings" pitchFamily="2" charset="2"/>
              <a:buNone/>
            </a:pPr>
            <a:r>
              <a:rPr lang="en-US" altLang="en-US" sz="2300" b="1" dirty="0"/>
              <a:t>		3</a:t>
            </a:r>
            <a:r>
              <a:rPr lang="en-US" altLang="en-US" sz="2300" dirty="0"/>
              <a:t>. </a:t>
            </a:r>
            <a:r>
              <a:rPr lang="en-US" altLang="en-US" sz="2300" i="1" dirty="0"/>
              <a:t>Variance</a:t>
            </a:r>
            <a:endParaRPr lang="en-US" altLang="en-US" sz="2300" b="1" dirty="0"/>
          </a:p>
          <a:p>
            <a:pPr eaLnBrk="1" hangingPunct="1">
              <a:lnSpc>
                <a:spcPct val="80000"/>
              </a:lnSpc>
              <a:buFont typeface="Wingdings" pitchFamily="2" charset="2"/>
              <a:buNone/>
            </a:pPr>
            <a:r>
              <a:rPr lang="en-US" altLang="en-US" sz="2300" b="1" dirty="0"/>
              <a:t>		4</a:t>
            </a:r>
            <a:r>
              <a:rPr lang="en-US" altLang="en-US" sz="2300" dirty="0"/>
              <a:t>. </a:t>
            </a:r>
            <a:r>
              <a:rPr lang="en-US" altLang="en-US" sz="2300" i="1" dirty="0"/>
              <a:t>Standard Deviation</a:t>
            </a:r>
            <a:endParaRPr lang="en-US" altLang="en-US" sz="2300" b="1" dirty="0"/>
          </a:p>
          <a:p>
            <a:pPr eaLnBrk="1" hangingPunct="1">
              <a:lnSpc>
                <a:spcPct val="80000"/>
              </a:lnSpc>
              <a:buFont typeface="Wingdings" pitchFamily="2" charset="2"/>
              <a:buNone/>
            </a:pPr>
            <a:r>
              <a:rPr lang="en-US" altLang="en-US" sz="2300" b="1" dirty="0"/>
              <a:t>	C</a:t>
            </a:r>
            <a:r>
              <a:rPr lang="en-US" altLang="en-US" sz="2300" dirty="0"/>
              <a:t>. </a:t>
            </a:r>
            <a:r>
              <a:rPr lang="en-US" altLang="en-US" sz="2300" i="1" dirty="0"/>
              <a:t>Skewness </a:t>
            </a:r>
            <a:r>
              <a:rPr lang="en-US" altLang="en-US" sz="2300" dirty="0"/>
              <a:t>(Chapter 2)</a:t>
            </a:r>
            <a:endParaRPr lang="en-US" altLang="en-US" sz="2300" b="1" dirty="0"/>
          </a:p>
          <a:p>
            <a:pPr eaLnBrk="1" hangingPunct="1">
              <a:lnSpc>
                <a:spcPct val="80000"/>
              </a:lnSpc>
              <a:buFont typeface="Wingdings" pitchFamily="2" charset="2"/>
              <a:buNone/>
            </a:pPr>
            <a:r>
              <a:rPr lang="en-US" altLang="en-US" sz="2300" b="1" dirty="0"/>
              <a:t>		1</a:t>
            </a:r>
            <a:r>
              <a:rPr lang="en-US" altLang="en-US" sz="2300" dirty="0"/>
              <a:t>. </a:t>
            </a:r>
            <a:r>
              <a:rPr lang="en-US" altLang="en-US" sz="2300" i="1" dirty="0"/>
              <a:t>Positive skew</a:t>
            </a:r>
            <a:endParaRPr lang="en-US" altLang="en-US" sz="2300" b="1" dirty="0"/>
          </a:p>
          <a:p>
            <a:pPr eaLnBrk="1" hangingPunct="1">
              <a:lnSpc>
                <a:spcPct val="80000"/>
              </a:lnSpc>
              <a:buFont typeface="Wingdings" pitchFamily="2" charset="2"/>
              <a:buNone/>
            </a:pPr>
            <a:r>
              <a:rPr lang="en-US" altLang="en-US" sz="2300" b="1" dirty="0"/>
              <a:t>		2</a:t>
            </a:r>
            <a:r>
              <a:rPr lang="en-US" altLang="en-US" sz="2300" dirty="0"/>
              <a:t>. </a:t>
            </a:r>
            <a:r>
              <a:rPr lang="en-US" altLang="en-US" sz="2300" i="1" dirty="0"/>
              <a:t>Normal distribution</a:t>
            </a:r>
            <a:endParaRPr lang="en-US" altLang="en-US" sz="2300" b="1" dirty="0"/>
          </a:p>
          <a:p>
            <a:pPr eaLnBrk="1" hangingPunct="1">
              <a:lnSpc>
                <a:spcPct val="80000"/>
              </a:lnSpc>
              <a:buFont typeface="Wingdings" pitchFamily="2" charset="2"/>
              <a:buNone/>
            </a:pPr>
            <a:r>
              <a:rPr lang="en-US" altLang="en-US" sz="2300" b="1" dirty="0"/>
              <a:t>		3</a:t>
            </a:r>
            <a:r>
              <a:rPr lang="en-US" altLang="en-US" sz="2300" dirty="0"/>
              <a:t>. </a:t>
            </a:r>
            <a:r>
              <a:rPr lang="en-US" altLang="en-US" sz="2300" i="1" dirty="0"/>
              <a:t>Negative skew</a:t>
            </a:r>
            <a:endParaRPr lang="en-US" altLang="en-US" sz="2300" b="1" dirty="0"/>
          </a:p>
          <a:p>
            <a:pPr eaLnBrk="1" hangingPunct="1">
              <a:lnSpc>
                <a:spcPct val="80000"/>
              </a:lnSpc>
              <a:buFont typeface="Wingdings" pitchFamily="2" charset="2"/>
              <a:buNone/>
            </a:pPr>
            <a:r>
              <a:rPr lang="en-US" altLang="en-US" sz="2300" b="1" dirty="0"/>
              <a:t>	D</a:t>
            </a:r>
            <a:r>
              <a:rPr lang="en-US" altLang="en-US" sz="2300" dirty="0"/>
              <a:t>. </a:t>
            </a:r>
            <a:r>
              <a:rPr lang="en-US" altLang="en-US" sz="2300" i="1" dirty="0"/>
              <a:t>Kurtosis</a:t>
            </a:r>
            <a:endParaRPr lang="en-US" altLang="en-US" sz="2300" b="1" dirty="0"/>
          </a:p>
          <a:p>
            <a:pPr eaLnBrk="1" hangingPunct="1">
              <a:lnSpc>
                <a:spcPct val="80000"/>
              </a:lnSpc>
              <a:buFont typeface="Wingdings" pitchFamily="2" charset="2"/>
              <a:buNone/>
            </a:pPr>
            <a:r>
              <a:rPr lang="en-US" altLang="en-US" sz="2300" b="1" dirty="0"/>
              <a:t>		1</a:t>
            </a:r>
            <a:r>
              <a:rPr lang="en-US" altLang="en-US" sz="2300" dirty="0"/>
              <a:t>. </a:t>
            </a:r>
            <a:r>
              <a:rPr lang="en-US" altLang="en-US" sz="2300" i="1" dirty="0"/>
              <a:t>Platykurtic</a:t>
            </a:r>
            <a:endParaRPr lang="en-US" altLang="en-US" sz="2300" b="1" dirty="0"/>
          </a:p>
          <a:p>
            <a:pPr eaLnBrk="1" hangingPunct="1">
              <a:lnSpc>
                <a:spcPct val="80000"/>
              </a:lnSpc>
              <a:buFont typeface="Wingdings" pitchFamily="2" charset="2"/>
              <a:buNone/>
            </a:pPr>
            <a:r>
              <a:rPr lang="en-US" altLang="en-US" sz="2300" b="1" dirty="0"/>
              <a:t>		2</a:t>
            </a:r>
            <a:r>
              <a:rPr lang="en-US" altLang="en-US" sz="2300" dirty="0"/>
              <a:t>. </a:t>
            </a:r>
            <a:r>
              <a:rPr lang="en-US" altLang="en-US" sz="2300" i="1" dirty="0"/>
              <a:t>Mesokurtic</a:t>
            </a:r>
            <a:endParaRPr lang="en-US" altLang="en-US" sz="2300" b="1" dirty="0"/>
          </a:p>
          <a:p>
            <a:pPr eaLnBrk="1" hangingPunct="1">
              <a:lnSpc>
                <a:spcPct val="80000"/>
              </a:lnSpc>
              <a:buFont typeface="Wingdings" pitchFamily="2" charset="2"/>
              <a:buNone/>
            </a:pPr>
            <a:r>
              <a:rPr lang="en-US" altLang="en-US" sz="2300" b="1" dirty="0"/>
              <a:t>		3</a:t>
            </a:r>
            <a:r>
              <a:rPr lang="en-US" altLang="en-US" sz="2300" dirty="0"/>
              <a:t>. </a:t>
            </a:r>
            <a:r>
              <a:rPr lang="en-US" altLang="en-US" sz="2300" i="1" dirty="0"/>
              <a:t>Leptokurtic</a:t>
            </a:r>
            <a:endParaRPr lang="en-US" altLang="en-US" sz="2300" dirty="0"/>
          </a:p>
        </p:txBody>
      </p:sp>
    </p:spTree>
    <p:extLst>
      <p:ext uri="{BB962C8B-B14F-4D97-AF65-F5344CB8AC3E}">
        <p14:creationId xmlns:p14="http://schemas.microsoft.com/office/powerpoint/2010/main" val="3895114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B4DEB-6F13-A940-7CB1-2FB4BFB829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6F43B-0A44-5592-B306-BC2923A97125}"/>
              </a:ext>
            </a:extLst>
          </p:cNvPr>
          <p:cNvSpPr>
            <a:spLocks noGrp="1"/>
          </p:cNvSpPr>
          <p:nvPr>
            <p:ph type="title"/>
          </p:nvPr>
        </p:nvSpPr>
        <p:spPr/>
        <p:txBody>
          <a:bodyPr/>
          <a:lstStyle/>
          <a:p>
            <a:r>
              <a:rPr lang="en-IN" b="1" i="0" dirty="0">
                <a:solidFill>
                  <a:srgbClr val="273239"/>
                </a:solidFill>
                <a:effectLst/>
                <a:latin typeface="Nunito" pitchFamily="2" charset="77"/>
              </a:rPr>
              <a:t>Measure of Central Tendency</a:t>
            </a:r>
            <a:endParaRPr lang="en-US" dirty="0"/>
          </a:p>
        </p:txBody>
      </p:sp>
      <p:sp>
        <p:nvSpPr>
          <p:cNvPr id="3" name="Content Placeholder 2">
            <a:extLst>
              <a:ext uri="{FF2B5EF4-FFF2-40B4-BE49-F238E27FC236}">
                <a16:creationId xmlns:a16="http://schemas.microsoft.com/office/drawing/2014/main" id="{130F3DC7-AAF8-CA28-504A-0E93E1B98DC7}"/>
              </a:ext>
            </a:extLst>
          </p:cNvPr>
          <p:cNvSpPr>
            <a:spLocks noGrp="1"/>
          </p:cNvSpPr>
          <p:nvPr>
            <p:ph idx="1"/>
          </p:nvPr>
        </p:nvSpPr>
        <p:spPr/>
        <p:txBody>
          <a:bodyPr>
            <a:normAutofit fontScale="55000" lnSpcReduction="20000"/>
          </a:bodyPr>
          <a:lstStyle/>
          <a:p>
            <a:pPr algn="l" rtl="0" fontAlgn="base"/>
            <a:r>
              <a:rPr lang="en-IN" b="1" i="0" dirty="0">
                <a:solidFill>
                  <a:srgbClr val="273239"/>
                </a:solidFill>
                <a:effectLst/>
                <a:latin typeface="Nunito" pitchFamily="2" charset="77"/>
              </a:rPr>
              <a:t>1. Mean</a:t>
            </a:r>
            <a:r>
              <a:rPr lang="en-IN" b="0" i="0" dirty="0">
                <a:solidFill>
                  <a:srgbClr val="273239"/>
                </a:solidFill>
                <a:effectLst/>
                <a:latin typeface="Nunito" pitchFamily="2" charset="77"/>
              </a:rPr>
              <a:t>: The </a:t>
            </a:r>
            <a:r>
              <a:rPr lang="en-IN" b="0" i="0" u="sng" dirty="0">
                <a:solidFill>
                  <a:srgbClr val="357960"/>
                </a:solidFill>
                <a:effectLst/>
                <a:latin typeface="Nunito" pitchFamily="2" charset="77"/>
                <a:hlinkClick r:id="rId2"/>
              </a:rPr>
              <a:t>mean</a:t>
            </a:r>
            <a:r>
              <a:rPr lang="en-IN" b="0" i="0" dirty="0">
                <a:solidFill>
                  <a:srgbClr val="273239"/>
                </a:solidFill>
                <a:effectLst/>
                <a:latin typeface="Nunito" pitchFamily="2" charset="77"/>
              </a:rPr>
              <a:t> can be calculated by summing all values present in the sample divided by total number of values present in the sample or population.</a:t>
            </a:r>
          </a:p>
          <a:p>
            <a:pPr rtl="0" fontAlgn="base"/>
            <a:r>
              <a:rPr lang="en-IN" b="0" i="0" dirty="0" err="1">
                <a:effectLst/>
                <a:latin typeface="KaTeX_Main"/>
              </a:rPr>
              <a:t>Formula:Mean</a:t>
            </a:r>
            <a:r>
              <a:rPr lang="en-IN" b="0" i="0" dirty="0">
                <a:effectLst/>
                <a:latin typeface="KaTeX_Main"/>
              </a:rPr>
              <a:t>(</a:t>
            </a:r>
            <a:r>
              <a:rPr lang="el-GR" b="0" i="0" dirty="0">
                <a:effectLst/>
                <a:latin typeface="KaTeX_Main"/>
              </a:rPr>
              <a:t>μ)=</a:t>
            </a:r>
            <a:r>
              <a:rPr lang="en-IN" b="0" i="0" dirty="0" err="1">
                <a:effectLst/>
                <a:latin typeface="KaTeX_Main"/>
              </a:rPr>
              <a:t>SumofValuesNumberofValues</a:t>
            </a:r>
            <a:r>
              <a:rPr lang="en-IN" b="0" i="0" dirty="0">
                <a:effectLst/>
                <a:latin typeface="KaTeX_Main"/>
              </a:rPr>
              <a:t>  </a:t>
            </a:r>
            <a:r>
              <a:rPr lang="en-IN" b="0" i="1" dirty="0" err="1">
                <a:effectLst/>
                <a:latin typeface="KaTeX_Math"/>
              </a:rPr>
              <a:t>Formula</a:t>
            </a:r>
            <a:r>
              <a:rPr lang="en-IN" b="0" i="0" dirty="0" err="1">
                <a:effectLst/>
                <a:latin typeface="KaTeX_Main"/>
              </a:rPr>
              <a:t>:</a:t>
            </a:r>
            <a:r>
              <a:rPr lang="en-IN" b="0" i="1" dirty="0" err="1">
                <a:effectLst/>
                <a:latin typeface="KaTeX_Math"/>
              </a:rPr>
              <a:t>Mean</a:t>
            </a:r>
            <a:r>
              <a:rPr lang="en-IN" b="0" i="0" dirty="0">
                <a:effectLst/>
                <a:latin typeface="KaTeX_Main"/>
              </a:rPr>
              <a:t>(</a:t>
            </a:r>
            <a:r>
              <a:rPr lang="el-GR" b="0" i="1" dirty="0">
                <a:effectLst/>
                <a:latin typeface="KaTeX_Math"/>
              </a:rPr>
              <a:t>μ</a:t>
            </a:r>
            <a:r>
              <a:rPr lang="el-GR" b="0" i="0" dirty="0">
                <a:effectLst/>
                <a:latin typeface="KaTeX_Main"/>
              </a:rPr>
              <a:t>)=</a:t>
            </a:r>
            <a:r>
              <a:rPr lang="en-IN" b="0" i="1" dirty="0" err="1">
                <a:effectLst/>
                <a:latin typeface="KaTeX_Math"/>
              </a:rPr>
              <a:t>NumberofValuesSumofValues</a:t>
            </a:r>
            <a:r>
              <a:rPr lang="en-IN" b="0" i="0" dirty="0">
                <a:effectLst/>
                <a:latin typeface="KaTeX_Main"/>
              </a:rPr>
              <a:t>​  </a:t>
            </a:r>
            <a:endParaRPr lang="en-IN" b="0" dirty="0">
              <a:effectLst/>
              <a:latin typeface="Nunito" pitchFamily="2" charset="77"/>
            </a:endParaRPr>
          </a:p>
          <a:p>
            <a:pPr algn="l" rtl="0" fontAlgn="base"/>
            <a:r>
              <a:rPr lang="en-IN" b="1" i="0" dirty="0">
                <a:solidFill>
                  <a:srgbClr val="273239"/>
                </a:solidFill>
                <a:effectLst/>
                <a:latin typeface="Nunito" pitchFamily="2" charset="77"/>
              </a:rPr>
              <a:t>2. Median: </a:t>
            </a:r>
            <a:r>
              <a:rPr lang="en-IN" b="0" i="0" dirty="0">
                <a:solidFill>
                  <a:srgbClr val="273239"/>
                </a:solidFill>
                <a:effectLst/>
                <a:latin typeface="Nunito" pitchFamily="2" charset="77"/>
              </a:rPr>
              <a:t>The </a:t>
            </a:r>
            <a:r>
              <a:rPr lang="en-IN" b="0" i="0" u="sng" dirty="0">
                <a:solidFill>
                  <a:srgbClr val="357960"/>
                </a:solidFill>
                <a:effectLst/>
                <a:latin typeface="Nunito" pitchFamily="2" charset="77"/>
                <a:hlinkClick r:id="rId3"/>
              </a:rPr>
              <a:t>median</a:t>
            </a:r>
            <a:r>
              <a:rPr lang="en-IN" b="0" i="0" dirty="0">
                <a:solidFill>
                  <a:srgbClr val="273239"/>
                </a:solidFill>
                <a:effectLst/>
                <a:latin typeface="Nunito" pitchFamily="2" charset="77"/>
              </a:rPr>
              <a:t> is the middle of a dataset when arranged from lowest to highest or highest to lowest in order to find the median, the data must be sorted. For an odd number of data points the median is the middle value and for an even number of data points median is the average of the two middle values.</a:t>
            </a:r>
          </a:p>
          <a:p>
            <a:pPr algn="l" rtl="0" fontAlgn="base"/>
            <a:r>
              <a:rPr lang="en-IN" b="1" i="0" dirty="0">
                <a:solidFill>
                  <a:srgbClr val="273239"/>
                </a:solidFill>
                <a:effectLst/>
                <a:latin typeface="Nunito" pitchFamily="2" charset="77"/>
              </a:rPr>
              <a:t>3. Mode: </a:t>
            </a:r>
            <a:r>
              <a:rPr lang="en-IN" b="0" i="0" dirty="0">
                <a:solidFill>
                  <a:srgbClr val="273239"/>
                </a:solidFill>
                <a:effectLst/>
                <a:latin typeface="Nunito" pitchFamily="2" charset="77"/>
              </a:rPr>
              <a:t>The most frequently occurring value in the Sample or Population is called as </a:t>
            </a:r>
            <a:r>
              <a:rPr lang="en-IN" b="0" i="0" u="sng" dirty="0">
                <a:solidFill>
                  <a:srgbClr val="357960"/>
                </a:solidFill>
                <a:effectLst/>
                <a:latin typeface="Nunito" pitchFamily="2" charset="77"/>
                <a:hlinkClick r:id="rId4"/>
              </a:rPr>
              <a:t>Mode</a:t>
            </a:r>
            <a:r>
              <a:rPr lang="en-IN" b="0" i="0" dirty="0">
                <a:solidFill>
                  <a:srgbClr val="273239"/>
                </a:solidFill>
                <a:effectLst/>
                <a:latin typeface="Nunito" pitchFamily="2" charset="77"/>
              </a:rPr>
              <a:t>.​</a:t>
            </a:r>
          </a:p>
          <a:p>
            <a:pPr algn="l" fontAlgn="base"/>
            <a:r>
              <a:rPr lang="en-IN" b="1" i="0" dirty="0">
                <a:solidFill>
                  <a:srgbClr val="273239"/>
                </a:solidFill>
                <a:effectLst/>
                <a:latin typeface="Nunito" pitchFamily="2" charset="77"/>
              </a:rPr>
              <a:t>Measure of Dispersion</a:t>
            </a:r>
          </a:p>
          <a:p>
            <a:pPr algn="l" fontAlgn="base">
              <a:buFont typeface="Arial" panose="020B0604020202020204" pitchFamily="34" charset="0"/>
              <a:buChar char="•"/>
            </a:pPr>
            <a:r>
              <a:rPr lang="en-IN" b="1" i="0" dirty="0">
                <a:solidFill>
                  <a:srgbClr val="273239"/>
                </a:solidFill>
                <a:effectLst/>
                <a:latin typeface="Nunito" pitchFamily="2" charset="77"/>
              </a:rPr>
              <a:t>Range: </a:t>
            </a:r>
            <a:r>
              <a:rPr lang="en-IN" b="0" i="0" dirty="0">
                <a:solidFill>
                  <a:srgbClr val="273239"/>
                </a:solidFill>
                <a:effectLst/>
                <a:latin typeface="Nunito" pitchFamily="2" charset="77"/>
              </a:rPr>
              <a:t>Range is the difference between the maximum and minimum values of the Sample.</a:t>
            </a:r>
          </a:p>
          <a:p>
            <a:pPr algn="l" fontAlgn="base">
              <a:buFont typeface="Arial" panose="020B0604020202020204" pitchFamily="34" charset="0"/>
              <a:buChar char="•"/>
            </a:pPr>
            <a:r>
              <a:rPr lang="en-IN" b="1" i="0" dirty="0">
                <a:solidFill>
                  <a:srgbClr val="273239"/>
                </a:solidFill>
                <a:effectLst/>
                <a:latin typeface="Nunito" pitchFamily="2" charset="77"/>
              </a:rPr>
              <a:t>Variance (</a:t>
            </a:r>
            <a:r>
              <a:rPr lang="el-GR" b="1" i="0" dirty="0">
                <a:solidFill>
                  <a:srgbClr val="273239"/>
                </a:solidFill>
                <a:effectLst/>
                <a:latin typeface="Nunito" pitchFamily="2" charset="77"/>
              </a:rPr>
              <a:t>σ²): </a:t>
            </a:r>
            <a:r>
              <a:rPr lang="en-IN" b="0" i="0" u="sng" dirty="0">
                <a:solidFill>
                  <a:srgbClr val="357960"/>
                </a:solidFill>
                <a:effectLst/>
                <a:latin typeface="Nunito" pitchFamily="2" charset="77"/>
                <a:hlinkClick r:id="rId5"/>
              </a:rPr>
              <a:t>Variance</a:t>
            </a:r>
            <a:r>
              <a:rPr lang="en-IN" b="0" i="0" dirty="0">
                <a:solidFill>
                  <a:srgbClr val="273239"/>
                </a:solidFill>
                <a:effectLst/>
                <a:latin typeface="Nunito" pitchFamily="2" charset="77"/>
              </a:rPr>
              <a:t> is a measure of how spread-out values from the mean by measuring the dispersion around the Mean.</a:t>
            </a:r>
          </a:p>
          <a:p>
            <a:pPr rtl="0" fontAlgn="base"/>
            <a:r>
              <a:rPr lang="en-IN" b="0" i="0" dirty="0">
                <a:effectLst/>
                <a:latin typeface="KaTeX_Main"/>
              </a:rPr>
              <a:t>Formula:</a:t>
            </a:r>
            <a:r>
              <a:rPr lang="el-GR" b="0" i="0" dirty="0">
                <a:effectLst/>
                <a:latin typeface="KaTeX_Main"/>
              </a:rPr>
              <a:t>σ2 = Σ(</a:t>
            </a:r>
            <a:r>
              <a:rPr lang="en-IN" b="0" i="0" dirty="0">
                <a:effectLst/>
                <a:latin typeface="KaTeX_Main"/>
              </a:rPr>
              <a:t>X−</a:t>
            </a:r>
            <a:r>
              <a:rPr lang="el-GR" b="0" i="0" dirty="0">
                <a:effectLst/>
                <a:latin typeface="KaTeX_Main"/>
              </a:rPr>
              <a:t>μ)2</a:t>
            </a:r>
            <a:r>
              <a:rPr lang="en-IN" b="0" i="0" dirty="0">
                <a:effectLst/>
                <a:latin typeface="KaTeX_Main"/>
              </a:rPr>
              <a:t>n  </a:t>
            </a:r>
            <a:r>
              <a:rPr lang="en-IN" b="0" i="1" dirty="0">
                <a:effectLst/>
                <a:latin typeface="KaTeX_Math"/>
              </a:rPr>
              <a:t>Formula</a:t>
            </a:r>
            <a:r>
              <a:rPr lang="en-IN" b="0" i="0" dirty="0">
                <a:effectLst/>
                <a:latin typeface="KaTeX_Main"/>
              </a:rPr>
              <a:t>:</a:t>
            </a:r>
            <a:r>
              <a:rPr lang="el-GR" b="0" i="1" dirty="0">
                <a:effectLst/>
                <a:latin typeface="KaTeX_Math"/>
              </a:rPr>
              <a:t>σ</a:t>
            </a:r>
            <a:r>
              <a:rPr lang="el-GR" b="0" i="0" dirty="0">
                <a:effectLst/>
                <a:latin typeface="KaTeX_Main"/>
              </a:rPr>
              <a:t>2 = </a:t>
            </a:r>
            <a:r>
              <a:rPr lang="en-IN" b="0" i="1" dirty="0">
                <a:effectLst/>
                <a:latin typeface="KaTeX_Math"/>
              </a:rPr>
              <a:t>n</a:t>
            </a:r>
            <a:r>
              <a:rPr lang="el-GR" b="0" i="0" dirty="0">
                <a:effectLst/>
                <a:latin typeface="KaTeX_Main"/>
              </a:rPr>
              <a:t>Σ(</a:t>
            </a:r>
            <a:r>
              <a:rPr lang="en-IN" b="0" i="1" dirty="0">
                <a:effectLst/>
                <a:latin typeface="KaTeX_Math"/>
              </a:rPr>
              <a:t>X</a:t>
            </a:r>
            <a:r>
              <a:rPr lang="en-IN" b="0" i="0" dirty="0">
                <a:effectLst/>
                <a:latin typeface="KaTeX_Main"/>
              </a:rPr>
              <a:t>−</a:t>
            </a:r>
            <a:r>
              <a:rPr lang="el-GR" b="0" i="1" dirty="0">
                <a:effectLst/>
                <a:latin typeface="KaTeX_Math"/>
              </a:rPr>
              <a:t>μ</a:t>
            </a:r>
            <a:r>
              <a:rPr lang="el-GR" b="0" i="0" dirty="0">
                <a:effectLst/>
                <a:latin typeface="KaTeX_Main"/>
              </a:rPr>
              <a:t>)2​  </a:t>
            </a:r>
            <a:endParaRPr lang="el-GR" b="0" dirty="0">
              <a:effectLst/>
              <a:latin typeface="Nunito" pitchFamily="2" charset="77"/>
            </a:endParaRPr>
          </a:p>
          <a:p>
            <a:pPr algn="l" fontAlgn="base">
              <a:buFont typeface="Arial" panose="020B0604020202020204" pitchFamily="34" charset="0"/>
              <a:buChar char="•"/>
            </a:pPr>
            <a:r>
              <a:rPr lang="en-IN" b="1" i="0" dirty="0">
                <a:solidFill>
                  <a:srgbClr val="273239"/>
                </a:solidFill>
                <a:effectLst/>
                <a:latin typeface="Nunito" pitchFamily="2" charset="77"/>
              </a:rPr>
              <a:t>Standard Deviation (</a:t>
            </a:r>
            <a:r>
              <a:rPr lang="el-GR" b="1" i="0" dirty="0">
                <a:solidFill>
                  <a:srgbClr val="273239"/>
                </a:solidFill>
                <a:effectLst/>
                <a:latin typeface="Nunito" pitchFamily="2" charset="77"/>
              </a:rPr>
              <a:t>σ): </a:t>
            </a:r>
            <a:r>
              <a:rPr lang="en-IN" b="0" i="0" u="sng" dirty="0">
                <a:solidFill>
                  <a:srgbClr val="357960"/>
                </a:solidFill>
                <a:effectLst/>
                <a:latin typeface="Nunito" pitchFamily="2" charset="77"/>
                <a:hlinkClick r:id="rId6"/>
              </a:rPr>
              <a:t>Standard Deviation</a:t>
            </a:r>
            <a:r>
              <a:rPr lang="en-IN" b="0" i="0" dirty="0">
                <a:solidFill>
                  <a:srgbClr val="273239"/>
                </a:solidFill>
                <a:effectLst/>
                <a:latin typeface="Nunito" pitchFamily="2" charset="77"/>
              </a:rPr>
              <a:t> is the square root of variance. The measuring unit of S.D. is same as the Sample values' unit. It indicates the average distance of data points from the mean and is widely used due to its intuitive interpretation.</a:t>
            </a:r>
          </a:p>
          <a:p>
            <a:pPr rtl="0" fontAlgn="base"/>
            <a:r>
              <a:rPr lang="en-IN" b="0" i="0" dirty="0">
                <a:effectLst/>
                <a:latin typeface="KaTeX_Main"/>
              </a:rPr>
              <a:t>Formula:</a:t>
            </a:r>
            <a:r>
              <a:rPr lang="el-GR" b="0" i="0" dirty="0">
                <a:effectLst/>
                <a:latin typeface="KaTeX_Main"/>
              </a:rPr>
              <a:t>σ=(σ2)=(Σ(</a:t>
            </a:r>
            <a:r>
              <a:rPr lang="en-IN" b="0" i="0" dirty="0">
                <a:effectLst/>
                <a:latin typeface="KaTeX_Main"/>
              </a:rPr>
              <a:t>X−</a:t>
            </a:r>
            <a:r>
              <a:rPr lang="el-GR" b="0" i="0" dirty="0">
                <a:effectLst/>
                <a:latin typeface="KaTeX_Main"/>
              </a:rPr>
              <a:t>μ)2</a:t>
            </a:r>
            <a:r>
              <a:rPr lang="en-IN" b="0" i="0" dirty="0">
                <a:effectLst/>
                <a:latin typeface="KaTeX_Main"/>
              </a:rPr>
              <a:t>n)</a:t>
            </a:r>
            <a:r>
              <a:rPr lang="en-IN" b="0" i="1" dirty="0">
                <a:effectLst/>
                <a:latin typeface="KaTeX_Math"/>
              </a:rPr>
              <a:t>Formula</a:t>
            </a:r>
            <a:r>
              <a:rPr lang="en-IN" b="0" i="0" dirty="0">
                <a:effectLst/>
                <a:latin typeface="KaTeX_Main"/>
              </a:rPr>
              <a:t>:</a:t>
            </a:r>
            <a:r>
              <a:rPr lang="el-GR" b="0" i="1" dirty="0">
                <a:effectLst/>
                <a:latin typeface="KaTeX_Math"/>
              </a:rPr>
              <a:t>σ</a:t>
            </a:r>
            <a:r>
              <a:rPr lang="el-GR" b="0" i="0" dirty="0">
                <a:effectLst/>
                <a:latin typeface="KaTeX_Main"/>
              </a:rPr>
              <a:t>=(​</a:t>
            </a:r>
            <a:r>
              <a:rPr lang="el-GR" b="0" i="1" dirty="0">
                <a:effectLst/>
                <a:latin typeface="KaTeX_Math"/>
              </a:rPr>
              <a:t>σ</a:t>
            </a:r>
            <a:r>
              <a:rPr lang="el-GR" b="0" i="0" dirty="0">
                <a:effectLst/>
                <a:latin typeface="KaTeX_Main"/>
              </a:rPr>
              <a:t>2)=(​</a:t>
            </a:r>
            <a:r>
              <a:rPr lang="en-IN" b="0" i="1" dirty="0">
                <a:effectLst/>
                <a:latin typeface="KaTeX_Math"/>
              </a:rPr>
              <a:t>n</a:t>
            </a:r>
            <a:r>
              <a:rPr lang="el-GR" b="0" i="0" dirty="0">
                <a:effectLst/>
                <a:latin typeface="KaTeX_Main"/>
              </a:rPr>
              <a:t>Σ(</a:t>
            </a:r>
            <a:r>
              <a:rPr lang="en-IN" b="0" i="1" dirty="0">
                <a:effectLst/>
                <a:latin typeface="KaTeX_Math"/>
              </a:rPr>
              <a:t>X</a:t>
            </a:r>
            <a:r>
              <a:rPr lang="en-IN" b="0" i="0" dirty="0">
                <a:effectLst/>
                <a:latin typeface="KaTeX_Main"/>
              </a:rPr>
              <a:t>−</a:t>
            </a:r>
            <a:r>
              <a:rPr lang="el-GR" b="0" i="1" dirty="0">
                <a:effectLst/>
                <a:latin typeface="KaTeX_Math"/>
              </a:rPr>
              <a:t>μ</a:t>
            </a:r>
            <a:r>
              <a:rPr lang="el-GR" b="0" i="0" dirty="0">
                <a:effectLst/>
                <a:latin typeface="KaTeX_Main"/>
              </a:rPr>
              <a:t>)2​)</a:t>
            </a:r>
            <a:endParaRPr lang="el-GR" b="0" dirty="0">
              <a:effectLst/>
              <a:latin typeface="Nunito" pitchFamily="2" charset="77"/>
            </a:endParaRPr>
          </a:p>
          <a:p>
            <a:endParaRPr lang="en-US" dirty="0"/>
          </a:p>
        </p:txBody>
      </p:sp>
    </p:spTree>
    <p:extLst>
      <p:ext uri="{BB962C8B-B14F-4D97-AF65-F5344CB8AC3E}">
        <p14:creationId xmlns:p14="http://schemas.microsoft.com/office/powerpoint/2010/main" val="981817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49AAB-B439-7019-0A1E-90B988571114}"/>
              </a:ext>
            </a:extLst>
          </p:cNvPr>
          <p:cNvSpPr>
            <a:spLocks noGrp="1"/>
          </p:cNvSpPr>
          <p:nvPr>
            <p:ph type="title"/>
          </p:nvPr>
        </p:nvSpPr>
        <p:spPr/>
        <p:txBody>
          <a:bodyPr/>
          <a:lstStyle/>
          <a:p>
            <a:r>
              <a:rPr lang="en-IN" b="1" i="0" dirty="0">
                <a:solidFill>
                  <a:srgbClr val="273239"/>
                </a:solidFill>
                <a:effectLst/>
                <a:latin typeface="Nunito" pitchFamily="2" charset="77"/>
              </a:rPr>
              <a:t>Measure of Central Tendency</a:t>
            </a:r>
            <a:endParaRPr lang="en-US" dirty="0"/>
          </a:p>
        </p:txBody>
      </p:sp>
      <p:sp>
        <p:nvSpPr>
          <p:cNvPr id="3" name="Content Placeholder 2">
            <a:extLst>
              <a:ext uri="{FF2B5EF4-FFF2-40B4-BE49-F238E27FC236}">
                <a16:creationId xmlns:a16="http://schemas.microsoft.com/office/drawing/2014/main" id="{DD96F3F3-793B-9BCB-D154-AEB2BF256B0B}"/>
              </a:ext>
            </a:extLst>
          </p:cNvPr>
          <p:cNvSpPr>
            <a:spLocks noGrp="1"/>
          </p:cNvSpPr>
          <p:nvPr>
            <p:ph idx="1"/>
          </p:nvPr>
        </p:nvSpPr>
        <p:spPr/>
        <p:txBody>
          <a:bodyPr>
            <a:normAutofit fontScale="62500" lnSpcReduction="20000"/>
          </a:bodyPr>
          <a:lstStyle/>
          <a:p>
            <a:pPr algn="l" fontAlgn="base">
              <a:buFont typeface="Arial" panose="020B0604020202020204" pitchFamily="34" charset="0"/>
              <a:buChar char="•"/>
            </a:pPr>
            <a:r>
              <a:rPr lang="en-IN" b="1" i="0" dirty="0">
                <a:solidFill>
                  <a:srgbClr val="273239"/>
                </a:solidFill>
                <a:effectLst/>
                <a:latin typeface="Nunito" pitchFamily="2" charset="77"/>
              </a:rPr>
              <a:t>Interquartile Range (IQR): </a:t>
            </a:r>
            <a:r>
              <a:rPr lang="en-IN" b="0" i="0" dirty="0">
                <a:solidFill>
                  <a:srgbClr val="273239"/>
                </a:solidFill>
                <a:effectLst/>
                <a:latin typeface="Nunito" pitchFamily="2" charset="77"/>
              </a:rPr>
              <a:t>The range between the first quartile (Q1) and the third quartile (Q3). It is less sensitive to extreme values than the range. To compute </a:t>
            </a:r>
            <a:r>
              <a:rPr lang="en-IN" b="0" i="0" u="sng" dirty="0">
                <a:solidFill>
                  <a:srgbClr val="357960"/>
                </a:solidFill>
                <a:effectLst/>
                <a:latin typeface="Nunito" pitchFamily="2" charset="77"/>
                <a:hlinkClick r:id="rId2"/>
              </a:rPr>
              <a:t>IQR</a:t>
            </a:r>
            <a:r>
              <a:rPr lang="en-IN" b="0" i="0" dirty="0">
                <a:solidFill>
                  <a:srgbClr val="273239"/>
                </a:solidFill>
                <a:effectLst/>
                <a:latin typeface="Nunito" pitchFamily="2" charset="77"/>
              </a:rPr>
              <a:t>, calculate the values of the first and third quartile by arranging the data in ascending order. Then, calculate the mean of each half of the dataset.</a:t>
            </a:r>
          </a:p>
          <a:p>
            <a:pPr algn="l" fontAlgn="base">
              <a:buFont typeface="Arial" panose="020B0604020202020204" pitchFamily="34" charset="0"/>
              <a:buChar char="•"/>
            </a:pPr>
            <a:r>
              <a:rPr lang="en-IN" b="0" i="0" dirty="0" err="1">
                <a:effectLst/>
                <a:latin typeface="KaTeX_Main"/>
              </a:rPr>
              <a:t>Formula:IQR</a:t>
            </a:r>
            <a:r>
              <a:rPr lang="en-IN" b="0" i="0" dirty="0">
                <a:effectLst/>
                <a:latin typeface="KaTeX_Main"/>
              </a:rPr>
              <a:t>=Q3−Q1</a:t>
            </a:r>
            <a:r>
              <a:rPr lang="en-IN" b="0" i="1" dirty="0">
                <a:effectLst/>
                <a:latin typeface="KaTeX_Math"/>
              </a:rPr>
              <a:t>Formula</a:t>
            </a:r>
            <a:r>
              <a:rPr lang="en-IN" b="0" i="0" dirty="0">
                <a:effectLst/>
                <a:latin typeface="KaTeX_Main"/>
              </a:rPr>
              <a:t>:</a:t>
            </a:r>
            <a:r>
              <a:rPr lang="en-IN" b="0" i="1" dirty="0">
                <a:effectLst/>
                <a:latin typeface="KaTeX_Math"/>
              </a:rPr>
              <a:t>IQR</a:t>
            </a:r>
            <a:r>
              <a:rPr lang="en-IN" b="0" i="0" dirty="0">
                <a:effectLst/>
                <a:latin typeface="KaTeX_Main"/>
              </a:rPr>
              <a:t>=</a:t>
            </a:r>
            <a:r>
              <a:rPr lang="en-IN" b="0" i="1" dirty="0">
                <a:effectLst/>
                <a:latin typeface="KaTeX_Math"/>
              </a:rPr>
              <a:t>Q</a:t>
            </a:r>
            <a:r>
              <a:rPr lang="en-IN" b="0" i="0" dirty="0">
                <a:effectLst/>
                <a:latin typeface="KaTeX_Main"/>
              </a:rPr>
              <a:t>3​−</a:t>
            </a:r>
            <a:r>
              <a:rPr lang="en-IN" b="0" i="1" dirty="0">
                <a:effectLst/>
                <a:latin typeface="KaTeX_Math"/>
              </a:rPr>
              <a:t>Q</a:t>
            </a:r>
            <a:r>
              <a:rPr lang="en-IN" b="0" i="0" dirty="0">
                <a:effectLst/>
                <a:latin typeface="KaTeX_Main"/>
              </a:rPr>
              <a:t>1​</a:t>
            </a:r>
            <a:r>
              <a:rPr lang="en-IN" b="1" i="0" dirty="0">
                <a:solidFill>
                  <a:srgbClr val="273239"/>
                </a:solidFill>
                <a:effectLst/>
                <a:latin typeface="Nunito" pitchFamily="2" charset="77"/>
              </a:rPr>
              <a:t>Quartiles</a:t>
            </a:r>
            <a:r>
              <a:rPr lang="en-IN" b="0" i="0" dirty="0">
                <a:solidFill>
                  <a:srgbClr val="273239"/>
                </a:solidFill>
                <a:effectLst/>
                <a:latin typeface="Nunito" pitchFamily="2" charset="77"/>
              </a:rPr>
              <a:t>: </a:t>
            </a:r>
            <a:r>
              <a:rPr lang="en-IN" b="0" i="0" u="sng" dirty="0">
                <a:solidFill>
                  <a:srgbClr val="357960"/>
                </a:solidFill>
                <a:effectLst/>
                <a:latin typeface="Nunito" pitchFamily="2" charset="77"/>
                <a:hlinkClick r:id="rId3"/>
              </a:rPr>
              <a:t>Quartiles</a:t>
            </a:r>
            <a:r>
              <a:rPr lang="en-IN" b="0" i="0" dirty="0">
                <a:solidFill>
                  <a:srgbClr val="273239"/>
                </a:solidFill>
                <a:effectLst/>
                <a:latin typeface="Nunito" pitchFamily="2" charset="77"/>
              </a:rPr>
              <a:t> divides the dataset into four equal parts:</a:t>
            </a:r>
          </a:p>
          <a:p>
            <a:pPr rtl="0" fontAlgn="base"/>
            <a:r>
              <a:rPr lang="en-IN" b="0" dirty="0">
                <a:effectLst/>
                <a:latin typeface="Nunito" pitchFamily="2" charset="77"/>
              </a:rPr>
              <a:t>Q1 (First Quartile): Median of the lower 50% of the dataset (25th percentile).</a:t>
            </a:r>
          </a:p>
          <a:p>
            <a:pPr rtl="0" fontAlgn="base"/>
            <a:r>
              <a:rPr lang="en-IN" b="0" dirty="0">
                <a:effectLst/>
                <a:latin typeface="Nunito" pitchFamily="2" charset="77"/>
              </a:rPr>
              <a:t>Q2 (Second Quartile / Median): Median of the entire dataset (50th percentile).</a:t>
            </a:r>
          </a:p>
          <a:p>
            <a:pPr rtl="0" fontAlgn="base"/>
            <a:r>
              <a:rPr lang="en-IN" b="0" dirty="0">
                <a:effectLst/>
                <a:latin typeface="Nunito" pitchFamily="2" charset="77"/>
              </a:rPr>
              <a:t>Q3 (Third Quartile): Median of the upper 50% of the dataset (75th percentile).</a:t>
            </a:r>
          </a:p>
          <a:p>
            <a:pPr algn="l" fontAlgn="base">
              <a:buFont typeface="Arial" panose="020B0604020202020204" pitchFamily="34" charset="0"/>
              <a:buChar char="•"/>
            </a:pPr>
            <a:r>
              <a:rPr lang="en-IN" b="1" i="0" dirty="0">
                <a:solidFill>
                  <a:srgbClr val="273239"/>
                </a:solidFill>
                <a:effectLst/>
                <a:latin typeface="Nunito" pitchFamily="2" charset="77"/>
              </a:rPr>
              <a:t>Mean Absolute Deviation: </a:t>
            </a:r>
            <a:r>
              <a:rPr lang="en-IN" b="0" i="0" dirty="0">
                <a:solidFill>
                  <a:srgbClr val="273239"/>
                </a:solidFill>
                <a:effectLst/>
                <a:latin typeface="Nunito" pitchFamily="2" charset="77"/>
              </a:rPr>
              <a:t>The average of the absolute differences between each data point and the mean. It provides a measure of the average deviation from the mean.</a:t>
            </a:r>
          </a:p>
          <a:p>
            <a:pPr rtl="0" fontAlgn="base"/>
            <a:r>
              <a:rPr lang="en-IN" b="0" i="0" dirty="0">
                <a:effectLst/>
                <a:latin typeface="KaTeX_Main"/>
              </a:rPr>
              <a:t>Formula: </a:t>
            </a:r>
            <a:r>
              <a:rPr lang="en-IN" b="0" i="0" dirty="0" err="1">
                <a:effectLst/>
                <a:latin typeface="KaTeX_Main"/>
              </a:rPr>
              <a:t>MeanAbsoluteDeviation</a:t>
            </a:r>
            <a:r>
              <a:rPr lang="en-IN" b="0" i="0" dirty="0">
                <a:effectLst/>
                <a:latin typeface="KaTeX_Main"/>
              </a:rPr>
              <a:t>=∑</a:t>
            </a:r>
            <a:r>
              <a:rPr lang="en-IN" b="0" i="0" dirty="0" err="1">
                <a:effectLst/>
                <a:latin typeface="KaTeX_Main"/>
              </a:rPr>
              <a:t>i</a:t>
            </a:r>
            <a:r>
              <a:rPr lang="en-IN" b="0" i="0" dirty="0">
                <a:effectLst/>
                <a:latin typeface="KaTeX_Main"/>
              </a:rPr>
              <a:t>=1n∣X−</a:t>
            </a:r>
            <a:r>
              <a:rPr lang="el-GR" b="0" i="0" dirty="0">
                <a:effectLst/>
                <a:latin typeface="KaTeX_Main"/>
              </a:rPr>
              <a:t>μ∣</a:t>
            </a:r>
            <a:r>
              <a:rPr lang="en-IN" b="0" i="0" dirty="0" err="1">
                <a:effectLst/>
                <a:latin typeface="KaTeX_Main"/>
              </a:rPr>
              <a:t>n</a:t>
            </a:r>
            <a:r>
              <a:rPr lang="en-IN" b="0" i="1" dirty="0" err="1">
                <a:effectLst/>
                <a:latin typeface="KaTeX_Math"/>
              </a:rPr>
              <a:t>Formula</a:t>
            </a:r>
            <a:r>
              <a:rPr lang="en-IN" b="0" i="0" dirty="0">
                <a:effectLst/>
                <a:latin typeface="KaTeX_Main"/>
              </a:rPr>
              <a:t>: </a:t>
            </a:r>
            <a:r>
              <a:rPr lang="en-IN" b="0" i="1" dirty="0" err="1">
                <a:effectLst/>
                <a:latin typeface="KaTeX_Math"/>
              </a:rPr>
              <a:t>MeanAbsoluteDeviation</a:t>
            </a:r>
            <a:r>
              <a:rPr lang="en-IN" b="0" i="0" dirty="0">
                <a:effectLst/>
                <a:latin typeface="KaTeX_Main"/>
              </a:rPr>
              <a:t>=</a:t>
            </a:r>
            <a:r>
              <a:rPr lang="en-IN" b="0" i="1" dirty="0" err="1">
                <a:effectLst/>
                <a:latin typeface="KaTeX_Math"/>
              </a:rPr>
              <a:t>n</a:t>
            </a:r>
            <a:r>
              <a:rPr lang="en-IN" b="0" i="0" dirty="0" err="1">
                <a:effectLst/>
                <a:latin typeface="KaTeX_Size1"/>
              </a:rPr>
              <a:t>∑</a:t>
            </a:r>
            <a:r>
              <a:rPr lang="en-IN" b="0" i="1" dirty="0" err="1">
                <a:effectLst/>
                <a:latin typeface="KaTeX_Math"/>
              </a:rPr>
              <a:t>i</a:t>
            </a:r>
            <a:r>
              <a:rPr lang="en-IN" b="0" i="0" dirty="0">
                <a:effectLst/>
                <a:latin typeface="KaTeX_Main"/>
              </a:rPr>
              <a:t>=1</a:t>
            </a:r>
            <a:r>
              <a:rPr lang="en-IN" b="0" i="1" dirty="0">
                <a:effectLst/>
                <a:latin typeface="KaTeX_Math"/>
              </a:rPr>
              <a:t>n</a:t>
            </a:r>
            <a:r>
              <a:rPr lang="en-IN" b="0" i="0" dirty="0">
                <a:effectLst/>
                <a:latin typeface="KaTeX_Main"/>
              </a:rPr>
              <a:t>​∣</a:t>
            </a:r>
            <a:r>
              <a:rPr lang="en-IN" b="0" i="1" dirty="0">
                <a:effectLst/>
                <a:latin typeface="KaTeX_Math"/>
              </a:rPr>
              <a:t>X</a:t>
            </a:r>
            <a:r>
              <a:rPr lang="en-IN" b="0" i="0" dirty="0">
                <a:effectLst/>
                <a:latin typeface="KaTeX_Main"/>
              </a:rPr>
              <a:t>−</a:t>
            </a:r>
            <a:r>
              <a:rPr lang="el-GR" b="0" i="1" dirty="0">
                <a:effectLst/>
                <a:latin typeface="KaTeX_Math"/>
              </a:rPr>
              <a:t>μ</a:t>
            </a:r>
            <a:r>
              <a:rPr lang="el-GR" b="0" i="0" dirty="0">
                <a:effectLst/>
                <a:latin typeface="KaTeX_Main"/>
              </a:rPr>
              <a:t>∣​</a:t>
            </a:r>
            <a:endParaRPr lang="el-GR" b="0" dirty="0">
              <a:effectLst/>
              <a:latin typeface="Nunito" pitchFamily="2" charset="77"/>
            </a:endParaRPr>
          </a:p>
          <a:p>
            <a:pPr algn="l" fontAlgn="base">
              <a:buFont typeface="Arial" panose="020B0604020202020204" pitchFamily="34" charset="0"/>
              <a:buChar char="•"/>
            </a:pPr>
            <a:r>
              <a:rPr lang="en-IN" b="1" i="0" dirty="0">
                <a:solidFill>
                  <a:srgbClr val="273239"/>
                </a:solidFill>
                <a:effectLst/>
                <a:latin typeface="Nunito" pitchFamily="2" charset="77"/>
              </a:rPr>
              <a:t>Coefficient of Variation (CV):</a:t>
            </a:r>
            <a:br>
              <a:rPr lang="en-IN" b="0" i="0" dirty="0">
                <a:solidFill>
                  <a:srgbClr val="273239"/>
                </a:solidFill>
                <a:effectLst/>
                <a:latin typeface="Nunito" pitchFamily="2" charset="77"/>
              </a:rPr>
            </a:br>
            <a:r>
              <a:rPr lang="en-IN" b="0" i="0" dirty="0">
                <a:solidFill>
                  <a:srgbClr val="273239"/>
                </a:solidFill>
                <a:effectLst/>
                <a:latin typeface="Nunito" pitchFamily="2" charset="77"/>
              </a:rPr>
              <a:t>CV is the ratio of the standard deviation to the mean, expressed as a percentage. It is useful for comparing the relative variability of different datasets.</a:t>
            </a:r>
          </a:p>
          <a:p>
            <a:pPr rtl="0" fontAlgn="base"/>
            <a:r>
              <a:rPr lang="en-IN" b="0" i="0" dirty="0">
                <a:effectLst/>
                <a:latin typeface="KaTeX_Main"/>
              </a:rPr>
              <a:t>CV=(</a:t>
            </a:r>
            <a:r>
              <a:rPr lang="el-GR" b="0" i="0" dirty="0" err="1">
                <a:effectLst/>
                <a:latin typeface="KaTeX_Main"/>
              </a:rPr>
              <a:t>σμ</a:t>
            </a:r>
            <a:r>
              <a:rPr lang="el-GR" b="0" i="0" dirty="0">
                <a:effectLst/>
                <a:latin typeface="KaTeX_Main"/>
              </a:rPr>
              <a:t>)∗100</a:t>
            </a:r>
            <a:r>
              <a:rPr lang="en-IN" b="0" i="1" dirty="0">
                <a:effectLst/>
                <a:latin typeface="KaTeX_Math"/>
              </a:rPr>
              <a:t>CV</a:t>
            </a:r>
            <a:r>
              <a:rPr lang="en-IN" b="0" i="0" dirty="0">
                <a:effectLst/>
                <a:latin typeface="KaTeX_Main"/>
              </a:rPr>
              <a:t>=(</a:t>
            </a:r>
            <a:r>
              <a:rPr lang="el-GR" b="0" i="1" dirty="0" err="1">
                <a:effectLst/>
                <a:latin typeface="KaTeX_Math"/>
              </a:rPr>
              <a:t>μσ</a:t>
            </a:r>
            <a:r>
              <a:rPr lang="el-GR" b="0" i="0" dirty="0">
                <a:effectLst/>
                <a:latin typeface="KaTeX_Main"/>
              </a:rPr>
              <a:t>​)∗100</a:t>
            </a:r>
            <a:endParaRPr lang="el-GR" b="0" dirty="0">
              <a:effectLst/>
              <a:latin typeface="Nunito" pitchFamily="2" charset="77"/>
            </a:endParaRPr>
          </a:p>
          <a:p>
            <a:endParaRPr lang="en-US" dirty="0"/>
          </a:p>
        </p:txBody>
      </p:sp>
    </p:spTree>
    <p:extLst>
      <p:ext uri="{BB962C8B-B14F-4D97-AF65-F5344CB8AC3E}">
        <p14:creationId xmlns:p14="http://schemas.microsoft.com/office/powerpoint/2010/main" val="1082775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D9011-A9C4-8584-B134-5E75095B70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C1818A-4AD1-E290-9E0B-5C798ED5BFAF}"/>
              </a:ext>
            </a:extLst>
          </p:cNvPr>
          <p:cNvSpPr>
            <a:spLocks noGrp="1"/>
          </p:cNvSpPr>
          <p:nvPr>
            <p:ph idx="1"/>
          </p:nvPr>
        </p:nvSpPr>
        <p:spPr/>
        <p:txBody>
          <a:bodyPr/>
          <a:lstStyle/>
          <a:p>
            <a:endParaRPr lang="en-US"/>
          </a:p>
        </p:txBody>
      </p:sp>
      <p:pic>
        <p:nvPicPr>
          <p:cNvPr id="1026" name="Picture 2" descr="This may contain: a diagram showing the height and area of a triangle, with numbers on each side">
            <a:extLst>
              <a:ext uri="{FF2B5EF4-FFF2-40B4-BE49-F238E27FC236}">
                <a16:creationId xmlns:a16="http://schemas.microsoft.com/office/drawing/2014/main" id="{C6E664B2-8219-3E57-A8A6-C74B93BEB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0" y="120650"/>
            <a:ext cx="9334500" cy="6616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48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E3247-6410-042B-E9BC-3D2BF5D4C1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098C37-1937-7CD9-9D2B-F35700238281}"/>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18917118-9DC6-DA85-AED8-E0F181BC65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6650" y="1644650"/>
            <a:ext cx="7378700" cy="3568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667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E0443-F907-D768-47AC-3948BE76A7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F23C1D2-58D8-FB41-6578-B98B7B45B2B7}"/>
              </a:ext>
            </a:extLst>
          </p:cNvPr>
          <p:cNvSpPr>
            <a:spLocks noGrp="1"/>
          </p:cNvSpPr>
          <p:nvPr>
            <p:ph idx="1"/>
          </p:nvPr>
        </p:nvSpPr>
        <p:spPr/>
        <p:txBody>
          <a:bodyPr/>
          <a:lstStyle/>
          <a:p>
            <a:endParaRPr lang="en-US"/>
          </a:p>
        </p:txBody>
      </p:sp>
      <p:pic>
        <p:nvPicPr>
          <p:cNvPr id="2050" name="Picture 2">
            <a:extLst>
              <a:ext uri="{FF2B5EF4-FFF2-40B4-BE49-F238E27FC236}">
                <a16:creationId xmlns:a16="http://schemas.microsoft.com/office/drawing/2014/main" id="{110C5FD6-D2D9-C256-D6F9-32B95FB1A2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0150" y="2406650"/>
            <a:ext cx="7251700" cy="2044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440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C5241-0ACF-F76C-170F-E838011605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CA8DFE8-3F6E-32D4-6047-CB339EDECC92}"/>
              </a:ext>
            </a:extLst>
          </p:cNvPr>
          <p:cNvSpPr>
            <a:spLocks noGrp="1"/>
          </p:cNvSpPr>
          <p:nvPr>
            <p:ph idx="1"/>
          </p:nvPr>
        </p:nvSpPr>
        <p:spPr/>
        <p:txBody>
          <a:bodyPr/>
          <a:lstStyle/>
          <a:p>
            <a:endParaRPr lang="en-US"/>
          </a:p>
        </p:txBody>
      </p:sp>
      <p:pic>
        <p:nvPicPr>
          <p:cNvPr id="3074" name="Picture 2" descr="Measure of Variability">
            <a:extLst>
              <a:ext uri="{FF2B5EF4-FFF2-40B4-BE49-F238E27FC236}">
                <a16:creationId xmlns:a16="http://schemas.microsoft.com/office/drawing/2014/main" id="{FCD3AA42-AB48-0A03-AC7C-2E562FDFB4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3650" y="2343150"/>
            <a:ext cx="7124700"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80829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3366</TotalTime>
  <Words>793</Words>
  <Application>Microsoft Macintosh PowerPoint</Application>
  <PresentationFormat>Widescreen</PresentationFormat>
  <Paragraphs>53</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Aptos</vt:lpstr>
      <vt:lpstr>Aptos Display</vt:lpstr>
      <vt:lpstr>Arial</vt:lpstr>
      <vt:lpstr>KaTeX_Main</vt:lpstr>
      <vt:lpstr>KaTeX_Math</vt:lpstr>
      <vt:lpstr>KaTeX_Size1</vt:lpstr>
      <vt:lpstr>Nunito</vt:lpstr>
      <vt:lpstr>Wingdings</vt:lpstr>
      <vt:lpstr>Office Theme</vt:lpstr>
      <vt:lpstr>PythonDS-05_1 Stats for Data Science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Two Types of Statistics</vt:lpstr>
      <vt:lpstr>Types of Data </vt:lpstr>
      <vt:lpstr>PowerPoint Presentation</vt:lpstr>
      <vt:lpstr>Descriptive Statistics</vt:lpstr>
      <vt:lpstr>Measure of Central Tendency</vt:lpstr>
      <vt:lpstr>Measure of Central Tendency</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123</cp:revision>
  <dcterms:created xsi:type="dcterms:W3CDTF">2026-01-15T04:12:31Z</dcterms:created>
  <dcterms:modified xsi:type="dcterms:W3CDTF">2026-04-20T09:05:41Z</dcterms:modified>
</cp:coreProperties>
</file>