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560"/>
  </p:normalViewPr>
  <p:slideViewPr>
    <p:cSldViewPr snapToGrid="0">
      <p:cViewPr varScale="1">
        <p:scale>
          <a:sx n="102" d="100"/>
          <a:sy n="102" d="100"/>
        </p:scale>
        <p:origin x="95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1/21/26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1/21/26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Hands on Application: Data Structure</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82196-61E2-9504-8F9F-4A282944CA87}"/>
              </a:ext>
            </a:extLst>
          </p:cNvPr>
          <p:cNvSpPr>
            <a:spLocks noGrp="1"/>
          </p:cNvSpPr>
          <p:nvPr>
            <p:ph type="title"/>
          </p:nvPr>
        </p:nvSpPr>
        <p:spPr/>
        <p:txBody>
          <a:bodyPr>
            <a:normAutofit fontScale="90000"/>
          </a:bodyPr>
          <a:lstStyle/>
          <a:p>
            <a:pPr latinLnBrk="0"/>
            <a:r>
              <a:rPr lang="en-IN" b="1" i="0" dirty="0">
                <a:effectLst/>
                <a:latin typeface="ui-sans-serif"/>
              </a:rPr>
              <a:t>1. Design and develop an API that utilizes a bloom filter to determine the availability of usernames for a social media-type service</a:t>
            </a:r>
            <a:endParaRPr lang="en-US" dirty="0"/>
          </a:p>
        </p:txBody>
      </p:sp>
      <p:sp>
        <p:nvSpPr>
          <p:cNvPr id="3" name="Content Placeholder 2">
            <a:extLst>
              <a:ext uri="{FF2B5EF4-FFF2-40B4-BE49-F238E27FC236}">
                <a16:creationId xmlns:a16="http://schemas.microsoft.com/office/drawing/2014/main" id="{3D924CE7-1BD3-4572-2E19-007913AC1FF4}"/>
              </a:ext>
            </a:extLst>
          </p:cNvPr>
          <p:cNvSpPr>
            <a:spLocks noGrp="1"/>
          </p:cNvSpPr>
          <p:nvPr>
            <p:ph idx="1"/>
          </p:nvPr>
        </p:nvSpPr>
        <p:spPr/>
        <p:txBody>
          <a:bodyPr>
            <a:normAutofit fontScale="85000" lnSpcReduction="20000"/>
          </a:bodyPr>
          <a:lstStyle/>
          <a:p>
            <a:pPr algn="l"/>
            <a:r>
              <a:rPr lang="en-IN" b="0" i="0" dirty="0">
                <a:effectLst/>
                <a:latin typeface="source-serif-pro"/>
              </a:rPr>
              <a:t>The API's purpose is to confirm if a requested username is available or already taken.</a:t>
            </a:r>
          </a:p>
          <a:p>
            <a:pPr algn="l"/>
            <a:r>
              <a:rPr lang="en-IN" b="0" i="0" dirty="0">
                <a:effectLst/>
                <a:latin typeface="source-serif-pro"/>
              </a:rPr>
              <a:t>The bloom filter is a probabilistic data structure that utilizes hashing for efficient storage and to test for the presence of elements in a set, without actually storing the elements themselves. When checking for the presence of an element in the bloom filter, it may return a possible false positive.</a:t>
            </a:r>
          </a:p>
          <a:p>
            <a:pPr algn="l"/>
            <a:r>
              <a:rPr lang="en-IN" b="0" i="0" dirty="0">
                <a:effectLst/>
                <a:latin typeface="source-serif-pro"/>
              </a:rPr>
              <a:t>The API should:</a:t>
            </a:r>
          </a:p>
          <a:p>
            <a:pPr algn="l">
              <a:buFont typeface="Arial" panose="020B0604020202020204" pitchFamily="34" charset="0"/>
              <a:buChar char="•"/>
            </a:pPr>
            <a:r>
              <a:rPr lang="en-IN" b="0" i="0" dirty="0">
                <a:effectLst/>
                <a:latin typeface="source-serif-pro"/>
              </a:rPr>
              <a:t>Utilize the bloom filter data structure to check for username availability</a:t>
            </a:r>
          </a:p>
          <a:p>
            <a:pPr algn="l">
              <a:buFont typeface="Arial" panose="020B0604020202020204" pitchFamily="34" charset="0"/>
              <a:buChar char="•"/>
            </a:pPr>
            <a:r>
              <a:rPr lang="en-IN" b="0" i="0" dirty="0">
                <a:effectLst/>
                <a:latin typeface="source-serif-pro"/>
              </a:rPr>
              <a:t>Read and store the bloom filter in memory upon initial start-up of the API</a:t>
            </a:r>
          </a:p>
          <a:p>
            <a:pPr algn="l">
              <a:buFont typeface="Arial" panose="020B0604020202020204" pitchFamily="34" charset="0"/>
              <a:buChar char="•"/>
            </a:pPr>
            <a:r>
              <a:rPr lang="en-IN" b="0" i="0" dirty="0">
                <a:effectLst/>
                <a:latin typeface="source-serif-pro"/>
              </a:rPr>
              <a:t>Check the requested username against the in-memory dataset and return the appropriate response</a:t>
            </a:r>
          </a:p>
          <a:p>
            <a:pPr algn="l">
              <a:buFont typeface="Arial" panose="020B0604020202020204" pitchFamily="34" charset="0"/>
              <a:buChar char="•"/>
            </a:pPr>
            <a:r>
              <a:rPr lang="en-IN" b="0" i="0" dirty="0">
                <a:effectLst/>
                <a:latin typeface="source-serif-pro"/>
              </a:rPr>
              <a:t>In the event of multiple instances of the service being deployed, store the bloom filter in a common cache instead of locally.</a:t>
            </a:r>
          </a:p>
        </p:txBody>
      </p:sp>
    </p:spTree>
    <p:extLst>
      <p:ext uri="{BB962C8B-B14F-4D97-AF65-F5344CB8AC3E}">
        <p14:creationId xmlns:p14="http://schemas.microsoft.com/office/powerpoint/2010/main" val="2182502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C27EF-7B85-9DEB-324E-4EE81389FD69}"/>
              </a:ext>
            </a:extLst>
          </p:cNvPr>
          <p:cNvSpPr>
            <a:spLocks noGrp="1"/>
          </p:cNvSpPr>
          <p:nvPr>
            <p:ph type="title"/>
          </p:nvPr>
        </p:nvSpPr>
        <p:spPr/>
        <p:txBody>
          <a:bodyPr>
            <a:normAutofit/>
          </a:bodyPr>
          <a:lstStyle/>
          <a:p>
            <a:r>
              <a:rPr lang="en-IN" b="1" i="0" dirty="0">
                <a:effectLst/>
                <a:latin typeface="ui-sans-serif"/>
              </a:rPr>
              <a:t>2. Building a spell checker or auto complete feature using a </a:t>
            </a:r>
            <a:r>
              <a:rPr lang="en-IN" b="1" i="0" dirty="0" err="1">
                <a:effectLst/>
                <a:latin typeface="ui-sans-serif"/>
              </a:rPr>
              <a:t>Trie</a:t>
            </a:r>
            <a:r>
              <a:rPr lang="en-IN" b="1" i="0" dirty="0">
                <a:effectLst/>
                <a:latin typeface="ui-sans-serif"/>
              </a:rPr>
              <a:t> data structure</a:t>
            </a:r>
            <a:endParaRPr lang="en-US" dirty="0"/>
          </a:p>
        </p:txBody>
      </p:sp>
      <p:sp>
        <p:nvSpPr>
          <p:cNvPr id="3" name="Content Placeholder 2">
            <a:extLst>
              <a:ext uri="{FF2B5EF4-FFF2-40B4-BE49-F238E27FC236}">
                <a16:creationId xmlns:a16="http://schemas.microsoft.com/office/drawing/2014/main" id="{62AC0544-151E-7D0A-5C90-4A5BBDBE7926}"/>
              </a:ext>
            </a:extLst>
          </p:cNvPr>
          <p:cNvSpPr>
            <a:spLocks noGrp="1"/>
          </p:cNvSpPr>
          <p:nvPr>
            <p:ph idx="1"/>
          </p:nvPr>
        </p:nvSpPr>
        <p:spPr/>
        <p:txBody>
          <a:bodyPr>
            <a:normAutofit fontScale="92500" lnSpcReduction="10000"/>
          </a:bodyPr>
          <a:lstStyle/>
          <a:p>
            <a:pPr algn="l"/>
            <a:r>
              <a:rPr lang="en-IN" b="0" i="0" dirty="0" err="1">
                <a:effectLst/>
                <a:latin typeface="source-serif-pro"/>
              </a:rPr>
              <a:t>Trie</a:t>
            </a:r>
            <a:r>
              <a:rPr lang="en-IN" b="0" i="0" dirty="0">
                <a:effectLst/>
                <a:latin typeface="source-serif-pro"/>
              </a:rPr>
              <a:t> data structures are commonly used in predictive text or autocomplete dictionaries and approximate matching algorithms.</a:t>
            </a:r>
          </a:p>
          <a:p>
            <a:pPr algn="l"/>
            <a:r>
              <a:rPr lang="en-IN" b="0" i="0" dirty="0">
                <a:effectLst/>
                <a:latin typeface="source-serif-pro"/>
              </a:rPr>
              <a:t>The purpose of API is to give spelling suggestions or auto complete type feature</a:t>
            </a:r>
          </a:p>
          <a:p>
            <a:pPr algn="l"/>
            <a:r>
              <a:rPr lang="en-IN" b="0" i="0" dirty="0">
                <a:effectLst/>
                <a:latin typeface="source-serif-pro"/>
              </a:rPr>
              <a:t>The API Should</a:t>
            </a:r>
          </a:p>
          <a:p>
            <a:pPr algn="l">
              <a:buFont typeface="Arial" panose="020B0604020202020204" pitchFamily="34" charset="0"/>
              <a:buChar char="•"/>
            </a:pPr>
            <a:r>
              <a:rPr lang="en-IN" b="0" i="0" dirty="0">
                <a:effectLst/>
                <a:latin typeface="source-serif-pro"/>
              </a:rPr>
              <a:t>Load all possible strings from a permanent storage source (such as a RDBMS or NOSQL database) upon initial start-up.</a:t>
            </a:r>
          </a:p>
          <a:p>
            <a:pPr algn="l">
              <a:buFont typeface="Arial" panose="020B0604020202020204" pitchFamily="34" charset="0"/>
              <a:buChar char="•"/>
            </a:pPr>
            <a:r>
              <a:rPr lang="en-IN" b="0" i="0" dirty="0">
                <a:effectLst/>
                <a:latin typeface="source-serif-pro"/>
              </a:rPr>
              <a:t>Build an in-memory </a:t>
            </a:r>
            <a:r>
              <a:rPr lang="en-IN" b="0" i="0" dirty="0" err="1">
                <a:effectLst/>
                <a:latin typeface="source-serif-pro"/>
              </a:rPr>
              <a:t>Trie</a:t>
            </a:r>
            <a:r>
              <a:rPr lang="en-IN" b="0" i="0" dirty="0">
                <a:effectLst/>
                <a:latin typeface="source-serif-pro"/>
              </a:rPr>
              <a:t> for each service instance and implement all necessary </a:t>
            </a:r>
            <a:r>
              <a:rPr lang="en-IN" b="0" i="0" dirty="0" err="1">
                <a:effectLst/>
                <a:latin typeface="source-serif-pro"/>
              </a:rPr>
              <a:t>Trie</a:t>
            </a:r>
            <a:r>
              <a:rPr lang="en-IN" b="0" i="0" dirty="0">
                <a:effectLst/>
                <a:latin typeface="source-serif-pro"/>
              </a:rPr>
              <a:t> operations.</a:t>
            </a:r>
          </a:p>
          <a:p>
            <a:pPr algn="l">
              <a:buFont typeface="Arial" panose="020B0604020202020204" pitchFamily="34" charset="0"/>
              <a:buChar char="•"/>
            </a:pPr>
            <a:r>
              <a:rPr lang="en-IN" b="0" i="0" dirty="0">
                <a:effectLst/>
                <a:latin typeface="source-serif-pro"/>
              </a:rPr>
              <a:t>With each keystroke, the API will be called and the top 5 suggestions will be returned to the caller.</a:t>
            </a:r>
          </a:p>
        </p:txBody>
      </p:sp>
    </p:spTree>
    <p:extLst>
      <p:ext uri="{BB962C8B-B14F-4D97-AF65-F5344CB8AC3E}">
        <p14:creationId xmlns:p14="http://schemas.microsoft.com/office/powerpoint/2010/main" val="1813440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EBD1D-2D15-0345-7DBB-395B67E7FB14}"/>
              </a:ext>
            </a:extLst>
          </p:cNvPr>
          <p:cNvSpPr>
            <a:spLocks noGrp="1"/>
          </p:cNvSpPr>
          <p:nvPr>
            <p:ph type="title"/>
          </p:nvPr>
        </p:nvSpPr>
        <p:spPr/>
        <p:txBody>
          <a:bodyPr>
            <a:normAutofit fontScale="90000"/>
          </a:bodyPr>
          <a:lstStyle/>
          <a:p>
            <a:r>
              <a:rPr lang="en-IN" b="1" i="0" dirty="0">
                <a:effectLst/>
                <a:latin typeface="ui-sans-serif"/>
              </a:rPr>
              <a:t>3. Implementing a search algorithm (such as binary search) and sorting algorithm (like merge sort) for a large data set</a:t>
            </a:r>
            <a:endParaRPr lang="en-US" dirty="0"/>
          </a:p>
        </p:txBody>
      </p:sp>
      <p:sp>
        <p:nvSpPr>
          <p:cNvPr id="3" name="Content Placeholder 2">
            <a:extLst>
              <a:ext uri="{FF2B5EF4-FFF2-40B4-BE49-F238E27FC236}">
                <a16:creationId xmlns:a16="http://schemas.microsoft.com/office/drawing/2014/main" id="{FC3EBC15-6E5B-5968-CE67-1B47A03D58DC}"/>
              </a:ext>
            </a:extLst>
          </p:cNvPr>
          <p:cNvSpPr>
            <a:spLocks noGrp="1"/>
          </p:cNvSpPr>
          <p:nvPr>
            <p:ph idx="1"/>
          </p:nvPr>
        </p:nvSpPr>
        <p:spPr/>
        <p:txBody>
          <a:bodyPr>
            <a:normAutofit fontScale="85000" lnSpcReduction="20000"/>
          </a:bodyPr>
          <a:lstStyle/>
          <a:p>
            <a:pPr algn="l"/>
            <a:r>
              <a:rPr lang="en-IN" b="0" i="0" dirty="0">
                <a:effectLst/>
                <a:latin typeface="source-serif-pro"/>
              </a:rPr>
              <a:t>Design and develop an API that utilizes a search algorithm (such as binary search) and a sorting algorithm (such as merge sort) to handle large data sets that cannot be fully loaded into memory.</a:t>
            </a:r>
          </a:p>
          <a:p>
            <a:pPr algn="l"/>
            <a:r>
              <a:rPr lang="en-IN" b="0" i="0" dirty="0">
                <a:effectLst/>
                <a:latin typeface="source-serif-pro"/>
              </a:rPr>
              <a:t>The API should:</a:t>
            </a:r>
          </a:p>
          <a:p>
            <a:pPr algn="l">
              <a:buFont typeface="Arial" panose="020B0604020202020204" pitchFamily="34" charset="0"/>
              <a:buChar char="•"/>
            </a:pPr>
            <a:r>
              <a:rPr lang="en-IN" b="0" i="0" dirty="0">
                <a:effectLst/>
                <a:latin typeface="source-serif-pro"/>
              </a:rPr>
              <a:t>Read small chunks of data from files (containing a few million entries) at a time and perform operations in-memory.</a:t>
            </a:r>
          </a:p>
          <a:p>
            <a:pPr algn="l">
              <a:buFont typeface="Arial" panose="020B0604020202020204" pitchFamily="34" charset="0"/>
              <a:buChar char="•"/>
            </a:pPr>
            <a:r>
              <a:rPr lang="en-IN" b="0" i="0" dirty="0">
                <a:effectLst/>
                <a:latin typeface="source-serif-pro"/>
              </a:rPr>
              <a:t>Sort the entries using an external merge sort algorithm, and store the sorted entries in separate files.</a:t>
            </a:r>
          </a:p>
          <a:p>
            <a:pPr algn="l">
              <a:buFont typeface="Arial" panose="020B0604020202020204" pitchFamily="34" charset="0"/>
              <a:buChar char="•"/>
            </a:pPr>
            <a:r>
              <a:rPr lang="en-IN" b="0" i="0" dirty="0">
                <a:effectLst/>
                <a:latin typeface="source-serif-pro"/>
              </a:rPr>
              <a:t>Divide the data into log(N) buckets and store the largest number of each bucket in memory.</a:t>
            </a:r>
          </a:p>
          <a:p>
            <a:pPr algn="l">
              <a:buFont typeface="Arial" panose="020B0604020202020204" pitchFamily="34" charset="0"/>
              <a:buChar char="•"/>
            </a:pPr>
            <a:r>
              <a:rPr lang="en-IN" b="0" i="0" dirty="0">
                <a:effectLst/>
                <a:latin typeface="source-serif-pro"/>
              </a:rPr>
              <a:t>Apply a binary search to find out which bucket a number belongs to, and then load the entire bucket into memory and perform another binary search on that bucket.</a:t>
            </a:r>
          </a:p>
        </p:txBody>
      </p:sp>
    </p:spTree>
    <p:extLst>
      <p:ext uri="{BB962C8B-B14F-4D97-AF65-F5344CB8AC3E}">
        <p14:creationId xmlns:p14="http://schemas.microsoft.com/office/powerpoint/2010/main" val="1974007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469C-5ECC-1CB1-C85E-92D0ACC07F7D}"/>
              </a:ext>
            </a:extLst>
          </p:cNvPr>
          <p:cNvSpPr>
            <a:spLocks noGrp="1"/>
          </p:cNvSpPr>
          <p:nvPr>
            <p:ph type="title"/>
          </p:nvPr>
        </p:nvSpPr>
        <p:spPr/>
        <p:txBody>
          <a:bodyPr>
            <a:normAutofit fontScale="90000"/>
          </a:bodyPr>
          <a:lstStyle/>
          <a:p>
            <a:r>
              <a:rPr lang="en-IN" b="1" i="0" dirty="0">
                <a:effectLst/>
                <a:latin typeface="ui-sans-serif"/>
              </a:rPr>
              <a:t>4. Building a graph traversal algorithm (such as BFS or DFS) for a network or social media application to determine degree of connection between users for millions of users</a:t>
            </a:r>
            <a:endParaRPr lang="en-US" dirty="0"/>
          </a:p>
        </p:txBody>
      </p:sp>
      <p:sp>
        <p:nvSpPr>
          <p:cNvPr id="3" name="Content Placeholder 2">
            <a:extLst>
              <a:ext uri="{FF2B5EF4-FFF2-40B4-BE49-F238E27FC236}">
                <a16:creationId xmlns:a16="http://schemas.microsoft.com/office/drawing/2014/main" id="{D724F14B-8B46-73AD-3BCE-D652A14E75D1}"/>
              </a:ext>
            </a:extLst>
          </p:cNvPr>
          <p:cNvSpPr>
            <a:spLocks noGrp="1"/>
          </p:cNvSpPr>
          <p:nvPr>
            <p:ph idx="1"/>
          </p:nvPr>
        </p:nvSpPr>
        <p:spPr/>
        <p:txBody>
          <a:bodyPr>
            <a:normAutofit/>
          </a:bodyPr>
          <a:lstStyle/>
          <a:p>
            <a:pPr algn="l">
              <a:buFont typeface="Arial" panose="020B0604020202020204" pitchFamily="34" charset="0"/>
              <a:buChar char="•"/>
            </a:pPr>
            <a:r>
              <a:rPr lang="en-IN" b="0" i="0" dirty="0">
                <a:effectLst/>
                <a:latin typeface="source-serif-pro"/>
              </a:rPr>
              <a:t>Represent the users in the network or social media application as nodes in a graph and connect the users by edges, where an edge represents a connection between two users.</a:t>
            </a:r>
          </a:p>
          <a:p>
            <a:pPr algn="l">
              <a:buFont typeface="Arial" panose="020B0604020202020204" pitchFamily="34" charset="0"/>
              <a:buChar char="•"/>
            </a:pPr>
            <a:r>
              <a:rPr lang="en-IN" b="0" i="0" dirty="0">
                <a:effectLst/>
                <a:latin typeface="source-serif-pro"/>
              </a:rPr>
              <a:t>To get the degree of connection between two users — use </a:t>
            </a:r>
            <a:r>
              <a:rPr lang="en-IN" b="1" i="0" dirty="0">
                <a:effectLst/>
                <a:latin typeface="source-serif-pro"/>
              </a:rPr>
              <a:t>Meet in the middle approach</a:t>
            </a:r>
            <a:r>
              <a:rPr lang="en-IN" b="0" i="0" dirty="0">
                <a:effectLst/>
                <a:latin typeface="source-serif-pro"/>
              </a:rPr>
              <a:t> and apply BFs.</a:t>
            </a:r>
          </a:p>
          <a:p>
            <a:pPr algn="l">
              <a:buFont typeface="Arial" panose="020B0604020202020204" pitchFamily="34" charset="0"/>
              <a:buChar char="•"/>
            </a:pPr>
            <a:r>
              <a:rPr lang="en-IN" b="0" i="0" dirty="0">
                <a:effectLst/>
                <a:latin typeface="source-serif-pro"/>
              </a:rPr>
              <a:t>Additionally, you can explore some techniques like distributed graph processing or parallel processing.</a:t>
            </a:r>
          </a:p>
        </p:txBody>
      </p:sp>
    </p:spTree>
    <p:extLst>
      <p:ext uri="{BB962C8B-B14F-4D97-AF65-F5344CB8AC3E}">
        <p14:creationId xmlns:p14="http://schemas.microsoft.com/office/powerpoint/2010/main" val="4024073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65231-CB38-A25A-3F4A-7730109AC63C}"/>
              </a:ext>
            </a:extLst>
          </p:cNvPr>
          <p:cNvSpPr>
            <a:spLocks noGrp="1"/>
          </p:cNvSpPr>
          <p:nvPr>
            <p:ph type="title"/>
          </p:nvPr>
        </p:nvSpPr>
        <p:spPr/>
        <p:txBody>
          <a:bodyPr>
            <a:normAutofit fontScale="90000"/>
          </a:bodyPr>
          <a:lstStyle/>
          <a:p>
            <a:r>
              <a:rPr lang="en-IN" b="1" i="0" dirty="0">
                <a:effectLst/>
                <a:latin typeface="ui-sans-serif"/>
              </a:rPr>
              <a:t>5. Design and develop a compression algorithm, such as Huffman coding, for a file or data transfer application</a:t>
            </a:r>
            <a:endParaRPr lang="en-US" dirty="0"/>
          </a:p>
        </p:txBody>
      </p:sp>
      <p:sp>
        <p:nvSpPr>
          <p:cNvPr id="3" name="Content Placeholder 2">
            <a:extLst>
              <a:ext uri="{FF2B5EF4-FFF2-40B4-BE49-F238E27FC236}">
                <a16:creationId xmlns:a16="http://schemas.microsoft.com/office/drawing/2014/main" id="{0C461161-1FA7-06A4-0EFF-562DACD3AA6F}"/>
              </a:ext>
            </a:extLst>
          </p:cNvPr>
          <p:cNvSpPr>
            <a:spLocks noGrp="1"/>
          </p:cNvSpPr>
          <p:nvPr>
            <p:ph idx="1"/>
          </p:nvPr>
        </p:nvSpPr>
        <p:spPr/>
        <p:txBody>
          <a:bodyPr>
            <a:normAutofit/>
          </a:bodyPr>
          <a:lstStyle/>
          <a:p>
            <a:pPr algn="l"/>
            <a:r>
              <a:rPr lang="en-IN" b="0" i="0" dirty="0">
                <a:effectLst/>
                <a:latin typeface="source-serif-pro"/>
              </a:rPr>
              <a:t>The goal of compression algorithms is to decrease the number of bytes needed to represent data and the amount of storage required for files.</a:t>
            </a:r>
          </a:p>
          <a:p>
            <a:pPr algn="l">
              <a:buFont typeface="Arial" panose="020B0604020202020204" pitchFamily="34" charset="0"/>
              <a:buChar char="•"/>
            </a:pPr>
            <a:r>
              <a:rPr lang="en-IN" b="0" i="0" dirty="0">
                <a:effectLst/>
                <a:latin typeface="source-serif-pro"/>
              </a:rPr>
              <a:t>The compression API will take a file as input and return a compressed version of the file</a:t>
            </a:r>
          </a:p>
          <a:p>
            <a:pPr algn="l">
              <a:buFont typeface="Arial" panose="020B0604020202020204" pitchFamily="34" charset="0"/>
              <a:buChar char="•"/>
            </a:pPr>
            <a:r>
              <a:rPr lang="en-IN" b="0" i="0" dirty="0">
                <a:effectLst/>
                <a:latin typeface="source-serif-pro"/>
              </a:rPr>
              <a:t>The decompression API will take a compressed file as input and return the original file</a:t>
            </a:r>
          </a:p>
          <a:p>
            <a:pPr algn="l">
              <a:buFont typeface="Arial" panose="020B0604020202020204" pitchFamily="34" charset="0"/>
              <a:buChar char="•"/>
            </a:pPr>
            <a:r>
              <a:rPr lang="en-IN" b="0" i="0" dirty="0">
                <a:effectLst/>
                <a:latin typeface="source-serif-pro"/>
              </a:rPr>
              <a:t>Create and keep a Huffman tree in memory and perform all necessary processing in memory.</a:t>
            </a:r>
            <a:br>
              <a:rPr lang="en-IN" dirty="0"/>
            </a:br>
            <a:endParaRPr lang="en-US" dirty="0"/>
          </a:p>
        </p:txBody>
      </p:sp>
    </p:spTree>
    <p:extLst>
      <p:ext uri="{BB962C8B-B14F-4D97-AF65-F5344CB8AC3E}">
        <p14:creationId xmlns:p14="http://schemas.microsoft.com/office/powerpoint/2010/main" val="2813814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D0686-CEAA-4485-BC76-6F72737628F1}"/>
              </a:ext>
            </a:extLst>
          </p:cNvPr>
          <p:cNvSpPr>
            <a:spLocks noGrp="1"/>
          </p:cNvSpPr>
          <p:nvPr>
            <p:ph type="title"/>
          </p:nvPr>
        </p:nvSpPr>
        <p:spPr/>
        <p:txBody>
          <a:bodyPr>
            <a:normAutofit/>
          </a:bodyPr>
          <a:lstStyle/>
          <a:p>
            <a:r>
              <a:rPr lang="en-IN" b="1" i="0" dirty="0">
                <a:effectLst/>
                <a:latin typeface="ui-sans-serif"/>
              </a:rPr>
              <a:t>6. Developing a knapsack problem algorithm for inventory management</a:t>
            </a:r>
            <a:endParaRPr lang="en-US" dirty="0"/>
          </a:p>
        </p:txBody>
      </p:sp>
      <p:sp>
        <p:nvSpPr>
          <p:cNvPr id="3" name="Content Placeholder 2">
            <a:extLst>
              <a:ext uri="{FF2B5EF4-FFF2-40B4-BE49-F238E27FC236}">
                <a16:creationId xmlns:a16="http://schemas.microsoft.com/office/drawing/2014/main" id="{A79A5736-CA6C-900D-7342-067C0CBFEA1D}"/>
              </a:ext>
            </a:extLst>
          </p:cNvPr>
          <p:cNvSpPr>
            <a:spLocks noGrp="1"/>
          </p:cNvSpPr>
          <p:nvPr>
            <p:ph idx="1"/>
          </p:nvPr>
        </p:nvSpPr>
        <p:spPr/>
        <p:txBody>
          <a:bodyPr>
            <a:normAutofit fontScale="85000" lnSpcReduction="10000"/>
          </a:bodyPr>
          <a:lstStyle/>
          <a:p>
            <a:pPr algn="l">
              <a:buFont typeface="Arial" panose="020B0604020202020204" pitchFamily="34" charset="0"/>
              <a:buChar char="•"/>
            </a:pPr>
            <a:r>
              <a:rPr lang="en-IN" b="0" i="0" dirty="0">
                <a:effectLst/>
                <a:latin typeface="source-serif-pro"/>
              </a:rPr>
              <a:t>Model the items in inventory as objects with properties such as weight and value.</a:t>
            </a:r>
          </a:p>
          <a:p>
            <a:pPr algn="l">
              <a:buFont typeface="Arial" panose="020B0604020202020204" pitchFamily="34" charset="0"/>
              <a:buChar char="•"/>
            </a:pPr>
            <a:r>
              <a:rPr lang="en-IN" b="0" i="0" dirty="0">
                <a:effectLst/>
                <a:latin typeface="source-serif-pro"/>
              </a:rPr>
              <a:t>Define the capacity of the knapsack (inventory) and the objective function (for example, maximize the total value of items in the knapsack while staying within its capacity).</a:t>
            </a:r>
          </a:p>
          <a:p>
            <a:pPr algn="l">
              <a:buFont typeface="Arial" panose="020B0604020202020204" pitchFamily="34" charset="0"/>
              <a:buChar char="•"/>
            </a:pPr>
            <a:r>
              <a:rPr lang="en-IN" b="0" i="0" dirty="0">
                <a:effectLst/>
                <a:latin typeface="source-serif-pro"/>
              </a:rPr>
              <a:t>Implement the knapsack algorithm, which can be done by using either dynamic programming or greedy approach.</a:t>
            </a:r>
          </a:p>
          <a:p>
            <a:pPr algn="l">
              <a:buFont typeface="Arial" panose="020B0604020202020204" pitchFamily="34" charset="0"/>
              <a:buChar char="•"/>
            </a:pPr>
            <a:r>
              <a:rPr lang="en-IN" b="0" i="0" dirty="0">
                <a:effectLst/>
                <a:latin typeface="source-serif-pro"/>
              </a:rPr>
              <a:t>Test the algorithm with different sets of items and knapsack capacities to ensure that it produces the optimal solution.</a:t>
            </a:r>
          </a:p>
          <a:p>
            <a:pPr algn="l">
              <a:buFont typeface="Arial" panose="020B0604020202020204" pitchFamily="34" charset="0"/>
              <a:buChar char="•"/>
            </a:pPr>
            <a:r>
              <a:rPr lang="en-IN" b="0" i="0" dirty="0">
                <a:effectLst/>
                <a:latin typeface="source-serif-pro"/>
              </a:rPr>
              <a:t>Integrate the algorithm into the inventory management system, so that it can be used to make decisions about which items to stock and in what quantities.</a:t>
            </a:r>
          </a:p>
          <a:p>
            <a:pPr algn="l">
              <a:buFont typeface="Arial" panose="020B0604020202020204" pitchFamily="34" charset="0"/>
              <a:buChar char="•"/>
            </a:pPr>
            <a:r>
              <a:rPr lang="en-IN" b="0" i="0" dirty="0">
                <a:effectLst/>
                <a:latin typeface="source-serif-pro"/>
              </a:rPr>
              <a:t>It is important to note that the knapsack problem is NP-hard problem, thus, it may be computationally expensive for large data set.</a:t>
            </a:r>
          </a:p>
        </p:txBody>
      </p:sp>
    </p:spTree>
    <p:extLst>
      <p:ext uri="{BB962C8B-B14F-4D97-AF65-F5344CB8AC3E}">
        <p14:creationId xmlns:p14="http://schemas.microsoft.com/office/powerpoint/2010/main" val="4285353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372C3-1B19-B160-AC47-D4153ED0B2AD}"/>
              </a:ext>
            </a:extLst>
          </p:cNvPr>
          <p:cNvSpPr>
            <a:spLocks noGrp="1"/>
          </p:cNvSpPr>
          <p:nvPr>
            <p:ph type="title"/>
          </p:nvPr>
        </p:nvSpPr>
        <p:spPr/>
        <p:txBody>
          <a:bodyPr>
            <a:normAutofit fontScale="90000"/>
          </a:bodyPr>
          <a:lstStyle/>
          <a:p>
            <a:r>
              <a:rPr lang="en-IN" b="1" i="0" dirty="0">
                <a:effectLst/>
                <a:latin typeface="ui-sans-serif"/>
              </a:rPr>
              <a:t>7. Building a B-tree or B+ tree data structure for efficient storage and retrieval of large amounts of data on disk</a:t>
            </a:r>
            <a:endParaRPr lang="en-US" dirty="0"/>
          </a:p>
        </p:txBody>
      </p:sp>
      <p:sp>
        <p:nvSpPr>
          <p:cNvPr id="3" name="Content Placeholder 2">
            <a:extLst>
              <a:ext uri="{FF2B5EF4-FFF2-40B4-BE49-F238E27FC236}">
                <a16:creationId xmlns:a16="http://schemas.microsoft.com/office/drawing/2014/main" id="{51AEFB00-D0F5-BC8D-4B4C-9F775D23C1B6}"/>
              </a:ext>
            </a:extLst>
          </p:cNvPr>
          <p:cNvSpPr>
            <a:spLocks noGrp="1"/>
          </p:cNvSpPr>
          <p:nvPr>
            <p:ph idx="1"/>
          </p:nvPr>
        </p:nvSpPr>
        <p:spPr/>
        <p:txBody>
          <a:bodyPr>
            <a:normAutofit/>
          </a:bodyPr>
          <a:lstStyle/>
          <a:p>
            <a:pPr algn="l"/>
            <a:r>
              <a:rPr lang="en-IN" b="0" i="0" dirty="0">
                <a:effectLst/>
                <a:latin typeface="source-serif-pro"/>
              </a:rPr>
              <a:t>The B-tree is a self-balancing tree as well as a specialized M-way tree that is used for disk access.</a:t>
            </a:r>
          </a:p>
          <a:p>
            <a:pPr algn="l"/>
            <a:r>
              <a:rPr lang="en-IN" b="0" i="0" dirty="0">
                <a:effectLst/>
                <a:latin typeface="source-serif-pro"/>
              </a:rPr>
              <a:t>API Should perform -</a:t>
            </a:r>
          </a:p>
          <a:p>
            <a:pPr algn="l">
              <a:buFont typeface="Arial" panose="020B0604020202020204" pitchFamily="34" charset="0"/>
              <a:buChar char="•"/>
            </a:pPr>
            <a:r>
              <a:rPr lang="en-IN" b="0" i="0" dirty="0">
                <a:effectLst/>
                <a:latin typeface="source-serif-pro"/>
              </a:rPr>
              <a:t>Searching, addition, and deletion in the B-tree in Log(N) time</a:t>
            </a:r>
          </a:p>
          <a:p>
            <a:pPr algn="l">
              <a:buFont typeface="Arial" panose="020B0604020202020204" pitchFamily="34" charset="0"/>
              <a:buChar char="•"/>
            </a:pPr>
            <a:r>
              <a:rPr lang="en-IN" b="0" i="0" dirty="0">
                <a:effectLst/>
                <a:latin typeface="source-serif-pro"/>
              </a:rPr>
              <a:t>Implement self-balancing capabilities in the tree after every insertion and deletion</a:t>
            </a:r>
          </a:p>
          <a:p>
            <a:pPr algn="l">
              <a:buFont typeface="Arial" panose="020B0604020202020204" pitchFamily="34" charset="0"/>
              <a:buChar char="•"/>
            </a:pPr>
            <a:r>
              <a:rPr lang="en-IN" b="0" i="0" dirty="0">
                <a:effectLst/>
                <a:latin typeface="source-serif-pro"/>
              </a:rPr>
              <a:t>Store the data in a file, making it persistent</a:t>
            </a:r>
          </a:p>
          <a:p>
            <a:pPr algn="l">
              <a:buFont typeface="Arial" panose="020B0604020202020204" pitchFamily="34" charset="0"/>
              <a:buChar char="•"/>
            </a:pPr>
            <a:r>
              <a:rPr lang="en-IN" b="0" i="0" dirty="0">
                <a:effectLst/>
                <a:latin typeface="source-serif-pro"/>
              </a:rPr>
              <a:t>Create a B-tree by reading data from a file</a:t>
            </a:r>
          </a:p>
          <a:p>
            <a:pPr algn="l">
              <a:buFont typeface="Arial" panose="020B0604020202020204" pitchFamily="34" charset="0"/>
              <a:buChar char="•"/>
            </a:pPr>
            <a:r>
              <a:rPr lang="en-IN" b="0" i="0" dirty="0">
                <a:effectLst/>
                <a:latin typeface="source-serif-pro"/>
              </a:rPr>
              <a:t>Handle concurrent operations.</a:t>
            </a:r>
          </a:p>
          <a:p>
            <a:endParaRPr lang="en-US" dirty="0"/>
          </a:p>
        </p:txBody>
      </p:sp>
    </p:spTree>
    <p:extLst>
      <p:ext uri="{BB962C8B-B14F-4D97-AF65-F5344CB8AC3E}">
        <p14:creationId xmlns:p14="http://schemas.microsoft.com/office/powerpoint/2010/main" val="270885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86E6-92D0-D4B2-5DEB-61EFA24B8BE2}"/>
              </a:ext>
            </a:extLst>
          </p:cNvPr>
          <p:cNvSpPr>
            <a:spLocks noGrp="1"/>
          </p:cNvSpPr>
          <p:nvPr>
            <p:ph type="title"/>
          </p:nvPr>
        </p:nvSpPr>
        <p:spPr/>
        <p:txBody>
          <a:bodyPr>
            <a:normAutofit fontScale="90000"/>
          </a:bodyPr>
          <a:lstStyle/>
          <a:p>
            <a:r>
              <a:rPr lang="en-IN" b="1" i="0" dirty="0">
                <a:effectLst/>
                <a:latin typeface="ui-sans-serif"/>
              </a:rPr>
              <a:t>8. Building a minimum spanning tree algorithm (such as Kruskal or Prim's) to solve network optimization problems</a:t>
            </a:r>
            <a:endParaRPr lang="en-US" dirty="0"/>
          </a:p>
        </p:txBody>
      </p:sp>
      <p:sp>
        <p:nvSpPr>
          <p:cNvPr id="3" name="Content Placeholder 2">
            <a:extLst>
              <a:ext uri="{FF2B5EF4-FFF2-40B4-BE49-F238E27FC236}">
                <a16:creationId xmlns:a16="http://schemas.microsoft.com/office/drawing/2014/main" id="{5D5F7440-B1BE-1A3A-FE3B-4DD6057F25D6}"/>
              </a:ext>
            </a:extLst>
          </p:cNvPr>
          <p:cNvSpPr>
            <a:spLocks noGrp="1"/>
          </p:cNvSpPr>
          <p:nvPr>
            <p:ph idx="1"/>
          </p:nvPr>
        </p:nvSpPr>
        <p:spPr/>
        <p:txBody>
          <a:bodyPr>
            <a:normAutofit fontScale="85000" lnSpcReduction="20000"/>
          </a:bodyPr>
          <a:lstStyle/>
          <a:p>
            <a:pPr algn="l"/>
            <a:r>
              <a:rPr lang="en-IN" b="0" i="0" dirty="0">
                <a:effectLst/>
                <a:latin typeface="source-serif-pro"/>
              </a:rPr>
              <a:t>optimize the network of roads or paths between thousands of cities and towns and return the best paths to connect all points. (How Google Map comes up with the best route suggestion when you search for direction to anyplace)</a:t>
            </a:r>
          </a:p>
          <a:p>
            <a:pPr algn="l">
              <a:buFont typeface="Arial" panose="020B0604020202020204" pitchFamily="34" charset="0"/>
              <a:buChar char="•"/>
            </a:pPr>
            <a:r>
              <a:rPr lang="en-IN" b="0" i="0" dirty="0">
                <a:effectLst/>
                <a:latin typeface="source-serif-pro"/>
              </a:rPr>
              <a:t>Model the network as a graph, where each city/town represents a vertex and each edge represents a connection between two nodes.</a:t>
            </a:r>
          </a:p>
          <a:p>
            <a:pPr algn="l">
              <a:buFont typeface="Arial" panose="020B0604020202020204" pitchFamily="34" charset="0"/>
              <a:buChar char="•"/>
            </a:pPr>
            <a:r>
              <a:rPr lang="en-IN" b="0" i="0" dirty="0">
                <a:effectLst/>
                <a:latin typeface="source-serif-pro"/>
              </a:rPr>
              <a:t>Assign weightage to each path by time taken between the cities or locations</a:t>
            </a:r>
          </a:p>
          <a:p>
            <a:pPr algn="l">
              <a:buFont typeface="Arial" panose="020B0604020202020204" pitchFamily="34" charset="0"/>
              <a:buChar char="•"/>
            </a:pPr>
            <a:r>
              <a:rPr lang="en-IN" b="0" i="0" dirty="0">
                <a:effectLst/>
                <a:latin typeface="source-serif-pro"/>
              </a:rPr>
              <a:t>Implement the Kruskal's or Prim's algorithm, which can be done using dynamic programming or greedy approach.</a:t>
            </a:r>
          </a:p>
          <a:p>
            <a:pPr algn="l">
              <a:buFont typeface="Arial" panose="020B0604020202020204" pitchFamily="34" charset="0"/>
              <a:buChar char="•"/>
            </a:pPr>
            <a:r>
              <a:rPr lang="en-IN" b="0" i="0" dirty="0">
                <a:effectLst/>
                <a:latin typeface="source-serif-pro"/>
              </a:rPr>
              <a:t>Test the algorithm using different sets of input data to ensure that it produces the optimal solution.</a:t>
            </a:r>
          </a:p>
          <a:p>
            <a:pPr algn="l"/>
            <a:r>
              <a:rPr lang="en-IN" b="0" i="0" dirty="0">
                <a:effectLst/>
                <a:latin typeface="source-serif-pro"/>
              </a:rPr>
              <a:t>It is important to note that the MST algorithm is a classical problem in computer science, both Kruskal's and Prim's algorithms run in O(E log V) time, where E is the number of edges, and V is the number of vertices.</a:t>
            </a:r>
          </a:p>
          <a:p>
            <a:endParaRPr lang="en-US" dirty="0"/>
          </a:p>
        </p:txBody>
      </p:sp>
    </p:spTree>
    <p:extLst>
      <p:ext uri="{BB962C8B-B14F-4D97-AF65-F5344CB8AC3E}">
        <p14:creationId xmlns:p14="http://schemas.microsoft.com/office/powerpoint/2010/main" val="1156156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AB527-DA1F-FA29-8D0A-C2F1E694B4EC}"/>
              </a:ext>
            </a:extLst>
          </p:cNvPr>
          <p:cNvSpPr>
            <a:spLocks noGrp="1"/>
          </p:cNvSpPr>
          <p:nvPr>
            <p:ph type="title"/>
          </p:nvPr>
        </p:nvSpPr>
        <p:spPr/>
        <p:txBody>
          <a:bodyPr>
            <a:normAutofit fontScale="90000"/>
          </a:bodyPr>
          <a:lstStyle/>
          <a:p>
            <a:r>
              <a:rPr lang="en-IN" b="1" i="0" dirty="0">
                <a:effectLst/>
                <a:latin typeface="ui-sans-serif"/>
              </a:rPr>
              <a:t>9. Implementing a LRU (Least Recently Used) Cache using a doubly linked list and a hash table</a:t>
            </a:r>
            <a:endParaRPr lang="en-US" dirty="0"/>
          </a:p>
        </p:txBody>
      </p:sp>
      <p:sp>
        <p:nvSpPr>
          <p:cNvPr id="3" name="Content Placeholder 2">
            <a:extLst>
              <a:ext uri="{FF2B5EF4-FFF2-40B4-BE49-F238E27FC236}">
                <a16:creationId xmlns:a16="http://schemas.microsoft.com/office/drawing/2014/main" id="{E9C2153F-4BAF-52BD-8EA6-E89CD4013B78}"/>
              </a:ext>
            </a:extLst>
          </p:cNvPr>
          <p:cNvSpPr>
            <a:spLocks noGrp="1"/>
          </p:cNvSpPr>
          <p:nvPr>
            <p:ph idx="1"/>
          </p:nvPr>
        </p:nvSpPr>
        <p:spPr/>
        <p:txBody>
          <a:bodyPr/>
          <a:lstStyle/>
          <a:p>
            <a:pPr algn="l">
              <a:buFont typeface="Arial" panose="020B0604020202020204" pitchFamily="34" charset="0"/>
              <a:buChar char="•"/>
            </a:pPr>
            <a:r>
              <a:rPr lang="en-IN" b="0" i="0" dirty="0">
                <a:effectLst/>
                <a:latin typeface="source-serif-pro"/>
              </a:rPr>
              <a:t>Define the capacity of the cache and maintain both the hash table and doubly linked list in memory</a:t>
            </a:r>
          </a:p>
          <a:p>
            <a:pPr algn="l">
              <a:buFont typeface="Arial" panose="020B0604020202020204" pitchFamily="34" charset="0"/>
              <a:buChar char="•"/>
            </a:pPr>
            <a:r>
              <a:rPr lang="en-IN" b="0" i="0" dirty="0">
                <a:effectLst/>
                <a:latin typeface="source-serif-pro"/>
              </a:rPr>
              <a:t>Implement the ability to get and put items into the cache</a:t>
            </a:r>
          </a:p>
          <a:p>
            <a:pPr algn="l">
              <a:buFont typeface="Arial" panose="020B0604020202020204" pitchFamily="34" charset="0"/>
              <a:buChar char="•"/>
            </a:pPr>
            <a:r>
              <a:rPr lang="en-IN" b="0" i="0" dirty="0">
                <a:effectLst/>
                <a:latin typeface="source-serif-pro"/>
              </a:rPr>
              <a:t>Ensure that the time complexity of each operation is constant</a:t>
            </a:r>
          </a:p>
          <a:p>
            <a:pPr algn="l">
              <a:buFont typeface="Arial" panose="020B0604020202020204" pitchFamily="34" charset="0"/>
              <a:buChar char="•"/>
            </a:pPr>
            <a:r>
              <a:rPr lang="en-IN" b="0" i="0" dirty="0">
                <a:effectLst/>
                <a:latin typeface="source-serif-pro"/>
              </a:rPr>
              <a:t>Handle concurrent requests scenarios.</a:t>
            </a:r>
          </a:p>
          <a:p>
            <a:endParaRPr lang="en-US" dirty="0"/>
          </a:p>
        </p:txBody>
      </p:sp>
    </p:spTree>
    <p:extLst>
      <p:ext uri="{BB962C8B-B14F-4D97-AF65-F5344CB8AC3E}">
        <p14:creationId xmlns:p14="http://schemas.microsoft.com/office/powerpoint/2010/main" val="2889802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A9F18-25AF-137E-A7D8-BDF21F730095}"/>
              </a:ext>
            </a:extLst>
          </p:cNvPr>
          <p:cNvSpPr>
            <a:spLocks noGrp="1"/>
          </p:cNvSpPr>
          <p:nvPr>
            <p:ph type="title"/>
          </p:nvPr>
        </p:nvSpPr>
        <p:spPr/>
        <p:txBody>
          <a:bodyPr>
            <a:normAutofit fontScale="90000"/>
          </a:bodyPr>
          <a:lstStyle/>
          <a:p>
            <a:r>
              <a:rPr lang="en-IN" b="1" i="0" dirty="0">
                <a:effectLst/>
                <a:latin typeface="ui-sans-serif"/>
              </a:rPr>
              <a:t>10. Creating an algorithm for A* search for pathfinding in a graph or grid-based environment</a:t>
            </a:r>
            <a:endParaRPr lang="en-US" dirty="0"/>
          </a:p>
        </p:txBody>
      </p:sp>
      <p:sp>
        <p:nvSpPr>
          <p:cNvPr id="3" name="Content Placeholder 2">
            <a:extLst>
              <a:ext uri="{FF2B5EF4-FFF2-40B4-BE49-F238E27FC236}">
                <a16:creationId xmlns:a16="http://schemas.microsoft.com/office/drawing/2014/main" id="{9D87888E-07F1-ABFB-A1A3-7D30A26A5C3A}"/>
              </a:ext>
            </a:extLst>
          </p:cNvPr>
          <p:cNvSpPr>
            <a:spLocks noGrp="1"/>
          </p:cNvSpPr>
          <p:nvPr>
            <p:ph idx="1"/>
          </p:nvPr>
        </p:nvSpPr>
        <p:spPr/>
        <p:txBody>
          <a:bodyPr>
            <a:normAutofit/>
          </a:bodyPr>
          <a:lstStyle/>
          <a:p>
            <a:pPr algn="l"/>
            <a:r>
              <a:rPr lang="en-IN" b="0" i="0" dirty="0">
                <a:effectLst/>
                <a:latin typeface="source-serif-pro"/>
              </a:rPr>
              <a:t>to approximate the shortest path in real-life situations, like in maps or games where there can be many hindrances.</a:t>
            </a:r>
          </a:p>
          <a:p>
            <a:pPr algn="l">
              <a:buFont typeface="Arial" panose="020B0604020202020204" pitchFamily="34" charset="0"/>
              <a:buChar char="•"/>
            </a:pPr>
            <a:r>
              <a:rPr lang="en-IN" b="0" i="0" dirty="0">
                <a:effectLst/>
                <a:latin typeface="source-serif-pro"/>
              </a:rPr>
              <a:t>Find nearest cab in ride hailing app or near delivery agent from the restaurant for food delivery app</a:t>
            </a:r>
          </a:p>
          <a:p>
            <a:pPr algn="l">
              <a:buFont typeface="Arial" panose="020B0604020202020204" pitchFamily="34" charset="0"/>
              <a:buChar char="•"/>
            </a:pPr>
            <a:r>
              <a:rPr lang="en-IN" b="0" i="0" dirty="0">
                <a:effectLst/>
                <a:latin typeface="source-serif-pro"/>
              </a:rPr>
              <a:t>Initialize the grid in-memory or store it in cache in case of multiple instances.</a:t>
            </a:r>
          </a:p>
          <a:p>
            <a:pPr algn="l">
              <a:buFont typeface="Arial" panose="020B0604020202020204" pitchFamily="34" charset="0"/>
              <a:buChar char="•"/>
            </a:pPr>
            <a:r>
              <a:rPr lang="en-IN" b="0" i="0" dirty="0">
                <a:effectLst/>
                <a:latin typeface="source-serif-pro"/>
              </a:rPr>
              <a:t>Implement the algorithm that read graph from the cache and do calculations in-memory.</a:t>
            </a:r>
          </a:p>
          <a:p>
            <a:pPr algn="l">
              <a:buFont typeface="Arial" panose="020B0604020202020204" pitchFamily="34" charset="0"/>
              <a:buChar char="•"/>
            </a:pPr>
            <a:r>
              <a:rPr lang="en-IN" b="0" i="0" dirty="0">
                <a:effectLst/>
                <a:latin typeface="source-serif-pro"/>
              </a:rPr>
              <a:t>Handle for thousands of concurrent requests.</a:t>
            </a:r>
          </a:p>
          <a:p>
            <a:endParaRPr lang="en-US" dirty="0"/>
          </a:p>
        </p:txBody>
      </p:sp>
    </p:spTree>
    <p:extLst>
      <p:ext uri="{BB962C8B-B14F-4D97-AF65-F5344CB8AC3E}">
        <p14:creationId xmlns:p14="http://schemas.microsoft.com/office/powerpoint/2010/main" val="486297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5242B-896D-B4E9-085E-B57F59561664}"/>
              </a:ext>
            </a:extLst>
          </p:cNvPr>
          <p:cNvSpPr>
            <a:spLocks noGrp="1"/>
          </p:cNvSpPr>
          <p:nvPr>
            <p:ph type="title"/>
          </p:nvPr>
        </p:nvSpPr>
        <p:spPr/>
        <p:txBody>
          <a:bodyPr/>
          <a:lstStyle/>
          <a:p>
            <a:r>
              <a:rPr lang="en-IN" b="1" i="0" dirty="0">
                <a:solidFill>
                  <a:srgbClr val="040404"/>
                </a:solidFill>
                <a:effectLst/>
                <a:latin typeface="IBM Plex Sans" panose="020F0502020204030204" pitchFamily="34" charset="0"/>
              </a:rPr>
              <a:t>1. Creating a To-do list </a:t>
            </a:r>
            <a:endParaRPr lang="en-US" dirty="0"/>
          </a:p>
        </p:txBody>
      </p:sp>
      <p:sp>
        <p:nvSpPr>
          <p:cNvPr id="3" name="Content Placeholder 2">
            <a:extLst>
              <a:ext uri="{FF2B5EF4-FFF2-40B4-BE49-F238E27FC236}">
                <a16:creationId xmlns:a16="http://schemas.microsoft.com/office/drawing/2014/main" id="{23971A2D-D643-31AB-B752-9C7A5845F7ED}"/>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F0502020204030204" pitchFamily="34" charset="0"/>
              </a:rPr>
              <a:t>Difficulty level:</a:t>
            </a:r>
            <a:r>
              <a:rPr lang="en-IN" b="0" i="0" dirty="0">
                <a:solidFill>
                  <a:srgbClr val="040404"/>
                </a:solidFill>
                <a:effectLst/>
                <a:latin typeface="IBM Plex Sans" panose="020F0502020204030204" pitchFamily="34" charset="0"/>
              </a:rPr>
              <a:t> Easy</a:t>
            </a:r>
          </a:p>
          <a:p>
            <a:pPr algn="l"/>
            <a:r>
              <a:rPr lang="en-IN" b="0" i="0" dirty="0">
                <a:solidFill>
                  <a:srgbClr val="040404"/>
                </a:solidFill>
                <a:effectLst/>
                <a:latin typeface="IBM Plex Sans" panose="020F0502020204030204" pitchFamily="34" charset="0"/>
              </a:rPr>
              <a:t>This project is suitable for beginners in Data Structure and Algorithms. You can mainly learn the implementation of CRUD operations (Read-Create-Update-Delete) into real-life projects, along with knowledge of different data structures and FIFO or LIFO methods. This To-Do list application will allow users to add tasks, update them as completed or incomplete, and delete them when done. </a:t>
            </a:r>
          </a:p>
          <a:p>
            <a:pPr algn="l"/>
            <a:r>
              <a:rPr lang="en-IN" b="1" i="0" dirty="0">
                <a:solidFill>
                  <a:srgbClr val="040404"/>
                </a:solidFill>
                <a:effectLst/>
                <a:latin typeface="IBM Plex Sans" panose="020F0502020204030204" pitchFamily="34" charset="0"/>
              </a:rPr>
              <a:t>Learning outcomes:</a:t>
            </a:r>
            <a:endParaRPr lang="en-IN" b="0" i="0" dirty="0">
              <a:solidFill>
                <a:srgbClr val="040404"/>
              </a:solidFill>
              <a:effectLst/>
              <a:latin typeface="IBM Plex Sans" panose="020F0502020204030204" pitchFamily="34" charset="0"/>
            </a:endParaRP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Knowledge of how to store and manage different tasks using arrays and lists</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Implement algorithms to search and sort tasks based on specific criteria like priority or due dates</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Implementation of linked list data structure for dynamically managing tasks</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Understanding the efficiency of different operations like adding, removing, and searching for time-complexity analysis </a:t>
            </a:r>
          </a:p>
          <a:p>
            <a:pPr algn="l"/>
            <a:r>
              <a:rPr lang="en-IN" b="1" i="0" dirty="0">
                <a:solidFill>
                  <a:srgbClr val="040404"/>
                </a:solidFill>
                <a:effectLst/>
                <a:latin typeface="IBM Plex Sans" panose="020F0502020204030204" pitchFamily="34" charset="0"/>
              </a:rPr>
              <a:t>What it takes to execute this project</a:t>
            </a:r>
            <a:r>
              <a:rPr lang="en-IN" b="0" i="0" dirty="0">
                <a:solidFill>
                  <a:srgbClr val="040404"/>
                </a:solidFill>
                <a:effectLst/>
                <a:latin typeface="IBM Plex Sans" panose="020F0502020204030204" pitchFamily="34" charset="0"/>
              </a:rPr>
              <a:t>:</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Define a data structure to store tasks, e.g., a linked list or array list.</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Implement functions to add, remove, and mark tasks as complete.</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Use a sorting algorithm like merge or quick sort algorithms to sort tasks based on priority or due date.</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Implement a search function, e.g., binary search or linear search, to find specific tasks.</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Consider using a hash table or tree for efficient task lookup and organization.</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Implement persistence by saving and loading tasks from a file or database.</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Utilize algorithms for task scheduling and prioritization, such as greedy or dynamic programming algorithms.</a:t>
            </a:r>
          </a:p>
          <a:p>
            <a:pPr algn="l" fontAlgn="base">
              <a:buFont typeface="Arial" panose="020B0604020202020204" pitchFamily="34" charset="0"/>
              <a:buChar char="•"/>
            </a:pPr>
            <a:r>
              <a:rPr lang="en-IN" b="0" i="0" dirty="0">
                <a:solidFill>
                  <a:srgbClr val="040404"/>
                </a:solidFill>
                <a:effectLst/>
                <a:latin typeface="IBM Plex Sans" panose="020F0502020204030204" pitchFamily="34" charset="0"/>
              </a:rPr>
              <a:t>Provide a user interface for interacting with the to-do list functionality.</a:t>
            </a:r>
          </a:p>
          <a:p>
            <a:pPr algn="l"/>
            <a:r>
              <a:rPr lang="en-IN" b="1" i="0" dirty="0">
                <a:solidFill>
                  <a:srgbClr val="040404"/>
                </a:solidFill>
                <a:effectLst/>
                <a:latin typeface="IBM Plex Sans" panose="020F0502020204030204" pitchFamily="34" charset="0"/>
              </a:rPr>
              <a:t>Real-world application:</a:t>
            </a:r>
            <a:endParaRPr lang="en-IN" b="0" i="0" dirty="0">
              <a:solidFill>
                <a:srgbClr val="040404"/>
              </a:solidFill>
              <a:effectLst/>
              <a:latin typeface="IBM Plex Sans" panose="020F0502020204030204" pitchFamily="34" charset="0"/>
            </a:endParaRPr>
          </a:p>
          <a:p>
            <a:pPr algn="l" fontAlgn="base">
              <a:buFont typeface="Arial" panose="020B0604020202020204" pitchFamily="34" charset="0"/>
              <a:buChar char="•"/>
            </a:pPr>
            <a:r>
              <a:rPr lang="en-IN" b="1" i="0" dirty="0">
                <a:solidFill>
                  <a:srgbClr val="040404"/>
                </a:solidFill>
                <a:effectLst/>
                <a:latin typeface="IBM Plex Sans" panose="020F0502020204030204" pitchFamily="34" charset="0"/>
              </a:rPr>
              <a:t>Personal use</a:t>
            </a:r>
            <a:r>
              <a:rPr lang="en-IN" b="0" i="0" dirty="0">
                <a:solidFill>
                  <a:srgbClr val="040404"/>
                </a:solidFill>
                <a:effectLst/>
                <a:latin typeface="IBM Plex Sans" panose="020F0502020204030204" pitchFamily="34" charset="0"/>
              </a:rPr>
              <a:t>: This To-do list application can help you manage daily activities, send reminders for deadlines and important dates, and stay organised </a:t>
            </a:r>
          </a:p>
          <a:p>
            <a:pPr algn="l" fontAlgn="base">
              <a:buFont typeface="Arial" panose="020B0604020202020204" pitchFamily="34" charset="0"/>
              <a:buChar char="•"/>
            </a:pPr>
            <a:r>
              <a:rPr lang="en-IN" b="1" i="0" dirty="0">
                <a:solidFill>
                  <a:srgbClr val="040404"/>
                </a:solidFill>
                <a:effectLst/>
                <a:latin typeface="IBM Plex Sans" panose="020F0502020204030204" pitchFamily="34" charset="0"/>
              </a:rPr>
              <a:t>Project management:</a:t>
            </a:r>
            <a:r>
              <a:rPr lang="en-IN" b="0" i="0" dirty="0">
                <a:solidFill>
                  <a:srgbClr val="040404"/>
                </a:solidFill>
                <a:effectLst/>
                <a:latin typeface="IBM Plex Sans" panose="020F0502020204030204" pitchFamily="34" charset="0"/>
              </a:rPr>
              <a:t> Project managers can prepare a To-Do list for the team, working collaboratively to assign tasks and track their progress</a:t>
            </a:r>
          </a:p>
          <a:p>
            <a:pPr algn="l" fontAlgn="base">
              <a:buFont typeface="Arial" panose="020B0604020202020204" pitchFamily="34" charset="0"/>
              <a:buChar char="•"/>
            </a:pPr>
            <a:r>
              <a:rPr lang="en-IN" b="1" i="0" dirty="0">
                <a:solidFill>
                  <a:srgbClr val="040404"/>
                </a:solidFill>
                <a:effectLst/>
                <a:latin typeface="IBM Plex Sans" panose="020F0502020204030204" pitchFamily="34" charset="0"/>
              </a:rPr>
              <a:t>Remote workers management:</a:t>
            </a:r>
            <a:r>
              <a:rPr lang="en-IN" b="0" i="0" dirty="0">
                <a:solidFill>
                  <a:srgbClr val="040404"/>
                </a:solidFill>
                <a:effectLst/>
                <a:latin typeface="IBM Plex Sans" panose="020F0502020204030204" pitchFamily="34" charset="0"/>
              </a:rPr>
              <a:t> People working remotes fail to manage time, and this application will help them prioritize tasks, set deadlines, allocate time for different activities, and improve time management skills</a:t>
            </a:r>
          </a:p>
          <a:p>
            <a:endParaRPr lang="en-US" dirty="0"/>
          </a:p>
        </p:txBody>
      </p:sp>
    </p:spTree>
    <p:extLst>
      <p:ext uri="{BB962C8B-B14F-4D97-AF65-F5344CB8AC3E}">
        <p14:creationId xmlns:p14="http://schemas.microsoft.com/office/powerpoint/2010/main" val="2123841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C1353-6D2D-8484-CC50-2B91D5D2ACAB}"/>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2. Building a Phonebook</a:t>
            </a:r>
            <a:endParaRPr lang="en-US" dirty="0"/>
          </a:p>
        </p:txBody>
      </p:sp>
      <p:sp>
        <p:nvSpPr>
          <p:cNvPr id="3" name="Content Placeholder 2">
            <a:extLst>
              <a:ext uri="{FF2B5EF4-FFF2-40B4-BE49-F238E27FC236}">
                <a16:creationId xmlns:a16="http://schemas.microsoft.com/office/drawing/2014/main" id="{CE409C1F-3327-45DB-B074-18FBB6207D2A}"/>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Easy</a:t>
            </a:r>
          </a:p>
          <a:p>
            <a:pPr algn="l"/>
            <a:r>
              <a:rPr lang="en-IN" b="0" i="0" dirty="0">
                <a:solidFill>
                  <a:srgbClr val="040404"/>
                </a:solidFill>
                <a:effectLst/>
                <a:latin typeface="IBM Plex Sans" panose="020B0503050203000203" pitchFamily="34" charset="0"/>
              </a:rPr>
              <a:t>Building a phone book is another beginner-friendly project in which you can use an array data structure to store people’s information, such as their names and phone numbers. This application will help you add, view, edit, and delete contacts and also provide functionality for searching contacts based on various criteria, like names. </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Using arrays and lists to store contact information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of merge sort, bubble sort, or other sorting and searching algorithms to store contact details in an order</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You can implement a </a:t>
            </a:r>
            <a:r>
              <a:rPr lang="en-IN" b="0" i="0" dirty="0" err="1">
                <a:solidFill>
                  <a:srgbClr val="040404"/>
                </a:solidFill>
                <a:effectLst/>
                <a:latin typeface="IBM Plex Sans" panose="020B0503050203000203" pitchFamily="34" charset="0"/>
              </a:rPr>
              <a:t>hashtable</a:t>
            </a:r>
            <a:r>
              <a:rPr lang="en-IN" b="0" i="0" dirty="0">
                <a:solidFill>
                  <a:srgbClr val="040404"/>
                </a:solidFill>
                <a:effectLst/>
                <a:latin typeface="IBM Plex Sans" panose="020B0503050203000203" pitchFamily="34" charset="0"/>
              </a:rPr>
              <a:t> data structure for improving search operations efficiency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Time complexity analysis of different operations performed on the application </a:t>
            </a:r>
          </a:p>
          <a:p>
            <a:pPr algn="l"/>
            <a:r>
              <a:rPr lang="en-IN" b="1" i="0" dirty="0">
                <a:solidFill>
                  <a:srgbClr val="040404"/>
                </a:solidFill>
                <a:effectLst/>
                <a:latin typeface="IBM Plex Sans" panose="020B0503050203000203" pitchFamily="34" charset="0"/>
              </a:rPr>
              <a:t>What it takes to execute this project</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data structure like an array, linked list, or hash table to store contact records.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functions to add, remove, and search for contacts by name or number.</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sorting algorithms like merge sort or quick sort to arrange contacts alphabetically.</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search algorithms like binary search or linear search for efficient contact lookup.</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Consider using a tree data structure like a binary search tree or </a:t>
            </a:r>
            <a:r>
              <a:rPr lang="en-IN" b="0" i="0" dirty="0" err="1">
                <a:solidFill>
                  <a:srgbClr val="040404"/>
                </a:solidFill>
                <a:effectLst/>
                <a:latin typeface="IBM Plex Sans" panose="020B0503050203000203" pitchFamily="34" charset="0"/>
              </a:rPr>
              <a:t>trie</a:t>
            </a:r>
            <a:r>
              <a:rPr lang="en-IN" b="0" i="0" dirty="0">
                <a:solidFill>
                  <a:srgbClr val="040404"/>
                </a:solidFill>
                <a:effectLst/>
                <a:latin typeface="IBM Plex Sans" panose="020B0503050203000203" pitchFamily="34" charset="0"/>
              </a:rPr>
              <a:t> for hierarchical organization.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persistence by saving and loading contacts from a file or database.</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hashing techniques for efficient storage and retrieval of contact records.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adding, editing, deleting, and searching contacts in the phonebook.</a:t>
            </a:r>
          </a:p>
          <a:p>
            <a:pPr algn="l"/>
            <a:r>
              <a:rPr lang="en-IN" b="1" i="0" dirty="0">
                <a:solidFill>
                  <a:srgbClr val="040404"/>
                </a:solidFill>
                <a:effectLst/>
                <a:latin typeface="IBM Plex Sans" panose="020B0503050203000203" pitchFamily="34" charset="0"/>
              </a:rPr>
              <a:t>Real-world application:</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Personal use</a:t>
            </a:r>
            <a:r>
              <a:rPr lang="en-IN" b="0" i="0" dirty="0">
                <a:solidFill>
                  <a:srgbClr val="040404"/>
                </a:solidFill>
                <a:effectLst/>
                <a:latin typeface="IBM Plex Sans" panose="020B0503050203000203" pitchFamily="34" charset="0"/>
              </a:rPr>
              <a:t>: You can use this phonebook application to manage your contacts efficiently and access them whenever needed</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Business use</a:t>
            </a:r>
            <a:r>
              <a:rPr lang="en-IN" b="0" i="0" dirty="0">
                <a:solidFill>
                  <a:srgbClr val="040404"/>
                </a:solidFill>
                <a:effectLst/>
                <a:latin typeface="IBM Plex Sans" panose="020B0503050203000203" pitchFamily="34" charset="0"/>
              </a:rPr>
              <a:t>: Businesses maintain a database of customer and client contacts, building communication and relationship management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Hospitals and nursing homes</a:t>
            </a:r>
            <a:r>
              <a:rPr lang="en-IN" b="0" i="0" dirty="0">
                <a:solidFill>
                  <a:srgbClr val="040404"/>
                </a:solidFill>
                <a:effectLst/>
                <a:latin typeface="IBM Plex Sans" panose="020B0503050203000203" pitchFamily="34" charset="0"/>
              </a:rPr>
              <a:t>: They can store emergency contacts and patient contacts to get connected effectively during emergency </a:t>
            </a:r>
          </a:p>
          <a:p>
            <a:endParaRPr lang="en-US" dirty="0"/>
          </a:p>
        </p:txBody>
      </p:sp>
    </p:spTree>
    <p:extLst>
      <p:ext uri="{BB962C8B-B14F-4D97-AF65-F5344CB8AC3E}">
        <p14:creationId xmlns:p14="http://schemas.microsoft.com/office/powerpoint/2010/main" val="935415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CB976-7259-FF81-D9BA-8BE99363A635}"/>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3. Build a simple calculator </a:t>
            </a:r>
            <a:endParaRPr lang="en-US" dirty="0"/>
          </a:p>
        </p:txBody>
      </p:sp>
      <p:sp>
        <p:nvSpPr>
          <p:cNvPr id="3" name="Content Placeholder 2">
            <a:extLst>
              <a:ext uri="{FF2B5EF4-FFF2-40B4-BE49-F238E27FC236}">
                <a16:creationId xmlns:a16="http://schemas.microsoft.com/office/drawing/2014/main" id="{04C48B2C-1C72-7BAB-E694-3DCEEACB6367}"/>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Easy</a:t>
            </a:r>
          </a:p>
          <a:p>
            <a:pPr algn="l"/>
            <a:r>
              <a:rPr lang="en-IN" b="0" i="0" dirty="0">
                <a:solidFill>
                  <a:srgbClr val="040404"/>
                </a:solidFill>
                <a:effectLst/>
                <a:latin typeface="IBM Plex Sans" panose="020B0503050203000203" pitchFamily="34" charset="0"/>
              </a:rPr>
              <a:t>This project aims to train beginners in developing a program with data structure and algorithms to perform basic mathematical operations like addition, subtraction, multiplication, and division. The system will accept user input for two numbers, perform required operation, and display you the result.</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Fundamental concepts of data structures and algorithms related to mathematical operations, operator precedence, and user input handling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Understanding stack data structures for handling operations with parenthesis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Learn data type, variables, and basic mathematical operations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algorithms for input validation and error handling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Designing user-friendly interfaces for input and output operations </a:t>
            </a:r>
          </a:p>
          <a:p>
            <a:pPr algn="l"/>
            <a:r>
              <a:rPr lang="en-IN" b="1" i="0" dirty="0">
                <a:solidFill>
                  <a:srgbClr val="040404"/>
                </a:solidFill>
                <a:effectLst/>
                <a:latin typeface="IBM Plex Sans" panose="020B0503050203000203" pitchFamily="34" charset="0"/>
              </a:rPr>
              <a:t>What it takes to execute this project</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stack data structure to evaluate arithmetic expressions in prefix, infix, or postfix notation.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basic arithmetic operations (+, -, *, /) using functions or methods.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parser to tokenize and convert input expressions into a suitable internal representation.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algorithms for evaluating expressions, such as the shunting yard algorithm or recursive descent parsing.</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operator precedence and associativity using rules or a precedence table.</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Consider using a tree data structure like an expression tree for more complex expressions.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error handling for invalid inputs or divisions by zero.</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entering expressions and displaying results.</a:t>
            </a:r>
          </a:p>
          <a:p>
            <a:pPr algn="l"/>
            <a:r>
              <a:rPr lang="en-IN" b="1" i="0" dirty="0">
                <a:solidFill>
                  <a:srgbClr val="040404"/>
                </a:solidFill>
                <a:effectLst/>
                <a:latin typeface="IBM Plex Sans" panose="020B0503050203000203" pitchFamily="34" charset="0"/>
              </a:rPr>
              <a:t>Real-world application</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Personal and business use</a:t>
            </a:r>
            <a:r>
              <a:rPr lang="en-IN" b="0" i="0" dirty="0">
                <a:solidFill>
                  <a:srgbClr val="040404"/>
                </a:solidFill>
                <a:effectLst/>
                <a:latin typeface="IBM Plex Sans" panose="020B0503050203000203" pitchFamily="34" charset="0"/>
              </a:rPr>
              <a:t>: You can use this tool in various fields to solve simple calculations</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Government tax websites</a:t>
            </a:r>
            <a:r>
              <a:rPr lang="en-IN" b="0" i="0" dirty="0">
                <a:solidFill>
                  <a:srgbClr val="040404"/>
                </a:solidFill>
                <a:effectLst/>
                <a:latin typeface="IBM Plex Sans" panose="020B0503050203000203" pitchFamily="34" charset="0"/>
              </a:rPr>
              <a:t>: These sites often allow users to calculate their taxes for the year, and integrating this tool can be helpful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Banks and financial institutions</a:t>
            </a:r>
            <a:r>
              <a:rPr lang="en-IN" b="0" i="0" dirty="0">
                <a:solidFill>
                  <a:srgbClr val="040404"/>
                </a:solidFill>
                <a:effectLst/>
                <a:latin typeface="IBM Plex Sans" panose="020B0503050203000203" pitchFamily="34" charset="0"/>
              </a:rPr>
              <a:t>: They can implement this tool to calculate the rate of interest on loans and various deposits </a:t>
            </a:r>
          </a:p>
          <a:p>
            <a:endParaRPr lang="en-US" dirty="0"/>
          </a:p>
        </p:txBody>
      </p:sp>
    </p:spTree>
    <p:extLst>
      <p:ext uri="{BB962C8B-B14F-4D97-AF65-F5344CB8AC3E}">
        <p14:creationId xmlns:p14="http://schemas.microsoft.com/office/powerpoint/2010/main" val="1546196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6A6CB-4335-89EA-2201-F3F733D070BF}"/>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4. Students grade checker </a:t>
            </a:r>
            <a:endParaRPr lang="en-US" dirty="0"/>
          </a:p>
        </p:txBody>
      </p:sp>
      <p:sp>
        <p:nvSpPr>
          <p:cNvPr id="3" name="Content Placeholder 2">
            <a:extLst>
              <a:ext uri="{FF2B5EF4-FFF2-40B4-BE49-F238E27FC236}">
                <a16:creationId xmlns:a16="http://schemas.microsoft.com/office/drawing/2014/main" id="{746E8CAC-75DD-75FB-17F8-2E66A3F8C400}"/>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Easy</a:t>
            </a:r>
          </a:p>
          <a:p>
            <a:pPr algn="l"/>
            <a:r>
              <a:rPr lang="en-IN" b="0" i="0" dirty="0">
                <a:solidFill>
                  <a:srgbClr val="040404"/>
                </a:solidFill>
                <a:effectLst/>
                <a:latin typeface="IBM Plex Sans" panose="020B0503050203000203" pitchFamily="34" charset="0"/>
              </a:rPr>
              <a:t>This project aims to develop a program that can calculate and display students’ grades based on their scores in various subjects. It can use a hash table to store and retrieve grades efficiently, and stores data as key-value pairs where students’ name or IDs is the ‘key’ and their grades are the ‘value.’ You can also implement functions to add or delete grades from the table. </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Learn fundamental concepts of data structures and algorithms related to data manipulation and basic arithmetic calculations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of hash tables to store students’ information and grades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Understanding of searching and sorting algorithms to organize or search students’ data based on specific criteria like student ID, total score, etc.</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Knowledge of file input/output operations, error handling techniques, and designing user interface</a:t>
            </a:r>
          </a:p>
          <a:p>
            <a:pPr algn="l"/>
            <a:r>
              <a:rPr lang="en-IN" b="1" i="0" dirty="0">
                <a:solidFill>
                  <a:srgbClr val="040404"/>
                </a:solidFill>
                <a:effectLst/>
                <a:latin typeface="IBM Plex Sans" panose="020B0503050203000203" pitchFamily="34" charset="0"/>
              </a:rPr>
              <a:t>What it takes to execute this project:</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data structure like an array or linked list to store student records (name, grades).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functions to add, remove, and update student records.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sorting algorithms (e.g., merge sort, quick sort) to sort student records by name or grade.</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search algorithms (e.g., binary search, linear search) to find specific student records.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Calculate and store aggregate statistics like class average and highest/lowest grades.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Consider using a hash table or tree for efficient student lookup.</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grade calculation algorithms based on course policies (e.g., weighted averages).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managing student records and displaying grade reports.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file I/O for storing and loading student data persistently.</a:t>
            </a:r>
          </a:p>
          <a:p>
            <a:pPr algn="l"/>
            <a:r>
              <a:rPr lang="en-IN" b="1" i="0" dirty="0">
                <a:solidFill>
                  <a:srgbClr val="040404"/>
                </a:solidFill>
                <a:effectLst/>
                <a:latin typeface="IBM Plex Sans" panose="020B0503050203000203" pitchFamily="34" charset="0"/>
              </a:rPr>
              <a:t>Real-world application</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Educational institutions</a:t>
            </a:r>
            <a:r>
              <a:rPr lang="en-IN" b="0" i="0" dirty="0">
                <a:solidFill>
                  <a:srgbClr val="040404"/>
                </a:solidFill>
                <a:effectLst/>
                <a:latin typeface="IBM Plex Sans" panose="020B0503050203000203" pitchFamily="34" charset="0"/>
              </a:rPr>
              <a:t>: They can use such a grade checker for students to access their grades from anywhere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Online learning portals</a:t>
            </a:r>
            <a:r>
              <a:rPr lang="en-IN" b="0" i="0" dirty="0">
                <a:solidFill>
                  <a:srgbClr val="040404"/>
                </a:solidFill>
                <a:effectLst/>
                <a:latin typeface="IBM Plex Sans" panose="020B0503050203000203" pitchFamily="34" charset="0"/>
              </a:rPr>
              <a:t>: These sites implement such functionalities to provide students with immediate feedback on their courses</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Personal use</a:t>
            </a:r>
            <a:r>
              <a:rPr lang="en-IN" b="0" i="0" dirty="0">
                <a:solidFill>
                  <a:srgbClr val="040404"/>
                </a:solidFill>
                <a:effectLst/>
                <a:latin typeface="IBM Plex Sans" panose="020B0503050203000203" pitchFamily="34" charset="0"/>
              </a:rPr>
              <a:t>: You can use this system to keep track of your own grades and check your improvements</a:t>
            </a:r>
          </a:p>
          <a:p>
            <a:endParaRPr lang="en-US" dirty="0"/>
          </a:p>
        </p:txBody>
      </p:sp>
    </p:spTree>
    <p:extLst>
      <p:ext uri="{BB962C8B-B14F-4D97-AF65-F5344CB8AC3E}">
        <p14:creationId xmlns:p14="http://schemas.microsoft.com/office/powerpoint/2010/main" val="4030547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51988-2A05-D029-3A11-BCF70F8BE52C}"/>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5. Plagiarism detection system </a:t>
            </a:r>
            <a:endParaRPr lang="en-US" dirty="0"/>
          </a:p>
        </p:txBody>
      </p:sp>
      <p:sp>
        <p:nvSpPr>
          <p:cNvPr id="3" name="Content Placeholder 2">
            <a:extLst>
              <a:ext uri="{FF2B5EF4-FFF2-40B4-BE49-F238E27FC236}">
                <a16:creationId xmlns:a16="http://schemas.microsoft.com/office/drawing/2014/main" id="{D66D33E9-41AD-F335-77AD-FCC51F60D857}"/>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Medium</a:t>
            </a:r>
          </a:p>
          <a:p>
            <a:pPr algn="l"/>
            <a:r>
              <a:rPr lang="en-IN" b="0" i="0" dirty="0">
                <a:solidFill>
                  <a:srgbClr val="040404"/>
                </a:solidFill>
                <a:effectLst/>
                <a:latin typeface="IBM Plex Sans" panose="020B0503050203000203" pitchFamily="34" charset="0"/>
              </a:rPr>
              <a:t>Writers face difficulty in detecting plagiarism in their work, which leads to legal issues at times. This tool will help you </a:t>
            </a:r>
            <a:r>
              <a:rPr lang="en-IN" b="0" i="0" dirty="0" err="1">
                <a:solidFill>
                  <a:srgbClr val="040404"/>
                </a:solidFill>
                <a:effectLst/>
                <a:latin typeface="IBM Plex Sans" panose="020B0503050203000203" pitchFamily="34" charset="0"/>
              </a:rPr>
              <a:t>analyze</a:t>
            </a:r>
            <a:r>
              <a:rPr lang="en-IN" b="0" i="0" dirty="0">
                <a:solidFill>
                  <a:srgbClr val="040404"/>
                </a:solidFill>
                <a:effectLst/>
                <a:latin typeface="IBM Plex Sans" panose="020B0503050203000203" pitchFamily="34" charset="0"/>
              </a:rPr>
              <a:t> documents, implement algorithms to compare them with other text documents, and detect similarities within them. </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Implementing string-matching algorithms for the identification of plagiarism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of data structures like hash tables to store and manipulate data for comparison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Optimizing algorithms to handle large volumes of text data efficiently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Gain knowledge of data preprocessing, text normalization, and handling large datasets</a:t>
            </a:r>
          </a:p>
          <a:p>
            <a:pPr algn="l"/>
            <a:r>
              <a:rPr lang="en-IN" b="1" i="0" dirty="0">
                <a:solidFill>
                  <a:srgbClr val="040404"/>
                </a:solidFill>
                <a:effectLst/>
                <a:latin typeface="IBM Plex Sans" panose="020B0503050203000203" pitchFamily="34" charset="0"/>
              </a:rPr>
              <a:t>What it takes to execute this project</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data structure like a hash table or </a:t>
            </a:r>
            <a:r>
              <a:rPr lang="en-IN" b="0" i="0" dirty="0" err="1">
                <a:solidFill>
                  <a:srgbClr val="040404"/>
                </a:solidFill>
                <a:effectLst/>
                <a:latin typeface="IBM Plex Sans" panose="020B0503050203000203" pitchFamily="34" charset="0"/>
              </a:rPr>
              <a:t>trie</a:t>
            </a:r>
            <a:r>
              <a:rPr lang="en-IN" b="0" i="0" dirty="0">
                <a:solidFill>
                  <a:srgbClr val="040404"/>
                </a:solidFill>
                <a:effectLst/>
                <a:latin typeface="IBM Plex Sans" panose="020B0503050203000203" pitchFamily="34" charset="0"/>
              </a:rPr>
              <a:t> to store and index document text.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algorithms for text preprocessing (tokenization, stemming, stop word removal).</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string matching algorithms (e.g., Knuth-Morris-Pratt, Boyer-Moore) for finding plagiarized text segments.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similarity measures like cosine similarity, Jaccard index, or n-gram matching.</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clustering algorithms (e.g., k-means, hierarchical) to group similar documents.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efficient data structures (e.g., suffix arrays, suffix trees) for pattern matching.</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large document collections using techniques like shingling or locality-sensitive hashing.</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uploading documents and displaying plagiarism detection results.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Integrate with external document sources or databases for comprehensive checking.</a:t>
            </a:r>
          </a:p>
          <a:p>
            <a:pPr algn="l"/>
            <a:r>
              <a:rPr lang="en-IN" b="1" i="0" dirty="0">
                <a:solidFill>
                  <a:srgbClr val="040404"/>
                </a:solidFill>
                <a:effectLst/>
                <a:latin typeface="IBM Plex Sans" panose="020B0503050203000203" pitchFamily="34" charset="0"/>
              </a:rPr>
              <a:t>Real-world application</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Educational institutions</a:t>
            </a:r>
            <a:r>
              <a:rPr lang="en-IN" b="0" i="0" dirty="0">
                <a:solidFill>
                  <a:srgbClr val="040404"/>
                </a:solidFill>
                <a:effectLst/>
                <a:latin typeface="IBM Plex Sans" panose="020B0503050203000203" pitchFamily="34" charset="0"/>
              </a:rPr>
              <a:t>: They can use this application to look into academic papers and students’ assignments to detect plagiarism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Publishing house</a:t>
            </a:r>
            <a:r>
              <a:rPr lang="en-IN" b="0" i="0" dirty="0">
                <a:solidFill>
                  <a:srgbClr val="040404"/>
                </a:solidFill>
                <a:effectLst/>
                <a:latin typeface="IBM Plex Sans" panose="020B0503050203000203" pitchFamily="34" charset="0"/>
              </a:rPr>
              <a:t>: These houses need to publish articles and videos, and they can use the application to ensure the content is free from plagiarism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Content creators</a:t>
            </a:r>
            <a:r>
              <a:rPr lang="en-IN" b="0" i="0" dirty="0">
                <a:solidFill>
                  <a:srgbClr val="040404"/>
                </a:solidFill>
                <a:effectLst/>
                <a:latin typeface="IBM Plex Sans" panose="020B0503050203000203" pitchFamily="34" charset="0"/>
              </a:rPr>
              <a:t>: Content creators need to check for plagiarism in their content before submitting it to clients or releasing it on different platforms, and therefore, this application is useful for them</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Legal house</a:t>
            </a:r>
            <a:r>
              <a:rPr lang="en-IN" b="0" i="0" dirty="0">
                <a:solidFill>
                  <a:srgbClr val="040404"/>
                </a:solidFill>
                <a:effectLst/>
                <a:latin typeface="IBM Plex Sans" panose="020B0503050203000203" pitchFamily="34" charset="0"/>
              </a:rPr>
              <a:t>: Lawyers use this application to </a:t>
            </a:r>
            <a:r>
              <a:rPr lang="en-IN" b="0" i="0" dirty="0" err="1">
                <a:solidFill>
                  <a:srgbClr val="040404"/>
                </a:solidFill>
                <a:effectLst/>
                <a:latin typeface="IBM Plex Sans" panose="020B0503050203000203" pitchFamily="34" charset="0"/>
              </a:rPr>
              <a:t>analyze</a:t>
            </a:r>
            <a:r>
              <a:rPr lang="en-IN" b="0" i="0" dirty="0">
                <a:solidFill>
                  <a:srgbClr val="040404"/>
                </a:solidFill>
                <a:effectLst/>
                <a:latin typeface="IBM Plex Sans" panose="020B0503050203000203" pitchFamily="34" charset="0"/>
              </a:rPr>
              <a:t> contracts, patents, or other legal documents for plagiarism or intellectual property violations </a:t>
            </a:r>
          </a:p>
          <a:p>
            <a:endParaRPr lang="en-US" dirty="0"/>
          </a:p>
        </p:txBody>
      </p:sp>
    </p:spTree>
    <p:extLst>
      <p:ext uri="{BB962C8B-B14F-4D97-AF65-F5344CB8AC3E}">
        <p14:creationId xmlns:p14="http://schemas.microsoft.com/office/powerpoint/2010/main" val="3349712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4E3F7-75A8-AC70-BE80-9E1DC2030522}"/>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6. Banking management system </a:t>
            </a:r>
            <a:endParaRPr lang="en-US" dirty="0"/>
          </a:p>
        </p:txBody>
      </p:sp>
      <p:sp>
        <p:nvSpPr>
          <p:cNvPr id="3" name="Content Placeholder 2">
            <a:extLst>
              <a:ext uri="{FF2B5EF4-FFF2-40B4-BE49-F238E27FC236}">
                <a16:creationId xmlns:a16="http://schemas.microsoft.com/office/drawing/2014/main" id="{DBDCDFD1-6279-E9B6-6015-CC2F1E7D6892}"/>
              </a:ext>
            </a:extLst>
          </p:cNvPr>
          <p:cNvSpPr>
            <a:spLocks noGrp="1"/>
          </p:cNvSpPr>
          <p:nvPr>
            <p:ph idx="1"/>
          </p:nvPr>
        </p:nvSpPr>
        <p:spPr/>
        <p:txBody>
          <a:bodyPr>
            <a:normAutofit fontScale="325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Medium </a:t>
            </a:r>
          </a:p>
          <a:p>
            <a:pPr algn="l"/>
            <a:r>
              <a:rPr lang="en-IN" b="0" i="0" dirty="0">
                <a:solidFill>
                  <a:srgbClr val="040404"/>
                </a:solidFill>
                <a:effectLst/>
                <a:latin typeface="IBM Plex Sans" panose="020B0503050203000203" pitchFamily="34" charset="0"/>
              </a:rPr>
              <a:t>This project will train students to create an application that will replicate banking operations like account creation, balance inquiry, deposit and withdrawal of funds, and transfer of money. It requires designing and implementing data structures to store and manage account information efficiently and developing algorithms to handle banking transactions securely and accurately. </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Understanding and implementing multiple data structures, like linked lists, arrays, and hash tables, to store and manage user details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Developing and optimizing algorithms for handling banking operations using searching, shorting, and data manipulation techniques and ensuring transactions are processed efficiently</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Knowledge of database management for storing and retrieving account information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Handling multiple transactions simultaneously and ensuring data consistency and integrity</a:t>
            </a:r>
          </a:p>
          <a:p>
            <a:pPr algn="l"/>
            <a:r>
              <a:rPr lang="en-IN" b="1" i="0" dirty="0">
                <a:solidFill>
                  <a:srgbClr val="040404"/>
                </a:solidFill>
                <a:effectLst/>
                <a:latin typeface="IBM Plex Sans" panose="020B0503050203000203" pitchFamily="34" charset="0"/>
              </a:rPr>
              <a:t>What it takes to execute this project</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Identify core banking operations like account management, transaction handling, reporting, etc.</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Choose appropriate data structures, such as arrays/lists for accounts, queues/stacks for transactions, and trees/graphs for hierarchical data.</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account management using arrays/lists: create, update, and delete accounts.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transactions like deposits, withdrawals, and money transfers using queues/stacks.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sorting algorithms for report generation, e.g., merge/quick sort for account balances.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search algorithms like binary search for account lookup.</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graphs/trees for organizational hierarchy and access control.</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Ensure data integrity with error handling and input validation.</a:t>
            </a:r>
          </a:p>
          <a:p>
            <a:pPr algn="l"/>
            <a:r>
              <a:rPr lang="en-IN" b="1" i="0" dirty="0">
                <a:solidFill>
                  <a:srgbClr val="040404"/>
                </a:solidFill>
                <a:effectLst/>
                <a:latin typeface="IBM Plex Sans" panose="020B0503050203000203" pitchFamily="34" charset="0"/>
              </a:rPr>
              <a:t>Real world application</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Personal use</a:t>
            </a:r>
            <a:r>
              <a:rPr lang="en-IN" b="0" i="0" dirty="0">
                <a:solidFill>
                  <a:srgbClr val="040404"/>
                </a:solidFill>
                <a:effectLst/>
                <a:latin typeface="IBM Plex Sans" panose="020B0503050203000203" pitchFamily="34" charset="0"/>
              </a:rPr>
              <a:t>: This application can help you manage money transfers and check your account balance at your comfort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E-commerce platforms</a:t>
            </a:r>
            <a:r>
              <a:rPr lang="en-IN" b="0" i="0" dirty="0">
                <a:solidFill>
                  <a:srgbClr val="040404"/>
                </a:solidFill>
                <a:effectLst/>
                <a:latin typeface="IBM Plex Sans" panose="020B0503050203000203" pitchFamily="34" charset="0"/>
              </a:rPr>
              <a:t>: They can implement this system for secured payments for online purchases</a:t>
            </a:r>
          </a:p>
          <a:p>
            <a:endParaRPr lang="en-US" dirty="0"/>
          </a:p>
        </p:txBody>
      </p:sp>
    </p:spTree>
    <p:extLst>
      <p:ext uri="{BB962C8B-B14F-4D97-AF65-F5344CB8AC3E}">
        <p14:creationId xmlns:p14="http://schemas.microsoft.com/office/powerpoint/2010/main" val="891898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D9F8-76E7-C54C-65B4-0112A9109AA3}"/>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7. Travel planner using Graph</a:t>
            </a:r>
            <a:endParaRPr lang="en-US" dirty="0"/>
          </a:p>
        </p:txBody>
      </p:sp>
      <p:sp>
        <p:nvSpPr>
          <p:cNvPr id="3" name="Content Placeholder 2">
            <a:extLst>
              <a:ext uri="{FF2B5EF4-FFF2-40B4-BE49-F238E27FC236}">
                <a16:creationId xmlns:a16="http://schemas.microsoft.com/office/drawing/2014/main" id="{B0D2BA62-7007-AC09-2DA4-A4B4EFAD231C}"/>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Medium</a:t>
            </a:r>
          </a:p>
          <a:p>
            <a:pPr algn="l"/>
            <a:r>
              <a:rPr lang="en-IN" b="0" i="0" dirty="0">
                <a:solidFill>
                  <a:srgbClr val="040404"/>
                </a:solidFill>
                <a:effectLst/>
                <a:latin typeface="IBM Plex Sans" panose="020B0503050203000203" pitchFamily="34" charset="0"/>
              </a:rPr>
              <a:t>This project aims to help </a:t>
            </a:r>
            <a:r>
              <a:rPr lang="en-IN" b="0" i="0" dirty="0" err="1">
                <a:solidFill>
                  <a:srgbClr val="040404"/>
                </a:solidFill>
                <a:effectLst/>
                <a:latin typeface="IBM Plex Sans" panose="020B0503050203000203" pitchFamily="34" charset="0"/>
              </a:rPr>
              <a:t>travelers</a:t>
            </a:r>
            <a:r>
              <a:rPr lang="en-IN" b="0" i="0" dirty="0">
                <a:solidFill>
                  <a:srgbClr val="040404"/>
                </a:solidFill>
                <a:effectLst/>
                <a:latin typeface="IBM Plex Sans" panose="020B0503050203000203" pitchFamily="34" charset="0"/>
              </a:rPr>
              <a:t> plan optimal travel routes between different locations. It uses graph data structures to represent locations as nodes and paths and the connecting roads or transportation routes as edges. This application will be able to calculate the shortest path between two locations, considering factors like distance, travel time, and cost.</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Hands-on experience in working with graph data structures and algorithms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Learn different types of graphs like directed, undirected, and weighted graphs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How to represent and traverse graphs using techniques like adjacency lists or matrices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graph algorithms like Dijkstra’s algorithm, DFS (Depth-First-Search), and BFS (Breadth-First-Search) to find the shortest path between two locations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Develop skills in data handling, input/output operations, and user interface design</a:t>
            </a:r>
          </a:p>
          <a:p>
            <a:pPr algn="l"/>
            <a:r>
              <a:rPr lang="en-IN" b="1" i="0" dirty="0">
                <a:solidFill>
                  <a:srgbClr val="040404"/>
                </a:solidFill>
                <a:effectLst/>
                <a:latin typeface="IBM Plex Sans" panose="020B0503050203000203" pitchFamily="34" charset="0"/>
              </a:rPr>
              <a:t>What it takes to execute this project:</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Represent locations as nodes in a graph data structure, with edges representing travel routes.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Assign weights to edges based on distance, travel time, or cost.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graph traversal algorithms like depth-first search (DFS) or breadth-first search (BFS) to find possible routes.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shortest path algorithms like Dijkstra’s or A* to find optimal routes based on distance/time/cost.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data structures like priority queues or heaps for efficient path-finding.</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constraints like budget, travel mode, or stopover preferences.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Integrate with external APIs for fetching location data, travel information, or real-time updates.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entering source, destination, and preferences, and displaying planned routes.</a:t>
            </a:r>
          </a:p>
          <a:p>
            <a:pPr algn="l"/>
            <a:r>
              <a:rPr lang="en-IN" b="1" i="0" dirty="0">
                <a:solidFill>
                  <a:srgbClr val="040404"/>
                </a:solidFill>
                <a:effectLst/>
                <a:latin typeface="IBM Plex Sans" panose="020B0503050203000203" pitchFamily="34" charset="0"/>
              </a:rPr>
              <a:t>Real world application</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Navigation systems</a:t>
            </a:r>
            <a:r>
              <a:rPr lang="en-IN" b="0" i="0" dirty="0">
                <a:solidFill>
                  <a:srgbClr val="040404"/>
                </a:solidFill>
                <a:effectLst/>
                <a:latin typeface="IBM Plex Sans" panose="020B0503050203000203" pitchFamily="34" charset="0"/>
              </a:rPr>
              <a:t>: Navigation systems like GPS devices and maps can implement this application to find the best roads for </a:t>
            </a:r>
            <a:r>
              <a:rPr lang="en-IN" b="0" i="0" dirty="0" err="1">
                <a:solidFill>
                  <a:srgbClr val="040404"/>
                </a:solidFill>
                <a:effectLst/>
                <a:latin typeface="IBM Plex Sans" panose="020B0503050203000203" pitchFamily="34" charset="0"/>
              </a:rPr>
              <a:t>travelers</a:t>
            </a:r>
            <a:r>
              <a:rPr lang="en-IN" b="0" i="0" dirty="0">
                <a:solidFill>
                  <a:srgbClr val="040404"/>
                </a:solidFill>
                <a:effectLst/>
                <a:latin typeface="IBM Plex Sans" panose="020B0503050203000203" pitchFamily="34" charset="0"/>
              </a:rPr>
              <a:t> and drivers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Logistics and supply chain industry</a:t>
            </a:r>
            <a:r>
              <a:rPr lang="en-IN" b="0" i="0" dirty="0">
                <a:solidFill>
                  <a:srgbClr val="040404"/>
                </a:solidFill>
                <a:effectLst/>
                <a:latin typeface="IBM Plex Sans" panose="020B0503050203000203" pitchFamily="34" charset="0"/>
              </a:rPr>
              <a:t>: They can use such systems to optimize their delivery routes for trucks to reduce cost and improve delivery time</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Travel agencies</a:t>
            </a:r>
            <a:r>
              <a:rPr lang="en-IN" b="0" i="0" dirty="0">
                <a:solidFill>
                  <a:srgbClr val="040404"/>
                </a:solidFill>
                <a:effectLst/>
                <a:latin typeface="IBM Plex Sans" panose="020B0503050203000203" pitchFamily="34" charset="0"/>
              </a:rPr>
              <a:t>: These organizations can provide better services by planning efficient travel roads for clients considering different constraints with this application</a:t>
            </a:r>
          </a:p>
          <a:p>
            <a:endParaRPr lang="en-US" dirty="0"/>
          </a:p>
        </p:txBody>
      </p:sp>
    </p:spTree>
    <p:extLst>
      <p:ext uri="{BB962C8B-B14F-4D97-AF65-F5344CB8AC3E}">
        <p14:creationId xmlns:p14="http://schemas.microsoft.com/office/powerpoint/2010/main" val="3996910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7088-9762-8F90-E3E0-725545CB3CBD}"/>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8. Cash flow minimizer </a:t>
            </a:r>
            <a:endParaRPr lang="en-US" dirty="0"/>
          </a:p>
        </p:txBody>
      </p:sp>
      <p:sp>
        <p:nvSpPr>
          <p:cNvPr id="3" name="Content Placeholder 2">
            <a:extLst>
              <a:ext uri="{FF2B5EF4-FFF2-40B4-BE49-F238E27FC236}">
                <a16:creationId xmlns:a16="http://schemas.microsoft.com/office/drawing/2014/main" id="{B9C973D5-3F9E-E7CE-5905-B2F9F4756AD3}"/>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Medium </a:t>
            </a:r>
          </a:p>
          <a:p>
            <a:pPr algn="l"/>
            <a:r>
              <a:rPr lang="en-IN" b="0" i="0" dirty="0">
                <a:solidFill>
                  <a:srgbClr val="040404"/>
                </a:solidFill>
                <a:effectLst/>
                <a:latin typeface="IBM Plex Sans" panose="020B0503050203000203" pitchFamily="34" charset="0"/>
              </a:rPr>
              <a:t>This cash flow minimizer project focuses on developing a program that will minimize the cash flow among a group of individuals who have borrowed money from each other. It will use graph algorithms with optimization techniques like the Min-Cost Max-Flow algorithm to settle debts in minimum transactions.</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Learn multiple data structures and algorithms related to cash flow management and optimization problems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of efficient data structures like trees or priority queues for storing and manipulating data-based transactions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Gain experience in implementing sorting and searching algorithms and greedy optimization techniques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Handling large volumes of data, input/output operations, and designing user interface</a:t>
            </a:r>
          </a:p>
          <a:p>
            <a:pPr algn="l"/>
            <a:r>
              <a:rPr lang="en-IN" b="1" i="0" dirty="0">
                <a:solidFill>
                  <a:srgbClr val="040404"/>
                </a:solidFill>
                <a:effectLst/>
                <a:latin typeface="IBM Plex Sans" panose="020B0503050203000203" pitchFamily="34" charset="0"/>
              </a:rPr>
              <a:t>What it takes to execute this project</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Represent cash flow data as a time series or sequence using an appropriate data structure (e.g., array, linked list).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algorithms to identify and categorize income and expense transactions.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sorting algorithms (e.g., merge sort, quick sort) to order transactions chronologically.</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data structures like stacks or queues to handle transaction dependencies and scheduling.</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dynamic programming or greedy algorithms to minimize cash flow by rescheduling transactions.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Incorporate constraints like due dates, penalties, and interest rates.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inputting transaction data and displaying optimized cash flow schedules.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error checking and input validation for transaction data.</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Consider integrating with financial databases or APIs for real-world data.</a:t>
            </a:r>
          </a:p>
          <a:p>
            <a:pPr algn="l"/>
            <a:r>
              <a:rPr lang="en-IN" b="1" i="0" dirty="0">
                <a:solidFill>
                  <a:srgbClr val="040404"/>
                </a:solidFill>
                <a:effectLst/>
                <a:latin typeface="IBM Plex Sans" panose="020B0503050203000203" pitchFamily="34" charset="0"/>
              </a:rPr>
              <a:t>Real-world application</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Financial institutions</a:t>
            </a:r>
            <a:r>
              <a:rPr lang="en-IN" b="0" i="0" dirty="0">
                <a:solidFill>
                  <a:srgbClr val="040404"/>
                </a:solidFill>
                <a:effectLst/>
                <a:latin typeface="IBM Plex Sans" panose="020B0503050203000203" pitchFamily="34" charset="0"/>
              </a:rPr>
              <a:t>: These bodies can use such systems to optimize their interbank debt settlement process, reducing transaction costs and complexity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Corporate companies</a:t>
            </a:r>
            <a:r>
              <a:rPr lang="en-IN" b="0" i="0" dirty="0">
                <a:solidFill>
                  <a:srgbClr val="040404"/>
                </a:solidFill>
                <a:effectLst/>
                <a:latin typeface="IBM Plex Sans" panose="020B0503050203000203" pitchFamily="34" charset="0"/>
              </a:rPr>
              <a:t>: They can implement such a system to manage internal transfers and settlements between multiple departments or subsidiaries, enhancing cash flow management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Personal use</a:t>
            </a:r>
            <a:r>
              <a:rPr lang="en-IN" b="0" i="0" dirty="0">
                <a:solidFill>
                  <a:srgbClr val="040404"/>
                </a:solidFill>
                <a:effectLst/>
                <a:latin typeface="IBM Plex Sans" panose="020B0503050203000203" pitchFamily="34" charset="0"/>
              </a:rPr>
              <a:t>: You can use such a system for expense sharing with minimum cash flow </a:t>
            </a:r>
          </a:p>
          <a:p>
            <a:endParaRPr lang="en-US" dirty="0"/>
          </a:p>
        </p:txBody>
      </p:sp>
    </p:spTree>
    <p:extLst>
      <p:ext uri="{BB962C8B-B14F-4D97-AF65-F5344CB8AC3E}">
        <p14:creationId xmlns:p14="http://schemas.microsoft.com/office/powerpoint/2010/main" val="3669876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32CD5-9B80-124D-3B42-ACD2DF15DF44}"/>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9. Building a crossword puzzle game </a:t>
            </a:r>
            <a:endParaRPr lang="en-US" dirty="0"/>
          </a:p>
        </p:txBody>
      </p:sp>
      <p:sp>
        <p:nvSpPr>
          <p:cNvPr id="3" name="Content Placeholder 2">
            <a:extLst>
              <a:ext uri="{FF2B5EF4-FFF2-40B4-BE49-F238E27FC236}">
                <a16:creationId xmlns:a16="http://schemas.microsoft.com/office/drawing/2014/main" id="{4BA7556B-D2EF-0046-69E4-087A2B56A1F1}"/>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Medium </a:t>
            </a:r>
          </a:p>
          <a:p>
            <a:pPr algn="l"/>
            <a:r>
              <a:rPr lang="en-IN" b="0" i="0" dirty="0">
                <a:solidFill>
                  <a:srgbClr val="040404"/>
                </a:solidFill>
                <a:effectLst/>
                <a:latin typeface="IBM Plex Sans" panose="020B0503050203000203" pitchFamily="34" charset="0"/>
              </a:rPr>
              <a:t>Crossword puzzle games are often liked by children, and even parents allow them to play them to improve their vocabulary and language skills. This program will train students to build a crossword puzzle game that can generate and solve various puzzles. It will take a list of words, generate a crossword grid, and place the words in an interlocking pattern. It will also help users find and fill in the missing words depending on clues and the interlocking pattern of the grid. </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Learn multiple data structures and algorithms related to string manipulation, search techniques, and pattern matching</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data structures like hash tables for storing and manipulating word lists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Implementing backtracking algorithms or constraint satisfaction techniques to generate and solve different crossword puzzles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Designing a user-friendly interface for users to interact with the system </a:t>
            </a:r>
          </a:p>
          <a:p>
            <a:pPr algn="l"/>
            <a:r>
              <a:rPr lang="en-IN" b="1" i="0" dirty="0">
                <a:solidFill>
                  <a:srgbClr val="040404"/>
                </a:solidFill>
                <a:effectLst/>
                <a:latin typeface="IBM Plex Sans" panose="020B0503050203000203" pitchFamily="34" charset="0"/>
              </a:rPr>
              <a:t>What it takes to execute this project:</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2D array or matrix to represent the crossword puzzle grid.</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a </a:t>
            </a:r>
            <a:r>
              <a:rPr lang="en-IN" b="0" i="0" dirty="0" err="1">
                <a:solidFill>
                  <a:srgbClr val="040404"/>
                </a:solidFill>
                <a:effectLst/>
                <a:latin typeface="IBM Plex Sans" panose="020B0503050203000203" pitchFamily="34" charset="0"/>
              </a:rPr>
              <a:t>trie</a:t>
            </a:r>
            <a:r>
              <a:rPr lang="en-IN" b="0" i="0" dirty="0">
                <a:solidFill>
                  <a:srgbClr val="040404"/>
                </a:solidFill>
                <a:effectLst/>
                <a:latin typeface="IBM Plex Sans" panose="020B0503050203000203" pitchFamily="34" charset="0"/>
              </a:rPr>
              <a:t> or prefix tree data structure to store and search for words efficiently.</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backtracking algorithms to find valid word placements in the grid.</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constraint satisfaction techniques to ensure word intersections and grid validity.</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heuristics or scoring functions to guide the search process and optimize solutions.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Integrate randomization algorithms for puzzle generation and variation.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data structures like stacks or queues for undo/redo functionality.</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displaying the puzzle, entering words, and interacting with game features.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input validation, error checking, and scoring mechanisms for gameplay.</a:t>
            </a:r>
          </a:p>
          <a:p>
            <a:pPr algn="l"/>
            <a:r>
              <a:rPr lang="en-IN" b="1" i="0" dirty="0">
                <a:solidFill>
                  <a:srgbClr val="040404"/>
                </a:solidFill>
                <a:effectLst/>
                <a:latin typeface="IBM Plex Sans" panose="020B0503050203000203" pitchFamily="34" charset="0"/>
              </a:rPr>
              <a:t>Real-world application</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Play schools</a:t>
            </a:r>
            <a:r>
              <a:rPr lang="en-IN" b="0" i="0" dirty="0">
                <a:solidFill>
                  <a:srgbClr val="040404"/>
                </a:solidFill>
                <a:effectLst/>
                <a:latin typeface="IBM Plex Sans" panose="020B0503050203000203" pitchFamily="34" charset="0"/>
              </a:rPr>
              <a:t>: They can use this tool for building vocabulary and language skills among children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E-commerce platforms</a:t>
            </a:r>
            <a:r>
              <a:rPr lang="en-IN" b="0" i="0" dirty="0">
                <a:solidFill>
                  <a:srgbClr val="040404"/>
                </a:solidFill>
                <a:effectLst/>
                <a:latin typeface="IBM Plex Sans" panose="020B0503050203000203" pitchFamily="34" charset="0"/>
              </a:rPr>
              <a:t>: They can implement such games to attract customers to their platform and let them win cashback or discount coupons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Publishing houses</a:t>
            </a:r>
            <a:r>
              <a:rPr lang="en-IN" b="0" i="0" dirty="0">
                <a:solidFill>
                  <a:srgbClr val="040404"/>
                </a:solidFill>
                <a:effectLst/>
                <a:latin typeface="IBM Plex Sans" panose="020B0503050203000203" pitchFamily="34" charset="0"/>
              </a:rPr>
              <a:t>: Newspapers and magazines often print crossword puzzles for readers to improve their vocabulary, and with this tool, creating new puzzles regularly becomes easy</a:t>
            </a:r>
          </a:p>
          <a:p>
            <a:endParaRPr lang="en-US" dirty="0"/>
          </a:p>
        </p:txBody>
      </p:sp>
    </p:spTree>
    <p:extLst>
      <p:ext uri="{BB962C8B-B14F-4D97-AF65-F5344CB8AC3E}">
        <p14:creationId xmlns:p14="http://schemas.microsoft.com/office/powerpoint/2010/main" val="368898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FFC73-E262-6F1A-05AB-49F780F0F64B}"/>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10. Library management system </a:t>
            </a:r>
            <a:endParaRPr lang="en-US" dirty="0"/>
          </a:p>
        </p:txBody>
      </p:sp>
      <p:sp>
        <p:nvSpPr>
          <p:cNvPr id="3" name="Content Placeholder 2">
            <a:extLst>
              <a:ext uri="{FF2B5EF4-FFF2-40B4-BE49-F238E27FC236}">
                <a16:creationId xmlns:a16="http://schemas.microsoft.com/office/drawing/2014/main" id="{6C4A22BE-41DF-B175-E8EB-58436EDF5D40}"/>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Medium </a:t>
            </a:r>
          </a:p>
          <a:p>
            <a:pPr algn="l"/>
            <a:r>
              <a:rPr lang="en-IN" b="0" i="0" dirty="0">
                <a:solidFill>
                  <a:srgbClr val="040404"/>
                </a:solidFill>
                <a:effectLst/>
                <a:latin typeface="IBM Plex Sans" panose="020B0503050203000203" pitchFamily="34" charset="0"/>
              </a:rPr>
              <a:t>This project trains students to develop a program that can efficiently manage library operations like </a:t>
            </a:r>
            <a:r>
              <a:rPr lang="en-IN" b="0" i="0" dirty="0" err="1">
                <a:solidFill>
                  <a:srgbClr val="040404"/>
                </a:solidFill>
                <a:effectLst/>
                <a:latin typeface="IBM Plex Sans" panose="020B0503050203000203" pitchFamily="34" charset="0"/>
              </a:rPr>
              <a:t>cataloging</a:t>
            </a:r>
            <a:r>
              <a:rPr lang="en-IN" b="0" i="0" dirty="0">
                <a:solidFill>
                  <a:srgbClr val="040404"/>
                </a:solidFill>
                <a:effectLst/>
                <a:latin typeface="IBM Plex Sans" panose="020B0503050203000203" pitchFamily="34" charset="0"/>
              </a:rPr>
              <a:t> books, tracking book borrowing and returns, member record maintenance, generating reports on library statistics, etc. </a:t>
            </a:r>
          </a:p>
          <a:p>
            <a:pPr algn="l"/>
            <a:r>
              <a:rPr lang="en-IN" b="1" i="0" dirty="0">
                <a:solidFill>
                  <a:srgbClr val="040404"/>
                </a:solidFill>
                <a:effectLst/>
                <a:latin typeface="IBM Plex Sans" panose="020B0503050203000203" pitchFamily="34" charset="0"/>
              </a:rPr>
              <a:t>Learning outcomes:</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of data structures like linked lists, hash tables, trees, and queues to manage and organized library information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Understanding of database concepts like CRUD (Create, Read, Update, and Delete) operations and ways to interact with a database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Implementing efficient searching and sorting algorithms to search for books and borrower information and sort records based on different criteria</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Handling complex queries and operations within the library system</a:t>
            </a:r>
          </a:p>
          <a:p>
            <a:pPr algn="l"/>
            <a:r>
              <a:rPr lang="en-IN" b="1" i="0" dirty="0">
                <a:solidFill>
                  <a:srgbClr val="040404"/>
                </a:solidFill>
                <a:effectLst/>
                <a:latin typeface="IBM Plex Sans" panose="020B0503050203000203" pitchFamily="34" charset="0"/>
              </a:rPr>
              <a:t>What it takes to execute this project</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data structure like an array, linked list, or hash table to store book records (title, author, availability).</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functions to add, remove, and search for books by title, author, or other criteria.</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sorting algorithms like merge sort or quick sort to arrange books alphabetically or by other attributes.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search algorithms like binary search or linear search for efficient book lookup.</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Consider using a tree data structure like a binary search tree or </a:t>
            </a:r>
            <a:r>
              <a:rPr lang="en-IN" b="0" i="0" dirty="0" err="1">
                <a:solidFill>
                  <a:srgbClr val="040404"/>
                </a:solidFill>
                <a:effectLst/>
                <a:latin typeface="IBM Plex Sans" panose="020B0503050203000203" pitchFamily="34" charset="0"/>
              </a:rPr>
              <a:t>trie</a:t>
            </a:r>
            <a:r>
              <a:rPr lang="en-IN" b="0" i="0" dirty="0">
                <a:solidFill>
                  <a:srgbClr val="040404"/>
                </a:solidFill>
                <a:effectLst/>
                <a:latin typeface="IBM Plex Sans" panose="020B0503050203000203" pitchFamily="34" charset="0"/>
              </a:rPr>
              <a:t> for hierarchical organization and efficient searches.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data structures like queues or priority queues for handling book reservations and waitlists.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member management, book lending/return, and fine calculation algorithms.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librarians and members to interact with the system.</a:t>
            </a:r>
          </a:p>
          <a:p>
            <a:pPr algn="l"/>
            <a:r>
              <a:rPr lang="en-IN" b="1" i="0" dirty="0">
                <a:solidFill>
                  <a:srgbClr val="040404"/>
                </a:solidFill>
                <a:effectLst/>
                <a:latin typeface="IBM Plex Sans" panose="020B0503050203000203" pitchFamily="34" charset="0"/>
              </a:rPr>
              <a:t>Real-world application</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Educational institutions</a:t>
            </a:r>
            <a:r>
              <a:rPr lang="en-IN" b="0" i="0" dirty="0">
                <a:solidFill>
                  <a:srgbClr val="040404"/>
                </a:solidFill>
                <a:effectLst/>
                <a:latin typeface="IBM Plex Sans" panose="020B0503050203000203" pitchFamily="34" charset="0"/>
              </a:rPr>
              <a:t>: They can use this system to automate their library operations, like book </a:t>
            </a:r>
            <a:r>
              <a:rPr lang="en-IN" b="0" i="0" dirty="0" err="1">
                <a:solidFill>
                  <a:srgbClr val="040404"/>
                </a:solidFill>
                <a:effectLst/>
                <a:latin typeface="IBM Plex Sans" panose="020B0503050203000203" pitchFamily="34" charset="0"/>
              </a:rPr>
              <a:t>cataloging</a:t>
            </a:r>
            <a:r>
              <a:rPr lang="en-IN" b="0" i="0" dirty="0">
                <a:solidFill>
                  <a:srgbClr val="040404"/>
                </a:solidFill>
                <a:effectLst/>
                <a:latin typeface="IBM Plex Sans" panose="020B0503050203000203" pitchFamily="34" charset="0"/>
              </a:rPr>
              <a:t>, inventory management, and report generation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Public libraries</a:t>
            </a:r>
            <a:r>
              <a:rPr lang="en-IN" b="0" i="0" dirty="0">
                <a:solidFill>
                  <a:srgbClr val="040404"/>
                </a:solidFill>
                <a:effectLst/>
                <a:latin typeface="IBM Plex Sans" panose="020B0503050203000203" pitchFamily="34" charset="0"/>
              </a:rPr>
              <a:t>: These organizations need to manage large collections of books, and implementing this system can help them handle the check-in and check-out processes efficiently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Digital libraries</a:t>
            </a:r>
            <a:r>
              <a:rPr lang="en-IN" b="0" i="0" dirty="0">
                <a:solidFill>
                  <a:srgbClr val="040404"/>
                </a:solidFill>
                <a:effectLst/>
                <a:latin typeface="IBM Plex Sans" panose="020B0503050203000203" pitchFamily="34" charset="0"/>
              </a:rPr>
              <a:t>: These perform all their work online, and this library management system can help them manage </a:t>
            </a:r>
            <a:r>
              <a:rPr lang="en-IN" b="0" i="0" dirty="0" err="1">
                <a:solidFill>
                  <a:srgbClr val="040404"/>
                </a:solidFill>
                <a:effectLst/>
                <a:latin typeface="IBM Plex Sans" panose="020B0503050203000203" pitchFamily="34" charset="0"/>
              </a:rPr>
              <a:t>ebooks</a:t>
            </a:r>
            <a:r>
              <a:rPr lang="en-IN" b="0" i="0" dirty="0">
                <a:solidFill>
                  <a:srgbClr val="040404"/>
                </a:solidFill>
                <a:effectLst/>
                <a:latin typeface="IBM Plex Sans" panose="020B0503050203000203" pitchFamily="34" charset="0"/>
              </a:rPr>
              <a:t> and other digital resources and provide search and book access abilities to users</a:t>
            </a:r>
          </a:p>
          <a:p>
            <a:endParaRPr lang="en-US" dirty="0"/>
          </a:p>
        </p:txBody>
      </p:sp>
    </p:spTree>
    <p:extLst>
      <p:ext uri="{BB962C8B-B14F-4D97-AF65-F5344CB8AC3E}">
        <p14:creationId xmlns:p14="http://schemas.microsoft.com/office/powerpoint/2010/main" val="561771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205EA-1E8C-F57E-4972-8BA6DD72E698}"/>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11. Building a File Zipper </a:t>
            </a:r>
            <a:endParaRPr lang="en-US" dirty="0"/>
          </a:p>
        </p:txBody>
      </p:sp>
      <p:sp>
        <p:nvSpPr>
          <p:cNvPr id="3" name="Content Placeholder 2">
            <a:extLst>
              <a:ext uri="{FF2B5EF4-FFF2-40B4-BE49-F238E27FC236}">
                <a16:creationId xmlns:a16="http://schemas.microsoft.com/office/drawing/2014/main" id="{01E1F625-A903-AE3E-5AE0-315B27AB3D9C}"/>
              </a:ext>
            </a:extLst>
          </p:cNvPr>
          <p:cNvSpPr>
            <a:spLocks noGrp="1"/>
          </p:cNvSpPr>
          <p:nvPr>
            <p:ph idx="1"/>
          </p:nvPr>
        </p:nvSpPr>
        <p:spPr/>
        <p:txBody>
          <a:bodyPr>
            <a:normAutofit fontScale="325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Medium</a:t>
            </a:r>
          </a:p>
          <a:p>
            <a:pPr algn="l"/>
            <a:r>
              <a:rPr lang="en-IN" b="0" i="0" dirty="0">
                <a:solidFill>
                  <a:srgbClr val="040404"/>
                </a:solidFill>
                <a:effectLst/>
                <a:latin typeface="IBM Plex Sans" panose="020B0503050203000203" pitchFamily="34" charset="0"/>
              </a:rPr>
              <a:t>This project focuses on building a file compression tool using a Greedy Huffman encoder or Run-Length Encoding. This File Zipper tool compresses a large file or directory into a single compressed file that saves your memory storage. These compressed files are usually of smaller sizes and are easy to transfer from one machine to another.</a:t>
            </a:r>
          </a:p>
          <a:p>
            <a:pPr algn="l"/>
            <a:r>
              <a:rPr lang="en-IN" b="1" i="0" dirty="0">
                <a:solidFill>
                  <a:srgbClr val="040404"/>
                </a:solidFill>
                <a:effectLst/>
                <a:latin typeface="IBM Plex Sans" panose="020B0503050203000203" pitchFamily="34" charset="0"/>
              </a:rPr>
              <a:t>Learning outcomes:</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Knowledge of algorithms like Huffman coding, RLE (Run-Length Encoding), or LZW (Lempel-Ziv-Welch), required for compressing and decompressing files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Understanding binary trees and the Tries data structures particularly used in Huffman coding to efficiently encode and decode your data</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Gain experience with handling bits and bytes for file compression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Knowledge of designing user interfaces for users to interact with the system </a:t>
            </a:r>
          </a:p>
          <a:p>
            <a:pPr algn="l"/>
            <a:r>
              <a:rPr lang="en-IN" b="1" i="0" dirty="0">
                <a:solidFill>
                  <a:srgbClr val="040404"/>
                </a:solidFill>
                <a:effectLst/>
                <a:latin typeface="IBM Plex Sans" panose="020B0503050203000203" pitchFamily="34" charset="0"/>
              </a:rPr>
              <a:t>What it takes to execute this project</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data structure like a binary tree or Huffman coding tree to represent file contents and generate compression codes.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algorithms like Huffman coding or LZW (Lempel-Ziv-Welch) for data compression and decompression.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file I/O operations to read and write compressed/decompressed data to files.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data structures like arrays or linked lists to store compressed data and file metadata.</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input validation, error checking, and progress reporting for compression/decompression operations.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selecting files, configuring compression settings, and initiating compression/decompression.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Consider multi-threaded or parallel processing techniques for improved performance on large files.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archiving and extraction algorithms for handling multiple files in a single archive.</a:t>
            </a:r>
          </a:p>
          <a:p>
            <a:pPr algn="l"/>
            <a:r>
              <a:rPr lang="en-IN" b="1" i="0" dirty="0">
                <a:solidFill>
                  <a:srgbClr val="040404"/>
                </a:solidFill>
                <a:effectLst/>
                <a:latin typeface="IBM Plex Sans" panose="020B0503050203000203" pitchFamily="34" charset="0"/>
              </a:rPr>
              <a:t>Real-world application:</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Personal or business use:</a:t>
            </a:r>
            <a:r>
              <a:rPr lang="en-IN" b="0" i="0" dirty="0">
                <a:solidFill>
                  <a:srgbClr val="040404"/>
                </a:solidFill>
                <a:effectLst/>
                <a:latin typeface="IBM Plex Sans" panose="020B0503050203000203" pitchFamily="34" charset="0"/>
              </a:rPr>
              <a:t> This tool can be efficiently used for data backups and archives as they use less memory space</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Software developers</a:t>
            </a:r>
            <a:r>
              <a:rPr lang="en-IN" b="0" i="0" dirty="0">
                <a:solidFill>
                  <a:srgbClr val="040404"/>
                </a:solidFill>
                <a:effectLst/>
                <a:latin typeface="IBM Plex Sans" panose="020B0503050203000203" pitchFamily="34" charset="0"/>
              </a:rPr>
              <a:t>: These professionals can use the tool for data storage and transferring large volumes of data quickly over networks</a:t>
            </a:r>
          </a:p>
          <a:p>
            <a:endParaRPr lang="en-US" dirty="0"/>
          </a:p>
        </p:txBody>
      </p:sp>
    </p:spTree>
    <p:extLst>
      <p:ext uri="{BB962C8B-B14F-4D97-AF65-F5344CB8AC3E}">
        <p14:creationId xmlns:p14="http://schemas.microsoft.com/office/powerpoint/2010/main" val="2261499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04BE9-3EB9-CD49-F36A-A74B99167327}"/>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12. Real estate property search</a:t>
            </a:r>
            <a:endParaRPr lang="en-US" dirty="0"/>
          </a:p>
        </p:txBody>
      </p:sp>
      <p:sp>
        <p:nvSpPr>
          <p:cNvPr id="3" name="Content Placeholder 2">
            <a:extLst>
              <a:ext uri="{FF2B5EF4-FFF2-40B4-BE49-F238E27FC236}">
                <a16:creationId xmlns:a16="http://schemas.microsoft.com/office/drawing/2014/main" id="{796F5917-17D4-CA1E-CCA0-FC7F47663CA7}"/>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Hard</a:t>
            </a:r>
          </a:p>
          <a:p>
            <a:pPr algn="l"/>
            <a:r>
              <a:rPr lang="en-IN" b="0" i="0" dirty="0">
                <a:solidFill>
                  <a:srgbClr val="040404"/>
                </a:solidFill>
                <a:effectLst/>
                <a:latin typeface="IBM Plex Sans" panose="020B0503050203000203" pitchFamily="34" charset="0"/>
              </a:rPr>
              <a:t>This project uses the R-tree indexing technique to handle spatial queries and provide relevant property listings to users depending on multiple criteria. Students will start doing the project by collecting real estate property data, including location, property price, property area, number of bedrooms, etc., and then use the R-tree index to organize data spatially. Now, to represent each of these properties, you need spatial objects. Then, these objects will be arranged on an R-tree in a hierarchical structure for efficient spatial queries.</a:t>
            </a:r>
          </a:p>
          <a:p>
            <a:pPr algn="l"/>
            <a:r>
              <a:rPr lang="en-IN" b="1" i="0" dirty="0">
                <a:solidFill>
                  <a:srgbClr val="040404"/>
                </a:solidFill>
                <a:effectLst/>
                <a:latin typeface="IBM Plex Sans" panose="020B0503050203000203" pitchFamily="34" charset="0"/>
              </a:rPr>
              <a:t>Learning outcomes:</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Knowledge of data structures like R-trees used for indexing multidimensional information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efficient searching and sorting algorithms to handle user queries and retrieve relevant property listings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Understanding of multiple database operations and indexing to store and query large data sets efficiently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Optimizing search and retrieval processes for better performance and improved user experience</a:t>
            </a:r>
          </a:p>
          <a:p>
            <a:pPr algn="l"/>
            <a:r>
              <a:rPr lang="en-IN" b="1" i="0" dirty="0">
                <a:solidFill>
                  <a:srgbClr val="040404"/>
                </a:solidFill>
                <a:effectLst/>
                <a:latin typeface="IBM Plex Sans" panose="020B0503050203000203" pitchFamily="34" charset="0"/>
              </a:rPr>
              <a:t>What it takes to execute this project:</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data structure like a hash table or tree (e.g., B-tree, R-tree) to store and index property data efficiently.</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search algorithms like range queries, nearest </a:t>
            </a:r>
            <a:r>
              <a:rPr lang="en-IN" b="0" i="0" dirty="0" err="1">
                <a:solidFill>
                  <a:srgbClr val="040404"/>
                </a:solidFill>
                <a:effectLst/>
                <a:latin typeface="IBM Plex Sans" panose="020B0503050203000203" pitchFamily="34" charset="0"/>
              </a:rPr>
              <a:t>neighbor</a:t>
            </a:r>
            <a:r>
              <a:rPr lang="en-IN" b="0" i="0" dirty="0">
                <a:solidFill>
                  <a:srgbClr val="040404"/>
                </a:solidFill>
                <a:effectLst/>
                <a:latin typeface="IBM Plex Sans" panose="020B0503050203000203" pitchFamily="34" charset="0"/>
              </a:rPr>
              <a:t> searches, or spatial queries to find properties based on location, price, area, etc.</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sorting algorithms (e.g., merge sort, quick sort) to order search results based on user preferences.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data structures like priority queues or heaps for ranking and displaying top results.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multi-criteria searches by combining multiple filters and conditions.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Integrate with external APIs or databases to fetch property data and make real-time updates.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entering search criteria, displaying results, and interacting with property details.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caching or indexing techniques for improving search performance on large datasets.</a:t>
            </a:r>
          </a:p>
          <a:p>
            <a:pPr algn="l"/>
            <a:r>
              <a:rPr lang="en-IN" b="1" i="0" dirty="0">
                <a:solidFill>
                  <a:srgbClr val="040404"/>
                </a:solidFill>
                <a:effectLst/>
                <a:latin typeface="IBM Plex Sans" panose="020B0503050203000203" pitchFamily="34" charset="0"/>
              </a:rPr>
              <a:t>Real-world application</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Real estate online portals</a:t>
            </a:r>
            <a:r>
              <a:rPr lang="en-IN" b="0" i="0" dirty="0">
                <a:solidFill>
                  <a:srgbClr val="040404"/>
                </a:solidFill>
                <a:effectLst/>
                <a:latin typeface="IBM Plex Sans" panose="020B0503050203000203" pitchFamily="34" charset="0"/>
              </a:rPr>
              <a:t>: These websites can integrate such systems to help users find properties that match their criteria and provide valuable service to property buyers and sellers</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Property Management agency</a:t>
            </a:r>
            <a:r>
              <a:rPr lang="en-IN" b="0" i="0" dirty="0">
                <a:solidFill>
                  <a:srgbClr val="040404"/>
                </a:solidFill>
                <a:effectLst/>
                <a:latin typeface="IBM Plex Sans" panose="020B0503050203000203" pitchFamily="34" charset="0"/>
              </a:rPr>
              <a:t>: Such an organization can use the system to manage their real-time property listings and provide the best property solutions to their clients</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Research purposes</a:t>
            </a:r>
            <a:r>
              <a:rPr lang="en-IN" b="0" i="0" dirty="0">
                <a:solidFill>
                  <a:srgbClr val="040404"/>
                </a:solidFill>
                <a:effectLst/>
                <a:latin typeface="IBM Plex Sans" panose="020B0503050203000203" pitchFamily="34" charset="0"/>
              </a:rPr>
              <a:t>: Researchers can use this tool for </a:t>
            </a:r>
            <a:r>
              <a:rPr lang="en-IN" b="0" i="0" dirty="0" err="1">
                <a:solidFill>
                  <a:srgbClr val="040404"/>
                </a:solidFill>
                <a:effectLst/>
                <a:latin typeface="IBM Plex Sans" panose="020B0503050203000203" pitchFamily="34" charset="0"/>
              </a:rPr>
              <a:t>analyzing</a:t>
            </a:r>
            <a:r>
              <a:rPr lang="en-IN" b="0" i="0" dirty="0">
                <a:solidFill>
                  <a:srgbClr val="040404"/>
                </a:solidFill>
                <a:effectLst/>
                <a:latin typeface="IBM Plex Sans" panose="020B0503050203000203" pitchFamily="34" charset="0"/>
              </a:rPr>
              <a:t> the real estate property market and identify trends for making better decisions like increasing the property price of a particular area in demand</a:t>
            </a:r>
          </a:p>
          <a:p>
            <a:endParaRPr lang="en-US" dirty="0"/>
          </a:p>
        </p:txBody>
      </p:sp>
    </p:spTree>
    <p:extLst>
      <p:ext uri="{BB962C8B-B14F-4D97-AF65-F5344CB8AC3E}">
        <p14:creationId xmlns:p14="http://schemas.microsoft.com/office/powerpoint/2010/main" val="4254725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A934D-72F9-CC45-A97D-044AAF1881C7}"/>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13.  Real-time traffic analysis </a:t>
            </a:r>
            <a:endParaRPr lang="en-US" dirty="0"/>
          </a:p>
        </p:txBody>
      </p:sp>
      <p:sp>
        <p:nvSpPr>
          <p:cNvPr id="3" name="Content Placeholder 2">
            <a:extLst>
              <a:ext uri="{FF2B5EF4-FFF2-40B4-BE49-F238E27FC236}">
                <a16:creationId xmlns:a16="http://schemas.microsoft.com/office/drawing/2014/main" id="{711F2831-0DF5-6CCB-98E1-2CDFFDFF3AB6}"/>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Hard</a:t>
            </a:r>
          </a:p>
          <a:p>
            <a:pPr algn="l"/>
            <a:r>
              <a:rPr lang="en-IN" b="0" i="0" dirty="0">
                <a:solidFill>
                  <a:srgbClr val="040404"/>
                </a:solidFill>
                <a:effectLst/>
                <a:latin typeface="IBM Plex Sans" panose="020B0503050203000203" pitchFamily="34" charset="0"/>
              </a:rPr>
              <a:t>This project will help users to </a:t>
            </a:r>
            <a:r>
              <a:rPr lang="en-IN" b="0" i="0" dirty="0" err="1">
                <a:solidFill>
                  <a:srgbClr val="040404"/>
                </a:solidFill>
                <a:effectLst/>
                <a:latin typeface="IBM Plex Sans" panose="020B0503050203000203" pitchFamily="34" charset="0"/>
              </a:rPr>
              <a:t>analyze</a:t>
            </a:r>
            <a:r>
              <a:rPr lang="en-IN" b="0" i="0" dirty="0">
                <a:solidFill>
                  <a:srgbClr val="040404"/>
                </a:solidFill>
                <a:effectLst/>
                <a:latin typeface="IBM Plex Sans" panose="020B0503050203000203" pitchFamily="34" charset="0"/>
              </a:rPr>
              <a:t> and monitor real-time traffic data. Students will collect data from sensors, cameras, or  GPS devices and use segment trees to efficiently process and </a:t>
            </a:r>
            <a:r>
              <a:rPr lang="en-IN" b="0" i="0" dirty="0" err="1">
                <a:solidFill>
                  <a:srgbClr val="040404"/>
                </a:solidFill>
                <a:effectLst/>
                <a:latin typeface="IBM Plex Sans" panose="020B0503050203000203" pitchFamily="34" charset="0"/>
              </a:rPr>
              <a:t>analyze</a:t>
            </a:r>
            <a:r>
              <a:rPr lang="en-IN" b="0" i="0" dirty="0">
                <a:solidFill>
                  <a:srgbClr val="040404"/>
                </a:solidFill>
                <a:effectLst/>
                <a:latin typeface="IBM Plex Sans" panose="020B0503050203000203" pitchFamily="34" charset="0"/>
              </a:rPr>
              <a:t> them. Once the data is collected, they can make queries to retrieve that data, such as the average speed of a car at a specific time interval.  This system will also provide insights and recommendations for optimizing traffic flow in an area and improving its transportation infrastructure. </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Understanding of various data structures and algorithms related to data processing, analysis, and visualization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Handling continuous data streams and real-time data updates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Using graphs to model road networks and implement algorithms like Dijkstra’s algorithm to calculate the shortest path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of heap and priority queues to manage dynamic data for real-time traffic updates and route optimization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Implementing concurrent algorithms to process multiple data streams simultaneously </a:t>
            </a:r>
          </a:p>
          <a:p>
            <a:pPr algn="l"/>
            <a:r>
              <a:rPr lang="en-IN" b="1" i="0" dirty="0">
                <a:solidFill>
                  <a:srgbClr val="040404"/>
                </a:solidFill>
                <a:effectLst/>
                <a:latin typeface="IBM Plex Sans" panose="020B0503050203000203" pitchFamily="34" charset="0"/>
              </a:rPr>
              <a:t>What it takes to execute this project:</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graph data structure to represent the road network, with nodes for intersections and edges for road segments.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data structures like queues or priority queues to model and simulate traffic flow.</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shortest path algorithms like Dijkstra’s or A* to calculate optimal routes and travel times.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algorithms for traffic assignment and route choice </a:t>
            </a:r>
            <a:r>
              <a:rPr lang="en-IN" b="0" i="0" dirty="0" err="1">
                <a:solidFill>
                  <a:srgbClr val="040404"/>
                </a:solidFill>
                <a:effectLst/>
                <a:latin typeface="IBM Plex Sans" panose="020B0503050203000203" pitchFamily="34" charset="0"/>
              </a:rPr>
              <a:t>modeling</a:t>
            </a:r>
            <a:r>
              <a:rPr lang="en-IN" b="0" i="0" dirty="0">
                <a:solidFill>
                  <a:srgbClr val="040404"/>
                </a:solidFill>
                <a:effectLst/>
                <a:latin typeface="IBM Plex Sans" panose="020B0503050203000203" pitchFamily="34" charset="0"/>
              </a:rPr>
              <a:t>, such as user equilibrium or system optimal approaches.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real-time updates and dynamic changes in traffic conditions using appropriate data structures and algorithms.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Integrate with external data sources (e.g., sensors, APIs) for real-time traffic data ingestion.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visualizing traffic conditions, </a:t>
            </a:r>
            <a:r>
              <a:rPr lang="en-IN" b="0" i="0" dirty="0" err="1">
                <a:solidFill>
                  <a:srgbClr val="040404"/>
                </a:solidFill>
                <a:effectLst/>
                <a:latin typeface="IBM Plex Sans" panose="020B0503050203000203" pitchFamily="34" charset="0"/>
              </a:rPr>
              <a:t>analyzing</a:t>
            </a:r>
            <a:r>
              <a:rPr lang="en-IN" b="0" i="0" dirty="0">
                <a:solidFill>
                  <a:srgbClr val="040404"/>
                </a:solidFill>
                <a:effectLst/>
                <a:latin typeface="IBM Plex Sans" panose="020B0503050203000203" pitchFamily="34" charset="0"/>
              </a:rPr>
              <a:t> bottlenecks, and generating reports or alerts.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Consider distributed or parallel computing techniques for handling large-scale traffic data and simulations.</a:t>
            </a:r>
          </a:p>
          <a:p>
            <a:pPr algn="l"/>
            <a:r>
              <a:rPr lang="en-IN" b="1" i="0" dirty="0">
                <a:solidFill>
                  <a:srgbClr val="040404"/>
                </a:solidFill>
                <a:effectLst/>
                <a:latin typeface="IBM Plex Sans" panose="020B0503050203000203" pitchFamily="34" charset="0"/>
              </a:rPr>
              <a:t>Real-world application:</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Traffic management authorities:</a:t>
            </a:r>
            <a:r>
              <a:rPr lang="en-IN" b="0" i="0" dirty="0">
                <a:solidFill>
                  <a:srgbClr val="040404"/>
                </a:solidFill>
                <a:effectLst/>
                <a:latin typeface="IBM Plex Sans" panose="020B0503050203000203" pitchFamily="34" charset="0"/>
              </a:rPr>
              <a:t> They can use this tool to efficiently manage traffic congestion, monitor road conditions, and optimize traffic flow</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Navigation systems</a:t>
            </a:r>
            <a:r>
              <a:rPr lang="en-IN" b="0" i="0" dirty="0">
                <a:solidFill>
                  <a:srgbClr val="040404"/>
                </a:solidFill>
                <a:effectLst/>
                <a:latin typeface="IBM Plex Sans" panose="020B0503050203000203" pitchFamily="34" charset="0"/>
              </a:rPr>
              <a:t>: They can integrate with such tools for real-time traffic  analysis and help drivers make better road decisions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Emergency service providers</a:t>
            </a:r>
            <a:r>
              <a:rPr lang="en-IN" b="0" i="0" dirty="0">
                <a:solidFill>
                  <a:srgbClr val="040404"/>
                </a:solidFill>
                <a:effectLst/>
                <a:latin typeface="IBM Plex Sans" panose="020B0503050203000203" pitchFamily="34" charset="0"/>
              </a:rPr>
              <a:t>: These people can use such tools to find the quickest route during emergencies</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Urban planning bodies</a:t>
            </a:r>
            <a:r>
              <a:rPr lang="en-IN" b="0" i="0" dirty="0">
                <a:solidFill>
                  <a:srgbClr val="040404"/>
                </a:solidFill>
                <a:effectLst/>
                <a:latin typeface="IBM Plex Sans" panose="020B0503050203000203" pitchFamily="34" charset="0"/>
              </a:rPr>
              <a:t>: They use such tools to </a:t>
            </a:r>
            <a:r>
              <a:rPr lang="en-IN" b="0" i="0" dirty="0" err="1">
                <a:solidFill>
                  <a:srgbClr val="040404"/>
                </a:solidFill>
                <a:effectLst/>
                <a:latin typeface="IBM Plex Sans" panose="020B0503050203000203" pitchFamily="34" charset="0"/>
              </a:rPr>
              <a:t>analyze</a:t>
            </a:r>
            <a:r>
              <a:rPr lang="en-IN" b="0" i="0" dirty="0">
                <a:solidFill>
                  <a:srgbClr val="040404"/>
                </a:solidFill>
                <a:effectLst/>
                <a:latin typeface="IBM Plex Sans" panose="020B0503050203000203" pitchFamily="34" charset="0"/>
              </a:rPr>
              <a:t> the traffic pattern of an area to make decisions about its infrastructure development or improving traffic networks </a:t>
            </a:r>
          </a:p>
          <a:p>
            <a:endParaRPr lang="en-US" dirty="0"/>
          </a:p>
        </p:txBody>
      </p:sp>
    </p:spTree>
    <p:extLst>
      <p:ext uri="{BB962C8B-B14F-4D97-AF65-F5344CB8AC3E}">
        <p14:creationId xmlns:p14="http://schemas.microsoft.com/office/powerpoint/2010/main" val="302122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247D8-46FD-8500-31C7-3562E2D0D5AE}"/>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14. Email Spam Filter</a:t>
            </a:r>
            <a:endParaRPr lang="en-US" dirty="0"/>
          </a:p>
        </p:txBody>
      </p:sp>
      <p:sp>
        <p:nvSpPr>
          <p:cNvPr id="3" name="Content Placeholder 2">
            <a:extLst>
              <a:ext uri="{FF2B5EF4-FFF2-40B4-BE49-F238E27FC236}">
                <a16:creationId xmlns:a16="http://schemas.microsoft.com/office/drawing/2014/main" id="{9A2E32A4-8BE5-EB2B-6013-1A22C0F42112}"/>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a:t>
            </a:r>
            <a:r>
              <a:rPr lang="en-IN" b="0" i="0" dirty="0">
                <a:solidFill>
                  <a:srgbClr val="040404"/>
                </a:solidFill>
                <a:effectLst/>
                <a:latin typeface="IBM Plex Sans" panose="020B0503050203000203" pitchFamily="34" charset="0"/>
              </a:rPr>
              <a:t>: Hard</a:t>
            </a:r>
          </a:p>
          <a:p>
            <a:pPr algn="l"/>
            <a:r>
              <a:rPr lang="en-IN" b="0" i="0" dirty="0">
                <a:solidFill>
                  <a:srgbClr val="040404"/>
                </a:solidFill>
                <a:effectLst/>
                <a:latin typeface="IBM Plex Sans" panose="020B0503050203000203" pitchFamily="34" charset="0"/>
              </a:rPr>
              <a:t>The email spam filter project will train students to build a program that filters incoming emails as spam or non-spam based on specific criteria and patterns. Bloom filters can be used for this purpose. </a:t>
            </a:r>
          </a:p>
          <a:p>
            <a:pPr algn="l"/>
            <a:r>
              <a:rPr lang="en-IN" b="0" i="0" dirty="0">
                <a:solidFill>
                  <a:srgbClr val="040404"/>
                </a:solidFill>
                <a:effectLst/>
                <a:latin typeface="IBM Plex Sans" panose="020B0503050203000203" pitchFamily="34" charset="0"/>
              </a:rPr>
              <a:t>First, you need to gather data from email addresses or domains associated with spam emails. Then, initialize your bloom filter with an appropriate size and number of hash functions and the known spam email patterns. Each of these patterns will be hashed by selected hash functions, and the corresponding bits in the filter will be set to 1. When a new email arrives, the address is hashed, and the filter determines whether its corresponding bits are set to 1. If all of them are set to 1, the email is considered spam.</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Data processing and </a:t>
            </a:r>
            <a:r>
              <a:rPr lang="en-IN" b="0" i="0" dirty="0" err="1">
                <a:solidFill>
                  <a:srgbClr val="040404"/>
                </a:solidFill>
                <a:effectLst/>
                <a:latin typeface="IBM Plex Sans" panose="020B0503050203000203" pitchFamily="34" charset="0"/>
              </a:rPr>
              <a:t>analyzing</a:t>
            </a:r>
            <a:r>
              <a:rPr lang="en-IN" b="0" i="0" dirty="0">
                <a:solidFill>
                  <a:srgbClr val="040404"/>
                </a:solidFill>
                <a:effectLst/>
                <a:latin typeface="IBM Plex Sans" panose="020B0503050203000203" pitchFamily="34" charset="0"/>
              </a:rPr>
              <a:t> techniques, including tokenization, stemming, and feature extraction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Understanding of statistical methods like Naive Bayes or decision trees for classification of data</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Using hash tables to store and retrieve data and their corresponding bits </a:t>
            </a:r>
          </a:p>
          <a:p>
            <a:pPr algn="l"/>
            <a:r>
              <a:rPr lang="en-IN" b="1" i="0" dirty="0">
                <a:solidFill>
                  <a:srgbClr val="040404"/>
                </a:solidFill>
                <a:effectLst/>
                <a:latin typeface="IBM Plex Sans" panose="020B0503050203000203" pitchFamily="34" charset="0"/>
              </a:rPr>
              <a:t>What it takes to execute this project</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data structure like a hash table or </a:t>
            </a:r>
            <a:r>
              <a:rPr lang="en-IN" b="0" i="0" dirty="0" err="1">
                <a:solidFill>
                  <a:srgbClr val="040404"/>
                </a:solidFill>
                <a:effectLst/>
                <a:latin typeface="IBM Plex Sans" panose="020B0503050203000203" pitchFamily="34" charset="0"/>
              </a:rPr>
              <a:t>trie</a:t>
            </a:r>
            <a:r>
              <a:rPr lang="en-IN" b="0" i="0" dirty="0">
                <a:solidFill>
                  <a:srgbClr val="040404"/>
                </a:solidFill>
                <a:effectLst/>
                <a:latin typeface="IBM Plex Sans" panose="020B0503050203000203" pitchFamily="34" charset="0"/>
              </a:rPr>
              <a:t> to store and index spam words or patterns.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text preprocessing techniques like tokenization, stemming, and stop word removal.</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machine learning algorithms like Naive Bayes, Support Vector Machines, or Decision Trees for spam classification.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feature extraction and selection algorithms to identify relevant email attributes for classification.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data structures like sets or bloom filters for efficient spam word lookup and matching.</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large email datasets using techniques like reservoir sampling or online learning algorithms.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configuring spam filtering rules, whitelists/blacklists, and displaying classification results.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Integrate with email clients or servers for real-time spam filtering and email processing.</a:t>
            </a:r>
          </a:p>
          <a:p>
            <a:pPr algn="l"/>
            <a:r>
              <a:rPr lang="en-IN" b="1" i="0" dirty="0">
                <a:solidFill>
                  <a:srgbClr val="040404"/>
                </a:solidFill>
                <a:effectLst/>
                <a:latin typeface="IBM Plex Sans" panose="020B0503050203000203" pitchFamily="34" charset="0"/>
              </a:rPr>
              <a:t>Real-world application:</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Personal and business use</a:t>
            </a:r>
            <a:r>
              <a:rPr lang="en-IN" b="0" i="0" dirty="0">
                <a:solidFill>
                  <a:srgbClr val="040404"/>
                </a:solidFill>
                <a:effectLst/>
                <a:latin typeface="IBM Plex Sans" panose="020B0503050203000203" pitchFamily="34" charset="0"/>
              </a:rPr>
              <a:t>: You can use this system to filter out spam emails and protect all your accounts from phishing activities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Email service providers</a:t>
            </a:r>
            <a:r>
              <a:rPr lang="en-IN" b="0" i="0" dirty="0">
                <a:solidFill>
                  <a:srgbClr val="040404"/>
                </a:solidFill>
                <a:effectLst/>
                <a:latin typeface="IBM Plex Sans" panose="020B0503050203000203" pitchFamily="34" charset="0"/>
              </a:rPr>
              <a:t>: They can integrate such systems to improve their spam detection services and enhance user experience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Social media forums</a:t>
            </a:r>
            <a:r>
              <a:rPr lang="en-IN" b="0" i="0" dirty="0">
                <a:solidFill>
                  <a:srgbClr val="040404"/>
                </a:solidFill>
                <a:effectLst/>
                <a:latin typeface="IBM Plex Sans" panose="020B0503050203000203" pitchFamily="34" charset="0"/>
              </a:rPr>
              <a:t>: These sites can integrate similar systems to filter spammers’ emails </a:t>
            </a:r>
          </a:p>
          <a:p>
            <a:endParaRPr lang="en-US" dirty="0"/>
          </a:p>
        </p:txBody>
      </p:sp>
    </p:spTree>
    <p:extLst>
      <p:ext uri="{BB962C8B-B14F-4D97-AF65-F5344CB8AC3E}">
        <p14:creationId xmlns:p14="http://schemas.microsoft.com/office/powerpoint/2010/main" val="951842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6739-7039-CC1B-6048-19CEE9B7E104}"/>
              </a:ext>
            </a:extLst>
          </p:cNvPr>
          <p:cNvSpPr>
            <a:spLocks noGrp="1"/>
          </p:cNvSpPr>
          <p:nvPr>
            <p:ph type="title"/>
          </p:nvPr>
        </p:nvSpPr>
        <p:spPr/>
        <p:txBody>
          <a:bodyPr/>
          <a:lstStyle/>
          <a:p>
            <a:r>
              <a:rPr lang="en-IN" b="1" i="0" dirty="0">
                <a:solidFill>
                  <a:srgbClr val="040404"/>
                </a:solidFill>
                <a:effectLst/>
                <a:latin typeface="IBM Plex Sans" panose="020B0503050203000203" pitchFamily="34" charset="0"/>
              </a:rPr>
              <a:t>15. </a:t>
            </a:r>
            <a:r>
              <a:rPr lang="en-IN" b="1" i="0">
                <a:solidFill>
                  <a:srgbClr val="040404"/>
                </a:solidFill>
                <a:effectLst/>
                <a:latin typeface="IBM Plex Sans" panose="020B0503050203000203" pitchFamily="34" charset="0"/>
              </a:rPr>
              <a:t>Building a Web Crawler </a:t>
            </a:r>
            <a:endParaRPr lang="en-US"/>
          </a:p>
        </p:txBody>
      </p:sp>
      <p:sp>
        <p:nvSpPr>
          <p:cNvPr id="3" name="Content Placeholder 2">
            <a:extLst>
              <a:ext uri="{FF2B5EF4-FFF2-40B4-BE49-F238E27FC236}">
                <a16:creationId xmlns:a16="http://schemas.microsoft.com/office/drawing/2014/main" id="{44DFBCA5-EA04-F290-55C5-788708256363}"/>
              </a:ext>
            </a:extLst>
          </p:cNvPr>
          <p:cNvSpPr>
            <a:spLocks noGrp="1"/>
          </p:cNvSpPr>
          <p:nvPr>
            <p:ph idx="1"/>
          </p:nvPr>
        </p:nvSpPr>
        <p:spPr/>
        <p:txBody>
          <a:bodyPr>
            <a:normAutofit fontScale="25000" lnSpcReduction="20000"/>
          </a:bodyPr>
          <a:lstStyle/>
          <a:p>
            <a:pPr algn="l"/>
            <a:r>
              <a:rPr lang="en-IN" b="1" i="0" dirty="0">
                <a:solidFill>
                  <a:srgbClr val="040404"/>
                </a:solidFill>
                <a:effectLst/>
                <a:latin typeface="IBM Plex Sans" panose="020B0503050203000203" pitchFamily="34" charset="0"/>
              </a:rPr>
              <a:t>Difficulty level: </a:t>
            </a:r>
            <a:r>
              <a:rPr lang="en-IN" b="0" i="0" dirty="0">
                <a:solidFill>
                  <a:srgbClr val="040404"/>
                </a:solidFill>
                <a:effectLst/>
                <a:latin typeface="IBM Plex Sans" panose="020B0503050203000203" pitchFamily="34" charset="0"/>
              </a:rPr>
              <a:t>Hard</a:t>
            </a:r>
          </a:p>
          <a:p>
            <a:pPr algn="l"/>
            <a:r>
              <a:rPr lang="en-IN" b="0" i="0" dirty="0">
                <a:solidFill>
                  <a:srgbClr val="040404"/>
                </a:solidFill>
                <a:effectLst/>
                <a:latin typeface="IBM Plex Sans" panose="020B0503050203000203" pitchFamily="34" charset="0"/>
              </a:rPr>
              <a:t>This project will develop a program that can automatically traverse and collect data from websites by following hyperlinks and downloading web pages. You start from a given URL (or set of URLs), retrieve the web page content, extract and follow the links on that page, and repeat the process recursively to crawl through an entire website or a specified domain.</a:t>
            </a:r>
          </a:p>
          <a:p>
            <a:pPr algn="l"/>
            <a:r>
              <a:rPr lang="en-IN" b="1" i="0" dirty="0">
                <a:solidFill>
                  <a:srgbClr val="040404"/>
                </a:solidFill>
                <a:effectLst/>
                <a:latin typeface="IBM Plex Sans" panose="020B0503050203000203" pitchFamily="34" charset="0"/>
              </a:rPr>
              <a:t>Learning outcomes</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Knowledge of various data structures and algorithms related to web scraping, graph traversal, and URL handling.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Learn data structures like queues, sets, or graphs for storing and managing URLs and web page data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Gain experience in implementing graph traversal algorithms like breadth-first search (BFS) or depth-first search (DFS) for crawling websites. </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Develop skills in handling network requests, parsing HTML/XML data, and dealing with web-related challenges like broken links, </a:t>
            </a:r>
            <a:r>
              <a:rPr lang="en-IN" b="0" i="0" dirty="0" err="1">
                <a:solidFill>
                  <a:srgbClr val="040404"/>
                </a:solidFill>
                <a:effectLst/>
                <a:latin typeface="IBM Plex Sans" panose="020B0503050203000203" pitchFamily="34" charset="0"/>
              </a:rPr>
              <a:t>robots.txt</a:t>
            </a:r>
            <a:r>
              <a:rPr lang="en-IN" b="0" i="0" dirty="0">
                <a:solidFill>
                  <a:srgbClr val="040404"/>
                </a:solidFill>
                <a:effectLst/>
                <a:latin typeface="IBM Plex Sans" panose="020B0503050203000203" pitchFamily="34" charset="0"/>
              </a:rPr>
              <a:t> files, and rate-limiting</a:t>
            </a:r>
          </a:p>
          <a:p>
            <a:pPr algn="l"/>
            <a:r>
              <a:rPr lang="en-IN" b="1" i="0" dirty="0">
                <a:solidFill>
                  <a:srgbClr val="040404"/>
                </a:solidFill>
                <a:effectLst/>
                <a:latin typeface="IBM Plex Sans" panose="020B0503050203000203" pitchFamily="34" charset="0"/>
              </a:rPr>
              <a:t>What it takes to execute this project</a:t>
            </a:r>
            <a:r>
              <a:rPr lang="en-IN" b="0" i="0" dirty="0">
                <a:solidFill>
                  <a:srgbClr val="040404"/>
                </a:solidFill>
                <a:effectLst/>
                <a:latin typeface="IBM Plex Sans" panose="020B0503050203000203" pitchFamily="34" charset="0"/>
              </a:rPr>
              <a:t>:</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a queue or priority queue data structure to store URLs to be crawled.</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web page fetching and parsing algorithms using techniques like HTML parsing or regular expressions.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Utilize graph data structures like adjacency lists or matrices to represent website links and structure.</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graph traversal algorithms like breadth-first search (BFS) or depth-first search (DFS) for crawling and link extraction.</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Use sets or bloom filters to avoid revisiting already crawled pages.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Implement URL normalization, deduplication, and link extraction algorithms.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Handle multi-threading or distributed crawling for improved performance and scalability.</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Provide a user interface for configuring crawl settings, scheduling, and monitoring progress.</a:t>
            </a:r>
          </a:p>
          <a:p>
            <a:pPr algn="l" fontAlgn="base">
              <a:buFont typeface="Arial" panose="020B0604020202020204" pitchFamily="34" charset="0"/>
              <a:buChar char="•"/>
            </a:pPr>
            <a:r>
              <a:rPr lang="en-IN" b="0" i="0" dirty="0">
                <a:solidFill>
                  <a:srgbClr val="040404"/>
                </a:solidFill>
                <a:effectLst/>
                <a:latin typeface="IBM Plex Sans" panose="020B0503050203000203" pitchFamily="34" charset="0"/>
              </a:rPr>
              <a:t>Integrate with databases or search engines to store and index crawled data.</a:t>
            </a:r>
          </a:p>
          <a:p>
            <a:pPr algn="l"/>
            <a:r>
              <a:rPr lang="en-IN" b="1" i="0" dirty="0">
                <a:solidFill>
                  <a:srgbClr val="040404"/>
                </a:solidFill>
                <a:effectLst/>
                <a:latin typeface="IBM Plex Sans" panose="020B0503050203000203" pitchFamily="34" charset="0"/>
              </a:rPr>
              <a:t>Real-world application:</a:t>
            </a:r>
            <a:endParaRPr lang="en-IN" b="0" i="0" dirty="0">
              <a:solidFill>
                <a:srgbClr val="040404"/>
              </a:solidFill>
              <a:effectLst/>
              <a:latin typeface="IBM Plex Sans" panose="020B0503050203000203" pitchFamily="34" charset="0"/>
            </a:endParaRP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Search engines</a:t>
            </a:r>
            <a:r>
              <a:rPr lang="en-IN" b="0" i="0" dirty="0">
                <a:solidFill>
                  <a:srgbClr val="040404"/>
                </a:solidFill>
                <a:effectLst/>
                <a:latin typeface="IBM Plex Sans" panose="020B0503050203000203" pitchFamily="34" charset="0"/>
              </a:rPr>
              <a:t>: Different search engines like Google and Bing can use it for web page indexing and web content discovery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Research purposes</a:t>
            </a:r>
            <a:r>
              <a:rPr lang="en-IN" b="0" i="0" dirty="0">
                <a:solidFill>
                  <a:srgbClr val="040404"/>
                </a:solidFill>
                <a:effectLst/>
                <a:latin typeface="IBM Plex Sans" panose="020B0503050203000203" pitchFamily="34" charset="0"/>
              </a:rPr>
              <a:t>: Researchers can use it to find relevant papers and web content for their research work </a:t>
            </a:r>
          </a:p>
          <a:p>
            <a:pPr algn="l" fontAlgn="base">
              <a:buFont typeface="Arial" panose="020B0604020202020204" pitchFamily="34" charset="0"/>
              <a:buChar char="•"/>
            </a:pPr>
            <a:r>
              <a:rPr lang="en-IN" b="1" i="0" dirty="0">
                <a:solidFill>
                  <a:srgbClr val="040404"/>
                </a:solidFill>
                <a:effectLst/>
                <a:latin typeface="IBM Plex Sans" panose="020B0503050203000203" pitchFamily="34" charset="0"/>
              </a:rPr>
              <a:t>SEO analysis</a:t>
            </a:r>
            <a:r>
              <a:rPr lang="en-IN" b="0" i="0" dirty="0">
                <a:solidFill>
                  <a:srgbClr val="040404"/>
                </a:solidFill>
                <a:effectLst/>
                <a:latin typeface="IBM Plex Sans" panose="020B0503050203000203" pitchFamily="34" charset="0"/>
              </a:rPr>
              <a:t>: It can be used by SEO experts to </a:t>
            </a:r>
            <a:r>
              <a:rPr lang="en-IN" b="0" i="0" dirty="0" err="1">
                <a:solidFill>
                  <a:srgbClr val="040404"/>
                </a:solidFill>
                <a:effectLst/>
                <a:latin typeface="IBM Plex Sans" panose="020B0503050203000203" pitchFamily="34" charset="0"/>
              </a:rPr>
              <a:t>analyze</a:t>
            </a:r>
            <a:r>
              <a:rPr lang="en-IN" b="0" i="0" dirty="0">
                <a:solidFill>
                  <a:srgbClr val="040404"/>
                </a:solidFill>
                <a:effectLst/>
                <a:latin typeface="IBM Plex Sans" panose="020B0503050203000203" pitchFamily="34" charset="0"/>
              </a:rPr>
              <a:t> web structure and content for search engine optimization purposes</a:t>
            </a:r>
          </a:p>
          <a:p>
            <a:endParaRPr lang="en-US" dirty="0"/>
          </a:p>
        </p:txBody>
      </p:sp>
    </p:spTree>
    <p:extLst>
      <p:ext uri="{BB962C8B-B14F-4D97-AF65-F5344CB8AC3E}">
        <p14:creationId xmlns:p14="http://schemas.microsoft.com/office/powerpoint/2010/main" val="1951566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2341</TotalTime>
  <Words>6494</Words>
  <Application>Microsoft Macintosh PowerPoint</Application>
  <PresentationFormat>Widescreen</PresentationFormat>
  <Paragraphs>392</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IBM Plex Sans</vt:lpstr>
      <vt:lpstr>source-serif-pro</vt:lpstr>
      <vt:lpstr>ui-sans-serif</vt:lpstr>
      <vt:lpstr>Office Theme</vt:lpstr>
      <vt:lpstr>Hands on Application: Data Structure</vt:lpstr>
      <vt:lpstr>1. Design and develop an API that utilizes a bloom filter to determine the availability of usernames for a social media-type service</vt:lpstr>
      <vt:lpstr>2. Building a spell checker or auto complete feature using a Trie data structure</vt:lpstr>
      <vt:lpstr>3. Implementing a search algorithm (such as binary search) and sorting algorithm (like merge sort) for a large data set</vt:lpstr>
      <vt:lpstr>4. Building a graph traversal algorithm (such as BFS or DFS) for a network or social media application to determine degree of connection between users for millions of users</vt:lpstr>
      <vt:lpstr>5. Design and develop a compression algorithm, such as Huffman coding, for a file or data transfer application</vt:lpstr>
      <vt:lpstr>6. Developing a knapsack problem algorithm for inventory management</vt:lpstr>
      <vt:lpstr>7. Building a B-tree or B+ tree data structure for efficient storage and retrieval of large amounts of data on disk</vt:lpstr>
      <vt:lpstr>8. Building a minimum spanning tree algorithm (such as Kruskal or Prim's) to solve network optimization problems</vt:lpstr>
      <vt:lpstr>9. Implementing a LRU (Least Recently Used) Cache using a doubly linked list and a hash table</vt:lpstr>
      <vt:lpstr>10. Creating an algorithm for A* search for pathfinding in a graph or grid-based environment</vt:lpstr>
      <vt:lpstr>1. Creating a To-do list </vt:lpstr>
      <vt:lpstr>2. Building a Phonebook</vt:lpstr>
      <vt:lpstr>3. Build a simple calculator </vt:lpstr>
      <vt:lpstr>4. Students grade checker </vt:lpstr>
      <vt:lpstr>5. Plagiarism detection system </vt:lpstr>
      <vt:lpstr>6. Banking management system </vt:lpstr>
      <vt:lpstr>7. Travel planner using Graph</vt:lpstr>
      <vt:lpstr>8. Cash flow minimizer </vt:lpstr>
      <vt:lpstr>9. Building a crossword puzzle game </vt:lpstr>
      <vt:lpstr>10. Library management system </vt:lpstr>
      <vt:lpstr>11. Building a File Zipper </vt:lpstr>
      <vt:lpstr>12. Real estate property search</vt:lpstr>
      <vt:lpstr>13.  Real-time traffic analysis </vt:lpstr>
      <vt:lpstr>14. Email Spam Filter</vt:lpstr>
      <vt:lpstr>15. Building a Web Crawler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111</cp:revision>
  <dcterms:created xsi:type="dcterms:W3CDTF">2026-01-15T04:12:31Z</dcterms:created>
  <dcterms:modified xsi:type="dcterms:W3CDTF">2026-01-21T07:49:28Z</dcterms:modified>
</cp:coreProperties>
</file>