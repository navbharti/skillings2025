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76"/>
  </p:normalViewPr>
  <p:slideViewPr>
    <p:cSldViewPr snapToGrid="0">
      <p:cViewPr varScale="1">
        <p:scale>
          <a:sx n="84" d="100"/>
          <a:sy n="84" d="100"/>
        </p:scale>
        <p:origin x="11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PythonDS-16 Exception Handling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4D877-B856-EBA7-1108-48ECC270A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Understanding Exceptions and Syntax Errors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DA5EF-F50B-6E4C-A9D6-DA7D9FADB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&gt;&gt;&gt; print(0 / 0))</a:t>
            </a:r>
          </a:p>
          <a:p>
            <a:r>
              <a:rPr lang="en-US" dirty="0"/>
              <a:t>  File "&lt;stdin&gt;", line 1</a:t>
            </a:r>
          </a:p>
          <a:p>
            <a:r>
              <a:rPr lang="en-US" dirty="0"/>
              <a:t>    print(0 / 0))</a:t>
            </a:r>
          </a:p>
          <a:p>
            <a:r>
              <a:rPr lang="en-US" dirty="0"/>
              <a:t>                ^</a:t>
            </a:r>
          </a:p>
          <a:p>
            <a:r>
              <a:rPr lang="en-US" dirty="0" err="1"/>
              <a:t>SyntaxError</a:t>
            </a:r>
            <a:r>
              <a:rPr lang="en-US" dirty="0"/>
              <a:t>: unmatched ')'</a:t>
            </a:r>
          </a:p>
        </p:txBody>
      </p:sp>
    </p:spTree>
    <p:extLst>
      <p:ext uri="{BB962C8B-B14F-4D97-AF65-F5344CB8AC3E}">
        <p14:creationId xmlns:p14="http://schemas.microsoft.com/office/powerpoint/2010/main" val="1049103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49909-41F4-AD52-D834-39703A210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E29E8-9907-E416-614F-ED1A0435D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&gt;&gt;&gt; print(0 / 0)</a:t>
            </a:r>
          </a:p>
          <a:p>
            <a:r>
              <a:rPr lang="en-US" dirty="0"/>
              <a:t>Traceback (most recent call last):</a:t>
            </a:r>
          </a:p>
          <a:p>
            <a:r>
              <a:rPr lang="en-US" dirty="0"/>
              <a:t>  File "&lt;stdin&gt;", line 1, in &lt;module&gt;</a:t>
            </a:r>
          </a:p>
          <a:p>
            <a:r>
              <a:rPr lang="en-US" dirty="0" err="1"/>
              <a:t>ZeroDivisionError</a:t>
            </a:r>
            <a:r>
              <a:rPr lang="en-US" dirty="0"/>
              <a:t>: division by zero</a:t>
            </a:r>
          </a:p>
        </p:txBody>
      </p:sp>
    </p:spTree>
    <p:extLst>
      <p:ext uri="{BB962C8B-B14F-4D97-AF65-F5344CB8AC3E}">
        <p14:creationId xmlns:p14="http://schemas.microsoft.com/office/powerpoint/2010/main" val="3013809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321DD-6E71-10E3-0954-0FBD60866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Raising an Exception in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447E2-C676-CB82-3B77-0994DAB03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number = 10</a:t>
            </a:r>
          </a:p>
          <a:p>
            <a:r>
              <a:rPr lang="en-US" dirty="0"/>
              <a:t>if number &gt; 5:</a:t>
            </a:r>
          </a:p>
          <a:p>
            <a:r>
              <a:rPr lang="en-US" dirty="0">
                <a:solidFill>
                  <a:srgbClr val="00B050"/>
                </a:solidFill>
              </a:rPr>
              <a:t>    raise Exception(</a:t>
            </a:r>
            <a:r>
              <a:rPr lang="en-US" dirty="0" err="1">
                <a:solidFill>
                  <a:srgbClr val="00B050"/>
                </a:solidFill>
              </a:rPr>
              <a:t>f"The</a:t>
            </a:r>
            <a:r>
              <a:rPr lang="en-US" dirty="0">
                <a:solidFill>
                  <a:srgbClr val="00B050"/>
                </a:solidFill>
              </a:rPr>
              <a:t> number should not exceed 5. ({number=})")</a:t>
            </a:r>
          </a:p>
          <a:p>
            <a:r>
              <a:rPr lang="en-US" dirty="0"/>
              <a:t>print(number)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Traceback (most recent call last):</a:t>
            </a:r>
          </a:p>
          <a:p>
            <a:r>
              <a:rPr lang="en-US" dirty="0"/>
              <a:t>  File "./</a:t>
            </a:r>
            <a:r>
              <a:rPr lang="en-US" dirty="0" err="1"/>
              <a:t>low.py</a:t>
            </a:r>
            <a:r>
              <a:rPr lang="en-US" dirty="0"/>
              <a:t>", line 3, in &lt;module&gt;</a:t>
            </a:r>
          </a:p>
          <a:p>
            <a:r>
              <a:rPr lang="en-US" dirty="0"/>
              <a:t>    raise Exception(</a:t>
            </a:r>
            <a:r>
              <a:rPr lang="en-US" dirty="0" err="1"/>
              <a:t>f"The</a:t>
            </a:r>
            <a:r>
              <a:rPr lang="en-US" dirty="0"/>
              <a:t> number should not exceed 5. ({number=})")</a:t>
            </a:r>
          </a:p>
          <a:p>
            <a:r>
              <a:rPr lang="en-US" dirty="0"/>
              <a:t>Exception: The number should not exceed 5. (number=10)</a:t>
            </a:r>
          </a:p>
        </p:txBody>
      </p:sp>
    </p:spTree>
    <p:extLst>
      <p:ext uri="{BB962C8B-B14F-4D97-AF65-F5344CB8AC3E}">
        <p14:creationId xmlns:p14="http://schemas.microsoft.com/office/powerpoint/2010/main" val="2462188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871B9-145A-0719-E5C6-E8C7EB400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Debugging During Development With assert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C661E-CFBD-0ED0-7078-704FE41D0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number = 1</a:t>
            </a:r>
          </a:p>
          <a:p>
            <a:r>
              <a:rPr lang="en-US" dirty="0"/>
              <a:t>assert (number &lt; 5), </a:t>
            </a:r>
            <a:r>
              <a:rPr lang="en-US" dirty="0" err="1"/>
              <a:t>f"The</a:t>
            </a:r>
            <a:r>
              <a:rPr lang="en-US" dirty="0"/>
              <a:t> number should not exceed 5. ({number=})"</a:t>
            </a:r>
          </a:p>
          <a:p>
            <a:r>
              <a:rPr lang="en-US" dirty="0"/>
              <a:t>print(number)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$ python </a:t>
            </a:r>
            <a:r>
              <a:rPr lang="en-US" dirty="0" err="1"/>
              <a:t>low.py</a:t>
            </a:r>
            <a:endParaRPr lang="en-US" dirty="0"/>
          </a:p>
          <a:p>
            <a:r>
              <a:rPr lang="en-US" dirty="0"/>
              <a:t>Traceback (most recent call last):</a:t>
            </a:r>
          </a:p>
          <a:p>
            <a:r>
              <a:rPr lang="en-US" dirty="0"/>
              <a:t>  File "./</a:t>
            </a:r>
            <a:r>
              <a:rPr lang="en-US" dirty="0" err="1"/>
              <a:t>low.py</a:t>
            </a:r>
            <a:r>
              <a:rPr lang="en-US" dirty="0"/>
              <a:t>", line 2, in &lt;module&gt;</a:t>
            </a:r>
          </a:p>
          <a:p>
            <a:r>
              <a:rPr lang="en-US" dirty="0"/>
              <a:t>    assert (number &lt; 5), </a:t>
            </a:r>
            <a:r>
              <a:rPr lang="en-US" dirty="0" err="1"/>
              <a:t>f"The</a:t>
            </a:r>
            <a:r>
              <a:rPr lang="en-US" dirty="0"/>
              <a:t> number should not exceed 5. ({number=})"</a:t>
            </a:r>
          </a:p>
          <a:p>
            <a:r>
              <a:rPr lang="en-US" dirty="0"/>
              <a:t>            ^^^^^^^^^^</a:t>
            </a:r>
          </a:p>
          <a:p>
            <a:r>
              <a:rPr lang="en-US" dirty="0" err="1"/>
              <a:t>AssertionError</a:t>
            </a:r>
            <a:r>
              <a:rPr lang="en-US" dirty="0"/>
              <a:t>: The number should not exceed 5. (number=10)</a:t>
            </a:r>
          </a:p>
        </p:txBody>
      </p:sp>
    </p:spTree>
    <p:extLst>
      <p:ext uri="{BB962C8B-B14F-4D97-AF65-F5344CB8AC3E}">
        <p14:creationId xmlns:p14="http://schemas.microsoft.com/office/powerpoint/2010/main" val="1066230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0732C-FD34-ED89-9573-8AC614C1F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Handling Exceptions With the try and except Block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6BDBB-F851-94CD-3909-C435AFF33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Diagram showing try and except statements">
            <a:extLst>
              <a:ext uri="{FF2B5EF4-FFF2-40B4-BE49-F238E27FC236}">
                <a16:creationId xmlns:a16="http://schemas.microsoft.com/office/drawing/2014/main" id="{04D210F3-3AB0-1EBB-5C93-1DD3611AB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95487"/>
            <a:ext cx="12192000" cy="486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5275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822A4-6FBD-1B11-9523-C215BD5E0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A0597-2A88-9819-CBDD-E37F3B829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def </a:t>
            </a:r>
            <a:r>
              <a:rPr lang="en-US" dirty="0" err="1"/>
              <a:t>linux_interaction</a:t>
            </a:r>
            <a:r>
              <a:rPr lang="en-US" dirty="0"/>
              <a:t>():</a:t>
            </a:r>
          </a:p>
          <a:p>
            <a:r>
              <a:rPr lang="en-US" dirty="0"/>
              <a:t>    import sys</a:t>
            </a:r>
          </a:p>
          <a:p>
            <a:r>
              <a:rPr lang="en-US" dirty="0"/>
              <a:t>    if "</a:t>
            </a:r>
            <a:r>
              <a:rPr lang="en-US" dirty="0" err="1"/>
              <a:t>linux</a:t>
            </a:r>
            <a:r>
              <a:rPr lang="en-US" dirty="0"/>
              <a:t>" not in </a:t>
            </a:r>
            <a:r>
              <a:rPr lang="en-US" dirty="0" err="1"/>
              <a:t>sys.platform</a:t>
            </a:r>
            <a:r>
              <a:rPr lang="en-US" dirty="0"/>
              <a:t>:</a:t>
            </a:r>
          </a:p>
          <a:p>
            <a:r>
              <a:rPr lang="en-US" dirty="0"/>
              <a:t>        raise </a:t>
            </a:r>
            <a:r>
              <a:rPr lang="en-US" dirty="0" err="1"/>
              <a:t>RuntimeError</a:t>
            </a:r>
            <a:r>
              <a:rPr lang="en-US" dirty="0"/>
              <a:t>("Function can only run on Linux systems.")</a:t>
            </a:r>
          </a:p>
          <a:p>
            <a:r>
              <a:rPr lang="en-US" dirty="0"/>
              <a:t>    print("Doing Linux things.")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try:</a:t>
            </a:r>
          </a:p>
          <a:p>
            <a:r>
              <a:rPr lang="en-US" dirty="0">
                <a:solidFill>
                  <a:srgbClr val="00B050"/>
                </a:solidFill>
              </a:rPr>
              <a:t>    </a:t>
            </a:r>
            <a:r>
              <a:rPr lang="en-US" dirty="0" err="1">
                <a:solidFill>
                  <a:srgbClr val="00B050"/>
                </a:solidFill>
              </a:rPr>
              <a:t>linux_interaction</a:t>
            </a:r>
            <a:r>
              <a:rPr lang="en-US" dirty="0">
                <a:solidFill>
                  <a:srgbClr val="00B050"/>
                </a:solidFill>
              </a:rPr>
              <a:t>()</a:t>
            </a:r>
          </a:p>
          <a:p>
            <a:r>
              <a:rPr lang="en-US" dirty="0">
                <a:solidFill>
                  <a:srgbClr val="00B050"/>
                </a:solidFill>
              </a:rPr>
              <a:t>except:</a:t>
            </a:r>
          </a:p>
          <a:p>
            <a:r>
              <a:rPr lang="en-US" dirty="0">
                <a:solidFill>
                  <a:srgbClr val="00B050"/>
                </a:solidFill>
              </a:rPr>
              <a:t>    pass</a:t>
            </a:r>
          </a:p>
        </p:txBody>
      </p:sp>
    </p:spTree>
    <p:extLst>
      <p:ext uri="{BB962C8B-B14F-4D97-AF65-F5344CB8AC3E}">
        <p14:creationId xmlns:p14="http://schemas.microsoft.com/office/powerpoint/2010/main" val="3097717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7D329-D9F0-2BEC-652C-3F28E06C7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97A2B-D4A0-3B20-726D-10D1D3E9D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try:</a:t>
            </a:r>
          </a:p>
          <a:p>
            <a:r>
              <a:rPr lang="en-US" dirty="0"/>
              <a:t>    </a:t>
            </a:r>
            <a:r>
              <a:rPr lang="en-US" dirty="0" err="1"/>
              <a:t>linux_interaction</a:t>
            </a:r>
            <a:r>
              <a:rPr lang="en-US" dirty="0"/>
              <a:t>()</a:t>
            </a:r>
          </a:p>
          <a:p>
            <a:r>
              <a:rPr lang="en-US" dirty="0"/>
              <a:t>except:</a:t>
            </a:r>
          </a:p>
          <a:p>
            <a:r>
              <a:rPr lang="en-US" dirty="0">
                <a:solidFill>
                  <a:srgbClr val="00B050"/>
                </a:solidFill>
              </a:rPr>
              <a:t>    print("Linux function wasn't executed.")</a:t>
            </a:r>
          </a:p>
        </p:txBody>
      </p:sp>
    </p:spTree>
    <p:extLst>
      <p:ext uri="{BB962C8B-B14F-4D97-AF65-F5344CB8AC3E}">
        <p14:creationId xmlns:p14="http://schemas.microsoft.com/office/powerpoint/2010/main" val="1735034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4F190-A01F-CBFE-D796-8695B4746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5412F-D8CE-1371-58E1-3E2FE8AD4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try:</a:t>
            </a:r>
          </a:p>
          <a:p>
            <a:r>
              <a:rPr lang="en-US" dirty="0"/>
              <a:t>    </a:t>
            </a:r>
            <a:r>
              <a:rPr lang="en-US" dirty="0" err="1"/>
              <a:t>linux_interaction</a:t>
            </a:r>
            <a:r>
              <a:rPr lang="en-US" dirty="0"/>
              <a:t>()</a:t>
            </a:r>
          </a:p>
          <a:p>
            <a:r>
              <a:rPr lang="en-US" dirty="0"/>
              <a:t>except </a:t>
            </a:r>
            <a:r>
              <a:rPr lang="en-US" dirty="0" err="1">
                <a:solidFill>
                  <a:srgbClr val="00B050"/>
                </a:solidFill>
              </a:rPr>
              <a:t>RuntimeError</a:t>
            </a:r>
            <a:r>
              <a:rPr lang="en-US" dirty="0"/>
              <a:t> as error:</a:t>
            </a:r>
          </a:p>
          <a:p>
            <a:r>
              <a:rPr lang="en-US" dirty="0"/>
              <a:t>    print(error)</a:t>
            </a:r>
          </a:p>
          <a:p>
            <a:r>
              <a:rPr lang="en-US" dirty="0"/>
              <a:t>    print("The </a:t>
            </a:r>
            <a:r>
              <a:rPr lang="en-US" dirty="0" err="1"/>
              <a:t>linux_interaction</a:t>
            </a:r>
            <a:r>
              <a:rPr lang="en-US" dirty="0"/>
              <a:t>() function wasn't executed.")</a:t>
            </a:r>
          </a:p>
        </p:txBody>
      </p:sp>
    </p:spTree>
    <p:extLst>
      <p:ext uri="{BB962C8B-B14F-4D97-AF65-F5344CB8AC3E}">
        <p14:creationId xmlns:p14="http://schemas.microsoft.com/office/powerpoint/2010/main" val="2081936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770CA-4791-6639-5A1B-0873170AC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ED8D8-94AA-2ECD-3A83-CE2EF157A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try:</a:t>
            </a:r>
          </a:p>
          <a:p>
            <a:r>
              <a:rPr lang="en-US" dirty="0"/>
              <a:t>    with open("</a:t>
            </a:r>
            <a:r>
              <a:rPr lang="en-US" dirty="0" err="1"/>
              <a:t>file.log</a:t>
            </a:r>
            <a:r>
              <a:rPr lang="en-US" dirty="0"/>
              <a:t>") as file:</a:t>
            </a:r>
          </a:p>
          <a:p>
            <a:r>
              <a:rPr lang="en-US" dirty="0"/>
              <a:t>        </a:t>
            </a:r>
            <a:r>
              <a:rPr lang="en-US" dirty="0" err="1"/>
              <a:t>read_data</a:t>
            </a:r>
            <a:r>
              <a:rPr lang="en-US" dirty="0"/>
              <a:t> = </a:t>
            </a:r>
            <a:r>
              <a:rPr lang="en-US" dirty="0" err="1"/>
              <a:t>file.read</a:t>
            </a:r>
            <a:r>
              <a:rPr lang="en-US" dirty="0"/>
              <a:t>()</a:t>
            </a:r>
          </a:p>
          <a:p>
            <a:r>
              <a:rPr lang="en-US" dirty="0"/>
              <a:t>except:</a:t>
            </a:r>
          </a:p>
          <a:p>
            <a:r>
              <a:rPr lang="en-US" dirty="0"/>
              <a:t>    print("Couldn't open </a:t>
            </a:r>
            <a:r>
              <a:rPr lang="en-US" dirty="0" err="1"/>
              <a:t>file.log</a:t>
            </a:r>
            <a:r>
              <a:rPr lang="en-US" dirty="0"/>
              <a:t>")</a:t>
            </a:r>
          </a:p>
          <a:p>
            <a:endParaRPr lang="en-US" dirty="0"/>
          </a:p>
          <a:p>
            <a:pPr algn="l"/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If 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file.log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doesn’t exist, then this block of code will output the following:</a:t>
            </a:r>
          </a:p>
          <a:p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286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B503-40AE-13F4-1974-CD1070CC0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F009B-8A96-FACD-DBDE-630E0B3FC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try:</a:t>
            </a:r>
          </a:p>
          <a:p>
            <a:r>
              <a:rPr lang="en-US" dirty="0"/>
              <a:t>    with open("</a:t>
            </a:r>
            <a:r>
              <a:rPr lang="en-US" dirty="0" err="1"/>
              <a:t>file.log</a:t>
            </a:r>
            <a:r>
              <a:rPr lang="en-US" dirty="0"/>
              <a:t>") as file:</a:t>
            </a:r>
          </a:p>
          <a:p>
            <a:r>
              <a:rPr lang="en-US" dirty="0"/>
              <a:t>        </a:t>
            </a:r>
            <a:r>
              <a:rPr lang="en-US" dirty="0" err="1"/>
              <a:t>read_data</a:t>
            </a:r>
            <a:r>
              <a:rPr lang="en-US" dirty="0"/>
              <a:t> = </a:t>
            </a:r>
            <a:r>
              <a:rPr lang="en-US" dirty="0" err="1"/>
              <a:t>file.read</a:t>
            </a:r>
            <a:r>
              <a:rPr lang="en-US" dirty="0"/>
              <a:t>()</a:t>
            </a:r>
          </a:p>
          <a:p>
            <a:r>
              <a:rPr lang="en-US" dirty="0"/>
              <a:t>except </a:t>
            </a:r>
            <a:r>
              <a:rPr lang="en-US" dirty="0" err="1">
                <a:solidFill>
                  <a:srgbClr val="00B050"/>
                </a:solidFill>
              </a:rPr>
              <a:t>FileNotFoundError</a:t>
            </a:r>
            <a:r>
              <a:rPr lang="en-US" dirty="0"/>
              <a:t> as </a:t>
            </a:r>
            <a:r>
              <a:rPr lang="en-US" dirty="0" err="1"/>
              <a:t>fnf_error</a:t>
            </a:r>
            <a:r>
              <a:rPr lang="en-US" dirty="0"/>
              <a:t>:</a:t>
            </a:r>
          </a:p>
          <a:p>
            <a:r>
              <a:rPr lang="en-US" dirty="0"/>
              <a:t>    print(</a:t>
            </a:r>
            <a:r>
              <a:rPr lang="en-US" dirty="0" err="1"/>
              <a:t>fnf_error</a:t>
            </a:r>
            <a:r>
              <a:rPr lang="en-US" dirty="0"/>
              <a:t>)</a:t>
            </a:r>
          </a:p>
          <a:p>
            <a:endParaRPr lang="en-US" dirty="0"/>
          </a:p>
          <a:p>
            <a:pPr algn="l"/>
            <a:r>
              <a:rPr lang="en-IN" b="0" i="0" dirty="0">
                <a:solidFill>
                  <a:srgbClr val="00B050"/>
                </a:solidFill>
                <a:effectLst/>
                <a:latin typeface="Source Sans Pro" panose="020B0503030403020204" pitchFamily="34" charset="0"/>
              </a:rPr>
              <a:t>In this case, if </a:t>
            </a:r>
            <a:r>
              <a:rPr lang="en-IN" b="0" i="0" dirty="0" err="1">
                <a:solidFill>
                  <a:srgbClr val="00B050"/>
                </a:solidFill>
                <a:effectLst/>
                <a:latin typeface="Source Sans Pro" panose="020B0503030403020204" pitchFamily="34" charset="0"/>
              </a:rPr>
              <a:t>file.log</a:t>
            </a:r>
            <a:r>
              <a:rPr lang="en-IN" b="0" i="0" dirty="0">
                <a:solidFill>
                  <a:srgbClr val="00B050"/>
                </a:solidFill>
                <a:effectLst/>
                <a:latin typeface="Source Sans Pro" panose="020B0503030403020204" pitchFamily="34" charset="0"/>
              </a:rPr>
              <a:t> doesn’t exist, then the output will be the following:</a:t>
            </a:r>
          </a:p>
          <a:p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753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210CE-D5F6-168C-BB2C-116B99BE0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54133-57CA-1E51-9AD0-6F1B9A868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dirty="0"/>
              <a:t>try:</a:t>
            </a:r>
          </a:p>
          <a:p>
            <a:r>
              <a:rPr lang="en-US" dirty="0"/>
              <a:t>    </a:t>
            </a:r>
            <a:r>
              <a:rPr lang="en-US" dirty="0" err="1"/>
              <a:t>linux_interaction</a:t>
            </a:r>
            <a:r>
              <a:rPr lang="en-US" dirty="0"/>
              <a:t>()</a:t>
            </a:r>
          </a:p>
          <a:p>
            <a:r>
              <a:rPr lang="en-US" dirty="0"/>
              <a:t>    with open("</a:t>
            </a:r>
            <a:r>
              <a:rPr lang="en-US" dirty="0" err="1"/>
              <a:t>file.log</a:t>
            </a:r>
            <a:r>
              <a:rPr lang="en-US" dirty="0"/>
              <a:t>") as file:</a:t>
            </a:r>
          </a:p>
          <a:p>
            <a:r>
              <a:rPr lang="en-US" dirty="0"/>
              <a:t>        </a:t>
            </a:r>
            <a:r>
              <a:rPr lang="en-US" dirty="0" err="1"/>
              <a:t>read_data</a:t>
            </a:r>
            <a:r>
              <a:rPr lang="en-US" dirty="0"/>
              <a:t> = </a:t>
            </a:r>
            <a:r>
              <a:rPr lang="en-US" dirty="0" err="1"/>
              <a:t>file.read</a:t>
            </a:r>
            <a:r>
              <a:rPr lang="en-US" dirty="0"/>
              <a:t>()</a:t>
            </a:r>
          </a:p>
          <a:p>
            <a:r>
              <a:rPr lang="en-US" dirty="0"/>
              <a:t>except </a:t>
            </a:r>
            <a:r>
              <a:rPr lang="en-US" dirty="0" err="1">
                <a:solidFill>
                  <a:srgbClr val="00B050"/>
                </a:solidFill>
              </a:rPr>
              <a:t>FileNotFoundError</a:t>
            </a:r>
            <a:r>
              <a:rPr lang="en-US" dirty="0"/>
              <a:t> as </a:t>
            </a:r>
            <a:r>
              <a:rPr lang="en-US" dirty="0" err="1"/>
              <a:t>fnf_error</a:t>
            </a:r>
            <a:r>
              <a:rPr lang="en-US" dirty="0"/>
              <a:t>:</a:t>
            </a:r>
          </a:p>
          <a:p>
            <a:r>
              <a:rPr lang="en-US" dirty="0"/>
              <a:t>    print(</a:t>
            </a:r>
            <a:r>
              <a:rPr lang="en-US" dirty="0" err="1"/>
              <a:t>fnf_error</a:t>
            </a:r>
            <a:r>
              <a:rPr lang="en-US" dirty="0"/>
              <a:t>)</a:t>
            </a:r>
          </a:p>
          <a:p>
            <a:r>
              <a:rPr lang="en-US" dirty="0"/>
              <a:t>except </a:t>
            </a:r>
            <a:r>
              <a:rPr lang="en-US" dirty="0" err="1">
                <a:solidFill>
                  <a:srgbClr val="00B050"/>
                </a:solidFill>
              </a:rPr>
              <a:t>RuntimeError</a:t>
            </a:r>
            <a:r>
              <a:rPr lang="en-US" dirty="0"/>
              <a:t> as error:</a:t>
            </a:r>
          </a:p>
          <a:p>
            <a:r>
              <a:rPr lang="en-US" dirty="0"/>
              <a:t>    print(error)</a:t>
            </a:r>
          </a:p>
          <a:p>
            <a:r>
              <a:rPr lang="en-US" dirty="0"/>
              <a:t>    print("Linux </a:t>
            </a:r>
            <a:r>
              <a:rPr lang="en-US" dirty="0" err="1"/>
              <a:t>linux_interaction</a:t>
            </a:r>
            <a:r>
              <a:rPr lang="en-US" dirty="0"/>
              <a:t>() function wasn't executed.")</a:t>
            </a:r>
          </a:p>
        </p:txBody>
      </p:sp>
    </p:spTree>
    <p:extLst>
      <p:ext uri="{BB962C8B-B14F-4D97-AF65-F5344CB8AC3E}">
        <p14:creationId xmlns:p14="http://schemas.microsoft.com/office/powerpoint/2010/main" val="282123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2F6E7-7698-3A8A-AF59-47E8E973D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Proceeding After a Successful Try With else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005EE-FF73-92E6-45D4-48DA31A47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Diagram of try, except, and else statements in Python">
            <a:extLst>
              <a:ext uri="{FF2B5EF4-FFF2-40B4-BE49-F238E27FC236}">
                <a16:creationId xmlns:a16="http://schemas.microsoft.com/office/drawing/2014/main" id="{7C80C7AB-7FFA-894E-C51C-3D3296964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69456"/>
            <a:ext cx="9414933" cy="5288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9941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C606D-5BFB-BC3D-58FF-B68736CF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76AB3-8833-E138-8D2E-FB69CB637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try:</a:t>
            </a:r>
          </a:p>
          <a:p>
            <a:r>
              <a:rPr lang="en-US" dirty="0"/>
              <a:t>    </a:t>
            </a:r>
            <a:r>
              <a:rPr lang="en-US" dirty="0" err="1"/>
              <a:t>linux_interaction</a:t>
            </a:r>
            <a:r>
              <a:rPr lang="en-US" dirty="0"/>
              <a:t>()</a:t>
            </a:r>
          </a:p>
          <a:p>
            <a:r>
              <a:rPr lang="en-US" dirty="0"/>
              <a:t>except </a:t>
            </a:r>
            <a:r>
              <a:rPr lang="en-US" dirty="0" err="1"/>
              <a:t>RuntimeError</a:t>
            </a:r>
            <a:r>
              <a:rPr lang="en-US" dirty="0"/>
              <a:t> as error:</a:t>
            </a:r>
          </a:p>
          <a:p>
            <a:r>
              <a:rPr lang="en-US" dirty="0"/>
              <a:t>    print(error)</a:t>
            </a:r>
          </a:p>
          <a:p>
            <a:r>
              <a:rPr lang="en-US" dirty="0">
                <a:solidFill>
                  <a:srgbClr val="00B050"/>
                </a:solidFill>
              </a:rPr>
              <a:t>else:</a:t>
            </a:r>
          </a:p>
          <a:p>
            <a:r>
              <a:rPr lang="en-US" dirty="0"/>
              <a:t>    print("Doing even more Linux things.")</a:t>
            </a:r>
          </a:p>
        </p:txBody>
      </p:sp>
    </p:spTree>
    <p:extLst>
      <p:ext uri="{BB962C8B-B14F-4D97-AF65-F5344CB8AC3E}">
        <p14:creationId xmlns:p14="http://schemas.microsoft.com/office/powerpoint/2010/main" val="2137927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A8E7B-535F-7229-CE53-A74778BD4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6EF6D-64B3-ABAC-0BE2-F39F041E9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try:</a:t>
            </a:r>
          </a:p>
          <a:p>
            <a:r>
              <a:rPr lang="en-US" dirty="0"/>
              <a:t>    </a:t>
            </a:r>
            <a:r>
              <a:rPr lang="en-US" dirty="0" err="1"/>
              <a:t>linux_interaction</a:t>
            </a:r>
            <a:r>
              <a:rPr lang="en-US" dirty="0"/>
              <a:t>()</a:t>
            </a:r>
          </a:p>
          <a:p>
            <a:r>
              <a:rPr lang="en-US" dirty="0"/>
              <a:t>except </a:t>
            </a:r>
            <a:r>
              <a:rPr lang="en-US" dirty="0" err="1"/>
              <a:t>RuntimeError</a:t>
            </a:r>
            <a:r>
              <a:rPr lang="en-US" dirty="0"/>
              <a:t> as error:</a:t>
            </a:r>
          </a:p>
          <a:p>
            <a:r>
              <a:rPr lang="en-US" dirty="0"/>
              <a:t>    print(error)</a:t>
            </a:r>
          </a:p>
          <a:p>
            <a:r>
              <a:rPr lang="en-US" dirty="0">
                <a:solidFill>
                  <a:srgbClr val="00B050"/>
                </a:solidFill>
              </a:rPr>
              <a:t>print("Doing even more Linux things.")</a:t>
            </a:r>
          </a:p>
        </p:txBody>
      </p:sp>
    </p:spTree>
    <p:extLst>
      <p:ext uri="{BB962C8B-B14F-4D97-AF65-F5344CB8AC3E}">
        <p14:creationId xmlns:p14="http://schemas.microsoft.com/office/powerpoint/2010/main" val="3052597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8A073-1E64-5EDD-A6BF-CDF378447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DAF8D-7730-59D0-1D2D-6A355A24F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  <a:p>
            <a:r>
              <a:rPr lang="en-US" dirty="0"/>
              <a:t>try:</a:t>
            </a:r>
          </a:p>
          <a:p>
            <a:r>
              <a:rPr lang="en-US" dirty="0"/>
              <a:t>    </a:t>
            </a:r>
            <a:r>
              <a:rPr lang="en-US" dirty="0" err="1"/>
              <a:t>linux_interaction</a:t>
            </a:r>
            <a:r>
              <a:rPr lang="en-US" dirty="0"/>
              <a:t>()</a:t>
            </a:r>
          </a:p>
          <a:p>
            <a:r>
              <a:rPr lang="en-US" dirty="0"/>
              <a:t>except </a:t>
            </a:r>
            <a:r>
              <a:rPr lang="en-US" dirty="0" err="1"/>
              <a:t>RuntimeError</a:t>
            </a:r>
            <a:r>
              <a:rPr lang="en-US" dirty="0"/>
              <a:t> as error:</a:t>
            </a:r>
          </a:p>
          <a:p>
            <a:r>
              <a:rPr lang="en-US" dirty="0"/>
              <a:t>    print(error)</a:t>
            </a:r>
          </a:p>
          <a:p>
            <a:r>
              <a:rPr lang="en-US" dirty="0"/>
              <a:t>else:</a:t>
            </a:r>
          </a:p>
          <a:p>
            <a:r>
              <a:rPr lang="en-US" dirty="0">
                <a:solidFill>
                  <a:srgbClr val="00B050"/>
                </a:solidFill>
              </a:rPr>
              <a:t>    try:</a:t>
            </a:r>
          </a:p>
          <a:p>
            <a:r>
              <a:rPr lang="en-US" dirty="0">
                <a:solidFill>
                  <a:srgbClr val="00B050"/>
                </a:solidFill>
              </a:rPr>
              <a:t>        with open("</a:t>
            </a:r>
            <a:r>
              <a:rPr lang="en-US" dirty="0" err="1">
                <a:solidFill>
                  <a:srgbClr val="00B050"/>
                </a:solidFill>
              </a:rPr>
              <a:t>file.log</a:t>
            </a:r>
            <a:r>
              <a:rPr lang="en-US" dirty="0">
                <a:solidFill>
                  <a:srgbClr val="00B050"/>
                </a:solidFill>
              </a:rPr>
              <a:t>") as file:</a:t>
            </a:r>
          </a:p>
          <a:p>
            <a:r>
              <a:rPr lang="en-US" dirty="0">
                <a:solidFill>
                  <a:srgbClr val="00B050"/>
                </a:solidFill>
              </a:rPr>
              <a:t>            </a:t>
            </a:r>
            <a:r>
              <a:rPr lang="en-US" dirty="0" err="1">
                <a:solidFill>
                  <a:srgbClr val="00B050"/>
                </a:solidFill>
              </a:rPr>
              <a:t>read_data</a:t>
            </a:r>
            <a:r>
              <a:rPr lang="en-US" dirty="0">
                <a:solidFill>
                  <a:srgbClr val="00B050"/>
                </a:solidFill>
              </a:rPr>
              <a:t> = </a:t>
            </a:r>
            <a:r>
              <a:rPr lang="en-US" dirty="0" err="1">
                <a:solidFill>
                  <a:srgbClr val="00B050"/>
                </a:solidFill>
              </a:rPr>
              <a:t>file.read</a:t>
            </a:r>
            <a:r>
              <a:rPr lang="en-US" dirty="0">
                <a:solidFill>
                  <a:srgbClr val="00B050"/>
                </a:solidFill>
              </a:rPr>
              <a:t>()</a:t>
            </a:r>
          </a:p>
          <a:p>
            <a:r>
              <a:rPr lang="en-US" dirty="0">
                <a:solidFill>
                  <a:srgbClr val="00B050"/>
                </a:solidFill>
              </a:rPr>
              <a:t>    except </a:t>
            </a:r>
            <a:r>
              <a:rPr lang="en-US" dirty="0" err="1">
                <a:solidFill>
                  <a:srgbClr val="00B050"/>
                </a:solidFill>
              </a:rPr>
              <a:t>FileNotFoundError</a:t>
            </a:r>
            <a:r>
              <a:rPr lang="en-US" dirty="0">
                <a:solidFill>
                  <a:srgbClr val="00B050"/>
                </a:solidFill>
              </a:rPr>
              <a:t> as </a:t>
            </a:r>
            <a:r>
              <a:rPr lang="en-US" dirty="0" err="1">
                <a:solidFill>
                  <a:srgbClr val="00B050"/>
                </a:solidFill>
              </a:rPr>
              <a:t>fnf_error</a:t>
            </a:r>
            <a:r>
              <a:rPr lang="en-US" dirty="0">
                <a:solidFill>
                  <a:srgbClr val="00B050"/>
                </a:solidFill>
              </a:rPr>
              <a:t>:</a:t>
            </a:r>
          </a:p>
          <a:p>
            <a:r>
              <a:rPr lang="en-US" dirty="0">
                <a:solidFill>
                  <a:srgbClr val="00B050"/>
                </a:solidFill>
              </a:rPr>
              <a:t>        print(</a:t>
            </a:r>
            <a:r>
              <a:rPr lang="en-US" dirty="0" err="1">
                <a:solidFill>
                  <a:srgbClr val="00B050"/>
                </a:solidFill>
              </a:rPr>
              <a:t>fnf_error</a:t>
            </a:r>
            <a:r>
              <a:rPr lang="en-US" dirty="0">
                <a:solidFill>
                  <a:srgbClr val="00B05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57353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1120F-7C54-9794-509E-1A4786957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Cleaning Up After Execution With finally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02A97-1DF1-CB19-C0D3-E8EC00ACD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Diagram explaining try except else finally statements">
            <a:extLst>
              <a:ext uri="{FF2B5EF4-FFF2-40B4-BE49-F238E27FC236}">
                <a16:creationId xmlns:a16="http://schemas.microsoft.com/office/drawing/2014/main" id="{73ABD25A-30DC-72C6-3E7A-993CFA8CF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40" y="1690688"/>
            <a:ext cx="7294564" cy="5232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8982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B32CD-32F3-CC09-DC57-97275453B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8EE48-A695-6B6F-2251-0ED5541FD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/>
          </a:p>
          <a:p>
            <a:r>
              <a:rPr lang="en-US" dirty="0"/>
              <a:t>try:</a:t>
            </a:r>
          </a:p>
          <a:p>
            <a:r>
              <a:rPr lang="en-US" dirty="0"/>
              <a:t>    </a:t>
            </a:r>
            <a:r>
              <a:rPr lang="en-US" dirty="0" err="1"/>
              <a:t>linux_interaction</a:t>
            </a:r>
            <a:r>
              <a:rPr lang="en-US" dirty="0"/>
              <a:t>()</a:t>
            </a:r>
          </a:p>
          <a:p>
            <a:r>
              <a:rPr lang="en-US" dirty="0"/>
              <a:t>except </a:t>
            </a:r>
            <a:r>
              <a:rPr lang="en-US" dirty="0" err="1"/>
              <a:t>RuntimeError</a:t>
            </a:r>
            <a:r>
              <a:rPr lang="en-US" dirty="0"/>
              <a:t> as error:</a:t>
            </a:r>
          </a:p>
          <a:p>
            <a:r>
              <a:rPr lang="en-US" dirty="0"/>
              <a:t>    print(error)</a:t>
            </a:r>
          </a:p>
          <a:p>
            <a:r>
              <a:rPr lang="en-US" dirty="0"/>
              <a:t>else:</a:t>
            </a:r>
          </a:p>
          <a:p>
            <a:r>
              <a:rPr lang="en-US" dirty="0"/>
              <a:t>    try:</a:t>
            </a:r>
          </a:p>
          <a:p>
            <a:r>
              <a:rPr lang="en-US" dirty="0"/>
              <a:t>        with open("</a:t>
            </a:r>
            <a:r>
              <a:rPr lang="en-US" dirty="0" err="1"/>
              <a:t>file.log</a:t>
            </a:r>
            <a:r>
              <a:rPr lang="en-US" dirty="0"/>
              <a:t>") as file:</a:t>
            </a:r>
          </a:p>
          <a:p>
            <a:r>
              <a:rPr lang="en-US" dirty="0"/>
              <a:t>            </a:t>
            </a:r>
            <a:r>
              <a:rPr lang="en-US" dirty="0" err="1"/>
              <a:t>read_data</a:t>
            </a:r>
            <a:r>
              <a:rPr lang="en-US" dirty="0"/>
              <a:t> = </a:t>
            </a:r>
            <a:r>
              <a:rPr lang="en-US" dirty="0" err="1"/>
              <a:t>file.read</a:t>
            </a:r>
            <a:r>
              <a:rPr lang="en-US" dirty="0"/>
              <a:t>()</a:t>
            </a:r>
          </a:p>
          <a:p>
            <a:r>
              <a:rPr lang="en-US" dirty="0"/>
              <a:t>    except </a:t>
            </a:r>
            <a:r>
              <a:rPr lang="en-US" dirty="0" err="1"/>
              <a:t>FileNotFoundError</a:t>
            </a:r>
            <a:r>
              <a:rPr lang="en-US" dirty="0"/>
              <a:t> as </a:t>
            </a:r>
            <a:r>
              <a:rPr lang="en-US" dirty="0" err="1"/>
              <a:t>fnf_error</a:t>
            </a:r>
            <a:r>
              <a:rPr lang="en-US" dirty="0"/>
              <a:t>:</a:t>
            </a:r>
          </a:p>
          <a:p>
            <a:r>
              <a:rPr lang="en-US" dirty="0"/>
              <a:t>        print(</a:t>
            </a:r>
            <a:r>
              <a:rPr lang="en-US" dirty="0" err="1"/>
              <a:t>fnf_error</a:t>
            </a:r>
            <a:r>
              <a:rPr lang="en-US" dirty="0"/>
              <a:t>)</a:t>
            </a:r>
          </a:p>
          <a:p>
            <a:r>
              <a:rPr lang="en-US" dirty="0">
                <a:solidFill>
                  <a:srgbClr val="00B050"/>
                </a:solidFill>
              </a:rPr>
              <a:t>finally:</a:t>
            </a:r>
          </a:p>
          <a:p>
            <a:r>
              <a:rPr lang="en-US" dirty="0">
                <a:solidFill>
                  <a:srgbClr val="00B050"/>
                </a:solidFill>
              </a:rPr>
              <a:t>    print("Cleaning up, irrespective of any exceptions.")</a:t>
            </a:r>
          </a:p>
        </p:txBody>
      </p:sp>
    </p:spTree>
    <p:extLst>
      <p:ext uri="{BB962C8B-B14F-4D97-AF65-F5344CB8AC3E}">
        <p14:creationId xmlns:p14="http://schemas.microsoft.com/office/powerpoint/2010/main" val="1033923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DAF50-D952-CE7A-5275-D26280BFE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68B43-ED6B-9CD6-27AA-625D7A7E7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try:</a:t>
            </a:r>
          </a:p>
          <a:p>
            <a:r>
              <a:rPr lang="en-US" dirty="0"/>
              <a:t>    </a:t>
            </a:r>
            <a:r>
              <a:rPr lang="en-US" dirty="0" err="1"/>
              <a:t>linux_interaction</a:t>
            </a:r>
            <a:r>
              <a:rPr lang="en-US" dirty="0"/>
              <a:t>()</a:t>
            </a:r>
          </a:p>
          <a:p>
            <a:r>
              <a:rPr lang="en-US" dirty="0">
                <a:solidFill>
                  <a:srgbClr val="00B050"/>
                </a:solidFill>
              </a:rPr>
              <a:t>finally:</a:t>
            </a:r>
          </a:p>
          <a:p>
            <a:r>
              <a:rPr lang="en-US" dirty="0">
                <a:solidFill>
                  <a:srgbClr val="00B050"/>
                </a:solidFill>
              </a:rPr>
              <a:t>    print("Cleaning up, irrespective of any exceptions.")</a:t>
            </a:r>
          </a:p>
        </p:txBody>
      </p:sp>
    </p:spTree>
    <p:extLst>
      <p:ext uri="{BB962C8B-B14F-4D97-AF65-F5344CB8AC3E}">
        <p14:creationId xmlns:p14="http://schemas.microsoft.com/office/powerpoint/2010/main" val="1692771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8C743-F669-1A02-C137-5CE56E178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Creating Custom Exceptions in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D1041-05A5-116D-C9FF-EEF6EC9E7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def </a:t>
            </a:r>
            <a:r>
              <a:rPr lang="en-US" dirty="0" err="1"/>
              <a:t>linux_interaction</a:t>
            </a:r>
            <a:r>
              <a:rPr lang="en-US" dirty="0"/>
              <a:t>():</a:t>
            </a:r>
          </a:p>
          <a:p>
            <a:r>
              <a:rPr lang="en-US" dirty="0"/>
              <a:t>    import sys</a:t>
            </a:r>
          </a:p>
          <a:p>
            <a:r>
              <a:rPr lang="en-US" dirty="0"/>
              <a:t>    if "</a:t>
            </a:r>
            <a:r>
              <a:rPr lang="en-US" dirty="0" err="1"/>
              <a:t>linux</a:t>
            </a:r>
            <a:r>
              <a:rPr lang="en-US" dirty="0"/>
              <a:t>" not in </a:t>
            </a:r>
            <a:r>
              <a:rPr lang="en-US" dirty="0" err="1"/>
              <a:t>sys.platform</a:t>
            </a:r>
            <a:r>
              <a:rPr lang="en-US" dirty="0"/>
              <a:t>:</a:t>
            </a:r>
          </a:p>
          <a:p>
            <a:r>
              <a:rPr lang="en-US" dirty="0"/>
              <a:t>        raise </a:t>
            </a:r>
            <a:r>
              <a:rPr lang="en-US" dirty="0" err="1"/>
              <a:t>RuntimeError</a:t>
            </a:r>
            <a:r>
              <a:rPr lang="en-US" dirty="0"/>
              <a:t>("Function can only run on Linux systems.")</a:t>
            </a:r>
          </a:p>
          <a:p>
            <a:r>
              <a:rPr lang="en-US" dirty="0"/>
              <a:t>    print("Doing Linux things.")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class </a:t>
            </a:r>
            <a:r>
              <a:rPr lang="en-US" dirty="0" err="1">
                <a:solidFill>
                  <a:srgbClr val="00B050"/>
                </a:solidFill>
              </a:rPr>
              <a:t>PlatformException</a:t>
            </a:r>
            <a:r>
              <a:rPr lang="en-US" dirty="0">
                <a:solidFill>
                  <a:srgbClr val="00B050"/>
                </a:solidFill>
              </a:rPr>
              <a:t>(Exception):</a:t>
            </a:r>
          </a:p>
          <a:p>
            <a:r>
              <a:rPr lang="en-US" dirty="0">
                <a:solidFill>
                  <a:srgbClr val="00B050"/>
                </a:solidFill>
              </a:rPr>
              <a:t>    """Incompatible platform."""</a:t>
            </a:r>
          </a:p>
          <a:p>
            <a:endParaRPr lang="en-US" dirty="0">
              <a:solidFill>
                <a:srgbClr val="00B050"/>
              </a:solidFill>
            </a:endParaRPr>
          </a:p>
          <a:p>
            <a:r>
              <a:rPr lang="en-US" dirty="0"/>
              <a:t># ...</a:t>
            </a:r>
          </a:p>
        </p:txBody>
      </p:sp>
    </p:spTree>
    <p:extLst>
      <p:ext uri="{BB962C8B-B14F-4D97-AF65-F5344CB8AC3E}">
        <p14:creationId xmlns:p14="http://schemas.microsoft.com/office/powerpoint/2010/main" val="4124899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05226-C1A8-F055-5FC8-7FC01CCCB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58DB1-3F5F-FB9D-9CEC-AB7A0034B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class </a:t>
            </a:r>
            <a:r>
              <a:rPr lang="en-US" dirty="0" err="1">
                <a:solidFill>
                  <a:srgbClr val="00B050"/>
                </a:solidFill>
              </a:rPr>
              <a:t>PlatformException</a:t>
            </a:r>
            <a:r>
              <a:rPr lang="en-US" dirty="0">
                <a:solidFill>
                  <a:srgbClr val="00B050"/>
                </a:solidFill>
              </a:rPr>
              <a:t>(Exception):</a:t>
            </a:r>
          </a:p>
          <a:p>
            <a:r>
              <a:rPr lang="en-US" dirty="0">
                <a:solidFill>
                  <a:srgbClr val="00B050"/>
                </a:solidFill>
              </a:rPr>
              <a:t>    """Incompatible platform."""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linux_interaction</a:t>
            </a:r>
            <a:r>
              <a:rPr lang="en-US" dirty="0"/>
              <a:t>():</a:t>
            </a:r>
          </a:p>
          <a:p>
            <a:r>
              <a:rPr lang="en-US" dirty="0"/>
              <a:t>    import sys</a:t>
            </a:r>
          </a:p>
          <a:p>
            <a:r>
              <a:rPr lang="en-US" dirty="0"/>
              <a:t>    if "</a:t>
            </a:r>
            <a:r>
              <a:rPr lang="en-US" dirty="0" err="1"/>
              <a:t>linux</a:t>
            </a:r>
            <a:r>
              <a:rPr lang="en-US" dirty="0"/>
              <a:t>" not in </a:t>
            </a:r>
            <a:r>
              <a:rPr lang="en-US" dirty="0" err="1"/>
              <a:t>sys.platform</a:t>
            </a:r>
            <a:r>
              <a:rPr lang="en-US" dirty="0"/>
              <a:t>:</a:t>
            </a:r>
          </a:p>
          <a:p>
            <a:r>
              <a:rPr lang="en-US" dirty="0"/>
              <a:t>        raise </a:t>
            </a:r>
            <a:r>
              <a:rPr lang="en-US" dirty="0" err="1">
                <a:solidFill>
                  <a:srgbClr val="00B050"/>
                </a:solidFill>
              </a:rPr>
              <a:t>PlatformException</a:t>
            </a:r>
            <a:r>
              <a:rPr lang="en-US" dirty="0">
                <a:solidFill>
                  <a:srgbClr val="00B050"/>
                </a:solidFill>
              </a:rPr>
              <a:t>("Function can only run on Linux systems.")</a:t>
            </a:r>
          </a:p>
          <a:p>
            <a:r>
              <a:rPr lang="en-US" dirty="0"/>
              <a:t>    print("Doing Linux things.")</a:t>
            </a:r>
          </a:p>
          <a:p>
            <a:endParaRPr lang="en-US" dirty="0"/>
          </a:p>
          <a:p>
            <a:r>
              <a:rPr lang="en-US" dirty="0"/>
              <a:t># ...</a:t>
            </a:r>
          </a:p>
        </p:txBody>
      </p:sp>
    </p:spTree>
    <p:extLst>
      <p:ext uri="{BB962C8B-B14F-4D97-AF65-F5344CB8AC3E}">
        <p14:creationId xmlns:p14="http://schemas.microsoft.com/office/powerpoint/2010/main" val="3877080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12C2F-A016-0351-43CF-69526EAD6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96A1C-DE01-B285-A3ED-A99B24D09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 Syntax Errors:</a:t>
            </a:r>
          </a:p>
          <a:p>
            <a:r>
              <a:rPr lang="en-US" dirty="0"/>
              <a:t>  The errors which occur because of invalid syntax are called syntax errors.</a:t>
            </a:r>
          </a:p>
          <a:p>
            <a:endParaRPr lang="en-US" dirty="0"/>
          </a:p>
          <a:p>
            <a:r>
              <a:rPr lang="en-US" b="1" dirty="0"/>
              <a:t>   Runtime Errors:</a:t>
            </a:r>
          </a:p>
          <a:p>
            <a:r>
              <a:rPr lang="en-US" dirty="0"/>
              <a:t>  Also known as exceptions.</a:t>
            </a:r>
          </a:p>
          <a:p>
            <a:r>
              <a:rPr lang="en-US" dirty="0"/>
              <a:t> While executing the program if something goes wrong because of end user input or</a:t>
            </a:r>
          </a:p>
          <a:p>
            <a:r>
              <a:rPr lang="en-US" dirty="0"/>
              <a:t> programming logic or memory problems </a:t>
            </a:r>
            <a:r>
              <a:rPr lang="en-US" dirty="0" err="1"/>
              <a:t>etc</a:t>
            </a:r>
            <a:r>
              <a:rPr lang="en-US" dirty="0"/>
              <a:t> then we will get Runtime Errors.</a:t>
            </a:r>
          </a:p>
        </p:txBody>
      </p:sp>
    </p:spTree>
    <p:extLst>
      <p:ext uri="{BB962C8B-B14F-4D97-AF65-F5344CB8AC3E}">
        <p14:creationId xmlns:p14="http://schemas.microsoft.com/office/powerpoint/2010/main" val="23004744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30E3E-2613-147E-51B7-D39889ED3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1B4CD-AD54-165A-0F40-E4BAF49A6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Exception Handling concept applicable for Runtime Errors but not for syntax errors</a:t>
            </a:r>
          </a:p>
          <a:p>
            <a:endParaRPr lang="en-US" dirty="0"/>
          </a:p>
          <a:p>
            <a:r>
              <a:rPr lang="en-US" dirty="0"/>
              <a:t>An unwanted and unexpected event that disturbs normal flow of program is called</a:t>
            </a:r>
          </a:p>
          <a:p>
            <a:r>
              <a:rPr lang="en-US" dirty="0"/>
              <a:t> exception.</a:t>
            </a:r>
          </a:p>
          <a:p>
            <a:r>
              <a:rPr lang="en-US" dirty="0" err="1"/>
              <a:t>Eg</a:t>
            </a:r>
            <a:r>
              <a:rPr lang="en-US" dirty="0"/>
              <a:t>:</a:t>
            </a:r>
          </a:p>
          <a:p>
            <a:r>
              <a:rPr lang="en-US" dirty="0"/>
              <a:t> </a:t>
            </a:r>
            <a:r>
              <a:rPr lang="en-US" dirty="0" err="1"/>
              <a:t>ZeroDivisionError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TypeError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ValueError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FileNotFoundError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EOFError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SleepingError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TyrePuncturedError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305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DFF9E-9F10-D593-63C2-6955449DA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BEFFE-7C7C-9AAA-679C-84174DA43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main objective of exception handling</a:t>
            </a:r>
          </a:p>
          <a:p>
            <a:r>
              <a:rPr lang="en-US" dirty="0"/>
              <a:t> is smooth </a:t>
            </a:r>
            <a:r>
              <a:rPr lang="en-US" dirty="0" err="1"/>
              <a:t>executiong</a:t>
            </a:r>
            <a:r>
              <a:rPr lang="en-US" dirty="0"/>
              <a:t> and Termination of the program (</a:t>
            </a:r>
            <a:r>
              <a:rPr lang="en-US" dirty="0" err="1"/>
              <a:t>i.e</a:t>
            </a:r>
            <a:r>
              <a:rPr lang="en-US" dirty="0"/>
              <a:t> we should not block our resources and we should not miss anything)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Exception handling does not mean repairing/correcting exception. We have to define alternative way to continue rest of the program normally.</a:t>
            </a:r>
          </a:p>
          <a:p>
            <a:endParaRPr lang="en-US" dirty="0"/>
          </a:p>
          <a:p>
            <a:r>
              <a:rPr lang="en-US" dirty="0" err="1"/>
              <a:t>Eg</a:t>
            </a:r>
            <a:r>
              <a:rPr lang="en-US" dirty="0"/>
              <a:t>: For example our programming requirement is reading data from remote file. At runtime if file is not available then the program should not be</a:t>
            </a:r>
          </a:p>
          <a:p>
            <a:r>
              <a:rPr lang="en-US" dirty="0"/>
              <a:t>terminated abnormally. We have to provide some alternative file to continue rest of the program</a:t>
            </a:r>
          </a:p>
          <a:p>
            <a:r>
              <a:rPr lang="en-US" dirty="0"/>
              <a:t>normally. This way of defining alternative is nothing but exception handling.</a:t>
            </a:r>
          </a:p>
        </p:txBody>
      </p:sp>
    </p:spTree>
    <p:extLst>
      <p:ext uri="{BB962C8B-B14F-4D97-AF65-F5344CB8AC3E}">
        <p14:creationId xmlns:p14="http://schemas.microsoft.com/office/powerpoint/2010/main" val="9230263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F4327-7848-291F-1C39-DCFD9247D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Exception Handing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2410A-DB44-3D94-D52D-38715FA63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exception in Python is an object. For every exception type the corresponding exception classes are available.</a:t>
            </a:r>
          </a:p>
          <a:p>
            <a:r>
              <a:rPr lang="en-US" dirty="0"/>
              <a:t>Whenever an exception occurs, PVM will create the corresponding exception object and will check for handling the code. </a:t>
            </a:r>
          </a:p>
          <a:p>
            <a:r>
              <a:rPr lang="en-US" dirty="0"/>
              <a:t>If handling code is not available then Python interpreter terminates the program abnormally and prints the corresponding exception information to the console.</a:t>
            </a:r>
          </a:p>
          <a:p>
            <a:r>
              <a:rPr lang="en-US" dirty="0"/>
              <a:t>The rest of the program won't be executed. AKA </a:t>
            </a:r>
            <a:r>
              <a:rPr lang="en-US" b="1" dirty="0"/>
              <a:t>Abnormal Termination.</a:t>
            </a:r>
          </a:p>
        </p:txBody>
      </p:sp>
    </p:spTree>
    <p:extLst>
      <p:ext uri="{BB962C8B-B14F-4D97-AF65-F5344CB8AC3E}">
        <p14:creationId xmlns:p14="http://schemas.microsoft.com/office/powerpoint/2010/main" val="9326327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EB8C5-F3B7-4481-A805-C7851E18C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F53E3-9390-8E2C-D94A-383C671FB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718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77EE6-A69C-B1DA-4AC3-F69582663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C3874-63A4-1F39-AA48-E59FAECE6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IN" dirty="0"/>
              <a:t>Every Exception in Python is a class. </a:t>
            </a:r>
          </a:p>
          <a:p>
            <a:r>
              <a:rPr lang="en-US" dirty="0"/>
              <a:t>All exception classes are child classes of </a:t>
            </a:r>
            <a:r>
              <a:rPr lang="en-US" b="1" dirty="0" err="1"/>
              <a:t>BaseException</a:t>
            </a:r>
            <a:r>
              <a:rPr lang="en-US" dirty="0" err="1"/>
              <a:t>.i.e</a:t>
            </a:r>
            <a:r>
              <a:rPr lang="en-US" dirty="0"/>
              <a:t> every exception class  extends </a:t>
            </a:r>
            <a:r>
              <a:rPr lang="en-US" dirty="0" err="1"/>
              <a:t>BaseException</a:t>
            </a:r>
            <a:r>
              <a:rPr lang="en-US" dirty="0"/>
              <a:t> either directly or indirectly. </a:t>
            </a:r>
          </a:p>
          <a:p>
            <a:r>
              <a:rPr lang="en-US" dirty="0"/>
              <a:t>Hence </a:t>
            </a:r>
            <a:r>
              <a:rPr lang="en-US" dirty="0" err="1"/>
              <a:t>BaseException</a:t>
            </a:r>
            <a:r>
              <a:rPr lang="en-US" dirty="0"/>
              <a:t> acts as root  for Python Exception Hierarchy. </a:t>
            </a:r>
          </a:p>
          <a:p>
            <a:r>
              <a:rPr lang="en-US" dirty="0"/>
              <a:t> Most of the times being a programmer we have to concentrate Exception and its child  classes. </a:t>
            </a:r>
          </a:p>
        </p:txBody>
      </p:sp>
    </p:spTree>
    <p:extLst>
      <p:ext uri="{BB962C8B-B14F-4D97-AF65-F5344CB8AC3E}">
        <p14:creationId xmlns:p14="http://schemas.microsoft.com/office/powerpoint/2010/main" val="39485494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87E85-E8D4-48CA-A042-306CCD1B6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Customized Exception Handling by using try-except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C41FD-D01E-7914-CEDE-04055BDCF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It is highly recommended to handle exceptions.</a:t>
            </a:r>
          </a:p>
          <a:p>
            <a:r>
              <a:rPr lang="en-US" dirty="0"/>
              <a:t>The code which may raise exception is called </a:t>
            </a:r>
            <a:r>
              <a:rPr lang="en-US" b="1" dirty="0"/>
              <a:t>risky code </a:t>
            </a:r>
            <a:r>
              <a:rPr lang="en-US" dirty="0"/>
              <a:t>and we have to take risky code inside try block. </a:t>
            </a:r>
          </a:p>
          <a:p>
            <a:r>
              <a:rPr lang="en-US" dirty="0"/>
              <a:t>The corresponding </a:t>
            </a:r>
            <a:r>
              <a:rPr lang="en-US" b="1" dirty="0"/>
              <a:t>handling code</a:t>
            </a:r>
            <a:r>
              <a:rPr lang="en-US" dirty="0"/>
              <a:t> we have to take inside except block.</a:t>
            </a:r>
          </a:p>
          <a:p>
            <a:endParaRPr lang="en-US" dirty="0"/>
          </a:p>
          <a:p>
            <a:r>
              <a:rPr lang="en-US" dirty="0"/>
              <a:t>try:</a:t>
            </a:r>
          </a:p>
          <a:p>
            <a:r>
              <a:rPr lang="en-US" dirty="0">
                <a:solidFill>
                  <a:srgbClr val="00B050"/>
                </a:solidFill>
              </a:rPr>
              <a:t> Risky Code</a:t>
            </a:r>
          </a:p>
          <a:p>
            <a:r>
              <a:rPr lang="en-US" dirty="0"/>
              <a:t> except XXX:</a:t>
            </a:r>
          </a:p>
          <a:p>
            <a:r>
              <a:rPr lang="en-US" dirty="0">
                <a:solidFill>
                  <a:srgbClr val="00B050"/>
                </a:solidFill>
              </a:rPr>
              <a:t> Handling code/Alternative Code</a:t>
            </a:r>
          </a:p>
        </p:txBody>
      </p:sp>
    </p:spTree>
    <p:extLst>
      <p:ext uri="{BB962C8B-B14F-4D97-AF65-F5344CB8AC3E}">
        <p14:creationId xmlns:p14="http://schemas.microsoft.com/office/powerpoint/2010/main" val="10019587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54B2D-2FB0-465C-FE25-0D6110245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2B25B-0A5F-E17F-8077-1B34DA9A1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print("stmt-1")</a:t>
            </a:r>
          </a:p>
          <a:p>
            <a:r>
              <a:rPr lang="en-US" dirty="0"/>
              <a:t>print(10/0)</a:t>
            </a:r>
          </a:p>
          <a:p>
            <a:r>
              <a:rPr lang="en-US" dirty="0"/>
              <a:t>print("stmt-3")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  <a:p>
            <a:r>
              <a:rPr lang="en-US" dirty="0"/>
              <a:t>print("stmt-1")</a:t>
            </a:r>
          </a:p>
          <a:p>
            <a:r>
              <a:rPr lang="en-US" dirty="0"/>
              <a:t>try:</a:t>
            </a:r>
          </a:p>
          <a:p>
            <a:r>
              <a:rPr lang="en-US" dirty="0"/>
              <a:t>  print(10/0)</a:t>
            </a:r>
          </a:p>
          <a:p>
            <a:r>
              <a:rPr lang="en-US" dirty="0" err="1"/>
              <a:t>exceptZeroDivisionError</a:t>
            </a:r>
            <a:r>
              <a:rPr lang="en-US" dirty="0"/>
              <a:t>:</a:t>
            </a:r>
          </a:p>
          <a:p>
            <a:r>
              <a:rPr lang="en-US" dirty="0"/>
              <a:t>  print(10/2)</a:t>
            </a:r>
          </a:p>
          <a:p>
            <a:r>
              <a:rPr lang="en-US" dirty="0"/>
              <a:t>print("stmt-3")</a:t>
            </a:r>
          </a:p>
        </p:txBody>
      </p:sp>
    </p:spTree>
    <p:extLst>
      <p:ext uri="{BB962C8B-B14F-4D97-AF65-F5344CB8AC3E}">
        <p14:creationId xmlns:p14="http://schemas.microsoft.com/office/powerpoint/2010/main" val="14217967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0553B-2DF3-7F77-CA74-8201A45FB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effectLst/>
                <a:latin typeface="Calibri,Bold"/>
              </a:rPr>
              <a:t>Control Flow in try-except</a:t>
            </a:r>
            <a:endParaRPr lang="en-US" sz="8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BA5CA-23A6-6652-30BA-6A5A232C3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try:</a:t>
            </a:r>
          </a:p>
          <a:p>
            <a:r>
              <a:rPr lang="en-US" dirty="0"/>
              <a:t>  state1</a:t>
            </a:r>
          </a:p>
          <a:p>
            <a:r>
              <a:rPr lang="en-US" dirty="0"/>
              <a:t>  state2</a:t>
            </a:r>
          </a:p>
          <a:p>
            <a:r>
              <a:rPr lang="en-US" dirty="0"/>
              <a:t>  state3</a:t>
            </a:r>
          </a:p>
          <a:p>
            <a:r>
              <a:rPr lang="en-US" dirty="0"/>
              <a:t>except:</a:t>
            </a:r>
          </a:p>
          <a:p>
            <a:r>
              <a:rPr lang="en-US" dirty="0"/>
              <a:t>  state4</a:t>
            </a:r>
          </a:p>
          <a:p>
            <a:r>
              <a:rPr lang="en-US" dirty="0"/>
              <a:t>state5</a:t>
            </a:r>
          </a:p>
        </p:txBody>
      </p:sp>
    </p:spTree>
    <p:extLst>
      <p:ext uri="{BB962C8B-B14F-4D97-AF65-F5344CB8AC3E}">
        <p14:creationId xmlns:p14="http://schemas.microsoft.com/office/powerpoint/2010/main" val="5993227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47F0C-6A37-DE7B-68E4-F6478AB34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85D11-8479-63A9-CDFB-867A93CF7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 Case-1: If there is no exception</a:t>
            </a:r>
          </a:p>
          <a:p>
            <a:pPr marL="0" indent="0">
              <a:buNone/>
            </a:pPr>
            <a:r>
              <a:rPr lang="en-US" dirty="0"/>
              <a:t>  1,2,3,5 and Normal Termination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Case-2: If an exception raised at stmt-2 and corresponding except block matched</a:t>
            </a:r>
          </a:p>
          <a:p>
            <a:pPr marL="0" indent="0">
              <a:buNone/>
            </a:pPr>
            <a:r>
              <a:rPr lang="en-US" dirty="0"/>
              <a:t>  1,4,5 Normal Termination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Case-3: If an exception rose at stmt-2 and corresponding except block not matched</a:t>
            </a:r>
          </a:p>
          <a:p>
            <a:pPr marL="0" indent="0">
              <a:buNone/>
            </a:pPr>
            <a:r>
              <a:rPr lang="en-US" dirty="0"/>
              <a:t>  1, Abnormal Termination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Case-4: If an exception rose at stmt-4 or at stmt-5 then it is always abnormal</a:t>
            </a:r>
          </a:p>
          <a:p>
            <a:pPr marL="0" indent="0">
              <a:buNone/>
            </a:pPr>
            <a:r>
              <a:rPr lang="en-US" dirty="0"/>
              <a:t>  termination.</a:t>
            </a:r>
          </a:p>
        </p:txBody>
      </p:sp>
    </p:spTree>
    <p:extLst>
      <p:ext uri="{BB962C8B-B14F-4D97-AF65-F5344CB8AC3E}">
        <p14:creationId xmlns:p14="http://schemas.microsoft.com/office/powerpoint/2010/main" val="2156612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49CC5-9607-4996-F50E-BE1BB3AD4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D6BFB-2E96-4219-BB3B-2378C18C8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Within the try block if anywhere exception raised then rest of the try block won’t be</a:t>
            </a:r>
          </a:p>
          <a:p>
            <a:r>
              <a:rPr lang="en-US" dirty="0"/>
              <a:t>executed </a:t>
            </a:r>
            <a:r>
              <a:rPr lang="en-US" dirty="0" err="1"/>
              <a:t>eventhough</a:t>
            </a:r>
            <a:r>
              <a:rPr lang="en-US" dirty="0"/>
              <a:t> we handled that exception. Hence we have to take only risky</a:t>
            </a:r>
          </a:p>
          <a:p>
            <a:r>
              <a:rPr lang="en-US" dirty="0"/>
              <a:t>code inside try block and length of the try block should be as less as possible.</a:t>
            </a:r>
          </a:p>
          <a:p>
            <a:r>
              <a:rPr lang="en-US" dirty="0"/>
              <a:t>In addition to try block, there may be a chance of raising exceptions inside except and</a:t>
            </a:r>
          </a:p>
          <a:p>
            <a:r>
              <a:rPr lang="en-US" dirty="0"/>
              <a:t>finally blocks also.</a:t>
            </a:r>
          </a:p>
          <a:p>
            <a:r>
              <a:rPr lang="en-US" dirty="0"/>
              <a:t>If any statement which is not part of try block raises an exception then it is always</a:t>
            </a:r>
          </a:p>
          <a:p>
            <a:r>
              <a:rPr lang="en-US" dirty="0"/>
              <a:t>abnormal termination.</a:t>
            </a:r>
          </a:p>
        </p:txBody>
      </p:sp>
    </p:spTree>
    <p:extLst>
      <p:ext uri="{BB962C8B-B14F-4D97-AF65-F5344CB8AC3E}">
        <p14:creationId xmlns:p14="http://schemas.microsoft.com/office/powerpoint/2010/main" val="28194434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37C78-17BC-D7E4-5E46-182824E8C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 Exception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E8E3F-BCA9-2327-6A2F-42184986A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try:</a:t>
            </a:r>
          </a:p>
          <a:p>
            <a:r>
              <a:rPr lang="en-US" dirty="0"/>
              <a:t>   print(10/0)</a:t>
            </a:r>
          </a:p>
          <a:p>
            <a:r>
              <a:rPr lang="en-US" dirty="0"/>
              <a:t>Except </a:t>
            </a:r>
            <a:r>
              <a:rPr lang="en-US" dirty="0" err="1"/>
              <a:t>ZeroDivisionErroras</a:t>
            </a:r>
            <a:r>
              <a:rPr lang="en-US" dirty="0"/>
              <a:t> msg:</a:t>
            </a:r>
          </a:p>
          <a:p>
            <a:r>
              <a:rPr lang="en-US" dirty="0">
                <a:solidFill>
                  <a:srgbClr val="00B050"/>
                </a:solidFill>
              </a:rPr>
              <a:t>    print("exception raised and its description is:", msg)</a:t>
            </a:r>
          </a:p>
          <a:p>
            <a:endParaRPr lang="en-US" dirty="0">
              <a:solidFill>
                <a:srgbClr val="00B050"/>
              </a:solidFill>
            </a:endParaRPr>
          </a:p>
          <a:p>
            <a:r>
              <a:rPr lang="en-US" b="1" dirty="0"/>
              <a:t>Output</a:t>
            </a:r>
            <a:r>
              <a:rPr lang="en-US" dirty="0"/>
              <a:t> exception raised and its description is: division by zero</a:t>
            </a:r>
          </a:p>
          <a:p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1063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BC9A2-3C1D-07A6-AF6D-3EA18B7B2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with Multiple except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24311-BE6B-87B0-E4F6-E4ADA7E48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 way of handling exception is varied from exception to </a:t>
            </a:r>
            <a:r>
              <a:rPr lang="en-US" dirty="0" err="1"/>
              <a:t>exception.Hence</a:t>
            </a:r>
            <a:r>
              <a:rPr lang="en-US" dirty="0"/>
              <a:t> for every</a:t>
            </a:r>
          </a:p>
          <a:p>
            <a:r>
              <a:rPr lang="en-US" dirty="0"/>
              <a:t>exception type a </a:t>
            </a:r>
            <a:r>
              <a:rPr lang="en-US" dirty="0" err="1"/>
              <a:t>seperate</a:t>
            </a:r>
            <a:r>
              <a:rPr lang="en-US" dirty="0"/>
              <a:t> except block we have to provide. </a:t>
            </a:r>
            <a:r>
              <a:rPr lang="en-US" dirty="0" err="1"/>
              <a:t>i.e</a:t>
            </a:r>
            <a:r>
              <a:rPr lang="en-US" dirty="0"/>
              <a:t> try with multiple except</a:t>
            </a:r>
          </a:p>
          <a:p>
            <a:r>
              <a:rPr lang="en-US" dirty="0"/>
              <a:t>blocks is possible and recommended to use.</a:t>
            </a:r>
          </a:p>
          <a:p>
            <a:endParaRPr lang="en-US" dirty="0"/>
          </a:p>
          <a:p>
            <a:r>
              <a:rPr lang="en-US" dirty="0"/>
              <a:t>try:</a:t>
            </a:r>
          </a:p>
          <a:p>
            <a:r>
              <a:rPr lang="en-US" dirty="0"/>
              <a:t>  ----</a:t>
            </a:r>
          </a:p>
          <a:p>
            <a:r>
              <a:rPr lang="en-US" dirty="0"/>
              <a:t>  ----</a:t>
            </a:r>
          </a:p>
          <a:p>
            <a:r>
              <a:rPr lang="en-US" dirty="0"/>
              <a:t>  ----</a:t>
            </a:r>
          </a:p>
          <a:p>
            <a:r>
              <a:rPr lang="en-US" dirty="0"/>
              <a:t>except </a:t>
            </a:r>
            <a:r>
              <a:rPr lang="en-US" dirty="0" err="1"/>
              <a:t>ZeroDivisionError</a:t>
            </a:r>
            <a:r>
              <a:rPr lang="en-US" dirty="0"/>
              <a:t>:</a:t>
            </a:r>
          </a:p>
          <a:p>
            <a:r>
              <a:rPr lang="en-US" dirty="0"/>
              <a:t>  perform alternative arithmetic operations</a:t>
            </a:r>
          </a:p>
          <a:p>
            <a:r>
              <a:rPr lang="en-US" dirty="0"/>
              <a:t>except </a:t>
            </a:r>
            <a:r>
              <a:rPr lang="en-US" dirty="0" err="1"/>
              <a:t>FileNotFoundError</a:t>
            </a:r>
            <a:r>
              <a:rPr lang="en-US" dirty="0"/>
              <a:t>:</a:t>
            </a:r>
          </a:p>
          <a:p>
            <a:r>
              <a:rPr lang="en-US" dirty="0"/>
              <a:t>  use local file instead of remote file</a:t>
            </a:r>
          </a:p>
        </p:txBody>
      </p:sp>
    </p:spTree>
    <p:extLst>
      <p:ext uri="{BB962C8B-B14F-4D97-AF65-F5344CB8AC3E}">
        <p14:creationId xmlns:p14="http://schemas.microsoft.com/office/powerpoint/2010/main" val="18254593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DA8E5-6D35-0D9D-CB7A-6EF7BA0C5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3D75C-77BD-A2A7-69FD-4BC7760EF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If try with multiple except blocks available then based on raised exception the corresponding except block will be executed.</a:t>
            </a:r>
          </a:p>
          <a:p>
            <a:endParaRPr lang="en-US" dirty="0"/>
          </a:p>
          <a:p>
            <a:r>
              <a:rPr lang="en-US" dirty="0"/>
              <a:t>try:</a:t>
            </a:r>
          </a:p>
          <a:p>
            <a:r>
              <a:rPr lang="en-US" dirty="0"/>
              <a:t>    x=int(input("Enter First Number: "))</a:t>
            </a:r>
          </a:p>
          <a:p>
            <a:r>
              <a:rPr lang="en-US" dirty="0"/>
              <a:t>    y=int(input("Enter Second Number: "))</a:t>
            </a:r>
          </a:p>
          <a:p>
            <a:r>
              <a:rPr lang="en-US" dirty="0"/>
              <a:t>    print(x/y)</a:t>
            </a:r>
          </a:p>
          <a:p>
            <a:r>
              <a:rPr lang="en-US" dirty="0" err="1"/>
              <a:t>exceptZeroDivisionError</a:t>
            </a:r>
            <a:r>
              <a:rPr lang="en-US" dirty="0"/>
              <a:t>:</a:t>
            </a:r>
          </a:p>
          <a:p>
            <a:r>
              <a:rPr lang="en-US" dirty="0"/>
              <a:t>    print("Can't Divide with Zero")</a:t>
            </a:r>
          </a:p>
          <a:p>
            <a:r>
              <a:rPr lang="en-US" dirty="0" err="1"/>
              <a:t>exceptValueError</a:t>
            </a:r>
            <a:r>
              <a:rPr lang="en-US" dirty="0"/>
              <a:t>:</a:t>
            </a:r>
          </a:p>
          <a:p>
            <a:r>
              <a:rPr lang="en-US" dirty="0"/>
              <a:t>    print("please provide int value only")</a:t>
            </a:r>
          </a:p>
        </p:txBody>
      </p:sp>
    </p:spTree>
    <p:extLst>
      <p:ext uri="{BB962C8B-B14F-4D97-AF65-F5344CB8AC3E}">
        <p14:creationId xmlns:p14="http://schemas.microsoft.com/office/powerpoint/2010/main" val="35006551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B8D3-4A0B-A7A0-247B-CE8FA39F4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4F381-CA86-7DAD-374B-B109B3C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If try with multiple except blocks available then the order of these except blocks is important .Python interpreter will always consider from top to bottom until matched except block identified.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try:</a:t>
            </a:r>
          </a:p>
          <a:p>
            <a:r>
              <a:rPr lang="en-US" dirty="0"/>
              <a:t>    x=int(input("Enter First Number: "))</a:t>
            </a:r>
          </a:p>
          <a:p>
            <a:r>
              <a:rPr lang="en-US" dirty="0"/>
              <a:t>    y=int(input("Enter Second Number: "))</a:t>
            </a:r>
          </a:p>
          <a:p>
            <a:r>
              <a:rPr lang="en-US" dirty="0"/>
              <a:t>    print(x/y)</a:t>
            </a:r>
          </a:p>
          <a:p>
            <a:r>
              <a:rPr lang="en-US" dirty="0" err="1"/>
              <a:t>exceptArithmeticError</a:t>
            </a:r>
            <a:r>
              <a:rPr lang="en-US" dirty="0"/>
              <a:t>:</a:t>
            </a:r>
          </a:p>
          <a:p>
            <a:r>
              <a:rPr lang="en-US" dirty="0"/>
              <a:t>    print("</a:t>
            </a:r>
            <a:r>
              <a:rPr lang="en-US" dirty="0" err="1"/>
              <a:t>ArithmeticError</a:t>
            </a:r>
            <a:r>
              <a:rPr lang="en-US" dirty="0"/>
              <a:t>")</a:t>
            </a:r>
          </a:p>
          <a:p>
            <a:r>
              <a:rPr lang="en-US" dirty="0" err="1"/>
              <a:t>exceptZeroDivisionError</a:t>
            </a:r>
            <a:r>
              <a:rPr lang="en-US" dirty="0"/>
              <a:t>:</a:t>
            </a:r>
          </a:p>
          <a:p>
            <a:r>
              <a:rPr lang="en-US" dirty="0"/>
              <a:t>    print("</a:t>
            </a:r>
            <a:r>
              <a:rPr lang="en-US" dirty="0" err="1"/>
              <a:t>ZeroDivisionError</a:t>
            </a:r>
            <a:r>
              <a:rPr lang="en-US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35681040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82B5E-998C-DA08-1549-72EF31F0F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except Block that can handle Multiple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09E4C-0229-63E3-9AF7-644C6E89B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We can write a single except block that can handle multiple different types of exceptions. </a:t>
            </a:r>
          </a:p>
          <a:p>
            <a:r>
              <a:rPr lang="en-US" dirty="0"/>
              <a:t>except (Exception1,Exception2,exception3,..): OR </a:t>
            </a:r>
          </a:p>
          <a:p>
            <a:r>
              <a:rPr lang="en-US" dirty="0"/>
              <a:t>except (Exception1,Exception2,exception3,..) as msg :  </a:t>
            </a:r>
          </a:p>
          <a:p>
            <a:r>
              <a:rPr lang="en-US" dirty="0"/>
              <a:t>Parentheses are mandatory and this group of exceptions internally considered as tuple. </a:t>
            </a:r>
          </a:p>
          <a:p>
            <a:r>
              <a:rPr lang="en-US" dirty="0"/>
              <a:t>1) try:  </a:t>
            </a:r>
          </a:p>
          <a:p>
            <a:r>
              <a:rPr lang="en-US" dirty="0"/>
              <a:t>2) x=int(input("Enter First Number: "))  </a:t>
            </a:r>
          </a:p>
          <a:p>
            <a:r>
              <a:rPr lang="en-US" dirty="0"/>
              <a:t>3) y=int(input("Enter Second Number: "))  </a:t>
            </a:r>
          </a:p>
          <a:p>
            <a:r>
              <a:rPr lang="en-US" dirty="0"/>
              <a:t>4) print(x/y)  </a:t>
            </a:r>
          </a:p>
          <a:p>
            <a:r>
              <a:rPr lang="en-US" dirty="0">
                <a:solidFill>
                  <a:srgbClr val="00B050"/>
                </a:solidFill>
              </a:rPr>
              <a:t>5) except (</a:t>
            </a:r>
            <a:r>
              <a:rPr lang="en-US" dirty="0" err="1">
                <a:solidFill>
                  <a:srgbClr val="00B050"/>
                </a:solidFill>
              </a:rPr>
              <a:t>ZeroDivisionError</a:t>
            </a:r>
            <a:r>
              <a:rPr lang="en-US" dirty="0">
                <a:solidFill>
                  <a:srgbClr val="00B050"/>
                </a:solidFill>
              </a:rPr>
              <a:t>, </a:t>
            </a:r>
            <a:r>
              <a:rPr lang="en-US" dirty="0" err="1">
                <a:solidFill>
                  <a:srgbClr val="00B050"/>
                </a:solidFill>
              </a:rPr>
              <a:t>ValueError</a:t>
            </a:r>
            <a:r>
              <a:rPr lang="en-US" dirty="0">
                <a:solidFill>
                  <a:srgbClr val="00B050"/>
                </a:solidFill>
              </a:rPr>
              <a:t>) as msg:  </a:t>
            </a:r>
          </a:p>
          <a:p>
            <a:r>
              <a:rPr lang="en-US" dirty="0"/>
              <a:t>6) print("</a:t>
            </a:r>
            <a:r>
              <a:rPr lang="en-US" dirty="0" err="1"/>
              <a:t>Plz</a:t>
            </a:r>
            <a:r>
              <a:rPr lang="en-US" dirty="0"/>
              <a:t> Provide valid numbers only and problem is: ",msg) </a:t>
            </a:r>
          </a:p>
        </p:txBody>
      </p:sp>
    </p:spTree>
    <p:extLst>
      <p:ext uri="{BB962C8B-B14F-4D97-AF65-F5344CB8AC3E}">
        <p14:creationId xmlns:p14="http://schemas.microsoft.com/office/powerpoint/2010/main" val="16086352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4E5C5-9EBC-3654-C6A2-4A6E2FAF1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except 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B4301-5CF2-F8E2-69DA-04C4F2D1B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We can use default except block to handle any type of exceptions. </a:t>
            </a:r>
          </a:p>
          <a:p>
            <a:r>
              <a:rPr lang="en-US" dirty="0"/>
              <a:t>In default except block generally we can print normal error messages. </a:t>
            </a:r>
          </a:p>
          <a:p>
            <a:r>
              <a:rPr lang="en-US" dirty="0"/>
              <a:t>Syntax:  </a:t>
            </a:r>
          </a:p>
          <a:p>
            <a:r>
              <a:rPr lang="en-US" dirty="0"/>
              <a:t> except: </a:t>
            </a:r>
          </a:p>
          <a:p>
            <a:r>
              <a:rPr lang="en-US" dirty="0"/>
              <a:t> statements </a:t>
            </a:r>
          </a:p>
          <a:p>
            <a:r>
              <a:rPr lang="en-US" dirty="0"/>
              <a:t>1) try:  </a:t>
            </a:r>
          </a:p>
          <a:p>
            <a:r>
              <a:rPr lang="en-US" dirty="0"/>
              <a:t>2) x=int(input("Enter First Number: "))  </a:t>
            </a:r>
          </a:p>
          <a:p>
            <a:r>
              <a:rPr lang="en-US" dirty="0"/>
              <a:t>3) y=int(input("Enter Second Number: "))  </a:t>
            </a:r>
          </a:p>
          <a:p>
            <a:r>
              <a:rPr lang="en-US" dirty="0"/>
              <a:t>4) print(x/y)  </a:t>
            </a:r>
          </a:p>
          <a:p>
            <a:r>
              <a:rPr lang="en-US" dirty="0"/>
              <a:t>5) except </a:t>
            </a:r>
            <a:r>
              <a:rPr lang="en-US" dirty="0" err="1"/>
              <a:t>ZeroDivisionError</a:t>
            </a:r>
            <a:r>
              <a:rPr lang="en-US" dirty="0"/>
              <a:t>:  </a:t>
            </a:r>
          </a:p>
          <a:p>
            <a:r>
              <a:rPr lang="en-US" dirty="0"/>
              <a:t>6) print("</a:t>
            </a:r>
            <a:r>
              <a:rPr lang="en-US" dirty="0" err="1"/>
              <a:t>ZeroDivisionError:Can't</a:t>
            </a:r>
            <a:r>
              <a:rPr lang="en-US" dirty="0"/>
              <a:t> divide with zero")  </a:t>
            </a:r>
          </a:p>
          <a:p>
            <a:r>
              <a:rPr lang="en-US" dirty="0"/>
              <a:t>7) except:  </a:t>
            </a:r>
          </a:p>
          <a:p>
            <a:r>
              <a:rPr lang="en-US" dirty="0"/>
              <a:t>8) print("Default </a:t>
            </a:r>
            <a:r>
              <a:rPr lang="en-US" dirty="0" err="1"/>
              <a:t>Except:Plz</a:t>
            </a:r>
            <a:r>
              <a:rPr lang="en-US" dirty="0"/>
              <a:t> provide valid input only")</a:t>
            </a:r>
          </a:p>
        </p:txBody>
      </p:sp>
    </p:spTree>
    <p:extLst>
      <p:ext uri="{BB962C8B-B14F-4D97-AF65-F5344CB8AC3E}">
        <p14:creationId xmlns:p14="http://schemas.microsoft.com/office/powerpoint/2010/main" val="21478253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EF0A3-5551-8570-F97E-7B92F497E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9CAD1-7110-66EC-23D2-9069CDFB2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If try with multiple except blocks available then default except block should be   last, otherwise we will get </a:t>
            </a:r>
            <a:r>
              <a:rPr lang="en-US" b="1" dirty="0" err="1"/>
              <a:t>SyntaxError</a:t>
            </a:r>
            <a:r>
              <a:rPr lang="en-US" b="1" dirty="0"/>
              <a:t>. </a:t>
            </a:r>
          </a:p>
          <a:p>
            <a:r>
              <a:rPr lang="en-US" dirty="0"/>
              <a:t>1) try:  </a:t>
            </a:r>
          </a:p>
          <a:p>
            <a:r>
              <a:rPr lang="en-US" dirty="0"/>
              <a:t>2) print(10/0)  </a:t>
            </a:r>
          </a:p>
          <a:p>
            <a:r>
              <a:rPr lang="en-US" dirty="0"/>
              <a:t>3) except:  </a:t>
            </a:r>
          </a:p>
          <a:p>
            <a:r>
              <a:rPr lang="en-US" dirty="0"/>
              <a:t>4) print("Default Except")  </a:t>
            </a:r>
          </a:p>
          <a:p>
            <a:r>
              <a:rPr lang="en-US" dirty="0"/>
              <a:t>5) except </a:t>
            </a:r>
            <a:r>
              <a:rPr lang="en-US" dirty="0" err="1"/>
              <a:t>ZeroDivisionError</a:t>
            </a:r>
            <a:r>
              <a:rPr lang="en-US" dirty="0"/>
              <a:t>:  </a:t>
            </a:r>
          </a:p>
          <a:p>
            <a:r>
              <a:rPr lang="en-US" dirty="0"/>
              <a:t>6) print("</a:t>
            </a:r>
            <a:r>
              <a:rPr lang="en-US" dirty="0" err="1"/>
              <a:t>ZeroDivisionError</a:t>
            </a:r>
            <a:r>
              <a:rPr lang="en-US" dirty="0"/>
              <a:t>")  </a:t>
            </a:r>
          </a:p>
          <a:p>
            <a:r>
              <a:rPr lang="en-US" dirty="0" err="1"/>
              <a:t>SyntaxError</a:t>
            </a:r>
            <a:r>
              <a:rPr lang="en-US" dirty="0"/>
              <a:t>: default 'except:' must be last </a:t>
            </a:r>
          </a:p>
          <a:p>
            <a:r>
              <a:rPr lang="en-US" dirty="0"/>
              <a:t>  </a:t>
            </a:r>
          </a:p>
          <a:p>
            <a:r>
              <a:rPr lang="en-US" b="1" dirty="0"/>
              <a:t>Note: The following are various possible combinations of except blocks </a:t>
            </a:r>
          </a:p>
          <a:p>
            <a:r>
              <a:rPr lang="en-US" b="1" dirty="0"/>
              <a:t>1) except </a:t>
            </a:r>
            <a:r>
              <a:rPr lang="en-US" b="1" dirty="0" err="1"/>
              <a:t>ZeroDivisionError</a:t>
            </a:r>
            <a:r>
              <a:rPr lang="en-US" b="1" dirty="0"/>
              <a:t>: </a:t>
            </a:r>
          </a:p>
          <a:p>
            <a:r>
              <a:rPr lang="en-US" dirty="0"/>
              <a:t>2) except </a:t>
            </a:r>
            <a:r>
              <a:rPr lang="en-US" dirty="0" err="1"/>
              <a:t>ZeroDivisionError</a:t>
            </a:r>
            <a:r>
              <a:rPr lang="en-US" dirty="0"/>
              <a:t> as msg: </a:t>
            </a:r>
          </a:p>
          <a:p>
            <a:r>
              <a:rPr lang="en-US" dirty="0"/>
              <a:t>3) except (</a:t>
            </a:r>
            <a:r>
              <a:rPr lang="en-US" dirty="0" err="1"/>
              <a:t>ZeroDivisionError</a:t>
            </a:r>
            <a:r>
              <a:rPr lang="en-US" dirty="0"/>
              <a:t>, </a:t>
            </a:r>
            <a:r>
              <a:rPr lang="en-US" dirty="0" err="1"/>
              <a:t>ValueError</a:t>
            </a:r>
            <a:r>
              <a:rPr lang="en-US" dirty="0"/>
              <a:t>) : </a:t>
            </a:r>
          </a:p>
          <a:p>
            <a:r>
              <a:rPr lang="en-US" dirty="0"/>
              <a:t>4) except (</a:t>
            </a:r>
            <a:r>
              <a:rPr lang="en-US" dirty="0" err="1"/>
              <a:t>ZeroDivisionError</a:t>
            </a:r>
            <a:r>
              <a:rPr lang="en-US" dirty="0"/>
              <a:t>, </a:t>
            </a:r>
            <a:r>
              <a:rPr lang="en-US" dirty="0" err="1"/>
              <a:t>ValueError</a:t>
            </a:r>
            <a:r>
              <a:rPr lang="en-US" dirty="0"/>
              <a:t>) as msg: </a:t>
            </a:r>
          </a:p>
          <a:p>
            <a:r>
              <a:rPr lang="en-US" dirty="0"/>
              <a:t>5) except : </a:t>
            </a:r>
          </a:p>
        </p:txBody>
      </p:sp>
    </p:spTree>
    <p:extLst>
      <p:ext uri="{BB962C8B-B14F-4D97-AF65-F5344CB8AC3E}">
        <p14:creationId xmlns:p14="http://schemas.microsoft.com/office/powerpoint/2010/main" val="4272052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2385</TotalTime>
  <Words>2075</Words>
  <Application>Microsoft Macintosh PowerPoint</Application>
  <PresentationFormat>Widescreen</PresentationFormat>
  <Paragraphs>316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Aptos</vt:lpstr>
      <vt:lpstr>Aptos Display</vt:lpstr>
      <vt:lpstr>Arial</vt:lpstr>
      <vt:lpstr>Calibri,Bold</vt:lpstr>
      <vt:lpstr>Source Sans Pro</vt:lpstr>
      <vt:lpstr>Office Theme</vt:lpstr>
      <vt:lpstr>PythonDS-16 Exception Handling</vt:lpstr>
      <vt:lpstr>Understanding Exceptions and Syntax Errors</vt:lpstr>
      <vt:lpstr>PowerPoint Presentation</vt:lpstr>
      <vt:lpstr>Raising an Exception in Python</vt:lpstr>
      <vt:lpstr>Debugging During Development With assert</vt:lpstr>
      <vt:lpstr>Handling Exceptions With the try and except Block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Proceeding After a Successful Try With else</vt:lpstr>
      <vt:lpstr>PowerPoint Presentation</vt:lpstr>
      <vt:lpstr>PowerPoint Presentation</vt:lpstr>
      <vt:lpstr>PowerPoint Presentation</vt:lpstr>
      <vt:lpstr>Cleaning Up After Execution With finally</vt:lpstr>
      <vt:lpstr>PowerPoint Presentation</vt:lpstr>
      <vt:lpstr>PowerPoint Presentation</vt:lpstr>
      <vt:lpstr>Creating Custom Exceptions in Python</vt:lpstr>
      <vt:lpstr>PowerPoint Presentation</vt:lpstr>
      <vt:lpstr>PowerPoint Presentation</vt:lpstr>
      <vt:lpstr>Exception Handling</vt:lpstr>
      <vt:lpstr>PowerPoint Presentation</vt:lpstr>
      <vt:lpstr>Default Exception Handing in Python</vt:lpstr>
      <vt:lpstr>PowerPoint Presentation</vt:lpstr>
      <vt:lpstr>PowerPoint Presentation</vt:lpstr>
      <vt:lpstr>Customized Exception Handling by using try-except</vt:lpstr>
      <vt:lpstr>PowerPoint Presentation</vt:lpstr>
      <vt:lpstr>Control Flow in try-except</vt:lpstr>
      <vt:lpstr>PowerPoint Presentation</vt:lpstr>
      <vt:lpstr>PowerPoint Presentation</vt:lpstr>
      <vt:lpstr>Print Exception Information</vt:lpstr>
      <vt:lpstr>try with Multiple except Blocks</vt:lpstr>
      <vt:lpstr>PowerPoint Presentation</vt:lpstr>
      <vt:lpstr>PowerPoint Presentation</vt:lpstr>
      <vt:lpstr>Single except Block that can handle Multiple Exceptions</vt:lpstr>
      <vt:lpstr>Default except Block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176</cp:revision>
  <dcterms:created xsi:type="dcterms:W3CDTF">2026-01-15T04:12:31Z</dcterms:created>
  <dcterms:modified xsi:type="dcterms:W3CDTF">2026-03-26T03:02:43Z</dcterms:modified>
</cp:coreProperties>
</file>