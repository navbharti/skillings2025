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476"/>
  </p:normalViewPr>
  <p:slideViewPr>
    <p:cSldViewPr snapToGrid="0">
      <p:cViewPr varScale="1">
        <p:scale>
          <a:sx n="84" d="100"/>
          <a:sy n="84" d="100"/>
        </p:scale>
        <p:origin x="1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pgrad.com/blog/difference-between-mutable-and-immutable-in-python/" TargetMode="External"/><Relationship Id="rId2" Type="http://schemas.openxmlformats.org/officeDocument/2006/relationships/hyperlink" Target="https://realpython.com/python-mutable-vs-immutable-type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PythonDS-03 Datatypes Typecasting Mutable and Immutable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DD3B-ED8E-A959-4A5F-9070059C1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Type casting</a:t>
            </a:r>
            <a:r>
              <a:rPr lang="en-IN" b="0" u="none" strike="noStrike" dirty="0">
                <a:effectLst/>
                <a:latin typeface="Google Sans"/>
              </a:rPr>
              <a:t> in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3CBFC-1A9A-675F-4F73-58437D3C3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The process of converting a variable from one data type to another using built-in constructor functions. </a:t>
            </a:r>
            <a:endParaRPr lang="en-IN" dirty="0">
              <a:latin typeface="Google Sans"/>
            </a:endParaRPr>
          </a:p>
          <a:p>
            <a:endParaRPr lang="en-IN" b="0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Implicit vs. Explicit Casting</a:t>
            </a:r>
          </a:p>
          <a:p>
            <a:r>
              <a:rPr lang="en-IN" b="1" u="none" strike="noStrike" dirty="0">
                <a:effectLst/>
                <a:latin typeface="Google Sans"/>
              </a:rPr>
              <a:t>Implicit Casting</a:t>
            </a:r>
            <a:r>
              <a:rPr lang="en-IN" b="0" u="none" strike="noStrike" dirty="0">
                <a:effectLst/>
                <a:latin typeface="Google Sans"/>
              </a:rPr>
              <a:t>: Python automatically converts one data type to another without user intervention (e.g., adding an integer to a float results in a float).</a:t>
            </a:r>
          </a:p>
          <a:p>
            <a:r>
              <a:rPr lang="en-IN" b="1" u="none" strike="noStrike" dirty="0">
                <a:effectLst/>
                <a:latin typeface="Google Sans"/>
              </a:rPr>
              <a:t>Explicit Casting</a:t>
            </a:r>
            <a:r>
              <a:rPr lang="en-IN" b="0" u="none" strike="noStrike" dirty="0">
                <a:effectLst/>
                <a:latin typeface="Google Sans"/>
              </a:rPr>
              <a:t>: The user manually converts the data type using Python's built-in type conversion functions. 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318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EC991-CA0F-111B-770A-0F374668E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Common Type Casting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1CE57-6B4F-05D7-B1F4-054B83A0E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0" u="none" strike="noStrike" dirty="0">
                <a:effectLst/>
                <a:highlight>
                  <a:srgbClr val="808080"/>
                </a:highlight>
                <a:latin typeface="Google Sans"/>
              </a:rPr>
              <a:t>int()</a:t>
            </a:r>
            <a:r>
              <a:rPr lang="en-IN" b="0" u="none" strike="noStrike" dirty="0">
                <a:effectLst/>
                <a:latin typeface="Google Sans"/>
              </a:rPr>
              <a:t> - Converts a compatible float, string, or </a:t>
            </a:r>
            <a:r>
              <a:rPr lang="en-IN" b="0" u="none" strike="noStrike" dirty="0" err="1">
                <a:effectLst/>
                <a:latin typeface="Google Sans"/>
              </a:rPr>
              <a:t>boolean</a:t>
            </a:r>
            <a:r>
              <a:rPr lang="en-IN" b="0" u="none" strike="noStrike" dirty="0">
                <a:effectLst/>
                <a:latin typeface="Google Sans"/>
              </a:rPr>
              <a:t> into an </a:t>
            </a:r>
            <a:r>
              <a:rPr lang="en-IN" b="1" u="none" strike="noStrike" dirty="0">
                <a:effectLst/>
                <a:latin typeface="Google Sans"/>
              </a:rPr>
              <a:t>integer</a:t>
            </a:r>
            <a:r>
              <a:rPr lang="en-IN" b="0" u="none" strike="noStrike" dirty="0">
                <a:effectLst/>
                <a:latin typeface="Google Sans"/>
              </a:rPr>
              <a:t>.</a:t>
            </a:r>
          </a:p>
          <a:p>
            <a:r>
              <a:rPr lang="en-IN" b="0" u="none" strike="noStrike" dirty="0">
                <a:effectLst/>
                <a:highlight>
                  <a:srgbClr val="808080"/>
                </a:highlight>
                <a:latin typeface="Google Sans"/>
              </a:rPr>
              <a:t>float() </a:t>
            </a:r>
            <a:r>
              <a:rPr lang="en-IN" b="0" u="none" strike="noStrike" dirty="0">
                <a:effectLst/>
                <a:latin typeface="Google Sans"/>
              </a:rPr>
              <a:t>- Converts a compatible int, string, or </a:t>
            </a:r>
            <a:r>
              <a:rPr lang="en-IN" b="0" u="none" strike="noStrike" dirty="0" err="1">
                <a:effectLst/>
                <a:latin typeface="Google Sans"/>
              </a:rPr>
              <a:t>boolean</a:t>
            </a:r>
            <a:r>
              <a:rPr lang="en-IN" b="0" u="none" strike="noStrike" dirty="0">
                <a:effectLst/>
                <a:latin typeface="Google Sans"/>
              </a:rPr>
              <a:t> into a </a:t>
            </a:r>
            <a:r>
              <a:rPr lang="en-IN" b="1" u="none" strike="noStrike" dirty="0">
                <a:effectLst/>
                <a:latin typeface="Google Sans"/>
              </a:rPr>
              <a:t>floating-point number</a:t>
            </a:r>
            <a:r>
              <a:rPr lang="en-IN" b="0" u="none" strike="noStrike" dirty="0">
                <a:effectLst/>
                <a:latin typeface="Google Sans"/>
              </a:rPr>
              <a:t>.</a:t>
            </a:r>
          </a:p>
          <a:p>
            <a:r>
              <a:rPr lang="en-IN" b="0" u="none" strike="noStrike" dirty="0">
                <a:effectLst/>
                <a:highlight>
                  <a:srgbClr val="808080"/>
                </a:highlight>
                <a:latin typeface="Google Sans"/>
              </a:rPr>
              <a:t>str() </a:t>
            </a:r>
            <a:r>
              <a:rPr lang="en-IN" b="0" u="none" strike="noStrike" dirty="0">
                <a:effectLst/>
                <a:latin typeface="Google Sans"/>
              </a:rPr>
              <a:t>- Converts any data type (numbers, lists, tuples) into its </a:t>
            </a:r>
            <a:r>
              <a:rPr lang="en-IN" b="1" u="none" strike="noStrike" dirty="0">
                <a:effectLst/>
                <a:latin typeface="Google Sans"/>
              </a:rPr>
              <a:t>string</a:t>
            </a:r>
            <a:r>
              <a:rPr lang="en-IN" b="0" u="none" strike="noStrike" dirty="0">
                <a:effectLst/>
                <a:latin typeface="Google Sans"/>
              </a:rPr>
              <a:t> representation.</a:t>
            </a:r>
          </a:p>
          <a:p>
            <a:r>
              <a:rPr lang="en-IN" b="0" u="none" strike="noStrike" dirty="0">
                <a:effectLst/>
                <a:highlight>
                  <a:srgbClr val="808080"/>
                </a:highlight>
                <a:latin typeface="Google Sans"/>
              </a:rPr>
              <a:t>bool()</a:t>
            </a:r>
            <a:r>
              <a:rPr lang="en-IN" b="0" u="none" strike="noStrike" dirty="0">
                <a:effectLst/>
                <a:latin typeface="Google Sans"/>
              </a:rPr>
              <a:t> - Converts any value into a </a:t>
            </a:r>
            <a:r>
              <a:rPr lang="en-IN" b="1" u="none" strike="noStrike" dirty="0" err="1">
                <a:effectLst/>
                <a:latin typeface="Google Sans"/>
              </a:rPr>
              <a:t>boolean</a:t>
            </a:r>
            <a:r>
              <a:rPr lang="en-IN" b="0" u="none" strike="noStrike" dirty="0">
                <a:effectLst/>
                <a:latin typeface="Google Sans"/>
              </a:rPr>
              <a:t> (True or False).</a:t>
            </a:r>
          </a:p>
          <a:p>
            <a:r>
              <a:rPr lang="en-IN" b="0" u="none" strike="noStrike" dirty="0">
                <a:effectLst/>
                <a:highlight>
                  <a:srgbClr val="808080"/>
                </a:highlight>
                <a:latin typeface="Google Sans"/>
              </a:rPr>
              <a:t>list()</a:t>
            </a:r>
            <a:r>
              <a:rPr lang="en-IN" b="0" u="none" strike="noStrike" dirty="0">
                <a:effectLst/>
                <a:latin typeface="Google Sans"/>
              </a:rPr>
              <a:t> - Converts an </a:t>
            </a:r>
            <a:r>
              <a:rPr lang="en-IN" b="0" u="none" strike="noStrike" dirty="0" err="1">
                <a:effectLst/>
                <a:latin typeface="Google Sans"/>
              </a:rPr>
              <a:t>iterable</a:t>
            </a:r>
            <a:r>
              <a:rPr lang="en-IN" b="0" u="none" strike="noStrike" dirty="0">
                <a:effectLst/>
                <a:latin typeface="Google Sans"/>
              </a:rPr>
              <a:t> (like a tuple or string) into a </a:t>
            </a:r>
            <a:r>
              <a:rPr lang="en-IN" b="1" u="none" strike="noStrike" dirty="0">
                <a:effectLst/>
                <a:latin typeface="Google Sans"/>
              </a:rPr>
              <a:t>list</a:t>
            </a:r>
            <a:r>
              <a:rPr lang="en-IN" b="0" u="none" strike="noStrike" dirty="0">
                <a:effectLst/>
                <a:latin typeface="Google Sans"/>
              </a:rPr>
              <a:t>.</a:t>
            </a:r>
          </a:p>
          <a:p>
            <a:r>
              <a:rPr lang="en-IN" b="0" u="none" strike="noStrike" dirty="0">
                <a:effectLst/>
                <a:highlight>
                  <a:srgbClr val="808080"/>
                </a:highlight>
                <a:latin typeface="Google Sans"/>
              </a:rPr>
              <a:t>tuple() </a:t>
            </a:r>
            <a:r>
              <a:rPr lang="en-IN" b="0" u="none" strike="noStrike" dirty="0">
                <a:effectLst/>
                <a:latin typeface="Google Sans"/>
              </a:rPr>
              <a:t>- Converts an </a:t>
            </a:r>
            <a:r>
              <a:rPr lang="en-IN" b="0" u="none" strike="noStrike" dirty="0" err="1">
                <a:effectLst/>
                <a:latin typeface="Google Sans"/>
              </a:rPr>
              <a:t>iterable</a:t>
            </a:r>
            <a:r>
              <a:rPr lang="en-IN" b="0" u="none" strike="noStrike" dirty="0">
                <a:effectLst/>
                <a:latin typeface="Google Sans"/>
              </a:rPr>
              <a:t> (like a list or string) into a </a:t>
            </a:r>
            <a:r>
              <a:rPr lang="en-IN" b="1" u="none" strike="noStrike" dirty="0">
                <a:effectLst/>
                <a:latin typeface="Google Sans"/>
              </a:rPr>
              <a:t>tuple</a:t>
            </a:r>
            <a:r>
              <a:rPr lang="en-IN" b="0" u="none" strike="noStrike" dirty="0">
                <a:effectLst/>
                <a:latin typeface="Google Sans"/>
              </a:rPr>
              <a:t>.</a:t>
            </a:r>
          </a:p>
          <a:p>
            <a:r>
              <a:rPr lang="en-IN" b="0" u="none" strike="noStrike" dirty="0">
                <a:effectLst/>
                <a:highlight>
                  <a:srgbClr val="808080"/>
                </a:highlight>
                <a:latin typeface="Google Sans"/>
              </a:rPr>
              <a:t>set()</a:t>
            </a:r>
            <a:r>
              <a:rPr lang="en-IN" b="0" u="none" strike="noStrike" dirty="0">
                <a:effectLst/>
                <a:latin typeface="Google Sans"/>
              </a:rPr>
              <a:t> - Converts an </a:t>
            </a:r>
            <a:r>
              <a:rPr lang="en-IN" b="0" u="none" strike="noStrike" dirty="0" err="1">
                <a:effectLst/>
                <a:latin typeface="Google Sans"/>
              </a:rPr>
              <a:t>iterable</a:t>
            </a:r>
            <a:r>
              <a:rPr lang="en-IN" b="0" u="none" strike="noStrike" dirty="0">
                <a:effectLst/>
                <a:latin typeface="Google Sans"/>
              </a:rPr>
              <a:t> into a </a:t>
            </a:r>
            <a:r>
              <a:rPr lang="en-IN" b="1" u="none" strike="noStrike" dirty="0">
                <a:effectLst/>
                <a:latin typeface="Google Sans"/>
              </a:rPr>
              <a:t>set</a:t>
            </a:r>
            <a:r>
              <a:rPr lang="en-IN" b="0" u="none" strike="noStrike" dirty="0">
                <a:effectLst/>
                <a:latin typeface="Google Sans"/>
              </a:rPr>
              <a:t>, removing duplicates.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623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AC9D-55E8-7A9F-C2B5-923FECD17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31F9F-774B-674C-EB75-C33351139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b="1" u="none" strike="noStrike" dirty="0">
                <a:effectLst/>
                <a:latin typeface="Google Sans"/>
              </a:rPr>
              <a:t>Potential Errors</a:t>
            </a:r>
          </a:p>
          <a:p>
            <a:r>
              <a:rPr lang="en-IN" b="1" u="none" strike="noStrike" dirty="0" err="1">
                <a:effectLst/>
                <a:latin typeface="Google Sans"/>
              </a:rPr>
              <a:t>ValueError</a:t>
            </a:r>
            <a:r>
              <a:rPr lang="en-IN" b="0" u="none" strike="noStrike" dirty="0">
                <a:effectLst/>
                <a:latin typeface="Google Sans"/>
              </a:rPr>
              <a:t>: Occurs when trying to cast incompatible data types.</a:t>
            </a:r>
          </a:p>
          <a:p>
            <a:r>
              <a:rPr lang="en-IN" b="0" i="1" u="none" strike="noStrike" dirty="0">
                <a:effectLst/>
                <a:latin typeface="Google Sans"/>
              </a:rPr>
              <a:t>Example</a:t>
            </a:r>
            <a:r>
              <a:rPr lang="en-IN" b="0" u="none" strike="noStrike" dirty="0">
                <a:effectLst/>
                <a:latin typeface="Google Sans"/>
              </a:rPr>
              <a:t>: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int("hello")</a:t>
            </a:r>
            <a:r>
              <a:rPr lang="en-IN" b="0" u="none" strike="noStrike" dirty="0">
                <a:effectLst/>
                <a:latin typeface="Google Sans"/>
              </a:rPr>
              <a:t> will throw a </a:t>
            </a:r>
            <a:r>
              <a:rPr lang="en-IN" b="0" u="none" strike="noStrike" dirty="0" err="1">
                <a:effectLst/>
                <a:latin typeface="Courier New" panose="02070309020205020404" pitchFamily="49" charset="0"/>
              </a:rPr>
              <a:t>ValueError</a:t>
            </a:r>
            <a:r>
              <a:rPr lang="en-IN" b="0" u="none" strike="noStrike" dirty="0">
                <a:effectLst/>
                <a:latin typeface="Google Sans"/>
              </a:rPr>
              <a:t> because the text cannot be parsed as a number.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E5FA49-BD46-C20F-ED0B-710E371E8853}"/>
              </a:ext>
            </a:extLst>
          </p:cNvPr>
          <p:cNvSpPr txBox="1"/>
          <p:nvPr/>
        </p:nvSpPr>
        <p:spPr>
          <a:xfrm>
            <a:off x="838200" y="45085"/>
            <a:ext cx="85496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# Convert to integer</a:t>
            </a:r>
          </a:p>
          <a:p>
            <a:r>
              <a:rPr lang="en-US" sz="2000" dirty="0" err="1"/>
              <a:t>num_str</a:t>
            </a:r>
            <a:r>
              <a:rPr lang="en-US" sz="2000" dirty="0"/>
              <a:t> = "123"</a:t>
            </a:r>
          </a:p>
          <a:p>
            <a:r>
              <a:rPr lang="en-US" sz="2000" dirty="0" err="1"/>
              <a:t>num_int</a:t>
            </a:r>
            <a:r>
              <a:rPr lang="en-US" sz="2000" dirty="0"/>
              <a:t> = int(</a:t>
            </a:r>
            <a:r>
              <a:rPr lang="en-US" sz="2000" dirty="0" err="1"/>
              <a:t>num_str</a:t>
            </a:r>
            <a:r>
              <a:rPr lang="en-US" sz="2000" dirty="0"/>
              <a:t>)  # Result: 123</a:t>
            </a:r>
          </a:p>
          <a:p>
            <a:endParaRPr lang="en-US" sz="2000" dirty="0"/>
          </a:p>
          <a:p>
            <a:r>
              <a:rPr lang="en-US" sz="2000" dirty="0"/>
              <a:t># Convert to float</a:t>
            </a:r>
          </a:p>
          <a:p>
            <a:r>
              <a:rPr lang="en-US" sz="2000" dirty="0" err="1"/>
              <a:t>num_float</a:t>
            </a:r>
            <a:r>
              <a:rPr lang="en-US" sz="2000" dirty="0"/>
              <a:t> = float(5)  # Result: 5.0</a:t>
            </a:r>
          </a:p>
          <a:p>
            <a:endParaRPr lang="en-US" sz="2000" dirty="0"/>
          </a:p>
          <a:p>
            <a:r>
              <a:rPr lang="en-US" sz="2000" dirty="0"/>
              <a:t># Convert to string</a:t>
            </a:r>
          </a:p>
          <a:p>
            <a:r>
              <a:rPr lang="en-US" sz="2000" dirty="0"/>
              <a:t>age = 25</a:t>
            </a:r>
          </a:p>
          <a:p>
            <a:r>
              <a:rPr lang="en-US" sz="2000" dirty="0" err="1"/>
              <a:t>age_str</a:t>
            </a:r>
            <a:r>
              <a:rPr lang="en-US" sz="2000" dirty="0"/>
              <a:t> = str(age)  # Result: "25"</a:t>
            </a:r>
          </a:p>
          <a:p>
            <a:endParaRPr lang="en-US" sz="2000" dirty="0"/>
          </a:p>
          <a:p>
            <a:r>
              <a:rPr lang="en-US" sz="2000" dirty="0"/>
              <a:t># Convert to </a:t>
            </a:r>
            <a:r>
              <a:rPr lang="en-US" sz="2000" dirty="0" err="1"/>
              <a:t>boolean</a:t>
            </a:r>
            <a:r>
              <a:rPr lang="en-US" sz="2000" dirty="0"/>
              <a:t> (Empty values return False)</a:t>
            </a:r>
          </a:p>
          <a:p>
            <a:r>
              <a:rPr lang="en-US" sz="2000" dirty="0" err="1"/>
              <a:t>is_active</a:t>
            </a:r>
            <a:r>
              <a:rPr lang="en-US" sz="2000" dirty="0"/>
              <a:t> = bool(1)  # Result: True</a:t>
            </a:r>
          </a:p>
          <a:p>
            <a:r>
              <a:rPr lang="en-US" sz="2000" dirty="0" err="1"/>
              <a:t>is_empty</a:t>
            </a:r>
            <a:r>
              <a:rPr lang="en-US" sz="2000" dirty="0"/>
              <a:t> = bool("")  # Result: False</a:t>
            </a:r>
          </a:p>
        </p:txBody>
      </p:sp>
    </p:spTree>
    <p:extLst>
      <p:ext uri="{BB962C8B-B14F-4D97-AF65-F5344CB8AC3E}">
        <p14:creationId xmlns:p14="http://schemas.microsoft.com/office/powerpoint/2010/main" val="412853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2DF68-F6FE-967D-D0CA-65ED268D9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Mutable vs Immutable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1CBC2-1554-E699-D660-D2DB093EF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In Python, </a:t>
            </a:r>
            <a:r>
              <a:rPr lang="en-IN" b="1" u="none" strike="noStrike" dirty="0">
                <a:effectLst/>
                <a:latin typeface="Google Sans"/>
              </a:rPr>
              <a:t>mutable objects can be changed</a:t>
            </a:r>
            <a:r>
              <a:rPr lang="en-IN" b="0" u="none" strike="noStrike" dirty="0">
                <a:effectLst/>
                <a:latin typeface="Google Sans"/>
              </a:rPr>
              <a:t> after they are created, while </a:t>
            </a:r>
            <a:r>
              <a:rPr lang="en-IN" b="1" u="none" strike="noStrike" dirty="0">
                <a:effectLst/>
                <a:latin typeface="Google Sans"/>
              </a:rPr>
              <a:t>immutable objects cannot be altered</a:t>
            </a:r>
            <a:r>
              <a:rPr lang="en-IN" b="0" u="none" strike="noStrike" dirty="0">
                <a:effectLst/>
                <a:latin typeface="Google Sans"/>
              </a:rPr>
              <a:t> once they are defined.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52AEA6-589D-9731-FE6F-978030B5F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849219"/>
              </p:ext>
            </p:extLst>
          </p:nvPr>
        </p:nvGraphicFramePr>
        <p:xfrm>
          <a:off x="218440" y="2624665"/>
          <a:ext cx="11623041" cy="3868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1480">
                  <a:extLst>
                    <a:ext uri="{9D8B030D-6E8A-4147-A177-3AD203B41FA5}">
                      <a16:colId xmlns:a16="http://schemas.microsoft.com/office/drawing/2014/main" val="798315821"/>
                    </a:ext>
                  </a:extLst>
                </a:gridCol>
                <a:gridCol w="1996440">
                  <a:extLst>
                    <a:ext uri="{9D8B030D-6E8A-4147-A177-3AD203B41FA5}">
                      <a16:colId xmlns:a16="http://schemas.microsoft.com/office/drawing/2014/main" val="2717918169"/>
                    </a:ext>
                  </a:extLst>
                </a:gridCol>
                <a:gridCol w="6675121">
                  <a:extLst>
                    <a:ext uri="{9D8B030D-6E8A-4147-A177-3AD203B41FA5}">
                      <a16:colId xmlns:a16="http://schemas.microsoft.com/office/drawing/2014/main" val="339678896"/>
                    </a:ext>
                  </a:extLst>
                </a:gridCol>
              </a:tblGrid>
              <a:tr h="429801">
                <a:tc>
                  <a:txBody>
                    <a:bodyPr/>
                    <a:lstStyle/>
                    <a:p>
                      <a:r>
                        <a:rPr lang="en-IN" dirty="0"/>
                        <a:t>Data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Mutability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Examples / Description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812484"/>
                  </a:ext>
                </a:extLst>
              </a:tr>
              <a:tr h="429801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(list)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[1, 2, 3] — Can add, remove, or change items.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671786"/>
                  </a:ext>
                </a:extLst>
              </a:tr>
              <a:tr h="429801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Dictionary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IN" sz="18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dict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{'a': 1} — Can change keys and values.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731154"/>
                  </a:ext>
                </a:extLst>
              </a:tr>
              <a:tr h="429801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(set)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{1, 2, 3} — Can add or remove unique elements.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397936"/>
                  </a:ext>
                </a:extLst>
              </a:tr>
              <a:tr h="429801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(str)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Immutable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"hello" — Modify operations create a brand new string.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257378"/>
                  </a:ext>
                </a:extLst>
              </a:tr>
              <a:tr h="429801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Tuple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(tuple)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Immutable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(1, 2) — Fixed sequence; elements cannot change.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494078"/>
                  </a:ext>
                </a:extLst>
              </a:tr>
              <a:tr h="429801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Numbers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(int, float)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Immutable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 3.14 — Changing a value reassigns the variable.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60378"/>
                  </a:ext>
                </a:extLst>
              </a:tr>
              <a:tr h="429801">
                <a:tc>
                  <a:txBody>
                    <a:bodyPr/>
                    <a:lstStyle/>
                    <a:p>
                      <a:r>
                        <a:rPr lang="en-IN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(bool)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Immutable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True, False — Fixed logical values.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630593"/>
                  </a:ext>
                </a:extLst>
              </a:tr>
              <a:tr h="42980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291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386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18EE4-BE3C-FF78-654D-C2F197E86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Mutable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4AC89-55F6-89D3-A885-A6DD1294D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Mutable objects allow you to modify their in-place content without changing their memory address (id()). </a:t>
            </a:r>
          </a:p>
          <a:p>
            <a:r>
              <a:rPr lang="en-IN" b="1" u="none" strike="noStrike" dirty="0">
                <a:effectLst/>
                <a:latin typeface="Google Sans"/>
              </a:rPr>
              <a:t>In-place changes</a:t>
            </a:r>
            <a:r>
              <a:rPr lang="en-IN" b="0" u="none" strike="noStrike" dirty="0">
                <a:effectLst/>
                <a:latin typeface="Google Sans"/>
              </a:rPr>
              <a:t>: Modifying a list affects the original object.</a:t>
            </a:r>
          </a:p>
          <a:p>
            <a:r>
              <a:rPr lang="en-IN" b="1" u="none" strike="noStrike" dirty="0">
                <a:effectLst/>
                <a:latin typeface="Google Sans"/>
              </a:rPr>
              <a:t>Shared references</a:t>
            </a:r>
            <a:r>
              <a:rPr lang="en-IN" b="0" u="none" strike="noStrike" dirty="0">
                <a:effectLst/>
                <a:latin typeface="Google Sans"/>
              </a:rPr>
              <a:t>: If two variables point to the same mutable object, changing one changes both.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26207-66F5-956C-D8E8-8C77BE6D9BDB}"/>
              </a:ext>
            </a:extLst>
          </p:cNvPr>
          <p:cNvSpPr txBox="1"/>
          <p:nvPr/>
        </p:nvSpPr>
        <p:spPr>
          <a:xfrm>
            <a:off x="2819400" y="4361081"/>
            <a:ext cx="8534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# Example with a mutable list</a:t>
            </a:r>
          </a:p>
          <a:p>
            <a:r>
              <a:rPr lang="en-US" sz="2800" dirty="0" err="1"/>
              <a:t>my_list</a:t>
            </a:r>
            <a:r>
              <a:rPr lang="en-US" sz="2800" dirty="0"/>
              <a:t> = [1, 2, 3]</a:t>
            </a:r>
          </a:p>
          <a:p>
            <a:r>
              <a:rPr lang="en-US" sz="2800" dirty="0" err="1"/>
              <a:t>my_list.append</a:t>
            </a:r>
            <a:r>
              <a:rPr lang="en-US" sz="2800" dirty="0"/>
              <a:t>(4)  # Modifies the original list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my_list</a:t>
            </a:r>
            <a:r>
              <a:rPr lang="en-US" sz="2800" dirty="0"/>
              <a:t>)     # Output: [1, 2, 3, 4]</a:t>
            </a:r>
          </a:p>
        </p:txBody>
      </p:sp>
    </p:spTree>
    <p:extLst>
      <p:ext uri="{BB962C8B-B14F-4D97-AF65-F5344CB8AC3E}">
        <p14:creationId xmlns:p14="http://schemas.microsoft.com/office/powerpoint/2010/main" val="2770372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04B12-BEEF-7BD9-3CE0-C39BDC9A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Immutable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7CBF2-2FB5-504A-DBBD-A6A6C0121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Immutable objects do not allow modifications. Any operation that alters the value will create a completely new object in memory. [</a:t>
            </a:r>
            <a:r>
              <a:rPr lang="en-IN" b="0" u="none" strike="noStrike" dirty="0">
                <a:effectLst/>
                <a:latin typeface="Google Sans"/>
                <a:hlinkClick r:id="rId2"/>
              </a:rPr>
              <a:t>1</a:t>
            </a:r>
            <a:r>
              <a:rPr lang="en-IN" b="0" u="none" strike="noStrike" dirty="0">
                <a:effectLst/>
                <a:latin typeface="Google Sans"/>
              </a:rPr>
              <a:t>, </a:t>
            </a:r>
            <a:r>
              <a:rPr lang="en-IN" b="0" u="none" strike="noStrike" dirty="0">
                <a:effectLst/>
                <a:latin typeface="Google Sans"/>
                <a:hlinkClick r:id="rId3"/>
              </a:rPr>
              <a:t>2</a:t>
            </a:r>
            <a:r>
              <a:rPr lang="en-IN" b="0" u="none" strike="noStrike" dirty="0">
                <a:effectLst/>
                <a:latin typeface="Google Sans"/>
              </a:rPr>
              <a:t>]</a:t>
            </a:r>
          </a:p>
          <a:p>
            <a:r>
              <a:rPr lang="en-IN" b="1" u="none" strike="noStrike" dirty="0">
                <a:effectLst/>
                <a:latin typeface="Google Sans"/>
              </a:rPr>
              <a:t>New allocations</a:t>
            </a:r>
            <a:r>
              <a:rPr lang="en-IN" b="0" u="none" strike="noStrike" dirty="0">
                <a:effectLst/>
                <a:latin typeface="Google Sans"/>
              </a:rPr>
              <a:t>: Changing a string creates a new string at a new memory address.</a:t>
            </a:r>
          </a:p>
          <a:p>
            <a:r>
              <a:rPr lang="en-IN" b="1" u="none" strike="noStrike" dirty="0">
                <a:effectLst/>
                <a:latin typeface="Google Sans"/>
              </a:rPr>
              <a:t>Dictionary keys</a:t>
            </a:r>
            <a:r>
              <a:rPr lang="en-IN" b="0" u="none" strike="noStrike" dirty="0">
                <a:effectLst/>
                <a:latin typeface="Google Sans"/>
              </a:rPr>
              <a:t>: Only immutable types can be used as dictionary keys or set elements.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D83E1-4E2C-7F19-793B-28AF08E227EC}"/>
              </a:ext>
            </a:extLst>
          </p:cNvPr>
          <p:cNvSpPr txBox="1"/>
          <p:nvPr/>
        </p:nvSpPr>
        <p:spPr>
          <a:xfrm>
            <a:off x="3596640" y="4180344"/>
            <a:ext cx="838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# Example with an immutable string</a:t>
            </a:r>
          </a:p>
          <a:p>
            <a:r>
              <a:rPr lang="en-US" sz="2400" dirty="0" err="1"/>
              <a:t>my_string</a:t>
            </a:r>
            <a:r>
              <a:rPr lang="en-US" sz="2400" dirty="0"/>
              <a:t> = "hello"</a:t>
            </a:r>
          </a:p>
          <a:p>
            <a:r>
              <a:rPr lang="en-US" sz="2400" dirty="0"/>
              <a:t># </a:t>
            </a:r>
            <a:r>
              <a:rPr lang="en-US" sz="2400" dirty="0" err="1"/>
              <a:t>my_string</a:t>
            </a:r>
            <a:r>
              <a:rPr lang="en-US" sz="2400" dirty="0"/>
              <a:t>[0] = "H" &lt;-- This triggers a </a:t>
            </a:r>
            <a:r>
              <a:rPr lang="en-US" sz="2400" dirty="0" err="1"/>
              <a:t>TypeError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# Reassignment creates a NEW object</a:t>
            </a:r>
          </a:p>
          <a:p>
            <a:r>
              <a:rPr lang="en-US" sz="2400" dirty="0" err="1"/>
              <a:t>my_string</a:t>
            </a:r>
            <a:r>
              <a:rPr lang="en-US" sz="2400" dirty="0"/>
              <a:t> = </a:t>
            </a:r>
            <a:r>
              <a:rPr lang="en-US" sz="2400" dirty="0" err="1"/>
              <a:t>my_string.upper</a:t>
            </a:r>
            <a:r>
              <a:rPr lang="en-US" sz="2400" dirty="0"/>
              <a:t>() 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my_string</a:t>
            </a:r>
            <a:r>
              <a:rPr lang="en-US" sz="2400" dirty="0"/>
              <a:t>)   # Output: HELLO</a:t>
            </a:r>
          </a:p>
        </p:txBody>
      </p:sp>
    </p:spTree>
    <p:extLst>
      <p:ext uri="{BB962C8B-B14F-4D97-AF65-F5344CB8AC3E}">
        <p14:creationId xmlns:p14="http://schemas.microsoft.com/office/powerpoint/2010/main" val="3389855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014AA-73FD-BE55-B59A-4F0EC85B4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7CED5-B99F-2F0F-60DA-29A479066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Key Exceptions to Note</a:t>
            </a:r>
          </a:p>
          <a:p>
            <a:r>
              <a:rPr lang="en-IN" b="1" u="none" strike="noStrike" dirty="0">
                <a:effectLst/>
                <a:latin typeface="Google Sans"/>
              </a:rPr>
              <a:t>Tuples with mutable elements</a:t>
            </a:r>
            <a:r>
              <a:rPr lang="en-IN" b="0" u="none" strike="noStrike" dirty="0">
                <a:effectLst/>
                <a:latin typeface="Google Sans"/>
              </a:rPr>
              <a:t>: A tuple is immutable, but if it contains a mutable object (like a list), that underlying list </a:t>
            </a:r>
            <a:r>
              <a:rPr lang="en-IN" b="0" i="1" u="none" strike="noStrike" dirty="0">
                <a:effectLst/>
                <a:latin typeface="Google Sans"/>
              </a:rPr>
              <a:t>can</a:t>
            </a:r>
            <a:r>
              <a:rPr lang="en-IN" b="0" u="none" strike="noStrike" dirty="0">
                <a:effectLst/>
                <a:latin typeface="Google Sans"/>
              </a:rPr>
              <a:t> still be modified.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783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41FA4-A470-D640-5C4E-31EC47B07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8F060-1C2E-A4E2-21FB-7E43868DA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0" u="none" strike="noStrike" dirty="0">
                <a:effectLst/>
                <a:latin typeface="Google Sans"/>
              </a:rPr>
              <a:t>Python provides </a:t>
            </a:r>
            <a:r>
              <a:rPr lang="en-IN" b="1" u="none" strike="noStrike" dirty="0">
                <a:effectLst/>
                <a:latin typeface="Google Sans"/>
              </a:rPr>
              <a:t>seven basic arithmetic operators</a:t>
            </a:r>
            <a:r>
              <a:rPr lang="en-IN" b="0" u="none" strike="noStrike" dirty="0">
                <a:effectLst/>
                <a:latin typeface="Google Sans"/>
              </a:rPr>
              <a:t> to perform standard mathematical calculations. </a:t>
            </a:r>
            <a:endParaRPr lang="en-IN" dirty="0">
              <a:latin typeface="Google Sans"/>
            </a:endParaRPr>
          </a:p>
          <a:p>
            <a:endParaRPr lang="en-IN" b="0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Key </a:t>
            </a:r>
            <a:r>
              <a:rPr lang="en-IN" b="1" u="none" strike="noStrike" dirty="0" err="1">
                <a:effectLst/>
                <a:latin typeface="Google Sans"/>
              </a:rPr>
              <a:t>Behaviors</a:t>
            </a:r>
            <a:r>
              <a:rPr lang="en-IN" b="1" u="none" strike="noStrike" dirty="0">
                <a:effectLst/>
                <a:latin typeface="Google Sans"/>
              </a:rPr>
              <a:t> to Remember</a:t>
            </a:r>
          </a:p>
          <a:p>
            <a:r>
              <a:rPr lang="en-IN" b="1" u="none" strike="noStrike" dirty="0">
                <a:effectLst/>
                <a:latin typeface="Google Sans"/>
              </a:rPr>
              <a:t>True Division (/)</a:t>
            </a:r>
            <a:r>
              <a:rPr lang="en-IN" b="0" u="none" strike="noStrike" dirty="0">
                <a:effectLst/>
                <a:latin typeface="Google Sans"/>
              </a:rPr>
              <a:t>: Always outputs a decimal (float), even if the numbers divide evenly (e.g., 4 / 2 results in 2.0). </a:t>
            </a:r>
          </a:p>
          <a:p>
            <a:r>
              <a:rPr lang="en-IN" b="1" u="none" strike="noStrike" dirty="0">
                <a:effectLst/>
                <a:latin typeface="Google Sans"/>
              </a:rPr>
              <a:t>Floor Division (//)</a:t>
            </a:r>
            <a:r>
              <a:rPr lang="en-IN" b="0" u="none" strike="noStrike" dirty="0">
                <a:effectLst/>
                <a:latin typeface="Google Sans"/>
              </a:rPr>
              <a:t>: Crops off the decimal portion without rounding up. If any input is a float, the result will be a float ending in .0 (e.g., 15.0 // 4 results in 3.0). </a:t>
            </a:r>
          </a:p>
          <a:p>
            <a:r>
              <a:rPr lang="en-IN" b="1" u="none" strike="noStrike" dirty="0">
                <a:effectLst/>
                <a:latin typeface="Google Sans"/>
              </a:rPr>
              <a:t>Operator Precedence</a:t>
            </a:r>
            <a:r>
              <a:rPr lang="en-IN" b="0" u="none" strike="noStrike" dirty="0">
                <a:effectLst/>
                <a:latin typeface="Google Sans"/>
              </a:rPr>
              <a:t>: Python follows standard mathematical order (PEMDAS). Exponentiation ** happens first, followed by multiplication *, division /, floor division //, and modulus %, and finally addition + and subtraction -. You can use parentheses () to change this order. 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445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CD602-7C88-4027-9B94-BA9CE030F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465B99-AB9A-E999-D364-F03F502BAC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6588461"/>
              </p:ext>
            </p:extLst>
          </p:nvPr>
        </p:nvGraphicFramePr>
        <p:xfrm>
          <a:off x="838200" y="1825625"/>
          <a:ext cx="10774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557">
                  <a:extLst>
                    <a:ext uri="{9D8B030D-6E8A-4147-A177-3AD203B41FA5}">
                      <a16:colId xmlns:a16="http://schemas.microsoft.com/office/drawing/2014/main" val="5580924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550267"/>
                    </a:ext>
                  </a:extLst>
                </a:gridCol>
                <a:gridCol w="4956683">
                  <a:extLst>
                    <a:ext uri="{9D8B030D-6E8A-4147-A177-3AD203B41FA5}">
                      <a16:colId xmlns:a16="http://schemas.microsoft.com/office/drawing/2014/main" val="2022506414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76999588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548053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b="1" dirty="0"/>
                        <a:t>Operator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Name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Description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Example (x = 15, y = 4)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Result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694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Addition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Adds two values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+ y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316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Substraction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Substracts</a:t>
                      </a:r>
                      <a:r>
                        <a:rPr lang="en-US" sz="2000" b="1" dirty="0"/>
                        <a:t> right value from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X –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6558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Multiplies two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x *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266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/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Divition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Divides left value by right (always returns a </a:t>
                      </a:r>
                      <a:r>
                        <a:rPr lang="en-US" sz="2000" b="1" dirty="0" err="1"/>
                        <a:t>flowt</a:t>
                      </a:r>
                      <a:r>
                        <a:rPr lang="en-US" sz="2000" b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X /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3.75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0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Modulus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division remainder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X %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953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**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Exponentiation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Raises left value to the power of right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** y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50625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096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Floor Division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Divides and rounds down to the nearest whole number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X //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178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614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D00C0-88BE-F4C1-12DA-7B85EA6D1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Relational operators in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E9E9A-AAA9-9FD9-0732-6B36C9C31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Relational operators in Python compare two values and return a </a:t>
            </a:r>
            <a:r>
              <a:rPr lang="en-IN" b="1" u="none" strike="noStrike" dirty="0" err="1">
                <a:effectLst/>
                <a:latin typeface="Google Sans"/>
              </a:rPr>
              <a:t>boolean</a:t>
            </a:r>
            <a:r>
              <a:rPr lang="en-IN" b="1" u="none" strike="noStrike" dirty="0">
                <a:effectLst/>
                <a:latin typeface="Google Sans"/>
              </a:rPr>
              <a:t> value, either True or False.</a:t>
            </a:r>
            <a:r>
              <a:rPr lang="en-IN" b="0" u="none" strike="noStrike" dirty="0">
                <a:effectLst/>
                <a:latin typeface="Google Sans"/>
              </a:rPr>
              <a:t> They are also known as comparison operators.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744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B90EA-DB9A-E327-593B-50B5CEC9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2D555A-F3F3-5411-7416-24A026879A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4828021"/>
              </p:ext>
            </p:extLst>
          </p:nvPr>
        </p:nvGraphicFramePr>
        <p:xfrm>
          <a:off x="838200" y="1825625"/>
          <a:ext cx="10515600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1667565062"/>
                    </a:ext>
                  </a:extLst>
                </a:gridCol>
                <a:gridCol w="4145280">
                  <a:extLst>
                    <a:ext uri="{9D8B030D-6E8A-4147-A177-3AD203B41FA5}">
                      <a16:colId xmlns:a16="http://schemas.microsoft.com/office/drawing/2014/main" val="883235443"/>
                    </a:ext>
                  </a:extLst>
                </a:gridCol>
                <a:gridCol w="1973580">
                  <a:extLst>
                    <a:ext uri="{9D8B030D-6E8A-4147-A177-3AD203B41FA5}">
                      <a16:colId xmlns:a16="http://schemas.microsoft.com/office/drawing/2014/main" val="6652101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81262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800" dirty="0"/>
                        <a:t>Operator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Meaning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Example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Result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039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==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Equal to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5 == 5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True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362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!=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Not equal to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5 != 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True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896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&gt;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Greater than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5 &gt; 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True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756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&lt;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Less than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3 &lt; 5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True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992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&gt;=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Greater than or equal to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5 &gt;= 5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True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15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&lt;=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Less than or equal to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3 &lt;= 5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0" u="none" strike="noStrike" dirty="0">
                          <a:effectLst/>
                          <a:latin typeface="Google Sans"/>
                        </a:rPr>
                        <a:t>True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546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7331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D6B16-85FE-E8E3-A458-2CA3D5D39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2920"/>
            <a:ext cx="10515600" cy="567404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u="none" strike="noStrike" dirty="0">
                <a:effectLst/>
                <a:latin typeface="Google Sans"/>
              </a:rPr>
              <a:t>Detailed Breakdown</a:t>
            </a:r>
          </a:p>
          <a:p>
            <a:pPr marL="0" indent="0">
              <a:buNone/>
            </a:pPr>
            <a:r>
              <a:rPr lang="en-IN" b="1" u="none" strike="noStrike" dirty="0">
                <a:effectLst/>
                <a:latin typeface="Google Sans"/>
              </a:rPr>
              <a:t>1. Equal to (==)</a:t>
            </a:r>
          </a:p>
          <a:p>
            <a:pPr marL="0" indent="0">
              <a:buNone/>
            </a:pPr>
            <a:r>
              <a:rPr lang="en-IN" b="0" u="none" strike="noStrike" dirty="0">
                <a:effectLst/>
                <a:latin typeface="Google Sans"/>
              </a:rPr>
              <a:t>True if both operands are equal.</a:t>
            </a:r>
          </a:p>
          <a:p>
            <a:pPr marL="0" indent="0">
              <a:buNone/>
            </a:pPr>
            <a:r>
              <a:rPr lang="en-IN" b="0" u="none" strike="noStrike" dirty="0">
                <a:effectLst/>
                <a:latin typeface="Google Sans"/>
              </a:rPr>
              <a:t>Example: x == y </a:t>
            </a:r>
          </a:p>
          <a:p>
            <a:pPr marL="0" indent="0">
              <a:buNone/>
            </a:pPr>
            <a:r>
              <a:rPr lang="en-IN" b="1" u="none" strike="noStrike" dirty="0">
                <a:effectLst/>
                <a:latin typeface="Google Sans"/>
              </a:rPr>
              <a:t>2. Not equal to (!=) </a:t>
            </a:r>
          </a:p>
          <a:p>
            <a:pPr marL="0" indent="0">
              <a:buNone/>
            </a:pPr>
            <a:r>
              <a:rPr lang="en-IN" b="0" u="none" strike="noStrike" dirty="0">
                <a:effectLst/>
                <a:latin typeface="Google Sans"/>
              </a:rPr>
              <a:t>True if operands are not equal.</a:t>
            </a:r>
          </a:p>
          <a:p>
            <a:pPr marL="0" indent="0">
              <a:buNone/>
            </a:pPr>
            <a:r>
              <a:rPr lang="en-IN" b="0" u="none" strike="noStrike" dirty="0">
                <a:effectLst/>
                <a:latin typeface="Google Sans"/>
              </a:rPr>
              <a:t>Example: x != y </a:t>
            </a:r>
          </a:p>
          <a:p>
            <a:pPr marL="0" indent="0">
              <a:buNone/>
            </a:pPr>
            <a:r>
              <a:rPr lang="en-IN" b="1" u="none" strike="noStrike" dirty="0">
                <a:effectLst/>
                <a:latin typeface="Google Sans"/>
              </a:rPr>
              <a:t>3. Greater than (&gt;)</a:t>
            </a:r>
          </a:p>
          <a:p>
            <a:pPr marL="0" indent="0">
              <a:buNone/>
            </a:pPr>
            <a:r>
              <a:rPr lang="en-IN" b="0" u="none" strike="noStrike" dirty="0">
                <a:effectLst/>
                <a:latin typeface="Google Sans"/>
              </a:rPr>
              <a:t>True if the left operand is greater than the right operand.</a:t>
            </a:r>
          </a:p>
          <a:p>
            <a:pPr marL="0" indent="0">
              <a:buNone/>
            </a:pPr>
            <a:r>
              <a:rPr lang="en-IN" b="0" u="none" strike="noStrike" dirty="0">
                <a:effectLst/>
                <a:latin typeface="Google Sans"/>
              </a:rPr>
              <a:t>Example: x &gt; y</a:t>
            </a:r>
          </a:p>
          <a:p>
            <a:pPr marL="0" indent="0">
              <a:buNone/>
            </a:pPr>
            <a:r>
              <a:rPr lang="en-IN" b="1" u="none" strike="noStrike" dirty="0">
                <a:effectLst/>
                <a:latin typeface="Google Sans"/>
              </a:rPr>
              <a:t>4. Less than (&lt;)</a:t>
            </a:r>
          </a:p>
          <a:p>
            <a:pPr marL="0" indent="0">
              <a:buNone/>
            </a:pPr>
            <a:r>
              <a:rPr lang="en-IN" b="0" u="none" strike="noStrike" dirty="0">
                <a:effectLst/>
                <a:latin typeface="Google Sans"/>
              </a:rPr>
              <a:t>True if the left operand is less than the right operand.</a:t>
            </a:r>
          </a:p>
          <a:p>
            <a:pPr marL="0" indent="0">
              <a:buNone/>
            </a:pPr>
            <a:r>
              <a:rPr lang="en-IN" b="0" u="none" strike="noStrike" dirty="0">
                <a:effectLst/>
                <a:latin typeface="Google Sans"/>
              </a:rPr>
              <a:t>Example: x &lt; y </a:t>
            </a:r>
          </a:p>
          <a:p>
            <a:pPr marL="0" indent="0">
              <a:buNone/>
            </a:pPr>
            <a:r>
              <a:rPr lang="en-IN" b="1" u="none" strike="noStrike" dirty="0">
                <a:effectLst/>
                <a:latin typeface="Google Sans"/>
              </a:rPr>
              <a:t>5. Greater than or equal to (&gt;=) </a:t>
            </a:r>
          </a:p>
          <a:p>
            <a:pPr marL="0" indent="0">
              <a:buNone/>
            </a:pPr>
            <a:r>
              <a:rPr lang="en-IN" b="0" u="none" strike="noStrike" dirty="0">
                <a:effectLst/>
                <a:latin typeface="Google Sans"/>
              </a:rPr>
              <a:t>True if the left operand is greater than or equal to the right operand.</a:t>
            </a:r>
          </a:p>
          <a:p>
            <a:pPr marL="0" indent="0">
              <a:buNone/>
            </a:pPr>
            <a:r>
              <a:rPr lang="en-IN" b="0" u="none" strike="noStrike" dirty="0">
                <a:effectLst/>
                <a:latin typeface="Google Sans"/>
              </a:rPr>
              <a:t>Example: x &gt;= y </a:t>
            </a:r>
          </a:p>
          <a:p>
            <a:pPr marL="0" indent="0">
              <a:buNone/>
            </a:pPr>
            <a:r>
              <a:rPr lang="en-IN" b="1" u="none" strike="noStrike" dirty="0">
                <a:effectLst/>
                <a:latin typeface="Google Sans"/>
              </a:rPr>
              <a:t>6. Less than or equal to (&lt;=) </a:t>
            </a:r>
          </a:p>
          <a:p>
            <a:pPr marL="0" indent="0">
              <a:buNone/>
            </a:pPr>
            <a:r>
              <a:rPr lang="en-IN" b="0" u="none" strike="noStrike" dirty="0">
                <a:effectLst/>
                <a:latin typeface="Google Sans"/>
              </a:rPr>
              <a:t>True if the left operand is less than or equal to the right operand.</a:t>
            </a:r>
          </a:p>
          <a:p>
            <a:pPr marL="0" indent="0">
              <a:buNone/>
            </a:pPr>
            <a:r>
              <a:rPr lang="en-IN" b="0" u="none" strike="noStrike" dirty="0">
                <a:effectLst/>
                <a:latin typeface="Google Sans"/>
              </a:rPr>
              <a:t>Example: x &lt;= y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72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C8FB2-6063-DF03-FDFD-6BBD933D8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Key Behaviours to Remember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F5A00-06DB-B670-C8FF-F5CE53D9E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String Comparison</a:t>
            </a:r>
            <a:r>
              <a:rPr lang="en-IN" b="0" u="none" strike="noStrike" dirty="0">
                <a:effectLst/>
                <a:latin typeface="Google Sans"/>
              </a:rPr>
              <a:t>: Python compares strings lexicographically based on ASCII/Unicode values. For example, "apple" &lt; "banana" evaluates to True.</a:t>
            </a:r>
          </a:p>
          <a:p>
            <a:r>
              <a:rPr lang="en-IN" b="1" u="none" strike="noStrike" dirty="0">
                <a:effectLst/>
                <a:latin typeface="Google Sans"/>
              </a:rPr>
              <a:t>Chaining Operators</a:t>
            </a:r>
            <a:r>
              <a:rPr lang="en-IN" b="0" u="none" strike="noStrike" dirty="0">
                <a:effectLst/>
                <a:latin typeface="Google Sans"/>
              </a:rPr>
              <a:t>: You can chain multiple comparisons together. For example, 1 &lt; x &lt; 10 is valid in Python.</a:t>
            </a:r>
          </a:p>
          <a:p>
            <a:r>
              <a:rPr lang="en-IN" b="1" u="none" strike="noStrike" dirty="0">
                <a:effectLst/>
                <a:latin typeface="Google Sans"/>
              </a:rPr>
              <a:t>Type Compatibility</a:t>
            </a:r>
            <a:r>
              <a:rPr lang="en-IN" b="0" u="none" strike="noStrike" dirty="0">
                <a:effectLst/>
                <a:latin typeface="Google Sans"/>
              </a:rPr>
              <a:t>: You can compare integers and floats (e.g.,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5 == 5.0</a:t>
            </a:r>
            <a:r>
              <a:rPr lang="en-IN" b="0" u="none" strike="noStrike" dirty="0">
                <a:effectLst/>
                <a:latin typeface="Google Sans"/>
              </a:rPr>
              <a:t> is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True</a:t>
            </a:r>
            <a:r>
              <a:rPr lang="en-IN" b="0" u="none" strike="noStrike" dirty="0">
                <a:effectLst/>
                <a:latin typeface="Google Sans"/>
              </a:rPr>
              <a:t>), but comparing incompatible types like a string and an integer (e.g.,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"5" &gt; 3</a:t>
            </a:r>
            <a:r>
              <a:rPr lang="en-IN" b="0" u="none" strike="noStrike" dirty="0">
                <a:effectLst/>
                <a:latin typeface="Google Sans"/>
              </a:rPr>
              <a:t>) will raise a </a:t>
            </a:r>
            <a:r>
              <a:rPr lang="en-IN" b="0" u="none" strike="noStrike" dirty="0" err="1">
                <a:effectLst/>
                <a:latin typeface="Courier New" panose="02070309020205020404" pitchFamily="49" charset="0"/>
              </a:rPr>
              <a:t>TypeError</a:t>
            </a:r>
            <a:r>
              <a:rPr lang="en-IN" b="0" u="none" strike="noStrike" dirty="0">
                <a:effectLst/>
                <a:latin typeface="Google Sans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411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3994</TotalTime>
  <Words>1296</Words>
  <Application>Microsoft Macintosh PowerPoint</Application>
  <PresentationFormat>Widescreen</PresentationFormat>
  <Paragraphs>190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Google Sans</vt:lpstr>
      <vt:lpstr>Office Theme</vt:lpstr>
      <vt:lpstr>PythonDS-03 Datatypes Typecasting Mutable and Immutable</vt:lpstr>
      <vt:lpstr>Type casting in Python</vt:lpstr>
      <vt:lpstr>Common Type Casting Functions</vt:lpstr>
      <vt:lpstr>PowerPoint Presentation</vt:lpstr>
      <vt:lpstr>Mutable vs Immutable in Python</vt:lpstr>
      <vt:lpstr>Mutable Objects</vt:lpstr>
      <vt:lpstr>Immutable Objects</vt:lpstr>
      <vt:lpstr>PowerPoint Presentation</vt:lpstr>
      <vt:lpstr>Arithmetic Operators</vt:lpstr>
      <vt:lpstr>PowerPoint Presentation</vt:lpstr>
      <vt:lpstr>Relational operators in Python</vt:lpstr>
      <vt:lpstr>PowerPoint Presentation</vt:lpstr>
      <vt:lpstr>PowerPoint Presentation</vt:lpstr>
      <vt:lpstr>Key Behaviours to Remember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147</cp:revision>
  <dcterms:created xsi:type="dcterms:W3CDTF">2026-01-15T04:12:31Z</dcterms:created>
  <dcterms:modified xsi:type="dcterms:W3CDTF">2026-08-14T03:59:59Z</dcterms:modified>
</cp:coreProperties>
</file>