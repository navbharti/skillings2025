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64" r:id="rId7"/>
    <p:sldId id="265" r:id="rId8"/>
    <p:sldId id="280" r:id="rId9"/>
    <p:sldId id="281" r:id="rId10"/>
    <p:sldId id="282" r:id="rId11"/>
    <p:sldId id="283" r:id="rId12"/>
    <p:sldId id="284" r:id="rId13"/>
    <p:sldId id="285" r:id="rId14"/>
    <p:sldId id="266" r:id="rId15"/>
    <p:sldId id="267" r:id="rId16"/>
    <p:sldId id="268" r:id="rId17"/>
    <p:sldId id="269" r:id="rId18"/>
    <p:sldId id="270" r:id="rId19"/>
    <p:sldId id="271" r:id="rId20"/>
    <p:sldId id="273" r:id="rId21"/>
    <p:sldId id="274" r:id="rId22"/>
    <p:sldId id="275" r:id="rId23"/>
    <p:sldId id="272" r:id="rId24"/>
    <p:sldId id="257" r:id="rId25"/>
    <p:sldId id="258" r:id="rId26"/>
    <p:sldId id="259" r:id="rId27"/>
    <p:sldId id="260" r:id="rId28"/>
    <p:sldId id="261" r:id="rId29"/>
    <p:sldId id="262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523"/>
  </p:normalViewPr>
  <p:slideViewPr>
    <p:cSldViewPr snapToGrid="0">
      <p:cViewPr varScale="1">
        <p:scale>
          <a:sx n="78" d="100"/>
          <a:sy n="78" d="100"/>
        </p:scale>
        <p:origin x="4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PythonDS-21 Inner Classes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CA35D-E144-B30D-9092-04DFFE69A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to Classes and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38906-9911-66C4-745C-19F2F0F3E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What is a Class?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 Python, everything is an </a:t>
            </a:r>
            <a:r>
              <a:rPr lang="en-IN" b="1" dirty="0"/>
              <a:t>Object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 Class is a </a:t>
            </a:r>
            <a:r>
              <a:rPr lang="en-IN" b="1" dirty="0"/>
              <a:t>Blueprint</a:t>
            </a:r>
            <a:r>
              <a:rPr lang="en-IN" dirty="0"/>
              <a:t>, Model, or Plan used to create objects.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It represents: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b="1" dirty="0"/>
              <a:t>Properties:</a:t>
            </a:r>
            <a:r>
              <a:rPr lang="en-IN" dirty="0"/>
              <a:t> Attributes represented by variables.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b="1" dirty="0"/>
              <a:t>Actions:</a:t>
            </a:r>
            <a:r>
              <a:rPr lang="en-IN" dirty="0"/>
              <a:t> </a:t>
            </a:r>
            <a:r>
              <a:rPr lang="en-IN" dirty="0" err="1"/>
              <a:t>Behavior</a:t>
            </a:r>
            <a:r>
              <a:rPr lang="en-IN" dirty="0"/>
              <a:t> represented by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What is an Object?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Physical Existence</a:t>
            </a:r>
            <a:r>
              <a:rPr lang="en-IN" dirty="0"/>
              <a:t> of a class.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One class can have any number of objects.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438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268A7-726A-AB42-CDA9-4C1C45EBA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Defining a Class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CF778-D8FE-9B12-32F5-5135394E2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class </a:t>
            </a:r>
            <a:r>
              <a:rPr lang="en-US" dirty="0" err="1">
                <a:solidFill>
                  <a:srgbClr val="00B050"/>
                </a:solidFill>
              </a:rPr>
              <a:t>ClassName</a:t>
            </a:r>
            <a:r>
              <a:rPr lang="en-US" dirty="0">
                <a:solidFill>
                  <a:srgbClr val="00B050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''' Documentation String '''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# Variables (Instance, Static, Local)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# Methods (Instance, Class, Static)</a:t>
            </a:r>
          </a:p>
          <a:p>
            <a:endParaRPr lang="en-US" dirty="0"/>
          </a:p>
          <a:p>
            <a:r>
              <a:rPr lang="en-IN" b="1" dirty="0"/>
              <a:t>Documentation String (Docstring):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An optional description of the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How to access: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B050"/>
                </a:solidFill>
              </a:rPr>
              <a:t>print(</a:t>
            </a:r>
            <a:r>
              <a:rPr lang="en-IN" dirty="0" err="1">
                <a:solidFill>
                  <a:srgbClr val="00B050"/>
                </a:solidFill>
              </a:rPr>
              <a:t>ClassName</a:t>
            </a:r>
            <a:r>
              <a:rPr lang="en-IN" dirty="0">
                <a:solidFill>
                  <a:srgbClr val="00B050"/>
                </a:solidFill>
              </a:rPr>
              <a:t>.__doc__)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B050"/>
                </a:solidFill>
              </a:rPr>
              <a:t>help(</a:t>
            </a:r>
            <a:r>
              <a:rPr lang="en-IN" dirty="0" err="1">
                <a:solidFill>
                  <a:srgbClr val="00B050"/>
                </a:solidFill>
              </a:rPr>
              <a:t>ClassName</a:t>
            </a:r>
            <a:r>
              <a:rPr lang="en-IN" dirty="0">
                <a:solidFill>
                  <a:srgbClr val="00B050"/>
                </a:solidFill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872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8BA3-A1B3-1699-F2D8-874305AC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'self' Variable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F22B9-0C78-3EA7-3F00-604F21120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Definition:</a:t>
            </a:r>
            <a:r>
              <a:rPr lang="en-IN" dirty="0"/>
              <a:t> A default variable that always points to the </a:t>
            </a:r>
            <a:r>
              <a:rPr lang="en-IN" b="1" dirty="0"/>
              <a:t>current object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Role:</a:t>
            </a:r>
            <a:r>
              <a:rPr lang="en-IN" dirty="0"/>
              <a:t> Used to access instance variables and instance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Strict Rules: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Must be the </a:t>
            </a:r>
            <a:r>
              <a:rPr lang="en-IN" b="1" dirty="0"/>
              <a:t>first parameter</a:t>
            </a:r>
            <a:r>
              <a:rPr lang="en-IN" dirty="0"/>
              <a:t> inside a constructor: def __</a:t>
            </a:r>
            <a:r>
              <a:rPr lang="en-IN" dirty="0" err="1"/>
              <a:t>init</a:t>
            </a:r>
            <a:r>
              <a:rPr lang="en-IN" dirty="0"/>
              <a:t>__(self):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Must be the </a:t>
            </a:r>
            <a:r>
              <a:rPr lang="en-IN" b="1" dirty="0"/>
              <a:t>first parameter</a:t>
            </a:r>
            <a:r>
              <a:rPr lang="en-IN" dirty="0"/>
              <a:t> inside instance methods: def talk(self):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i="1" dirty="0"/>
              <a:t>Note:</a:t>
            </a:r>
            <a:r>
              <a:rPr lang="en-IN" dirty="0"/>
              <a:t> It is similar to the </a:t>
            </a:r>
            <a:r>
              <a:rPr lang="en-IN" b="1" dirty="0"/>
              <a:t>this</a:t>
            </a:r>
            <a:r>
              <a:rPr lang="en-IN" dirty="0"/>
              <a:t> keyword in Java.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727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B099-9D46-2723-1E62-110244C38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Constructor (__</a:t>
            </a:r>
            <a:r>
              <a:rPr lang="en-IN" b="1" dirty="0" err="1"/>
              <a:t>init</a:t>
            </a:r>
            <a:r>
              <a:rPr lang="en-IN" b="1" dirty="0"/>
              <a:t>__)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C47C7-9568-9278-BC96-8922C5728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Purpose:</a:t>
            </a:r>
            <a:r>
              <a:rPr lang="en-IN" dirty="0"/>
              <a:t> To declare and initialize instance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Key Features: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Special method named </a:t>
            </a:r>
            <a:r>
              <a:rPr lang="en-IN" dirty="0">
                <a:solidFill>
                  <a:srgbClr val="00B050"/>
                </a:solidFill>
              </a:rPr>
              <a:t>__</a:t>
            </a:r>
            <a:r>
              <a:rPr lang="en-IN" dirty="0" err="1">
                <a:solidFill>
                  <a:srgbClr val="00B050"/>
                </a:solidFill>
              </a:rPr>
              <a:t>init</a:t>
            </a:r>
            <a:r>
              <a:rPr lang="en-IN" dirty="0">
                <a:solidFill>
                  <a:srgbClr val="00B050"/>
                </a:solidFill>
              </a:rPr>
              <a:t>__(self)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Executes </a:t>
            </a:r>
            <a:r>
              <a:rPr lang="en-IN" b="1" dirty="0"/>
              <a:t>automatically</a:t>
            </a:r>
            <a:r>
              <a:rPr lang="en-IN" dirty="0"/>
              <a:t> during object creation.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Executes only </a:t>
            </a:r>
            <a:r>
              <a:rPr lang="en-IN" b="1" dirty="0"/>
              <a:t>once</a:t>
            </a:r>
            <a:r>
              <a:rPr lang="en-IN" dirty="0"/>
              <a:t> per object.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Optional; Python provides a default constructor if none is defined.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Example:</a:t>
            </a:r>
            <a:endParaRPr lang="en-IN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def __</a:t>
            </a:r>
            <a:r>
              <a:rPr lang="en-US" dirty="0" err="1">
                <a:solidFill>
                  <a:srgbClr val="00B050"/>
                </a:solidFill>
              </a:rPr>
              <a:t>init</a:t>
            </a:r>
            <a:r>
              <a:rPr lang="en-US" dirty="0">
                <a:solidFill>
                  <a:srgbClr val="00B050"/>
                </a:solidFill>
              </a:rPr>
              <a:t>__(self, name, </a:t>
            </a:r>
            <a:r>
              <a:rPr lang="en-US" dirty="0" err="1">
                <a:solidFill>
                  <a:srgbClr val="00B050"/>
                </a:solidFill>
              </a:rPr>
              <a:t>rollno</a:t>
            </a:r>
            <a:r>
              <a:rPr lang="en-US" dirty="0">
                <a:solidFill>
                  <a:srgbClr val="00B050"/>
                </a:solidFill>
              </a:rPr>
              <a:t>):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</a:t>
            </a:r>
            <a:r>
              <a:rPr lang="en-US" dirty="0" err="1">
                <a:solidFill>
                  <a:srgbClr val="00B050"/>
                </a:solidFill>
              </a:rPr>
              <a:t>self.name</a:t>
            </a:r>
            <a:r>
              <a:rPr lang="en-US" dirty="0">
                <a:solidFill>
                  <a:srgbClr val="00B050"/>
                </a:solidFill>
              </a:rPr>
              <a:t> = name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</a:t>
            </a:r>
            <a:r>
              <a:rPr lang="en-US" dirty="0" err="1">
                <a:solidFill>
                  <a:srgbClr val="00B050"/>
                </a:solidFill>
              </a:rPr>
              <a:t>self.rollno</a:t>
            </a:r>
            <a:r>
              <a:rPr lang="en-US" dirty="0">
                <a:solidFill>
                  <a:srgbClr val="00B050"/>
                </a:solidFill>
              </a:rPr>
              <a:t> = </a:t>
            </a:r>
            <a:r>
              <a:rPr lang="en-US" dirty="0" err="1">
                <a:solidFill>
                  <a:srgbClr val="00B050"/>
                </a:solidFill>
              </a:rPr>
              <a:t>rollno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314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99CC8-B01D-893D-4305-B2FB029D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E6885-4658-A6CA-715F-AC827EEE4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define a class by using class keyword.</a:t>
            </a:r>
          </a:p>
          <a:p>
            <a:r>
              <a:rPr lang="en-US" dirty="0"/>
              <a:t>Documentation string represents description of the class. Within the class doc string is always optional. We can get doc string by using the following 2 ways.</a:t>
            </a:r>
          </a:p>
          <a:p>
            <a:endParaRPr lang="en-US" dirty="0"/>
          </a:p>
          <a:p>
            <a:r>
              <a:rPr lang="en-US" dirty="0"/>
              <a:t>1. print(</a:t>
            </a:r>
            <a:r>
              <a:rPr lang="en-US" dirty="0" err="1"/>
              <a:t>classname</a:t>
            </a:r>
            <a:r>
              <a:rPr lang="en-US" dirty="0"/>
              <a:t>.__doc__)</a:t>
            </a:r>
          </a:p>
          <a:p>
            <a:r>
              <a:rPr lang="en-US" dirty="0"/>
              <a:t>2. help(</a:t>
            </a:r>
            <a:r>
              <a:rPr lang="en-US" dirty="0" err="1"/>
              <a:t>classname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08893-FC64-7F94-23CC-73D2277B8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67" y="3153549"/>
            <a:ext cx="5706533" cy="370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4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C4DA8-4367-57F0-7249-1D8181D01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FF70D-301A-D976-D7C6-59010CAEA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D5F703-C62D-96C0-70A3-40F168BB6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74520"/>
            <a:ext cx="777240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15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21EE6-8106-8F22-3F4D-286A524F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Variables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CBEBD-9CB0-DFCF-A271-B11C30AA2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b="1" dirty="0"/>
              <a:t>Instance Variables (Object Level):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Value varies from object to object.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Separate copy for every object.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Static Variables (Class Level):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Value is shared by all objects.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Only one copy exists for the entire class.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Local Variables (Method Level):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Created for temporary requirements within a method.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Destroyed once the method execution finishes.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4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5E321-631B-40C1-6D48-74A554E6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Working with Instance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6D1C2-984F-CCA5-136F-E80ADEC2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Declaration Places: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Inside Constructor (using self).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Inside Instance Method (using self).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Outside the class (using object reference).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Accessing:</a:t>
            </a:r>
            <a:r>
              <a:rPr lang="en-IN" dirty="0"/>
              <a:t> Use self (inside class) or </a:t>
            </a:r>
            <a:r>
              <a:rPr lang="en-IN" dirty="0" err="1"/>
              <a:t>object_ref</a:t>
            </a:r>
            <a:r>
              <a:rPr lang="en-IN" dirty="0"/>
              <a:t> (outside class).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Deletion: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del </a:t>
            </a:r>
            <a:r>
              <a:rPr lang="en-IN" dirty="0" err="1"/>
              <a:t>self.variableName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del </a:t>
            </a:r>
            <a:r>
              <a:rPr lang="en-IN" dirty="0" err="1"/>
              <a:t>object_ref.variableName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415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369C6-B35B-C0FD-DFC0-CF2BA1C9D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Working with Static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34E7D-D6E7-1A07-7950-5F35B2CBD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Declaration:</a:t>
            </a:r>
            <a:r>
              <a:rPr lang="en-IN" dirty="0"/>
              <a:t> Generally declared directly inside the class but outside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Accessing:</a:t>
            </a:r>
            <a:r>
              <a:rPr lang="en-IN" dirty="0"/>
              <a:t> Recommended to use </a:t>
            </a:r>
            <a:r>
              <a:rPr lang="en-IN" b="1" dirty="0"/>
              <a:t>Class Name</a:t>
            </a:r>
            <a:r>
              <a:rPr lang="en-IN" dirty="0"/>
              <a:t>, though object reference 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Modification: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Must use Class Name or </a:t>
            </a:r>
            <a:r>
              <a:rPr lang="en-IN" dirty="0" err="1"/>
              <a:t>cls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Warning:</a:t>
            </a:r>
            <a:r>
              <a:rPr lang="en-IN" dirty="0"/>
              <a:t> If you use </a:t>
            </a:r>
            <a:r>
              <a:rPr lang="en-IN" dirty="0" err="1"/>
              <a:t>self.static_var</a:t>
            </a:r>
            <a:r>
              <a:rPr lang="en-IN" dirty="0"/>
              <a:t> = value, it creates a </a:t>
            </a:r>
            <a:r>
              <a:rPr lang="en-IN" b="1" dirty="0"/>
              <a:t>new instance variable</a:t>
            </a:r>
            <a:r>
              <a:rPr lang="en-IN" dirty="0"/>
              <a:t> instead of modifying the static 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853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5EC04-3999-0EB4-946E-217CAEA10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0467-DEE8-1255-BC62-442269337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b="1" dirty="0"/>
              <a:t>Instance Methods: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Use instance variables.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Requires </a:t>
            </a:r>
            <a:r>
              <a:rPr lang="en-IN" dirty="0">
                <a:solidFill>
                  <a:srgbClr val="00B050"/>
                </a:solidFill>
              </a:rPr>
              <a:t>self</a:t>
            </a:r>
            <a:r>
              <a:rPr lang="en-IN" dirty="0"/>
              <a:t> parameter.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Class Methods: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Use only static/class variables.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Marked with </a:t>
            </a:r>
            <a:r>
              <a:rPr lang="en-IN" dirty="0">
                <a:solidFill>
                  <a:srgbClr val="00B050"/>
                </a:solidFill>
              </a:rPr>
              <a:t>@</a:t>
            </a:r>
            <a:r>
              <a:rPr lang="en-IN" dirty="0" err="1">
                <a:solidFill>
                  <a:srgbClr val="00B050"/>
                </a:solidFill>
              </a:rPr>
              <a:t>classmethod</a:t>
            </a:r>
            <a:r>
              <a:rPr lang="en-IN" dirty="0"/>
              <a:t> decorator.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Requires </a:t>
            </a:r>
            <a:r>
              <a:rPr lang="en-IN" dirty="0" err="1"/>
              <a:t>cls</a:t>
            </a:r>
            <a:r>
              <a:rPr lang="en-IN" dirty="0"/>
              <a:t> parameter.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Static Methods: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General utility methods (no self or </a:t>
            </a:r>
            <a:r>
              <a:rPr lang="en-IN" dirty="0" err="1"/>
              <a:t>cls</a:t>
            </a:r>
            <a:r>
              <a:rPr lang="en-IN" dirty="0"/>
              <a:t> needed).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Marked with </a:t>
            </a:r>
            <a:r>
              <a:rPr lang="en-IN" dirty="0">
                <a:solidFill>
                  <a:srgbClr val="00B050"/>
                </a:solidFill>
              </a:rPr>
              <a:t>@</a:t>
            </a:r>
            <a:r>
              <a:rPr lang="en-IN" dirty="0" err="1">
                <a:solidFill>
                  <a:srgbClr val="00B050"/>
                </a:solidFill>
              </a:rPr>
              <a:t>staticmethod</a:t>
            </a:r>
            <a:r>
              <a:rPr lang="en-IN" dirty="0"/>
              <a:t> decorator.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245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8D1C0-8F52-AC1D-FA34-C0BA32742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Accessor and Mutator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BB965-A312-88E8-838E-978118CC3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Setter (Mutator) Methods: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Used to set/modify values of instance variables.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def </a:t>
            </a:r>
            <a:r>
              <a:rPr lang="en-IN" dirty="0" err="1"/>
              <a:t>setName</a:t>
            </a:r>
            <a:r>
              <a:rPr lang="en-IN" dirty="0"/>
              <a:t>(self, name): </a:t>
            </a:r>
            <a:r>
              <a:rPr lang="en-IN" dirty="0" err="1"/>
              <a:t>self.name</a:t>
            </a:r>
            <a:r>
              <a:rPr lang="en-IN" dirty="0"/>
              <a:t> =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Getter (Accessor) Methods: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Used to retrieve values of instance variables.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def </a:t>
            </a:r>
            <a:r>
              <a:rPr lang="en-IN" dirty="0" err="1"/>
              <a:t>getName</a:t>
            </a:r>
            <a:r>
              <a:rPr lang="en-IN" dirty="0"/>
              <a:t>(self): return </a:t>
            </a:r>
            <a:r>
              <a:rPr lang="en-IN" dirty="0" err="1"/>
              <a:t>self.name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947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D5A96-78C5-7DC4-EFD8-C2B277846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Passing Members Between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B7D6A-AF3A-EF4F-051B-14F1D60D8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Objects of one class can be passed as arguments to methods of another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Example Scenario: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An Employee class stores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 Manager or Test class has a method that accepts an Employee object and modifies its salary.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661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1F89-5A27-6B4E-983C-F6A137B0B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Variables and Member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211F4-9C38-1364-69C7-1492563EF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Within the Python class, we can represent data by using variables. There are 3 types of variables allowed.</a:t>
            </a:r>
          </a:p>
          <a:p>
            <a:pPr marL="457200" lvl="1" indent="0">
              <a:buNone/>
            </a:pPr>
            <a:r>
              <a:rPr lang="en-US" dirty="0"/>
              <a:t> 1. Instance Variables (Object Level Variables)</a:t>
            </a:r>
          </a:p>
          <a:p>
            <a:pPr marL="457200" lvl="1" indent="0">
              <a:buNone/>
            </a:pPr>
            <a:r>
              <a:rPr lang="en-US" dirty="0"/>
              <a:t> 2. Static Variables (Class Level Variables)</a:t>
            </a:r>
          </a:p>
          <a:p>
            <a:pPr marL="457200" lvl="1" indent="0">
              <a:buNone/>
            </a:pPr>
            <a:r>
              <a:rPr lang="en-US" dirty="0"/>
              <a:t> 3. Local variables (Method Level Variables)</a:t>
            </a:r>
          </a:p>
          <a:p>
            <a:endParaRPr lang="en-US" dirty="0"/>
          </a:p>
          <a:p>
            <a:r>
              <a:rPr lang="en-US" dirty="0"/>
              <a:t>Within the Python class, we can represent operations by using methods. The following are various types of allowed methods.</a:t>
            </a:r>
          </a:p>
          <a:p>
            <a:pPr marL="457200" lvl="1" indent="0">
              <a:buNone/>
            </a:pPr>
            <a:r>
              <a:rPr lang="en-US" dirty="0"/>
              <a:t>1. Instance Methods</a:t>
            </a:r>
          </a:p>
          <a:p>
            <a:pPr marL="457200" lvl="1" indent="0">
              <a:buNone/>
            </a:pPr>
            <a:r>
              <a:rPr lang="en-US" dirty="0"/>
              <a:t>2. Class Methods</a:t>
            </a:r>
          </a:p>
          <a:p>
            <a:pPr marL="457200" lvl="1" indent="0">
              <a:buNone/>
            </a:pPr>
            <a:r>
              <a:rPr lang="en-US" dirty="0"/>
              <a:t>3. Static Methods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520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C25D3-CAE2-6DFB-59CC-53DFC626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EFF75-9124-6146-AA95-BF5CBD06F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E7FCD-4A1A-B93A-C30F-05E62BFB9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76661"/>
            <a:ext cx="6903720" cy="450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363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1AAEE-0FCB-2E1D-B082-DA3822D1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toString</a:t>
            </a:r>
            <a:r>
              <a:rPr lang="en-US" dirty="0"/>
              <a:t>() implementation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CE7CD-5D4D-ACCC-C71C-C2CFB98D9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In Python, the equivalent of the </a:t>
            </a:r>
            <a:r>
              <a:rPr lang="en-IN" dirty="0" err="1"/>
              <a:t>toString</a:t>
            </a:r>
            <a:r>
              <a:rPr lang="en-IN" dirty="0"/>
              <a:t>() method in other object-oriented languages like Java is achieved by implementing the special </a:t>
            </a:r>
            <a:r>
              <a:rPr lang="en-IN" b="1" dirty="0">
                <a:effectLst/>
              </a:rPr>
              <a:t>__str__()</a:t>
            </a:r>
            <a:r>
              <a:rPr lang="en-IN" dirty="0"/>
              <a:t> and </a:t>
            </a:r>
            <a:r>
              <a:rPr lang="en-IN" b="1" dirty="0">
                <a:effectLst/>
              </a:rPr>
              <a:t>__</a:t>
            </a:r>
            <a:r>
              <a:rPr lang="en-IN" b="1" dirty="0" err="1">
                <a:effectLst/>
              </a:rPr>
              <a:t>repr</a:t>
            </a:r>
            <a:r>
              <a:rPr lang="en-IN" b="1" dirty="0">
                <a:effectLst/>
              </a:rPr>
              <a:t>__()</a:t>
            </a:r>
            <a:r>
              <a:rPr lang="en-IN" dirty="0"/>
              <a:t> "dunder" (double underscore) methods within a class. These methods control how an object is converted to a string in different contexts.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__str__()</a:t>
            </a:r>
            <a:r>
              <a:rPr lang="en-IN" b="0" i="0" dirty="0">
                <a:effectLst/>
                <a:latin typeface="Google Sans"/>
              </a:rPr>
              <a:t>: Provides a user-friendly or "informal" string representation of an object, intended for display to end-users (e.g., when using print(</a:t>
            </a:r>
            <a:r>
              <a:rPr lang="en-IN" b="0" i="0" dirty="0" err="1">
                <a:effectLst/>
                <a:latin typeface="Google Sans"/>
              </a:rPr>
              <a:t>obj</a:t>
            </a:r>
            <a:r>
              <a:rPr lang="en-IN" b="0" i="0" dirty="0">
                <a:effectLst/>
                <a:latin typeface="Google Sans"/>
              </a:rPr>
              <a:t>) or str(</a:t>
            </a:r>
            <a:r>
              <a:rPr lang="en-IN" b="0" i="0" dirty="0" err="1">
                <a:effectLst/>
                <a:latin typeface="Google Sans"/>
              </a:rPr>
              <a:t>obj</a:t>
            </a:r>
            <a:r>
              <a:rPr lang="en-IN" b="0" i="0" dirty="0">
                <a:effectLst/>
                <a:latin typeface="Google Sans"/>
              </a:rPr>
              <a:t>)). The result should be readable and concise.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__</a:t>
            </a:r>
            <a:r>
              <a:rPr lang="en-IN" b="1" i="0" dirty="0" err="1">
                <a:effectLst/>
                <a:latin typeface="Google Sans"/>
              </a:rPr>
              <a:t>repr</a:t>
            </a:r>
            <a:r>
              <a:rPr lang="en-IN" b="1" i="0" dirty="0">
                <a:effectLst/>
                <a:latin typeface="Google Sans"/>
              </a:rPr>
              <a:t>__()</a:t>
            </a:r>
            <a:r>
              <a:rPr lang="en-IN" b="0" i="0" dirty="0">
                <a:effectLst/>
                <a:latin typeface="Google Sans"/>
              </a:rPr>
              <a:t>: Provides a detailed, developer-oriented or "official" string representation, primarily for debugging and logging. The goal is to be unambiguous, and ideally, the output should be a valid Python expression that could be used to recreate the object (e.g., in an interpreter session).</a:t>
            </a:r>
          </a:p>
          <a:p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859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B348B-CC9C-67C2-88EC-840751208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Implementation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37089-51AE-3C7C-9E12-DBCBC82C3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IN" b="0" i="0" dirty="0">
                <a:effectLst/>
                <a:latin typeface="Google Sans"/>
              </a:rPr>
              <a:t>It is recommended to implement both for maximum utility. By default, if only __</a:t>
            </a:r>
            <a:r>
              <a:rPr lang="en-IN" b="0" i="0" dirty="0" err="1">
                <a:effectLst/>
                <a:latin typeface="Google Sans"/>
              </a:rPr>
              <a:t>repr</a:t>
            </a:r>
            <a:r>
              <a:rPr lang="en-IN" b="0" i="0" dirty="0">
                <a:effectLst/>
                <a:latin typeface="Google Sans"/>
              </a:rPr>
              <a:t>__() is defined, str() calls </a:t>
            </a:r>
            <a:r>
              <a:rPr lang="en-IN" b="0" i="0" dirty="0" err="1">
                <a:effectLst/>
                <a:latin typeface="Google Sans"/>
              </a:rPr>
              <a:t>repr</a:t>
            </a:r>
            <a:r>
              <a:rPr lang="en-IN" b="0" i="0" dirty="0">
                <a:effectLst/>
                <a:latin typeface="Google Sans"/>
              </a:rPr>
              <a:t>()</a:t>
            </a:r>
          </a:p>
          <a:p>
            <a:endParaRPr lang="en-US" dirty="0"/>
          </a:p>
          <a:p>
            <a:r>
              <a:rPr lang="en-US" dirty="0"/>
              <a:t>Python does not have a method explicitly named </a:t>
            </a:r>
            <a:r>
              <a:rPr lang="en-US" dirty="0" err="1"/>
              <a:t>toString</a:t>
            </a:r>
            <a:r>
              <a:rPr lang="en-US" dirty="0"/>
              <a:t>().</a:t>
            </a:r>
          </a:p>
          <a:p>
            <a:r>
              <a:rPr lang="en-US" dirty="0"/>
              <a:t>The str() built-in function is used to convert an object to a string.</a:t>
            </a:r>
          </a:p>
          <a:p>
            <a:r>
              <a:rPr lang="en-US" dirty="0"/>
              <a:t>Implementing __str__() and __</a:t>
            </a:r>
            <a:r>
              <a:rPr lang="en-US" dirty="0" err="1"/>
              <a:t>repr</a:t>
            </a:r>
            <a:r>
              <a:rPr lang="en-US" dirty="0"/>
              <a:t>__() in your custom classes gives you control over how your objects are represented as strings.</a:t>
            </a:r>
          </a:p>
          <a:p>
            <a:r>
              <a:rPr lang="en-US" dirty="0"/>
              <a:t>When you print an object, the __str__() method is automatically invoked.</a:t>
            </a:r>
          </a:p>
        </p:txBody>
      </p:sp>
    </p:spTree>
    <p:extLst>
      <p:ext uri="{BB962C8B-B14F-4D97-AF65-F5344CB8AC3E}">
        <p14:creationId xmlns:p14="http://schemas.microsoft.com/office/powerpoint/2010/main" val="2810749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3068-430B-9BA0-2194-79DE7990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D9AF-268B-C5B8-36E4-AF19E22B1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Pysical</a:t>
            </a:r>
            <a:r>
              <a:rPr lang="en-US" dirty="0"/>
              <a:t> existence of a class is nothing but object. </a:t>
            </a:r>
          </a:p>
          <a:p>
            <a:r>
              <a:rPr lang="en-US" dirty="0"/>
              <a:t>We can create any number of objects for a class. </a:t>
            </a:r>
          </a:p>
          <a:p>
            <a:r>
              <a:rPr lang="en-US" dirty="0"/>
              <a:t>Syntax to create object: </a:t>
            </a:r>
            <a:r>
              <a:rPr lang="en-US" dirty="0" err="1">
                <a:solidFill>
                  <a:srgbClr val="00B050"/>
                </a:solidFill>
              </a:rPr>
              <a:t>referencevariable</a:t>
            </a:r>
            <a:r>
              <a:rPr lang="en-US" dirty="0">
                <a:solidFill>
                  <a:srgbClr val="00B050"/>
                </a:solidFill>
              </a:rPr>
              <a:t> = </a:t>
            </a:r>
            <a:r>
              <a:rPr lang="en-US" dirty="0" err="1">
                <a:solidFill>
                  <a:srgbClr val="00B050"/>
                </a:solidFill>
              </a:rPr>
              <a:t>classname</a:t>
            </a:r>
            <a:r>
              <a:rPr lang="en-US" dirty="0">
                <a:solidFill>
                  <a:srgbClr val="00B050"/>
                </a:solidFill>
              </a:rPr>
              <a:t>()</a:t>
            </a:r>
          </a:p>
          <a:p>
            <a:r>
              <a:rPr lang="en-US" dirty="0"/>
              <a:t>Example: </a:t>
            </a:r>
            <a:r>
              <a:rPr lang="en-US" dirty="0">
                <a:solidFill>
                  <a:srgbClr val="00B050"/>
                </a:solidFill>
              </a:rPr>
              <a:t>s = Student()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The variable which can be used to refer object is called reference variable.</a:t>
            </a:r>
          </a:p>
          <a:p>
            <a:r>
              <a:rPr lang="en-US" dirty="0"/>
              <a:t> By using reference variable, we can access properties and methods of object.</a:t>
            </a:r>
          </a:p>
        </p:txBody>
      </p:sp>
    </p:spTree>
    <p:extLst>
      <p:ext uri="{BB962C8B-B14F-4D97-AF65-F5344CB8AC3E}">
        <p14:creationId xmlns:p14="http://schemas.microsoft.com/office/powerpoint/2010/main" val="4271265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4BDD7-2C2D-5280-FA44-3A781A55B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176A7-FAF6-D182-FCC1-3A3D11B02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D82600-186B-6059-262F-403BFEDE5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0846"/>
            <a:ext cx="7772400" cy="653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50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24ED-C96A-FEA0-B06A-08D2FA7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15573-2F10-EA1A-0BD7-FBE94DCFC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self</a:t>
            </a:r>
            <a:r>
              <a:rPr lang="en-US" dirty="0"/>
              <a:t> is the default variable, which is always pointing to the current object (like this keyword in Java) </a:t>
            </a:r>
          </a:p>
          <a:p>
            <a:r>
              <a:rPr lang="en-US" dirty="0"/>
              <a:t>By using self, we can access instance variables and instance methods of an object.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r>
              <a:rPr lang="en-US" dirty="0"/>
              <a:t>self should be the first parameter inside the constructor</a:t>
            </a:r>
          </a:p>
          <a:p>
            <a:r>
              <a:rPr lang="en-US" dirty="0">
                <a:solidFill>
                  <a:srgbClr val="00B050"/>
                </a:solidFill>
              </a:rPr>
              <a:t> def __</a:t>
            </a:r>
            <a:r>
              <a:rPr lang="en-US" dirty="0" err="1">
                <a:solidFill>
                  <a:srgbClr val="00B050"/>
                </a:solidFill>
              </a:rPr>
              <a:t>init</a:t>
            </a:r>
            <a:r>
              <a:rPr lang="en-US" dirty="0">
                <a:solidFill>
                  <a:srgbClr val="00B050"/>
                </a:solidFill>
              </a:rPr>
              <a:t>__(self):</a:t>
            </a:r>
          </a:p>
          <a:p>
            <a:r>
              <a:rPr lang="en-US" dirty="0"/>
              <a:t> self should be first parameter inside instance methods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def talk(self):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595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99F89-EC2D-1F9A-3FF4-9296A6E2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F457B-B0F1-AEF8-16D3-C2C987FA1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EDEBFB-5CBE-5673-887F-634720D2A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09368"/>
            <a:ext cx="7772400" cy="583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21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E830A-48B7-2B38-E006-3B83F8CF7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effectLst/>
                <a:latin typeface="Calibri,Bold"/>
              </a:rPr>
              <a:t>Differences between Methods and Constructors</a:t>
            </a:r>
            <a:endParaRPr lang="en-US" sz="8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A6080D-33D0-B099-F526-AB08FB78C6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394644"/>
              </p:ext>
            </p:extLst>
          </p:nvPr>
        </p:nvGraphicFramePr>
        <p:xfrm>
          <a:off x="152400" y="1690688"/>
          <a:ext cx="11780520" cy="4191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0260">
                  <a:extLst>
                    <a:ext uri="{9D8B030D-6E8A-4147-A177-3AD203B41FA5}">
                      <a16:colId xmlns:a16="http://schemas.microsoft.com/office/drawing/2014/main" val="3390038738"/>
                    </a:ext>
                  </a:extLst>
                </a:gridCol>
                <a:gridCol w="5890260">
                  <a:extLst>
                    <a:ext uri="{9D8B030D-6E8A-4147-A177-3AD203B41FA5}">
                      <a16:colId xmlns:a16="http://schemas.microsoft.com/office/drawing/2014/main" val="1553804537"/>
                    </a:ext>
                  </a:extLst>
                </a:gridCol>
              </a:tblGrid>
              <a:tr h="473873">
                <a:tc>
                  <a:txBody>
                    <a:bodyPr/>
                    <a:lstStyle/>
                    <a:p>
                      <a:r>
                        <a:rPr lang="en-US" sz="20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Constructor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803270"/>
                  </a:ext>
                </a:extLst>
              </a:tr>
              <a:tr h="838390">
                <a:tc>
                  <a:txBody>
                    <a:bodyPr/>
                    <a:lstStyle/>
                    <a:p>
                      <a:r>
                        <a:rPr lang="en-US" sz="2000" dirty="0"/>
                        <a:t>1. Name of method can be any name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1. Constructor name should be always __</a:t>
                      </a:r>
                      <a:r>
                        <a:rPr lang="en-US" sz="2000" dirty="0" err="1"/>
                        <a:t>init</a:t>
                      </a:r>
                      <a:r>
                        <a:rPr lang="en-US" sz="2000" dirty="0"/>
                        <a:t>__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921839"/>
                  </a:ext>
                </a:extLst>
              </a:tr>
              <a:tr h="12029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2. Method will be executed if we call that method.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2. Constructor will be executed automatically at the time of object creation.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825329"/>
                  </a:ext>
                </a:extLst>
              </a:tr>
              <a:tr h="8383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3. Per object, method can be called any number of times.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3. Per object, Constructor will be executed only.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240917"/>
                  </a:ext>
                </a:extLst>
              </a:tr>
              <a:tr h="8383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4. Inside method we can write business logic.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4. Inside Constructor we have to declare and</a:t>
                      </a:r>
                    </a:p>
                    <a:p>
                      <a:r>
                        <a:rPr lang="en-US" sz="2000" dirty="0"/>
                        <a:t>initialize instance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956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130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401F-457B-8DA5-D3D7-F96EC8AC6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28E66-B15C-6993-0B56-A3890C232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constructor is a special method in Python.</a:t>
            </a:r>
          </a:p>
          <a:p>
            <a:r>
              <a:rPr lang="en-US" dirty="0"/>
              <a:t>The name of the constructor should be </a:t>
            </a:r>
            <a:r>
              <a:rPr lang="en-US" dirty="0">
                <a:solidFill>
                  <a:srgbClr val="00B050"/>
                </a:solidFill>
              </a:rPr>
              <a:t>__</a:t>
            </a:r>
            <a:r>
              <a:rPr lang="en-US" dirty="0" err="1">
                <a:solidFill>
                  <a:srgbClr val="00B050"/>
                </a:solidFill>
              </a:rPr>
              <a:t>init</a:t>
            </a:r>
            <a:r>
              <a:rPr lang="en-US" dirty="0">
                <a:solidFill>
                  <a:srgbClr val="00B050"/>
                </a:solidFill>
              </a:rPr>
              <a:t>__(self)</a:t>
            </a:r>
          </a:p>
          <a:p>
            <a:r>
              <a:rPr lang="en-US" dirty="0"/>
              <a:t>The constructor will be executed automatically at the time of object creation.</a:t>
            </a:r>
          </a:p>
          <a:p>
            <a:r>
              <a:rPr lang="en-US" dirty="0"/>
              <a:t>The main purpose of a constructor is to declare and </a:t>
            </a:r>
            <a:r>
              <a:rPr lang="en-US" dirty="0" err="1"/>
              <a:t>initialise</a:t>
            </a:r>
            <a:r>
              <a:rPr lang="en-US" dirty="0"/>
              <a:t> instance variables.</a:t>
            </a:r>
          </a:p>
          <a:p>
            <a:r>
              <a:rPr lang="en-US" dirty="0"/>
              <a:t>Per object constructor will be executed only once.</a:t>
            </a:r>
          </a:p>
          <a:p>
            <a:r>
              <a:rPr lang="en-US" dirty="0"/>
              <a:t>Constructor can take </a:t>
            </a:r>
            <a:r>
              <a:rPr lang="en-US" dirty="0" err="1"/>
              <a:t>atleast</a:t>
            </a:r>
            <a:r>
              <a:rPr lang="en-US" dirty="0"/>
              <a:t> one argument(</a:t>
            </a:r>
            <a:r>
              <a:rPr lang="en-US" dirty="0" err="1"/>
              <a:t>atleast</a:t>
            </a:r>
            <a:r>
              <a:rPr lang="en-US" dirty="0"/>
              <a:t> self)</a:t>
            </a:r>
          </a:p>
          <a:p>
            <a:r>
              <a:rPr lang="en-US" dirty="0"/>
              <a:t> Constructor is optional and if we are not providing any constructor then python will provide</a:t>
            </a:r>
          </a:p>
          <a:p>
            <a:r>
              <a:rPr lang="en-US" dirty="0"/>
              <a:t> default constructor.</a:t>
            </a:r>
          </a:p>
        </p:txBody>
      </p:sp>
    </p:spTree>
    <p:extLst>
      <p:ext uri="{BB962C8B-B14F-4D97-AF65-F5344CB8AC3E}">
        <p14:creationId xmlns:p14="http://schemas.microsoft.com/office/powerpoint/2010/main" val="3595635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E5AAA-0F99-9D42-685E-81D62C9E6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Passing Members of One Class to Another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F3B9D-CD8B-CE3C-0B23-DEAE35E39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 We can access members of one class inside another class.</a:t>
            </a:r>
          </a:p>
          <a:p>
            <a:pPr marL="0" indent="0">
              <a:buNone/>
            </a:pPr>
            <a:r>
              <a:rPr lang="en-US" dirty="0"/>
              <a:t>1) </a:t>
            </a:r>
            <a:r>
              <a:rPr lang="en-US" dirty="0" err="1"/>
              <a:t>classEmployee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2) def __</a:t>
            </a:r>
            <a:r>
              <a:rPr lang="en-US" dirty="0" err="1"/>
              <a:t>init</a:t>
            </a:r>
            <a:r>
              <a:rPr lang="en-US" dirty="0"/>
              <a:t>__(</a:t>
            </a:r>
            <a:r>
              <a:rPr lang="en-US" dirty="0" err="1"/>
              <a:t>self,eno,ename,esal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3) </a:t>
            </a:r>
            <a:r>
              <a:rPr lang="en-US" dirty="0" err="1"/>
              <a:t>self.eno</a:t>
            </a:r>
            <a:r>
              <a:rPr lang="en-US" dirty="0"/>
              <a:t>=</a:t>
            </a:r>
            <a:r>
              <a:rPr lang="en-US" dirty="0" err="1"/>
              <a:t>eno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4) </a:t>
            </a:r>
            <a:r>
              <a:rPr lang="en-US" dirty="0" err="1"/>
              <a:t>self.ename</a:t>
            </a:r>
            <a:r>
              <a:rPr lang="en-US" dirty="0"/>
              <a:t>=</a:t>
            </a:r>
            <a:r>
              <a:rPr lang="en-US" dirty="0" err="1"/>
              <a:t>ename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5) </a:t>
            </a:r>
            <a:r>
              <a:rPr lang="en-US" dirty="0" err="1"/>
              <a:t>self.esal</a:t>
            </a:r>
            <a:r>
              <a:rPr lang="en-US" dirty="0"/>
              <a:t>=</a:t>
            </a:r>
            <a:r>
              <a:rPr lang="en-US" dirty="0" err="1"/>
              <a:t>esal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6) def display(self):</a:t>
            </a:r>
          </a:p>
          <a:p>
            <a:pPr marL="0" indent="0">
              <a:buNone/>
            </a:pPr>
            <a:r>
              <a:rPr lang="en-US" dirty="0"/>
              <a:t>7) print('Employee Number:',</a:t>
            </a:r>
            <a:r>
              <a:rPr lang="en-US" dirty="0" err="1"/>
              <a:t>self.eno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8) print('Employee Name:',</a:t>
            </a:r>
            <a:r>
              <a:rPr lang="en-US" dirty="0" err="1"/>
              <a:t>self.ename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9) print('Employee Salary:',</a:t>
            </a:r>
            <a:r>
              <a:rPr lang="en-US" dirty="0" err="1"/>
              <a:t>self.esal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10) class Test:</a:t>
            </a:r>
          </a:p>
          <a:p>
            <a:pPr marL="0" indent="0">
              <a:buNone/>
            </a:pPr>
            <a:r>
              <a:rPr lang="en-US" dirty="0"/>
              <a:t>11) def modify(emp):</a:t>
            </a:r>
          </a:p>
          <a:p>
            <a:pPr marL="0" indent="0">
              <a:buNone/>
            </a:pPr>
            <a:r>
              <a:rPr lang="en-US" dirty="0"/>
              <a:t>12) </a:t>
            </a:r>
            <a:r>
              <a:rPr lang="en-US" dirty="0" err="1"/>
              <a:t>emp.esal</a:t>
            </a:r>
            <a:r>
              <a:rPr lang="en-US" dirty="0"/>
              <a:t>=emp.esal+10000</a:t>
            </a:r>
          </a:p>
          <a:p>
            <a:pPr marL="0" indent="0">
              <a:buNone/>
            </a:pPr>
            <a:r>
              <a:rPr lang="en-US" dirty="0"/>
              <a:t>13) </a:t>
            </a:r>
            <a:r>
              <a:rPr lang="en-US" dirty="0" err="1"/>
              <a:t>emp.display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14) e=Employee(100,'Durga',10000)</a:t>
            </a:r>
          </a:p>
          <a:p>
            <a:pPr marL="0" indent="0">
              <a:buNone/>
            </a:pPr>
            <a:r>
              <a:rPr lang="en-US" dirty="0"/>
              <a:t>15) </a:t>
            </a:r>
            <a:r>
              <a:rPr lang="en-US" dirty="0" err="1"/>
              <a:t>Test.modify</a:t>
            </a:r>
            <a:r>
              <a:rPr lang="en-US" dirty="0"/>
              <a:t>(e)</a:t>
            </a:r>
          </a:p>
        </p:txBody>
      </p:sp>
      <p:pic>
        <p:nvPicPr>
          <p:cNvPr id="1025" name="Picture 1" descr="page23image15664352">
            <a:extLst>
              <a:ext uri="{FF2B5EF4-FFF2-40B4-BE49-F238E27FC236}">
                <a16:creationId xmlns:a16="http://schemas.microsoft.com/office/drawing/2014/main" id="{84CDE2AB-9123-8D2B-902F-F78B16FE0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59300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406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D01E-5314-41D3-0973-9606E05E9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3D405-CE50-67FC-8FEB-D050DBFEE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Sometimes we can declare a class inside another class, such type of classes are called</a:t>
            </a:r>
          </a:p>
          <a:p>
            <a:r>
              <a:rPr lang="en-US" dirty="0"/>
              <a:t> inner classes.</a:t>
            </a:r>
          </a:p>
          <a:p>
            <a:r>
              <a:rPr lang="en-US" dirty="0"/>
              <a:t> Without existing one type of object if there is no chance of existing another type of object,</a:t>
            </a:r>
          </a:p>
          <a:p>
            <a:r>
              <a:rPr lang="en-US" dirty="0"/>
              <a:t> then we should go for inner classes.</a:t>
            </a:r>
          </a:p>
          <a:p>
            <a:r>
              <a:rPr lang="en-US" dirty="0"/>
              <a:t> Example: Without existing Car object there is no chance of existing Engine object. Hence</a:t>
            </a:r>
          </a:p>
          <a:p>
            <a:r>
              <a:rPr lang="en-US" dirty="0"/>
              <a:t>  Engine class should be part of Car class.</a:t>
            </a:r>
          </a:p>
        </p:txBody>
      </p:sp>
    </p:spTree>
    <p:extLst>
      <p:ext uri="{BB962C8B-B14F-4D97-AF65-F5344CB8AC3E}">
        <p14:creationId xmlns:p14="http://schemas.microsoft.com/office/powerpoint/2010/main" val="287576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62363-AD0C-45F4-DB9A-4553D1789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E3FEA-6502-A54F-4DFF-5A2D61ADD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class Car:</a:t>
            </a:r>
          </a:p>
          <a:p>
            <a:r>
              <a:rPr lang="en-US" dirty="0"/>
              <a:t>.....</a:t>
            </a:r>
          </a:p>
          <a:p>
            <a:r>
              <a:rPr lang="en-US" dirty="0"/>
              <a:t>class University:</a:t>
            </a:r>
          </a:p>
          <a:p>
            <a:r>
              <a:rPr lang="en-US" dirty="0"/>
              <a:t> class Engine:</a:t>
            </a:r>
          </a:p>
          <a:p>
            <a:r>
              <a:rPr lang="en-US" dirty="0"/>
              <a:t> ......</a:t>
            </a:r>
          </a:p>
          <a:p>
            <a:r>
              <a:rPr lang="en-US" dirty="0"/>
              <a:t> Example: Without existing university object there is no chance of existing Department</a:t>
            </a:r>
          </a:p>
          <a:p>
            <a:r>
              <a:rPr lang="en-US" dirty="0"/>
              <a:t>  object</a:t>
            </a:r>
          </a:p>
          <a:p>
            <a:r>
              <a:rPr lang="en-US" dirty="0"/>
              <a:t>.....</a:t>
            </a:r>
          </a:p>
          <a:p>
            <a:r>
              <a:rPr lang="en-US" dirty="0"/>
              <a:t> class Department:</a:t>
            </a:r>
          </a:p>
          <a:p>
            <a:r>
              <a:rPr lang="en-US" dirty="0"/>
              <a:t> ......</a:t>
            </a:r>
          </a:p>
          <a:p>
            <a:r>
              <a:rPr lang="en-US" dirty="0"/>
              <a:t> Example: Without existing Human there is no chance of </a:t>
            </a:r>
            <a:r>
              <a:rPr lang="en-US" dirty="0" err="1"/>
              <a:t>existin</a:t>
            </a:r>
            <a:r>
              <a:rPr lang="en-US" dirty="0"/>
              <a:t> Head. Hence Head</a:t>
            </a:r>
          </a:p>
          <a:p>
            <a:r>
              <a:rPr lang="en-US" dirty="0"/>
              <a:t>  should be part of Human.</a:t>
            </a:r>
          </a:p>
          <a:p>
            <a:r>
              <a:rPr lang="en-US" dirty="0"/>
              <a:t>class Human:</a:t>
            </a:r>
          </a:p>
          <a:p>
            <a:r>
              <a:rPr lang="en-US" dirty="0"/>
              <a:t>class Head:</a:t>
            </a:r>
          </a:p>
          <a:p>
            <a:r>
              <a:rPr lang="en-US" dirty="0"/>
              <a:t> Note: Without existing outer class object there is no chance of existing inner class object.</a:t>
            </a:r>
          </a:p>
          <a:p>
            <a:r>
              <a:rPr lang="en-US" dirty="0"/>
              <a:t>  Hence inner class object is always associated with outer class object.</a:t>
            </a:r>
          </a:p>
        </p:txBody>
      </p:sp>
    </p:spTree>
    <p:extLst>
      <p:ext uri="{BB962C8B-B14F-4D97-AF65-F5344CB8AC3E}">
        <p14:creationId xmlns:p14="http://schemas.microsoft.com/office/powerpoint/2010/main" val="744864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46404-8107-500C-AEA4-BEC346CD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7BBDB-3E73-C600-E34A-5FA1A2A8D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1) </a:t>
            </a:r>
            <a:r>
              <a:rPr lang="en-US" dirty="0" err="1"/>
              <a:t>classOuter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2) def __</a:t>
            </a:r>
            <a:r>
              <a:rPr lang="en-US" dirty="0" err="1"/>
              <a:t>init</a:t>
            </a:r>
            <a:r>
              <a:rPr lang="en-US" dirty="0"/>
              <a:t>__(self):</a:t>
            </a:r>
          </a:p>
          <a:p>
            <a:pPr marL="0" indent="0">
              <a:buNone/>
            </a:pPr>
            <a:r>
              <a:rPr lang="en-US" dirty="0"/>
              <a:t>3) print("outer class object creation")</a:t>
            </a:r>
          </a:p>
          <a:p>
            <a:pPr marL="0" indent="0">
              <a:buNone/>
            </a:pPr>
            <a:r>
              <a:rPr lang="en-US" dirty="0"/>
              <a:t>4) class Inner:</a:t>
            </a:r>
          </a:p>
          <a:p>
            <a:pPr marL="0" indent="0">
              <a:buNone/>
            </a:pPr>
            <a:r>
              <a:rPr lang="en-US" dirty="0"/>
              <a:t>5) def __</a:t>
            </a:r>
            <a:r>
              <a:rPr lang="en-US" dirty="0" err="1"/>
              <a:t>init</a:t>
            </a:r>
            <a:r>
              <a:rPr lang="en-US" dirty="0"/>
              <a:t>__(self):</a:t>
            </a:r>
          </a:p>
          <a:p>
            <a:pPr marL="0" indent="0">
              <a:buNone/>
            </a:pPr>
            <a:r>
              <a:rPr lang="en-US" dirty="0"/>
              <a:t>6) print("inner class object creation")</a:t>
            </a:r>
          </a:p>
          <a:p>
            <a:pPr marL="0" indent="0">
              <a:buNone/>
            </a:pPr>
            <a:r>
              <a:rPr lang="en-US" dirty="0"/>
              <a:t>7) def m1(self):</a:t>
            </a:r>
          </a:p>
          <a:p>
            <a:pPr marL="0" indent="0">
              <a:buNone/>
            </a:pPr>
            <a:r>
              <a:rPr lang="en-US" dirty="0"/>
              <a:t>8) print("inner class method")</a:t>
            </a:r>
          </a:p>
          <a:p>
            <a:pPr marL="0" indent="0">
              <a:buNone/>
            </a:pPr>
            <a:r>
              <a:rPr lang="en-US" dirty="0"/>
              <a:t>9) o=Outer()</a:t>
            </a:r>
          </a:p>
          <a:p>
            <a:pPr marL="0" indent="0">
              <a:buNone/>
            </a:pPr>
            <a:r>
              <a:rPr lang="en-US" dirty="0"/>
              <a:t>10) </a:t>
            </a:r>
            <a:r>
              <a:rPr lang="en-US" dirty="0" err="1"/>
              <a:t>i</a:t>
            </a:r>
            <a:r>
              <a:rPr lang="en-US" dirty="0"/>
              <a:t>=</a:t>
            </a:r>
            <a:r>
              <a:rPr lang="en-US" dirty="0" err="1"/>
              <a:t>o.Inner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11) i.m1()</a:t>
            </a:r>
          </a:p>
        </p:txBody>
      </p:sp>
    </p:spTree>
    <p:extLst>
      <p:ext uri="{BB962C8B-B14F-4D97-AF65-F5344CB8AC3E}">
        <p14:creationId xmlns:p14="http://schemas.microsoft.com/office/powerpoint/2010/main" val="3869787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1E7E-81EC-E9E3-3978-194A4C727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2E044-6830-73B8-8117-CA8DB578A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Note: The following are various possible syntaxes for calling inner class method</a:t>
            </a:r>
          </a:p>
          <a:p>
            <a:pPr marL="0" indent="0">
              <a:buNone/>
            </a:pPr>
            <a:r>
              <a:rPr lang="en-US" dirty="0"/>
              <a:t>3) Outer().Inner().m1() Demo Program-2:</a:t>
            </a:r>
          </a:p>
          <a:p>
            <a:pPr marL="0" indent="0">
              <a:buNone/>
            </a:pPr>
            <a:r>
              <a:rPr lang="en-US" dirty="0"/>
              <a:t> 1) o = Outer()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o.Inner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i.m1()</a:t>
            </a:r>
          </a:p>
          <a:p>
            <a:pPr marL="0" indent="0">
              <a:buNone/>
            </a:pPr>
            <a:r>
              <a:rPr lang="en-US" dirty="0"/>
              <a:t> 2) </a:t>
            </a:r>
            <a:r>
              <a:rPr lang="en-US" dirty="0" err="1"/>
              <a:t>i</a:t>
            </a:r>
            <a:r>
              <a:rPr lang="en-US" dirty="0"/>
              <a:t> = Outer().Inner()</a:t>
            </a:r>
          </a:p>
          <a:p>
            <a:pPr marL="0" indent="0">
              <a:buNone/>
            </a:pPr>
            <a:r>
              <a:rPr lang="en-US" dirty="0"/>
              <a:t> i.m1()</a:t>
            </a:r>
          </a:p>
          <a:p>
            <a:pPr marL="0" indent="0">
              <a:buNone/>
            </a:pPr>
            <a:r>
              <a:rPr lang="en-US" dirty="0"/>
              <a:t>3) Outer().Inner().m1()</a:t>
            </a:r>
          </a:p>
        </p:txBody>
      </p:sp>
    </p:spTree>
    <p:extLst>
      <p:ext uri="{BB962C8B-B14F-4D97-AF65-F5344CB8AC3E}">
        <p14:creationId xmlns:p14="http://schemas.microsoft.com/office/powerpoint/2010/main" val="437841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0568-34A6-3698-C43A-956E02C5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6DCA8-D2E5-6FB1-0A85-BBF3D90F6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1) </a:t>
            </a:r>
            <a:r>
              <a:rPr lang="en-US" sz="1200" dirty="0" err="1"/>
              <a:t>classPerson</a:t>
            </a:r>
            <a:r>
              <a:rPr lang="en-US" sz="1200" dirty="0"/>
              <a:t>:</a:t>
            </a:r>
          </a:p>
          <a:p>
            <a:pPr marL="0" indent="0">
              <a:buNone/>
            </a:pPr>
            <a:r>
              <a:rPr lang="en-US" sz="1200" dirty="0"/>
              <a:t>2) def __</a:t>
            </a:r>
            <a:r>
              <a:rPr lang="en-US" sz="1200" dirty="0" err="1"/>
              <a:t>init</a:t>
            </a:r>
            <a:r>
              <a:rPr lang="en-US" sz="1200" dirty="0"/>
              <a:t>__(self):</a:t>
            </a:r>
          </a:p>
          <a:p>
            <a:pPr marL="0" indent="0">
              <a:buNone/>
            </a:pPr>
            <a:r>
              <a:rPr lang="en-US" sz="1200" dirty="0"/>
              <a:t>3) </a:t>
            </a:r>
            <a:r>
              <a:rPr lang="en-US" sz="1200" dirty="0" err="1"/>
              <a:t>self.name</a:t>
            </a:r>
            <a:r>
              <a:rPr lang="en-US" sz="1200" dirty="0"/>
              <a:t>='</a:t>
            </a:r>
            <a:r>
              <a:rPr lang="en-US" sz="1200" dirty="0" err="1"/>
              <a:t>durga</a:t>
            </a:r>
            <a:r>
              <a:rPr lang="en-US" sz="1200" dirty="0"/>
              <a:t>'</a:t>
            </a:r>
          </a:p>
          <a:p>
            <a:pPr marL="0" indent="0">
              <a:buNone/>
            </a:pPr>
            <a:r>
              <a:rPr lang="en-US" sz="1200" dirty="0"/>
              <a:t>4) </a:t>
            </a:r>
            <a:r>
              <a:rPr lang="en-US" sz="1200" dirty="0" err="1"/>
              <a:t>self.db</a:t>
            </a:r>
            <a:r>
              <a:rPr lang="en-US" sz="1200" dirty="0"/>
              <a:t>=</a:t>
            </a:r>
            <a:r>
              <a:rPr lang="en-US" sz="1200" dirty="0" err="1"/>
              <a:t>self.Dob</a:t>
            </a:r>
            <a:r>
              <a:rPr lang="en-US" sz="1200" dirty="0"/>
              <a:t>()</a:t>
            </a:r>
          </a:p>
          <a:p>
            <a:pPr marL="0" indent="0">
              <a:buNone/>
            </a:pPr>
            <a:r>
              <a:rPr lang="en-US" sz="1200" dirty="0"/>
              <a:t>5) def display(self):</a:t>
            </a:r>
          </a:p>
          <a:p>
            <a:pPr marL="0" indent="0">
              <a:buNone/>
            </a:pPr>
            <a:r>
              <a:rPr lang="en-US" sz="1200" dirty="0"/>
              <a:t>6) print('Name:',</a:t>
            </a:r>
            <a:r>
              <a:rPr lang="en-US" sz="1200" dirty="0" err="1"/>
              <a:t>self.name</a:t>
            </a:r>
            <a:r>
              <a:rPr lang="en-US" sz="1200" dirty="0"/>
              <a:t>)</a:t>
            </a:r>
          </a:p>
          <a:p>
            <a:pPr marL="0" indent="0">
              <a:buNone/>
            </a:pPr>
            <a:r>
              <a:rPr lang="en-US" sz="1200" dirty="0"/>
              <a:t>7) class Dob:</a:t>
            </a:r>
          </a:p>
          <a:p>
            <a:pPr marL="0" indent="0">
              <a:buNone/>
            </a:pPr>
            <a:r>
              <a:rPr lang="en-US" sz="1200" dirty="0"/>
              <a:t>8) def __</a:t>
            </a:r>
            <a:r>
              <a:rPr lang="en-US" sz="1200" dirty="0" err="1"/>
              <a:t>init</a:t>
            </a:r>
            <a:r>
              <a:rPr lang="en-US" sz="1200" dirty="0"/>
              <a:t>__(self):</a:t>
            </a:r>
          </a:p>
          <a:p>
            <a:pPr marL="0" indent="0">
              <a:buNone/>
            </a:pPr>
            <a:r>
              <a:rPr lang="en-US" sz="1200" dirty="0"/>
              <a:t>9) </a:t>
            </a:r>
            <a:r>
              <a:rPr lang="en-US" sz="1200" dirty="0" err="1"/>
              <a:t>self.dd</a:t>
            </a:r>
            <a:r>
              <a:rPr lang="en-US" sz="1200" dirty="0"/>
              <a:t>=10</a:t>
            </a:r>
          </a:p>
          <a:p>
            <a:pPr marL="0" indent="0">
              <a:buNone/>
            </a:pPr>
            <a:r>
              <a:rPr lang="en-US" sz="1200" dirty="0"/>
              <a:t>10) </a:t>
            </a:r>
            <a:r>
              <a:rPr lang="en-US" sz="1200" dirty="0" err="1"/>
              <a:t>self.mm</a:t>
            </a:r>
            <a:r>
              <a:rPr lang="en-US" sz="1200" dirty="0"/>
              <a:t>=5</a:t>
            </a:r>
          </a:p>
          <a:p>
            <a:pPr marL="0" indent="0">
              <a:buNone/>
            </a:pPr>
            <a:r>
              <a:rPr lang="en-US" sz="1200" dirty="0"/>
              <a:t>11) </a:t>
            </a:r>
            <a:r>
              <a:rPr lang="en-US" sz="1200" dirty="0" err="1"/>
              <a:t>self.yy</a:t>
            </a:r>
            <a:r>
              <a:rPr lang="en-US" sz="1200" dirty="0"/>
              <a:t>=1947</a:t>
            </a:r>
          </a:p>
          <a:p>
            <a:pPr marL="0" indent="0">
              <a:buNone/>
            </a:pPr>
            <a:r>
              <a:rPr lang="en-US" sz="1200" dirty="0"/>
              <a:t>12) def display(self):</a:t>
            </a:r>
          </a:p>
          <a:p>
            <a:pPr marL="0" indent="0">
              <a:buNone/>
            </a:pPr>
            <a:r>
              <a:rPr lang="en-US" sz="1200" dirty="0"/>
              <a:t>13) print('Dob={}/{}/{}'.format(</a:t>
            </a:r>
            <a:r>
              <a:rPr lang="en-US" sz="1200" dirty="0" err="1"/>
              <a:t>self.dd,self.mm,self.yy</a:t>
            </a:r>
            <a:r>
              <a:rPr lang="en-US" sz="1200" dirty="0"/>
              <a:t>))</a:t>
            </a:r>
          </a:p>
          <a:p>
            <a:pPr marL="0" indent="0">
              <a:buNone/>
            </a:pPr>
            <a:r>
              <a:rPr lang="en-US" sz="1200" dirty="0"/>
              <a:t>14) p=Person()</a:t>
            </a:r>
          </a:p>
          <a:p>
            <a:pPr marL="0" indent="0">
              <a:buNone/>
            </a:pPr>
            <a:r>
              <a:rPr lang="en-US" sz="1200" dirty="0"/>
              <a:t>15) </a:t>
            </a:r>
            <a:r>
              <a:rPr lang="en-US" sz="1200" dirty="0" err="1"/>
              <a:t>p.display</a:t>
            </a:r>
            <a:r>
              <a:rPr lang="en-US" sz="1200" dirty="0"/>
              <a:t>()</a:t>
            </a:r>
          </a:p>
          <a:p>
            <a:pPr marL="0" indent="0">
              <a:buNone/>
            </a:pPr>
            <a:r>
              <a:rPr lang="en-US" sz="1200" dirty="0"/>
              <a:t>16) x=</a:t>
            </a:r>
            <a:r>
              <a:rPr lang="en-US" sz="1200" dirty="0" err="1"/>
              <a:t>p.db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17) </a:t>
            </a:r>
            <a:r>
              <a:rPr lang="en-US" sz="1200" dirty="0" err="1"/>
              <a:t>x.display</a:t>
            </a:r>
            <a:r>
              <a:rPr lang="en-US" sz="12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825049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EDC5D-71C2-78AF-A8E7-78834CFFA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Garbage Collection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EB91-7561-A34D-6334-5F70399F2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old languages like C++, programmer is responsible for both creation and destruction  of objects.</a:t>
            </a:r>
          </a:p>
          <a:p>
            <a:r>
              <a:rPr lang="en-US" dirty="0"/>
              <a:t>But  neglecting destruction of useless objects, total memory  can be filled with useless objects which creates memory problems and total  application will be down with Out of memory error. </a:t>
            </a:r>
          </a:p>
          <a:p>
            <a:r>
              <a:rPr lang="en-US" dirty="0"/>
              <a:t>PVM provides assistant through GC, which is always running in the background to  destroy useless objects. Hence the chance of failing Python program  with memory problems is very less. </a:t>
            </a:r>
          </a:p>
          <a:p>
            <a:r>
              <a:rPr lang="en-US" dirty="0"/>
              <a:t>Hence the main objective of Garbage Collector is to destroy useless objects. </a:t>
            </a:r>
          </a:p>
          <a:p>
            <a:r>
              <a:rPr lang="en-US" dirty="0"/>
              <a:t>If an object does not have any reference variable then that object eligible for Garbage  Collection. </a:t>
            </a:r>
          </a:p>
        </p:txBody>
      </p:sp>
    </p:spTree>
    <p:extLst>
      <p:ext uri="{BB962C8B-B14F-4D97-AF65-F5344CB8AC3E}">
        <p14:creationId xmlns:p14="http://schemas.microsoft.com/office/powerpoint/2010/main" val="832779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1496D-48EA-6199-8BB0-201B0EDBD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Enable and disable Garbage Collector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94D55-5C31-1659-4E76-8575A5DDF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By default </a:t>
            </a:r>
            <a:r>
              <a:rPr lang="en-US" dirty="0" err="1"/>
              <a:t>Gargbage</a:t>
            </a:r>
            <a:r>
              <a:rPr lang="en-US" dirty="0"/>
              <a:t> collector is enabled, but we can disable based on our requirement. In  this context we can use the following functions of </a:t>
            </a:r>
            <a:r>
              <a:rPr lang="en-US" dirty="0" err="1"/>
              <a:t>gc</a:t>
            </a:r>
            <a:r>
              <a:rPr lang="en-US" dirty="0"/>
              <a:t> module. </a:t>
            </a:r>
          </a:p>
          <a:p>
            <a:pPr marL="0" indent="0">
              <a:buNone/>
            </a:pPr>
            <a:r>
              <a:rPr lang="en-US" dirty="0"/>
              <a:t>1) </a:t>
            </a:r>
            <a:r>
              <a:rPr lang="en-US" dirty="0" err="1"/>
              <a:t>gc.isenabled</a:t>
            </a:r>
            <a:r>
              <a:rPr lang="en-US" dirty="0"/>
              <a:t>() # Returns True if GC enabled </a:t>
            </a:r>
          </a:p>
          <a:p>
            <a:pPr marL="0" indent="0">
              <a:buNone/>
            </a:pPr>
            <a:r>
              <a:rPr lang="en-US" dirty="0"/>
              <a:t>2) </a:t>
            </a:r>
            <a:r>
              <a:rPr lang="en-US" dirty="0" err="1"/>
              <a:t>gc.disable</a:t>
            </a:r>
            <a:r>
              <a:rPr lang="en-US" dirty="0"/>
              <a:t>()# To disable GC explicitly </a:t>
            </a:r>
          </a:p>
          <a:p>
            <a:pPr marL="0" indent="0">
              <a:buNone/>
            </a:pPr>
            <a:r>
              <a:rPr lang="en-US" dirty="0"/>
              <a:t>3) </a:t>
            </a:r>
            <a:r>
              <a:rPr lang="en-US" dirty="0" err="1"/>
              <a:t>gc.enable</a:t>
            </a:r>
            <a:r>
              <a:rPr lang="en-US" dirty="0"/>
              <a:t>()#To enable GC explicitly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gc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gc.isenabled</a:t>
            </a:r>
            <a:r>
              <a:rPr lang="en-US" dirty="0"/>
              <a:t>())   # True</a:t>
            </a:r>
          </a:p>
          <a:p>
            <a:pPr marL="0" indent="0">
              <a:buNone/>
            </a:pPr>
            <a:r>
              <a:rPr lang="en-US" dirty="0" err="1"/>
              <a:t>gc.disable</a:t>
            </a:r>
            <a:r>
              <a:rPr lang="en-US" dirty="0"/>
              <a:t>()  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gc.isenabled</a:t>
            </a:r>
            <a:r>
              <a:rPr lang="en-US" dirty="0"/>
              <a:t>())  # False</a:t>
            </a:r>
          </a:p>
          <a:p>
            <a:pPr marL="0" indent="0">
              <a:buNone/>
            </a:pPr>
            <a:r>
              <a:rPr lang="en-US" dirty="0" err="1"/>
              <a:t>gc.enable</a:t>
            </a:r>
            <a:r>
              <a:rPr lang="en-US" dirty="0"/>
              <a:t>()  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gc.isenabled</a:t>
            </a:r>
            <a:r>
              <a:rPr lang="en-US" dirty="0"/>
              <a:t>())  # 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38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8DC5-3239-222F-0C1D-D3CA6FC3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84A3D-F0F5-AFBE-B4EB-2EC0A8542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Destructor is a special method and the name should be </a:t>
            </a:r>
            <a:r>
              <a:rPr lang="en-US" dirty="0">
                <a:solidFill>
                  <a:srgbClr val="00B050"/>
                </a:solidFill>
              </a:rPr>
              <a:t>__del__</a:t>
            </a:r>
            <a:r>
              <a:rPr lang="en-US" dirty="0"/>
              <a:t> </a:t>
            </a:r>
          </a:p>
          <a:p>
            <a:r>
              <a:rPr lang="en-US" b="1" dirty="0"/>
              <a:t>Just before destroying</a:t>
            </a:r>
            <a:r>
              <a:rPr lang="en-US" dirty="0"/>
              <a:t> an object Garbage Collector always calls destructor to perform  clean up activities (Resource deallocation activities like close database connection </a:t>
            </a:r>
            <a:r>
              <a:rPr lang="en-US" dirty="0" err="1"/>
              <a:t>etc</a:t>
            </a:r>
            <a:r>
              <a:rPr lang="en-US" dirty="0"/>
              <a:t>). </a:t>
            </a:r>
          </a:p>
          <a:p>
            <a:r>
              <a:rPr lang="en-US" dirty="0"/>
              <a:t>Once destructor execution completed then Garbage Collector automatically destroys  that object. </a:t>
            </a:r>
          </a:p>
          <a:p>
            <a:endParaRPr lang="en-US" dirty="0"/>
          </a:p>
          <a:p>
            <a:r>
              <a:rPr lang="en-US" b="1" dirty="0"/>
              <a:t>Note</a:t>
            </a:r>
            <a:r>
              <a:rPr lang="en-US" dirty="0"/>
              <a:t>: The job of destructor is not to destroy object and it is just to perform clean up  activities.</a:t>
            </a:r>
          </a:p>
        </p:txBody>
      </p:sp>
    </p:spTree>
    <p:extLst>
      <p:ext uri="{BB962C8B-B14F-4D97-AF65-F5344CB8AC3E}">
        <p14:creationId xmlns:p14="http://schemas.microsoft.com/office/powerpoint/2010/main" val="4232567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34EAE-8DB3-98D1-B5C0-802D36442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9155F-33AA-ABFA-A047-1BAF749AC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1) import time  </a:t>
            </a:r>
          </a:p>
          <a:p>
            <a:pPr marL="0" indent="0">
              <a:buNone/>
            </a:pPr>
            <a:r>
              <a:rPr lang="en-US" dirty="0"/>
              <a:t>2) class Test:  </a:t>
            </a:r>
          </a:p>
          <a:p>
            <a:pPr marL="0" indent="0">
              <a:buNone/>
            </a:pPr>
            <a:r>
              <a:rPr lang="en-US" dirty="0"/>
              <a:t>3) def __</a:t>
            </a:r>
            <a:r>
              <a:rPr lang="en-US" dirty="0" err="1"/>
              <a:t>init</a:t>
            </a:r>
            <a:r>
              <a:rPr lang="en-US" dirty="0"/>
              <a:t>__(self):  </a:t>
            </a:r>
          </a:p>
          <a:p>
            <a:pPr marL="0" indent="0">
              <a:buNone/>
            </a:pPr>
            <a:r>
              <a:rPr lang="en-US" dirty="0"/>
              <a:t>4) print("Object Initialization...")  </a:t>
            </a:r>
          </a:p>
          <a:p>
            <a:pPr marL="0" indent="0">
              <a:buNone/>
            </a:pPr>
            <a:r>
              <a:rPr lang="en-US" dirty="0"/>
              <a:t>5) def __del__(self):  </a:t>
            </a:r>
          </a:p>
          <a:p>
            <a:pPr marL="0" indent="0">
              <a:buNone/>
            </a:pPr>
            <a:r>
              <a:rPr lang="en-US" dirty="0"/>
              <a:t>6) print("Fulfilling Last Wish and performing clean up activities...")  7)  </a:t>
            </a:r>
          </a:p>
          <a:p>
            <a:pPr marL="0" indent="0">
              <a:buNone/>
            </a:pPr>
            <a:r>
              <a:rPr lang="en-US" dirty="0"/>
              <a:t>8) t1=Test()  </a:t>
            </a:r>
          </a:p>
          <a:p>
            <a:pPr marL="0" indent="0">
              <a:buNone/>
            </a:pPr>
            <a:r>
              <a:rPr lang="en-US" dirty="0"/>
              <a:t>9) t1=None  </a:t>
            </a:r>
          </a:p>
          <a:p>
            <a:pPr marL="0" indent="0">
              <a:buNone/>
            </a:pPr>
            <a:r>
              <a:rPr lang="en-US" dirty="0"/>
              <a:t>10)</a:t>
            </a:r>
            <a:r>
              <a:rPr lang="en-US" dirty="0" err="1"/>
              <a:t>time.sleep</a:t>
            </a:r>
            <a:r>
              <a:rPr lang="en-US" dirty="0"/>
              <a:t>(5)  </a:t>
            </a:r>
          </a:p>
          <a:p>
            <a:pPr marL="0" indent="0">
              <a:buNone/>
            </a:pPr>
            <a:r>
              <a:rPr lang="en-US" dirty="0"/>
              <a:t>11) print("End of application")  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Output 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Object Initialization... 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Fulfilling Last Wish and performing clean up activities... 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End of application</a:t>
            </a:r>
          </a:p>
        </p:txBody>
      </p:sp>
    </p:spTree>
    <p:extLst>
      <p:ext uri="{BB962C8B-B14F-4D97-AF65-F5344CB8AC3E}">
        <p14:creationId xmlns:p14="http://schemas.microsoft.com/office/powerpoint/2010/main" val="34299774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AD6A-7825-8046-9658-A6DCB1AF6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DBD4-D412-1029-9C82-5CFCDFF98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/>
              <a:t>Note</a:t>
            </a:r>
            <a:r>
              <a:rPr lang="en-US" dirty="0"/>
              <a:t>: If the object does not contain any reference variable then only it is eligible </a:t>
            </a:r>
            <a:r>
              <a:rPr lang="en-US" dirty="0" err="1"/>
              <a:t>fo</a:t>
            </a:r>
            <a:r>
              <a:rPr lang="en-US" dirty="0"/>
              <a:t> GC. </a:t>
            </a:r>
            <a:r>
              <a:rPr lang="en-US" dirty="0" err="1"/>
              <a:t>ie</a:t>
            </a:r>
            <a:r>
              <a:rPr lang="en-US" dirty="0"/>
              <a:t>  if the reference count is zero then only object eligible for GC. </a:t>
            </a:r>
          </a:p>
        </p:txBody>
      </p:sp>
    </p:spTree>
    <p:extLst>
      <p:ext uri="{BB962C8B-B14F-4D97-AF65-F5344CB8AC3E}">
        <p14:creationId xmlns:p14="http://schemas.microsoft.com/office/powerpoint/2010/main" val="4146275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15EAD-03F9-7D03-B014-DAEC07B97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176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dirty="0"/>
              <a:t>1) import time  </a:t>
            </a:r>
          </a:p>
          <a:p>
            <a:pPr marL="0" indent="0">
              <a:buNone/>
            </a:pPr>
            <a:r>
              <a:rPr lang="en-US" sz="1900" dirty="0"/>
              <a:t>2) class Test:  </a:t>
            </a:r>
          </a:p>
          <a:p>
            <a:pPr marL="0" indent="0">
              <a:buNone/>
            </a:pPr>
            <a:r>
              <a:rPr lang="en-US" sz="1900" dirty="0"/>
              <a:t>3) 	def __</a:t>
            </a:r>
            <a:r>
              <a:rPr lang="en-US" sz="1900" dirty="0" err="1"/>
              <a:t>init</a:t>
            </a:r>
            <a:r>
              <a:rPr lang="en-US" sz="1900" dirty="0"/>
              <a:t>__(self):  </a:t>
            </a:r>
          </a:p>
          <a:p>
            <a:pPr marL="0" indent="0">
              <a:buNone/>
            </a:pPr>
            <a:r>
              <a:rPr lang="en-US" sz="1900" dirty="0"/>
              <a:t>4) 		print("Constructor Execution...")  </a:t>
            </a:r>
          </a:p>
          <a:p>
            <a:pPr marL="0" indent="0">
              <a:buNone/>
            </a:pPr>
            <a:r>
              <a:rPr lang="en-US" sz="1900" dirty="0"/>
              <a:t>5) 	def __del__(self):  </a:t>
            </a:r>
          </a:p>
          <a:p>
            <a:pPr marL="0" indent="0">
              <a:buNone/>
            </a:pPr>
            <a:r>
              <a:rPr lang="en-US" sz="1900" dirty="0"/>
              <a:t>6) 		print("Destructor Execution...")  </a:t>
            </a:r>
          </a:p>
          <a:p>
            <a:pPr marL="0" indent="0">
              <a:buNone/>
            </a:pPr>
            <a:r>
              <a:rPr lang="en-US" sz="1900" dirty="0"/>
              <a:t>7)  </a:t>
            </a:r>
          </a:p>
          <a:p>
            <a:pPr marL="0" indent="0">
              <a:buNone/>
            </a:pPr>
            <a:r>
              <a:rPr lang="en-US" sz="1900" dirty="0"/>
              <a:t>8) t1=Test()  </a:t>
            </a:r>
          </a:p>
          <a:p>
            <a:pPr marL="0" indent="0">
              <a:buNone/>
            </a:pPr>
            <a:r>
              <a:rPr lang="en-US" sz="1900" dirty="0"/>
              <a:t>9) t2=t1  </a:t>
            </a:r>
          </a:p>
          <a:p>
            <a:pPr marL="0" indent="0">
              <a:buNone/>
            </a:pPr>
            <a:r>
              <a:rPr lang="en-US" sz="1900" dirty="0"/>
              <a:t>10)t3=t2  </a:t>
            </a:r>
          </a:p>
          <a:p>
            <a:pPr marL="0" indent="0">
              <a:buNone/>
            </a:pPr>
            <a:r>
              <a:rPr lang="en-US" sz="1900" dirty="0"/>
              <a:t>11) del t1  </a:t>
            </a:r>
          </a:p>
          <a:p>
            <a:pPr marL="0" indent="0">
              <a:buNone/>
            </a:pPr>
            <a:r>
              <a:rPr lang="en-US" sz="1900" dirty="0"/>
              <a:t>12)</a:t>
            </a:r>
            <a:r>
              <a:rPr lang="en-US" sz="1900" dirty="0" err="1"/>
              <a:t>time.sleep</a:t>
            </a:r>
            <a:r>
              <a:rPr lang="en-US" sz="1900" dirty="0"/>
              <a:t>(5)  </a:t>
            </a:r>
          </a:p>
          <a:p>
            <a:pPr marL="0" indent="0">
              <a:buNone/>
            </a:pPr>
            <a:r>
              <a:rPr lang="en-US" sz="1900" dirty="0"/>
              <a:t>13) print("object not yet destroyed after deleting t1")  </a:t>
            </a:r>
          </a:p>
          <a:p>
            <a:pPr marL="0" indent="0">
              <a:buNone/>
            </a:pPr>
            <a:r>
              <a:rPr lang="en-US" sz="1900" dirty="0"/>
              <a:t>14) del t2 </a:t>
            </a:r>
          </a:p>
          <a:p>
            <a:pPr marL="0" indent="0">
              <a:buNone/>
            </a:pPr>
            <a:r>
              <a:rPr lang="en-US" sz="1900" dirty="0"/>
              <a:t>15)</a:t>
            </a:r>
            <a:r>
              <a:rPr lang="en-US" sz="1900" dirty="0" err="1"/>
              <a:t>time.sleep</a:t>
            </a:r>
            <a:r>
              <a:rPr lang="en-US" sz="1900" dirty="0"/>
              <a:t>(5)  </a:t>
            </a:r>
          </a:p>
          <a:p>
            <a:pPr marL="0" indent="0">
              <a:buNone/>
            </a:pPr>
            <a:r>
              <a:rPr lang="en-US" sz="1900" dirty="0"/>
              <a:t>16) print("object not yet destroyed even after deleting t2")  </a:t>
            </a:r>
          </a:p>
          <a:p>
            <a:pPr marL="0" indent="0">
              <a:buNone/>
            </a:pPr>
            <a:r>
              <a:rPr lang="en-US" sz="1900" dirty="0"/>
              <a:t>17) print("I am trying to delete last reference variable...")  </a:t>
            </a:r>
          </a:p>
          <a:p>
            <a:pPr marL="0" indent="0">
              <a:buNone/>
            </a:pPr>
            <a:r>
              <a:rPr lang="en-US" sz="1900" dirty="0"/>
              <a:t>18) del t3 </a:t>
            </a:r>
          </a:p>
        </p:txBody>
      </p:sp>
    </p:spTree>
    <p:extLst>
      <p:ext uri="{BB962C8B-B14F-4D97-AF65-F5344CB8AC3E}">
        <p14:creationId xmlns:p14="http://schemas.microsoft.com/office/powerpoint/2010/main" val="15736086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9A7F6-14E2-4A8D-562E-4BD7F4BCC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"/>
            <a:ext cx="10515600" cy="607028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1) import time  </a:t>
            </a:r>
          </a:p>
          <a:p>
            <a:r>
              <a:rPr lang="en-US" dirty="0"/>
              <a:t>2) class Test:  </a:t>
            </a:r>
          </a:p>
          <a:p>
            <a:r>
              <a:rPr lang="en-US" dirty="0"/>
              <a:t>3) def __</a:t>
            </a:r>
            <a:r>
              <a:rPr lang="en-US" dirty="0" err="1"/>
              <a:t>init</a:t>
            </a:r>
            <a:r>
              <a:rPr lang="en-US" dirty="0"/>
              <a:t>__(self):  </a:t>
            </a:r>
          </a:p>
          <a:p>
            <a:r>
              <a:rPr lang="en-US" dirty="0"/>
              <a:t>4) print("Constructor Execution...")  </a:t>
            </a:r>
          </a:p>
          <a:p>
            <a:r>
              <a:rPr lang="en-US" dirty="0"/>
              <a:t>5) def __del__(self):  </a:t>
            </a:r>
          </a:p>
          <a:p>
            <a:r>
              <a:rPr lang="en-US" dirty="0"/>
              <a:t>6) print("Destructor Execution...")  </a:t>
            </a:r>
          </a:p>
          <a:p>
            <a:r>
              <a:rPr lang="en-US" dirty="0"/>
              <a:t>7)  </a:t>
            </a:r>
          </a:p>
          <a:p>
            <a:r>
              <a:rPr lang="en-US" dirty="0"/>
              <a:t>8) list=[Test(),Test(),Test()]  </a:t>
            </a:r>
          </a:p>
          <a:p>
            <a:r>
              <a:rPr lang="en-US" dirty="0"/>
              <a:t>9) del list  </a:t>
            </a:r>
          </a:p>
          <a:p>
            <a:r>
              <a:rPr lang="en-US" dirty="0"/>
              <a:t>10)</a:t>
            </a:r>
            <a:r>
              <a:rPr lang="en-US" dirty="0" err="1"/>
              <a:t>time.sleep</a:t>
            </a:r>
            <a:r>
              <a:rPr lang="en-US" dirty="0"/>
              <a:t>(5)  </a:t>
            </a:r>
          </a:p>
          <a:p>
            <a:r>
              <a:rPr lang="en-US" dirty="0"/>
              <a:t>11) print("End of application")  </a:t>
            </a:r>
          </a:p>
          <a:p>
            <a:r>
              <a:rPr lang="en-US" dirty="0">
                <a:solidFill>
                  <a:srgbClr val="00B050"/>
                </a:solidFill>
              </a:rPr>
              <a:t>Output </a:t>
            </a:r>
          </a:p>
          <a:p>
            <a:r>
              <a:rPr lang="en-US" dirty="0">
                <a:solidFill>
                  <a:srgbClr val="00B050"/>
                </a:solidFill>
              </a:rPr>
              <a:t>Constructor Execution... </a:t>
            </a:r>
          </a:p>
          <a:p>
            <a:r>
              <a:rPr lang="en-US" dirty="0">
                <a:solidFill>
                  <a:srgbClr val="00B050"/>
                </a:solidFill>
              </a:rPr>
              <a:t>Constructor Execution... </a:t>
            </a:r>
          </a:p>
          <a:p>
            <a:r>
              <a:rPr lang="en-US" dirty="0">
                <a:solidFill>
                  <a:srgbClr val="00B050"/>
                </a:solidFill>
              </a:rPr>
              <a:t>Constructor Execution... </a:t>
            </a:r>
          </a:p>
          <a:p>
            <a:r>
              <a:rPr lang="en-US" dirty="0">
                <a:solidFill>
                  <a:srgbClr val="00B050"/>
                </a:solidFill>
              </a:rPr>
              <a:t>Destructor Execution... </a:t>
            </a:r>
          </a:p>
          <a:p>
            <a:r>
              <a:rPr lang="en-US" dirty="0">
                <a:solidFill>
                  <a:srgbClr val="00B050"/>
                </a:solidFill>
              </a:rPr>
              <a:t>Destructor Execution... </a:t>
            </a:r>
          </a:p>
          <a:p>
            <a:r>
              <a:rPr lang="en-US" dirty="0">
                <a:solidFill>
                  <a:srgbClr val="00B050"/>
                </a:solidFill>
              </a:rPr>
              <a:t>Destructor Execution... </a:t>
            </a:r>
          </a:p>
          <a:p>
            <a:r>
              <a:rPr lang="en-US" dirty="0">
                <a:solidFill>
                  <a:srgbClr val="00B050"/>
                </a:solidFill>
              </a:rPr>
              <a:t>End of application </a:t>
            </a:r>
          </a:p>
        </p:txBody>
      </p:sp>
    </p:spTree>
    <p:extLst>
      <p:ext uri="{BB962C8B-B14F-4D97-AF65-F5344CB8AC3E}">
        <p14:creationId xmlns:p14="http://schemas.microsoft.com/office/powerpoint/2010/main" val="1752950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AB5B-9C59-616A-0963-34672F8C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the Number of References of an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58894-BCEC-4332-6475-838D51564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sys</a:t>
            </a:r>
            <a:r>
              <a:rPr lang="en-US" dirty="0"/>
              <a:t> module contains </a:t>
            </a:r>
            <a:r>
              <a:rPr lang="en-US" dirty="0" err="1"/>
              <a:t>getrefcount</a:t>
            </a:r>
            <a:r>
              <a:rPr lang="en-US" dirty="0"/>
              <a:t>() function for this purpose.  </a:t>
            </a:r>
          </a:p>
          <a:p>
            <a:r>
              <a:rPr lang="en-US" dirty="0" err="1"/>
              <a:t>sys.getrefcount</a:t>
            </a:r>
            <a:r>
              <a:rPr lang="en-US" dirty="0"/>
              <a:t> (</a:t>
            </a:r>
            <a:r>
              <a:rPr lang="en-US" dirty="0" err="1"/>
              <a:t>objectreference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1) import sys  </a:t>
            </a:r>
          </a:p>
          <a:p>
            <a:pPr marL="0" indent="0">
              <a:buNone/>
            </a:pPr>
            <a:r>
              <a:rPr lang="en-US" dirty="0"/>
              <a:t>2) class Test:  </a:t>
            </a:r>
          </a:p>
          <a:p>
            <a:pPr marL="0" indent="0">
              <a:buNone/>
            </a:pPr>
            <a:r>
              <a:rPr lang="en-US" dirty="0"/>
              <a:t>3) pass  </a:t>
            </a:r>
          </a:p>
          <a:p>
            <a:pPr marL="0" indent="0">
              <a:buNone/>
            </a:pPr>
            <a:r>
              <a:rPr lang="en-US" dirty="0"/>
              <a:t>4) t1=Test()  </a:t>
            </a:r>
          </a:p>
          <a:p>
            <a:pPr marL="0" indent="0">
              <a:buNone/>
            </a:pPr>
            <a:r>
              <a:rPr lang="en-US" dirty="0"/>
              <a:t>5) t2=t1  </a:t>
            </a:r>
          </a:p>
          <a:p>
            <a:pPr marL="0" indent="0">
              <a:buNone/>
            </a:pPr>
            <a:r>
              <a:rPr lang="en-US" dirty="0"/>
              <a:t>6) t3=t1  </a:t>
            </a:r>
          </a:p>
          <a:p>
            <a:pPr marL="0" indent="0">
              <a:buNone/>
            </a:pPr>
            <a:r>
              <a:rPr lang="en-US" dirty="0"/>
              <a:t>7) t4=t1  </a:t>
            </a:r>
          </a:p>
          <a:p>
            <a:pPr marL="0" indent="0">
              <a:buNone/>
            </a:pPr>
            <a:r>
              <a:rPr lang="en-US" dirty="0"/>
              <a:t>8) print(</a:t>
            </a:r>
            <a:r>
              <a:rPr lang="en-US" dirty="0" err="1"/>
              <a:t>sys.getrefcount</a:t>
            </a:r>
            <a:r>
              <a:rPr lang="en-US" dirty="0"/>
              <a:t>(t1))  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Output 5 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Note: For every object, Python internally maintains one default reference variable self.</a:t>
            </a:r>
          </a:p>
        </p:txBody>
      </p:sp>
    </p:spTree>
    <p:extLst>
      <p:ext uri="{BB962C8B-B14F-4D97-AF65-F5344CB8AC3E}">
        <p14:creationId xmlns:p14="http://schemas.microsoft.com/office/powerpoint/2010/main" val="1120036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3820</TotalTime>
  <Words>2674</Words>
  <Application>Microsoft Macintosh PowerPoint</Application>
  <PresentationFormat>Widescreen</PresentationFormat>
  <Paragraphs>326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Calibri,Bold</vt:lpstr>
      <vt:lpstr>Google Sans</vt:lpstr>
      <vt:lpstr>Office Theme</vt:lpstr>
      <vt:lpstr>PythonDS-21 Inner Classes</vt:lpstr>
      <vt:lpstr>Introduction to Classes and Objects</vt:lpstr>
      <vt:lpstr>Defining a Class in Python</vt:lpstr>
      <vt:lpstr>The 'self' Variable</vt:lpstr>
      <vt:lpstr>The Constructor (__init__)</vt:lpstr>
      <vt:lpstr>Defining a Class</vt:lpstr>
      <vt:lpstr>PowerPoint Presentation</vt:lpstr>
      <vt:lpstr>Types of Variables in Python</vt:lpstr>
      <vt:lpstr>Working with Instance Variables</vt:lpstr>
      <vt:lpstr>Working with Static Variables</vt:lpstr>
      <vt:lpstr>Types of Methods</vt:lpstr>
      <vt:lpstr>Accessor and Mutator Methods</vt:lpstr>
      <vt:lpstr>Passing Members Between Classes</vt:lpstr>
      <vt:lpstr>Member Variables and Member Methods</vt:lpstr>
      <vt:lpstr>PowerPoint Presentation</vt:lpstr>
      <vt:lpstr>toString() implementation in Python</vt:lpstr>
      <vt:lpstr>Implementation Example</vt:lpstr>
      <vt:lpstr>Object</vt:lpstr>
      <vt:lpstr>PowerPoint Presentation</vt:lpstr>
      <vt:lpstr>Self variable</vt:lpstr>
      <vt:lpstr>PowerPoint Presentation</vt:lpstr>
      <vt:lpstr>Differences between Methods and Constructors</vt:lpstr>
      <vt:lpstr>Constructor Concept</vt:lpstr>
      <vt:lpstr> Passing Members of One Class to Another Class</vt:lpstr>
      <vt:lpstr>Inner Classes</vt:lpstr>
      <vt:lpstr>PowerPoint Presentation</vt:lpstr>
      <vt:lpstr>PowerPoint Presentation</vt:lpstr>
      <vt:lpstr>PowerPoint Presentation</vt:lpstr>
      <vt:lpstr>PowerPoint Presentation</vt:lpstr>
      <vt:lpstr>Garbage Collection </vt:lpstr>
      <vt:lpstr>Enable and disable Garbage Collector</vt:lpstr>
      <vt:lpstr>Destructors</vt:lpstr>
      <vt:lpstr>Example</vt:lpstr>
      <vt:lpstr>PowerPoint Presentation</vt:lpstr>
      <vt:lpstr>PowerPoint Presentation</vt:lpstr>
      <vt:lpstr>PowerPoint Presentation</vt:lpstr>
      <vt:lpstr>Finding the Number of References of an Object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184</cp:revision>
  <dcterms:created xsi:type="dcterms:W3CDTF">2026-01-15T04:12:31Z</dcterms:created>
  <dcterms:modified xsi:type="dcterms:W3CDTF">2026-03-12T05:54:21Z</dcterms:modified>
</cp:coreProperties>
</file>