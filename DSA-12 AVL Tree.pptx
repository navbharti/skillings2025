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9" r:id="rId29"/>
    <p:sldId id="283" r:id="rId30"/>
    <p:sldId id="284" r:id="rId31"/>
    <p:sldId id="285" r:id="rId32"/>
    <p:sldId id="286" r:id="rId33"/>
    <p:sldId id="287" r:id="rId34"/>
    <p:sldId id="288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7" r:id="rId62"/>
    <p:sldId id="316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523"/>
  </p:normalViewPr>
  <p:slideViewPr>
    <p:cSldViewPr snapToGrid="0">
      <p:cViewPr>
        <p:scale>
          <a:sx n="181" d="100"/>
          <a:sy n="181" d="100"/>
        </p:scale>
        <p:origin x="144" y="-3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binary-search-tree-data-structur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introduction-to-red-black-tree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binary-search-tree-set-1-search-and-insertion/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AVL Tree </a:t>
            </a:r>
            <a:r>
              <a:rPr lang="en-US" dirty="0"/>
              <a:t>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AFE7F-89E0-B303-CD98-F1D194020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F1628-ABAF-E806-D8C6-EB36C3C45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An AVL tree a self-balancing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Binary Search Tree (BST)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where the difference between heights of left and right subtrees for any node cannot be more than one.</a:t>
            </a: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Balance Factor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=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left subtree height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-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right subtree height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For a Balanced Tree(for every node):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-1 ≤ Balance Factor ≤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623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C76F-E0E5-EB2F-7078-D98A89103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657D1-119A-454D-0A6B-1E7597ECF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Example-of-an-AVL-Tree-11">
            <a:extLst>
              <a:ext uri="{FF2B5EF4-FFF2-40B4-BE49-F238E27FC236}">
                <a16:creationId xmlns:a16="http://schemas.microsoft.com/office/drawing/2014/main" id="{56CB984E-B70B-766C-6F89-446C08FBB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889000"/>
            <a:ext cx="5715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676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5D2B-6B0C-09A6-2556-3D1B88C9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0EA2E-B17F-6128-2A00-2CA0133F6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Example-of-an-AVL-Tree-22">
            <a:extLst>
              <a:ext uri="{FF2B5EF4-FFF2-40B4-BE49-F238E27FC236}">
                <a16:creationId xmlns:a16="http://schemas.microsoft.com/office/drawing/2014/main" id="{CB2CD469-765F-D08D-66C8-1AE79A3A2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400" y="762000"/>
            <a:ext cx="60452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15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EEB38-3F0A-F4D0-8205-927EC6DA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7BEDE-FAE6-C9F3-1CEB-B0A4EA075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Example-of-an-AVL-Tree-22">
            <a:extLst>
              <a:ext uri="{FF2B5EF4-FFF2-40B4-BE49-F238E27FC236}">
                <a16:creationId xmlns:a16="http://schemas.microsoft.com/office/drawing/2014/main" id="{DD54C530-AF38-8C62-637B-EB9390FC0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400" y="762000"/>
            <a:ext cx="60452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55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B57D-CB6A-E768-993A-43C0CC39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Operations on an AVL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F798B-CDD2-FB44-3794-A55F3E674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Searching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: It is same as normal Binary Search Tree (BST) as an AVL Tree is always a BST. So we can use the same implementation as BST. The advantage here is time complexity is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 O(log n)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Insertion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 It does rotations along with normal BST insertion to make sure that the balance factor of the impacted nodes is in the range [-1, +1] after insertion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Deletion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: It also does rotations along with normal BST deletion to make sure that the balance factor of the impacted nodes is in range [-1, +1] after deletion.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810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F6A9-AFEC-D7C2-7052-A85615B9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Rotating the subtrees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6F7FE-8B12-8217-3C0D-D4034D4D2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dirty="0">
                <a:solidFill>
                  <a:srgbClr val="273239"/>
                </a:solidFill>
                <a:latin typeface="Nunito" pitchFamily="2" charset="77"/>
              </a:rPr>
              <a:t>F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our ways to rotate to keep itself balanced while making sure that the BST properties are maintained.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1. Left-Left Case: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Occurs when a node is inserted into the left subtree of the left child, causing the balance factor to become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more than +1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Fix: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Perform a single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right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rotation.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820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2C76-46FC-4691-96AB-D08543C06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1FA5D-E5A9-BAF5-1137-615503E4E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Right-Rotation-1.webp">
            <a:extLst>
              <a:ext uri="{FF2B5EF4-FFF2-40B4-BE49-F238E27FC236}">
                <a16:creationId xmlns:a16="http://schemas.microsoft.com/office/drawing/2014/main" id="{F2A66326-BF20-24E1-F30E-D6A899657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830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B32E2-3EE7-88B4-4AE6-9C3F9A717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EDEA1-BA8C-FB63-92D3-8B33BEB49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Right-Rotation-2.webp">
            <a:extLst>
              <a:ext uri="{FF2B5EF4-FFF2-40B4-BE49-F238E27FC236}">
                <a16:creationId xmlns:a16="http://schemas.microsoft.com/office/drawing/2014/main" id="{101A3EA1-A20B-1F14-F23E-46E23854E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642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7B21-242D-85D2-945C-A06862A3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1931-CC1F-50F6-F010-0C2124D01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Right-Rotation-3.webp">
            <a:extLst>
              <a:ext uri="{FF2B5EF4-FFF2-40B4-BE49-F238E27FC236}">
                <a16:creationId xmlns:a16="http://schemas.microsoft.com/office/drawing/2014/main" id="{B9367EF5-C5D4-D5CA-D735-CB8E45B98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539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E5FC-D005-9BD6-3DDD-6F9AE916D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Rotating the subtrees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F9EA1-EF26-8FDD-F0C4-4F2EF0915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2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Right-Right Case: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Occurs when a node is inserted into the right subtree of the right child, making the balance factor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less than -1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Fix: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Perform a single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left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rotation.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865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6669-DB8E-0AE3-0F20-EF89DE22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3DA65-E2CB-9DA6-AF47-46BB7702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Left-Rotation-1.webp">
            <a:extLst>
              <a:ext uri="{FF2B5EF4-FFF2-40B4-BE49-F238E27FC236}">
                <a16:creationId xmlns:a16="http://schemas.microsoft.com/office/drawing/2014/main" id="{C4915914-1999-C49A-C53A-78BC76808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020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EE51-F86B-9AD8-621E-88D7CEBF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6C110-DE56-6949-DD8D-E101E1A17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Left-Rotation-2.webp">
            <a:extLst>
              <a:ext uri="{FF2B5EF4-FFF2-40B4-BE49-F238E27FC236}">
                <a16:creationId xmlns:a16="http://schemas.microsoft.com/office/drawing/2014/main" id="{A74F8FAA-EF01-17C9-4854-7C941CFC6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810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F981-70D6-CA9D-6B6E-8D40804E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D0237-B2E9-3E6D-008B-F334E3BC1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Left-Rotation-3.webp">
            <a:extLst>
              <a:ext uri="{FF2B5EF4-FFF2-40B4-BE49-F238E27FC236}">
                <a16:creationId xmlns:a16="http://schemas.microsoft.com/office/drawing/2014/main" id="{AE0E9337-14CB-C736-2AA2-897EFD91E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175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6451-8116-9A47-9331-C47BF884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Rotating the subtrees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0DE04-9B1E-6108-CD90-3F197116A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3. Left-Right Case: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Occurs when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a node is inserted into the right subtree of the left child, which disturbs the balance factor of an ancestor node, making it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left-heavy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Fix: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Perform a left rotation on the left child, followed by a right rotation on the node.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845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23A8-28A6-B47D-2958-B92D952FB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F59AE-ED86-7284-D780-14A7B878E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Left-Right-Rotation-1.webp">
            <a:extLst>
              <a:ext uri="{FF2B5EF4-FFF2-40B4-BE49-F238E27FC236}">
                <a16:creationId xmlns:a16="http://schemas.microsoft.com/office/drawing/2014/main" id="{F2BC8B6A-8DE0-6612-986B-B77074E77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8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3DE4-3EFD-D54B-C8E5-FBDE21C0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ABD2F-4FE6-34BE-5670-30DA6684B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Left-Right-Rotation-2.webp">
            <a:extLst>
              <a:ext uri="{FF2B5EF4-FFF2-40B4-BE49-F238E27FC236}">
                <a16:creationId xmlns:a16="http://schemas.microsoft.com/office/drawing/2014/main" id="{11C9530E-B41D-8700-D914-15EEBFAD3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751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44F2A-F1C7-E749-C527-43004694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BC1E9-9171-277B-E9CE-B824C563C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Left-Right-Rotation-3.webp">
            <a:extLst>
              <a:ext uri="{FF2B5EF4-FFF2-40B4-BE49-F238E27FC236}">
                <a16:creationId xmlns:a16="http://schemas.microsoft.com/office/drawing/2014/main" id="{5D46B837-6FEB-1FFF-1EBE-8EB4A482D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377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8368-FE8B-6CB1-F646-964C2B1F6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8B448-B9DD-3671-9247-11CC15F55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Left-Right-Rotation-4.webp">
            <a:extLst>
              <a:ext uri="{FF2B5EF4-FFF2-40B4-BE49-F238E27FC236}">
                <a16:creationId xmlns:a16="http://schemas.microsoft.com/office/drawing/2014/main" id="{60B6F922-3001-987C-605C-298B5F6D8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809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AACD-780B-FC41-871E-B75BFBAA9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7D03-CFAD-E480-4F18-0FC6269EC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Left-Right-Rotation-5.webp">
            <a:extLst>
              <a:ext uri="{FF2B5EF4-FFF2-40B4-BE49-F238E27FC236}">
                <a16:creationId xmlns:a16="http://schemas.microsoft.com/office/drawing/2014/main" id="{751F9560-99BF-D633-04F5-E5D755F49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662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A43DD-0EB1-776F-2A0D-D2D082888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Rotating the subtrees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9D643-E2C6-6DEB-A4E6-052CF1A1B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4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Right-Left Case: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Occurs when a node is inserted into the left subtree of the right child, which disturbs the balance factor of an ancestor node, making it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right-heavy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Fix: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Perform a right rotation on the right child, followed by a left rotation on the node.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252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4BB3B-F366-2FCA-F87D-B40FB18D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75A78-BBC4-E7B2-EC5D-D115B663A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Right-Left-Rotation-1.webp">
            <a:extLst>
              <a:ext uri="{FF2B5EF4-FFF2-40B4-BE49-F238E27FC236}">
                <a16:creationId xmlns:a16="http://schemas.microsoft.com/office/drawing/2014/main" id="{6B8B7125-C3E6-F330-5524-E785F69E1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893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9050E-64C1-5C01-2002-1AF35E2B8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CF148-3E3C-304A-C852-944B8DC36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Right-Left-Rotation-2.webp">
            <a:extLst>
              <a:ext uri="{FF2B5EF4-FFF2-40B4-BE49-F238E27FC236}">
                <a16:creationId xmlns:a16="http://schemas.microsoft.com/office/drawing/2014/main" id="{915156F5-20B3-5EBD-DFEC-28E04E39C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576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F116B-3D79-D54A-157D-7D7BDD00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430EE-85AA-E0E9-D41D-B43CEFCE4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 descr="Right-Left-Rotation-3.webp">
            <a:extLst>
              <a:ext uri="{FF2B5EF4-FFF2-40B4-BE49-F238E27FC236}">
                <a16:creationId xmlns:a16="http://schemas.microsoft.com/office/drawing/2014/main" id="{EEA544BE-985B-346C-5F15-92F545B37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811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596A2-0F90-B7C1-265B-0FB4623B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AB6BF-C4BA-4B20-01C4-2A8D05768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 descr="Right-Left-Rotation-4.webp">
            <a:extLst>
              <a:ext uri="{FF2B5EF4-FFF2-40B4-BE49-F238E27FC236}">
                <a16:creationId xmlns:a16="http://schemas.microsoft.com/office/drawing/2014/main" id="{B508E2A7-F95A-E8F7-DEF1-0BF65403C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358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BF51-848C-0526-B9DE-7C1CF83F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CBB02-8C92-1339-4AD6-4CC8AA922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Right-Left-Rotation-5.webp">
            <a:extLst>
              <a:ext uri="{FF2B5EF4-FFF2-40B4-BE49-F238E27FC236}">
                <a16:creationId xmlns:a16="http://schemas.microsoft.com/office/drawing/2014/main" id="{16BDB321-3815-7628-5599-4DDA150B8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98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E613-641D-1ECA-0F22-AF2A6F350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Advantages of AVL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48B0E-2347-1CF4-D9C2-11639CD34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>
              <a:buFont typeface="+mj-lt"/>
              <a:buAutoNum type="arabicPeriod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AVL trees can self-balance themselves and therefore provides time complexity as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O(log n)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for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search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insert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and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delete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pPr algn="l" fontAlgn="base">
              <a:buFont typeface="+mj-lt"/>
              <a:buAutoNum type="arabicPeriod" startAt="2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As it is a balanced BST, so items can be traversed in sorted order.</a:t>
            </a:r>
          </a:p>
          <a:p>
            <a:pPr algn="l" fontAlgn="base">
              <a:buFont typeface="+mj-lt"/>
              <a:buAutoNum type="arabicPeriod" startAt="3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Since the balancing rules are strict compared to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Red Black Tree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AVL trees in general have relatively less height and hence the search is faster.</a:t>
            </a:r>
          </a:p>
          <a:p>
            <a:pPr algn="l" fontAlgn="base">
              <a:buFont typeface="+mj-lt"/>
              <a:buAutoNum type="arabicPeriod" startAt="4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AVL tree is relatively less complex to understand and implement compared to Red Black Trees.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324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2BD4-7DCF-F440-6171-B4FEDDAA2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Why AVL Trees?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8171B-CCFE-9C9F-7CEE-943EB498B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Most of the BST operations (e.g.,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search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max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min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insert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delete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floor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and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ceiling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) take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O(h)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time where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h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is the height of the BST. 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 cost of these operations may become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O(n)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for a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skewed Binary tree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 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If we make sure that the height of the tree remains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O(log(n))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after every insertion and deletion, then we can guarantee an upper bound of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O(log(n))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for all these operations. 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 height of an AVL tree is always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O(log(n))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where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is the number of nodes in the tree.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644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F0A1-D368-B339-3316-90632EE4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Disadvantages of AVL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42A6C-1E2D-2B00-607C-ED442E262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+mj-lt"/>
              <a:buAutoNum type="arabicPeriod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It is difficult to implement compared to normal BST.</a:t>
            </a:r>
          </a:p>
          <a:p>
            <a:pPr algn="l" fontAlgn="base">
              <a:buFont typeface="+mj-lt"/>
              <a:buAutoNum type="arabicPeriod" startAt="2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Less used compared to Red-Black trees. Due to its rather strict balance.</a:t>
            </a:r>
          </a:p>
          <a:p>
            <a:pPr algn="l" fontAlgn="base">
              <a:buFont typeface="+mj-lt"/>
              <a:buAutoNum type="arabicPeriod" startAt="3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AVL trees provide complicated insertion and removal operations as more rotations are performed.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616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6122-8D9D-FF43-3C8C-E2576686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Operation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F7332-C345-DC42-631A-D5D11B0C1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Insertion in an AVL Tree same as in a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Binary Search Tree (BST)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new key is placed in its correct position based on BST rules (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left &lt; node &lt; right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After the insertion, the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balance factor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of each node is checked during the path back up to the root. If any node becomes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unbalanced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(i.e., its balance factor not in range of [-1 , +1], a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rotation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is required to rebalance the AVL property.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995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702F-779E-1EA5-8DE7-7AA4A92EB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215BA-9E95-0ADB-7F4F-701D03A33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right_left_rotation_127.webp">
            <a:extLst>
              <a:ext uri="{FF2B5EF4-FFF2-40B4-BE49-F238E27FC236}">
                <a16:creationId xmlns:a16="http://schemas.microsoft.com/office/drawing/2014/main" id="{2C7A733E-4907-F351-DC94-1DC7B53AF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447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CEB6-E1BE-B804-B8C6-242363D72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C68E1-D065-87D4-D84E-87D35BC6E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right_left_rotation_128.webp">
            <a:extLst>
              <a:ext uri="{FF2B5EF4-FFF2-40B4-BE49-F238E27FC236}">
                <a16:creationId xmlns:a16="http://schemas.microsoft.com/office/drawing/2014/main" id="{F91148B1-1087-42E5-9829-8E420074C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917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35F7-C5F1-C820-D4FB-2E2C2AC6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6423D-49E8-3317-7D0D-CE933659D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 descr="right_left_rotation_129.webp">
            <a:extLst>
              <a:ext uri="{FF2B5EF4-FFF2-40B4-BE49-F238E27FC236}">
                <a16:creationId xmlns:a16="http://schemas.microsoft.com/office/drawing/2014/main" id="{213CFCAA-DB67-CEFB-EFEE-E4C7B827B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513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AA08-9C52-7C92-229D-564A2616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A256B-E726-801A-7ED4-5761442B9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 descr="right_left_rotation_130.webp">
            <a:extLst>
              <a:ext uri="{FF2B5EF4-FFF2-40B4-BE49-F238E27FC236}">
                <a16:creationId xmlns:a16="http://schemas.microsoft.com/office/drawing/2014/main" id="{5126AB62-6266-2359-2187-8B6E08242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558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14816-281B-9D72-C7CF-DE65A4A80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Left Rotation  and Right Rotation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4466-050E-09F9-EB10-2FED121DB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 descr="Deletion-in-an-AVL-Tree_">
            <a:extLst>
              <a:ext uri="{FF2B5EF4-FFF2-40B4-BE49-F238E27FC236}">
                <a16:creationId xmlns:a16="http://schemas.microsoft.com/office/drawing/2014/main" id="{A182B965-ADB3-5616-C3B8-4974C6A93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105156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344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AF29-92BC-3B65-1F60-7A428E80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FA325-35BC-DDBB-3F16-25494190F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 descr="right_left_rotation_67.webp">
            <a:extLst>
              <a:ext uri="{FF2B5EF4-FFF2-40B4-BE49-F238E27FC236}">
                <a16:creationId xmlns:a16="http://schemas.microsoft.com/office/drawing/2014/main" id="{4EF9701F-96D1-39D6-24A5-E7254594D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418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A3CB-6DFA-D083-C041-B32CD311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C940-EEFF-3268-5B5F-B9602EFC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 descr="right_left_rotation_89.webp">
            <a:extLst>
              <a:ext uri="{FF2B5EF4-FFF2-40B4-BE49-F238E27FC236}">
                <a16:creationId xmlns:a16="http://schemas.microsoft.com/office/drawing/2014/main" id="{C6DD5464-0F1F-74AF-E617-9282EC4D3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409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C49B-3C5A-6732-F431-ED09130A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6D68F-478D-0396-8D76-743ED1467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 descr="right_left_rotation_95.webp">
            <a:extLst>
              <a:ext uri="{FF2B5EF4-FFF2-40B4-BE49-F238E27FC236}">
                <a16:creationId xmlns:a16="http://schemas.microsoft.com/office/drawing/2014/main" id="{771C6AF5-9C04-12DD-3C69-BEFB3C022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0040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5E87-6390-03FB-7B9D-0F703737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22CD0-7819-1764-1DDF-73BE59566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 descr="right_left_rotation_96.webp">
            <a:extLst>
              <a:ext uri="{FF2B5EF4-FFF2-40B4-BE49-F238E27FC236}">
                <a16:creationId xmlns:a16="http://schemas.microsoft.com/office/drawing/2014/main" id="{E44147E7-2343-5120-6E5E-F46BF4EAB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2186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EF87-2A43-FC02-D19E-D7CDC8F0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9B6A7-3927-7A19-459E-CFF9BA1A4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 descr="right_left_rotation_97.webp">
            <a:extLst>
              <a:ext uri="{FF2B5EF4-FFF2-40B4-BE49-F238E27FC236}">
                <a16:creationId xmlns:a16="http://schemas.microsoft.com/office/drawing/2014/main" id="{22E77172-2412-E25F-8F71-E45FC9F9E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3412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CD0AD-4592-7CC9-AFAB-2ABBCEEF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84B40-9A32-03A2-DB18-63A407F40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 descr="right_left_rotation_98.webp">
            <a:extLst>
              <a:ext uri="{FF2B5EF4-FFF2-40B4-BE49-F238E27FC236}">
                <a16:creationId xmlns:a16="http://schemas.microsoft.com/office/drawing/2014/main" id="{93694DB5-E2AC-78A7-7ECB-F01AFA4D7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556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7212-7B24-950D-1410-BF59E38C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DE2D5-9AC9-E625-0F87-6135AFD11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 descr="right_left_rotation_99.webp">
            <a:extLst>
              <a:ext uri="{FF2B5EF4-FFF2-40B4-BE49-F238E27FC236}">
                <a16:creationId xmlns:a16="http://schemas.microsoft.com/office/drawing/2014/main" id="{E9632B7F-14C3-4B86-49C8-4330B878E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9268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E8D37-A6B8-0B1E-B239-04CF6250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D786A-C8ED-464E-FD43-0B5C63ADC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22" name="Picture 2" descr="right_left_rotation_100.webp">
            <a:extLst>
              <a:ext uri="{FF2B5EF4-FFF2-40B4-BE49-F238E27FC236}">
                <a16:creationId xmlns:a16="http://schemas.microsoft.com/office/drawing/2014/main" id="{F949C16C-DDBC-C058-42CB-D695E2366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73996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82EA-D995-68B3-E28B-C362335EA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B9978-1E41-A815-915E-BAF7A7BA7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746" name="Picture 2" descr="right_left_rotation_101.webp">
            <a:extLst>
              <a:ext uri="{FF2B5EF4-FFF2-40B4-BE49-F238E27FC236}">
                <a16:creationId xmlns:a16="http://schemas.microsoft.com/office/drawing/2014/main" id="{37ABDB25-A15E-B2DD-7215-77375B5ED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7110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CE28-C7DB-D840-3811-FCF98C32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5DD41-4920-56E7-9302-22364723A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770" name="Picture 2" descr="right_left_rotation_102.webp">
            <a:extLst>
              <a:ext uri="{FF2B5EF4-FFF2-40B4-BE49-F238E27FC236}">
                <a16:creationId xmlns:a16="http://schemas.microsoft.com/office/drawing/2014/main" id="{B48323D2-CE0B-5B6F-20A7-34FEABBA7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520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5593-2AEB-171D-2089-6E0C8B9C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66D73-53CD-B684-85F3-F7DC2C3C8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3794" name="Picture 2" descr="right_left_rotation_14.webp">
            <a:extLst>
              <a:ext uri="{FF2B5EF4-FFF2-40B4-BE49-F238E27FC236}">
                <a16:creationId xmlns:a16="http://schemas.microsoft.com/office/drawing/2014/main" id="{9AFC20FF-14F0-2DD7-E0C7-6885BAEA5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2812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3FB4-CED9-8DBE-EB55-41D32BA3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5EFF5-38C2-6C16-829F-421639153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818" name="Picture 2" descr="right_left_rotation_103.webp">
            <a:extLst>
              <a:ext uri="{FF2B5EF4-FFF2-40B4-BE49-F238E27FC236}">
                <a16:creationId xmlns:a16="http://schemas.microsoft.com/office/drawing/2014/main" id="{B7672B7E-5517-0FE1-64E4-E188BADD1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0739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0939-40BC-6618-CDA5-535FE0C0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Operation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CCEE6-FDAF-D3F0-C23B-2D2BEBF3B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Perform the normal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BST insertion.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 current node must be one of the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ancestors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of the newly inserted node. Update the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height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of the current node.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Get the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balance factor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(left subtree height - right subtree height) of the current node.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If the balance factor is greater than +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1,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then the current node is unbalanced and we are either in the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Left Left case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or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left Right case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To check whether it is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left left case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or not, compare the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newly inserted key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with the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key in the left subtree root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If the balance factor is less than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-1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then the current node is unbalanced and we are either in the Right Right case or Right-Left case.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To check whether it is the Right Right case or not, compare the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newly inserted key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with the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key in the right subtree root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3130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01771-A4DC-0B51-94D0-E900821A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952B-8ED0-B979-CBF4-006C104C8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class Node { </a:t>
            </a:r>
          </a:p>
          <a:p>
            <a:r>
              <a:rPr lang="en-US" dirty="0"/>
              <a:t>    int key; </a:t>
            </a:r>
          </a:p>
          <a:p>
            <a:r>
              <a:rPr lang="en-US" dirty="0"/>
              <a:t>    Node left; </a:t>
            </a:r>
          </a:p>
          <a:p>
            <a:r>
              <a:rPr lang="en-US" dirty="0"/>
              <a:t>    Node right; </a:t>
            </a:r>
          </a:p>
          <a:p>
            <a:r>
              <a:rPr lang="en-US" dirty="0"/>
              <a:t>    int height; </a:t>
            </a:r>
          </a:p>
          <a:p>
            <a:endParaRPr lang="en-US" dirty="0"/>
          </a:p>
          <a:p>
            <a:r>
              <a:rPr lang="en-US" dirty="0"/>
              <a:t>    Node(int data) { </a:t>
            </a:r>
          </a:p>
          <a:p>
            <a:r>
              <a:rPr lang="en-US" dirty="0"/>
              <a:t>        key = data; </a:t>
            </a:r>
          </a:p>
          <a:p>
            <a:r>
              <a:rPr lang="en-US" dirty="0"/>
              <a:t>        left = null; </a:t>
            </a:r>
          </a:p>
          <a:p>
            <a:r>
              <a:rPr lang="en-US" dirty="0"/>
              <a:t>        right = null; </a:t>
            </a:r>
          </a:p>
          <a:p>
            <a:r>
              <a:rPr lang="en-US" dirty="0"/>
              <a:t>        height = 1; 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054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1024-0103-71F3-9680-A020357A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9DF0A-497B-7A3E-5022-E60675E8A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581120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AVLTree</a:t>
            </a:r>
            <a:r>
              <a:rPr lang="en-US" dirty="0"/>
              <a:t> {</a:t>
            </a:r>
          </a:p>
          <a:p>
            <a:r>
              <a:rPr lang="en-US" dirty="0"/>
              <a:t>int height(Node N) { </a:t>
            </a:r>
          </a:p>
          <a:p>
            <a:r>
              <a:rPr lang="en-US" dirty="0"/>
              <a:t>        if (N == null) </a:t>
            </a:r>
          </a:p>
          <a:p>
            <a:r>
              <a:rPr lang="en-US" dirty="0"/>
              <a:t>            return 0; </a:t>
            </a:r>
          </a:p>
          <a:p>
            <a:r>
              <a:rPr lang="en-US" dirty="0"/>
              <a:t>        return </a:t>
            </a:r>
            <a:r>
              <a:rPr lang="en-US" dirty="0" err="1"/>
              <a:t>N.height</a:t>
            </a:r>
            <a:r>
              <a:rPr lang="en-US" dirty="0"/>
              <a:t>; 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Node </a:t>
            </a:r>
            <a:r>
              <a:rPr lang="en-US" dirty="0" err="1"/>
              <a:t>rightRotate</a:t>
            </a:r>
            <a:r>
              <a:rPr lang="en-US" dirty="0"/>
              <a:t>(Node y) { </a:t>
            </a:r>
          </a:p>
          <a:p>
            <a:r>
              <a:rPr lang="en-US" dirty="0"/>
              <a:t>        Node x = </a:t>
            </a:r>
            <a:r>
              <a:rPr lang="en-US" dirty="0" err="1"/>
              <a:t>y.left</a:t>
            </a:r>
            <a:r>
              <a:rPr lang="en-US" dirty="0"/>
              <a:t>; </a:t>
            </a:r>
          </a:p>
          <a:p>
            <a:r>
              <a:rPr lang="en-US" dirty="0"/>
              <a:t>        Node T2 = </a:t>
            </a:r>
            <a:r>
              <a:rPr lang="en-US" dirty="0" err="1"/>
              <a:t>x.right</a:t>
            </a:r>
            <a:r>
              <a:rPr lang="en-US" dirty="0"/>
              <a:t>; </a:t>
            </a:r>
          </a:p>
          <a:p>
            <a:endParaRPr lang="en-US" dirty="0"/>
          </a:p>
          <a:p>
            <a:r>
              <a:rPr lang="en-US" dirty="0"/>
              <a:t>        // Perform rotation </a:t>
            </a:r>
          </a:p>
          <a:p>
            <a:r>
              <a:rPr lang="en-US" dirty="0"/>
              <a:t>        </a:t>
            </a:r>
            <a:r>
              <a:rPr lang="en-US" dirty="0" err="1"/>
              <a:t>x.right</a:t>
            </a:r>
            <a:r>
              <a:rPr lang="en-US" dirty="0"/>
              <a:t> = y; </a:t>
            </a:r>
          </a:p>
          <a:p>
            <a:r>
              <a:rPr lang="en-US" dirty="0"/>
              <a:t>        </a:t>
            </a:r>
            <a:r>
              <a:rPr lang="en-US" dirty="0" err="1"/>
              <a:t>y.left</a:t>
            </a:r>
            <a:r>
              <a:rPr lang="en-US" dirty="0"/>
              <a:t> = T2; </a:t>
            </a:r>
          </a:p>
          <a:p>
            <a:r>
              <a:rPr lang="en-US" dirty="0"/>
              <a:t>        </a:t>
            </a:r>
            <a:r>
              <a:rPr lang="en-US" dirty="0" err="1"/>
              <a:t>y.height</a:t>
            </a:r>
            <a:r>
              <a:rPr lang="en-US" dirty="0"/>
              <a:t> = 1 + </a:t>
            </a:r>
            <a:r>
              <a:rPr lang="en-US" dirty="0" err="1"/>
              <a:t>Math.max</a:t>
            </a:r>
            <a:r>
              <a:rPr lang="en-US" dirty="0"/>
              <a:t>(height(</a:t>
            </a:r>
            <a:r>
              <a:rPr lang="en-US" dirty="0" err="1"/>
              <a:t>y.left</a:t>
            </a:r>
            <a:r>
              <a:rPr lang="en-US" dirty="0"/>
              <a:t>), height(</a:t>
            </a:r>
            <a:r>
              <a:rPr lang="en-US" dirty="0" err="1"/>
              <a:t>y.right</a:t>
            </a:r>
            <a:r>
              <a:rPr lang="en-US" dirty="0"/>
              <a:t>)); </a:t>
            </a:r>
          </a:p>
          <a:p>
            <a:r>
              <a:rPr lang="en-US" dirty="0"/>
              <a:t>        </a:t>
            </a:r>
            <a:r>
              <a:rPr lang="en-US" dirty="0" err="1"/>
              <a:t>x.height</a:t>
            </a:r>
            <a:r>
              <a:rPr lang="en-US" dirty="0"/>
              <a:t> = 1 + </a:t>
            </a:r>
            <a:r>
              <a:rPr lang="en-US" dirty="0" err="1"/>
              <a:t>Math.max</a:t>
            </a:r>
            <a:r>
              <a:rPr lang="en-US" dirty="0"/>
              <a:t>(height(</a:t>
            </a:r>
            <a:r>
              <a:rPr lang="en-US" dirty="0" err="1"/>
              <a:t>x.left</a:t>
            </a:r>
            <a:r>
              <a:rPr lang="en-US" dirty="0"/>
              <a:t>), height(</a:t>
            </a:r>
            <a:r>
              <a:rPr lang="en-US" dirty="0" err="1"/>
              <a:t>x.right</a:t>
            </a:r>
            <a:r>
              <a:rPr lang="en-US" dirty="0"/>
              <a:t>)); </a:t>
            </a:r>
          </a:p>
          <a:p>
            <a:r>
              <a:rPr lang="en-US" dirty="0"/>
              <a:t>return x; </a:t>
            </a:r>
          </a:p>
          <a:p>
            <a:r>
              <a:rPr lang="en-US" dirty="0"/>
              <a:t>    } </a:t>
            </a:r>
          </a:p>
        </p:txBody>
      </p:sp>
    </p:spTree>
    <p:extLst>
      <p:ext uri="{BB962C8B-B14F-4D97-AF65-F5344CB8AC3E}">
        <p14:creationId xmlns:p14="http://schemas.microsoft.com/office/powerpoint/2010/main" val="21418182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1064B-A1BF-112C-F1EB-7ACAFBA0F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F3B2F-D5E4-A594-9C43-7AF88965D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560"/>
            <a:ext cx="10515600" cy="588740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Node </a:t>
            </a:r>
            <a:r>
              <a:rPr lang="en-US" dirty="0" err="1"/>
              <a:t>leftRotate</a:t>
            </a:r>
            <a:r>
              <a:rPr lang="en-US" dirty="0"/>
              <a:t>(Node x) { </a:t>
            </a:r>
          </a:p>
          <a:p>
            <a:r>
              <a:rPr lang="en-US" dirty="0"/>
              <a:t>        Node y = </a:t>
            </a:r>
            <a:r>
              <a:rPr lang="en-US" dirty="0" err="1"/>
              <a:t>x.right</a:t>
            </a:r>
            <a:r>
              <a:rPr lang="en-US" dirty="0"/>
              <a:t>; </a:t>
            </a:r>
          </a:p>
          <a:p>
            <a:r>
              <a:rPr lang="en-US" dirty="0"/>
              <a:t>        Node T2 = </a:t>
            </a:r>
            <a:r>
              <a:rPr lang="en-US" dirty="0" err="1"/>
              <a:t>y.left</a:t>
            </a:r>
            <a:r>
              <a:rPr lang="en-US" dirty="0"/>
              <a:t>; </a:t>
            </a:r>
          </a:p>
          <a:p>
            <a:endParaRPr lang="en-US" dirty="0"/>
          </a:p>
          <a:p>
            <a:r>
              <a:rPr lang="en-US" dirty="0"/>
              <a:t>        // Perform rotation </a:t>
            </a:r>
          </a:p>
          <a:p>
            <a:r>
              <a:rPr lang="en-US" dirty="0"/>
              <a:t>        </a:t>
            </a:r>
            <a:r>
              <a:rPr lang="en-US" dirty="0" err="1"/>
              <a:t>y.left</a:t>
            </a:r>
            <a:r>
              <a:rPr lang="en-US" dirty="0"/>
              <a:t> = x; </a:t>
            </a:r>
          </a:p>
          <a:p>
            <a:r>
              <a:rPr lang="en-US" dirty="0"/>
              <a:t>        </a:t>
            </a:r>
            <a:r>
              <a:rPr lang="en-US" dirty="0" err="1"/>
              <a:t>x.right</a:t>
            </a:r>
            <a:r>
              <a:rPr lang="en-US" dirty="0"/>
              <a:t> = T2; </a:t>
            </a:r>
          </a:p>
          <a:p>
            <a:endParaRPr lang="en-US" dirty="0"/>
          </a:p>
          <a:p>
            <a:r>
              <a:rPr lang="en-US" dirty="0"/>
              <a:t>        // Update heights </a:t>
            </a:r>
          </a:p>
          <a:p>
            <a:r>
              <a:rPr lang="en-US" dirty="0"/>
              <a:t>        </a:t>
            </a:r>
            <a:r>
              <a:rPr lang="en-US" dirty="0" err="1"/>
              <a:t>x.height</a:t>
            </a:r>
            <a:r>
              <a:rPr lang="en-US" dirty="0"/>
              <a:t> = 1 + </a:t>
            </a:r>
            <a:r>
              <a:rPr lang="en-US" dirty="0" err="1"/>
              <a:t>Math.max</a:t>
            </a:r>
            <a:r>
              <a:rPr lang="en-US" dirty="0"/>
              <a:t>(height(</a:t>
            </a:r>
            <a:r>
              <a:rPr lang="en-US" dirty="0" err="1"/>
              <a:t>x.left</a:t>
            </a:r>
            <a:r>
              <a:rPr lang="en-US" dirty="0"/>
              <a:t>), height(</a:t>
            </a:r>
            <a:r>
              <a:rPr lang="en-US" dirty="0" err="1"/>
              <a:t>x.right</a:t>
            </a:r>
            <a:r>
              <a:rPr lang="en-US" dirty="0"/>
              <a:t>)); </a:t>
            </a:r>
          </a:p>
          <a:p>
            <a:r>
              <a:rPr lang="en-US" dirty="0"/>
              <a:t>        </a:t>
            </a:r>
            <a:r>
              <a:rPr lang="en-US" dirty="0" err="1"/>
              <a:t>y.height</a:t>
            </a:r>
            <a:r>
              <a:rPr lang="en-US" dirty="0"/>
              <a:t> = 1 + </a:t>
            </a:r>
            <a:r>
              <a:rPr lang="en-US" dirty="0" err="1"/>
              <a:t>Math.max</a:t>
            </a:r>
            <a:r>
              <a:rPr lang="en-US" dirty="0"/>
              <a:t>(height(</a:t>
            </a:r>
            <a:r>
              <a:rPr lang="en-US" dirty="0" err="1"/>
              <a:t>y.left</a:t>
            </a:r>
            <a:r>
              <a:rPr lang="en-US" dirty="0"/>
              <a:t>), height(</a:t>
            </a:r>
            <a:r>
              <a:rPr lang="en-US" dirty="0" err="1"/>
              <a:t>y.right</a:t>
            </a:r>
            <a:r>
              <a:rPr lang="en-US" dirty="0"/>
              <a:t>)); </a:t>
            </a:r>
          </a:p>
          <a:p>
            <a:endParaRPr lang="en-US" dirty="0"/>
          </a:p>
          <a:p>
            <a:r>
              <a:rPr lang="en-US" dirty="0"/>
              <a:t>        // Return new root </a:t>
            </a:r>
          </a:p>
          <a:p>
            <a:r>
              <a:rPr lang="en-US" dirty="0"/>
              <a:t>        return y; </a:t>
            </a:r>
          </a:p>
          <a:p>
            <a:r>
              <a:rPr lang="en-US" dirty="0"/>
              <a:t>    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7417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03F8-3E35-DADA-40EA-A1A916CE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56B4-3206-7558-36B5-0D23B20E5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A16B-F15E-E380-DBED-DBE3638B8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// Get balance factor of node N </a:t>
            </a:r>
          </a:p>
          <a:p>
            <a:r>
              <a:rPr lang="en-US" dirty="0"/>
              <a:t>int </a:t>
            </a:r>
            <a:r>
              <a:rPr lang="en-US" dirty="0" err="1"/>
              <a:t>getBalance</a:t>
            </a:r>
            <a:r>
              <a:rPr lang="en-US" dirty="0"/>
              <a:t>(Node node) { </a:t>
            </a:r>
          </a:p>
          <a:p>
            <a:r>
              <a:rPr lang="en-US" dirty="0"/>
              <a:t>        if (node == null) </a:t>
            </a:r>
          </a:p>
          <a:p>
            <a:r>
              <a:rPr lang="en-US" dirty="0"/>
              <a:t>            return 0; </a:t>
            </a:r>
          </a:p>
          <a:p>
            <a:r>
              <a:rPr lang="en-US" dirty="0"/>
              <a:t>        return height(</a:t>
            </a:r>
            <a:r>
              <a:rPr lang="en-US" dirty="0" err="1"/>
              <a:t>node.left</a:t>
            </a:r>
            <a:r>
              <a:rPr lang="en-US" dirty="0"/>
              <a:t>) - height(</a:t>
            </a:r>
            <a:r>
              <a:rPr lang="en-US" dirty="0" err="1"/>
              <a:t>node.right</a:t>
            </a:r>
            <a:r>
              <a:rPr lang="en-US" dirty="0"/>
              <a:t>); </a:t>
            </a:r>
          </a:p>
          <a:p>
            <a:r>
              <a:rPr lang="en-US" dirty="0"/>
              <a:t>    } </a:t>
            </a:r>
          </a:p>
          <a:p>
            <a:endParaRPr lang="en-US" dirty="0"/>
          </a:p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312159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1A31-1370-225F-C832-E110FA332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61805-4AC7-2E7A-AEAE-616728C0C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"/>
            <a:ext cx="10515600" cy="593312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// Recursive function to insert a key in the subtree rooted with node </a:t>
            </a:r>
          </a:p>
          <a:p>
            <a:r>
              <a:rPr lang="en-US" dirty="0"/>
              <a:t>Node insert(Node node, int key) {// Perform the normal BST insertion</a:t>
            </a:r>
          </a:p>
          <a:p>
            <a:r>
              <a:rPr lang="en-US" dirty="0"/>
              <a:t>        if (node == null) return new Node(key); </a:t>
            </a:r>
          </a:p>
          <a:p>
            <a:endParaRPr lang="en-US" dirty="0"/>
          </a:p>
          <a:p>
            <a:r>
              <a:rPr lang="en-US" dirty="0"/>
              <a:t>        if (key &lt; </a:t>
            </a:r>
            <a:r>
              <a:rPr lang="en-US" dirty="0" err="1"/>
              <a:t>node.key</a:t>
            </a:r>
            <a:r>
              <a:rPr lang="en-US" dirty="0"/>
              <a:t>) </a:t>
            </a:r>
            <a:r>
              <a:rPr lang="en-US" dirty="0" err="1"/>
              <a:t>node.left</a:t>
            </a:r>
            <a:r>
              <a:rPr lang="en-US" dirty="0"/>
              <a:t> = insert(</a:t>
            </a:r>
            <a:r>
              <a:rPr lang="en-US" dirty="0" err="1"/>
              <a:t>node.left</a:t>
            </a:r>
            <a:r>
              <a:rPr lang="en-US" dirty="0"/>
              <a:t>, key); </a:t>
            </a:r>
          </a:p>
          <a:p>
            <a:r>
              <a:rPr lang="en-US" dirty="0"/>
              <a:t>        else if (key &gt; </a:t>
            </a:r>
            <a:r>
              <a:rPr lang="en-US" dirty="0" err="1"/>
              <a:t>node.key</a:t>
            </a:r>
            <a:r>
              <a:rPr lang="en-US" dirty="0"/>
              <a:t>) </a:t>
            </a:r>
            <a:r>
              <a:rPr lang="en-US" dirty="0" err="1"/>
              <a:t>node.right</a:t>
            </a:r>
            <a:r>
              <a:rPr lang="en-US" dirty="0"/>
              <a:t> = insert(</a:t>
            </a:r>
            <a:r>
              <a:rPr lang="en-US" dirty="0" err="1"/>
              <a:t>node.right</a:t>
            </a:r>
            <a:r>
              <a:rPr lang="en-US" dirty="0"/>
              <a:t>, key); </a:t>
            </a:r>
          </a:p>
          <a:p>
            <a:r>
              <a:rPr lang="en-US" dirty="0"/>
              <a:t>        else // Equal keys are not allowed in BST </a:t>
            </a:r>
          </a:p>
          <a:p>
            <a:r>
              <a:rPr lang="en-US" dirty="0"/>
              <a:t>            return node; </a:t>
            </a:r>
          </a:p>
          <a:p>
            <a:endParaRPr lang="en-US" dirty="0"/>
          </a:p>
          <a:p>
            <a:r>
              <a:rPr lang="en-US" dirty="0"/>
              <a:t>        // Update height of this ancestor node </a:t>
            </a:r>
          </a:p>
          <a:p>
            <a:r>
              <a:rPr lang="en-US" dirty="0"/>
              <a:t>        </a:t>
            </a:r>
            <a:r>
              <a:rPr lang="en-US" dirty="0" err="1"/>
              <a:t>node.height</a:t>
            </a:r>
            <a:r>
              <a:rPr lang="en-US" dirty="0"/>
              <a:t> = 1 + </a:t>
            </a:r>
            <a:r>
              <a:rPr lang="en-US" dirty="0" err="1"/>
              <a:t>Math.max</a:t>
            </a:r>
            <a:r>
              <a:rPr lang="en-US" dirty="0"/>
              <a:t>(height(</a:t>
            </a:r>
            <a:r>
              <a:rPr lang="en-US" dirty="0" err="1"/>
              <a:t>node.left</a:t>
            </a:r>
            <a:r>
              <a:rPr lang="en-US" dirty="0"/>
              <a:t>), height(</a:t>
            </a:r>
            <a:r>
              <a:rPr lang="en-US" dirty="0" err="1"/>
              <a:t>node.right</a:t>
            </a:r>
            <a:r>
              <a:rPr lang="en-US" dirty="0"/>
              <a:t>)); 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  // Get the balance factor of this ancestor node </a:t>
            </a:r>
          </a:p>
          <a:p>
            <a:r>
              <a:rPr lang="en-US" dirty="0"/>
              <a:t>        int balance = </a:t>
            </a:r>
            <a:r>
              <a:rPr lang="en-US" dirty="0" err="1"/>
              <a:t>getBalance</a:t>
            </a:r>
            <a:r>
              <a:rPr lang="en-US" dirty="0"/>
              <a:t>(node);</a:t>
            </a:r>
          </a:p>
          <a:p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9916078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9FCF-C12B-8651-20A5-E2DBD8AE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6F8A7-B393-FA74-51C2-D5008BE64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040"/>
            <a:ext cx="10515600" cy="58569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/>
              <a:t>              // If this node becomes unbalanced,  then there are 4 cases </a:t>
            </a:r>
          </a:p>
          <a:p>
            <a:r>
              <a:rPr lang="en-US" sz="1600" dirty="0"/>
              <a:t>        // Left Left Case </a:t>
            </a:r>
          </a:p>
          <a:p>
            <a:r>
              <a:rPr lang="en-US" sz="1600" dirty="0"/>
              <a:t>        if (balance &gt; 1 &amp;&amp; key &lt; </a:t>
            </a:r>
            <a:r>
              <a:rPr lang="en-US" sz="1600" dirty="0" err="1"/>
              <a:t>node.left.key</a:t>
            </a:r>
            <a:r>
              <a:rPr lang="en-US" sz="1600" dirty="0"/>
              <a:t>)  return </a:t>
            </a:r>
            <a:r>
              <a:rPr lang="en-US" sz="1600" dirty="0" err="1"/>
              <a:t>rightRotate</a:t>
            </a:r>
            <a:r>
              <a:rPr lang="en-US" sz="1600" dirty="0"/>
              <a:t>(node); </a:t>
            </a:r>
          </a:p>
          <a:p>
            <a:endParaRPr lang="en-US" sz="1600" dirty="0"/>
          </a:p>
          <a:p>
            <a:r>
              <a:rPr lang="en-US" sz="1600" dirty="0"/>
              <a:t>        // Right Right Case </a:t>
            </a:r>
          </a:p>
          <a:p>
            <a:r>
              <a:rPr lang="en-US" sz="1600" dirty="0"/>
              <a:t>        if (balance &lt; -1 &amp;&amp; key &gt; </a:t>
            </a:r>
            <a:r>
              <a:rPr lang="en-US" sz="1600" dirty="0" err="1"/>
              <a:t>node.right.key</a:t>
            </a:r>
            <a:r>
              <a:rPr lang="en-US" sz="1600" dirty="0"/>
              <a:t>) return </a:t>
            </a:r>
            <a:r>
              <a:rPr lang="en-US" sz="1600" dirty="0" err="1"/>
              <a:t>leftRotate</a:t>
            </a:r>
            <a:r>
              <a:rPr lang="en-US" sz="1600" dirty="0"/>
              <a:t>(node); </a:t>
            </a:r>
          </a:p>
          <a:p>
            <a:endParaRPr lang="en-US" sz="1600" dirty="0"/>
          </a:p>
          <a:p>
            <a:r>
              <a:rPr lang="en-US" sz="1600" dirty="0"/>
              <a:t>        // Left Right Case </a:t>
            </a:r>
          </a:p>
          <a:p>
            <a:r>
              <a:rPr lang="en-US" sz="1600" dirty="0"/>
              <a:t>        if (balance &gt; 1 &amp;&amp; key &gt; </a:t>
            </a:r>
            <a:r>
              <a:rPr lang="en-US" sz="1600" dirty="0" err="1"/>
              <a:t>node.left.key</a:t>
            </a:r>
            <a:r>
              <a:rPr lang="en-US" sz="1600" dirty="0"/>
              <a:t>) { 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node.left</a:t>
            </a:r>
            <a:r>
              <a:rPr lang="en-US" sz="1600" dirty="0"/>
              <a:t> = </a:t>
            </a:r>
            <a:r>
              <a:rPr lang="en-US" sz="1600" dirty="0" err="1"/>
              <a:t>leftRotate</a:t>
            </a:r>
            <a:r>
              <a:rPr lang="en-US" sz="1600" dirty="0"/>
              <a:t>(</a:t>
            </a:r>
            <a:r>
              <a:rPr lang="en-US" sz="1600" dirty="0" err="1"/>
              <a:t>node.left</a:t>
            </a:r>
            <a:r>
              <a:rPr lang="en-US" sz="1600" dirty="0"/>
              <a:t>); </a:t>
            </a:r>
          </a:p>
          <a:p>
            <a:r>
              <a:rPr lang="en-US" sz="1600" dirty="0"/>
              <a:t>            return </a:t>
            </a:r>
            <a:r>
              <a:rPr lang="en-US" sz="1600" dirty="0" err="1"/>
              <a:t>rightRotate</a:t>
            </a:r>
            <a:r>
              <a:rPr lang="en-US" sz="1600" dirty="0"/>
              <a:t>(node); </a:t>
            </a:r>
          </a:p>
          <a:p>
            <a:r>
              <a:rPr lang="en-US" sz="1600" dirty="0"/>
              <a:t>        } </a:t>
            </a:r>
          </a:p>
          <a:p>
            <a:endParaRPr lang="en-US" sz="1600" dirty="0"/>
          </a:p>
          <a:p>
            <a:r>
              <a:rPr lang="en-US" sz="1600" dirty="0"/>
              <a:t>        // Right Left Case </a:t>
            </a:r>
          </a:p>
          <a:p>
            <a:r>
              <a:rPr lang="en-US" sz="1600" dirty="0"/>
              <a:t>        if (balance &lt; -1 &amp;&amp; key &lt; </a:t>
            </a:r>
            <a:r>
              <a:rPr lang="en-US" sz="1600" dirty="0" err="1"/>
              <a:t>node.right.key</a:t>
            </a:r>
            <a:r>
              <a:rPr lang="en-US" sz="1600" dirty="0"/>
              <a:t>) { 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node.right</a:t>
            </a:r>
            <a:r>
              <a:rPr lang="en-US" sz="1600" dirty="0"/>
              <a:t> = </a:t>
            </a:r>
            <a:r>
              <a:rPr lang="en-US" sz="1600" dirty="0" err="1"/>
              <a:t>rightRotate</a:t>
            </a:r>
            <a:r>
              <a:rPr lang="en-US" sz="1600" dirty="0"/>
              <a:t>(</a:t>
            </a:r>
            <a:r>
              <a:rPr lang="en-US" sz="1600" dirty="0" err="1"/>
              <a:t>node.right</a:t>
            </a:r>
            <a:r>
              <a:rPr lang="en-US" sz="1600" dirty="0"/>
              <a:t>); </a:t>
            </a:r>
          </a:p>
          <a:p>
            <a:r>
              <a:rPr lang="en-US" sz="1600" dirty="0"/>
              <a:t>            return </a:t>
            </a:r>
            <a:r>
              <a:rPr lang="en-US" sz="1600" dirty="0" err="1"/>
              <a:t>leftRotate</a:t>
            </a:r>
            <a:r>
              <a:rPr lang="en-US" sz="1600" dirty="0"/>
              <a:t>(node); </a:t>
            </a:r>
          </a:p>
          <a:p>
            <a:r>
              <a:rPr lang="en-US" sz="1600" dirty="0"/>
              <a:t>        }</a:t>
            </a:r>
          </a:p>
          <a:p>
            <a:r>
              <a:rPr lang="en-US" sz="1600" dirty="0"/>
              <a:t> return node; 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88466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28987-8A00-3A95-0B98-2387359E2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E7789-AF1A-2175-6BD6-0A4BCF563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080"/>
            <a:ext cx="10515600" cy="5917883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    // A utility function to print preorder traversal of the tree </a:t>
            </a:r>
          </a:p>
          <a:p>
            <a:r>
              <a:rPr lang="en-US" dirty="0"/>
              <a:t>    static void </a:t>
            </a:r>
            <a:r>
              <a:rPr lang="en-US" dirty="0" err="1"/>
              <a:t>preOrder</a:t>
            </a:r>
            <a:r>
              <a:rPr lang="en-US" dirty="0"/>
              <a:t>(Node root) { </a:t>
            </a:r>
          </a:p>
          <a:p>
            <a:r>
              <a:rPr lang="en-US" dirty="0"/>
              <a:t>        if (root != null) { 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  <a:r>
              <a:rPr lang="en-US" dirty="0" err="1"/>
              <a:t>root.key</a:t>
            </a:r>
            <a:r>
              <a:rPr lang="en-US" dirty="0"/>
              <a:t> + " "); </a:t>
            </a:r>
          </a:p>
          <a:p>
            <a:r>
              <a:rPr lang="en-US" dirty="0"/>
              <a:t>            </a:t>
            </a:r>
            <a:r>
              <a:rPr lang="en-US" dirty="0" err="1"/>
              <a:t>preOrder</a:t>
            </a:r>
            <a:r>
              <a:rPr lang="en-US" dirty="0"/>
              <a:t>(</a:t>
            </a:r>
            <a:r>
              <a:rPr lang="en-US" dirty="0" err="1"/>
              <a:t>root.left</a:t>
            </a:r>
            <a:r>
              <a:rPr lang="en-US" dirty="0"/>
              <a:t>); </a:t>
            </a:r>
          </a:p>
          <a:p>
            <a:r>
              <a:rPr lang="en-US" dirty="0"/>
              <a:t>            </a:t>
            </a:r>
            <a:r>
              <a:rPr lang="en-US" dirty="0" err="1"/>
              <a:t>preOrder</a:t>
            </a:r>
            <a:r>
              <a:rPr lang="en-US" dirty="0"/>
              <a:t>(</a:t>
            </a:r>
            <a:r>
              <a:rPr lang="en-US" dirty="0" err="1"/>
              <a:t>root.right</a:t>
            </a:r>
            <a:r>
              <a:rPr lang="en-US" dirty="0"/>
              <a:t>); </a:t>
            </a:r>
          </a:p>
          <a:p>
            <a:r>
              <a:rPr lang="en-US" dirty="0"/>
              <a:t>        } </a:t>
            </a:r>
          </a:p>
          <a:p>
            <a:r>
              <a:rPr lang="en-US" dirty="0"/>
              <a:t>    } </a:t>
            </a:r>
          </a:p>
          <a:p>
            <a:endParaRPr lang="en-US" dirty="0"/>
          </a:p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29246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D4429-C421-1162-9C5C-4B7D73FD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E0C8-8DEC-1252-3141-F73ED3184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Operation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19A02-BEB3-D1F5-6BC1-20B9309C3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Perform BST delete operation and some re-balancing. 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Following are two basic operations that can be performed to re-balance a BST without violating the BST property (keys(left) &lt; key(root) &lt; keys(right)). </a:t>
            </a:r>
          </a:p>
          <a:p>
            <a:pPr algn="l" fontAlgn="base">
              <a:buFont typeface="+mj-lt"/>
              <a:buAutoNum type="arabicPeriod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Left Rotation</a:t>
            </a:r>
          </a:p>
          <a:p>
            <a:pPr algn="l" fontAlgn="base">
              <a:buFont typeface="+mj-lt"/>
              <a:buAutoNum type="arabicPeriod" startAt="2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Right Rotation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70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EE3B1-FF8D-D4C2-CA5D-C12476E6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3F74D-5D7F-9A40-18C4-3B4BFC1E7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AVL-Tree-1.webp">
            <a:extLst>
              <a:ext uri="{FF2B5EF4-FFF2-40B4-BE49-F238E27FC236}">
                <a16:creationId xmlns:a16="http://schemas.microsoft.com/office/drawing/2014/main" id="{E282DB46-8483-89F2-3779-4A580942E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89000"/>
            <a:ext cx="101727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5264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2B57-9033-C291-9441-65EA9C909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BC6A1-0D08-7D88-7F30-BFFEEFB64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AVL-Tree-5.webp">
            <a:extLst>
              <a:ext uri="{FF2B5EF4-FFF2-40B4-BE49-F238E27FC236}">
                <a16:creationId xmlns:a16="http://schemas.microsoft.com/office/drawing/2014/main" id="{20460267-A5BA-65B6-4CDF-EA491E53B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89000"/>
            <a:ext cx="101727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7740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5E4F-D2DF-E157-C211-DDB6087B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31A96-B143-EEB3-7452-8D55AB8C6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AVL-Tree-6.webp">
            <a:extLst>
              <a:ext uri="{FF2B5EF4-FFF2-40B4-BE49-F238E27FC236}">
                <a16:creationId xmlns:a16="http://schemas.microsoft.com/office/drawing/2014/main" id="{29DD6450-4DE8-7F53-7969-342E485AE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82650"/>
            <a:ext cx="10172700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6925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165C-8287-D6E8-8C4A-B5E8BE77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31999-4531-6A75-33AE-FA2CF155E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private Node </a:t>
            </a:r>
            <a:r>
              <a:rPr lang="en-US" dirty="0" err="1"/>
              <a:t>minValueNode</a:t>
            </a:r>
            <a:r>
              <a:rPr lang="en-US" dirty="0"/>
              <a:t>(Node node) {</a:t>
            </a:r>
          </a:p>
          <a:p>
            <a:r>
              <a:rPr lang="en-US" dirty="0"/>
              <a:t>        Node current = node;</a:t>
            </a:r>
          </a:p>
          <a:p>
            <a:endParaRPr lang="en-US" dirty="0"/>
          </a:p>
          <a:p>
            <a:r>
              <a:rPr lang="en-US" dirty="0"/>
              <a:t>        // loop down to find the leftmost leaf</a:t>
            </a:r>
          </a:p>
          <a:p>
            <a:r>
              <a:rPr lang="en-US" dirty="0"/>
              <a:t>        while (</a:t>
            </a:r>
            <a:r>
              <a:rPr lang="en-US" dirty="0" err="1"/>
              <a:t>current.left</a:t>
            </a:r>
            <a:r>
              <a:rPr lang="en-US" dirty="0"/>
              <a:t>!= null)</a:t>
            </a:r>
          </a:p>
          <a:p>
            <a:r>
              <a:rPr lang="en-US" dirty="0"/>
              <a:t>            current = </a:t>
            </a:r>
            <a:r>
              <a:rPr lang="en-US" dirty="0" err="1"/>
              <a:t>current.left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 return current;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4461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DBE3C-F5A4-6BC4-BAB3-B4F7B4D8C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70A05-CBC0-64DD-27B9-1420EA685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5811203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       public Node </a:t>
            </a:r>
            <a:r>
              <a:rPr lang="en-US" dirty="0" err="1"/>
              <a:t>deleteNode</a:t>
            </a:r>
            <a:r>
              <a:rPr lang="en-US" dirty="0"/>
              <a:t>(Node root, int key) {</a:t>
            </a:r>
          </a:p>
          <a:p>
            <a:r>
              <a:rPr lang="en-US" dirty="0"/>
              <a:t>  // STEP 1: PERFORM STANDARD BST DELETE</a:t>
            </a:r>
          </a:p>
          <a:p>
            <a:r>
              <a:rPr lang="en-US" dirty="0"/>
              <a:t>        if (root == null) return root;</a:t>
            </a:r>
          </a:p>
          <a:p>
            <a:pPr marL="0" indent="0">
              <a:buNone/>
            </a:pPr>
            <a:r>
              <a:rPr lang="en-US" dirty="0"/>
              <a:t>            // If the key to be deleted is smaller than the root's key, then it lies in left subtree</a:t>
            </a:r>
          </a:p>
          <a:p>
            <a:r>
              <a:rPr lang="en-US" dirty="0"/>
              <a:t>        if (key &lt; </a:t>
            </a:r>
            <a:r>
              <a:rPr lang="en-US" dirty="0" err="1"/>
              <a:t>root.key</a:t>
            </a:r>
            <a:r>
              <a:rPr lang="en-US" dirty="0"/>
              <a:t>)   </a:t>
            </a:r>
            <a:r>
              <a:rPr lang="en-US" dirty="0" err="1"/>
              <a:t>root.left</a:t>
            </a:r>
            <a:r>
              <a:rPr lang="en-US" dirty="0"/>
              <a:t> = </a:t>
            </a:r>
            <a:r>
              <a:rPr lang="en-US" dirty="0" err="1"/>
              <a:t>deleteNode</a:t>
            </a:r>
            <a:r>
              <a:rPr lang="en-US" dirty="0"/>
              <a:t>(</a:t>
            </a:r>
            <a:r>
              <a:rPr lang="en-US" dirty="0" err="1"/>
              <a:t>root.left</a:t>
            </a:r>
            <a:r>
              <a:rPr lang="en-US" dirty="0"/>
              <a:t>, key);</a:t>
            </a:r>
          </a:p>
          <a:p>
            <a:r>
              <a:rPr lang="en-US" dirty="0"/>
              <a:t>// If the key to be deleted is greater than the root's key, then it lies in right subtree</a:t>
            </a:r>
          </a:p>
          <a:p>
            <a:r>
              <a:rPr lang="en-US" dirty="0"/>
              <a:t>        else if (key &gt; </a:t>
            </a:r>
            <a:r>
              <a:rPr lang="en-US" dirty="0" err="1"/>
              <a:t>root.key</a:t>
            </a:r>
            <a:r>
              <a:rPr lang="en-US" dirty="0"/>
              <a:t>)    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deleteNode</a:t>
            </a:r>
            <a:r>
              <a:rPr lang="en-US" dirty="0"/>
              <a:t>(</a:t>
            </a:r>
            <a:r>
              <a:rPr lang="en-US" dirty="0" err="1"/>
              <a:t>root.right</a:t>
            </a:r>
            <a:r>
              <a:rPr lang="en-US" dirty="0"/>
              <a:t>, key);</a:t>
            </a:r>
          </a:p>
          <a:p>
            <a:r>
              <a:rPr lang="en-US" dirty="0"/>
              <a:t>// if key is same as root's key, then this is the node to be deleted</a:t>
            </a:r>
          </a:p>
          <a:p>
            <a:r>
              <a:rPr lang="en-US" dirty="0"/>
              <a:t>        else {             // node with only one child or no child</a:t>
            </a:r>
          </a:p>
          <a:p>
            <a:r>
              <a:rPr lang="en-US" dirty="0"/>
              <a:t>            if ((</a:t>
            </a:r>
            <a:r>
              <a:rPr lang="en-US" dirty="0" err="1"/>
              <a:t>root.left</a:t>
            </a:r>
            <a:r>
              <a:rPr lang="en-US" dirty="0"/>
              <a:t> == null) || (</a:t>
            </a:r>
            <a:r>
              <a:rPr lang="en-US" dirty="0" err="1"/>
              <a:t>root.right</a:t>
            </a:r>
            <a:r>
              <a:rPr lang="en-US" dirty="0"/>
              <a:t> == null)) {</a:t>
            </a:r>
          </a:p>
          <a:p>
            <a:r>
              <a:rPr lang="en-US" dirty="0"/>
              <a:t>                Node temp = </a:t>
            </a:r>
            <a:r>
              <a:rPr lang="en-US" dirty="0" err="1"/>
              <a:t>root.left</a:t>
            </a:r>
            <a:r>
              <a:rPr lang="en-US" dirty="0"/>
              <a:t>!= null? </a:t>
            </a:r>
            <a:r>
              <a:rPr lang="en-US" dirty="0" err="1"/>
              <a:t>root.left</a:t>
            </a:r>
            <a:r>
              <a:rPr lang="en-US" dirty="0"/>
              <a:t> : </a:t>
            </a:r>
            <a:r>
              <a:rPr lang="en-US" dirty="0" err="1"/>
              <a:t>root.right</a:t>
            </a:r>
            <a:r>
              <a:rPr lang="en-US" dirty="0"/>
              <a:t>;</a:t>
            </a:r>
          </a:p>
          <a:p>
            <a:r>
              <a:rPr lang="en-US" dirty="0"/>
              <a:t>// No child case</a:t>
            </a:r>
          </a:p>
          <a:p>
            <a:r>
              <a:rPr lang="en-US" dirty="0"/>
              <a:t>                if (temp == null) {</a:t>
            </a:r>
          </a:p>
          <a:p>
            <a:r>
              <a:rPr lang="en-US" dirty="0"/>
              <a:t>                    temp = root;</a:t>
            </a:r>
          </a:p>
          <a:p>
            <a:r>
              <a:rPr lang="en-US" dirty="0"/>
              <a:t>                    root = null;</a:t>
            </a:r>
          </a:p>
          <a:p>
            <a:r>
              <a:rPr lang="en-US" dirty="0"/>
              <a:t>                } else // One child case</a:t>
            </a:r>
          </a:p>
          <a:p>
            <a:r>
              <a:rPr lang="en-US" dirty="0"/>
              <a:t>                    return temp;</a:t>
            </a:r>
          </a:p>
          <a:p>
            <a:r>
              <a:rPr lang="en-US" dirty="0"/>
              <a:t>            } else {</a:t>
            </a:r>
          </a:p>
          <a:p>
            <a:r>
              <a:rPr lang="en-US" dirty="0"/>
              <a:t>                // node with two children: Get the </a:t>
            </a:r>
            <a:r>
              <a:rPr lang="en-US" dirty="0" err="1"/>
              <a:t>inorder</a:t>
            </a:r>
            <a:r>
              <a:rPr lang="en-US" dirty="0"/>
              <a:t> successor (smallest in the right subtree)</a:t>
            </a:r>
          </a:p>
          <a:p>
            <a:r>
              <a:rPr lang="en-US" dirty="0"/>
              <a:t>                Node temp = </a:t>
            </a:r>
            <a:r>
              <a:rPr lang="en-US" dirty="0" err="1"/>
              <a:t>minValueNode</a:t>
            </a:r>
            <a:r>
              <a:rPr lang="en-US" dirty="0"/>
              <a:t>(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r>
              <a:rPr lang="en-US" dirty="0"/>
              <a:t>// Copy the </a:t>
            </a:r>
            <a:r>
              <a:rPr lang="en-US" dirty="0" err="1"/>
              <a:t>inorder</a:t>
            </a:r>
            <a:r>
              <a:rPr lang="en-US" dirty="0"/>
              <a:t> successor's data to this node</a:t>
            </a:r>
          </a:p>
          <a:p>
            <a:r>
              <a:rPr lang="en-US" dirty="0"/>
              <a:t>                </a:t>
            </a:r>
            <a:r>
              <a:rPr lang="en-US" dirty="0" err="1"/>
              <a:t>root.key</a:t>
            </a:r>
            <a:r>
              <a:rPr lang="en-US" dirty="0"/>
              <a:t> = </a:t>
            </a:r>
            <a:r>
              <a:rPr lang="en-US" dirty="0" err="1"/>
              <a:t>temp.key</a:t>
            </a:r>
            <a:r>
              <a:rPr lang="en-US" dirty="0"/>
              <a:t>;</a:t>
            </a:r>
          </a:p>
          <a:p>
            <a:r>
              <a:rPr lang="en-US" dirty="0"/>
              <a:t>// Delete the </a:t>
            </a:r>
            <a:r>
              <a:rPr lang="en-US" dirty="0" err="1"/>
              <a:t>inorder</a:t>
            </a:r>
            <a:r>
              <a:rPr lang="en-US" dirty="0"/>
              <a:t> successor</a:t>
            </a:r>
          </a:p>
          <a:p>
            <a:r>
              <a:rPr lang="en-US" dirty="0"/>
              <a:t>                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deleteNode</a:t>
            </a:r>
            <a:r>
              <a:rPr lang="en-US" dirty="0"/>
              <a:t>(</a:t>
            </a:r>
            <a:r>
              <a:rPr lang="en-US" dirty="0" err="1"/>
              <a:t>root.right</a:t>
            </a:r>
            <a:r>
              <a:rPr lang="en-US" dirty="0"/>
              <a:t>, </a:t>
            </a:r>
            <a:r>
              <a:rPr lang="en-US" dirty="0" err="1"/>
              <a:t>temp.key</a:t>
            </a:r>
            <a:r>
              <a:rPr lang="en-US" dirty="0"/>
              <a:t>);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// If the tree had only one node then return</a:t>
            </a:r>
          </a:p>
          <a:p>
            <a:r>
              <a:rPr lang="en-US" dirty="0"/>
              <a:t>        if (root == null)</a:t>
            </a:r>
          </a:p>
          <a:p>
            <a:r>
              <a:rPr lang="en-US" dirty="0"/>
              <a:t>            return root;</a:t>
            </a:r>
          </a:p>
        </p:txBody>
      </p:sp>
    </p:spTree>
    <p:extLst>
      <p:ext uri="{BB962C8B-B14F-4D97-AF65-F5344CB8AC3E}">
        <p14:creationId xmlns:p14="http://schemas.microsoft.com/office/powerpoint/2010/main" val="34451287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40355-7D0E-D0A0-F2B9-9B1BF2E93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5811203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// STEP 2: UPDATE HEIGHT OF THE CURRENT NODE</a:t>
            </a:r>
          </a:p>
          <a:p>
            <a:r>
              <a:rPr lang="en-US" dirty="0"/>
              <a:t>        </a:t>
            </a:r>
            <a:r>
              <a:rPr lang="en-US" dirty="0" err="1"/>
              <a:t>root.height</a:t>
            </a:r>
            <a:r>
              <a:rPr lang="en-US" dirty="0"/>
              <a:t> = 1 + </a:t>
            </a:r>
            <a:r>
              <a:rPr lang="en-US" dirty="0" err="1"/>
              <a:t>Math.max</a:t>
            </a:r>
            <a:r>
              <a:rPr lang="en-US" dirty="0"/>
              <a:t>(height(</a:t>
            </a:r>
            <a:r>
              <a:rPr lang="en-US" dirty="0" err="1"/>
              <a:t>root.left</a:t>
            </a:r>
            <a:r>
              <a:rPr lang="en-US" dirty="0"/>
              <a:t>), height(</a:t>
            </a:r>
            <a:r>
              <a:rPr lang="en-US" dirty="0" err="1"/>
              <a:t>root.right</a:t>
            </a:r>
            <a:r>
              <a:rPr lang="en-US" dirty="0"/>
              <a:t>));</a:t>
            </a:r>
          </a:p>
          <a:p>
            <a:r>
              <a:rPr lang="en-US" dirty="0"/>
              <a:t>// STEP 3: GET THE BALANCE FACTOR OF THIS NODE (to check whether this node became unbalanced)</a:t>
            </a:r>
          </a:p>
          <a:p>
            <a:r>
              <a:rPr lang="en-US" dirty="0"/>
              <a:t>        int balance = </a:t>
            </a:r>
            <a:r>
              <a:rPr lang="en-US" dirty="0" err="1"/>
              <a:t>getBalance</a:t>
            </a:r>
            <a:r>
              <a:rPr lang="en-US" dirty="0"/>
              <a:t>(root);</a:t>
            </a:r>
          </a:p>
          <a:p>
            <a:r>
              <a:rPr lang="en-US" dirty="0"/>
              <a:t>// If this node becomes unbalanced, then there are 4 cases</a:t>
            </a:r>
          </a:p>
          <a:p>
            <a:r>
              <a:rPr lang="en-US" dirty="0"/>
              <a:t>// Left Left Case</a:t>
            </a:r>
          </a:p>
          <a:p>
            <a:r>
              <a:rPr lang="en-US" dirty="0"/>
              <a:t>        if (balance &gt; 1 &amp;&amp; </a:t>
            </a:r>
            <a:r>
              <a:rPr lang="en-US" dirty="0" err="1"/>
              <a:t>getBalance</a:t>
            </a:r>
            <a:r>
              <a:rPr lang="en-US" dirty="0"/>
              <a:t>(</a:t>
            </a:r>
            <a:r>
              <a:rPr lang="en-US" dirty="0" err="1"/>
              <a:t>root.left</a:t>
            </a:r>
            <a:r>
              <a:rPr lang="en-US" dirty="0"/>
              <a:t>) &gt;= 0)</a:t>
            </a:r>
          </a:p>
          <a:p>
            <a:r>
              <a:rPr lang="en-US" dirty="0"/>
              <a:t>            return </a:t>
            </a:r>
            <a:r>
              <a:rPr lang="en-US" dirty="0" err="1"/>
              <a:t>rightRotate</a:t>
            </a:r>
            <a:r>
              <a:rPr lang="en-US" dirty="0"/>
              <a:t>(root);</a:t>
            </a:r>
          </a:p>
          <a:p>
            <a:r>
              <a:rPr lang="en-US" dirty="0"/>
              <a:t>// Left Right Case</a:t>
            </a:r>
          </a:p>
          <a:p>
            <a:r>
              <a:rPr lang="en-US" dirty="0"/>
              <a:t>        if (balance &gt; 1 &amp;&amp; </a:t>
            </a:r>
            <a:r>
              <a:rPr lang="en-US" dirty="0" err="1"/>
              <a:t>getBalance</a:t>
            </a:r>
            <a:r>
              <a:rPr lang="en-US" dirty="0"/>
              <a:t>(</a:t>
            </a:r>
            <a:r>
              <a:rPr lang="en-US" dirty="0" err="1"/>
              <a:t>root.left</a:t>
            </a:r>
            <a:r>
              <a:rPr lang="en-US" dirty="0"/>
              <a:t>) &lt; 0) {</a:t>
            </a:r>
          </a:p>
          <a:p>
            <a:r>
              <a:rPr lang="en-US" dirty="0"/>
              <a:t>            </a:t>
            </a:r>
            <a:r>
              <a:rPr lang="en-US" dirty="0" err="1"/>
              <a:t>root.left</a:t>
            </a:r>
            <a:r>
              <a:rPr lang="en-US" dirty="0"/>
              <a:t> = </a:t>
            </a:r>
            <a:r>
              <a:rPr lang="en-US" dirty="0" err="1"/>
              <a:t>leftRotate</a:t>
            </a:r>
            <a:r>
              <a:rPr lang="en-US" dirty="0"/>
              <a:t>(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r>
              <a:rPr lang="en-US" dirty="0"/>
              <a:t>            return </a:t>
            </a:r>
            <a:r>
              <a:rPr lang="en-US" dirty="0" err="1"/>
              <a:t>rightRotate</a:t>
            </a:r>
            <a:r>
              <a:rPr lang="en-US" dirty="0"/>
              <a:t>(root);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// Right Right Case</a:t>
            </a:r>
          </a:p>
          <a:p>
            <a:r>
              <a:rPr lang="en-US" dirty="0"/>
              <a:t>        if (balance &lt; -1 &amp;&amp; </a:t>
            </a:r>
            <a:r>
              <a:rPr lang="en-US" dirty="0" err="1"/>
              <a:t>getBalance</a:t>
            </a:r>
            <a:r>
              <a:rPr lang="en-US" dirty="0"/>
              <a:t>(</a:t>
            </a:r>
            <a:r>
              <a:rPr lang="en-US" dirty="0" err="1"/>
              <a:t>root.right</a:t>
            </a:r>
            <a:r>
              <a:rPr lang="en-US" dirty="0"/>
              <a:t>) &lt;= 0)</a:t>
            </a:r>
          </a:p>
          <a:p>
            <a:r>
              <a:rPr lang="en-US" dirty="0"/>
              <a:t>            return </a:t>
            </a:r>
            <a:r>
              <a:rPr lang="en-US" dirty="0" err="1"/>
              <a:t>leftRotate</a:t>
            </a:r>
            <a:r>
              <a:rPr lang="en-US" dirty="0"/>
              <a:t>(root);</a:t>
            </a:r>
          </a:p>
          <a:p>
            <a:r>
              <a:rPr lang="en-US" dirty="0"/>
              <a:t>// Right Left Case</a:t>
            </a:r>
          </a:p>
          <a:p>
            <a:r>
              <a:rPr lang="en-US" dirty="0"/>
              <a:t>        if (balance &lt; -1 &amp;&amp; </a:t>
            </a:r>
            <a:r>
              <a:rPr lang="en-US" dirty="0" err="1"/>
              <a:t>getBalance</a:t>
            </a:r>
            <a:r>
              <a:rPr lang="en-US" dirty="0"/>
              <a:t>(</a:t>
            </a:r>
            <a:r>
              <a:rPr lang="en-US" dirty="0" err="1"/>
              <a:t>root.right</a:t>
            </a:r>
            <a:r>
              <a:rPr lang="en-US" dirty="0"/>
              <a:t>) &gt; 0) {</a:t>
            </a:r>
          </a:p>
          <a:p>
            <a:r>
              <a:rPr lang="en-US" dirty="0"/>
              <a:t>            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rightRotate</a:t>
            </a:r>
            <a:r>
              <a:rPr lang="en-US" dirty="0"/>
              <a:t>(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r>
              <a:rPr lang="en-US" dirty="0"/>
              <a:t>            return </a:t>
            </a:r>
            <a:r>
              <a:rPr lang="en-US" dirty="0" err="1"/>
              <a:t>leftRotate</a:t>
            </a:r>
            <a:r>
              <a:rPr lang="en-US" dirty="0"/>
              <a:t>(root);</a:t>
            </a:r>
          </a:p>
          <a:p>
            <a:r>
              <a:rPr lang="en-US" dirty="0"/>
              <a:t>        }</a:t>
            </a:r>
          </a:p>
          <a:p>
            <a:r>
              <a:rPr lang="en-US"/>
              <a:t>return </a:t>
            </a:r>
            <a:r>
              <a:rPr lang="en-US" dirty="0"/>
              <a:t>root;</a:t>
            </a:r>
          </a:p>
          <a:p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108657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2473</TotalTime>
  <Words>2211</Words>
  <Application>Microsoft Macintosh PowerPoint</Application>
  <PresentationFormat>Widescreen</PresentationFormat>
  <Paragraphs>222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Aptos</vt:lpstr>
      <vt:lpstr>Aptos Display</vt:lpstr>
      <vt:lpstr>Arial</vt:lpstr>
      <vt:lpstr>Nunito</vt:lpstr>
      <vt:lpstr>Office Theme</vt:lpstr>
      <vt:lpstr>AVL Tree Data Structure</vt:lpstr>
      <vt:lpstr>PowerPoint Presentation</vt:lpstr>
      <vt:lpstr>PowerPoint Presentation</vt:lpstr>
      <vt:lpstr>PowerPoint Presentation</vt:lpstr>
      <vt:lpstr>PowerPoint Presentation</vt:lpstr>
      <vt:lpstr>Operations on an AVL Tree</vt:lpstr>
      <vt:lpstr>Rotating the subtrees</vt:lpstr>
      <vt:lpstr>PowerPoint Presentation</vt:lpstr>
      <vt:lpstr>PowerPoint Presentation</vt:lpstr>
      <vt:lpstr>PowerPoint Presentation</vt:lpstr>
      <vt:lpstr>Rotating the subtrees</vt:lpstr>
      <vt:lpstr>PowerPoint Presentation</vt:lpstr>
      <vt:lpstr>PowerPoint Presentation</vt:lpstr>
      <vt:lpstr>PowerPoint Presentation</vt:lpstr>
      <vt:lpstr>Rotating the subtrees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Rotating the subtrees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of AVL Tree</vt:lpstr>
      <vt:lpstr>Why AVL Trees? </vt:lpstr>
      <vt:lpstr>Disadvantages of AVL Tree</vt:lpstr>
      <vt:lpstr>Insert Operation in AVL Tree</vt:lpstr>
      <vt:lpstr>PowerPoint Presentation</vt:lpstr>
      <vt:lpstr>PowerPoint Presentation</vt:lpstr>
      <vt:lpstr>PowerPoint Presentation</vt:lpstr>
      <vt:lpstr>PowerPoint Presentation</vt:lpstr>
      <vt:lpstr>Left Rotation  and Right Rotation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Insert Operation in AVL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Delete Operation in AVL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125</cp:revision>
  <dcterms:created xsi:type="dcterms:W3CDTF">2026-01-15T04:12:31Z</dcterms:created>
  <dcterms:modified xsi:type="dcterms:W3CDTF">2026-03-31T08:36:56Z</dcterms:modified>
</cp:coreProperties>
</file>