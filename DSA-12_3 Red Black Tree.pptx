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476"/>
  </p:normalViewPr>
  <p:slideViewPr>
    <p:cSldViewPr snapToGrid="0">
      <p:cViewPr varScale="1">
        <p:scale>
          <a:sx n="84" d="100"/>
          <a:sy n="84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 Black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0DDD-748E-F5DD-55AC-087FCAED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D9805-32BA-3E0B-D268-4F75348A6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A </a:t>
            </a:r>
            <a:r>
              <a:rPr lang="en-IN" b="0" i="1" dirty="0">
                <a:solidFill>
                  <a:srgbClr val="000000"/>
                </a:solidFill>
                <a:effectLst/>
                <a:latin typeface="Times" pitchFamily="2" charset="0"/>
              </a:rPr>
              <a:t>red-black tree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 is a binary search tree (BST) with one extra attribute for each node: the </a:t>
            </a:r>
            <a:r>
              <a:rPr lang="en-IN" b="1" i="1" dirty="0">
                <a:solidFill>
                  <a:srgbClr val="000000"/>
                </a:solidFill>
                <a:effectLst/>
                <a:latin typeface="Times" pitchFamily="2" charset="0"/>
              </a:rPr>
              <a:t>colour</a:t>
            </a:r>
            <a:r>
              <a:rPr lang="en-IN" dirty="0">
                <a:solidFill>
                  <a:srgbClr val="000000"/>
                </a:solidFill>
                <a:latin typeface="Times" pitchFamily="2" charset="0"/>
              </a:rPr>
              <a:t>. W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hich is either </a:t>
            </a:r>
            <a:r>
              <a:rPr lang="en-IN" b="0" i="0" dirty="0">
                <a:solidFill>
                  <a:srgbClr val="FF0000"/>
                </a:solidFill>
                <a:effectLst/>
                <a:latin typeface="Times" pitchFamily="2" charset="0"/>
              </a:rPr>
              <a:t>red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 or </a:t>
            </a:r>
            <a:r>
              <a:rPr lang="en-IN" b="1" i="0" dirty="0">
                <a:solidFill>
                  <a:srgbClr val="000000"/>
                </a:solidFill>
                <a:effectLst/>
                <a:latin typeface="Times" pitchFamily="2" charset="0"/>
              </a:rPr>
              <a:t>black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. 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47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C8C46-B59C-8E9B-B98C-7576F835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Black Tree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B490-086D-D35A-CD98-CBBCE173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red-black tree is a binary search tree which has the following red-black properties: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node is either red or black.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leaf (NULL) is black.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 node is red, then both its children are black.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simple path from a node to a descendant leaf contains the same number of black nodes.</a:t>
            </a:r>
          </a:p>
        </p:txBody>
      </p:sp>
    </p:spTree>
    <p:extLst>
      <p:ext uri="{BB962C8B-B14F-4D97-AF65-F5344CB8AC3E}">
        <p14:creationId xmlns:p14="http://schemas.microsoft.com/office/powerpoint/2010/main" val="134653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5DC7-863E-8AE8-A52C-0774032A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31AF-1054-2A60-EFB8-ABEB9C31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096F2F-EE68-10C4-6840-8B989FE99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66900"/>
            <a:ext cx="53721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d-black tree">
            <a:extLst>
              <a:ext uri="{FF2B5EF4-FFF2-40B4-BE49-F238E27FC236}">
                <a16:creationId xmlns:a16="http://schemas.microsoft.com/office/drawing/2014/main" id="{E107A6BC-BAA4-250A-E450-49D35E285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1690688"/>
            <a:ext cx="6071729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01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1D71-733E-8B6D-B76E-E6CB9239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98AF4-03EF-B3B2-4465-8CE5F3F1E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0" i="0" dirty="0">
                <a:effectLst/>
                <a:latin typeface="euclid_circular_a"/>
              </a:rPr>
              <a:t>Each node has the following attributes: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euclid_circular_a"/>
              </a:rPr>
              <a:t>color</a:t>
            </a:r>
            <a:endParaRPr lang="en-IN" b="1" i="0" dirty="0">
              <a:effectLst/>
              <a:latin typeface="euclid_circular_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euclid_circular_a"/>
              </a:rPr>
              <a:t>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euclid_circular_a"/>
              </a:rPr>
              <a:t>leftChild</a:t>
            </a:r>
            <a:endParaRPr lang="en-IN" b="1" i="0" dirty="0">
              <a:effectLst/>
              <a:latin typeface="euclid_circular_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euclid_circular_a"/>
              </a:rPr>
              <a:t>rightChild</a:t>
            </a:r>
            <a:endParaRPr lang="en-IN" b="1" i="0" dirty="0">
              <a:effectLst/>
              <a:latin typeface="euclid_circular_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euclid_circular_a"/>
              </a:rPr>
              <a:t>parent (except root node)</a:t>
            </a:r>
          </a:p>
          <a:p>
            <a:endParaRPr lang="en-IN" b="0" i="0" dirty="0">
              <a:solidFill>
                <a:srgbClr val="000000"/>
              </a:solidFill>
              <a:effectLst/>
              <a:latin typeface="Times" pitchFamily="2" charset="0"/>
            </a:endParaRPr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The number of black nodes on any path from, but not including, a node </a:t>
            </a:r>
            <a:r>
              <a:rPr lang="en-IN" b="1" i="1" dirty="0">
                <a:solidFill>
                  <a:srgbClr val="000000"/>
                </a:solidFill>
                <a:effectLst/>
                <a:latin typeface="Times" pitchFamily="2" charset="0"/>
              </a:rPr>
              <a:t>x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 to a leaf is called the </a:t>
            </a:r>
            <a:r>
              <a:rPr lang="en-IN" b="1" i="1" dirty="0">
                <a:solidFill>
                  <a:srgbClr val="000000"/>
                </a:solidFill>
                <a:effectLst/>
                <a:latin typeface="Times" pitchFamily="2" charset="0"/>
              </a:rPr>
              <a:t>black-height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 of a node, denoted </a:t>
            </a:r>
            <a:r>
              <a:rPr lang="en-IN" b="1" i="0" dirty="0" err="1">
                <a:solidFill>
                  <a:srgbClr val="000000"/>
                </a:solidFill>
                <a:effectLst/>
                <a:latin typeface="Times" pitchFamily="2" charset="0"/>
              </a:rPr>
              <a:t>bh</a:t>
            </a:r>
            <a:r>
              <a:rPr lang="en-IN" b="1" i="0" dirty="0">
                <a:solidFill>
                  <a:srgbClr val="000000"/>
                </a:solidFill>
                <a:effectLst/>
                <a:latin typeface="Times" pitchFamily="2" charset="0"/>
              </a:rPr>
              <a:t>(x)</a:t>
            </a:r>
            <a:r>
              <a:rPr lang="en-IN" b="0" i="0" dirty="0">
                <a:solidFill>
                  <a:srgbClr val="000000"/>
                </a:solidFill>
                <a:effectLst/>
                <a:latin typeface="Times" pitchFamily="2" charset="0"/>
              </a:rPr>
              <a:t>. We can prove the following lemma: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13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D63B-7BEC-3796-2403-BC16399E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Inserting an element into a Red-Black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CA8F-F963-325B-F3E1-934723D94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euclid_circular_a"/>
              </a:rPr>
              <a:t>The new node is always inserted as a </a:t>
            </a:r>
            <a:r>
              <a:rPr lang="en-IN" b="0" i="0" dirty="0">
                <a:solidFill>
                  <a:srgbClr val="FF0000"/>
                </a:solidFill>
                <a:effectLst/>
                <a:latin typeface="euclid_circular_a"/>
              </a:rPr>
              <a:t>RED</a:t>
            </a:r>
            <a:r>
              <a:rPr lang="en-IN" b="0" i="0" dirty="0">
                <a:effectLst/>
                <a:latin typeface="euclid_circular_a"/>
              </a:rPr>
              <a:t> node. 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After insertion of a new node, if the tree is violating the properties of the red-black tree then, we do the following operations.</a:t>
            </a:r>
          </a:p>
          <a:p>
            <a:pPr algn="l">
              <a:buFont typeface="+mj-lt"/>
              <a:buAutoNum type="arabicPeriod"/>
            </a:pPr>
            <a:r>
              <a:rPr lang="en-IN" b="0" i="0" dirty="0" err="1">
                <a:effectLst/>
                <a:latin typeface="euclid_circular_a"/>
              </a:rPr>
              <a:t>Recolor</a:t>
            </a:r>
            <a:endParaRPr lang="en-IN" b="0" i="0" dirty="0">
              <a:effectLst/>
              <a:latin typeface="euclid_circular_a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Rotation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45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132D-9A11-8F33-2268-FA789B3E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Algorithm to insert a node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D965-318B-168B-18DC-FD07C40BF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Let y be the leaf (</a:t>
            </a:r>
            <a:r>
              <a:rPr lang="en-IN" b="0" i="0" dirty="0" err="1">
                <a:effectLst/>
                <a:latin typeface="euclid_circular_a"/>
              </a:rPr>
              <a:t>ie</a:t>
            </a:r>
            <a:r>
              <a:rPr lang="en-IN" b="0" i="0" dirty="0">
                <a:effectLst/>
                <a:latin typeface="euclid_circular_a"/>
              </a:rPr>
              <a:t>. NIL) and x be the root of the tree.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Check if the tree is empty (</a:t>
            </a:r>
            <a:r>
              <a:rPr lang="en-IN" b="0" i="0" dirty="0" err="1">
                <a:effectLst/>
                <a:latin typeface="euclid_circular_a"/>
              </a:rPr>
              <a:t>ie</a:t>
            </a:r>
            <a:r>
              <a:rPr lang="en-IN" b="0" i="0" dirty="0">
                <a:effectLst/>
                <a:latin typeface="euclid_circular_a"/>
              </a:rPr>
              <a:t>. whether </a:t>
            </a:r>
            <a:r>
              <a:rPr lang="en-IN" b="0" i="0" dirty="0">
                <a:effectLst/>
                <a:latin typeface="Droid Sans Mono"/>
              </a:rPr>
              <a:t>x</a:t>
            </a:r>
            <a:r>
              <a:rPr lang="en-IN" b="0" i="0" dirty="0">
                <a:effectLst/>
                <a:latin typeface="euclid_circular_a"/>
              </a:rPr>
              <a:t> is NIL). If yes, insert </a:t>
            </a:r>
            <a:r>
              <a:rPr lang="en-IN" b="0" i="0" dirty="0" err="1">
                <a:effectLst/>
                <a:latin typeface="Droid Sans Mono"/>
              </a:rPr>
              <a:t>newNode</a:t>
            </a:r>
            <a:r>
              <a:rPr lang="en-IN" b="0" i="0" dirty="0">
                <a:effectLst/>
                <a:latin typeface="euclid_circular_a"/>
              </a:rPr>
              <a:t> as a root node and </a:t>
            </a:r>
            <a:r>
              <a:rPr lang="en-IN" b="0" i="0" dirty="0" err="1">
                <a:effectLst/>
                <a:latin typeface="euclid_circular_a"/>
              </a:rPr>
              <a:t>color</a:t>
            </a:r>
            <a:r>
              <a:rPr lang="en-IN" b="0" i="0" dirty="0">
                <a:effectLst/>
                <a:latin typeface="euclid_circular_a"/>
              </a:rPr>
              <a:t> it black.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Else, repeat steps following steps until leaf (NIL) is reached.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Compare </a:t>
            </a:r>
            <a:r>
              <a:rPr lang="en-IN" b="0" i="0" dirty="0">
                <a:effectLst/>
                <a:latin typeface="Droid Sans Mono"/>
              </a:rPr>
              <a:t>key</a:t>
            </a:r>
            <a:r>
              <a:rPr lang="en-IN" b="0" i="0" dirty="0">
                <a:effectLst/>
                <a:latin typeface="euclid_circular_a"/>
              </a:rPr>
              <a:t> with </a:t>
            </a:r>
            <a:r>
              <a:rPr lang="en-IN" b="0" i="0" dirty="0" err="1">
                <a:effectLst/>
                <a:latin typeface="Droid Sans Mono"/>
              </a:rPr>
              <a:t>root.data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If </a:t>
            </a:r>
            <a:r>
              <a:rPr lang="en-IN" b="0" i="0" dirty="0">
                <a:effectLst/>
                <a:latin typeface="Droid Sans Mono"/>
              </a:rPr>
              <a:t>key</a:t>
            </a:r>
            <a:r>
              <a:rPr lang="en-IN" b="0" i="0" dirty="0">
                <a:effectLst/>
                <a:latin typeface="euclid_circular_a"/>
              </a:rPr>
              <a:t> is greater than </a:t>
            </a:r>
            <a:r>
              <a:rPr lang="en-IN" b="0" i="0" dirty="0" err="1">
                <a:effectLst/>
                <a:latin typeface="euclid_circular_a"/>
              </a:rPr>
              <a:t>root.data</a:t>
            </a:r>
            <a:r>
              <a:rPr lang="en-IN" b="0" i="0" dirty="0">
                <a:effectLst/>
                <a:latin typeface="euclid_circular_a"/>
              </a:rPr>
              <a:t>, traverse through the right subtree.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Else traverse through the left subtree.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Assign the parent of the leaf as a parent of </a:t>
            </a:r>
            <a:r>
              <a:rPr lang="en-IN" b="0" i="0" dirty="0" err="1">
                <a:effectLst/>
                <a:latin typeface="Droid Sans Mono"/>
              </a:rPr>
              <a:t>newNode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If </a:t>
            </a:r>
            <a:r>
              <a:rPr lang="en-IN" b="0" i="0" dirty="0" err="1">
                <a:effectLst/>
                <a:latin typeface="Droid Sans Mono"/>
              </a:rPr>
              <a:t>leafKey</a:t>
            </a:r>
            <a:r>
              <a:rPr lang="en-IN" b="0" i="0" dirty="0">
                <a:effectLst/>
                <a:latin typeface="euclid_circular_a"/>
              </a:rPr>
              <a:t> is greater than </a:t>
            </a:r>
            <a:r>
              <a:rPr lang="en-IN" b="0" i="0" dirty="0">
                <a:effectLst/>
                <a:latin typeface="Droid Sans Mono"/>
              </a:rPr>
              <a:t>key</a:t>
            </a:r>
            <a:r>
              <a:rPr lang="en-IN" b="0" i="0" dirty="0">
                <a:effectLst/>
                <a:latin typeface="euclid_circular_a"/>
              </a:rPr>
              <a:t>, make </a:t>
            </a:r>
            <a:r>
              <a:rPr lang="en-IN" b="0" i="0" dirty="0" err="1">
                <a:effectLst/>
                <a:latin typeface="Droid Sans Mono"/>
              </a:rPr>
              <a:t>newNode</a:t>
            </a:r>
            <a:r>
              <a:rPr lang="en-IN" b="0" i="0" dirty="0">
                <a:effectLst/>
                <a:latin typeface="euclid_circular_a"/>
              </a:rPr>
              <a:t> as </a:t>
            </a:r>
            <a:r>
              <a:rPr lang="en-IN" b="0" i="0" dirty="0" err="1">
                <a:effectLst/>
                <a:latin typeface="Droid Sans Mono"/>
              </a:rPr>
              <a:t>rightChild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Else, make </a:t>
            </a:r>
            <a:r>
              <a:rPr lang="en-IN" b="0" i="0" dirty="0" err="1">
                <a:effectLst/>
                <a:latin typeface="Droid Sans Mono"/>
              </a:rPr>
              <a:t>newNode</a:t>
            </a:r>
            <a:r>
              <a:rPr lang="en-IN" b="0" i="0" dirty="0">
                <a:effectLst/>
                <a:latin typeface="euclid_circular_a"/>
              </a:rPr>
              <a:t> as </a:t>
            </a:r>
            <a:r>
              <a:rPr lang="en-IN" b="0" i="0" dirty="0" err="1">
                <a:effectLst/>
                <a:latin typeface="Droid Sans Mono"/>
              </a:rPr>
              <a:t>leftChild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Assign NULL to the left and </a:t>
            </a:r>
            <a:r>
              <a:rPr lang="en-IN" b="0" i="0" dirty="0" err="1">
                <a:effectLst/>
                <a:latin typeface="Droid Sans Mono"/>
              </a:rPr>
              <a:t>rightChild</a:t>
            </a:r>
            <a:r>
              <a:rPr lang="en-IN" b="0" i="0" dirty="0">
                <a:effectLst/>
                <a:latin typeface="euclid_circular_a"/>
              </a:rPr>
              <a:t> of </a:t>
            </a:r>
            <a:r>
              <a:rPr lang="en-IN" b="0" i="0" dirty="0" err="1">
                <a:effectLst/>
                <a:latin typeface="Droid Sans Mono"/>
              </a:rPr>
              <a:t>newNode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Assign RED </a:t>
            </a:r>
            <a:r>
              <a:rPr lang="en-IN" b="0" i="0" dirty="0" err="1">
                <a:effectLst/>
                <a:latin typeface="euclid_circular_a"/>
              </a:rPr>
              <a:t>color</a:t>
            </a:r>
            <a:r>
              <a:rPr lang="en-IN" b="0" i="0" dirty="0">
                <a:effectLst/>
                <a:latin typeface="euclid_circular_a"/>
              </a:rPr>
              <a:t> to </a:t>
            </a:r>
            <a:r>
              <a:rPr lang="en-IN" b="0" i="0" dirty="0" err="1">
                <a:effectLst/>
                <a:latin typeface="Droid Sans Mono"/>
              </a:rPr>
              <a:t>newNode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Call </a:t>
            </a:r>
            <a:r>
              <a:rPr lang="en-IN" b="1" i="0" dirty="0" err="1">
                <a:effectLst/>
                <a:latin typeface="euclid_circular_a"/>
              </a:rPr>
              <a:t>InsertFix</a:t>
            </a:r>
            <a:r>
              <a:rPr lang="en-IN" b="1" i="0" dirty="0">
                <a:effectLst/>
                <a:latin typeface="euclid_circular_a"/>
              </a:rPr>
              <a:t>-algorithm</a:t>
            </a:r>
            <a:r>
              <a:rPr lang="en-IN" b="0" i="0" dirty="0">
                <a:effectLst/>
                <a:latin typeface="euclid_circular_a"/>
              </a:rPr>
              <a:t> to maintain the property of red-black tree if violated.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1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87A7-2BAC-1F1F-3013-7F1D12B1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10093-A60D-1EA0-916F-FE7355DBF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4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</TotalTime>
  <Words>370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Droid Sans Mono</vt:lpstr>
      <vt:lpstr>euclid_circular_a</vt:lpstr>
      <vt:lpstr>Times</vt:lpstr>
      <vt:lpstr>Office Theme</vt:lpstr>
      <vt:lpstr>Red Black Tree</vt:lpstr>
      <vt:lpstr>PowerPoint Presentation</vt:lpstr>
      <vt:lpstr>Red Black Tree Properties</vt:lpstr>
      <vt:lpstr>PowerPoint Presentation</vt:lpstr>
      <vt:lpstr>PowerPoint Presentation</vt:lpstr>
      <vt:lpstr>Inserting an element into a Red-Black Tree</vt:lpstr>
      <vt:lpstr>Algorithm to insert a node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120</cp:revision>
  <dcterms:created xsi:type="dcterms:W3CDTF">2026-01-15T04:12:31Z</dcterms:created>
  <dcterms:modified xsi:type="dcterms:W3CDTF">2026-03-31T06:56:08Z</dcterms:modified>
</cp:coreProperties>
</file>