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5" r:id="rId4"/>
    <p:sldId id="258" r:id="rId5"/>
    <p:sldId id="268" r:id="rId6"/>
    <p:sldId id="269" r:id="rId7"/>
    <p:sldId id="270" r:id="rId8"/>
    <p:sldId id="264" r:id="rId9"/>
    <p:sldId id="259" r:id="rId10"/>
    <p:sldId id="266" r:id="rId11"/>
    <p:sldId id="260" r:id="rId12"/>
    <p:sldId id="261" r:id="rId13"/>
    <p:sldId id="267" r:id="rId14"/>
    <p:sldId id="262"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8/17/26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8/17/26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normAutofit/>
          </a:bodyPr>
          <a:lstStyle/>
          <a:p>
            <a:r>
              <a:rPr lang="en-US" dirty="0"/>
              <a:t>PythonDS-08 String in Python</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7DFF1-3D14-3BD5-DD7A-484CFDD7FFFB}"/>
              </a:ext>
            </a:extLst>
          </p:cNvPr>
          <p:cNvSpPr>
            <a:spLocks noGrp="1"/>
          </p:cNvSpPr>
          <p:nvPr>
            <p:ph type="title"/>
          </p:nvPr>
        </p:nvSpPr>
        <p:spPr/>
        <p:txBody>
          <a:bodyPr/>
          <a:lstStyle/>
          <a:p>
            <a:r>
              <a:rPr lang="en-US" dirty="0"/>
              <a:t>String in python</a:t>
            </a:r>
          </a:p>
        </p:txBody>
      </p:sp>
      <p:sp>
        <p:nvSpPr>
          <p:cNvPr id="3" name="Content Placeholder 2">
            <a:extLst>
              <a:ext uri="{FF2B5EF4-FFF2-40B4-BE49-F238E27FC236}">
                <a16:creationId xmlns:a16="http://schemas.microsoft.com/office/drawing/2014/main" id="{3A84E61F-9A19-9911-0257-649063F2373E}"/>
              </a:ext>
            </a:extLst>
          </p:cNvPr>
          <p:cNvSpPr>
            <a:spLocks noGrp="1"/>
          </p:cNvSpPr>
          <p:nvPr>
            <p:ph idx="1"/>
          </p:nvPr>
        </p:nvSpPr>
        <p:spPr/>
        <p:txBody>
          <a:bodyPr>
            <a:normAutofit fontScale="92500" lnSpcReduction="20000"/>
          </a:bodyPr>
          <a:lstStyle/>
          <a:p>
            <a:r>
              <a:rPr lang="en-IN" b="0" u="none" strike="noStrike" dirty="0">
                <a:effectLst/>
                <a:latin typeface="Google Sans"/>
              </a:rPr>
              <a:t>In Python, </a:t>
            </a:r>
            <a:r>
              <a:rPr lang="en-IN" b="1" u="none" strike="noStrike" dirty="0">
                <a:effectLst/>
                <a:latin typeface="Google Sans"/>
              </a:rPr>
              <a:t>str is a built-in immutable sequence data type</a:t>
            </a:r>
            <a:r>
              <a:rPr lang="en-IN" dirty="0"/>
              <a:t> used to store and manipulate textual data. It represents a sequence of </a:t>
            </a:r>
            <a:r>
              <a:rPr lang="en-IN" b="1" dirty="0"/>
              <a:t>Unicode</a:t>
            </a:r>
            <a:r>
              <a:rPr lang="en-IN" dirty="0"/>
              <a:t> characters, meaning it can natively store letters, numbers, symbols, and even emojis. </a:t>
            </a:r>
          </a:p>
          <a:p>
            <a:endParaRPr lang="en-IN" dirty="0"/>
          </a:p>
          <a:p>
            <a:pPr marL="0" indent="0">
              <a:buNone/>
            </a:pPr>
            <a:r>
              <a:rPr lang="en-IN" b="1" u="none" strike="noStrike" dirty="0">
                <a:effectLst/>
                <a:latin typeface="Google Sans"/>
              </a:rPr>
              <a:t>Standard Quotes (Single &amp; Double)</a:t>
            </a:r>
          </a:p>
          <a:p>
            <a:r>
              <a:rPr lang="en-IN" b="0" u="none" strike="noStrike" dirty="0">
                <a:effectLst/>
                <a:latin typeface="Google Sans"/>
              </a:rPr>
              <a:t>These are the most common ways to create standard text strings. They behave identically.</a:t>
            </a:r>
          </a:p>
          <a:p>
            <a:r>
              <a:rPr lang="en-IN" b="1" u="none" strike="noStrike" dirty="0">
                <a:effectLst/>
                <a:latin typeface="Google Sans"/>
              </a:rPr>
              <a:t>Single-quoted strings</a:t>
            </a:r>
            <a:r>
              <a:rPr lang="en-IN" b="0" u="none" strike="noStrike" dirty="0">
                <a:effectLst/>
                <a:latin typeface="Google Sans"/>
              </a:rPr>
              <a:t>: Enclosed in '...'. Useful if the text contains double quotes.</a:t>
            </a:r>
          </a:p>
          <a:p>
            <a:r>
              <a:rPr lang="en-IN" b="1" u="none" strike="noStrike" dirty="0">
                <a:effectLst/>
                <a:latin typeface="Google Sans"/>
              </a:rPr>
              <a:t>Double-quoted strings</a:t>
            </a:r>
            <a:r>
              <a:rPr lang="en-IN" b="0" u="none" strike="noStrike" dirty="0">
                <a:effectLst/>
                <a:latin typeface="Google Sans"/>
              </a:rPr>
              <a:t>: Enclosed in "...". Useful if the text contains single quotes (like apostrophes). </a:t>
            </a:r>
          </a:p>
          <a:p>
            <a:endParaRPr lang="en-IN" dirty="0"/>
          </a:p>
          <a:p>
            <a:endParaRPr lang="en-US" dirty="0"/>
          </a:p>
        </p:txBody>
      </p:sp>
    </p:spTree>
    <p:extLst>
      <p:ext uri="{BB962C8B-B14F-4D97-AF65-F5344CB8AC3E}">
        <p14:creationId xmlns:p14="http://schemas.microsoft.com/office/powerpoint/2010/main" val="655288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FCD5C-0813-9486-8ECA-CAD447B03B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55E4A1-1A0B-2F82-F6A1-EEF5E92F9EF4}"/>
              </a:ext>
            </a:extLst>
          </p:cNvPr>
          <p:cNvSpPr>
            <a:spLocks noGrp="1"/>
          </p:cNvSpPr>
          <p:nvPr>
            <p:ph idx="1"/>
          </p:nvPr>
        </p:nvSpPr>
        <p:spPr/>
        <p:txBody>
          <a:bodyPr/>
          <a:lstStyle/>
          <a:p>
            <a:endParaRPr lang="en-US"/>
          </a:p>
        </p:txBody>
      </p:sp>
      <p:pic>
        <p:nvPicPr>
          <p:cNvPr id="2050" name="Picture 2" descr="Python Data Types - GeeksforGeeks">
            <a:extLst>
              <a:ext uri="{FF2B5EF4-FFF2-40B4-BE49-F238E27FC236}">
                <a16:creationId xmlns:a16="http://schemas.microsoft.com/office/drawing/2014/main" id="{C58703C5-E321-F377-85BE-6584735061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085850"/>
            <a:ext cx="10160000" cy="468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124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4EF39-297C-291E-C632-5FF4DFD2DC71}"/>
              </a:ext>
            </a:extLst>
          </p:cNvPr>
          <p:cNvSpPr>
            <a:spLocks noGrp="1"/>
          </p:cNvSpPr>
          <p:nvPr>
            <p:ph type="title"/>
          </p:nvPr>
        </p:nvSpPr>
        <p:spPr/>
        <p:txBody>
          <a:bodyPr/>
          <a:lstStyle/>
          <a:p>
            <a:r>
              <a:rPr lang="en-IN" b="1" u="none" strike="noStrike" dirty="0">
                <a:effectLst/>
                <a:latin typeface="Google Sans"/>
              </a:rPr>
              <a:t>1. Creating Strings</a:t>
            </a:r>
            <a:endParaRPr lang="en-US" dirty="0"/>
          </a:p>
        </p:txBody>
      </p:sp>
      <p:sp>
        <p:nvSpPr>
          <p:cNvPr id="3" name="Content Placeholder 2">
            <a:extLst>
              <a:ext uri="{FF2B5EF4-FFF2-40B4-BE49-F238E27FC236}">
                <a16:creationId xmlns:a16="http://schemas.microsoft.com/office/drawing/2014/main" id="{8B4AA897-9F13-E9F4-FD41-420D161AE47F}"/>
              </a:ext>
            </a:extLst>
          </p:cNvPr>
          <p:cNvSpPr>
            <a:spLocks noGrp="1"/>
          </p:cNvSpPr>
          <p:nvPr>
            <p:ph idx="1"/>
          </p:nvPr>
        </p:nvSpPr>
        <p:spPr/>
        <p:txBody>
          <a:bodyPr/>
          <a:lstStyle/>
          <a:p>
            <a:r>
              <a:rPr lang="en-IN" b="0" u="none" strike="noStrike" dirty="0">
                <a:effectLst/>
                <a:latin typeface="Google Sans"/>
              </a:rPr>
              <a:t>Python provides several syntax options to define a string literal:</a:t>
            </a:r>
          </a:p>
          <a:p>
            <a:endParaRPr lang="en-US" dirty="0"/>
          </a:p>
        </p:txBody>
      </p:sp>
      <p:sp>
        <p:nvSpPr>
          <p:cNvPr id="5" name="TextBox 4">
            <a:extLst>
              <a:ext uri="{FF2B5EF4-FFF2-40B4-BE49-F238E27FC236}">
                <a16:creationId xmlns:a16="http://schemas.microsoft.com/office/drawing/2014/main" id="{5EAD9159-5F2D-F19E-8C44-8210B31AF8DE}"/>
              </a:ext>
            </a:extLst>
          </p:cNvPr>
          <p:cNvSpPr txBox="1"/>
          <p:nvPr/>
        </p:nvSpPr>
        <p:spPr>
          <a:xfrm>
            <a:off x="457200" y="2455843"/>
            <a:ext cx="11841480" cy="4401205"/>
          </a:xfrm>
          <a:prstGeom prst="rect">
            <a:avLst/>
          </a:prstGeom>
          <a:noFill/>
        </p:spPr>
        <p:txBody>
          <a:bodyPr wrap="square">
            <a:spAutoFit/>
          </a:bodyPr>
          <a:lstStyle/>
          <a:p>
            <a:r>
              <a:rPr lang="en-US" sz="2800" dirty="0"/>
              <a:t># Single or Double Quotes (Standard)</a:t>
            </a:r>
          </a:p>
          <a:p>
            <a:r>
              <a:rPr lang="en-US" sz="2800" dirty="0" err="1"/>
              <a:t>single_coords</a:t>
            </a:r>
            <a:r>
              <a:rPr lang="en-US" sz="2800" dirty="0"/>
              <a:t> = 'Hello'</a:t>
            </a:r>
          </a:p>
          <a:p>
            <a:r>
              <a:rPr lang="en-US" sz="2800" dirty="0" err="1"/>
              <a:t>double_coords</a:t>
            </a:r>
            <a:r>
              <a:rPr lang="en-US" sz="2800" dirty="0"/>
              <a:t> = "World"</a:t>
            </a:r>
          </a:p>
          <a:p>
            <a:endParaRPr lang="en-US" sz="2800" dirty="0"/>
          </a:p>
          <a:p>
            <a:r>
              <a:rPr lang="en-US" sz="2800" dirty="0"/>
              <a:t># Triple Quotes (Multi-line strings, preserves formatting/newlines)</a:t>
            </a:r>
          </a:p>
          <a:p>
            <a:r>
              <a:rPr lang="en-US" sz="2800" dirty="0"/>
              <a:t>multiline = """This is a</a:t>
            </a:r>
          </a:p>
          <a:p>
            <a:r>
              <a:rPr lang="en-US" sz="2800" dirty="0"/>
              <a:t>multi-line string."""</a:t>
            </a:r>
          </a:p>
          <a:p>
            <a:endParaRPr lang="en-US" sz="2800" dirty="0"/>
          </a:p>
          <a:p>
            <a:r>
              <a:rPr lang="en-US" sz="2800" dirty="0"/>
              <a:t># Raw Strings (Prevents backslash escaping; ideal for </a:t>
            </a:r>
            <a:r>
              <a:rPr lang="en-US" sz="2800" dirty="0" err="1"/>
              <a:t>RegEx</a:t>
            </a:r>
            <a:r>
              <a:rPr lang="en-US" sz="2800" dirty="0"/>
              <a:t> or file paths)</a:t>
            </a:r>
          </a:p>
          <a:p>
            <a:r>
              <a:rPr lang="en-US" sz="2800" dirty="0" err="1"/>
              <a:t>raw_path</a:t>
            </a:r>
            <a:r>
              <a:rPr lang="en-US" sz="2800" dirty="0"/>
              <a:t> = </a:t>
            </a:r>
            <a:r>
              <a:rPr lang="en-US" sz="2800" dirty="0" err="1"/>
              <a:t>r"C</a:t>
            </a:r>
            <a:r>
              <a:rPr lang="en-US" sz="2800" dirty="0"/>
              <a:t>:\next\folder\</a:t>
            </a:r>
            <a:r>
              <a:rPr lang="en-US" sz="2800" dirty="0" err="1"/>
              <a:t>file.txt</a:t>
            </a:r>
            <a:r>
              <a:rPr lang="en-US" sz="2800" dirty="0"/>
              <a:t>" </a:t>
            </a:r>
          </a:p>
        </p:txBody>
      </p:sp>
    </p:spTree>
    <p:extLst>
      <p:ext uri="{BB962C8B-B14F-4D97-AF65-F5344CB8AC3E}">
        <p14:creationId xmlns:p14="http://schemas.microsoft.com/office/powerpoint/2010/main" val="761689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C08F3-1697-F5E2-DFE7-ABF6DC279B23}"/>
              </a:ext>
            </a:extLst>
          </p:cNvPr>
          <p:cNvSpPr>
            <a:spLocks noGrp="1"/>
          </p:cNvSpPr>
          <p:nvPr>
            <p:ph type="title"/>
          </p:nvPr>
        </p:nvSpPr>
        <p:spPr/>
        <p:txBody>
          <a:bodyPr/>
          <a:lstStyle/>
          <a:p>
            <a:r>
              <a:rPr lang="en-IN" b="1" u="none" strike="noStrike" dirty="0">
                <a:effectLst/>
                <a:latin typeface="Google Sans"/>
              </a:rPr>
              <a:t>Multiline Strings (Triple Quotes)</a:t>
            </a:r>
            <a:endParaRPr lang="en-US" dirty="0"/>
          </a:p>
        </p:txBody>
      </p:sp>
      <p:sp>
        <p:nvSpPr>
          <p:cNvPr id="3" name="Content Placeholder 2">
            <a:extLst>
              <a:ext uri="{FF2B5EF4-FFF2-40B4-BE49-F238E27FC236}">
                <a16:creationId xmlns:a16="http://schemas.microsoft.com/office/drawing/2014/main" id="{075C82B9-E5A1-5C57-B5AD-9B0710F6E54F}"/>
              </a:ext>
            </a:extLst>
          </p:cNvPr>
          <p:cNvSpPr>
            <a:spLocks noGrp="1"/>
          </p:cNvSpPr>
          <p:nvPr>
            <p:ph idx="1"/>
          </p:nvPr>
        </p:nvSpPr>
        <p:spPr/>
        <p:txBody>
          <a:bodyPr/>
          <a:lstStyle/>
          <a:p>
            <a:r>
              <a:rPr lang="en-IN" b="0" u="none" strike="noStrike" dirty="0">
                <a:effectLst/>
                <a:latin typeface="Google Sans"/>
              </a:rPr>
              <a:t>Enclosed in '''...''' or """...""". They allow text to span across multiple lines while preserving all line breaks and spaces automatically. They are also frequently used as "docstrings" for code documentation.</a:t>
            </a:r>
          </a:p>
          <a:p>
            <a:endParaRPr lang="en-US" dirty="0"/>
          </a:p>
        </p:txBody>
      </p:sp>
      <p:sp>
        <p:nvSpPr>
          <p:cNvPr id="7" name="TextBox 6">
            <a:extLst>
              <a:ext uri="{FF2B5EF4-FFF2-40B4-BE49-F238E27FC236}">
                <a16:creationId xmlns:a16="http://schemas.microsoft.com/office/drawing/2014/main" id="{FAF49F70-3D4D-B6E5-B5AF-2BE01669F136}"/>
              </a:ext>
            </a:extLst>
          </p:cNvPr>
          <p:cNvSpPr txBox="1"/>
          <p:nvPr/>
        </p:nvSpPr>
        <p:spPr>
          <a:xfrm>
            <a:off x="3048000" y="3105835"/>
            <a:ext cx="6096000" cy="954107"/>
          </a:xfrm>
          <a:prstGeom prst="rect">
            <a:avLst/>
          </a:prstGeom>
          <a:noFill/>
        </p:spPr>
        <p:txBody>
          <a:bodyPr wrap="square">
            <a:spAutoFit/>
          </a:bodyPr>
          <a:lstStyle/>
          <a:p>
            <a:r>
              <a:rPr lang="en-US" sz="2800" dirty="0"/>
              <a:t>multiline = """This is line one.</a:t>
            </a:r>
          </a:p>
          <a:p>
            <a:r>
              <a:rPr lang="en-US" sz="2800" dirty="0"/>
              <a:t>This is line two."""</a:t>
            </a:r>
          </a:p>
        </p:txBody>
      </p:sp>
    </p:spTree>
    <p:extLst>
      <p:ext uri="{BB962C8B-B14F-4D97-AF65-F5344CB8AC3E}">
        <p14:creationId xmlns:p14="http://schemas.microsoft.com/office/powerpoint/2010/main" val="2715522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4AED8-40E4-0770-C62B-0DA61D6C3940}"/>
              </a:ext>
            </a:extLst>
          </p:cNvPr>
          <p:cNvSpPr>
            <a:spLocks noGrp="1"/>
          </p:cNvSpPr>
          <p:nvPr>
            <p:ph type="title"/>
          </p:nvPr>
        </p:nvSpPr>
        <p:spPr/>
        <p:txBody>
          <a:bodyPr/>
          <a:lstStyle/>
          <a:p>
            <a:r>
              <a:rPr lang="en-IN" b="1" u="none" strike="noStrike" dirty="0">
                <a:effectLst/>
                <a:latin typeface="Google Sans"/>
              </a:rPr>
              <a:t>Special Prefix Strings</a:t>
            </a:r>
            <a:endParaRPr lang="en-US" dirty="0"/>
          </a:p>
        </p:txBody>
      </p:sp>
      <p:sp>
        <p:nvSpPr>
          <p:cNvPr id="3" name="Content Placeholder 2">
            <a:extLst>
              <a:ext uri="{FF2B5EF4-FFF2-40B4-BE49-F238E27FC236}">
                <a16:creationId xmlns:a16="http://schemas.microsoft.com/office/drawing/2014/main" id="{09891A13-C859-229F-1BD3-228E7296F6FA}"/>
              </a:ext>
            </a:extLst>
          </p:cNvPr>
          <p:cNvSpPr>
            <a:spLocks noGrp="1"/>
          </p:cNvSpPr>
          <p:nvPr>
            <p:ph idx="1"/>
          </p:nvPr>
        </p:nvSpPr>
        <p:spPr/>
        <p:txBody>
          <a:bodyPr>
            <a:normAutofit/>
          </a:bodyPr>
          <a:lstStyle/>
          <a:p>
            <a:r>
              <a:rPr lang="en-IN" b="0" u="none" strike="noStrike" dirty="0">
                <a:effectLst/>
                <a:latin typeface="Google Sans"/>
              </a:rPr>
              <a:t>You can add a lowercase or uppercase letter right before the opening quote to give the string special properties: []</a:t>
            </a:r>
          </a:p>
          <a:p>
            <a:r>
              <a:rPr lang="en-IN" b="1" u="none" strike="noStrike" dirty="0">
                <a:effectLst/>
                <a:latin typeface="Google Sans"/>
              </a:rPr>
              <a:t>F-Strings (Formatted Strings) f"..."</a:t>
            </a:r>
            <a:r>
              <a:rPr lang="en-IN" b="0" u="none" strike="noStrike" dirty="0">
                <a:effectLst/>
                <a:latin typeface="Google Sans"/>
              </a:rPr>
              <a:t>: Evaluates variables or mathematical expressions directly inside curly braces {} at runtime. []</a:t>
            </a:r>
          </a:p>
          <a:p>
            <a:r>
              <a:rPr lang="en-IN" b="1" u="none" strike="noStrike" dirty="0">
                <a:effectLst/>
                <a:latin typeface="Google Sans"/>
              </a:rPr>
              <a:t>Raw Strings r"..."</a:t>
            </a:r>
            <a:r>
              <a:rPr lang="en-IN" b="0" u="none" strike="noStrike" dirty="0">
                <a:effectLst/>
                <a:latin typeface="Google Sans"/>
              </a:rPr>
              <a:t>: Treats backslashes \ as literal characters instead of escape characters. Essential for windows file paths or regular expressions (regex). </a:t>
            </a:r>
          </a:p>
          <a:p>
            <a:r>
              <a:rPr lang="en-IN" b="1" u="none" strike="noStrike" dirty="0">
                <a:effectLst/>
                <a:latin typeface="Google Sans"/>
              </a:rPr>
              <a:t>Byte Strings </a:t>
            </a:r>
            <a:r>
              <a:rPr lang="en-IN" b="1" u="none" strike="noStrike" dirty="0">
                <a:effectLst/>
                <a:latin typeface="Courier New" panose="02070309020205020404" pitchFamily="49" charset="0"/>
              </a:rPr>
              <a:t>b"..."</a:t>
            </a:r>
            <a:r>
              <a:rPr lang="en-IN" b="0" u="none" strike="noStrike" dirty="0">
                <a:effectLst/>
                <a:latin typeface="Google Sans"/>
              </a:rPr>
              <a:t>: Creates a </a:t>
            </a:r>
            <a:r>
              <a:rPr lang="en-IN" b="0" u="none" strike="noStrike" dirty="0">
                <a:effectLst/>
                <a:latin typeface="Courier New" panose="02070309020205020404" pitchFamily="49" charset="0"/>
              </a:rPr>
              <a:t>bytes</a:t>
            </a:r>
            <a:r>
              <a:rPr lang="en-IN" b="0" u="none" strike="noStrike" dirty="0">
                <a:effectLst/>
                <a:latin typeface="Google Sans"/>
              </a:rPr>
              <a:t> object rather than a regular string (</a:t>
            </a:r>
            <a:r>
              <a:rPr lang="en-IN" b="0" u="none" strike="noStrike" dirty="0">
                <a:effectLst/>
                <a:latin typeface="Courier New" panose="02070309020205020404" pitchFamily="49" charset="0"/>
              </a:rPr>
              <a:t>str</a:t>
            </a:r>
            <a:r>
              <a:rPr lang="en-IN" b="0" u="none" strike="noStrike" dirty="0">
                <a:effectLst/>
                <a:latin typeface="Google Sans"/>
              </a:rPr>
              <a:t>). It represents raw 8-bit bytes and is heavily used in file handling, network sockets, and data streaming. </a:t>
            </a:r>
          </a:p>
          <a:p>
            <a:endParaRPr lang="en-US" dirty="0"/>
          </a:p>
        </p:txBody>
      </p:sp>
    </p:spTree>
    <p:extLst>
      <p:ext uri="{BB962C8B-B14F-4D97-AF65-F5344CB8AC3E}">
        <p14:creationId xmlns:p14="http://schemas.microsoft.com/office/powerpoint/2010/main" val="2234136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D9D1F-5FC3-1E98-6F84-5E42455F8C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BC2720-D9BA-D603-FCC6-16CAF192FAEB}"/>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59C915FF-E425-8EB2-224B-6A78F71412BF}"/>
              </a:ext>
            </a:extLst>
          </p:cNvPr>
          <p:cNvSpPr txBox="1"/>
          <p:nvPr/>
        </p:nvSpPr>
        <p:spPr>
          <a:xfrm>
            <a:off x="838200" y="2551837"/>
            <a:ext cx="10515600" cy="1938992"/>
          </a:xfrm>
          <a:prstGeom prst="rect">
            <a:avLst/>
          </a:prstGeom>
          <a:noFill/>
        </p:spPr>
        <p:txBody>
          <a:bodyPr wrap="square">
            <a:spAutoFit/>
          </a:bodyPr>
          <a:lstStyle/>
          <a:p>
            <a:r>
              <a:rPr lang="en-US" sz="2400" dirty="0"/>
              <a:t>name = "Alice"</a:t>
            </a:r>
          </a:p>
          <a:p>
            <a:r>
              <a:rPr lang="en-US" sz="2400" dirty="0"/>
              <a:t>print(</a:t>
            </a:r>
            <a:r>
              <a:rPr lang="en-US" sz="2400" dirty="0" err="1"/>
              <a:t>f"Hello</a:t>
            </a:r>
            <a:r>
              <a:rPr lang="en-US" sz="2400" dirty="0"/>
              <a:t>, {name}")       # Output: Hello, Alice</a:t>
            </a:r>
          </a:p>
          <a:p>
            <a:r>
              <a:rPr lang="en-US" sz="2400" dirty="0"/>
              <a:t>print(</a:t>
            </a:r>
            <a:r>
              <a:rPr lang="en-US" sz="2400" dirty="0" err="1"/>
              <a:t>r"C</a:t>
            </a:r>
            <a:r>
              <a:rPr lang="en-US" sz="2400" dirty="0"/>
              <a:t>:\Users\name\new")   # Output: C:\Users\name\new (ignores \n newline)</a:t>
            </a:r>
          </a:p>
          <a:p>
            <a:r>
              <a:rPr lang="en-US" sz="2400" dirty="0"/>
              <a:t>print(</a:t>
            </a:r>
            <a:r>
              <a:rPr lang="en-US" sz="2400" dirty="0" err="1"/>
              <a:t>b"Hello</a:t>
            </a:r>
            <a:r>
              <a:rPr lang="en-US" sz="2400" dirty="0"/>
              <a:t>")               # Output: </a:t>
            </a:r>
            <a:r>
              <a:rPr lang="en-US" sz="2400" dirty="0" err="1"/>
              <a:t>b'Hello</a:t>
            </a:r>
            <a:r>
              <a:rPr lang="en-US" sz="2400" dirty="0"/>
              <a:t>' (Type: &lt;class 'bytes'&gt;)</a:t>
            </a:r>
          </a:p>
        </p:txBody>
      </p:sp>
    </p:spTree>
    <p:extLst>
      <p:ext uri="{BB962C8B-B14F-4D97-AF65-F5344CB8AC3E}">
        <p14:creationId xmlns:p14="http://schemas.microsoft.com/office/powerpoint/2010/main" val="705982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1.11. More on strings and functions — Python Programming">
            <a:extLst>
              <a:ext uri="{FF2B5EF4-FFF2-40B4-BE49-F238E27FC236}">
                <a16:creationId xmlns:a16="http://schemas.microsoft.com/office/drawing/2014/main" id="{EBC1F73D-18D8-DF70-B85F-AE3285A8638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158851" y="643466"/>
            <a:ext cx="7874298"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58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E8733-24F1-B510-289C-541182081895}"/>
              </a:ext>
            </a:extLst>
          </p:cNvPr>
          <p:cNvSpPr>
            <a:spLocks noGrp="1"/>
          </p:cNvSpPr>
          <p:nvPr>
            <p:ph type="title"/>
          </p:nvPr>
        </p:nvSpPr>
        <p:spPr/>
        <p:txBody>
          <a:bodyPr/>
          <a:lstStyle/>
          <a:p>
            <a:r>
              <a:rPr lang="en-IN" b="1" u="none" strike="noStrike" dirty="0">
                <a:effectLst/>
                <a:latin typeface="Google Sans"/>
              </a:rPr>
              <a:t>2. Core Concepts: Indexing and Slicing</a:t>
            </a:r>
            <a:endParaRPr lang="en-US" dirty="0"/>
          </a:p>
        </p:txBody>
      </p:sp>
      <p:sp>
        <p:nvSpPr>
          <p:cNvPr id="3" name="Content Placeholder 2">
            <a:extLst>
              <a:ext uri="{FF2B5EF4-FFF2-40B4-BE49-F238E27FC236}">
                <a16:creationId xmlns:a16="http://schemas.microsoft.com/office/drawing/2014/main" id="{6DAC1A21-B66B-0E3E-874A-4DFAFA09B632}"/>
              </a:ext>
            </a:extLst>
          </p:cNvPr>
          <p:cNvSpPr>
            <a:spLocks noGrp="1"/>
          </p:cNvSpPr>
          <p:nvPr>
            <p:ph idx="1"/>
          </p:nvPr>
        </p:nvSpPr>
        <p:spPr/>
        <p:txBody>
          <a:bodyPr/>
          <a:lstStyle/>
          <a:p>
            <a:r>
              <a:rPr lang="en-IN" b="0" u="none" strike="noStrike" dirty="0">
                <a:effectLst/>
                <a:latin typeface="Google Sans"/>
              </a:rPr>
              <a:t>Strings use </a:t>
            </a:r>
            <a:r>
              <a:rPr lang="en-IN" b="1" u="none" strike="noStrike" dirty="0">
                <a:effectLst/>
                <a:latin typeface="Google Sans"/>
              </a:rPr>
              <a:t>zero-based indexing</a:t>
            </a:r>
            <a:r>
              <a:rPr lang="en-IN" b="0" u="none" strike="noStrike" dirty="0">
                <a:effectLst/>
                <a:latin typeface="Google Sans"/>
              </a:rPr>
              <a:t> to access individual characters and supporting negative indices to access characters starting from the end. []</a:t>
            </a:r>
          </a:p>
          <a:p>
            <a:endParaRPr lang="en-US" dirty="0"/>
          </a:p>
        </p:txBody>
      </p:sp>
      <p:sp>
        <p:nvSpPr>
          <p:cNvPr id="5" name="TextBox 4">
            <a:extLst>
              <a:ext uri="{FF2B5EF4-FFF2-40B4-BE49-F238E27FC236}">
                <a16:creationId xmlns:a16="http://schemas.microsoft.com/office/drawing/2014/main" id="{AC49AFBA-5722-A008-4C1B-7272C8D73CF8}"/>
              </a:ext>
            </a:extLst>
          </p:cNvPr>
          <p:cNvSpPr txBox="1"/>
          <p:nvPr/>
        </p:nvSpPr>
        <p:spPr>
          <a:xfrm>
            <a:off x="2758440" y="2703016"/>
            <a:ext cx="11673840" cy="4154984"/>
          </a:xfrm>
          <a:prstGeom prst="rect">
            <a:avLst/>
          </a:prstGeom>
          <a:noFill/>
        </p:spPr>
        <p:txBody>
          <a:bodyPr wrap="square">
            <a:spAutoFit/>
          </a:bodyPr>
          <a:lstStyle/>
          <a:p>
            <a:r>
              <a:rPr lang="en-US" sz="2400" dirty="0"/>
              <a:t>text = "Python"</a:t>
            </a:r>
          </a:p>
          <a:p>
            <a:endParaRPr lang="en-US" sz="2400" dirty="0"/>
          </a:p>
          <a:p>
            <a:r>
              <a:rPr lang="en-US" sz="2400" dirty="0"/>
              <a:t># Indexing</a:t>
            </a:r>
          </a:p>
          <a:p>
            <a:r>
              <a:rPr lang="en-US" sz="2400" dirty="0"/>
              <a:t>print(text[0])   # Output: 'P'</a:t>
            </a:r>
          </a:p>
          <a:p>
            <a:r>
              <a:rPr lang="en-US" sz="2400" dirty="0"/>
              <a:t>print(text[-1])  # Output: 'n' (last character)</a:t>
            </a:r>
          </a:p>
          <a:p>
            <a:endParaRPr lang="en-US" sz="2400" dirty="0"/>
          </a:p>
          <a:p>
            <a:r>
              <a:rPr lang="en-US" sz="2400" dirty="0"/>
              <a:t># Slicing syntax -&gt; text[</a:t>
            </a:r>
            <a:r>
              <a:rPr lang="en-US" sz="2400" dirty="0" err="1"/>
              <a:t>start:end:step</a:t>
            </a:r>
            <a:r>
              <a:rPr lang="en-US" sz="2400" dirty="0"/>
              <a:t>]</a:t>
            </a:r>
          </a:p>
          <a:p>
            <a:r>
              <a:rPr lang="en-US" sz="2400" dirty="0"/>
              <a:t>print(text[0:2])   # Output: '</a:t>
            </a:r>
            <a:r>
              <a:rPr lang="en-US" sz="2400" dirty="0" err="1"/>
              <a:t>Py</a:t>
            </a:r>
            <a:r>
              <a:rPr lang="en-US" sz="2400" dirty="0"/>
              <a:t>' (index 2 is excluded)</a:t>
            </a:r>
          </a:p>
          <a:p>
            <a:r>
              <a:rPr lang="en-US" sz="2400" dirty="0"/>
              <a:t>print(text[:4])    # Output: '</a:t>
            </a:r>
            <a:r>
              <a:rPr lang="en-US" sz="2400" dirty="0" err="1"/>
              <a:t>Pyth</a:t>
            </a:r>
            <a:r>
              <a:rPr lang="en-US" sz="2400" dirty="0"/>
              <a:t>' (defaults start to 0)</a:t>
            </a:r>
          </a:p>
          <a:p>
            <a:r>
              <a:rPr lang="en-US" sz="2400" dirty="0"/>
              <a:t>print(text[::2])   # Output: '</a:t>
            </a:r>
            <a:r>
              <a:rPr lang="en-US" sz="2400" dirty="0" err="1"/>
              <a:t>Pto</a:t>
            </a:r>
            <a:r>
              <a:rPr lang="en-US" sz="2400" dirty="0"/>
              <a:t>' (steps by 2 items)</a:t>
            </a:r>
          </a:p>
          <a:p>
            <a:r>
              <a:rPr lang="en-US" sz="2400" dirty="0"/>
              <a:t>print(text[::-1])  # Output: '</a:t>
            </a:r>
            <a:r>
              <a:rPr lang="en-US" sz="2400" dirty="0" err="1"/>
              <a:t>nohtyP</a:t>
            </a:r>
            <a:r>
              <a:rPr lang="en-US" sz="2400" dirty="0"/>
              <a:t>' (reverses the string)</a:t>
            </a:r>
          </a:p>
        </p:txBody>
      </p:sp>
      <p:pic>
        <p:nvPicPr>
          <p:cNvPr id="1026" name="Picture 2" descr="Python String - GeeksforGeeks">
            <a:extLst>
              <a:ext uri="{FF2B5EF4-FFF2-40B4-BE49-F238E27FC236}">
                <a16:creationId xmlns:a16="http://schemas.microsoft.com/office/drawing/2014/main" id="{CFF4AD20-BC8F-016F-FDFE-A25416C58E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6777" y="2703016"/>
            <a:ext cx="5464065" cy="116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72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3832-8FEB-6F7B-1681-F335A111FE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4A809E-EDD6-9E65-0015-F4A9D5EA604B}"/>
              </a:ext>
            </a:extLst>
          </p:cNvPr>
          <p:cNvSpPr>
            <a:spLocks noGrp="1"/>
          </p:cNvSpPr>
          <p:nvPr>
            <p:ph idx="1"/>
          </p:nvPr>
        </p:nvSpPr>
        <p:spPr/>
        <p:txBody>
          <a:bodyPr/>
          <a:lstStyle/>
          <a:p>
            <a:endParaRPr lang="en-US"/>
          </a:p>
        </p:txBody>
      </p:sp>
      <p:pic>
        <p:nvPicPr>
          <p:cNvPr id="4098" name="Picture 2" descr="Python Strings - Tpoint Tech">
            <a:extLst>
              <a:ext uri="{FF2B5EF4-FFF2-40B4-BE49-F238E27FC236}">
                <a16:creationId xmlns:a16="http://schemas.microsoft.com/office/drawing/2014/main" id="{398287E3-2F4A-7F75-B246-50B22C416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679450"/>
            <a:ext cx="8255000" cy="549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98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FCE95-AE4E-6EFF-CDD2-252D4E62FE33}"/>
              </a:ext>
            </a:extLst>
          </p:cNvPr>
          <p:cNvSpPr>
            <a:spLocks noGrp="1"/>
          </p:cNvSpPr>
          <p:nvPr>
            <p:ph type="title"/>
          </p:nvPr>
        </p:nvSpPr>
        <p:spPr/>
        <p:txBody>
          <a:bodyPr/>
          <a:lstStyle/>
          <a:p>
            <a:r>
              <a:rPr lang="en-IN" b="1" u="none" strike="noStrike" dirty="0">
                <a:effectLst/>
                <a:latin typeface="Google Sans"/>
              </a:rPr>
              <a:t>3. Structural Immutability</a:t>
            </a:r>
            <a:endParaRPr lang="en-US" dirty="0"/>
          </a:p>
        </p:txBody>
      </p:sp>
      <p:sp>
        <p:nvSpPr>
          <p:cNvPr id="3" name="Content Placeholder 2">
            <a:extLst>
              <a:ext uri="{FF2B5EF4-FFF2-40B4-BE49-F238E27FC236}">
                <a16:creationId xmlns:a16="http://schemas.microsoft.com/office/drawing/2014/main" id="{3ADF7E67-7DB1-38F9-CCC5-06E875E5EEA0}"/>
              </a:ext>
            </a:extLst>
          </p:cNvPr>
          <p:cNvSpPr>
            <a:spLocks noGrp="1"/>
          </p:cNvSpPr>
          <p:nvPr>
            <p:ph idx="1"/>
          </p:nvPr>
        </p:nvSpPr>
        <p:spPr/>
        <p:txBody>
          <a:bodyPr/>
          <a:lstStyle/>
          <a:p>
            <a:r>
              <a:rPr lang="en-IN" b="0" u="none" strike="noStrike" dirty="0">
                <a:effectLst/>
                <a:latin typeface="Google Sans"/>
              </a:rPr>
              <a:t>Strings are </a:t>
            </a:r>
            <a:r>
              <a:rPr lang="en-IN" b="1" u="none" strike="noStrike" dirty="0">
                <a:effectLst/>
                <a:latin typeface="Google Sans"/>
              </a:rPr>
              <a:t>immutable</a:t>
            </a:r>
            <a:r>
              <a:rPr lang="en-IN" b="0" u="none" strike="noStrike" dirty="0">
                <a:effectLst/>
                <a:latin typeface="Google Sans"/>
              </a:rPr>
              <a:t>, meaning their characters cannot be updated or altered in place once created. Any modification operation creates a completely new string object in memory.</a:t>
            </a:r>
          </a:p>
          <a:p>
            <a:endParaRPr lang="en-US" dirty="0"/>
          </a:p>
        </p:txBody>
      </p:sp>
      <p:sp>
        <p:nvSpPr>
          <p:cNvPr id="5" name="TextBox 4">
            <a:extLst>
              <a:ext uri="{FF2B5EF4-FFF2-40B4-BE49-F238E27FC236}">
                <a16:creationId xmlns:a16="http://schemas.microsoft.com/office/drawing/2014/main" id="{ED82E5E3-045D-E9A5-56FD-63821535E75A}"/>
              </a:ext>
            </a:extLst>
          </p:cNvPr>
          <p:cNvSpPr txBox="1"/>
          <p:nvPr/>
        </p:nvSpPr>
        <p:spPr>
          <a:xfrm>
            <a:off x="586740" y="3754458"/>
            <a:ext cx="11018520" cy="2308324"/>
          </a:xfrm>
          <a:prstGeom prst="rect">
            <a:avLst/>
          </a:prstGeom>
          <a:noFill/>
        </p:spPr>
        <p:txBody>
          <a:bodyPr wrap="square">
            <a:spAutoFit/>
          </a:bodyPr>
          <a:lstStyle/>
          <a:p>
            <a:r>
              <a:rPr lang="en-US" sz="2400" dirty="0"/>
              <a:t>msg = "Hello"</a:t>
            </a:r>
          </a:p>
          <a:p>
            <a:r>
              <a:rPr lang="en-US" sz="2400" dirty="0"/>
              <a:t># msg[0] = "Y"  --&gt; Raises </a:t>
            </a:r>
            <a:r>
              <a:rPr lang="en-US" sz="2400" dirty="0" err="1"/>
              <a:t>TypeError</a:t>
            </a:r>
            <a:r>
              <a:rPr lang="en-US" sz="2400" dirty="0"/>
              <a:t>: 'str' object does not support item assignment</a:t>
            </a:r>
          </a:p>
          <a:p>
            <a:endParaRPr lang="en-US" sz="2400" dirty="0"/>
          </a:p>
          <a:p>
            <a:r>
              <a:rPr lang="en-US" sz="2400" dirty="0"/>
              <a:t># Correct Approach: Reassign or construct a new string</a:t>
            </a:r>
          </a:p>
          <a:p>
            <a:r>
              <a:rPr lang="en-US" sz="2400" dirty="0"/>
              <a:t>msg = "Y" + msg[1:] </a:t>
            </a:r>
          </a:p>
          <a:p>
            <a:r>
              <a:rPr lang="en-US" sz="2400" dirty="0"/>
              <a:t>print(msg)  # Output: "Yello"</a:t>
            </a:r>
          </a:p>
        </p:txBody>
      </p:sp>
    </p:spTree>
    <p:extLst>
      <p:ext uri="{BB962C8B-B14F-4D97-AF65-F5344CB8AC3E}">
        <p14:creationId xmlns:p14="http://schemas.microsoft.com/office/powerpoint/2010/main" val="2350501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B473B-4703-D99C-B4FC-FBD07A56165A}"/>
              </a:ext>
            </a:extLst>
          </p:cNvPr>
          <p:cNvSpPr>
            <a:spLocks noGrp="1"/>
          </p:cNvSpPr>
          <p:nvPr>
            <p:ph type="title"/>
          </p:nvPr>
        </p:nvSpPr>
        <p:spPr/>
        <p:txBody>
          <a:bodyPr>
            <a:normAutofit/>
          </a:bodyPr>
          <a:lstStyle/>
          <a:p>
            <a:r>
              <a:rPr lang="en-IN" b="1" u="none" strike="noStrike" dirty="0">
                <a:effectLst/>
                <a:latin typeface="Google Sans"/>
              </a:rPr>
              <a:t>4. Essential Built-in String Methods</a:t>
            </a:r>
            <a:endParaRPr lang="en-US" dirty="0"/>
          </a:p>
        </p:txBody>
      </p:sp>
      <p:graphicFrame>
        <p:nvGraphicFramePr>
          <p:cNvPr id="4" name="Content Placeholder 3">
            <a:extLst>
              <a:ext uri="{FF2B5EF4-FFF2-40B4-BE49-F238E27FC236}">
                <a16:creationId xmlns:a16="http://schemas.microsoft.com/office/drawing/2014/main" id="{1A646348-85F3-7DBA-AB70-0FF6722C199D}"/>
              </a:ext>
            </a:extLst>
          </p:cNvPr>
          <p:cNvGraphicFramePr>
            <a:graphicFrameLocks noGrp="1"/>
          </p:cNvGraphicFramePr>
          <p:nvPr>
            <p:ph idx="1"/>
            <p:extLst>
              <p:ext uri="{D42A27DB-BD31-4B8C-83A1-F6EECF244321}">
                <p14:modId xmlns:p14="http://schemas.microsoft.com/office/powerpoint/2010/main" val="994077339"/>
              </p:ext>
            </p:extLst>
          </p:nvPr>
        </p:nvGraphicFramePr>
        <p:xfrm>
          <a:off x="838200" y="1307465"/>
          <a:ext cx="10515600" cy="54254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10482124"/>
                    </a:ext>
                  </a:extLst>
                </a:gridCol>
                <a:gridCol w="1645920">
                  <a:extLst>
                    <a:ext uri="{9D8B030D-6E8A-4147-A177-3AD203B41FA5}">
                      <a16:colId xmlns:a16="http://schemas.microsoft.com/office/drawing/2014/main" val="2975756168"/>
                    </a:ext>
                  </a:extLst>
                </a:gridCol>
                <a:gridCol w="2560320">
                  <a:extLst>
                    <a:ext uri="{9D8B030D-6E8A-4147-A177-3AD203B41FA5}">
                      <a16:colId xmlns:a16="http://schemas.microsoft.com/office/drawing/2014/main" val="2539552958"/>
                    </a:ext>
                  </a:extLst>
                </a:gridCol>
                <a:gridCol w="2834640">
                  <a:extLst>
                    <a:ext uri="{9D8B030D-6E8A-4147-A177-3AD203B41FA5}">
                      <a16:colId xmlns:a16="http://schemas.microsoft.com/office/drawing/2014/main" val="2808692235"/>
                    </a:ext>
                  </a:extLst>
                </a:gridCol>
                <a:gridCol w="1371600">
                  <a:extLst>
                    <a:ext uri="{9D8B030D-6E8A-4147-A177-3AD203B41FA5}">
                      <a16:colId xmlns:a16="http://schemas.microsoft.com/office/drawing/2014/main" val="947265007"/>
                    </a:ext>
                  </a:extLst>
                </a:gridCol>
              </a:tblGrid>
              <a:tr h="370840">
                <a:tc>
                  <a:txBody>
                    <a:bodyPr/>
                    <a:lstStyle/>
                    <a:p>
                      <a:r>
                        <a:rPr lang="en-IN" sz="1800" dirty="0"/>
                        <a:t>Category</a:t>
                      </a:r>
                      <a:endParaRPr lang="en-US" sz="1800" dirty="0"/>
                    </a:p>
                  </a:txBody>
                  <a:tcPr/>
                </a:tc>
                <a:tc>
                  <a:txBody>
                    <a:bodyPr/>
                    <a:lstStyle/>
                    <a:p>
                      <a:r>
                        <a:rPr lang="en-IN" sz="1800" dirty="0"/>
                        <a:t>Method</a:t>
                      </a:r>
                      <a:endParaRPr lang="en-US" sz="1800" dirty="0"/>
                    </a:p>
                  </a:txBody>
                  <a:tcPr/>
                </a:tc>
                <a:tc>
                  <a:txBody>
                    <a:bodyPr/>
                    <a:lstStyle/>
                    <a:p>
                      <a:r>
                        <a:rPr lang="en-IN" sz="1800" dirty="0"/>
                        <a:t>Description</a:t>
                      </a:r>
                      <a:endParaRPr lang="en-US" sz="1800" dirty="0"/>
                    </a:p>
                  </a:txBody>
                  <a:tcPr/>
                </a:tc>
                <a:tc>
                  <a:txBody>
                    <a:bodyPr/>
                    <a:lstStyle/>
                    <a:p>
                      <a:r>
                        <a:rPr lang="en-IN" sz="1800" dirty="0"/>
                        <a:t>Code Example</a:t>
                      </a:r>
                      <a:endParaRPr lang="en-US" sz="1800" dirty="0"/>
                    </a:p>
                  </a:txBody>
                  <a:tcPr/>
                </a:tc>
                <a:tc>
                  <a:txBody>
                    <a:bodyPr/>
                    <a:lstStyle/>
                    <a:p>
                      <a:r>
                        <a:rPr lang="en-IN" sz="1800" dirty="0"/>
                        <a:t>Output</a:t>
                      </a:r>
                      <a:endParaRPr lang="en-US" sz="1800" dirty="0"/>
                    </a:p>
                  </a:txBody>
                  <a:tcPr/>
                </a:tc>
                <a:extLst>
                  <a:ext uri="{0D108BD9-81ED-4DB2-BD59-A6C34878D82A}">
                    <a16:rowId xmlns:a16="http://schemas.microsoft.com/office/drawing/2014/main" val="1317344635"/>
                  </a:ext>
                </a:extLst>
              </a:tr>
              <a:tr h="370840">
                <a:tc>
                  <a:txBody>
                    <a:bodyPr/>
                    <a:lstStyle/>
                    <a:p>
                      <a:r>
                        <a:rPr lang="en-IN" sz="1800" b="1" u="none" strike="noStrike" kern="1200" dirty="0">
                          <a:solidFill>
                            <a:schemeClr val="dk1"/>
                          </a:solidFill>
                          <a:effectLst/>
                          <a:latin typeface="+mn-lt"/>
                          <a:ea typeface="+mn-ea"/>
                          <a:cs typeface="+mn-cs"/>
                        </a:rPr>
                        <a:t>Case Changes</a:t>
                      </a:r>
                      <a:endParaRPr lang="en-US" sz="1800" dirty="0"/>
                    </a:p>
                  </a:txBody>
                  <a:tcPr/>
                </a:tc>
                <a:tc>
                  <a:txBody>
                    <a:bodyPr/>
                    <a:lstStyle/>
                    <a:p>
                      <a:r>
                        <a:rPr lang="en-IN" sz="1800" b="0" u="none" strike="noStrike" kern="1200" dirty="0">
                          <a:solidFill>
                            <a:schemeClr val="dk1"/>
                          </a:solidFill>
                          <a:effectLst/>
                          <a:latin typeface="+mn-lt"/>
                          <a:ea typeface="+mn-ea"/>
                          <a:cs typeface="+mn-cs"/>
                        </a:rPr>
                        <a:t>.upper()</a:t>
                      </a:r>
                      <a:endParaRPr lang="en-US" sz="1800" dirty="0"/>
                    </a:p>
                  </a:txBody>
                  <a:tcPr/>
                </a:tc>
                <a:tc>
                  <a:txBody>
                    <a:bodyPr/>
                    <a:lstStyle/>
                    <a:p>
                      <a:r>
                        <a:rPr lang="en-IN" sz="1800" b="0" u="none" strike="noStrike" kern="1200" dirty="0">
                          <a:solidFill>
                            <a:schemeClr val="dk1"/>
                          </a:solidFill>
                          <a:effectLst/>
                          <a:latin typeface="+mn-lt"/>
                          <a:ea typeface="+mn-ea"/>
                          <a:cs typeface="+mn-cs"/>
                        </a:rPr>
                        <a:t>Converts to uppercase</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py</a:t>
                      </a:r>
                      <a:r>
                        <a:rPr lang="en-IN" sz="1800" b="0" u="none" strike="noStrike" kern="1200" dirty="0">
                          <a:solidFill>
                            <a:schemeClr val="dk1"/>
                          </a:solidFill>
                          <a:effectLst/>
                          <a:latin typeface="+mn-lt"/>
                          <a:ea typeface="+mn-ea"/>
                          <a:cs typeface="+mn-cs"/>
                        </a:rPr>
                        <a:t>".upper()</a:t>
                      </a:r>
                      <a:endParaRPr lang="en-US" sz="1800" dirty="0"/>
                    </a:p>
                  </a:txBody>
                  <a:tcPr/>
                </a:tc>
                <a:tc>
                  <a:txBody>
                    <a:bodyPr/>
                    <a:lstStyle/>
                    <a:p>
                      <a:r>
                        <a:rPr lang="en-IN" sz="1800" b="0" u="none" strike="noStrike" kern="1200" dirty="0">
                          <a:solidFill>
                            <a:schemeClr val="dk1"/>
                          </a:solidFill>
                          <a:effectLst/>
                          <a:latin typeface="+mn-lt"/>
                          <a:ea typeface="+mn-ea"/>
                          <a:cs typeface="+mn-cs"/>
                        </a:rPr>
                        <a:t>"PY"</a:t>
                      </a:r>
                      <a:endParaRPr lang="en-US" sz="1800" dirty="0"/>
                    </a:p>
                  </a:txBody>
                  <a:tcPr/>
                </a:tc>
                <a:extLst>
                  <a:ext uri="{0D108BD9-81ED-4DB2-BD59-A6C34878D82A}">
                    <a16:rowId xmlns:a16="http://schemas.microsoft.com/office/drawing/2014/main" val="3509665604"/>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.lower()</a:t>
                      </a:r>
                      <a:endParaRPr lang="en-US" sz="1800" dirty="0"/>
                    </a:p>
                  </a:txBody>
                  <a:tcPr/>
                </a:tc>
                <a:tc>
                  <a:txBody>
                    <a:bodyPr/>
                    <a:lstStyle/>
                    <a:p>
                      <a:r>
                        <a:rPr lang="en-IN" sz="1800" b="0" u="none" strike="noStrike" kern="1200" dirty="0">
                          <a:solidFill>
                            <a:schemeClr val="dk1"/>
                          </a:solidFill>
                          <a:effectLst/>
                          <a:latin typeface="+mn-lt"/>
                          <a:ea typeface="+mn-ea"/>
                          <a:cs typeface="+mn-cs"/>
                        </a:rPr>
                        <a:t>Converts to lowercase</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PY".lower</a:t>
                      </a:r>
                      <a:r>
                        <a:rPr lang="en-IN" sz="1800" b="0" u="none" strike="noStrike" kern="1200" dirty="0">
                          <a:solidFill>
                            <a:schemeClr val="dk1"/>
                          </a:solidFill>
                          <a:effectLst/>
                          <a:latin typeface="+mn-lt"/>
                          <a:ea typeface="+mn-ea"/>
                          <a:cs typeface="+mn-cs"/>
                        </a:rPr>
                        <a:t>()</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py</a:t>
                      </a:r>
                      <a:r>
                        <a:rPr lang="en-IN" sz="1800" b="0" u="none" strike="noStrike" kern="1200" dirty="0">
                          <a:solidFill>
                            <a:schemeClr val="dk1"/>
                          </a:solidFill>
                          <a:effectLst/>
                          <a:latin typeface="+mn-lt"/>
                          <a:ea typeface="+mn-ea"/>
                          <a:cs typeface="+mn-cs"/>
                        </a:rPr>
                        <a:t>"</a:t>
                      </a:r>
                      <a:endParaRPr lang="en-US" sz="1800" dirty="0"/>
                    </a:p>
                  </a:txBody>
                  <a:tcPr/>
                </a:tc>
                <a:extLst>
                  <a:ext uri="{0D108BD9-81ED-4DB2-BD59-A6C34878D82A}">
                    <a16:rowId xmlns:a16="http://schemas.microsoft.com/office/drawing/2014/main" val="2901936948"/>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.capitalize()</a:t>
                      </a:r>
                      <a:endParaRPr lang="en-US" sz="1800" dirty="0"/>
                    </a:p>
                  </a:txBody>
                  <a:tcPr/>
                </a:tc>
                <a:tc>
                  <a:txBody>
                    <a:bodyPr/>
                    <a:lstStyle/>
                    <a:p>
                      <a:r>
                        <a:rPr lang="en-IN" sz="1800" b="0" u="none" strike="noStrike" kern="1200" dirty="0">
                          <a:solidFill>
                            <a:schemeClr val="dk1"/>
                          </a:solidFill>
                          <a:effectLst/>
                          <a:latin typeface="+mn-lt"/>
                          <a:ea typeface="+mn-ea"/>
                          <a:cs typeface="+mn-cs"/>
                        </a:rPr>
                        <a:t>Capitalizes the first character</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hello".capitalize</a:t>
                      </a:r>
                      <a:r>
                        <a:rPr lang="en-IN" sz="1800" b="0" u="none" strike="noStrike" kern="1200" dirty="0">
                          <a:solidFill>
                            <a:schemeClr val="dk1"/>
                          </a:solidFill>
                          <a:effectLst/>
                          <a:latin typeface="+mn-lt"/>
                          <a:ea typeface="+mn-ea"/>
                          <a:cs typeface="+mn-cs"/>
                        </a:rPr>
                        <a:t>()</a:t>
                      </a:r>
                      <a:endParaRPr lang="en-US" sz="1800" dirty="0"/>
                    </a:p>
                  </a:txBody>
                  <a:tcPr/>
                </a:tc>
                <a:tc>
                  <a:txBody>
                    <a:bodyPr/>
                    <a:lstStyle/>
                    <a:p>
                      <a:r>
                        <a:rPr lang="en-IN" sz="1800" b="0" u="none" strike="noStrike" kern="1200" dirty="0">
                          <a:solidFill>
                            <a:schemeClr val="dk1"/>
                          </a:solidFill>
                          <a:effectLst/>
                          <a:latin typeface="+mn-lt"/>
                          <a:ea typeface="+mn-ea"/>
                          <a:cs typeface="+mn-cs"/>
                        </a:rPr>
                        <a:t>"Hello"</a:t>
                      </a:r>
                      <a:endParaRPr lang="en-US" sz="1800" dirty="0"/>
                    </a:p>
                  </a:txBody>
                  <a:tcPr/>
                </a:tc>
                <a:extLst>
                  <a:ext uri="{0D108BD9-81ED-4DB2-BD59-A6C34878D82A}">
                    <a16:rowId xmlns:a16="http://schemas.microsoft.com/office/drawing/2014/main" val="2787130177"/>
                  </a:ext>
                </a:extLst>
              </a:tr>
              <a:tr h="370840">
                <a:tc>
                  <a:txBody>
                    <a:bodyPr/>
                    <a:lstStyle/>
                    <a:p>
                      <a:r>
                        <a:rPr lang="en-IN" sz="1800" b="1" u="none" strike="noStrike" kern="1200" dirty="0">
                          <a:solidFill>
                            <a:schemeClr val="dk1"/>
                          </a:solidFill>
                          <a:effectLst/>
                          <a:latin typeface="+mn-lt"/>
                          <a:ea typeface="+mn-ea"/>
                          <a:cs typeface="+mn-cs"/>
                        </a:rPr>
                        <a:t>Search &amp; Test</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startswith</a:t>
                      </a:r>
                      <a:r>
                        <a:rPr lang="en-IN" sz="1800" b="0" u="none" strike="noStrike" kern="1200" dirty="0">
                          <a:solidFill>
                            <a:schemeClr val="dk1"/>
                          </a:solidFill>
                          <a:effectLst/>
                          <a:latin typeface="+mn-lt"/>
                          <a:ea typeface="+mn-ea"/>
                          <a:cs typeface="+mn-cs"/>
                        </a:rPr>
                        <a:t>(x)</a:t>
                      </a:r>
                      <a:endParaRPr lang="en-US" sz="1800" dirty="0"/>
                    </a:p>
                  </a:txBody>
                  <a:tcPr/>
                </a:tc>
                <a:tc>
                  <a:txBody>
                    <a:bodyPr/>
                    <a:lstStyle/>
                    <a:p>
                      <a:r>
                        <a:rPr lang="en-IN" sz="1800" b="0" u="none" strike="noStrike" kern="1200" dirty="0">
                          <a:solidFill>
                            <a:schemeClr val="dk1"/>
                          </a:solidFill>
                          <a:effectLst/>
                          <a:latin typeface="+mn-lt"/>
                          <a:ea typeface="+mn-ea"/>
                          <a:cs typeface="+mn-cs"/>
                        </a:rPr>
                        <a:t>Checks prefix string</a:t>
                      </a:r>
                      <a:endParaRPr lang="en-US" sz="1800" dirty="0"/>
                    </a:p>
                  </a:txBody>
                  <a:tcPr/>
                </a:tc>
                <a:tc>
                  <a:txBody>
                    <a:bodyPr/>
                    <a:lstStyle/>
                    <a:p>
                      <a:r>
                        <a:rPr lang="en-IN" sz="1800" b="0" u="none" strike="noStrike" kern="1200" dirty="0">
                          <a:solidFill>
                            <a:schemeClr val="dk1"/>
                          </a:solidFill>
                          <a:effectLst/>
                          <a:latin typeface="+mn-lt"/>
                          <a:ea typeface="+mn-ea"/>
                          <a:cs typeface="+mn-cs"/>
                        </a:rPr>
                        <a:t>“test.txt".</a:t>
                      </a:r>
                      <a:r>
                        <a:rPr lang="en-IN" sz="1800" b="0" u="none" strike="noStrike" kern="1200" dirty="0" err="1">
                          <a:solidFill>
                            <a:schemeClr val="dk1"/>
                          </a:solidFill>
                          <a:effectLst/>
                          <a:latin typeface="+mn-lt"/>
                          <a:ea typeface="+mn-ea"/>
                          <a:cs typeface="+mn-cs"/>
                        </a:rPr>
                        <a:t>startswith</a:t>
                      </a:r>
                      <a:r>
                        <a:rPr lang="en-IN" sz="1800" b="0" u="none" strike="noStrike" kern="1200" dirty="0">
                          <a:solidFill>
                            <a:schemeClr val="dk1"/>
                          </a:solidFill>
                          <a:effectLst/>
                          <a:latin typeface="+mn-lt"/>
                          <a:ea typeface="+mn-ea"/>
                          <a:cs typeface="+mn-cs"/>
                        </a:rPr>
                        <a:t>("test")</a:t>
                      </a:r>
                      <a:endParaRPr lang="en-US" sz="1800" dirty="0"/>
                    </a:p>
                  </a:txBody>
                  <a:tcPr/>
                </a:tc>
                <a:tc>
                  <a:txBody>
                    <a:bodyPr/>
                    <a:lstStyle/>
                    <a:p>
                      <a:r>
                        <a:rPr lang="en-IN" sz="1800" b="0" u="none" strike="noStrike" kern="1200" dirty="0">
                          <a:solidFill>
                            <a:schemeClr val="dk1"/>
                          </a:solidFill>
                          <a:effectLst/>
                          <a:latin typeface="+mn-lt"/>
                          <a:ea typeface="+mn-ea"/>
                          <a:cs typeface="+mn-cs"/>
                        </a:rPr>
                        <a:t>True</a:t>
                      </a:r>
                      <a:endParaRPr lang="en-US" sz="1800" dirty="0"/>
                    </a:p>
                  </a:txBody>
                  <a:tcPr/>
                </a:tc>
                <a:extLst>
                  <a:ext uri="{0D108BD9-81ED-4DB2-BD59-A6C34878D82A}">
                    <a16:rowId xmlns:a16="http://schemas.microsoft.com/office/drawing/2014/main" val="1066629973"/>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endswith</a:t>
                      </a:r>
                      <a:r>
                        <a:rPr lang="en-IN" sz="1800" b="0" u="none" strike="noStrike" kern="1200" dirty="0">
                          <a:solidFill>
                            <a:schemeClr val="dk1"/>
                          </a:solidFill>
                          <a:effectLst/>
                          <a:latin typeface="+mn-lt"/>
                          <a:ea typeface="+mn-ea"/>
                          <a:cs typeface="+mn-cs"/>
                        </a:rPr>
                        <a:t>(x)</a:t>
                      </a:r>
                      <a:endParaRPr lang="en-US" sz="1800" dirty="0"/>
                    </a:p>
                  </a:txBody>
                  <a:tcPr/>
                </a:tc>
                <a:tc>
                  <a:txBody>
                    <a:bodyPr/>
                    <a:lstStyle/>
                    <a:p>
                      <a:r>
                        <a:rPr lang="en-IN" sz="1800" b="0" u="none" strike="noStrike" kern="1200" dirty="0">
                          <a:solidFill>
                            <a:schemeClr val="dk1"/>
                          </a:solidFill>
                          <a:effectLst/>
                          <a:latin typeface="+mn-lt"/>
                          <a:ea typeface="+mn-ea"/>
                          <a:cs typeface="+mn-cs"/>
                        </a:rPr>
                        <a:t>Checks suffix string</a:t>
                      </a:r>
                      <a:endParaRPr lang="en-US" sz="1800" dirty="0"/>
                    </a:p>
                  </a:txBody>
                  <a:tcPr/>
                </a:tc>
                <a:tc>
                  <a:txBody>
                    <a:bodyPr/>
                    <a:lstStyle/>
                    <a:p>
                      <a:r>
                        <a:rPr lang="en-IN" sz="1800" b="0" u="none" strike="noStrike" kern="1200" dirty="0">
                          <a:solidFill>
                            <a:schemeClr val="dk1"/>
                          </a:solidFill>
                          <a:effectLst/>
                          <a:latin typeface="+mn-lt"/>
                          <a:ea typeface="+mn-ea"/>
                          <a:cs typeface="+mn-cs"/>
                        </a:rPr>
                        <a:t>"test.txt".</a:t>
                      </a:r>
                      <a:r>
                        <a:rPr lang="en-IN" sz="1800" b="0" u="none" strike="noStrike" kern="1200" dirty="0" err="1">
                          <a:solidFill>
                            <a:schemeClr val="dk1"/>
                          </a:solidFill>
                          <a:effectLst/>
                          <a:latin typeface="+mn-lt"/>
                          <a:ea typeface="+mn-ea"/>
                          <a:cs typeface="+mn-cs"/>
                        </a:rPr>
                        <a:t>endswith</a:t>
                      </a:r>
                      <a:r>
                        <a:rPr lang="en-IN" sz="1800" b="0" u="none" strike="noStrike" kern="1200" dirty="0">
                          <a:solidFill>
                            <a:schemeClr val="dk1"/>
                          </a:solidFill>
                          <a:effectLst/>
                          <a:latin typeface="+mn-lt"/>
                          <a:ea typeface="+mn-ea"/>
                          <a:cs typeface="+mn-cs"/>
                        </a:rPr>
                        <a:t>(".txt")</a:t>
                      </a:r>
                      <a:endParaRPr lang="en-US" sz="1800" dirty="0"/>
                    </a:p>
                  </a:txBody>
                  <a:tcPr/>
                </a:tc>
                <a:tc>
                  <a:txBody>
                    <a:bodyPr/>
                    <a:lstStyle/>
                    <a:p>
                      <a:r>
                        <a:rPr lang="en-IN" sz="1800" b="0" u="none" strike="noStrike" kern="1200" dirty="0">
                          <a:solidFill>
                            <a:schemeClr val="dk1"/>
                          </a:solidFill>
                          <a:effectLst/>
                          <a:latin typeface="+mn-lt"/>
                          <a:ea typeface="+mn-ea"/>
                          <a:cs typeface="+mn-cs"/>
                        </a:rPr>
                        <a:t>True</a:t>
                      </a:r>
                      <a:endParaRPr lang="en-US" sz="1800" dirty="0"/>
                    </a:p>
                  </a:txBody>
                  <a:tcPr/>
                </a:tc>
                <a:extLst>
                  <a:ext uri="{0D108BD9-81ED-4DB2-BD59-A6C34878D82A}">
                    <a16:rowId xmlns:a16="http://schemas.microsoft.com/office/drawing/2014/main" val="2376045495"/>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.find(x)</a:t>
                      </a:r>
                      <a:endParaRPr lang="en-US" sz="1800" dirty="0"/>
                    </a:p>
                  </a:txBody>
                  <a:tcPr/>
                </a:tc>
                <a:tc>
                  <a:txBody>
                    <a:bodyPr/>
                    <a:lstStyle/>
                    <a:p>
                      <a:r>
                        <a:rPr lang="en-IN" sz="1800" b="0" u="none" strike="noStrike" kern="1200" dirty="0">
                          <a:solidFill>
                            <a:schemeClr val="dk1"/>
                          </a:solidFill>
                          <a:effectLst/>
                          <a:latin typeface="+mn-lt"/>
                          <a:ea typeface="+mn-ea"/>
                          <a:cs typeface="+mn-cs"/>
                        </a:rPr>
                        <a:t>Returns first match index or -1</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apple".find</a:t>
                      </a:r>
                      <a:r>
                        <a:rPr lang="en-IN" sz="1800" b="0" u="none" strike="noStrike" kern="1200" dirty="0">
                          <a:solidFill>
                            <a:schemeClr val="dk1"/>
                          </a:solidFill>
                          <a:effectLst/>
                          <a:latin typeface="+mn-lt"/>
                          <a:ea typeface="+mn-ea"/>
                          <a:cs typeface="+mn-cs"/>
                        </a:rPr>
                        <a:t>("p")</a:t>
                      </a:r>
                      <a:endParaRPr lang="en-US" sz="1800" dirty="0"/>
                    </a:p>
                  </a:txBody>
                  <a:tcPr/>
                </a:tc>
                <a:tc>
                  <a:txBody>
                    <a:bodyPr/>
                    <a:lstStyle/>
                    <a:p>
                      <a:r>
                        <a:rPr lang="en-US" sz="1800" dirty="0"/>
                        <a:t>1</a:t>
                      </a:r>
                    </a:p>
                  </a:txBody>
                  <a:tcPr/>
                </a:tc>
                <a:extLst>
                  <a:ext uri="{0D108BD9-81ED-4DB2-BD59-A6C34878D82A}">
                    <a16:rowId xmlns:a16="http://schemas.microsoft.com/office/drawing/2014/main" val="3723906892"/>
                  </a:ext>
                </a:extLst>
              </a:tr>
              <a:tr h="370840">
                <a:tc>
                  <a:txBody>
                    <a:bodyPr/>
                    <a:lstStyle/>
                    <a:p>
                      <a:r>
                        <a:rPr lang="en-IN" sz="1800" b="1" u="none" strike="noStrike" kern="1200" dirty="0">
                          <a:solidFill>
                            <a:schemeClr val="dk1"/>
                          </a:solidFill>
                          <a:effectLst/>
                          <a:latin typeface="+mn-lt"/>
                          <a:ea typeface="+mn-ea"/>
                          <a:cs typeface="+mn-cs"/>
                        </a:rPr>
                        <a:t>Clean &amp; Alter</a:t>
                      </a:r>
                      <a:endParaRPr lang="en-US" sz="1800" dirty="0"/>
                    </a:p>
                  </a:txBody>
                  <a:tcPr/>
                </a:tc>
                <a:tc>
                  <a:txBody>
                    <a:bodyPr/>
                    <a:lstStyle/>
                    <a:p>
                      <a:r>
                        <a:rPr lang="en-IN" sz="1800" b="0" u="none" strike="noStrike" kern="1200" dirty="0">
                          <a:solidFill>
                            <a:schemeClr val="dk1"/>
                          </a:solidFill>
                          <a:effectLst/>
                          <a:latin typeface="+mn-lt"/>
                          <a:ea typeface="+mn-ea"/>
                          <a:cs typeface="+mn-cs"/>
                        </a:rPr>
                        <a:t>.strip()</a:t>
                      </a:r>
                      <a:endParaRPr lang="en-US" sz="1800" dirty="0"/>
                    </a:p>
                  </a:txBody>
                  <a:tcPr/>
                </a:tc>
                <a:tc>
                  <a:txBody>
                    <a:bodyPr/>
                    <a:lstStyle/>
                    <a:p>
                      <a:r>
                        <a:rPr lang="en-IN" sz="1800" b="0" u="none" strike="noStrike" kern="1200" dirty="0">
                          <a:solidFill>
                            <a:schemeClr val="dk1"/>
                          </a:solidFill>
                          <a:effectLst/>
                          <a:latin typeface="+mn-lt"/>
                          <a:ea typeface="+mn-ea"/>
                          <a:cs typeface="+mn-cs"/>
                        </a:rPr>
                        <a:t>Removes flanking whitespace</a:t>
                      </a:r>
                      <a:endParaRPr lang="en-US" sz="1800" dirty="0"/>
                    </a:p>
                  </a:txBody>
                  <a:tcPr/>
                </a:tc>
                <a:tc>
                  <a:txBody>
                    <a:bodyPr/>
                    <a:lstStyle/>
                    <a:p>
                      <a:r>
                        <a:rPr lang="en-IN" sz="1800" b="0" u="none" strike="noStrike" kern="1200" dirty="0">
                          <a:solidFill>
                            <a:schemeClr val="dk1"/>
                          </a:solidFill>
                          <a:effectLst/>
                          <a:latin typeface="+mn-lt"/>
                          <a:ea typeface="+mn-ea"/>
                          <a:cs typeface="+mn-cs"/>
                        </a:rPr>
                        <a:t>" hi ".strip()</a:t>
                      </a:r>
                      <a:endParaRPr lang="en-US" sz="1800" dirty="0"/>
                    </a:p>
                  </a:txBody>
                  <a:tcPr/>
                </a:tc>
                <a:tc>
                  <a:txBody>
                    <a:bodyPr/>
                    <a:lstStyle/>
                    <a:p>
                      <a:r>
                        <a:rPr lang="en-IN" sz="1800" b="0" u="none" strike="noStrike" kern="1200" dirty="0">
                          <a:solidFill>
                            <a:schemeClr val="dk1"/>
                          </a:solidFill>
                          <a:effectLst/>
                          <a:latin typeface="+mn-lt"/>
                          <a:ea typeface="+mn-ea"/>
                          <a:cs typeface="+mn-cs"/>
                        </a:rPr>
                        <a:t>"hi"</a:t>
                      </a:r>
                      <a:endParaRPr lang="en-US" sz="1800" dirty="0"/>
                    </a:p>
                  </a:txBody>
                  <a:tcPr/>
                </a:tc>
                <a:extLst>
                  <a:ext uri="{0D108BD9-81ED-4DB2-BD59-A6C34878D82A}">
                    <a16:rowId xmlns:a16="http://schemas.microsoft.com/office/drawing/2014/main" val="4056413865"/>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.replace(o, n)</a:t>
                      </a:r>
                      <a:endParaRPr lang="en-US" sz="1800" dirty="0"/>
                    </a:p>
                  </a:txBody>
                  <a:tcPr/>
                </a:tc>
                <a:tc>
                  <a:txBody>
                    <a:bodyPr/>
                    <a:lstStyle/>
                    <a:p>
                      <a:r>
                        <a:rPr lang="en-IN" sz="1800" b="0" u="none" strike="noStrike" kern="1200" dirty="0">
                          <a:solidFill>
                            <a:schemeClr val="dk1"/>
                          </a:solidFill>
                          <a:effectLst/>
                          <a:latin typeface="+mn-lt"/>
                          <a:ea typeface="+mn-ea"/>
                          <a:cs typeface="+mn-cs"/>
                        </a:rPr>
                        <a:t>Replaces old text with new</a:t>
                      </a:r>
                      <a:endParaRPr lang="en-US" sz="1800" dirty="0"/>
                    </a:p>
                  </a:txBody>
                  <a:tcPr/>
                </a:tc>
                <a:tc>
                  <a:txBody>
                    <a:bodyPr/>
                    <a:lstStyle/>
                    <a:p>
                      <a:r>
                        <a:rPr lang="en-IN" sz="1800" b="0" u="none" strike="noStrike" kern="1200" dirty="0">
                          <a:solidFill>
                            <a:schemeClr val="dk1"/>
                          </a:solidFill>
                          <a:effectLst/>
                          <a:latin typeface="+mn-lt"/>
                          <a:ea typeface="+mn-ea"/>
                          <a:cs typeface="+mn-cs"/>
                        </a:rPr>
                        <a:t>"a-b-</a:t>
                      </a:r>
                      <a:r>
                        <a:rPr lang="en-IN" sz="1800" b="0" u="none" strike="noStrike" kern="1200" dirty="0" err="1">
                          <a:solidFill>
                            <a:schemeClr val="dk1"/>
                          </a:solidFill>
                          <a:effectLst/>
                          <a:latin typeface="+mn-lt"/>
                          <a:ea typeface="+mn-ea"/>
                          <a:cs typeface="+mn-cs"/>
                        </a:rPr>
                        <a:t>c".replace</a:t>
                      </a:r>
                      <a:r>
                        <a:rPr lang="en-IN" sz="1800" b="0" u="none" strike="noStrike" kern="1200" dirty="0">
                          <a:solidFill>
                            <a:schemeClr val="dk1"/>
                          </a:solidFill>
                          <a:effectLst/>
                          <a:latin typeface="+mn-lt"/>
                          <a:ea typeface="+mn-ea"/>
                          <a:cs typeface="+mn-cs"/>
                        </a:rPr>
                        <a:t>("-", "/")</a:t>
                      </a:r>
                      <a:endParaRPr lang="en-US" sz="1800" dirty="0"/>
                    </a:p>
                  </a:txBody>
                  <a:tcPr/>
                </a:tc>
                <a:tc>
                  <a:txBody>
                    <a:bodyPr/>
                    <a:lstStyle/>
                    <a:p>
                      <a:r>
                        <a:rPr lang="en-IN" sz="1800" b="0" u="none" strike="noStrike" kern="1200" dirty="0">
                          <a:solidFill>
                            <a:schemeClr val="dk1"/>
                          </a:solidFill>
                          <a:effectLst/>
                          <a:latin typeface="+mn-lt"/>
                          <a:ea typeface="+mn-ea"/>
                          <a:cs typeface="+mn-cs"/>
                        </a:rPr>
                        <a:t>"a/b/c"</a:t>
                      </a:r>
                      <a:endParaRPr lang="en-US" sz="1800" dirty="0"/>
                    </a:p>
                  </a:txBody>
                  <a:tcPr/>
                </a:tc>
                <a:extLst>
                  <a:ext uri="{0D108BD9-81ED-4DB2-BD59-A6C34878D82A}">
                    <a16:rowId xmlns:a16="http://schemas.microsoft.com/office/drawing/2014/main" val="1612582604"/>
                  </a:ext>
                </a:extLst>
              </a:tr>
              <a:tr h="370840">
                <a:tc>
                  <a:txBody>
                    <a:bodyPr/>
                    <a:lstStyle/>
                    <a:p>
                      <a:r>
                        <a:rPr lang="en-IN" sz="1800" b="1" u="none" strike="noStrike" kern="1200" dirty="0">
                          <a:solidFill>
                            <a:schemeClr val="dk1"/>
                          </a:solidFill>
                          <a:effectLst/>
                          <a:latin typeface="+mn-lt"/>
                          <a:ea typeface="+mn-ea"/>
                          <a:cs typeface="+mn-cs"/>
                        </a:rPr>
                        <a:t>Split &amp; Join</a:t>
                      </a:r>
                      <a:endParaRPr lang="en-US" sz="1800" dirty="0"/>
                    </a:p>
                  </a:txBody>
                  <a:tcPr/>
                </a:tc>
                <a:tc>
                  <a:txBody>
                    <a:bodyPr/>
                    <a:lstStyle/>
                    <a:p>
                      <a:r>
                        <a:rPr lang="en-IN" sz="1800" b="0" u="none" strike="noStrike" kern="1200" dirty="0">
                          <a:solidFill>
                            <a:schemeClr val="dk1"/>
                          </a:solidFill>
                          <a:effectLst/>
                          <a:latin typeface="+mn-lt"/>
                          <a:ea typeface="+mn-ea"/>
                          <a:cs typeface="+mn-cs"/>
                        </a:rPr>
                        <a:t>.split(x)</a:t>
                      </a:r>
                      <a:endParaRPr lang="en-US" sz="1800" dirty="0"/>
                    </a:p>
                  </a:txBody>
                  <a:tcPr/>
                </a:tc>
                <a:tc>
                  <a:txBody>
                    <a:bodyPr/>
                    <a:lstStyle/>
                    <a:p>
                      <a:r>
                        <a:rPr lang="en-IN" sz="1800" b="0" u="none" strike="noStrike" kern="1200" dirty="0">
                          <a:solidFill>
                            <a:schemeClr val="dk1"/>
                          </a:solidFill>
                          <a:effectLst/>
                          <a:latin typeface="+mn-lt"/>
                          <a:ea typeface="+mn-ea"/>
                          <a:cs typeface="+mn-cs"/>
                        </a:rPr>
                        <a:t>Converts string into list</a:t>
                      </a:r>
                      <a:endParaRPr lang="en-US" sz="1800" dirty="0"/>
                    </a:p>
                  </a:txBody>
                  <a:tcPr/>
                </a:tc>
                <a:tc>
                  <a:txBody>
                    <a:bodyPr/>
                    <a:lstStyle/>
                    <a:p>
                      <a:r>
                        <a:rPr lang="en-IN" sz="1800" b="0" u="none" strike="noStrike" kern="1200" dirty="0">
                          <a:solidFill>
                            <a:schemeClr val="dk1"/>
                          </a:solidFill>
                          <a:effectLst/>
                          <a:latin typeface="+mn-lt"/>
                          <a:ea typeface="+mn-ea"/>
                          <a:cs typeface="+mn-cs"/>
                        </a:rPr>
                        <a:t>"</a:t>
                      </a:r>
                      <a:r>
                        <a:rPr lang="en-IN" sz="1800" b="0" u="none" strike="noStrike" kern="1200" dirty="0" err="1">
                          <a:solidFill>
                            <a:schemeClr val="dk1"/>
                          </a:solidFill>
                          <a:effectLst/>
                          <a:latin typeface="+mn-lt"/>
                          <a:ea typeface="+mn-ea"/>
                          <a:cs typeface="+mn-cs"/>
                        </a:rPr>
                        <a:t>a,b,c".split</a:t>
                      </a:r>
                      <a:r>
                        <a:rPr lang="en-IN" sz="1800" b="0" u="none" strike="noStrike" kern="1200" dirty="0">
                          <a:solidFill>
                            <a:schemeClr val="dk1"/>
                          </a:solidFill>
                          <a:effectLst/>
                          <a:latin typeface="+mn-lt"/>
                          <a:ea typeface="+mn-ea"/>
                          <a:cs typeface="+mn-cs"/>
                        </a:rPr>
                        <a:t>(",")</a:t>
                      </a:r>
                      <a:endParaRPr lang="en-US" sz="1800" dirty="0"/>
                    </a:p>
                  </a:txBody>
                  <a:tcPr/>
                </a:tc>
                <a:tc>
                  <a:txBody>
                    <a:bodyPr/>
                    <a:lstStyle/>
                    <a:p>
                      <a:r>
                        <a:rPr lang="en-IN" sz="1800" b="0" u="none" strike="noStrike" kern="1200" dirty="0">
                          <a:solidFill>
                            <a:schemeClr val="dk1"/>
                          </a:solidFill>
                          <a:effectLst/>
                          <a:latin typeface="+mn-lt"/>
                          <a:ea typeface="+mn-ea"/>
                          <a:cs typeface="+mn-cs"/>
                        </a:rPr>
                        <a:t>['a', 'b', 'c']</a:t>
                      </a:r>
                      <a:endParaRPr lang="en-US" sz="1800" dirty="0"/>
                    </a:p>
                  </a:txBody>
                  <a:tcPr/>
                </a:tc>
                <a:extLst>
                  <a:ext uri="{0D108BD9-81ED-4DB2-BD59-A6C34878D82A}">
                    <a16:rowId xmlns:a16="http://schemas.microsoft.com/office/drawing/2014/main" val="820441910"/>
                  </a:ext>
                </a:extLst>
              </a:tr>
              <a:tr h="370840">
                <a:tc>
                  <a:txBody>
                    <a:bodyPr/>
                    <a:lstStyle/>
                    <a:p>
                      <a:endParaRPr lang="en-US" sz="1800"/>
                    </a:p>
                  </a:txBody>
                  <a:tcPr/>
                </a:tc>
                <a:tc>
                  <a:txBody>
                    <a:bodyPr/>
                    <a:lstStyle/>
                    <a:p>
                      <a:r>
                        <a:rPr lang="en-IN" sz="1800" b="0" u="none" strike="noStrike" kern="1200" dirty="0">
                          <a:solidFill>
                            <a:schemeClr val="dk1"/>
                          </a:solidFill>
                          <a:effectLst/>
                          <a:latin typeface="+mn-lt"/>
                          <a:ea typeface="+mn-ea"/>
                          <a:cs typeface="+mn-cs"/>
                        </a:rPr>
                        <a:t>.join(</a:t>
                      </a:r>
                      <a:r>
                        <a:rPr lang="en-IN" sz="1800" b="0" u="none" strike="noStrike" kern="1200" dirty="0" err="1">
                          <a:solidFill>
                            <a:schemeClr val="dk1"/>
                          </a:solidFill>
                          <a:effectLst/>
                          <a:latin typeface="+mn-lt"/>
                          <a:ea typeface="+mn-ea"/>
                          <a:cs typeface="+mn-cs"/>
                        </a:rPr>
                        <a:t>iterable</a:t>
                      </a:r>
                      <a:r>
                        <a:rPr lang="en-IN" sz="1800" b="0" u="none" strike="noStrike" kern="1200" dirty="0">
                          <a:solidFill>
                            <a:schemeClr val="dk1"/>
                          </a:solidFill>
                          <a:effectLst/>
                          <a:latin typeface="+mn-lt"/>
                          <a:ea typeface="+mn-ea"/>
                          <a:cs typeface="+mn-cs"/>
                        </a:rPr>
                        <a:t>)</a:t>
                      </a:r>
                      <a:endParaRPr lang="en-US" sz="1800" dirty="0"/>
                    </a:p>
                  </a:txBody>
                  <a:tcPr/>
                </a:tc>
                <a:tc>
                  <a:txBody>
                    <a:bodyPr/>
                    <a:lstStyle/>
                    <a:p>
                      <a:r>
                        <a:rPr lang="en-IN" sz="1800" b="0" u="none" strike="noStrike" kern="1200" dirty="0">
                          <a:solidFill>
                            <a:schemeClr val="dk1"/>
                          </a:solidFill>
                          <a:effectLst/>
                          <a:latin typeface="+mn-lt"/>
                          <a:ea typeface="+mn-ea"/>
                          <a:cs typeface="+mn-cs"/>
                        </a:rPr>
                        <a:t>Merges </a:t>
                      </a:r>
                      <a:r>
                        <a:rPr lang="en-IN" sz="1800" b="0" u="none" strike="noStrike" kern="1200" dirty="0" err="1">
                          <a:solidFill>
                            <a:schemeClr val="dk1"/>
                          </a:solidFill>
                          <a:effectLst/>
                          <a:latin typeface="+mn-lt"/>
                          <a:ea typeface="+mn-ea"/>
                          <a:cs typeface="+mn-cs"/>
                        </a:rPr>
                        <a:t>iterable</a:t>
                      </a:r>
                      <a:r>
                        <a:rPr lang="en-IN" sz="1800" b="0" u="none" strike="noStrike" kern="1200" dirty="0">
                          <a:solidFill>
                            <a:schemeClr val="dk1"/>
                          </a:solidFill>
                          <a:effectLst/>
                          <a:latin typeface="+mn-lt"/>
                          <a:ea typeface="+mn-ea"/>
                          <a:cs typeface="+mn-cs"/>
                        </a:rPr>
                        <a:t> into string</a:t>
                      </a:r>
                      <a:endParaRPr lang="en-US" sz="1800" dirty="0"/>
                    </a:p>
                  </a:txBody>
                  <a:tcPr/>
                </a:tc>
                <a:tc>
                  <a:txBody>
                    <a:bodyPr/>
                    <a:lstStyle/>
                    <a:p>
                      <a:r>
                        <a:rPr lang="en-IN" sz="1800" b="0" u="none" strike="noStrike" kern="1200" dirty="0">
                          <a:solidFill>
                            <a:schemeClr val="dk1"/>
                          </a:solidFill>
                          <a:effectLst/>
                          <a:latin typeface="+mn-lt"/>
                          <a:ea typeface="+mn-ea"/>
                          <a:cs typeface="+mn-cs"/>
                        </a:rPr>
                        <a:t>"-".join(['a', 'b'])</a:t>
                      </a:r>
                      <a:endParaRPr lang="en-US" sz="1800" dirty="0"/>
                    </a:p>
                  </a:txBody>
                  <a:tcPr/>
                </a:tc>
                <a:tc>
                  <a:txBody>
                    <a:bodyPr/>
                    <a:lstStyle/>
                    <a:p>
                      <a:r>
                        <a:rPr lang="en-IN" sz="1800" b="0" u="none" strike="noStrike" kern="1200" dirty="0">
                          <a:solidFill>
                            <a:schemeClr val="dk1"/>
                          </a:solidFill>
                          <a:effectLst/>
                          <a:latin typeface="+mn-lt"/>
                          <a:ea typeface="+mn-ea"/>
                          <a:cs typeface="+mn-cs"/>
                        </a:rPr>
                        <a:t>"a-b"</a:t>
                      </a:r>
                      <a:endParaRPr lang="en-US" sz="1800" dirty="0"/>
                    </a:p>
                  </a:txBody>
                  <a:tcPr/>
                </a:tc>
                <a:extLst>
                  <a:ext uri="{0D108BD9-81ED-4DB2-BD59-A6C34878D82A}">
                    <a16:rowId xmlns:a16="http://schemas.microsoft.com/office/drawing/2014/main" val="485210565"/>
                  </a:ext>
                </a:extLst>
              </a:tr>
            </a:tbl>
          </a:graphicData>
        </a:graphic>
      </p:graphicFrame>
    </p:spTree>
    <p:extLst>
      <p:ext uri="{BB962C8B-B14F-4D97-AF65-F5344CB8AC3E}">
        <p14:creationId xmlns:p14="http://schemas.microsoft.com/office/powerpoint/2010/main" val="3818771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24380-A452-C2A3-6CB5-E48AEF147F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59F78F-9E52-D91D-DE70-C12608255AFD}"/>
              </a:ext>
            </a:extLst>
          </p:cNvPr>
          <p:cNvSpPr>
            <a:spLocks noGrp="1"/>
          </p:cNvSpPr>
          <p:nvPr>
            <p:ph idx="1"/>
          </p:nvPr>
        </p:nvSpPr>
        <p:spPr/>
        <p:txBody>
          <a:bodyPr/>
          <a:lstStyle/>
          <a:p>
            <a:endParaRPr lang="en-US"/>
          </a:p>
        </p:txBody>
      </p:sp>
      <p:pic>
        <p:nvPicPr>
          <p:cNvPr id="5122" name="Picture 2" descr="40+ Python String Methods Explained | List, Syntax &amp; Code Examples">
            <a:extLst>
              <a:ext uri="{FF2B5EF4-FFF2-40B4-BE49-F238E27FC236}">
                <a16:creationId xmlns:a16="http://schemas.microsoft.com/office/drawing/2014/main" id="{8ABEAE21-C60E-123C-95BB-3DF41E47E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0"/>
            <a:ext cx="10287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468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3D861-38BB-6BDE-9210-43A5E0040180}"/>
              </a:ext>
            </a:extLst>
          </p:cNvPr>
          <p:cNvSpPr>
            <a:spLocks noGrp="1"/>
          </p:cNvSpPr>
          <p:nvPr>
            <p:ph type="title"/>
          </p:nvPr>
        </p:nvSpPr>
        <p:spPr/>
        <p:txBody>
          <a:bodyPr/>
          <a:lstStyle/>
          <a:p>
            <a:r>
              <a:rPr lang="en-IN" b="1" u="none" strike="noStrike" dirty="0">
                <a:effectLst/>
                <a:latin typeface="Google Sans"/>
              </a:rPr>
              <a:t>5. String Formatting</a:t>
            </a:r>
            <a:endParaRPr lang="en-US" dirty="0"/>
          </a:p>
        </p:txBody>
      </p:sp>
      <p:sp>
        <p:nvSpPr>
          <p:cNvPr id="3" name="Content Placeholder 2">
            <a:extLst>
              <a:ext uri="{FF2B5EF4-FFF2-40B4-BE49-F238E27FC236}">
                <a16:creationId xmlns:a16="http://schemas.microsoft.com/office/drawing/2014/main" id="{E0A0A31D-7AE4-C32B-3DAC-2B5959A131EF}"/>
              </a:ext>
            </a:extLst>
          </p:cNvPr>
          <p:cNvSpPr>
            <a:spLocks noGrp="1"/>
          </p:cNvSpPr>
          <p:nvPr>
            <p:ph idx="1"/>
          </p:nvPr>
        </p:nvSpPr>
        <p:spPr/>
        <p:txBody>
          <a:bodyPr/>
          <a:lstStyle/>
          <a:p>
            <a:r>
              <a:rPr lang="en-IN" b="0" u="none" strike="noStrike" dirty="0">
                <a:effectLst/>
                <a:latin typeface="Google Sans"/>
              </a:rPr>
              <a:t>Modern Python applications primarily utilize </a:t>
            </a:r>
            <a:r>
              <a:rPr lang="en-IN" b="1" u="none" strike="noStrike" dirty="0">
                <a:effectLst/>
                <a:latin typeface="Google Sans"/>
              </a:rPr>
              <a:t>Formatted String Literals (f-strings)</a:t>
            </a:r>
            <a:r>
              <a:rPr lang="en-IN" b="0" u="none" strike="noStrike" dirty="0">
                <a:effectLst/>
                <a:latin typeface="Google Sans"/>
              </a:rPr>
              <a:t> for cleaner variable injections.</a:t>
            </a:r>
          </a:p>
          <a:p>
            <a:endParaRPr lang="en-US" dirty="0"/>
          </a:p>
        </p:txBody>
      </p:sp>
      <p:sp>
        <p:nvSpPr>
          <p:cNvPr id="5" name="TextBox 4">
            <a:extLst>
              <a:ext uri="{FF2B5EF4-FFF2-40B4-BE49-F238E27FC236}">
                <a16:creationId xmlns:a16="http://schemas.microsoft.com/office/drawing/2014/main" id="{A70ADE8C-509F-86AD-2B9F-708589CBC400}"/>
              </a:ext>
            </a:extLst>
          </p:cNvPr>
          <p:cNvSpPr txBox="1"/>
          <p:nvPr/>
        </p:nvSpPr>
        <p:spPr>
          <a:xfrm>
            <a:off x="510540" y="2953445"/>
            <a:ext cx="11170920" cy="3539430"/>
          </a:xfrm>
          <a:prstGeom prst="rect">
            <a:avLst/>
          </a:prstGeom>
          <a:noFill/>
        </p:spPr>
        <p:txBody>
          <a:bodyPr wrap="square">
            <a:spAutoFit/>
          </a:bodyPr>
          <a:lstStyle/>
          <a:p>
            <a:r>
              <a:rPr lang="en-US" sz="2800" dirty="0"/>
              <a:t>name = "Alice"</a:t>
            </a:r>
          </a:p>
          <a:p>
            <a:r>
              <a:rPr lang="en-US" sz="2800" dirty="0"/>
              <a:t>age = 30</a:t>
            </a:r>
          </a:p>
          <a:p>
            <a:endParaRPr lang="en-US" sz="2800" dirty="0"/>
          </a:p>
          <a:p>
            <a:r>
              <a:rPr lang="en-US" sz="2800" dirty="0"/>
              <a:t># Modern f-string approach</a:t>
            </a:r>
          </a:p>
          <a:p>
            <a:r>
              <a:rPr lang="en-US" sz="2800" dirty="0"/>
              <a:t>print(</a:t>
            </a:r>
            <a:r>
              <a:rPr lang="en-US" sz="2800" dirty="0" err="1"/>
              <a:t>f"Name</a:t>
            </a:r>
            <a:r>
              <a:rPr lang="en-US" sz="2800" dirty="0"/>
              <a:t>: {name}, Age: {age}")  # Output: Name: Alice, Age: 30</a:t>
            </a:r>
          </a:p>
          <a:p>
            <a:endParaRPr lang="en-US" sz="2800" dirty="0"/>
          </a:p>
          <a:p>
            <a:r>
              <a:rPr lang="en-US" sz="2800" dirty="0"/>
              <a:t># Legacy .format() method approach</a:t>
            </a:r>
          </a:p>
          <a:p>
            <a:r>
              <a:rPr lang="en-US" sz="2800" dirty="0"/>
              <a:t>print("Name: {}, Age: {}".format(name, age)) </a:t>
            </a:r>
          </a:p>
        </p:txBody>
      </p:sp>
    </p:spTree>
    <p:extLst>
      <p:ext uri="{BB962C8B-B14F-4D97-AF65-F5344CB8AC3E}">
        <p14:creationId xmlns:p14="http://schemas.microsoft.com/office/powerpoint/2010/main" val="4132343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E62CD-9220-4913-A96F-A586AB5BFD1C}"/>
              </a:ext>
            </a:extLst>
          </p:cNvPr>
          <p:cNvSpPr>
            <a:spLocks noGrp="1"/>
          </p:cNvSpPr>
          <p:nvPr>
            <p:ph type="title"/>
          </p:nvPr>
        </p:nvSpPr>
        <p:spPr/>
        <p:txBody>
          <a:bodyPr/>
          <a:lstStyle/>
          <a:p>
            <a:r>
              <a:rPr lang="en-IN" b="1" u="none" strike="noStrike" dirty="0">
                <a:effectLst/>
                <a:latin typeface="Google Sans"/>
              </a:rPr>
              <a:t>6. The str() Global Constructor Function</a:t>
            </a:r>
            <a:endParaRPr lang="en-US" dirty="0"/>
          </a:p>
        </p:txBody>
      </p:sp>
      <p:sp>
        <p:nvSpPr>
          <p:cNvPr id="3" name="Content Placeholder 2">
            <a:extLst>
              <a:ext uri="{FF2B5EF4-FFF2-40B4-BE49-F238E27FC236}">
                <a16:creationId xmlns:a16="http://schemas.microsoft.com/office/drawing/2014/main" id="{FA2F55C9-692E-53C6-FB02-3D86EB847F1A}"/>
              </a:ext>
            </a:extLst>
          </p:cNvPr>
          <p:cNvSpPr>
            <a:spLocks noGrp="1"/>
          </p:cNvSpPr>
          <p:nvPr>
            <p:ph idx="1"/>
          </p:nvPr>
        </p:nvSpPr>
        <p:spPr/>
        <p:txBody>
          <a:bodyPr/>
          <a:lstStyle/>
          <a:p>
            <a:r>
              <a:rPr lang="en-IN" b="0" u="none" strike="noStrike" dirty="0">
                <a:effectLst/>
                <a:latin typeface="Google Sans"/>
              </a:rPr>
              <a:t>The built-in global function str(object, encoding, errors) transforms non-string objects (like integers, floats, lists, or dictionary keys) into their readable text representations. </a:t>
            </a:r>
          </a:p>
          <a:p>
            <a:endParaRPr lang="en-US" dirty="0"/>
          </a:p>
        </p:txBody>
      </p:sp>
      <p:sp>
        <p:nvSpPr>
          <p:cNvPr id="5" name="TextBox 4">
            <a:extLst>
              <a:ext uri="{FF2B5EF4-FFF2-40B4-BE49-F238E27FC236}">
                <a16:creationId xmlns:a16="http://schemas.microsoft.com/office/drawing/2014/main" id="{3E6B4018-AD72-014A-6C78-2392935B75D1}"/>
              </a:ext>
            </a:extLst>
          </p:cNvPr>
          <p:cNvSpPr txBox="1"/>
          <p:nvPr/>
        </p:nvSpPr>
        <p:spPr>
          <a:xfrm>
            <a:off x="1196340" y="4001294"/>
            <a:ext cx="9799320" cy="1384995"/>
          </a:xfrm>
          <a:prstGeom prst="rect">
            <a:avLst/>
          </a:prstGeom>
          <a:noFill/>
        </p:spPr>
        <p:txBody>
          <a:bodyPr wrap="square">
            <a:spAutoFit/>
          </a:bodyPr>
          <a:lstStyle/>
          <a:p>
            <a:r>
              <a:rPr lang="en-US" sz="2800" dirty="0"/>
              <a:t>num = 456</a:t>
            </a:r>
          </a:p>
          <a:p>
            <a:r>
              <a:rPr lang="en-US" sz="2800" dirty="0"/>
              <a:t>converted = str(num)  # Converts integer 456 to string "456"</a:t>
            </a:r>
          </a:p>
          <a:p>
            <a:r>
              <a:rPr lang="en-US" sz="2800" dirty="0"/>
              <a:t>print(type(converted))  # Output: &lt;class 'str'&gt;</a:t>
            </a:r>
          </a:p>
        </p:txBody>
      </p:sp>
    </p:spTree>
    <p:extLst>
      <p:ext uri="{BB962C8B-B14F-4D97-AF65-F5344CB8AC3E}">
        <p14:creationId xmlns:p14="http://schemas.microsoft.com/office/powerpoint/2010/main" val="3624429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2348</TotalTime>
  <Words>1016</Words>
  <Application>Microsoft Macintosh PowerPoint</Application>
  <PresentationFormat>Widescreen</PresentationFormat>
  <Paragraphs>123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Courier New</vt:lpstr>
      <vt:lpstr>Google Sans</vt:lpstr>
      <vt:lpstr>Office Theme</vt:lpstr>
      <vt:lpstr>PythonDS-08 String in Python</vt:lpstr>
      <vt:lpstr>String in python</vt:lpstr>
      <vt:lpstr>PowerPoint Presentation</vt:lpstr>
      <vt:lpstr>1. Creating Strings</vt:lpstr>
      <vt:lpstr>Multiline Strings (Triple Quotes)</vt:lpstr>
      <vt:lpstr>Special Prefix Strings</vt:lpstr>
      <vt:lpstr>PowerPoint Presentation</vt:lpstr>
      <vt:lpstr>PowerPoint Presentation</vt:lpstr>
      <vt:lpstr>2. Core Concepts: Indexing and Slicing</vt:lpstr>
      <vt:lpstr>PowerPoint Presentation</vt:lpstr>
      <vt:lpstr>3. Structural Immutability</vt:lpstr>
      <vt:lpstr>4. Essential Built-in String Methods</vt:lpstr>
      <vt:lpstr>PowerPoint Presentation</vt:lpstr>
      <vt:lpstr>5. String Formatting</vt:lpstr>
      <vt:lpstr>6. The str() Global Constructor Function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140</cp:revision>
  <dcterms:created xsi:type="dcterms:W3CDTF">2026-01-15T04:12:31Z</dcterms:created>
  <dcterms:modified xsi:type="dcterms:W3CDTF">2026-08-17T06:02:25Z</dcterms:modified>
</cp:coreProperties>
</file>