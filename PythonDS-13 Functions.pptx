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6" r:id="rId6"/>
    <p:sldId id="267" r:id="rId7"/>
    <p:sldId id="262" r:id="rId8"/>
    <p:sldId id="259" r:id="rId9"/>
    <p:sldId id="284" r:id="rId10"/>
    <p:sldId id="260" r:id="rId11"/>
    <p:sldId id="285" r:id="rId12"/>
    <p:sldId id="286" r:id="rId13"/>
    <p:sldId id="263" r:id="rId14"/>
    <p:sldId id="290" r:id="rId15"/>
    <p:sldId id="287" r:id="rId16"/>
    <p:sldId id="293" r:id="rId17"/>
    <p:sldId id="288" r:id="rId18"/>
    <p:sldId id="289" r:id="rId19"/>
    <p:sldId id="264" r:id="rId20"/>
    <p:sldId id="298" r:id="rId21"/>
    <p:sldId id="299" r:id="rId22"/>
    <p:sldId id="300" r:id="rId23"/>
    <p:sldId id="265" r:id="rId24"/>
    <p:sldId id="291" r:id="rId25"/>
    <p:sldId id="292" r:id="rId26"/>
    <p:sldId id="268" r:id="rId27"/>
    <p:sldId id="269" r:id="rId28"/>
    <p:sldId id="270" r:id="rId29"/>
    <p:sldId id="294" r:id="rId30"/>
    <p:sldId id="295" r:id="rId31"/>
    <p:sldId id="296" r:id="rId32"/>
    <p:sldId id="297" r:id="rId33"/>
    <p:sldId id="301" r:id="rId34"/>
    <p:sldId id="302" r:id="rId35"/>
    <p:sldId id="303" r:id="rId36"/>
    <p:sldId id="304" r:id="rId37"/>
    <p:sldId id="271" r:id="rId38"/>
    <p:sldId id="279" r:id="rId39"/>
    <p:sldId id="280" r:id="rId40"/>
    <p:sldId id="281" r:id="rId41"/>
    <p:sldId id="282" r:id="rId42"/>
    <p:sldId id="283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272" r:id="rId54"/>
    <p:sldId id="276" r:id="rId55"/>
    <p:sldId id="277" r:id="rId56"/>
    <p:sldId id="278" r:id="rId57"/>
    <p:sldId id="315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89"/>
  </p:normalViewPr>
  <p:slideViewPr>
    <p:cSldViewPr snapToGrid="0">
      <p:cViewPr varScale="1">
        <p:scale>
          <a:sx n="79" d="100"/>
          <a:sy n="79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python-return-statemen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python-programming/args-and-kwarg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what-is-dimensionality-reduction-article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geeksforgeeks.org/python/recursion-in-python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debugging-python-code-using-breakpoint-and-pdb/" TargetMode="External"/><Relationship Id="rId13" Type="http://schemas.openxmlformats.org/officeDocument/2006/relationships/hyperlink" Target="https://www.geeksforgeeks.org/python/classmethod-in-python/" TargetMode="External"/><Relationship Id="rId3" Type="http://schemas.openxmlformats.org/officeDocument/2006/relationships/hyperlink" Target="https://www.geeksforgeeks.org/python/python-all-function/" TargetMode="External"/><Relationship Id="rId7" Type="http://schemas.openxmlformats.org/officeDocument/2006/relationships/hyperlink" Target="https://www.geeksforgeeks.org/python/bool-in-python/" TargetMode="External"/><Relationship Id="rId12" Type="http://schemas.openxmlformats.org/officeDocument/2006/relationships/hyperlink" Target="https://www.geeksforgeeks.org/python/chr-in-python/" TargetMode="External"/><Relationship Id="rId2" Type="http://schemas.openxmlformats.org/officeDocument/2006/relationships/hyperlink" Target="https://www.geeksforgeeks.org/python/abs-in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bin-in-python/" TargetMode="External"/><Relationship Id="rId11" Type="http://schemas.openxmlformats.org/officeDocument/2006/relationships/hyperlink" Target="https://www.geeksforgeeks.org/python/callable-in-python/" TargetMode="External"/><Relationship Id="rId5" Type="http://schemas.openxmlformats.org/officeDocument/2006/relationships/hyperlink" Target="https://www.geeksforgeeks.org/python/ascii-in-python/" TargetMode="External"/><Relationship Id="rId15" Type="http://schemas.openxmlformats.org/officeDocument/2006/relationships/hyperlink" Target="https://www.geeksforgeeks.org/python/python-complex-function/" TargetMode="External"/><Relationship Id="rId10" Type="http://schemas.openxmlformats.org/officeDocument/2006/relationships/hyperlink" Target="https://www.geeksforgeeks.org/python/python-bytes-method/" TargetMode="External"/><Relationship Id="rId4" Type="http://schemas.openxmlformats.org/officeDocument/2006/relationships/hyperlink" Target="https://www.geeksforgeeks.org/python/python-any-function/" TargetMode="External"/><Relationship Id="rId9" Type="http://schemas.openxmlformats.org/officeDocument/2006/relationships/hyperlink" Target="https://www.geeksforgeeks.org/python/python-bytearray-function/" TargetMode="External"/><Relationship Id="rId14" Type="http://schemas.openxmlformats.org/officeDocument/2006/relationships/hyperlink" Target="https://www.geeksforgeeks.org/python/python-compile-function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science-fundamentals/understanding-file-sizes-bytes-kb-mb-gb-tb-pb-eb-zb-yb/" TargetMode="External"/><Relationship Id="rId2" Type="http://schemas.openxmlformats.org/officeDocument/2006/relationships/hyperlink" Target="https://www.geeksforgeeks.org/python/python-programming-language-tutorial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geeksforgeeks.org/python/exec-in-python/" TargetMode="External"/><Relationship Id="rId18" Type="http://schemas.openxmlformats.org/officeDocument/2006/relationships/hyperlink" Target="https://www.geeksforgeeks.org/python/python-getattr-method/" TargetMode="External"/><Relationship Id="rId26" Type="http://schemas.openxmlformats.org/officeDocument/2006/relationships/hyperlink" Target="https://www.geeksforgeeks.org/python/python-int-function/" TargetMode="External"/><Relationship Id="rId39" Type="http://schemas.openxmlformats.org/officeDocument/2006/relationships/hyperlink" Target="https://www.geeksforgeeks.org/python/python-oct-function/" TargetMode="External"/><Relationship Id="rId21" Type="http://schemas.openxmlformats.org/officeDocument/2006/relationships/hyperlink" Target="https://www.geeksforgeeks.org/python/python-hash-method/" TargetMode="External"/><Relationship Id="rId34" Type="http://schemas.openxmlformats.org/officeDocument/2006/relationships/hyperlink" Target="https://www.geeksforgeeks.org/python/python-max-function/" TargetMode="External"/><Relationship Id="rId42" Type="http://schemas.openxmlformats.org/officeDocument/2006/relationships/hyperlink" Target="https://www.geeksforgeeks.org/python/python-pow-function/" TargetMode="External"/><Relationship Id="rId47" Type="http://schemas.openxmlformats.org/officeDocument/2006/relationships/hyperlink" Target="https://www.geeksforgeeks.org/python/python-reversed-function/" TargetMode="External"/><Relationship Id="rId50" Type="http://schemas.openxmlformats.org/officeDocument/2006/relationships/hyperlink" Target="https://www.geeksforgeeks.org/python/python-setattr-method/" TargetMode="External"/><Relationship Id="rId55" Type="http://schemas.openxmlformats.org/officeDocument/2006/relationships/hyperlink" Target="https://www.geeksforgeeks.org/python/sum-function-python/" TargetMode="External"/><Relationship Id="rId7" Type="http://schemas.openxmlformats.org/officeDocument/2006/relationships/hyperlink" Target="https://www.geeksforgeeks.org/python/python-delattr-function/" TargetMode="External"/><Relationship Id="rId2" Type="http://schemas.openxmlformats.org/officeDocument/2006/relationships/hyperlink" Target="https://www.geeksforgeeks.org/python/callable-in-python/" TargetMode="External"/><Relationship Id="rId16" Type="http://schemas.openxmlformats.org/officeDocument/2006/relationships/hyperlink" Target="https://www.geeksforgeeks.org/python/python-string-format-method/" TargetMode="External"/><Relationship Id="rId29" Type="http://schemas.openxmlformats.org/officeDocument/2006/relationships/hyperlink" Target="https://www.geeksforgeeks.org/python/python-iter-method/" TargetMode="External"/><Relationship Id="rId11" Type="http://schemas.openxmlformats.org/officeDocument/2006/relationships/hyperlink" Target="https://www.geeksforgeeks.org/python/enumerate-in-python/" TargetMode="External"/><Relationship Id="rId24" Type="http://schemas.openxmlformats.org/officeDocument/2006/relationships/hyperlink" Target="https://www.geeksforgeeks.org/python/id-function-python/" TargetMode="External"/><Relationship Id="rId32" Type="http://schemas.openxmlformats.org/officeDocument/2006/relationships/hyperlink" Target="https://www.geeksforgeeks.org/python/python-locals-function/" TargetMode="External"/><Relationship Id="rId37" Type="http://schemas.openxmlformats.org/officeDocument/2006/relationships/hyperlink" Target="https://www.geeksforgeeks.org/python/python-next-method/" TargetMode="External"/><Relationship Id="rId40" Type="http://schemas.openxmlformats.org/officeDocument/2006/relationships/hyperlink" Target="https://www.geeksforgeeks.org/python/python-open-function/" TargetMode="External"/><Relationship Id="rId45" Type="http://schemas.openxmlformats.org/officeDocument/2006/relationships/hyperlink" Target="https://www.geeksforgeeks.org/python/python-range-function/" TargetMode="External"/><Relationship Id="rId53" Type="http://schemas.openxmlformats.org/officeDocument/2006/relationships/hyperlink" Target="https://www.geeksforgeeks.org/python/python-staticmethod-function/" TargetMode="External"/><Relationship Id="rId58" Type="http://schemas.openxmlformats.org/officeDocument/2006/relationships/hyperlink" Target="https://www.geeksforgeeks.org/python/python-type-function/" TargetMode="External"/><Relationship Id="rId5" Type="http://schemas.openxmlformats.org/officeDocument/2006/relationships/hyperlink" Target="https://www.geeksforgeeks.org/python/python-compile-function/" TargetMode="External"/><Relationship Id="rId61" Type="http://schemas.openxmlformats.org/officeDocument/2006/relationships/hyperlink" Target="https://www.geeksforgeeks.org/python/python-import-function/" TargetMode="External"/><Relationship Id="rId19" Type="http://schemas.openxmlformats.org/officeDocument/2006/relationships/hyperlink" Target="https://www.geeksforgeeks.org/python/python-globals-function/" TargetMode="External"/><Relationship Id="rId14" Type="http://schemas.openxmlformats.org/officeDocument/2006/relationships/hyperlink" Target="https://www.geeksforgeeks.org/python/filter-in-python/" TargetMode="External"/><Relationship Id="rId22" Type="http://schemas.openxmlformats.org/officeDocument/2006/relationships/hyperlink" Target="https://www.geeksforgeeks.org/python/help-function-in-python/" TargetMode="External"/><Relationship Id="rId27" Type="http://schemas.openxmlformats.org/officeDocument/2006/relationships/hyperlink" Target="https://www.geeksforgeeks.org/python/python-isinstance-method/" TargetMode="External"/><Relationship Id="rId30" Type="http://schemas.openxmlformats.org/officeDocument/2006/relationships/hyperlink" Target="https://www.geeksforgeeks.org/python/python-string-length-len/" TargetMode="External"/><Relationship Id="rId35" Type="http://schemas.openxmlformats.org/officeDocument/2006/relationships/hyperlink" Target="https://www.geeksforgeeks.org/python/memoryview-in-python/" TargetMode="External"/><Relationship Id="rId43" Type="http://schemas.openxmlformats.org/officeDocument/2006/relationships/hyperlink" Target="https://www.geeksforgeeks.org/python/python-output-using-print-function/" TargetMode="External"/><Relationship Id="rId48" Type="http://schemas.openxmlformats.org/officeDocument/2006/relationships/hyperlink" Target="https://www.geeksforgeeks.org/python/round-function-python/" TargetMode="External"/><Relationship Id="rId56" Type="http://schemas.openxmlformats.org/officeDocument/2006/relationships/hyperlink" Target="https://www.geeksforgeeks.org/python/python-super/" TargetMode="External"/><Relationship Id="rId8" Type="http://schemas.openxmlformats.org/officeDocument/2006/relationships/hyperlink" Target="https://www.geeksforgeeks.org/python/python-dict-function/" TargetMode="External"/><Relationship Id="rId51" Type="http://schemas.openxmlformats.org/officeDocument/2006/relationships/hyperlink" Target="https://www.geeksforgeeks.org/python/python-slice-function/" TargetMode="External"/><Relationship Id="rId3" Type="http://schemas.openxmlformats.org/officeDocument/2006/relationships/hyperlink" Target="https://www.geeksforgeeks.org/python/chr-in-python/" TargetMode="External"/><Relationship Id="rId12" Type="http://schemas.openxmlformats.org/officeDocument/2006/relationships/hyperlink" Target="https://www.geeksforgeeks.org/python/eval-in-python/" TargetMode="External"/><Relationship Id="rId17" Type="http://schemas.openxmlformats.org/officeDocument/2006/relationships/hyperlink" Target="https://www.geeksforgeeks.org/python/frozenset-in-python/" TargetMode="External"/><Relationship Id="rId25" Type="http://schemas.openxmlformats.org/officeDocument/2006/relationships/hyperlink" Target="https://www.geeksforgeeks.org/python/python-3-input-function/" TargetMode="External"/><Relationship Id="rId33" Type="http://schemas.openxmlformats.org/officeDocument/2006/relationships/hyperlink" Target="https://www.geeksforgeeks.org/python/python-map-function/" TargetMode="External"/><Relationship Id="rId38" Type="http://schemas.openxmlformats.org/officeDocument/2006/relationships/hyperlink" Target="https://www.geeksforgeeks.org/python/python-object-method/" TargetMode="External"/><Relationship Id="rId46" Type="http://schemas.openxmlformats.org/officeDocument/2006/relationships/hyperlink" Target="https://www.geeksforgeeks.org/python/python-repr-function/" TargetMode="External"/><Relationship Id="rId59" Type="http://schemas.openxmlformats.org/officeDocument/2006/relationships/hyperlink" Target="https://www.geeksforgeeks.org/python/vars-function-python/" TargetMode="External"/><Relationship Id="rId20" Type="http://schemas.openxmlformats.org/officeDocument/2006/relationships/hyperlink" Target="https://www.geeksforgeeks.org/python/python-hasattr-method/" TargetMode="External"/><Relationship Id="rId41" Type="http://schemas.openxmlformats.org/officeDocument/2006/relationships/hyperlink" Target="https://www.geeksforgeeks.org/python/ord-function-python/" TargetMode="External"/><Relationship Id="rId54" Type="http://schemas.openxmlformats.org/officeDocument/2006/relationships/hyperlink" Target="https://www.geeksforgeeks.org/python/python-str-fun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complex-function/" TargetMode="External"/><Relationship Id="rId15" Type="http://schemas.openxmlformats.org/officeDocument/2006/relationships/hyperlink" Target="https://www.geeksforgeeks.org/python/float-in-python/" TargetMode="External"/><Relationship Id="rId23" Type="http://schemas.openxmlformats.org/officeDocument/2006/relationships/hyperlink" Target="https://www.geeksforgeeks.org/python/python-hex-function/" TargetMode="External"/><Relationship Id="rId28" Type="http://schemas.openxmlformats.org/officeDocument/2006/relationships/hyperlink" Target="https://www.geeksforgeeks.org/python/python-issubclass/" TargetMode="External"/><Relationship Id="rId36" Type="http://schemas.openxmlformats.org/officeDocument/2006/relationships/hyperlink" Target="https://www.geeksforgeeks.org/python/python-min-function/" TargetMode="External"/><Relationship Id="rId49" Type="http://schemas.openxmlformats.org/officeDocument/2006/relationships/hyperlink" Target="https://www.geeksforgeeks.org/python/python-set-function/" TargetMode="External"/><Relationship Id="rId57" Type="http://schemas.openxmlformats.org/officeDocument/2006/relationships/hyperlink" Target="https://www.geeksforgeeks.org/python/python-tuple-function/" TargetMode="External"/><Relationship Id="rId10" Type="http://schemas.openxmlformats.org/officeDocument/2006/relationships/hyperlink" Target="https://www.geeksforgeeks.org/python/divmod-python-application/" TargetMode="External"/><Relationship Id="rId31" Type="http://schemas.openxmlformats.org/officeDocument/2006/relationships/hyperlink" Target="https://www.geeksforgeeks.org/python/python-list-function/" TargetMode="External"/><Relationship Id="rId44" Type="http://schemas.openxmlformats.org/officeDocument/2006/relationships/hyperlink" Target="https://www.geeksforgeeks.org/python/python-property-function/" TargetMode="External"/><Relationship Id="rId52" Type="http://schemas.openxmlformats.org/officeDocument/2006/relationships/hyperlink" Target="https://www.geeksforgeeks.org/python/python-sorted-function/" TargetMode="External"/><Relationship Id="rId60" Type="http://schemas.openxmlformats.org/officeDocument/2006/relationships/hyperlink" Target="https://www.geeksforgeeks.org/python/zip-in-python/" TargetMode="External"/><Relationship Id="rId4" Type="http://schemas.openxmlformats.org/officeDocument/2006/relationships/hyperlink" Target="https://www.geeksforgeeks.org/python/classmethod-in-python/" TargetMode="External"/><Relationship Id="rId9" Type="http://schemas.openxmlformats.org/officeDocument/2006/relationships/hyperlink" Target="https://www.geeksforgeeks.org/python/python-dir-function/" TargetMode="Externa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geeksforgeeks.org/python/python-isinstance-method/" TargetMode="External"/><Relationship Id="rId18" Type="http://schemas.openxmlformats.org/officeDocument/2006/relationships/hyperlink" Target="https://www.geeksforgeeks.org/python/python-locals-function/" TargetMode="External"/><Relationship Id="rId26" Type="http://schemas.openxmlformats.org/officeDocument/2006/relationships/hyperlink" Target="https://www.geeksforgeeks.org/python/python-open-function/" TargetMode="External"/><Relationship Id="rId39" Type="http://schemas.openxmlformats.org/officeDocument/2006/relationships/hyperlink" Target="https://www.geeksforgeeks.org/python/python-staticmethod-function/" TargetMode="External"/><Relationship Id="rId21" Type="http://schemas.openxmlformats.org/officeDocument/2006/relationships/hyperlink" Target="https://www.geeksforgeeks.org/python/memoryview-in-python/" TargetMode="External"/><Relationship Id="rId34" Type="http://schemas.openxmlformats.org/officeDocument/2006/relationships/hyperlink" Target="https://www.geeksforgeeks.org/python/round-function-python/" TargetMode="External"/><Relationship Id="rId42" Type="http://schemas.openxmlformats.org/officeDocument/2006/relationships/hyperlink" Target="https://www.geeksforgeeks.org/python/python-super/" TargetMode="External"/><Relationship Id="rId47" Type="http://schemas.openxmlformats.org/officeDocument/2006/relationships/hyperlink" Target="https://www.geeksforgeeks.org/python/python-import-function/" TargetMode="External"/><Relationship Id="rId7" Type="http://schemas.openxmlformats.org/officeDocument/2006/relationships/hyperlink" Target="https://www.geeksforgeeks.org/python/python-hash-method/" TargetMode="External"/><Relationship Id="rId2" Type="http://schemas.openxmlformats.org/officeDocument/2006/relationships/hyperlink" Target="https://www.geeksforgeeks.org/python/python-string-format-method/" TargetMode="External"/><Relationship Id="rId16" Type="http://schemas.openxmlformats.org/officeDocument/2006/relationships/hyperlink" Target="https://www.geeksforgeeks.org/python/python-string-length-len/" TargetMode="External"/><Relationship Id="rId29" Type="http://schemas.openxmlformats.org/officeDocument/2006/relationships/hyperlink" Target="https://www.geeksforgeeks.org/python/python-output-using-print-fun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hasattr-method/" TargetMode="External"/><Relationship Id="rId11" Type="http://schemas.openxmlformats.org/officeDocument/2006/relationships/hyperlink" Target="https://www.geeksforgeeks.org/python/python-3-input-function/" TargetMode="External"/><Relationship Id="rId24" Type="http://schemas.openxmlformats.org/officeDocument/2006/relationships/hyperlink" Target="https://www.geeksforgeeks.org/python/python-object-method/" TargetMode="External"/><Relationship Id="rId32" Type="http://schemas.openxmlformats.org/officeDocument/2006/relationships/hyperlink" Target="https://www.geeksforgeeks.org/python/python-repr-function/" TargetMode="External"/><Relationship Id="rId37" Type="http://schemas.openxmlformats.org/officeDocument/2006/relationships/hyperlink" Target="https://www.geeksforgeeks.org/python/python-slice-function/" TargetMode="External"/><Relationship Id="rId40" Type="http://schemas.openxmlformats.org/officeDocument/2006/relationships/hyperlink" Target="https://www.geeksforgeeks.org/python/python-str-function/" TargetMode="External"/><Relationship Id="rId45" Type="http://schemas.openxmlformats.org/officeDocument/2006/relationships/hyperlink" Target="https://www.geeksforgeeks.org/python/vars-function-python/" TargetMode="External"/><Relationship Id="rId5" Type="http://schemas.openxmlformats.org/officeDocument/2006/relationships/hyperlink" Target="https://www.geeksforgeeks.org/python/python-globals-function/" TargetMode="External"/><Relationship Id="rId15" Type="http://schemas.openxmlformats.org/officeDocument/2006/relationships/hyperlink" Target="https://www.geeksforgeeks.org/python/python-iter-method/" TargetMode="External"/><Relationship Id="rId23" Type="http://schemas.openxmlformats.org/officeDocument/2006/relationships/hyperlink" Target="https://www.geeksforgeeks.org/python/python-next-method/" TargetMode="External"/><Relationship Id="rId28" Type="http://schemas.openxmlformats.org/officeDocument/2006/relationships/hyperlink" Target="https://www.geeksforgeeks.org/python/python-pow-function/" TargetMode="External"/><Relationship Id="rId36" Type="http://schemas.openxmlformats.org/officeDocument/2006/relationships/hyperlink" Target="https://www.geeksforgeeks.org/python/python-setattr-method/" TargetMode="External"/><Relationship Id="rId10" Type="http://schemas.openxmlformats.org/officeDocument/2006/relationships/hyperlink" Target="https://www.geeksforgeeks.org/python/id-function-python/" TargetMode="External"/><Relationship Id="rId19" Type="http://schemas.openxmlformats.org/officeDocument/2006/relationships/hyperlink" Target="https://www.geeksforgeeks.org/python/python-map-function/" TargetMode="External"/><Relationship Id="rId31" Type="http://schemas.openxmlformats.org/officeDocument/2006/relationships/hyperlink" Target="https://www.geeksforgeeks.org/python/python-range-function/" TargetMode="External"/><Relationship Id="rId44" Type="http://schemas.openxmlformats.org/officeDocument/2006/relationships/hyperlink" Target="https://www.geeksforgeeks.org/python/python-type-function/" TargetMode="External"/><Relationship Id="rId4" Type="http://schemas.openxmlformats.org/officeDocument/2006/relationships/hyperlink" Target="https://www.geeksforgeeks.org/python/python-getattr-method/" TargetMode="External"/><Relationship Id="rId9" Type="http://schemas.openxmlformats.org/officeDocument/2006/relationships/hyperlink" Target="https://www.geeksforgeeks.org/python/python-hex-function/" TargetMode="External"/><Relationship Id="rId14" Type="http://schemas.openxmlformats.org/officeDocument/2006/relationships/hyperlink" Target="https://www.geeksforgeeks.org/python/python-issubclass/" TargetMode="External"/><Relationship Id="rId22" Type="http://schemas.openxmlformats.org/officeDocument/2006/relationships/hyperlink" Target="https://www.geeksforgeeks.org/python/python-min-function/" TargetMode="External"/><Relationship Id="rId27" Type="http://schemas.openxmlformats.org/officeDocument/2006/relationships/hyperlink" Target="https://www.geeksforgeeks.org/python/ord-function-python/" TargetMode="External"/><Relationship Id="rId30" Type="http://schemas.openxmlformats.org/officeDocument/2006/relationships/hyperlink" Target="https://www.geeksforgeeks.org/python/python-property-function/" TargetMode="External"/><Relationship Id="rId35" Type="http://schemas.openxmlformats.org/officeDocument/2006/relationships/hyperlink" Target="https://www.geeksforgeeks.org/python/python-set-function/" TargetMode="External"/><Relationship Id="rId43" Type="http://schemas.openxmlformats.org/officeDocument/2006/relationships/hyperlink" Target="https://www.geeksforgeeks.org/python/python-tuple-function/" TargetMode="External"/><Relationship Id="rId8" Type="http://schemas.openxmlformats.org/officeDocument/2006/relationships/hyperlink" Target="https://www.geeksforgeeks.org/python/help-function-in-python/" TargetMode="External"/><Relationship Id="rId3" Type="http://schemas.openxmlformats.org/officeDocument/2006/relationships/hyperlink" Target="https://www.geeksforgeeks.org/python/frozenset-in-python/" TargetMode="External"/><Relationship Id="rId12" Type="http://schemas.openxmlformats.org/officeDocument/2006/relationships/hyperlink" Target="https://www.geeksforgeeks.org/python/python-int-function/" TargetMode="External"/><Relationship Id="rId17" Type="http://schemas.openxmlformats.org/officeDocument/2006/relationships/hyperlink" Target="https://www.geeksforgeeks.org/python/python-list-function/" TargetMode="External"/><Relationship Id="rId25" Type="http://schemas.openxmlformats.org/officeDocument/2006/relationships/hyperlink" Target="https://www.geeksforgeeks.org/python/python-oct-function/" TargetMode="External"/><Relationship Id="rId33" Type="http://schemas.openxmlformats.org/officeDocument/2006/relationships/hyperlink" Target="https://www.geeksforgeeks.org/python/python-reversed-function/" TargetMode="External"/><Relationship Id="rId38" Type="http://schemas.openxmlformats.org/officeDocument/2006/relationships/hyperlink" Target="https://www.geeksforgeeks.org/python/python-sorted-function/" TargetMode="External"/><Relationship Id="rId46" Type="http://schemas.openxmlformats.org/officeDocument/2006/relationships/hyperlink" Target="https://www.geeksforgeeks.org/python/zip-in-python/" TargetMode="External"/><Relationship Id="rId20" Type="http://schemas.openxmlformats.org/officeDocument/2006/relationships/hyperlink" Target="https://www.geeksforgeeks.org/python/python-max-function/" TargetMode="External"/><Relationship Id="rId41" Type="http://schemas.openxmlformats.org/officeDocument/2006/relationships/hyperlink" Target="https://www.geeksforgeeks.org/python/sum-function-python/" TargetMode="Externa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python-oct-function/" TargetMode="External"/><Relationship Id="rId13" Type="http://schemas.openxmlformats.org/officeDocument/2006/relationships/hyperlink" Target="https://www.geeksforgeeks.org/python/python-property-function/" TargetMode="External"/><Relationship Id="rId18" Type="http://schemas.openxmlformats.org/officeDocument/2006/relationships/hyperlink" Target="https://www.geeksforgeeks.org/python/python-set-function/" TargetMode="External"/><Relationship Id="rId26" Type="http://schemas.openxmlformats.org/officeDocument/2006/relationships/hyperlink" Target="https://www.geeksforgeeks.org/python/python-tuple-function/" TargetMode="External"/><Relationship Id="rId3" Type="http://schemas.openxmlformats.org/officeDocument/2006/relationships/hyperlink" Target="https://www.geeksforgeeks.org/python/python-max-function/" TargetMode="External"/><Relationship Id="rId21" Type="http://schemas.openxmlformats.org/officeDocument/2006/relationships/hyperlink" Target="https://www.geeksforgeeks.org/python/python-sorted-function/" TargetMode="External"/><Relationship Id="rId7" Type="http://schemas.openxmlformats.org/officeDocument/2006/relationships/hyperlink" Target="https://www.geeksforgeeks.org/python/python-object-method/" TargetMode="External"/><Relationship Id="rId12" Type="http://schemas.openxmlformats.org/officeDocument/2006/relationships/hyperlink" Target="https://www.geeksforgeeks.org/python/python-output-using-print-function/" TargetMode="External"/><Relationship Id="rId17" Type="http://schemas.openxmlformats.org/officeDocument/2006/relationships/hyperlink" Target="https://www.geeksforgeeks.org/python/round-function-python/" TargetMode="External"/><Relationship Id="rId25" Type="http://schemas.openxmlformats.org/officeDocument/2006/relationships/hyperlink" Target="https://www.geeksforgeeks.org/python/python-super/" TargetMode="External"/><Relationship Id="rId2" Type="http://schemas.openxmlformats.org/officeDocument/2006/relationships/hyperlink" Target="https://www.geeksforgeeks.org/python/python-map-function/" TargetMode="External"/><Relationship Id="rId16" Type="http://schemas.openxmlformats.org/officeDocument/2006/relationships/hyperlink" Target="https://www.geeksforgeeks.org/python/python-reversed-function/" TargetMode="External"/><Relationship Id="rId20" Type="http://schemas.openxmlformats.org/officeDocument/2006/relationships/hyperlink" Target="https://www.geeksforgeeks.org/python/python-slice-function/" TargetMode="External"/><Relationship Id="rId29" Type="http://schemas.openxmlformats.org/officeDocument/2006/relationships/hyperlink" Target="https://www.geeksforgeeks.org/python/zip-in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next-method/" TargetMode="External"/><Relationship Id="rId11" Type="http://schemas.openxmlformats.org/officeDocument/2006/relationships/hyperlink" Target="https://www.geeksforgeeks.org/python/python-pow-function/" TargetMode="External"/><Relationship Id="rId24" Type="http://schemas.openxmlformats.org/officeDocument/2006/relationships/hyperlink" Target="https://www.geeksforgeeks.org/python/sum-function-python/" TargetMode="External"/><Relationship Id="rId5" Type="http://schemas.openxmlformats.org/officeDocument/2006/relationships/hyperlink" Target="https://www.geeksforgeeks.org/python/python-min-function/" TargetMode="External"/><Relationship Id="rId15" Type="http://schemas.openxmlformats.org/officeDocument/2006/relationships/hyperlink" Target="https://www.geeksforgeeks.org/python/python-repr-function/" TargetMode="External"/><Relationship Id="rId23" Type="http://schemas.openxmlformats.org/officeDocument/2006/relationships/hyperlink" Target="https://www.geeksforgeeks.org/python/python-str-function/" TargetMode="External"/><Relationship Id="rId28" Type="http://schemas.openxmlformats.org/officeDocument/2006/relationships/hyperlink" Target="https://www.geeksforgeeks.org/python/vars-function-python/" TargetMode="External"/><Relationship Id="rId10" Type="http://schemas.openxmlformats.org/officeDocument/2006/relationships/hyperlink" Target="https://www.geeksforgeeks.org/python/ord-function-python/" TargetMode="External"/><Relationship Id="rId19" Type="http://schemas.openxmlformats.org/officeDocument/2006/relationships/hyperlink" Target="https://www.geeksforgeeks.org/python/python-setattr-method/" TargetMode="External"/><Relationship Id="rId4" Type="http://schemas.openxmlformats.org/officeDocument/2006/relationships/hyperlink" Target="https://www.geeksforgeeks.org/python/memoryview-in-python/" TargetMode="External"/><Relationship Id="rId9" Type="http://schemas.openxmlformats.org/officeDocument/2006/relationships/hyperlink" Target="https://www.geeksforgeeks.org/python/python-open-function/" TargetMode="External"/><Relationship Id="rId14" Type="http://schemas.openxmlformats.org/officeDocument/2006/relationships/hyperlink" Target="https://www.geeksforgeeks.org/python/python-range-function/" TargetMode="External"/><Relationship Id="rId22" Type="http://schemas.openxmlformats.org/officeDocument/2006/relationships/hyperlink" Target="https://www.geeksforgeeks.org/python/python-staticmethod-function/" TargetMode="External"/><Relationship Id="rId27" Type="http://schemas.openxmlformats.org/officeDocument/2006/relationships/hyperlink" Target="https://www.geeksforgeeks.org/python/python-type-function/" TargetMode="External"/><Relationship Id="rId30" Type="http://schemas.openxmlformats.org/officeDocument/2006/relationships/hyperlink" Target="https://www.geeksforgeeks.org/python/python-import-function/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python-str-function/" TargetMode="External"/><Relationship Id="rId13" Type="http://schemas.openxmlformats.org/officeDocument/2006/relationships/hyperlink" Target="https://www.geeksforgeeks.org/python/vars-function-python/" TargetMode="External"/><Relationship Id="rId3" Type="http://schemas.openxmlformats.org/officeDocument/2006/relationships/hyperlink" Target="https://www.geeksforgeeks.org/python/python-set-function/" TargetMode="External"/><Relationship Id="rId7" Type="http://schemas.openxmlformats.org/officeDocument/2006/relationships/hyperlink" Target="https://www.geeksforgeeks.org/python/python-staticmethod-function/" TargetMode="External"/><Relationship Id="rId12" Type="http://schemas.openxmlformats.org/officeDocument/2006/relationships/hyperlink" Target="https://www.geeksforgeeks.org/python/python-type-function/" TargetMode="External"/><Relationship Id="rId2" Type="http://schemas.openxmlformats.org/officeDocument/2006/relationships/hyperlink" Target="https://www.geeksforgeeks.org/python/round-function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sorted-function/" TargetMode="External"/><Relationship Id="rId11" Type="http://schemas.openxmlformats.org/officeDocument/2006/relationships/hyperlink" Target="https://www.geeksforgeeks.org/python/python-tuple-function/" TargetMode="External"/><Relationship Id="rId5" Type="http://schemas.openxmlformats.org/officeDocument/2006/relationships/hyperlink" Target="https://www.geeksforgeeks.org/python/python-slice-function/" TargetMode="External"/><Relationship Id="rId15" Type="http://schemas.openxmlformats.org/officeDocument/2006/relationships/hyperlink" Target="https://www.geeksforgeeks.org/python/python-import-function/" TargetMode="External"/><Relationship Id="rId10" Type="http://schemas.openxmlformats.org/officeDocument/2006/relationships/hyperlink" Target="https://www.geeksforgeeks.org/python/python-super/" TargetMode="External"/><Relationship Id="rId4" Type="http://schemas.openxmlformats.org/officeDocument/2006/relationships/hyperlink" Target="https://www.geeksforgeeks.org/python/python-setattr-method/" TargetMode="External"/><Relationship Id="rId9" Type="http://schemas.openxmlformats.org/officeDocument/2006/relationships/hyperlink" Target="https://www.geeksforgeeks.org/python/sum-function-python/" TargetMode="External"/><Relationship Id="rId14" Type="http://schemas.openxmlformats.org/officeDocument/2006/relationships/hyperlink" Target="https://www.geeksforgeeks.org/python/zip-in-python/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PythonDS-13 Functions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9FBA-2903-64C6-CF38-1D097365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B62E-D16A-1A4C-9C65-2D3509A9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A Python function is a named, reusable block of code that performs a specific task. Functions provide modularity and help avoid code repetition. 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Defining a Function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Functions are defined using the def keyword in Python. The syntax is as follows: 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3057CE-9B76-09BF-35F6-7DDEF962C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4038753"/>
            <a:ext cx="7772400" cy="28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0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0496-5030-F891-9085-2CC4650E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Benefits of 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0A3D0-D23A-B527-89A5-80C065F6D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Code Reusability</a:t>
            </a:r>
            <a:r>
              <a:rPr lang="en-IN" b="0" i="0" dirty="0">
                <a:effectLst/>
                <a:latin typeface="Google Sans"/>
              </a:rPr>
              <a:t>: You can call the same function multiple times in different parts of your program without rewriting the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Modularity</a:t>
            </a:r>
            <a:r>
              <a:rPr lang="en-IN" b="0" i="0" dirty="0">
                <a:effectLst/>
                <a:latin typeface="Google Sans"/>
              </a:rPr>
              <a:t>: Functions help break down large programs into smaller, manageable, and logical components, making code easier to follow and debug.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Maintainability</a:t>
            </a:r>
            <a:r>
              <a:rPr lang="en-IN" b="0" i="0" dirty="0">
                <a:effectLst/>
                <a:latin typeface="Google Sans"/>
              </a:rPr>
              <a:t>: Changes or updates to a function only need to be made in one location, benefiting the entire program.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10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FCD0-19FA-D2DF-25A7-55BDCA8A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A2085-C884-7A40-60E2-E83D17EEB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def</a:t>
            </a:r>
            <a:r>
              <a:rPr lang="en-IN" b="0" i="0" dirty="0">
                <a:effectLst/>
                <a:latin typeface="Google Sans"/>
              </a:rPr>
              <a:t> The required keyword to start a function definition.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function_name</a:t>
            </a:r>
            <a:r>
              <a:rPr lang="en-IN" b="0" i="0" dirty="0">
                <a:effectLst/>
                <a:latin typeface="Google Sans"/>
              </a:rPr>
              <a:t> A unique identifier (following variable naming rules).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()</a:t>
            </a:r>
            <a:r>
              <a:rPr lang="en-IN" dirty="0">
                <a:latin typeface="Google Sans"/>
              </a:rPr>
              <a:t> </a:t>
            </a:r>
            <a:r>
              <a:rPr lang="en-IN" b="0" i="0" dirty="0">
                <a:effectLst/>
                <a:latin typeface="Google Sans"/>
              </a:rPr>
              <a:t>Required parentheses, which may contain parameters.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: </a:t>
            </a:r>
            <a:r>
              <a:rPr lang="en-IN" b="0" i="0" dirty="0">
                <a:effectLst/>
                <a:latin typeface="Google Sans"/>
              </a:rPr>
              <a:t>A colon at the end of the definition 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Indentation</a:t>
            </a:r>
            <a:r>
              <a:rPr lang="en-IN" b="0" i="0" dirty="0">
                <a:effectLst/>
                <a:latin typeface="Google Sans"/>
              </a:rPr>
              <a:t> The code within the function must be indented. Python uses indentation to define code blocks.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return</a:t>
            </a:r>
            <a:r>
              <a:rPr lang="en-IN" b="0" i="0" dirty="0">
                <a:effectLst/>
                <a:latin typeface="Google Sans"/>
              </a:rPr>
              <a:t> An optional statement to send a value back to the caller. If no return statement is present, the function returns None by default. </a:t>
            </a:r>
          </a:p>
          <a:p>
            <a:pPr algn="l"/>
            <a:endParaRPr lang="en-IN" b="1" i="0">
              <a:solidFill>
                <a:srgbClr val="05192D"/>
              </a:solidFill>
              <a:effectLst/>
              <a:latin typeface="Studio-Feixen-Sans"/>
            </a:endParaRPr>
          </a:p>
          <a:p>
            <a:pPr algn="l"/>
            <a:r>
              <a:rPr lang="en-IN" b="1" i="0">
                <a:solidFill>
                  <a:srgbClr val="05192D"/>
                </a:solidFill>
                <a:effectLst/>
                <a:latin typeface="Studio-Feixen-Sans"/>
              </a:rPr>
              <a:t>How </a:t>
            </a: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to add docstrings to a </a:t>
            </a:r>
            <a:r>
              <a:rPr lang="en-IN" b="1" i="0">
                <a:solidFill>
                  <a:srgbClr val="05192D"/>
                </a:solidFill>
                <a:effectLst/>
                <a:latin typeface="Studio-Feixen-Sans"/>
              </a:rPr>
              <a:t>Python function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5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FF42-4CFB-0210-E84B-C8BD4705E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Return Statement in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6AE5F-8D4B-726A-1433-9454EE588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The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return </a:t>
            </a:r>
            <a:r>
              <a:rPr lang="en-IN" b="0" dirty="0">
                <a:effectLst/>
                <a:latin typeface="Nunito" pitchFamily="2" charset="77"/>
              </a:rPr>
              <a:t>statement ends a function and sends a value back to the caller. It can return any data type, multiple values (packed into a tuple), or None if no value is given.</a:t>
            </a:r>
          </a:p>
          <a:p>
            <a:pPr rtl="0" fontAlgn="base"/>
            <a:endParaRPr lang="en-IN" b="1" dirty="0">
              <a:effectLst/>
              <a:latin typeface="Nunito" pitchFamily="2" charset="77"/>
            </a:endParaRPr>
          </a:p>
          <a:p>
            <a:pPr rtl="0" fontAlgn="base"/>
            <a:r>
              <a:rPr lang="en-IN" b="1" dirty="0">
                <a:effectLst/>
                <a:latin typeface="Nunito" pitchFamily="2" charset="77"/>
              </a:rPr>
              <a:t>Syntax:</a:t>
            </a:r>
            <a:endParaRPr lang="en-IN" b="0" dirty="0">
              <a:effectLst/>
              <a:latin typeface="Nunito" pitchFamily="2" charset="77"/>
            </a:endParaRPr>
          </a:p>
          <a:p>
            <a:pPr rtl="0" fontAlgn="base"/>
            <a:r>
              <a:rPr lang="en-IN" b="0" dirty="0">
                <a:effectLst/>
                <a:latin typeface="Nunito" pitchFamily="2" charset="77"/>
              </a:rPr>
              <a:t>return [expression]</a:t>
            </a:r>
          </a:p>
          <a:p>
            <a:pPr rtl="0" fontAlgn="base"/>
            <a:endParaRPr lang="en-IN" b="1" dirty="0">
              <a:effectLst/>
              <a:latin typeface="Nunito" pitchFamily="2" charset="77"/>
            </a:endParaRPr>
          </a:p>
          <a:p>
            <a:pPr rtl="0" fontAlgn="base"/>
            <a:r>
              <a:rPr lang="en-IN" b="1" dirty="0">
                <a:effectLst/>
                <a:latin typeface="Nunito" pitchFamily="2" charset="77"/>
              </a:rPr>
              <a:t>Parameters: return </a:t>
            </a:r>
            <a:r>
              <a:rPr lang="en-IN" b="0" dirty="0">
                <a:effectLst/>
                <a:latin typeface="Nunito" pitchFamily="2" charset="77"/>
              </a:rPr>
              <a:t>ends the function,</a:t>
            </a:r>
            <a:r>
              <a:rPr lang="en-IN" b="1" dirty="0">
                <a:effectLst/>
                <a:latin typeface="Nunito" pitchFamily="2" charset="77"/>
              </a:rPr>
              <a:t> [expression] </a:t>
            </a:r>
            <a:r>
              <a:rPr lang="en-IN" b="0" dirty="0">
                <a:effectLst/>
                <a:latin typeface="Nunito" pitchFamily="2" charset="77"/>
              </a:rPr>
              <a:t>is the optional value to return (defaults to None)</a:t>
            </a:r>
            <a:r>
              <a:rPr lang="en-IN" b="1" dirty="0">
                <a:effectLst/>
                <a:latin typeface="Nunito" pitchFamily="2" charset="77"/>
              </a:rPr>
              <a:t>.</a:t>
            </a:r>
            <a:b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</a:br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6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C4B1AA-8A30-429E-3CFF-765771F38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6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7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DBE3-B659-3603-E17F-50917A03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EB1D-9826-3EDF-BA35-6B2EBD816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ython Functions">
            <a:extLst>
              <a:ext uri="{FF2B5EF4-FFF2-40B4-BE49-F238E27FC236}">
                <a16:creationId xmlns:a16="http://schemas.microsoft.com/office/drawing/2014/main" id="{05E0C93E-D7A2-4392-D695-A44F9364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0"/>
            <a:ext cx="12192000" cy="552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42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28ED-1744-F521-EFA9-B8228F25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Calling a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37D9B-DAAB-0DBE-325C-A7396FDBF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To execute the code inside a function, you must "call" it using its name followed by parentheses. 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555B5-2C6C-F20A-9337-B210B4D9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2828266"/>
            <a:ext cx="9234487" cy="335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3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16AD-76CE-CFCD-6A34-66D80860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9F76-53CB-FE84-F709-2821DC52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Python Function Working">
            <a:extLst>
              <a:ext uri="{FF2B5EF4-FFF2-40B4-BE49-F238E27FC236}">
                <a16:creationId xmlns:a16="http://schemas.microsoft.com/office/drawing/2014/main" id="{CD739E77-92A8-5981-4031-A50F849F5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1"/>
            <a:ext cx="12191999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552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88F6-2233-F31D-605C-5F4CA2E9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Function Arguments and Parameters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67EE-0E7C-6B2F-1720-DF7C4327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Parameters</a:t>
            </a:r>
            <a:r>
              <a:rPr lang="en-IN" b="0" i="0" dirty="0">
                <a:effectLst/>
                <a:latin typeface="Google Sans"/>
              </a:rPr>
              <a:t> are the </a:t>
            </a:r>
            <a:r>
              <a:rPr lang="en-IN" b="1" i="0" dirty="0">
                <a:effectLst/>
                <a:latin typeface="Google Sans"/>
              </a:rPr>
              <a:t>variables listed</a:t>
            </a:r>
            <a:r>
              <a:rPr lang="en-IN" b="0" i="0" dirty="0">
                <a:effectLst/>
                <a:latin typeface="Google Sans"/>
              </a:rPr>
              <a:t> inside the parentheses in the function definition. They act as </a:t>
            </a:r>
            <a:r>
              <a:rPr lang="en-IN" b="1" i="0" dirty="0">
                <a:effectLst/>
                <a:latin typeface="Google Sans"/>
              </a:rPr>
              <a:t>placeholders</a:t>
            </a:r>
            <a:r>
              <a:rPr lang="en-IN" b="0" i="0" dirty="0">
                <a:effectLst/>
                <a:latin typeface="Google Sans"/>
              </a:rPr>
              <a:t> for the data the function expects to receive.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Arguments</a:t>
            </a:r>
            <a:r>
              <a:rPr lang="en-IN" b="0" i="0" dirty="0">
                <a:effectLst/>
                <a:latin typeface="Google Sans"/>
              </a:rPr>
              <a:t> are the </a:t>
            </a:r>
            <a:r>
              <a:rPr lang="en-IN" b="1" i="0" dirty="0">
                <a:effectLst/>
                <a:latin typeface="Google Sans"/>
              </a:rPr>
              <a:t>actual</a:t>
            </a:r>
            <a:r>
              <a:rPr lang="en-IN" b="0" i="0" dirty="0">
                <a:effectLst/>
                <a:latin typeface="Google Sans"/>
              </a:rPr>
              <a:t> values passed to the function when it is called. 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Python supports various argument types, including: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Required/Positional Arguments</a:t>
            </a:r>
            <a:r>
              <a:rPr lang="en-IN" b="0" i="0" dirty="0">
                <a:effectLst/>
                <a:latin typeface="Google Sans"/>
              </a:rPr>
              <a:t>: Must be passed in the correct order.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Keyword Arguments</a:t>
            </a:r>
            <a:r>
              <a:rPr lang="en-IN" b="0" i="0" dirty="0">
                <a:effectLst/>
                <a:latin typeface="Google Sans"/>
              </a:rPr>
              <a:t>: Passed by explicitly specifying the parameter name, so order doesn't matter.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Default Arguments</a:t>
            </a:r>
            <a:r>
              <a:rPr lang="en-IN" b="0" i="0" dirty="0">
                <a:effectLst/>
                <a:latin typeface="Google Sans"/>
              </a:rPr>
              <a:t>: Parameters that assume a default value if no value is provided in the call.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Arbitrary Arguments (*</a:t>
            </a:r>
            <a:r>
              <a:rPr lang="en-IN" b="1" i="0" dirty="0" err="1">
                <a:effectLst/>
                <a:latin typeface="Google Sans"/>
              </a:rPr>
              <a:t>args</a:t>
            </a:r>
            <a:r>
              <a:rPr lang="en-IN" b="1" i="0" dirty="0">
                <a:effectLst/>
                <a:latin typeface="Google Sans"/>
              </a:rPr>
              <a:t> and **</a:t>
            </a:r>
            <a:r>
              <a:rPr lang="en-IN" b="1" i="0" dirty="0" err="1">
                <a:effectLst/>
                <a:latin typeface="Google Sans"/>
              </a:rPr>
              <a:t>kwargs</a:t>
            </a:r>
            <a:r>
              <a:rPr lang="en-IN" b="1" i="0" dirty="0">
                <a:effectLst/>
                <a:latin typeface="Google Sans"/>
              </a:rPr>
              <a:t>)</a:t>
            </a:r>
            <a:r>
              <a:rPr lang="en-IN" b="0" i="0" dirty="0">
                <a:effectLst/>
                <a:latin typeface="Google Sans"/>
              </a:rPr>
              <a:t>: Allow a function to accept a variable number of positional or keyword arguments.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8612-3317-F2C0-A8CC-37B7B09F0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1FF8A-889E-B38C-DA28-43E6B3E04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ython Function Argument">
            <a:extLst>
              <a:ext uri="{FF2B5EF4-FFF2-40B4-BE49-F238E27FC236}">
                <a16:creationId xmlns:a16="http://schemas.microsoft.com/office/drawing/2014/main" id="{ED08563B-5A85-6385-26CF-3B8C09580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2577"/>
            <a:ext cx="12192000" cy="559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849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339E-F1C1-8AEF-609E-72145B3C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ADEA3-BD2C-3D9E-818E-B7778BE9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ow function works in Python?">
            <a:extLst>
              <a:ext uri="{FF2B5EF4-FFF2-40B4-BE49-F238E27FC236}">
                <a16:creationId xmlns:a16="http://schemas.microsoft.com/office/drawing/2014/main" id="{D6AA80D2-F5B0-0042-44A4-D83ED1014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8818"/>
            <a:ext cx="12200973" cy="417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94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4C0C3-C2CD-D4CA-C474-67F90C74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Function Argument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C5C11-A001-4CA3-F9D0-2C99B04B1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Types of Function Arguments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1. Default Arguments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2. Keyword Arguments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3. Positional Arguments</a:t>
            </a: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4. Arbitrary Arguments</a:t>
            </a:r>
          </a:p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F2692-6A20-2884-AB4F-7F898AD1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88325"/>
            <a:ext cx="6096000" cy="566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05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C8987-617C-434F-750D-D57E20FA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4200" b="1" i="0">
                <a:effectLst/>
                <a:latin typeface="euclid_circular_a"/>
              </a:rPr>
              <a:t>Function Argument with Default Values</a:t>
            </a:r>
            <a:endParaRPr lang="en-US" sz="42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F83C0-E1DE-4F45-C674-F71C1B93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IN" sz="2200" b="0" i="0">
                <a:effectLst/>
                <a:latin typeface="euclid_circular_a"/>
              </a:rPr>
              <a:t>In Python, we can provide default values to function arguments.</a:t>
            </a:r>
          </a:p>
          <a:p>
            <a:r>
              <a:rPr lang="en-IN" sz="2200" b="0" i="0">
                <a:effectLst/>
                <a:latin typeface="euclid_circular_a"/>
              </a:rPr>
              <a:t>We use the = operator to provide default values. For example,</a:t>
            </a:r>
          </a:p>
          <a:p>
            <a:br>
              <a:rPr lang="en-IN" sz="2200" b="0" i="0">
                <a:effectLst/>
                <a:latin typeface="euclid_circular_a"/>
              </a:rPr>
            </a:br>
            <a:endParaRPr lang="en-IN" sz="2200" b="0" i="0">
              <a:effectLst/>
              <a:latin typeface="euclid_circular_a"/>
            </a:endParaRPr>
          </a:p>
          <a:p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5B10BF-19F4-B610-BC4D-6CBB680C5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837" y="640080"/>
            <a:ext cx="518739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95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480C-72C0-6E19-15DB-5FB568BA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Keyword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62044-CBC0-C336-6E5A-73AE3851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EDC1D-55EB-CF68-40B6-C3324D7E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3" y="1333787"/>
            <a:ext cx="7653337" cy="5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3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2F637-5CD1-16C9-9D72-509E14D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Positional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E5996-71DF-7608-1C5F-9187DABD7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Passed to the function in the order in which they are defined.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add(a, b):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a + b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result = add(3, 5)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print(result)  # Output: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782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2B79-B618-61C4-33BB-3A2FB3AF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Python Function With Arbitrary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7547D-BF48-DA8A-29FB-2171F19E3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IN" b="0" i="0" dirty="0">
                <a:effectLst/>
                <a:latin typeface="euclid_circular_a"/>
              </a:rPr>
              <a:t>Sometimes, we do not know in advance the number of arguments that will be passed into a function. 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To handle this kind of situation, we can use </a:t>
            </a:r>
            <a:r>
              <a:rPr lang="en-IN" b="0" i="0" u="none" strike="noStrike" dirty="0">
                <a:solidFill>
                  <a:srgbClr val="0556F3"/>
                </a:solidFill>
                <a:effectLst/>
                <a:latin typeface="euclid_circular_a"/>
                <a:hlinkClick r:id="rId2"/>
              </a:rPr>
              <a:t>arbitrary arguments in Python</a:t>
            </a:r>
            <a:r>
              <a:rPr lang="en-IN" b="0" i="0" dirty="0">
                <a:effectLst/>
                <a:latin typeface="euclid_circular_a"/>
              </a:rPr>
              <a:t>.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Arbitrary arguments allow us to pass a varying number of values during a function call.</a:t>
            </a:r>
          </a:p>
          <a:p>
            <a:pPr algn="l"/>
            <a:r>
              <a:rPr lang="en-IN" b="0" i="0" dirty="0">
                <a:effectLst/>
                <a:latin typeface="euclid_circular_a"/>
              </a:rPr>
              <a:t>We use an asterisk (*) before the parameter name to denote this kind of argument. For example,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345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407B-87AE-E485-2084-05E3A097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68EB-E29F-1498-117E-0F6407F3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A60BA-DE1F-0785-5D5C-30D06101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37" y="0"/>
            <a:ext cx="6874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4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264A-EB10-4A11-9274-A53FF848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Function within Functions (Neste Function)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97F2C-4133-5679-9A72-67E54F386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IN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Basic Nested Function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function is defined inside another function.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inner_function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print("Hello from the inner function!")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print("Hello from the outer function!")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inner_function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Output: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Hello from the outer function!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Hello from the inner function!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938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D52A-8398-CCFC-AB93-64FCE454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Accessing Variables from the Enclosing Function (Nested function)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5449E-5D56-44CE-D761-24209554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Nested functions can access and modify variables from the enclosing function.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(message):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inner_function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f"Message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from outer function: {message}")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inner_function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outer_function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("Hello, World!")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Output: Message from outer function: Hello, World!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2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DE4A-EFA9-0BD8-769E-450D08A0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Creating Closures (Nested Function)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EF1D1-2969-6552-4141-056191623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closure is a function object that remembers values in the enclosing scopes even if they are not present in memory.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make_multiplier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(x):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def multiplier(n):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return x * n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multiplier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times_two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make_multiplier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(2)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times_three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make_multiplier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(3)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times_two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(5))  # Output: 10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times_three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(5))  # Output: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892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6975-4750-CEEA-465C-A2932ED7E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Using Nested Functions for Encapsulation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6A5B-1FCD-5E55-0BB6-72F4A6B1C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Encapsulate functionality to keep parts of your code clean and organized.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calculate_area_and_perimeter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(length, width):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def area():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return length * width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def perimeter():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return 2 * (length + width)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area(), perimeter()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area, perimeter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calculate_area_and_perimeter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(5, 3)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f"Area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: {area}, Perimeter: {perimeter}")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Output: Area: 15, Perimeter: 16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484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0EB0-0D89-DB44-3B44-1288992D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Anonymous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7FC0-BA12-8FF6-CE67-F974A74F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39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6908-84BB-1745-D64E-F899F47E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Higher-Order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7C97-2D47-013D-C690-D488FFF8F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These functions can take other functions as arguments or return them as results. Examples include map(), filter(), and </a:t>
            </a:r>
            <a:r>
              <a:rPr lang="en-IN" b="0" i="0" u="none" strike="noStrike" dirty="0">
                <a:solidFill>
                  <a:srgbClr val="1179EF"/>
                </a:solidFill>
                <a:effectLst/>
                <a:latin typeface="Roboto" panose="02000000000000000000" pitchFamily="2" charset="0"/>
                <a:hlinkClick r:id="rId2" tooltip="reduce()"/>
              </a:rPr>
              <a:t>reduce()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square(x):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x * x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[1, 2, 3, 4, 5]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squared_numbers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list(map(square, numbers))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squared_numbers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  # Output: [1, 4, 9, 16, 25]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14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33F8-1F80-E7BB-E305-FB330240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Generator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4883-7744-BDE5-B57E-347841950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These functions yield values one at a time and can produce a sequence of values over time, using the yield keyword.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generate_numbers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for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in range(1, 6):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yield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</a:t>
            </a:r>
            <a:endParaRPr lang="en-IN" b="0" i="0" dirty="0">
              <a:solidFill>
                <a:srgbClr val="51565E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for number in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generate_numbers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print(number)  # Output: 1 2 3 4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93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C082-CD4C-FDAC-5CEA-31E6166B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Pass by Reference and Pass by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E26F-9DF4-8457-EF11-258C113A8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In Python, variables are references to objects. When we pass them to a function,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behavior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depends on whether the object is mutable (like lists, dictionaries) or immutable (like integers, strings, tuples).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Mutable objects: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Changes inside the function affect the original object.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Immutable objects: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 original value remains unchanged.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232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A62C-EA3B-94EE-225B-1BB3D9F5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0813-242D-7875-F0DD-1C2CF5475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81B6D-4ABA-6E96-6E07-9C4D4F745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7285"/>
            <a:ext cx="7772400" cy="674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878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CBAF-0A54-252C-CF07-5D492B99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Recursive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3894-D14E-0813-9C3E-2C8CC0EFA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recursive function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is a function that calls itself to solve a problem. It is commonly used in mathematical and divide-and-conquer problems. Always include a base case to avoid infinite recursion.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5B118-ADE4-8B91-61F7-91EF3411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39242"/>
            <a:ext cx="6096000" cy="381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40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39DA-1405-9605-89A0-14063A66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Returning a Value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8526-3DC0-4E96-94F3-EBA205394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return statement can be used to ‘return’ a value from a function.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add(a, b):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a + b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result = add(3, 5)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print(result)  # Output: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914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6210-8EF5-0E33-AB0C-33B579A1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Returning Multiple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C930-4C9A-9BED-E732-7D7F59F6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Python functions can return multiple values by using tuples.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get_name_and_age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name = "Alice"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age = 30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name, age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name, age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get_name_and_age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f"Name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: {name}, Age: {age}")  # Output: Name: Alice, Age: 30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233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2D28-30F0-57B4-232D-1F919F22F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Returning a 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57183-06F2-7014-0DA9-D2B0E70FF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 function can return complex data structures like lists.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get_even_numbers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(limit):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evens = []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for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in range(limit):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if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% 2 == 0: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    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evens.append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evens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get_even_numbers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(10)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  # Output: [0, 2, 4, 6, 8]</a:t>
            </a:r>
          </a:p>
          <a:p>
            <a:pPr algn="l" fontAlgn="ctr"/>
            <a:br>
              <a:rPr lang="en-IN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endParaRPr lang="en-IN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74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0EB3B-C2F6-C92E-1C7C-A909C2A0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Returning Early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E2BE-5465-5AC4-F169-5753AC0C8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return statement can be used to exit a function early.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check_positive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(number):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if number &lt;= 0: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    return "Not a positive number"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"Positive number"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result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check_positive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(-5)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print(result)  # Output: Not a positive number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result =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check_positive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(10)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print(result)  # Output: Positive 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50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F9EA-0DEA-1707-6C59-FCC179249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The pass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31379-3ECA-7982-F1CC-54B26DAA4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1. Placeholder for Future Code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‘pass’ statement is used as a placeholder for code that will be added later.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future_function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pass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This function does nothing but can be implemented later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7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C0AD-2BF1-68F0-3972-0114952F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153E3-DF2B-DAF8-85EE-9008D7B2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2. Used in Loops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‘pass’ statement can be used in loops where the loop's body is intentionally left empty.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for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in range(10):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pass  # Placeholder for future code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This loop does nothing currently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403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9F0D-EA7C-5CFD-D773-454F4DE4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C0775-D44C-906B-9248-578114473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3. Used in Conditional Statements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‘pass’ statement can be used in ‘if’ statements where no action is required for a particular condition.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x = 10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if x &gt; 0: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pass  # Positive number, no action needed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else: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print("Negative number")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Currently, nothing happens if x &gt;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804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D79A-D737-7712-7A44-B5285529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02B92-A67A-6DCD-930B-302755ABF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4. Used in Class Definitions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The pass statement can be used in class definitions as a placeholder for future methods and attributes.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class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MyClass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pass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This class currently does nothing but can be expanded later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399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3BA9-9A82-3013-91AE-60BCC427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1A2B98-81D7-80B9-BF3A-F1E52ECFC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4688484"/>
              </p:ext>
            </p:extLst>
          </p:nvPr>
        </p:nvGraphicFramePr>
        <p:xfrm>
          <a:off x="838199" y="365125"/>
          <a:ext cx="10760902" cy="8521069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865341">
                  <a:extLst>
                    <a:ext uri="{9D8B030D-6E8A-4147-A177-3AD203B41FA5}">
                      <a16:colId xmlns:a16="http://schemas.microsoft.com/office/drawing/2014/main" val="1928811800"/>
                    </a:ext>
                  </a:extLst>
                </a:gridCol>
                <a:gridCol w="3331127">
                  <a:extLst>
                    <a:ext uri="{9D8B030D-6E8A-4147-A177-3AD203B41FA5}">
                      <a16:colId xmlns:a16="http://schemas.microsoft.com/office/drawing/2014/main" val="2776629158"/>
                    </a:ext>
                  </a:extLst>
                </a:gridCol>
                <a:gridCol w="6564434">
                  <a:extLst>
                    <a:ext uri="{9D8B030D-6E8A-4147-A177-3AD203B41FA5}">
                      <a16:colId xmlns:a16="http://schemas.microsoft.com/office/drawing/2014/main" val="498073088"/>
                    </a:ext>
                  </a:extLst>
                </a:gridCol>
              </a:tblGrid>
              <a:tr h="655286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Sno.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 dirty="0">
                          <a:effectLst/>
                        </a:rPr>
                        <a:t>Function Name</a:t>
                      </a:r>
                      <a:endParaRPr lang="en-IN" sz="2400" b="1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8162451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"/>
                        </a:rPr>
                        <a:t>Python abs() Function 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absolute value of a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379849647"/>
                  </a:ext>
                </a:extLst>
              </a:tr>
              <a:tr h="553188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Python aiter() Function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It takes an asynchronous iterable as an argument and returns an asynchronous iterator for that iterable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3389436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 dirty="0">
                          <a:effectLst/>
                          <a:hlinkClick r:id="rId3"/>
                        </a:rPr>
                        <a:t>Python all() Function</a:t>
                      </a:r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true if all the elements of a given iterable( List, Dictionary, Tuple, set, etc) are True else it returns False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60834892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"/>
                        </a:rPr>
                        <a:t>Python any()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 Returns true if any of the elements of a given iterable( List, Dictionary, Tuple, set, etc) are True else it returns False 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84765210"/>
                  </a:ext>
                </a:extLst>
              </a:tr>
              <a:tr h="553188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Python anext() Function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used for getting the next item from an asynchronous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19015682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"/>
                        </a:rPr>
                        <a:t>Python ascii()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string containing a printable representation of an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72139890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"/>
                        </a:rPr>
                        <a:t>Python bin()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integer to a binary string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964689799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7"/>
                        </a:rPr>
                        <a:t>Python bool()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or convert a value to a Boolean value i.e., True or False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03209412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8"/>
                        </a:rPr>
                        <a:t>Python breakpoint()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It is used for dropping into the debugger at the call site during runtime for debugging purposes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289800837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9"/>
                        </a:rPr>
                        <a:t>Python bytearray()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byte array object which is an array of given bytes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90630213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0"/>
                        </a:rPr>
                        <a:t>Python bytes()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an object to an immutable byte-represented object of a given size and data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53426994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1"/>
                        </a:rPr>
                        <a:t>Python callable()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True if the object passed appears to be callable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34014315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2"/>
                        </a:rPr>
                        <a:t>Python chr()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string representing a character whose Unicode code point is an integer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707267867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3"/>
                        </a:rPr>
                        <a:t>Python classmethod()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class method for a given function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1516313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4"/>
                        </a:rPr>
                        <a:t>Python compile()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Python code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22555365"/>
                  </a:ext>
                </a:extLst>
              </a:tr>
              <a:tr h="36146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5"/>
                        </a:rPr>
                        <a:t>Python complex()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Creates Complex Number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509052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266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0E95D-E915-27A5-FAD4-330EA799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D1FF9-64AF-7CD8-AE0E-9B068A7DB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50607C-5AFB-FCBC-B8C5-5C211099D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2025534"/>
            <a:ext cx="7772400" cy="415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06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B05E0-8344-C0A5-3A41-A16A008F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AF1A-9152-77E1-C217-EBB7847D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150C5-2F96-C5D9-D770-3AE38055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620" y="0"/>
            <a:ext cx="7072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8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164B-FD52-BA18-3CAD-C7EA6F25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False Values and Truth Values: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F7BA4-83CE-6CAB-1685-D9C681AAA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False Values: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False: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 Boolean value False.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None: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 None keyword, which represents the absence of a value.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0: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integer zero.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0.0: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The floating-point zero.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"":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An empty string.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[]: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 empty list.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():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 empty tuple.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{}: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An empty dictionary.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set():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An empty set.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range(0):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An empty range.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Truth Values: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Non-zero numbers (e.g., 1, -1, 3.14).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Non-empty strings (e.g., "hello").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Non-empty collections (e.g., [1, 2, 3], {"key": "value"}).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Objects (e.g., instances of classes).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36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FE61-21E9-22A0-2DB1-61EF888E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E0D6-5C9E-13E4-DC98-BE2B3A4F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71267-8870-F666-4DF1-52692DED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0"/>
            <a:ext cx="310991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406184-5729-9BED-04A0-73BC6F96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924" y="0"/>
            <a:ext cx="723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45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2B44-E7DA-5EDD-E729-A39C70CA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bytes()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C844-CADF-BABA-3670-E57B3E036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bytes() method in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Python</a:t>
            </a:r>
            <a:r>
              <a:rPr lang="en-IN" b="0" dirty="0">
                <a:effectLst/>
                <a:latin typeface="Nunito" pitchFamily="2" charset="77"/>
              </a:rPr>
              <a:t> is used to create a sequence of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3"/>
              </a:rPr>
              <a:t>bytes</a:t>
            </a:r>
            <a:r>
              <a:rPr lang="en-IN" b="0" dirty="0">
                <a:effectLst/>
                <a:latin typeface="Nunito" pitchFamily="2" charset="77"/>
              </a:rPr>
              <a:t>. In this article, we will check How bytes() methods works in Python.</a:t>
            </a:r>
          </a:p>
          <a:p>
            <a:pPr algn="l" rtl="0"/>
            <a:b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</a:br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08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C330-C204-97AD-FCD4-F19DF0102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function: </a:t>
            </a:r>
            <a:r>
              <a:rPr lang="en-IN" b="0" i="0" dirty="0" err="1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len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()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1EAD2-D542-50F5-B8D3-EA8487BBC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Returns the length (number of items) of an object.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my_list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[1, 2, 3, 4, 5]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len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my_list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))  # Output: 5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my_string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"Hello, World!"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len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my_string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))  # Output: 13</a:t>
            </a:r>
          </a:p>
          <a:p>
            <a:pPr algn="l" fontAlgn="ctr"/>
            <a:br>
              <a:rPr lang="en-IN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endParaRPr lang="en-IN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810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0A94-CC69-1B60-AA5E-8AD2EE74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max() and min()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68688-EF9C-1FFA-1627-E96E58B14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max() returns the largest item in an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or the largest of two or more arguments.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min() returns the smallest item in an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or the smallest of two or more arguments.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[10, 20, 30, 40, 50]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print(max(numbers))  # Output: 50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print(min(numbers))  # Output: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03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194E-33E5-D71D-7544-076F05B3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‘sum()’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9950E-F006-4285-B1E5-42DCF9FCC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Sums the items of an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, such as a list or tuple.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[1, 2, 3, 4, 5]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print(sum(numbers))  # Output: 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71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1D6E-94FD-7708-A9BC-18A1619E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‘sorted()’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10875-7A61-E469-2D2D-8E1CB2F73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Returns a new sorted list from the elements of any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[3, 1, 4, 1, 5, 9]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sorted_numbers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sorted(numbers)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sorted_numbers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  # Output: [1, 1, 3, 4, 5, 9]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4871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AE8B-4BD2-7A8D-FA7D-EE53153F0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‘abs()’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CC1C-2BCB-228C-56F9-41E63AC32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Returns the absolute value of a number.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 = -10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print(abs(number))  # Output: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948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3345-54BE-C8AE-AC03-123A674A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‘round()’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D786-202A-0DEE-5F21-9F8EA28B3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Rounds a number to a specified number of decimal places.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 = 3.14159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print(round(number, 2))  # Output: 3.14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2922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5C8CB-3AC6-53F8-2E23-772CACB2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‘enumerate()’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4CA9E-10A4-5E56-EAFB-F682B868C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Adds a counter to an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and returns it as an enumerate object.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items = ['apple', 'banana', 'cherry']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for index, item in enumerate(items):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print(index, item)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Output: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0 apple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1 banana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2 cherry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9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592E-B8BE-A66F-9EEF-6199FF4E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‘zip()’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3BC8-BAB8-9B37-3678-6038B5A8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Aggregates elements from two or more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(lists, tuples, etc.) and returns an iterator of tuples.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names = ['Alice', 'Bob', 'Charlie']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scores = [85, 90, 95]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combined = zip(names, scores)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for name, score in combined: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print(name, score)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Output: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Alice 85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Bob 90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# Charlie 95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1975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C24E-377B-7E62-2DC5-321EC15E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map()’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425A-22E3-4155-A09D-2B6B609F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Applies a function to all items in an input list (or other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 and returns a map object (an iterator).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square(x):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x * x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[1, 2, 3, 4, 5]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squared_numbers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map(square, numbers)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print(list(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squared_numbers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))  # Output: [1, 4, 9, 16, 25]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3179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D204-5D3E-E8B4-0FA1-DD68E6AA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Built-in: </a:t>
            </a:r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‘filter()’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88B79-E234-4687-3628-8EAEFEADD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Filters items out of an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iterable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based on a function that returns True or False.</a:t>
            </a:r>
          </a:p>
          <a:p>
            <a:pPr algn="l"/>
            <a:r>
              <a:rPr lang="en-IN" b="0" i="0" dirty="0">
                <a:solidFill>
                  <a:srgbClr val="272C37"/>
                </a:solidFill>
                <a:effectLst/>
                <a:latin typeface="Roboto" panose="02000000000000000000" pitchFamily="2" charset="0"/>
              </a:rPr>
              <a:t>Example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def 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is_even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(x):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    return x % 2 == 0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numbers = [1, 2, 3, 4, 5, 6]</a:t>
            </a:r>
          </a:p>
          <a:p>
            <a:pPr algn="l"/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 = filter(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is_even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, numbers)</a:t>
            </a:r>
          </a:p>
          <a:p>
            <a:pPr algn="l"/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print(list(</a:t>
            </a:r>
            <a:r>
              <a:rPr lang="en-IN" b="0" i="0" dirty="0" err="1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even_numbers</a:t>
            </a:r>
            <a:r>
              <a:rPr lang="en-IN" b="0" i="0" dirty="0">
                <a:solidFill>
                  <a:srgbClr val="51565E"/>
                </a:solidFill>
                <a:effectLst/>
                <a:latin typeface="Roboto" panose="02000000000000000000" pitchFamily="2" charset="0"/>
              </a:rPr>
              <a:t>))  # Output: [2, 4, 6]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95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CB4F-394C-ED50-8312-4478C2D9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587E-05DA-1C8D-BD48-9886D876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8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0D9E90-AFFC-5D4B-EA37-75BB6DCFDF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899913"/>
              </p:ext>
            </p:extLst>
          </p:nvPr>
        </p:nvGraphicFramePr>
        <p:xfrm>
          <a:off x="838199" y="365125"/>
          <a:ext cx="10515598" cy="24377187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77242">
                  <a:extLst>
                    <a:ext uri="{9D8B030D-6E8A-4147-A177-3AD203B41FA5}">
                      <a16:colId xmlns:a16="http://schemas.microsoft.com/office/drawing/2014/main" val="4245033778"/>
                    </a:ext>
                  </a:extLst>
                </a:gridCol>
                <a:gridCol w="3006070">
                  <a:extLst>
                    <a:ext uri="{9D8B030D-6E8A-4147-A177-3AD203B41FA5}">
                      <a16:colId xmlns:a16="http://schemas.microsoft.com/office/drawing/2014/main" val="2776629158"/>
                    </a:ext>
                  </a:extLst>
                </a:gridCol>
                <a:gridCol w="6932286">
                  <a:extLst>
                    <a:ext uri="{9D8B030D-6E8A-4147-A177-3AD203B41FA5}">
                      <a16:colId xmlns:a16="http://schemas.microsoft.com/office/drawing/2014/main" val="498073088"/>
                    </a:ext>
                  </a:extLst>
                </a:gridCol>
              </a:tblGrid>
              <a:tr h="17406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Sn.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Function Name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8162451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"/>
                        </a:rPr>
                        <a:t>Python callable()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Returns True if the object passed appears to be callable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3401431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"/>
                        </a:rPr>
                        <a:t>Python chr()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string representing a character whose Unicode code point is an integer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707267867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"/>
                        </a:rPr>
                        <a:t>Python classmethod()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class method for a given function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1516313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"/>
                        </a:rPr>
                        <a:t>Python compile()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Python code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22555365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"/>
                        </a:rPr>
                        <a:t>Python complex()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Complex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50905204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7"/>
                        </a:rPr>
                        <a:t>Python delattr()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Delete the named attribute from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226397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8"/>
                        </a:rPr>
                        <a:t>Python dict()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Python Dictionary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79567877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9"/>
                        </a:rPr>
                        <a:t>Python dir()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list of the attributes and methods of any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17241401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0"/>
                        </a:rPr>
                        <a:t>Python divmod()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Takes two numbers and returns a pair of numbers consisting of their quotient and remainder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81166705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1"/>
                        </a:rPr>
                        <a:t>Python enumerate()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Adds a counter to an iterable and returns it in a form of enumerating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017812082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2"/>
                        </a:rPr>
                        <a:t>Python eval()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Parses the expression passed to it and runs Python expression(code) within the program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9932370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3"/>
                        </a:rPr>
                        <a:t>Python exec()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Used for the dynamic execution of the program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69277107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4"/>
                        </a:rPr>
                        <a:t>Python filter()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Filters the given sequence with the help of a function that tests each element in the sequence to be true or not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62365957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5"/>
                        </a:rPr>
                        <a:t>Python float()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a floating-point number from a number or a string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998799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6"/>
                        </a:rPr>
                        <a:t>Python format()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Formats a specified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6776372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7"/>
                        </a:rPr>
                        <a:t>Python frozenset()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immutable frozenset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0478842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8"/>
                        </a:rPr>
                        <a:t>Python getattr()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Access the attribute value of an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0762692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9"/>
                        </a:rPr>
                        <a:t>Python globals()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dictionary of the current global symbol table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32848444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0"/>
                        </a:rPr>
                        <a:t>Python hasattr()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 if an object has the given named attribute and return true if present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794274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1"/>
                        </a:rPr>
                        <a:t>Python hash()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Encode the data into an unrecognizable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58199423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2"/>
                        </a:rPr>
                        <a:t>Python help()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Display the documentation of modules, functions, classes, keywords, etc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1373193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3"/>
                        </a:rPr>
                        <a:t>Python hex()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 integer number into its corresponding hexadecimal form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034938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4"/>
                        </a:rPr>
                        <a:t>Python id()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identity of an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155199222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5"/>
                        </a:rPr>
                        <a:t>Python input()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Take input from the user as a string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140296997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6"/>
                        </a:rPr>
                        <a:t>Python 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number in a given base to decimal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22658527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7"/>
                        </a:rPr>
                        <a:t>Python isinstance()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Checks if the objects belong to a certain class or not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816691639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8"/>
                        </a:rPr>
                        <a:t>Python issubclass()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 if a class is a subclass of another class or not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512857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9"/>
                        </a:rPr>
                        <a:t>Python iter()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 iterable to an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976030758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0"/>
                        </a:rPr>
                        <a:t>Python len()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length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499439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1"/>
                        </a:rPr>
                        <a:t>Python list()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list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7355279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2"/>
                        </a:rPr>
                        <a:t>Python locals()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dictionary of the current local symbol table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2612294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3"/>
                        </a:rPr>
                        <a:t>Python map()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map object(which is an iterator) of the results after applying the given function to each item of a given iterable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38124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4"/>
                        </a:rPr>
                        <a:t>Python max()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largest item in an iterable or the largest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53776316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5"/>
                        </a:rPr>
                        <a:t>Python memoryview()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memory view of an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17313088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6"/>
                        </a:rPr>
                        <a:t>Python min()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smallest item in an iterable or the smallest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2233752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7"/>
                        </a:rPr>
                        <a:t>Python next()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Receives the next item from the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29355335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8"/>
                        </a:rPr>
                        <a:t>Python object()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new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64155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9"/>
                        </a:rPr>
                        <a:t>Python oct()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octal representation of an integer in a string format.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5730315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0"/>
                        </a:rPr>
                        <a:t>Python open()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Open a file and return its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2164292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1"/>
                        </a:rPr>
                        <a:t>Python ord()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Unicode equivalence of the passed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8028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2"/>
                        </a:rPr>
                        <a:t>Python pow()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Compute the power of a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70743236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3"/>
                        </a:rPr>
                        <a:t>Python print()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Print output to the console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841336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4"/>
                        </a:rPr>
                        <a:t>Python property()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 a property of a 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9431821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5"/>
                        </a:rPr>
                        <a:t>Python range()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Generate a sequence of numbers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16570901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6"/>
                        </a:rPr>
                        <a:t>Python repr()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printable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962820249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7"/>
                        </a:rPr>
                        <a:t>Python reversed()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iterator that accesses the given sequence in the reverse order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7711222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8"/>
                        </a:rPr>
                        <a:t>Python round()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Rounds off to the given number of digits and returns the floating-point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51289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9"/>
                        </a:rPr>
                        <a:t>Python 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any of the iterable to a sequence of iterable elements with distinct elements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89871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0"/>
                        </a:rPr>
                        <a:t>Python setattr()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Assign the object attribute its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983499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1"/>
                        </a:rPr>
                        <a:t>Python slice()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slice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250888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2"/>
                        </a:rPr>
                        <a:t>Python sorted()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list with the elements in a sorted manner, without modifying the original sequence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025602824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3"/>
                        </a:rPr>
                        <a:t>Python staticmethod()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message into the static message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16398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4"/>
                        </a:rPr>
                        <a:t>Python str()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string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9236771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5"/>
                        </a:rPr>
                        <a:t>Python sum()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Sums up the numbers in the list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109590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6"/>
                        </a:rPr>
                        <a:t>Python super()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temporary object of the superclass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2198660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7"/>
                        </a:rPr>
                        <a:t>Python tuple()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tuple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142566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8"/>
                        </a:rPr>
                        <a:t>Python type()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type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236917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9"/>
                        </a:rPr>
                        <a:t>Python vars()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__dict__ attribute for a module, class, instance, or any other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5019946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0"/>
                        </a:rPr>
                        <a:t>Python zip()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Maps the similar index of multiple containers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4579029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1"/>
                        </a:rPr>
                        <a:t>Python __import__()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Imports the module during runtime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851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92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83A1-E7B8-F0EB-5C5C-D127CBB4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0A70-C57F-E083-365F-8B1000B4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8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0ECE08-2046-8093-545B-BEE500E55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261539"/>
              </p:ext>
            </p:extLst>
          </p:nvPr>
        </p:nvGraphicFramePr>
        <p:xfrm>
          <a:off x="838199" y="365125"/>
          <a:ext cx="10515598" cy="18315729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77242">
                  <a:extLst>
                    <a:ext uri="{9D8B030D-6E8A-4147-A177-3AD203B41FA5}">
                      <a16:colId xmlns:a16="http://schemas.microsoft.com/office/drawing/2014/main" val="4245033778"/>
                    </a:ext>
                  </a:extLst>
                </a:gridCol>
                <a:gridCol w="3006070">
                  <a:extLst>
                    <a:ext uri="{9D8B030D-6E8A-4147-A177-3AD203B41FA5}">
                      <a16:colId xmlns:a16="http://schemas.microsoft.com/office/drawing/2014/main" val="2776629158"/>
                    </a:ext>
                  </a:extLst>
                </a:gridCol>
                <a:gridCol w="6932286">
                  <a:extLst>
                    <a:ext uri="{9D8B030D-6E8A-4147-A177-3AD203B41FA5}">
                      <a16:colId xmlns:a16="http://schemas.microsoft.com/office/drawing/2014/main" val="498073088"/>
                    </a:ext>
                  </a:extLst>
                </a:gridCol>
              </a:tblGrid>
              <a:tr h="17406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Sn.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Function Name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8162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"/>
                        </a:rPr>
                        <a:t>Python format()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Formats a specified value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6776372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"/>
                        </a:rPr>
                        <a:t>Python frozenset()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immutable frozenset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0478842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"/>
                        </a:rPr>
                        <a:t>Python getattr()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Access the attribute value of an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0762692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"/>
                        </a:rPr>
                        <a:t>Python globals()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dictionary of the current global symbol table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32848444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"/>
                        </a:rPr>
                        <a:t>Python hasattr()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 if an object has the given named attribute and return true if present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794274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7"/>
                        </a:rPr>
                        <a:t>Python hash()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Encode the data into an unrecognizable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58199423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8"/>
                        </a:rPr>
                        <a:t>Python help()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Display the documentation of modules, functions, classes, keywords, etc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1373193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9"/>
                        </a:rPr>
                        <a:t>Python hex()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 integer number into its corresponding hexadecimal form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034938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0"/>
                        </a:rPr>
                        <a:t>Python id()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identity of an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155199222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1"/>
                        </a:rPr>
                        <a:t>Python input()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Take input from the user as a string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140296997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2"/>
                        </a:rPr>
                        <a:t>Python 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number in a given base to decimal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22658527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3"/>
                        </a:rPr>
                        <a:t>Python isinstance()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Checks if the objects belong to a certain class or not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816691639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4"/>
                        </a:rPr>
                        <a:t>Python issubclass()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Check if a class is a subclass of another class or not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512857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5"/>
                        </a:rPr>
                        <a:t>Python iter()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 iterable to an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976030758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6"/>
                        </a:rPr>
                        <a:t>Python len()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length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499439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7"/>
                        </a:rPr>
                        <a:t>Python list()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list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7355279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8"/>
                        </a:rPr>
                        <a:t>Python locals()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dictionary of the current local symbol table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2612294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9"/>
                        </a:rPr>
                        <a:t>Python map()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map object(which is an iterator) of the results after applying the given function to each item of a given iterable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38124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0"/>
                        </a:rPr>
                        <a:t>Python max()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largest item in an iterable or the largest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53776316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1"/>
                        </a:rPr>
                        <a:t>Python memoryview()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memory view of an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17313088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2"/>
                        </a:rPr>
                        <a:t>Python min()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smallest item in an iterable or the smallest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2233752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3"/>
                        </a:rPr>
                        <a:t>Python next()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Receives the next item from the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29355335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4"/>
                        </a:rPr>
                        <a:t>Python object()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new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64155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5"/>
                        </a:rPr>
                        <a:t>Python oct()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octal representation of an integer in a string format.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5730315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6"/>
                        </a:rPr>
                        <a:t>Python open()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Open a file and return its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2164292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7"/>
                        </a:rPr>
                        <a:t>Python ord()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Unicode equivalence of the passed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8028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8"/>
                        </a:rPr>
                        <a:t>Python pow()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Compute the power of a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70743236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9"/>
                        </a:rPr>
                        <a:t>Python print()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Print output to the console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841336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0"/>
                        </a:rPr>
                        <a:t>Python property()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 a property of a 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9431821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1"/>
                        </a:rPr>
                        <a:t>Python range()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Generate a sequence of numbers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16570901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2"/>
                        </a:rPr>
                        <a:t>Python repr()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printable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962820249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3"/>
                        </a:rPr>
                        <a:t>Python reversed()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iterator that accesses the given sequence in the reverse order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7711222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4"/>
                        </a:rPr>
                        <a:t>Python round()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Rounds off to the given number of digits and returns the floating-point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51289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5"/>
                        </a:rPr>
                        <a:t>Python 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any of the iterable to a sequence of iterable elements with distinct elements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89871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6"/>
                        </a:rPr>
                        <a:t>Python setattr()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Assign the object attribute its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983499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7"/>
                        </a:rPr>
                        <a:t>Python slice()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slice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250888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8"/>
                        </a:rPr>
                        <a:t>Python sorted()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list with the elements in a sorted manner, without modifying the original sequence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025602824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9"/>
                        </a:rPr>
                        <a:t>Python staticmethod()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message into the static message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16398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0"/>
                        </a:rPr>
                        <a:t>Python str()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string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9236771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1"/>
                        </a:rPr>
                        <a:t>Python sum()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Sums up the numbers in the list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109590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2"/>
                        </a:rPr>
                        <a:t>Python super()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temporary object of the superclass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2198660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3"/>
                        </a:rPr>
                        <a:t>Python tuple()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tuple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142566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4"/>
                        </a:rPr>
                        <a:t>Python type()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type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236917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5"/>
                        </a:rPr>
                        <a:t>Python vars()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__dict__ attribute for a module, class, instance, or any other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5019946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6"/>
                        </a:rPr>
                        <a:t>Python zip()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Maps the similar index of multiple containers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4579029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7"/>
                        </a:rPr>
                        <a:t>Python __import__()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Imports the module during runtime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851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1624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8327-2E18-E20A-524F-E9DC06C4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CF5A-BCE0-8ED9-8AAB-8A8C4744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8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0ADA0A-AEED-DDC9-7898-5BA6144278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520989"/>
              </p:ext>
            </p:extLst>
          </p:nvPr>
        </p:nvGraphicFramePr>
        <p:xfrm>
          <a:off x="838199" y="365125"/>
          <a:ext cx="10515598" cy="1218765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77242">
                  <a:extLst>
                    <a:ext uri="{9D8B030D-6E8A-4147-A177-3AD203B41FA5}">
                      <a16:colId xmlns:a16="http://schemas.microsoft.com/office/drawing/2014/main" val="4245033778"/>
                    </a:ext>
                  </a:extLst>
                </a:gridCol>
                <a:gridCol w="3006070">
                  <a:extLst>
                    <a:ext uri="{9D8B030D-6E8A-4147-A177-3AD203B41FA5}">
                      <a16:colId xmlns:a16="http://schemas.microsoft.com/office/drawing/2014/main" val="2776629158"/>
                    </a:ext>
                  </a:extLst>
                </a:gridCol>
                <a:gridCol w="6932286">
                  <a:extLst>
                    <a:ext uri="{9D8B030D-6E8A-4147-A177-3AD203B41FA5}">
                      <a16:colId xmlns:a16="http://schemas.microsoft.com/office/drawing/2014/main" val="498073088"/>
                    </a:ext>
                  </a:extLst>
                </a:gridCol>
              </a:tblGrid>
              <a:tr h="17406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Sn.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Function Name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8162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"/>
                        </a:rPr>
                        <a:t>Python map()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Returns a map object(which is an iterator) of the results after applying the given function to each item of a given </a:t>
                      </a:r>
                      <a:r>
                        <a:rPr lang="en-IN" sz="2000" u="none" strike="noStrike" dirty="0" err="1">
                          <a:effectLst/>
                        </a:rPr>
                        <a:t>iterable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38124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"/>
                        </a:rPr>
                        <a:t>Python max()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largest item in an iterable or the largest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53776316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"/>
                        </a:rPr>
                        <a:t>Python memoryview()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memory view of an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17313088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"/>
                        </a:rPr>
                        <a:t>Python min()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smallest item in an iterable or the smallest of two or more arguments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2233752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"/>
                        </a:rPr>
                        <a:t>Python next()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Receives the next item from the iterator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29355335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7"/>
                        </a:rPr>
                        <a:t>Python object()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new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564155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8"/>
                        </a:rPr>
                        <a:t>Python oct()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octal representation of an integer in a string format.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5730315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9"/>
                        </a:rPr>
                        <a:t>Python open()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Open a file and return its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2164292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0"/>
                        </a:rPr>
                        <a:t>Python ord()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Unicode equivalence of the passed argument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68028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1"/>
                        </a:rPr>
                        <a:t>Python pow()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Compute the power of a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70743236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2"/>
                        </a:rPr>
                        <a:t>Python print()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Print output to the console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6841336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3"/>
                        </a:rPr>
                        <a:t>Python property()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 a property of a 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094318215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4"/>
                        </a:rPr>
                        <a:t>Python range()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Generate a sequence of numbers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16570901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5"/>
                        </a:rPr>
                        <a:t>Python repr()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 the printable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962820249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6"/>
                        </a:rPr>
                        <a:t>Python reversed()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an iterator that accesses the given sequence in the reverse order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77112227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7"/>
                        </a:rPr>
                        <a:t>Python round()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Rounds off to the given number of digits and returns the floating-point number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51289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8"/>
                        </a:rPr>
                        <a:t>Python 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any of the iterable to a sequence of iterable elements with distinct elements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89871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9"/>
                        </a:rPr>
                        <a:t>Python setattr()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Assign the object attribute its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983499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0"/>
                        </a:rPr>
                        <a:t>Python slice()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slice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250888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1"/>
                        </a:rPr>
                        <a:t>Python sorted()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list with the elements in a sorted manner, without modifying the original sequence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025602824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2"/>
                        </a:rPr>
                        <a:t>Python staticmethod()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message into the static message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16398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3"/>
                        </a:rPr>
                        <a:t>Python str()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string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9236771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4"/>
                        </a:rPr>
                        <a:t>Python sum()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Sums up the numbers in the list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109590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5"/>
                        </a:rPr>
                        <a:t>Python super()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temporary object of the superclass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2198660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6"/>
                        </a:rPr>
                        <a:t>Python tuple()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tuple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142566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7"/>
                        </a:rPr>
                        <a:t>Python type()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type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236917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8"/>
                        </a:rPr>
                        <a:t>Python vars()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__dict__ attribute for a module, class, instance, or any other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5019946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9"/>
                        </a:rPr>
                        <a:t>Python zip()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Maps the similar index of multiple containers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4579029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endParaRPr lang="en-IN" sz="18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0"/>
                        </a:rPr>
                        <a:t>Python __import__()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Imports the module during runtime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851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5680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FE957-FE20-81E2-4C13-8F9BD6A0C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E742-8B0E-93E6-1FFD-A85D0542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80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A51D5A-D1A2-C26C-1ECA-8794304A4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698201"/>
              </p:ext>
            </p:extLst>
          </p:nvPr>
        </p:nvGraphicFramePr>
        <p:xfrm>
          <a:off x="838199" y="365125"/>
          <a:ext cx="10515598" cy="612430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77242">
                  <a:extLst>
                    <a:ext uri="{9D8B030D-6E8A-4147-A177-3AD203B41FA5}">
                      <a16:colId xmlns:a16="http://schemas.microsoft.com/office/drawing/2014/main" val="4245033778"/>
                    </a:ext>
                  </a:extLst>
                </a:gridCol>
                <a:gridCol w="3006070">
                  <a:extLst>
                    <a:ext uri="{9D8B030D-6E8A-4147-A177-3AD203B41FA5}">
                      <a16:colId xmlns:a16="http://schemas.microsoft.com/office/drawing/2014/main" val="2776629158"/>
                    </a:ext>
                  </a:extLst>
                </a:gridCol>
                <a:gridCol w="6932286">
                  <a:extLst>
                    <a:ext uri="{9D8B030D-6E8A-4147-A177-3AD203B41FA5}">
                      <a16:colId xmlns:a16="http://schemas.microsoft.com/office/drawing/2014/main" val="498073088"/>
                    </a:ext>
                  </a:extLst>
                </a:gridCol>
              </a:tblGrid>
              <a:tr h="174062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i="0" u="none" strike="noStrike" dirty="0">
                          <a:solidFill>
                            <a:srgbClr val="273239"/>
                          </a:solidFill>
                          <a:effectLst/>
                          <a:latin typeface="Arial" panose="020B0604020202020204" pitchFamily="34" charset="0"/>
                        </a:rPr>
                        <a:t>Sn.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Function Name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u="none" strike="noStrike">
                          <a:effectLst/>
                        </a:rPr>
                        <a:t>Description</a:t>
                      </a:r>
                      <a:endParaRPr lang="en-IN" sz="2400" b="1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816245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2"/>
                        </a:rPr>
                        <a:t>Python round()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Rounds off to the given number of digits and returns the floating-point number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51289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3"/>
                        </a:rPr>
                        <a:t>Python set()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 any of the iterable to a sequence of iterable elements with distinct elements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689871234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4"/>
                        </a:rPr>
                        <a:t>Python setattr()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Assign the object attribute its value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11983499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5"/>
                        </a:rPr>
                        <a:t>Python slice()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slice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25088830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6"/>
                        </a:rPr>
                        <a:t>Python sorted()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list with the elements in a sorted manner, without modifying the original sequence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025602824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7"/>
                        </a:rPr>
                        <a:t>Python staticmethod()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Converts a message into the static message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441639826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8"/>
                        </a:rPr>
                        <a:t>Python str()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string version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4292367711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9"/>
                        </a:rPr>
                        <a:t>Python sum()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Sums up the numbers in the list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01095909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0"/>
                        </a:rPr>
                        <a:t>Python super()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a temporary object of the superclass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1219866050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1"/>
                        </a:rPr>
                        <a:t>Python tuple()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Creates a tuple in Python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142566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2"/>
                        </a:rPr>
                        <a:t>Python type()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type of the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323691739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3"/>
                        </a:rPr>
                        <a:t>Python vars()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Returns the __dict__ attribute for a module, class, instance, or any other object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850199463"/>
                  </a:ext>
                </a:extLst>
              </a:tr>
              <a:tr h="77803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4"/>
                        </a:rPr>
                        <a:t>Python zip()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>
                          <a:effectLst/>
                        </a:rPr>
                        <a:t>Maps the similar index of multiple containers</a:t>
                      </a:r>
                      <a:endParaRPr lang="en-IN" sz="2000" b="0" i="0" u="none" strike="noStrike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2845790290"/>
                  </a:ext>
                </a:extLst>
              </a:tr>
              <a:tr h="9601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sng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sng" strike="noStrike">
                          <a:effectLst/>
                          <a:hlinkClick r:id="rId15"/>
                        </a:rPr>
                        <a:t>Python __import__() Function</a:t>
                      </a:r>
                      <a:endParaRPr lang="en-IN" sz="1800" b="0" i="0" u="sng" strike="noStrike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87" marR="1887" marT="188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effectLst/>
                        </a:rPr>
                        <a:t>Imports the module during runtime</a:t>
                      </a:r>
                      <a:endParaRPr lang="en-IN" sz="2000" b="0" i="0" u="none" strike="noStrike" dirty="0">
                        <a:solidFill>
                          <a:srgbClr val="27323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87" marR="1887" marT="1887" marB="0" anchor="b"/>
                </a:tc>
                <a:extLst>
                  <a:ext uri="{0D108BD9-81ED-4DB2-BD59-A6C34878D82A}">
                    <a16:rowId xmlns:a16="http://schemas.microsoft.com/office/drawing/2014/main" val="398515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5370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4B35-C1FB-B0D9-D68C-3FB93254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a number </a:t>
            </a:r>
            <a:r>
              <a:rPr lang="en-US"/>
              <a:t>using Recursing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1926-06D4-8638-50AD-1D41120E9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revN</a:t>
            </a:r>
            <a:r>
              <a:rPr lang="en-US" dirty="0"/>
              <a:t>(n, </a:t>
            </a:r>
            <a:r>
              <a:rPr lang="en-US" dirty="0" err="1"/>
              <a:t>nn</a:t>
            </a:r>
            <a:r>
              <a:rPr lang="en-US" dirty="0"/>
              <a:t>):</a:t>
            </a:r>
          </a:p>
          <a:p>
            <a:r>
              <a:rPr lang="en-US" dirty="0"/>
              <a:t>    if n==0:</a:t>
            </a:r>
          </a:p>
          <a:p>
            <a:r>
              <a:rPr lang="en-US" dirty="0"/>
              <a:t>        return </a:t>
            </a:r>
            <a:r>
              <a:rPr lang="en-US" dirty="0" err="1"/>
              <a:t>nn</a:t>
            </a:r>
            <a:endParaRPr lang="en-US" dirty="0"/>
          </a:p>
          <a:p>
            <a:r>
              <a:rPr lang="en-US" dirty="0"/>
              <a:t>    r = n%10</a:t>
            </a:r>
          </a:p>
          <a:p>
            <a:r>
              <a:rPr lang="en-US" dirty="0"/>
              <a:t>    </a:t>
            </a:r>
            <a:r>
              <a:rPr lang="en-US" dirty="0" err="1"/>
              <a:t>nn</a:t>
            </a:r>
            <a:r>
              <a:rPr lang="en-US" dirty="0"/>
              <a:t> = </a:t>
            </a:r>
            <a:r>
              <a:rPr lang="en-US" dirty="0" err="1"/>
              <a:t>nn</a:t>
            </a:r>
            <a:r>
              <a:rPr lang="en-US" dirty="0"/>
              <a:t> * 10 + r</a:t>
            </a:r>
          </a:p>
          <a:p>
            <a:r>
              <a:rPr lang="en-US" dirty="0"/>
              <a:t>    return </a:t>
            </a:r>
            <a:r>
              <a:rPr lang="en-US" dirty="0" err="1"/>
              <a:t>revN</a:t>
            </a:r>
            <a:r>
              <a:rPr lang="en-US" dirty="0"/>
              <a:t>(n//10, </a:t>
            </a:r>
            <a:r>
              <a:rPr lang="en-US" dirty="0" err="1"/>
              <a:t>nn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print("Reverse: ", </a:t>
            </a:r>
            <a:r>
              <a:rPr lang="en-US" dirty="0" err="1"/>
              <a:t>revN</a:t>
            </a:r>
            <a:r>
              <a:rPr lang="en-US" dirty="0"/>
              <a:t>(12345, 0))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1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4854</Words>
  <Application>Microsoft Macintosh PowerPoint</Application>
  <PresentationFormat>Widescreen</PresentationFormat>
  <Paragraphs>731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Aptos</vt:lpstr>
      <vt:lpstr>Aptos Display</vt:lpstr>
      <vt:lpstr>Arial</vt:lpstr>
      <vt:lpstr>Calibri</vt:lpstr>
      <vt:lpstr>euclid_circular_a</vt:lpstr>
      <vt:lpstr>Google Sans</vt:lpstr>
      <vt:lpstr>Nunito</vt:lpstr>
      <vt:lpstr>Roboto</vt:lpstr>
      <vt:lpstr>Studio-Feixen-Sans</vt:lpstr>
      <vt:lpstr>Office Theme</vt:lpstr>
      <vt:lpstr>PythonDS-13 Functions</vt:lpstr>
      <vt:lpstr>Function</vt:lpstr>
      <vt:lpstr>Benefits of Using Functions</vt:lpstr>
      <vt:lpstr>Function </vt:lpstr>
      <vt:lpstr>Return Statement in Function</vt:lpstr>
      <vt:lpstr>PowerPoint Presentation</vt:lpstr>
      <vt:lpstr>PowerPoint Presentation</vt:lpstr>
      <vt:lpstr>Calling a Function</vt:lpstr>
      <vt:lpstr>PowerPoint Presentation</vt:lpstr>
      <vt:lpstr>Function Arguments and Parameters</vt:lpstr>
      <vt:lpstr>PowerPoint Presentation</vt:lpstr>
      <vt:lpstr>PowerPoint Presentation</vt:lpstr>
      <vt:lpstr>Function Argument</vt:lpstr>
      <vt:lpstr>Function Argument with Default Values</vt:lpstr>
      <vt:lpstr>Python Keyword Argument</vt:lpstr>
      <vt:lpstr>Positional Arguments</vt:lpstr>
      <vt:lpstr>Python Function With Arbitrary Arguments</vt:lpstr>
      <vt:lpstr>PowerPoint Presentation</vt:lpstr>
      <vt:lpstr>Function within Functions (Neste Function)</vt:lpstr>
      <vt:lpstr>Accessing Variables from the Enclosing Function (Nested function)</vt:lpstr>
      <vt:lpstr>Creating Closures (Nested Function)</vt:lpstr>
      <vt:lpstr>Using Nested Functions for Encapsulation</vt:lpstr>
      <vt:lpstr>Anonymous Functions</vt:lpstr>
      <vt:lpstr>Higher-Order Functions</vt:lpstr>
      <vt:lpstr>Generator Functions</vt:lpstr>
      <vt:lpstr>Pass by Reference and Pass by Value</vt:lpstr>
      <vt:lpstr>PowerPoint Presentation</vt:lpstr>
      <vt:lpstr>Recursive Functions</vt:lpstr>
      <vt:lpstr>Returning a Value</vt:lpstr>
      <vt:lpstr>Returning Multiple Values</vt:lpstr>
      <vt:lpstr>Returning a List</vt:lpstr>
      <vt:lpstr>Returning Early</vt:lpstr>
      <vt:lpstr>The pass Statement</vt:lpstr>
      <vt:lpstr>PowerPoint Presentation</vt:lpstr>
      <vt:lpstr>PowerPoint Presentation</vt:lpstr>
      <vt:lpstr>PowerPoint Presentation</vt:lpstr>
      <vt:lpstr>PowerPoint Presentation</vt:lpstr>
      <vt:lpstr>abs()</vt:lpstr>
      <vt:lpstr>PowerPoint Presentation</vt:lpstr>
      <vt:lpstr>False Values and Truth Values:</vt:lpstr>
      <vt:lpstr>PowerPoint Presentation</vt:lpstr>
      <vt:lpstr>bytes()</vt:lpstr>
      <vt:lpstr>Built-in function: len() Function</vt:lpstr>
      <vt:lpstr>Built-in: max() and min() Functions</vt:lpstr>
      <vt:lpstr>Built-in: ‘sum()’ Function</vt:lpstr>
      <vt:lpstr>Built-in: ‘sorted()’ Function</vt:lpstr>
      <vt:lpstr>Built-in: ‘abs()’ Function</vt:lpstr>
      <vt:lpstr>Built-in: ‘round()’ Function</vt:lpstr>
      <vt:lpstr>Built-in: ‘enumerate()’ Function</vt:lpstr>
      <vt:lpstr>Built-in: ‘zip()’ Function</vt:lpstr>
      <vt:lpstr>Built-in: map()’ Function</vt:lpstr>
      <vt:lpstr>Built-in: ‘filter()’ Function</vt:lpstr>
      <vt:lpstr>PowerPoint Presentation</vt:lpstr>
      <vt:lpstr>PowerPoint Presentation</vt:lpstr>
      <vt:lpstr>PowerPoint Presentation</vt:lpstr>
      <vt:lpstr>PowerPoint Presentation</vt:lpstr>
      <vt:lpstr>Reverse a number using Recursing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181</cp:revision>
  <dcterms:created xsi:type="dcterms:W3CDTF">2026-01-15T04:12:31Z</dcterms:created>
  <dcterms:modified xsi:type="dcterms:W3CDTF">2026-02-19T13:25:22Z</dcterms:modified>
</cp:coreProperties>
</file>