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74" r:id="rId7"/>
    <p:sldId id="275" r:id="rId8"/>
    <p:sldId id="276" r:id="rId9"/>
    <p:sldId id="277" r:id="rId10"/>
    <p:sldId id="278" r:id="rId11"/>
    <p:sldId id="279" r:id="rId12"/>
    <p:sldId id="261" r:id="rId13"/>
    <p:sldId id="263" r:id="rId14"/>
    <p:sldId id="262" r:id="rId15"/>
    <p:sldId id="264" r:id="rId16"/>
    <p:sldId id="265" r:id="rId17"/>
    <p:sldId id="266" r:id="rId18"/>
    <p:sldId id="267" r:id="rId19"/>
    <p:sldId id="268" r:id="rId20"/>
    <p:sldId id="269" r:id="rId21"/>
    <p:sldId id="270" r:id="rId22"/>
    <p:sldId id="271" r:id="rId23"/>
    <p:sldId id="272" r:id="rId24"/>
    <p:sldId id="273"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4476"/>
  </p:normalViewPr>
  <p:slideViewPr>
    <p:cSldViewPr snapToGrid="0">
      <p:cViewPr varScale="1">
        <p:scale>
          <a:sx n="84" d="100"/>
          <a:sy n="84" d="100"/>
        </p:scale>
        <p:origin x="1104"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C3DA9-E962-4670-597E-4C9CD6E41295}"/>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488A4FBF-5D81-57BE-89DE-B6FA9BF84A3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D41C1BF3-77AA-DB2E-1DF0-59825E936C91}"/>
              </a:ext>
            </a:extLst>
          </p:cNvPr>
          <p:cNvSpPr>
            <a:spLocks noGrp="1"/>
          </p:cNvSpPr>
          <p:nvPr>
            <p:ph type="dt" sz="half" idx="10"/>
          </p:nvPr>
        </p:nvSpPr>
        <p:spPr/>
        <p:txBody>
          <a:bodyPr/>
          <a:lstStyle/>
          <a:p>
            <a:fld id="{A0723D25-A2BC-274F-A813-3B06A34CD740}" type="datetimeFigureOut">
              <a:rPr lang="en-US" smtClean="0"/>
              <a:t>3/30/26</a:t>
            </a:fld>
            <a:endParaRPr lang="en-US"/>
          </a:p>
        </p:txBody>
      </p:sp>
      <p:sp>
        <p:nvSpPr>
          <p:cNvPr id="5" name="Footer Placeholder 4">
            <a:extLst>
              <a:ext uri="{FF2B5EF4-FFF2-40B4-BE49-F238E27FC236}">
                <a16:creationId xmlns:a16="http://schemas.microsoft.com/office/drawing/2014/main" id="{CE3CE1A2-B778-3FDB-D880-08BE937EC8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408238-AAA3-EB3D-2030-44EF2A379977}"/>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4514215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E67AC-4F97-8FBD-F886-632779C39B3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F62DEEFE-F85E-366F-23C8-D0A0CF0DE757}"/>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205F2CC-507C-6795-51B2-16D8369183A2}"/>
              </a:ext>
            </a:extLst>
          </p:cNvPr>
          <p:cNvSpPr>
            <a:spLocks noGrp="1"/>
          </p:cNvSpPr>
          <p:nvPr>
            <p:ph type="dt" sz="half" idx="10"/>
          </p:nvPr>
        </p:nvSpPr>
        <p:spPr/>
        <p:txBody>
          <a:bodyPr/>
          <a:lstStyle/>
          <a:p>
            <a:fld id="{A0723D25-A2BC-274F-A813-3B06A34CD740}" type="datetimeFigureOut">
              <a:rPr lang="en-US" smtClean="0"/>
              <a:t>3/30/26</a:t>
            </a:fld>
            <a:endParaRPr lang="en-US"/>
          </a:p>
        </p:txBody>
      </p:sp>
      <p:sp>
        <p:nvSpPr>
          <p:cNvPr id="5" name="Footer Placeholder 4">
            <a:extLst>
              <a:ext uri="{FF2B5EF4-FFF2-40B4-BE49-F238E27FC236}">
                <a16:creationId xmlns:a16="http://schemas.microsoft.com/office/drawing/2014/main" id="{30FB82C6-AB76-B50D-7079-FDBED2613A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178F90-9858-319E-2D9B-7BED7DF75667}"/>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5588952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A475C-D161-EE28-37F5-01CB65945DA7}"/>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5DB58EAF-9EA6-FAC9-DA83-5EE92332DB5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5E6AD692-8F1E-78AF-D6FB-97D1B99B1904}"/>
              </a:ext>
            </a:extLst>
          </p:cNvPr>
          <p:cNvSpPr>
            <a:spLocks noGrp="1"/>
          </p:cNvSpPr>
          <p:nvPr>
            <p:ph type="dt" sz="half" idx="10"/>
          </p:nvPr>
        </p:nvSpPr>
        <p:spPr/>
        <p:txBody>
          <a:bodyPr/>
          <a:lstStyle/>
          <a:p>
            <a:fld id="{A0723D25-A2BC-274F-A813-3B06A34CD740}" type="datetimeFigureOut">
              <a:rPr lang="en-US" smtClean="0"/>
              <a:t>3/30/26</a:t>
            </a:fld>
            <a:endParaRPr lang="en-US"/>
          </a:p>
        </p:txBody>
      </p:sp>
      <p:sp>
        <p:nvSpPr>
          <p:cNvPr id="5" name="Footer Placeholder 4">
            <a:extLst>
              <a:ext uri="{FF2B5EF4-FFF2-40B4-BE49-F238E27FC236}">
                <a16:creationId xmlns:a16="http://schemas.microsoft.com/office/drawing/2014/main" id="{3DD4BDEE-322C-86FB-1990-5B38350155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36F1F5-8E08-10FB-70B6-3E0EE445BF80}"/>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22937718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AB37A-3FC4-9E76-E7FD-2835B53B9EB9}"/>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9E7647AC-F0F5-A131-8418-3C843D871C9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26D75A3F-F688-26A1-0A51-DE674F9FDFAF}"/>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0098B083-258B-212A-DEA0-7D0C49DAFA6B}"/>
              </a:ext>
            </a:extLst>
          </p:cNvPr>
          <p:cNvSpPr>
            <a:spLocks noGrp="1"/>
          </p:cNvSpPr>
          <p:nvPr>
            <p:ph type="dt" sz="half" idx="10"/>
          </p:nvPr>
        </p:nvSpPr>
        <p:spPr/>
        <p:txBody>
          <a:bodyPr/>
          <a:lstStyle/>
          <a:p>
            <a:fld id="{A0723D25-A2BC-274F-A813-3B06A34CD740}" type="datetimeFigureOut">
              <a:rPr lang="en-US" smtClean="0"/>
              <a:t>3/30/26</a:t>
            </a:fld>
            <a:endParaRPr lang="en-US"/>
          </a:p>
        </p:txBody>
      </p:sp>
      <p:sp>
        <p:nvSpPr>
          <p:cNvPr id="6" name="Footer Placeholder 5">
            <a:extLst>
              <a:ext uri="{FF2B5EF4-FFF2-40B4-BE49-F238E27FC236}">
                <a16:creationId xmlns:a16="http://schemas.microsoft.com/office/drawing/2014/main" id="{CB592C50-0793-6A57-870E-22B7BD618CA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9D6423-EEDD-EBD2-1637-86B04459E903}"/>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33707065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B1BA5-617B-7CDB-72DD-34B6798B3B11}"/>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7C80CCF-7651-8CCF-9517-5870109B827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D4BCFD4-2E93-06B8-C482-0D21CC1EBEDC}"/>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7660270-A358-7E87-C238-0769FE0FBF9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8E7A0AE-4CFF-347C-E881-82620BD145B5}"/>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2B7C6E51-FCC1-52F4-C78F-B887C1FA308A}"/>
              </a:ext>
            </a:extLst>
          </p:cNvPr>
          <p:cNvSpPr>
            <a:spLocks noGrp="1"/>
          </p:cNvSpPr>
          <p:nvPr>
            <p:ph type="dt" sz="half" idx="10"/>
          </p:nvPr>
        </p:nvSpPr>
        <p:spPr/>
        <p:txBody>
          <a:bodyPr/>
          <a:lstStyle/>
          <a:p>
            <a:fld id="{A0723D25-A2BC-274F-A813-3B06A34CD740}" type="datetimeFigureOut">
              <a:rPr lang="en-US" smtClean="0"/>
              <a:t>3/30/26</a:t>
            </a:fld>
            <a:endParaRPr lang="en-US"/>
          </a:p>
        </p:txBody>
      </p:sp>
      <p:sp>
        <p:nvSpPr>
          <p:cNvPr id="8" name="Footer Placeholder 7">
            <a:extLst>
              <a:ext uri="{FF2B5EF4-FFF2-40B4-BE49-F238E27FC236}">
                <a16:creationId xmlns:a16="http://schemas.microsoft.com/office/drawing/2014/main" id="{BE576F17-2F94-52B2-6671-B20FA66ACE4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A1D5A75-636E-B0D0-E178-8EAFE094029B}"/>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38823236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BEFB98-7E1E-0B36-4C0F-D927C13AD65E}"/>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B8F3EE1B-ED62-BEF9-34E2-222A596BDF57}"/>
              </a:ext>
            </a:extLst>
          </p:cNvPr>
          <p:cNvSpPr>
            <a:spLocks noGrp="1"/>
          </p:cNvSpPr>
          <p:nvPr>
            <p:ph type="dt" sz="half" idx="10"/>
          </p:nvPr>
        </p:nvSpPr>
        <p:spPr/>
        <p:txBody>
          <a:bodyPr/>
          <a:lstStyle/>
          <a:p>
            <a:fld id="{A0723D25-A2BC-274F-A813-3B06A34CD740}" type="datetimeFigureOut">
              <a:rPr lang="en-US" smtClean="0"/>
              <a:t>3/30/26</a:t>
            </a:fld>
            <a:endParaRPr lang="en-US"/>
          </a:p>
        </p:txBody>
      </p:sp>
      <p:sp>
        <p:nvSpPr>
          <p:cNvPr id="4" name="Footer Placeholder 3">
            <a:extLst>
              <a:ext uri="{FF2B5EF4-FFF2-40B4-BE49-F238E27FC236}">
                <a16:creationId xmlns:a16="http://schemas.microsoft.com/office/drawing/2014/main" id="{DFF261D6-18DB-9A91-C126-DD2F5E2E454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1059ADF-81AA-2B42-2EBB-820240321765}"/>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8651066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1D2292-CA5F-4083-1A9A-EB2B58E19240}"/>
              </a:ext>
            </a:extLst>
          </p:cNvPr>
          <p:cNvSpPr>
            <a:spLocks noGrp="1"/>
          </p:cNvSpPr>
          <p:nvPr>
            <p:ph type="dt" sz="half" idx="10"/>
          </p:nvPr>
        </p:nvSpPr>
        <p:spPr/>
        <p:txBody>
          <a:bodyPr/>
          <a:lstStyle/>
          <a:p>
            <a:fld id="{A0723D25-A2BC-274F-A813-3B06A34CD740}" type="datetimeFigureOut">
              <a:rPr lang="en-US" smtClean="0"/>
              <a:t>3/30/26</a:t>
            </a:fld>
            <a:endParaRPr lang="en-US"/>
          </a:p>
        </p:txBody>
      </p:sp>
      <p:sp>
        <p:nvSpPr>
          <p:cNvPr id="3" name="Footer Placeholder 2">
            <a:extLst>
              <a:ext uri="{FF2B5EF4-FFF2-40B4-BE49-F238E27FC236}">
                <a16:creationId xmlns:a16="http://schemas.microsoft.com/office/drawing/2014/main" id="{8F12B3B1-82D6-97E3-D949-FFB7FA90F68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FC19118-D5E2-7F99-490E-D0B7E1DF8A4A}"/>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35913092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426D8-8282-46D6-DCD3-C429D78063D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D8A29B8B-7B37-8054-3412-78ED6298B2A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93CB76E-5538-EFF5-3840-3F95921DE9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C469B70-8065-08A4-BEA2-BEB45F6659CA}"/>
              </a:ext>
            </a:extLst>
          </p:cNvPr>
          <p:cNvSpPr>
            <a:spLocks noGrp="1"/>
          </p:cNvSpPr>
          <p:nvPr>
            <p:ph type="dt" sz="half" idx="10"/>
          </p:nvPr>
        </p:nvSpPr>
        <p:spPr/>
        <p:txBody>
          <a:bodyPr/>
          <a:lstStyle/>
          <a:p>
            <a:fld id="{A0723D25-A2BC-274F-A813-3B06A34CD740}" type="datetimeFigureOut">
              <a:rPr lang="en-US" smtClean="0"/>
              <a:t>3/30/26</a:t>
            </a:fld>
            <a:endParaRPr lang="en-US"/>
          </a:p>
        </p:txBody>
      </p:sp>
      <p:sp>
        <p:nvSpPr>
          <p:cNvPr id="6" name="Footer Placeholder 5">
            <a:extLst>
              <a:ext uri="{FF2B5EF4-FFF2-40B4-BE49-F238E27FC236}">
                <a16:creationId xmlns:a16="http://schemas.microsoft.com/office/drawing/2014/main" id="{0969013F-2801-2160-2F4C-4655787809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781CEC8-65E3-3969-42AC-F0ED6B13F508}"/>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26019369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61C37-17AA-33E3-0390-EA606A35818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B43312D-93EC-9C8A-CE05-8F6E26D5B7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D453B4D-6A39-F2C2-0AC5-90587FC973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42A5798-F966-6273-EF24-8C2072EB6630}"/>
              </a:ext>
            </a:extLst>
          </p:cNvPr>
          <p:cNvSpPr>
            <a:spLocks noGrp="1"/>
          </p:cNvSpPr>
          <p:nvPr>
            <p:ph type="dt" sz="half" idx="10"/>
          </p:nvPr>
        </p:nvSpPr>
        <p:spPr/>
        <p:txBody>
          <a:bodyPr/>
          <a:lstStyle/>
          <a:p>
            <a:fld id="{A0723D25-A2BC-274F-A813-3B06A34CD740}" type="datetimeFigureOut">
              <a:rPr lang="en-US" smtClean="0"/>
              <a:t>3/30/26</a:t>
            </a:fld>
            <a:endParaRPr lang="en-US"/>
          </a:p>
        </p:txBody>
      </p:sp>
      <p:sp>
        <p:nvSpPr>
          <p:cNvPr id="6" name="Footer Placeholder 5">
            <a:extLst>
              <a:ext uri="{FF2B5EF4-FFF2-40B4-BE49-F238E27FC236}">
                <a16:creationId xmlns:a16="http://schemas.microsoft.com/office/drawing/2014/main" id="{8FA438AC-0EF4-6EFF-7122-AA7AF380C6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B676E-8BCB-855E-469D-77726A6708B3}"/>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14725731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9BF2D-DC52-AB82-D456-A9F7669986C9}"/>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9D75B52E-7C17-9742-93F2-6FBCC7C9AF89}"/>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3F82469-B56D-D697-74FA-E8852CA9F19B}"/>
              </a:ext>
            </a:extLst>
          </p:cNvPr>
          <p:cNvSpPr>
            <a:spLocks noGrp="1"/>
          </p:cNvSpPr>
          <p:nvPr>
            <p:ph type="dt" sz="half" idx="10"/>
          </p:nvPr>
        </p:nvSpPr>
        <p:spPr/>
        <p:txBody>
          <a:bodyPr/>
          <a:lstStyle/>
          <a:p>
            <a:fld id="{A0723D25-A2BC-274F-A813-3B06A34CD740}" type="datetimeFigureOut">
              <a:rPr lang="en-US" smtClean="0"/>
              <a:t>3/30/26</a:t>
            </a:fld>
            <a:endParaRPr lang="en-US"/>
          </a:p>
        </p:txBody>
      </p:sp>
      <p:sp>
        <p:nvSpPr>
          <p:cNvPr id="5" name="Footer Placeholder 4">
            <a:extLst>
              <a:ext uri="{FF2B5EF4-FFF2-40B4-BE49-F238E27FC236}">
                <a16:creationId xmlns:a16="http://schemas.microsoft.com/office/drawing/2014/main" id="{BA63B3DD-0851-EDC4-7258-094C58713E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7433DF-7287-31EC-DC3D-5EF75C9DE25A}"/>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10668286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F312A4E-DB63-F42E-FEFE-81BF1DF702B3}"/>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DA05DC2C-31FB-BE5D-E312-3459A2BF676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1695E30-A15F-0592-C0C0-D84705897AB9}"/>
              </a:ext>
            </a:extLst>
          </p:cNvPr>
          <p:cNvSpPr>
            <a:spLocks noGrp="1"/>
          </p:cNvSpPr>
          <p:nvPr>
            <p:ph type="dt" sz="half" idx="10"/>
          </p:nvPr>
        </p:nvSpPr>
        <p:spPr/>
        <p:txBody>
          <a:bodyPr/>
          <a:lstStyle/>
          <a:p>
            <a:fld id="{A0723D25-A2BC-274F-A813-3B06A34CD740}" type="datetimeFigureOut">
              <a:rPr lang="en-US" smtClean="0"/>
              <a:t>3/30/26</a:t>
            </a:fld>
            <a:endParaRPr lang="en-US"/>
          </a:p>
        </p:txBody>
      </p:sp>
      <p:sp>
        <p:nvSpPr>
          <p:cNvPr id="5" name="Footer Placeholder 4">
            <a:extLst>
              <a:ext uri="{FF2B5EF4-FFF2-40B4-BE49-F238E27FC236}">
                <a16:creationId xmlns:a16="http://schemas.microsoft.com/office/drawing/2014/main" id="{2923656B-61F3-0BFE-4769-187DCA8F8D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A27752-34F9-D1E1-FF95-25144EC8A666}"/>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24978388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8CA833E-D2CB-6565-D916-D9A794C0DF1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4EEA88AD-984A-6993-4F53-7E5A4203130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222DD2F-4490-A570-F314-42C5AE24F83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0723D25-A2BC-274F-A813-3B06A34CD740}" type="datetimeFigureOut">
              <a:rPr lang="en-US" smtClean="0"/>
              <a:t>3/30/26</a:t>
            </a:fld>
            <a:endParaRPr lang="en-US"/>
          </a:p>
        </p:txBody>
      </p:sp>
      <p:sp>
        <p:nvSpPr>
          <p:cNvPr id="5" name="Footer Placeholder 4">
            <a:extLst>
              <a:ext uri="{FF2B5EF4-FFF2-40B4-BE49-F238E27FC236}">
                <a16:creationId xmlns:a16="http://schemas.microsoft.com/office/drawing/2014/main" id="{20975424-8CF4-072B-CAE3-58BD1727285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DE590F5-3CB3-DFF2-DE46-0A76F551A0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FE5FEBB-C89D-0C42-8AB8-154526A1FE25}" type="slidenum">
              <a:rPr lang="en-US" smtClean="0"/>
              <a:t>‹#›</a:t>
            </a:fld>
            <a:endParaRPr lang="en-US"/>
          </a:p>
        </p:txBody>
      </p:sp>
    </p:spTree>
    <p:extLst>
      <p:ext uri="{BB962C8B-B14F-4D97-AF65-F5344CB8AC3E}">
        <p14:creationId xmlns:p14="http://schemas.microsoft.com/office/powerpoint/2010/main" val="21208478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en.wikipedia.org/wiki/Two%27s_complement"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5040E-2D3D-6833-C463-92F398723407}"/>
              </a:ext>
            </a:extLst>
          </p:cNvPr>
          <p:cNvSpPr>
            <a:spLocks noGrp="1"/>
          </p:cNvSpPr>
          <p:nvPr>
            <p:ph type="ctrTitle"/>
          </p:nvPr>
        </p:nvSpPr>
        <p:spPr/>
        <p:txBody>
          <a:bodyPr/>
          <a:lstStyle/>
          <a:p>
            <a:r>
              <a:rPr lang="en-US" dirty="0"/>
              <a:t>DSA-19 Bit Manipulation</a:t>
            </a:r>
          </a:p>
        </p:txBody>
      </p:sp>
      <p:sp>
        <p:nvSpPr>
          <p:cNvPr id="3" name="Subtitle 2">
            <a:extLst>
              <a:ext uri="{FF2B5EF4-FFF2-40B4-BE49-F238E27FC236}">
                <a16:creationId xmlns:a16="http://schemas.microsoft.com/office/drawing/2014/main" id="{850E0D38-6295-EB40-A50D-CED5DB05B4BF}"/>
              </a:ext>
            </a:extLst>
          </p:cNvPr>
          <p:cNvSpPr>
            <a:spLocks noGrp="1"/>
          </p:cNvSpPr>
          <p:nvPr>
            <p:ph type="subTitle" idx="1"/>
          </p:nvPr>
        </p:nvSpPr>
        <p:spPr/>
        <p:txBody>
          <a:bodyPr>
            <a:normAutofit lnSpcReduction="10000"/>
          </a:bodyPr>
          <a:lstStyle/>
          <a:p>
            <a:r>
              <a:rPr lang="en-US" dirty="0"/>
              <a:t>Dr. Naveen Kumar</a:t>
            </a:r>
          </a:p>
          <a:p>
            <a:r>
              <a:rPr lang="en-US" dirty="0"/>
              <a:t>Associate Professor</a:t>
            </a:r>
          </a:p>
          <a:p>
            <a:r>
              <a:rPr lang="en-US" dirty="0"/>
              <a:t>Amity Institute of Information Technology</a:t>
            </a:r>
          </a:p>
          <a:p>
            <a:r>
              <a:rPr lang="en-US" dirty="0"/>
              <a:t>Amity University Patna</a:t>
            </a:r>
          </a:p>
        </p:txBody>
      </p:sp>
    </p:spTree>
    <p:extLst>
      <p:ext uri="{BB962C8B-B14F-4D97-AF65-F5344CB8AC3E}">
        <p14:creationId xmlns:p14="http://schemas.microsoft.com/office/powerpoint/2010/main" val="38194693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FE681-BFEC-70FA-2ECB-B033AFCAF46E}"/>
              </a:ext>
            </a:extLst>
          </p:cNvPr>
          <p:cNvSpPr>
            <a:spLocks noGrp="1"/>
          </p:cNvSpPr>
          <p:nvPr>
            <p:ph type="title"/>
          </p:nvPr>
        </p:nvSpPr>
        <p:spPr/>
        <p:txBody>
          <a:bodyPr>
            <a:normAutofit/>
          </a:bodyPr>
          <a:lstStyle/>
          <a:p>
            <a:r>
              <a:rPr lang="en-IN" b="0" i="0" dirty="0">
                <a:effectLst/>
                <a:latin typeface="Roboto" panose="02000000000000000000" pitchFamily="2" charset="0"/>
              </a:rPr>
              <a:t>Binary number</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4947E58-85D9-1E03-C9C7-520602B3293C}"/>
                  </a:ext>
                </a:extLst>
              </p:cNvPr>
              <p:cNvSpPr>
                <a:spLocks noGrp="1"/>
              </p:cNvSpPr>
              <p:nvPr>
                <p:ph idx="1"/>
              </p:nvPr>
            </p:nvSpPr>
            <p:spPr/>
            <p:txBody>
              <a:bodyPr>
                <a:normAutofit fontScale="92500"/>
              </a:bodyPr>
              <a:lstStyle/>
              <a:p>
                <a:pPr algn="l"/>
                <a:r>
                  <a:rPr lang="en-IN" b="0" i="0" dirty="0">
                    <a:effectLst/>
                    <a:latin typeface="Roboto" panose="02000000000000000000" pitchFamily="2" charset="0"/>
                  </a:rPr>
                  <a:t>A </a:t>
                </a:r>
                <a:r>
                  <a:rPr lang="en-IN" b="1" i="0" dirty="0">
                    <a:effectLst/>
                    <a:latin typeface="Roboto" panose="02000000000000000000" pitchFamily="2" charset="0"/>
                  </a:rPr>
                  <a:t>binary number</a:t>
                </a:r>
                <a:r>
                  <a:rPr lang="en-IN" b="0" i="0" dirty="0">
                    <a:effectLst/>
                    <a:latin typeface="Roboto" panose="02000000000000000000" pitchFamily="2" charset="0"/>
                  </a:rPr>
                  <a:t> is a number expressed in the base-2 numeral system or binary numeral system.</a:t>
                </a:r>
              </a:p>
              <a:p>
                <a:pPr algn="l"/>
                <a:r>
                  <a:rPr lang="en-IN" b="0" i="0" dirty="0">
                    <a:effectLst/>
                    <a:latin typeface="Roboto" panose="02000000000000000000" pitchFamily="2" charset="0"/>
                  </a:rPr>
                  <a:t>It is a method of mathematical expression which uses only two symbols: typically "0" (zero) and "1" (one).</a:t>
                </a:r>
              </a:p>
              <a:p>
                <a:pPr algn="l"/>
                <a:r>
                  <a:rPr lang="en-IN" b="0" i="0" dirty="0">
                    <a:effectLst/>
                    <a:latin typeface="Roboto" panose="02000000000000000000" pitchFamily="2" charset="0"/>
                  </a:rPr>
                  <a:t>We say that a certain bit is </a:t>
                </a:r>
                <a:r>
                  <a:rPr lang="en-IN" b="1" i="0" dirty="0">
                    <a:effectLst/>
                    <a:latin typeface="Roboto" panose="02000000000000000000" pitchFamily="2" charset="0"/>
                  </a:rPr>
                  <a:t>set</a:t>
                </a:r>
                <a:r>
                  <a:rPr lang="en-IN" b="0" i="0" dirty="0">
                    <a:effectLst/>
                    <a:latin typeface="Roboto" panose="02000000000000000000" pitchFamily="2" charset="0"/>
                  </a:rPr>
                  <a:t>, if it is one, and </a:t>
                </a:r>
                <a:r>
                  <a:rPr lang="en-IN" b="1" i="0" dirty="0">
                    <a:effectLst/>
                    <a:latin typeface="Roboto" panose="02000000000000000000" pitchFamily="2" charset="0"/>
                  </a:rPr>
                  <a:t>cleared</a:t>
                </a:r>
                <a:r>
                  <a:rPr lang="en-IN" b="0" i="0" dirty="0">
                    <a:effectLst/>
                    <a:latin typeface="Roboto" panose="02000000000000000000" pitchFamily="2" charset="0"/>
                  </a:rPr>
                  <a:t> if it is zero.</a:t>
                </a:r>
              </a:p>
              <a:p>
                <a:r>
                  <a:rPr lang="en-IN" b="0" i="0" dirty="0">
                    <a:effectLst/>
                    <a:latin typeface="Roboto" panose="02000000000000000000" pitchFamily="2" charset="0"/>
                  </a:rPr>
                  <a:t>The binary number (</a:t>
                </a:r>
                <a14:m>
                  <m:oMath xmlns:m="http://schemas.openxmlformats.org/officeDocument/2006/math">
                    <m:sSub>
                      <m:sSubPr>
                        <m:ctrlPr>
                          <a:rPr lang="en-IN" b="0" i="1" smtClean="0">
                            <a:effectLst/>
                            <a:latin typeface="Cambria Math" panose="02040503050406030204" pitchFamily="18" charset="0"/>
                          </a:rPr>
                        </m:ctrlPr>
                      </m:sSubPr>
                      <m:e>
                        <m:r>
                          <a:rPr lang="en-US" b="0" i="1" smtClean="0">
                            <a:effectLst/>
                            <a:latin typeface="Cambria Math" panose="02040503050406030204" pitchFamily="18" charset="0"/>
                          </a:rPr>
                          <m:t>𝑎</m:t>
                        </m:r>
                      </m:e>
                      <m:sub>
                        <m:r>
                          <a:rPr lang="en-US" b="0" i="1" smtClean="0">
                            <a:effectLst/>
                            <a:latin typeface="Cambria Math" panose="02040503050406030204" pitchFamily="18" charset="0"/>
                          </a:rPr>
                          <m:t>𝑘</m:t>
                        </m:r>
                      </m:sub>
                    </m:sSub>
                    <m:sSub>
                      <m:sSubPr>
                        <m:ctrlPr>
                          <a:rPr lang="en-IN"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𝑘</m:t>
                        </m:r>
                      </m:sub>
                    </m:sSub>
                  </m:oMath>
                </a14:m>
                <a:r>
                  <a:rPr lang="en-IN" b="0" i="0" dirty="0">
                    <a:effectLst/>
                    <a:latin typeface="Roboto" panose="02000000000000000000" pitchFamily="2" charset="0"/>
                  </a:rPr>
                  <a:t>…</a:t>
                </a:r>
                <a:r>
                  <a:rPr lang="en-IN" dirty="0"/>
                  <a:t> </a:t>
                </a:r>
                <a14:m>
                  <m:oMath xmlns:m="http://schemas.openxmlformats.org/officeDocument/2006/math">
                    <m:sSub>
                      <m:sSubPr>
                        <m:ctrlPr>
                          <a:rPr lang="en-IN" i="1">
                            <a:latin typeface="Cambria Math" panose="02040503050406030204" pitchFamily="18" charset="0"/>
                          </a:rPr>
                        </m:ctrlPr>
                      </m:sSubPr>
                      <m:e>
                        <m:r>
                          <a:rPr lang="en-US" i="1">
                            <a:latin typeface="Cambria Math" panose="02040503050406030204" pitchFamily="18" charset="0"/>
                          </a:rPr>
                          <m:t>𝑎</m:t>
                        </m:r>
                      </m:e>
                      <m:sub>
                        <m:r>
                          <a:rPr lang="en-US" b="0" i="1" smtClean="0">
                            <a:latin typeface="Cambria Math" panose="02040503050406030204" pitchFamily="18" charset="0"/>
                          </a:rPr>
                          <m:t>1</m:t>
                        </m:r>
                      </m:sub>
                    </m:sSub>
                    <m:r>
                      <a:rPr lang="en-US" i="1">
                        <a:latin typeface="Cambria Math" panose="02040503050406030204" pitchFamily="18" charset="0"/>
                      </a:rPr>
                      <m:t> </m:t>
                    </m:r>
                    <m:sSub>
                      <m:sSubPr>
                        <m:ctrlPr>
                          <a:rPr lang="en-IN" i="1">
                            <a:latin typeface="Cambria Math" panose="02040503050406030204" pitchFamily="18" charset="0"/>
                          </a:rPr>
                        </m:ctrlPr>
                      </m:sSubPr>
                      <m:e>
                        <m:r>
                          <a:rPr lang="en-US" i="1">
                            <a:latin typeface="Cambria Math" panose="02040503050406030204" pitchFamily="18" charset="0"/>
                          </a:rPr>
                          <m:t>𝑎</m:t>
                        </m:r>
                      </m:e>
                      <m:sub>
                        <m:r>
                          <a:rPr lang="en-US" b="0" i="1" smtClean="0">
                            <a:latin typeface="Cambria Math" panose="02040503050406030204" pitchFamily="18" charset="0"/>
                          </a:rPr>
                          <m:t>0</m:t>
                        </m:r>
                      </m:sub>
                    </m:sSub>
                  </m:oMath>
                </a14:m>
                <a:r>
                  <a:rPr lang="en-IN" b="0" i="0" dirty="0">
                    <a:effectLst/>
                    <a:latin typeface="Roboto" panose="02000000000000000000" pitchFamily="2" charset="0"/>
                  </a:rPr>
                  <a:t>)</a:t>
                </a:r>
                <a:r>
                  <a:rPr lang="en-IN" b="0" i="0" baseline="-25000" dirty="0">
                    <a:effectLst/>
                    <a:latin typeface="Roboto" panose="02000000000000000000" pitchFamily="2" charset="0"/>
                  </a:rPr>
                  <a:t>2</a:t>
                </a:r>
                <a:r>
                  <a:rPr lang="en-IN" b="0" i="0" dirty="0">
                    <a:effectLst/>
                    <a:latin typeface="Roboto" panose="02000000000000000000" pitchFamily="2" charset="0"/>
                  </a:rPr>
                  <a:t>  represents the number:</a:t>
                </a:r>
              </a:p>
              <a:p>
                <a:r>
                  <a:rPr lang="en-IN" b="0" i="0" dirty="0">
                    <a:effectLst/>
                    <a:latin typeface="Roboto" panose="02000000000000000000" pitchFamily="2" charset="0"/>
                  </a:rPr>
                  <a:t> (</a:t>
                </a:r>
                <a14:m>
                  <m:oMath xmlns:m="http://schemas.openxmlformats.org/officeDocument/2006/math">
                    <m:sSub>
                      <m:sSubPr>
                        <m:ctrlPr>
                          <a:rPr lang="en-IN" b="0" i="1" smtClean="0">
                            <a:effectLst/>
                            <a:latin typeface="Cambria Math" panose="02040503050406030204" pitchFamily="18" charset="0"/>
                          </a:rPr>
                        </m:ctrlPr>
                      </m:sSubPr>
                      <m:e>
                        <m:r>
                          <a:rPr lang="en-US" b="0" i="1" smtClean="0">
                            <a:effectLst/>
                            <a:latin typeface="Cambria Math" panose="02040503050406030204" pitchFamily="18" charset="0"/>
                          </a:rPr>
                          <m:t>𝑎</m:t>
                        </m:r>
                      </m:e>
                      <m:sub>
                        <m:r>
                          <a:rPr lang="en-US" b="0" i="1" smtClean="0">
                            <a:effectLst/>
                            <a:latin typeface="Cambria Math" panose="02040503050406030204" pitchFamily="18" charset="0"/>
                          </a:rPr>
                          <m:t>𝑘</m:t>
                        </m:r>
                      </m:sub>
                    </m:sSub>
                    <m:sSub>
                      <m:sSubPr>
                        <m:ctrlPr>
                          <a:rPr lang="en-IN"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𝑘</m:t>
                        </m:r>
                      </m:sub>
                    </m:sSub>
                  </m:oMath>
                </a14:m>
                <a:r>
                  <a:rPr lang="en-IN" b="0" i="0" dirty="0">
                    <a:effectLst/>
                    <a:latin typeface="Roboto" panose="02000000000000000000" pitchFamily="2" charset="0"/>
                  </a:rPr>
                  <a:t>…</a:t>
                </a:r>
                <a:r>
                  <a:rPr lang="en-IN" dirty="0"/>
                  <a:t> </a:t>
                </a:r>
                <a14:m>
                  <m:oMath xmlns:m="http://schemas.openxmlformats.org/officeDocument/2006/math">
                    <m:sSub>
                      <m:sSubPr>
                        <m:ctrlPr>
                          <a:rPr lang="en-IN" i="1">
                            <a:latin typeface="Cambria Math" panose="02040503050406030204" pitchFamily="18" charset="0"/>
                          </a:rPr>
                        </m:ctrlPr>
                      </m:sSubPr>
                      <m:e>
                        <m:r>
                          <a:rPr lang="en-US" i="1">
                            <a:latin typeface="Cambria Math" panose="02040503050406030204" pitchFamily="18" charset="0"/>
                          </a:rPr>
                          <m:t>𝑎</m:t>
                        </m:r>
                      </m:e>
                      <m:sub>
                        <m:r>
                          <a:rPr lang="en-US" b="0" i="1" smtClean="0">
                            <a:latin typeface="Cambria Math" panose="02040503050406030204" pitchFamily="18" charset="0"/>
                          </a:rPr>
                          <m:t>1</m:t>
                        </m:r>
                      </m:sub>
                    </m:sSub>
                    <m:r>
                      <a:rPr lang="en-US" i="1">
                        <a:latin typeface="Cambria Math" panose="02040503050406030204" pitchFamily="18" charset="0"/>
                      </a:rPr>
                      <m:t> </m:t>
                    </m:r>
                    <m:sSub>
                      <m:sSubPr>
                        <m:ctrlPr>
                          <a:rPr lang="en-IN" i="1">
                            <a:latin typeface="Cambria Math" panose="02040503050406030204" pitchFamily="18" charset="0"/>
                          </a:rPr>
                        </m:ctrlPr>
                      </m:sSubPr>
                      <m:e>
                        <m:r>
                          <a:rPr lang="en-US" i="1">
                            <a:latin typeface="Cambria Math" panose="02040503050406030204" pitchFamily="18" charset="0"/>
                          </a:rPr>
                          <m:t>𝑎</m:t>
                        </m:r>
                      </m:e>
                      <m:sub>
                        <m:r>
                          <a:rPr lang="en-US" b="0" i="1" smtClean="0">
                            <a:latin typeface="Cambria Math" panose="02040503050406030204" pitchFamily="18" charset="0"/>
                          </a:rPr>
                          <m:t>0</m:t>
                        </m:r>
                      </m:sub>
                    </m:sSub>
                  </m:oMath>
                </a14:m>
                <a:r>
                  <a:rPr lang="en-IN" b="0" i="0" dirty="0">
                    <a:effectLst/>
                    <a:latin typeface="Roboto" panose="02000000000000000000" pitchFamily="2" charset="0"/>
                  </a:rPr>
                  <a:t>)</a:t>
                </a:r>
                <a:r>
                  <a:rPr lang="en-IN" b="0" i="0" baseline="-25000" dirty="0">
                    <a:effectLst/>
                    <a:latin typeface="Roboto" panose="02000000000000000000" pitchFamily="2" charset="0"/>
                  </a:rPr>
                  <a:t>2</a:t>
                </a:r>
                <a:r>
                  <a:rPr lang="en-IN" b="0" i="0" dirty="0">
                    <a:effectLst/>
                    <a:latin typeface="Roboto" panose="02000000000000000000" pitchFamily="2" charset="0"/>
                  </a:rPr>
                  <a:t> =</a:t>
                </a:r>
                <a14:m>
                  <m:oMath xmlns:m="http://schemas.openxmlformats.org/officeDocument/2006/math">
                    <m:sSub>
                      <m:sSubPr>
                        <m:ctrlPr>
                          <a:rPr lang="en-IN" i="1">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𝑘</m:t>
                        </m:r>
                      </m:sub>
                    </m:sSub>
                    <m:r>
                      <a:rPr lang="en-US" b="0" i="1" smtClean="0">
                        <a:latin typeface="Cambria Math" panose="02040503050406030204" pitchFamily="18" charset="0"/>
                      </a:rPr>
                      <m:t>.</m:t>
                    </m:r>
                    <m:sSup>
                      <m:sSupPr>
                        <m:ctrlPr>
                          <a:rPr lang="en-IN" b="0" i="1" smtClean="0">
                            <a:effectLst/>
                            <a:latin typeface="Cambria Math" panose="02040503050406030204" pitchFamily="18" charset="0"/>
                          </a:rPr>
                        </m:ctrlPr>
                      </m:sSupPr>
                      <m:e>
                        <m:r>
                          <a:rPr lang="en-US" b="0" i="1" smtClean="0">
                            <a:effectLst/>
                            <a:latin typeface="Cambria Math" panose="02040503050406030204" pitchFamily="18" charset="0"/>
                          </a:rPr>
                          <m:t>2</m:t>
                        </m:r>
                      </m:e>
                      <m:sup>
                        <m:r>
                          <a:rPr lang="en-US" b="0" i="1" smtClean="0">
                            <a:effectLst/>
                            <a:latin typeface="Cambria Math" panose="02040503050406030204" pitchFamily="18" charset="0"/>
                          </a:rPr>
                          <m:t>𝑘</m:t>
                        </m:r>
                      </m:sup>
                    </m:sSup>
                    <m:r>
                      <a:rPr lang="en-US" b="0" i="1" smtClean="0">
                        <a:effectLst/>
                        <a:latin typeface="Cambria Math" panose="02040503050406030204" pitchFamily="18" charset="0"/>
                      </a:rPr>
                      <m:t>+</m:t>
                    </m:r>
                    <m:sSub>
                      <m:sSubPr>
                        <m:ctrlPr>
                          <a:rPr lang="en-IN" b="0" i="1" smtClean="0">
                            <a:effectLst/>
                            <a:latin typeface="Cambria Math" panose="02040503050406030204" pitchFamily="18" charset="0"/>
                          </a:rPr>
                        </m:ctrlPr>
                      </m:sSubPr>
                      <m:e>
                        <m:r>
                          <a:rPr lang="en-US" b="0" i="1" smtClean="0">
                            <a:effectLst/>
                            <a:latin typeface="Cambria Math" panose="02040503050406030204" pitchFamily="18" charset="0"/>
                          </a:rPr>
                          <m:t>𝑎</m:t>
                        </m:r>
                      </m:e>
                      <m:sub>
                        <m:r>
                          <a:rPr lang="en-US" b="0" i="1" smtClean="0">
                            <a:effectLst/>
                            <a:latin typeface="Cambria Math" panose="02040503050406030204" pitchFamily="18" charset="0"/>
                          </a:rPr>
                          <m:t>𝑘</m:t>
                        </m:r>
                        <m:r>
                          <a:rPr lang="en-US" b="0" i="1" smtClean="0">
                            <a:effectLst/>
                            <a:latin typeface="Cambria Math" panose="02040503050406030204" pitchFamily="18" charset="0"/>
                          </a:rPr>
                          <m:t>−1</m:t>
                        </m:r>
                      </m:sub>
                    </m:sSub>
                    <m:r>
                      <a:rPr lang="en-US" i="1">
                        <a:latin typeface="Cambria Math" panose="02040503050406030204" pitchFamily="18" charset="0"/>
                      </a:rPr>
                      <m:t>.</m:t>
                    </m:r>
                    <m:sSup>
                      <m:sSupPr>
                        <m:ctrlPr>
                          <a:rPr lang="en-IN" i="1">
                            <a:latin typeface="Cambria Math" panose="02040503050406030204" pitchFamily="18" charset="0"/>
                          </a:rPr>
                        </m:ctrlPr>
                      </m:sSupPr>
                      <m:e>
                        <m:r>
                          <a:rPr lang="en-US" i="1">
                            <a:latin typeface="Cambria Math" panose="02040503050406030204" pitchFamily="18" charset="0"/>
                          </a:rPr>
                          <m:t>2</m:t>
                        </m:r>
                      </m:e>
                      <m:sup>
                        <m:r>
                          <a:rPr lang="en-US" i="1">
                            <a:latin typeface="Cambria Math" panose="02040503050406030204" pitchFamily="18" charset="0"/>
                          </a:rPr>
                          <m:t>𝑘</m:t>
                        </m:r>
                        <m:r>
                          <a:rPr lang="en-US" b="0" i="1" smtClean="0">
                            <a:latin typeface="Cambria Math" panose="02040503050406030204" pitchFamily="18" charset="0"/>
                          </a:rPr>
                          <m:t>−1</m:t>
                        </m:r>
                      </m:sup>
                    </m:sSup>
                    <m:r>
                      <a:rPr lang="en-US" i="1">
                        <a:latin typeface="Cambria Math" panose="02040503050406030204" pitchFamily="18" charset="0"/>
                      </a:rPr>
                      <m:t>+</m:t>
                    </m:r>
                    <m:r>
                      <a:rPr lang="en-US" b="0" i="1" smtClean="0">
                        <a:latin typeface="Cambria Math" panose="02040503050406030204" pitchFamily="18" charset="0"/>
                      </a:rPr>
                      <m:t>…+</m:t>
                    </m:r>
                    <m:sSub>
                      <m:sSubPr>
                        <m:ctrlPr>
                          <a:rPr lang="en-IN" i="1">
                            <a:latin typeface="Cambria Math" panose="02040503050406030204" pitchFamily="18" charset="0"/>
                          </a:rPr>
                        </m:ctrlPr>
                      </m:sSubPr>
                      <m:e>
                        <m:r>
                          <a:rPr lang="en-US" i="1">
                            <a:latin typeface="Cambria Math" panose="02040503050406030204" pitchFamily="18" charset="0"/>
                          </a:rPr>
                          <m:t>𝑎</m:t>
                        </m:r>
                      </m:e>
                      <m:sub>
                        <m:r>
                          <a:rPr lang="en-US" b="0" i="1" smtClean="0">
                            <a:latin typeface="Cambria Math" panose="02040503050406030204" pitchFamily="18" charset="0"/>
                          </a:rPr>
                          <m:t>1</m:t>
                        </m:r>
                      </m:sub>
                    </m:sSub>
                    <m:r>
                      <a:rPr lang="en-US" i="1">
                        <a:latin typeface="Cambria Math" panose="02040503050406030204" pitchFamily="18" charset="0"/>
                      </a:rPr>
                      <m:t>.</m:t>
                    </m:r>
                    <m:sSup>
                      <m:sSupPr>
                        <m:ctrlPr>
                          <a:rPr lang="en-IN" i="1">
                            <a:latin typeface="Cambria Math" panose="02040503050406030204" pitchFamily="18" charset="0"/>
                          </a:rPr>
                        </m:ctrlPr>
                      </m:sSupPr>
                      <m:e>
                        <m:r>
                          <a:rPr lang="en-US" i="1">
                            <a:latin typeface="Cambria Math" panose="02040503050406030204" pitchFamily="18" charset="0"/>
                          </a:rPr>
                          <m:t>2</m:t>
                        </m:r>
                      </m:e>
                      <m:sup>
                        <m:r>
                          <a:rPr lang="en-US" b="0" i="1" smtClean="0">
                            <a:latin typeface="Cambria Math" panose="02040503050406030204" pitchFamily="18" charset="0"/>
                          </a:rPr>
                          <m:t>1</m:t>
                        </m:r>
                      </m:sup>
                    </m:sSup>
                    <m:r>
                      <a:rPr lang="en-US" i="1">
                        <a:latin typeface="Cambria Math" panose="02040503050406030204" pitchFamily="18" charset="0"/>
                      </a:rPr>
                      <m:t>+</m:t>
                    </m:r>
                    <m:sSub>
                      <m:sSubPr>
                        <m:ctrlPr>
                          <a:rPr lang="en-IN" i="1">
                            <a:latin typeface="Cambria Math" panose="02040503050406030204" pitchFamily="18" charset="0"/>
                          </a:rPr>
                        </m:ctrlPr>
                      </m:sSubPr>
                      <m:e>
                        <m:r>
                          <a:rPr lang="en-US" i="1">
                            <a:latin typeface="Cambria Math" panose="02040503050406030204" pitchFamily="18" charset="0"/>
                          </a:rPr>
                          <m:t>𝑎</m:t>
                        </m:r>
                      </m:e>
                      <m:sub>
                        <m:r>
                          <a:rPr lang="en-US" b="0" i="1" smtClean="0">
                            <a:latin typeface="Cambria Math" panose="02040503050406030204" pitchFamily="18" charset="0"/>
                          </a:rPr>
                          <m:t>0</m:t>
                        </m:r>
                      </m:sub>
                    </m:sSub>
                    <m:r>
                      <a:rPr lang="en-US" i="1">
                        <a:latin typeface="Cambria Math" panose="02040503050406030204" pitchFamily="18" charset="0"/>
                      </a:rPr>
                      <m:t>.</m:t>
                    </m:r>
                    <m:sSup>
                      <m:sSupPr>
                        <m:ctrlPr>
                          <a:rPr lang="en-IN" i="1">
                            <a:latin typeface="Cambria Math" panose="02040503050406030204" pitchFamily="18" charset="0"/>
                          </a:rPr>
                        </m:ctrlPr>
                      </m:sSupPr>
                      <m:e>
                        <m:r>
                          <a:rPr lang="en-US" i="1">
                            <a:latin typeface="Cambria Math" panose="02040503050406030204" pitchFamily="18" charset="0"/>
                          </a:rPr>
                          <m:t>2</m:t>
                        </m:r>
                      </m:e>
                      <m:sup>
                        <m:r>
                          <a:rPr lang="en-US" b="0" i="1" smtClean="0">
                            <a:latin typeface="Cambria Math" panose="02040503050406030204" pitchFamily="18" charset="0"/>
                          </a:rPr>
                          <m:t>0</m:t>
                        </m:r>
                      </m:sup>
                    </m:sSup>
                    <m:r>
                      <a:rPr lang="en-US" i="1">
                        <a:latin typeface="Cambria Math" panose="02040503050406030204" pitchFamily="18" charset="0"/>
                      </a:rPr>
                      <m:t> </m:t>
                    </m:r>
                  </m:oMath>
                </a14:m>
                <a:r>
                  <a:rPr lang="en-IN" b="0" i="0" dirty="0">
                    <a:effectLst/>
                    <a:latin typeface="Roboto" panose="02000000000000000000" pitchFamily="2" charset="0"/>
                  </a:rPr>
                  <a:t> </a:t>
                </a:r>
              </a:p>
              <a:p>
                <a:pPr algn="l"/>
                <a:r>
                  <a:rPr lang="en-IN" b="0" i="0" dirty="0">
                    <a:effectLst/>
                    <a:latin typeface="Roboto" panose="02000000000000000000" pitchFamily="2" charset="0"/>
                  </a:rPr>
                  <a:t>For instance the binary number  1101</a:t>
                </a:r>
                <a:r>
                  <a:rPr lang="en-IN" b="0" i="0" baseline="-25000" dirty="0">
                    <a:effectLst/>
                    <a:latin typeface="Roboto" panose="02000000000000000000" pitchFamily="2" charset="0"/>
                  </a:rPr>
                  <a:t>2</a:t>
                </a:r>
                <a:r>
                  <a:rPr lang="en-IN" b="0" i="0" dirty="0">
                    <a:effectLst/>
                    <a:latin typeface="Roboto" panose="02000000000000000000" pitchFamily="2" charset="0"/>
                  </a:rPr>
                  <a:t>  represents the number  13 :</a:t>
                </a:r>
              </a:p>
              <a:p>
                <a:r>
                  <a:rPr lang="en-IN" b="0" i="0" dirty="0">
                    <a:effectLst/>
                    <a:latin typeface="Roboto" panose="02000000000000000000" pitchFamily="2" charset="0"/>
                  </a:rPr>
                  <a:t> 1101</a:t>
                </a:r>
                <a:r>
                  <a:rPr lang="en-IN" b="0" i="0" baseline="-25000" dirty="0">
                    <a:effectLst/>
                    <a:latin typeface="Roboto" panose="02000000000000000000" pitchFamily="2" charset="0"/>
                  </a:rPr>
                  <a:t>2</a:t>
                </a:r>
                <a:r>
                  <a:rPr lang="en-IN" b="0" i="0" dirty="0">
                    <a:effectLst/>
                    <a:latin typeface="Roboto" panose="02000000000000000000" pitchFamily="2" charset="0"/>
                  </a:rPr>
                  <a:t> =  1.</a:t>
                </a:r>
                <a:r>
                  <a:rPr lang="en-US" b="0" dirty="0"/>
                  <a:t> </a:t>
                </a:r>
                <a14:m>
                  <m:oMath xmlns:m="http://schemas.openxmlformats.org/officeDocument/2006/math">
                    <m:sSup>
                      <m:sSupPr>
                        <m:ctrlPr>
                          <a:rPr lang="en-IN" b="0" i="1" smtClean="0">
                            <a:effectLst/>
                            <a:latin typeface="Cambria Math" panose="02040503050406030204" pitchFamily="18" charset="0"/>
                          </a:rPr>
                        </m:ctrlPr>
                      </m:sSupPr>
                      <m:e>
                        <m:r>
                          <a:rPr lang="en-US" b="0" i="1" smtClean="0">
                            <a:effectLst/>
                            <a:latin typeface="Cambria Math" panose="02040503050406030204" pitchFamily="18" charset="0"/>
                          </a:rPr>
                          <m:t>2</m:t>
                        </m:r>
                      </m:e>
                      <m:sup>
                        <m:r>
                          <a:rPr lang="en-US" b="0" i="1" smtClean="0">
                            <a:effectLst/>
                            <a:latin typeface="Cambria Math" panose="02040503050406030204" pitchFamily="18" charset="0"/>
                          </a:rPr>
                          <m:t>3</m:t>
                        </m:r>
                      </m:sup>
                    </m:sSup>
                  </m:oMath>
                </a14:m>
                <a:r>
                  <a:rPr lang="en-IN" b="0" i="0" dirty="0">
                    <a:effectLst/>
                    <a:latin typeface="Roboto" panose="02000000000000000000" pitchFamily="2" charset="0"/>
                  </a:rPr>
                  <a:t>+1.</a:t>
                </a:r>
                <a:r>
                  <a:rPr lang="en-US" dirty="0"/>
                  <a:t> </a:t>
                </a:r>
                <a14:m>
                  <m:oMath xmlns:m="http://schemas.openxmlformats.org/officeDocument/2006/math">
                    <m:sSup>
                      <m:sSupPr>
                        <m:ctrlPr>
                          <a:rPr lang="en-IN" i="1">
                            <a:latin typeface="Cambria Math" panose="02040503050406030204" pitchFamily="18" charset="0"/>
                          </a:rPr>
                        </m:ctrlPr>
                      </m:sSupPr>
                      <m:e>
                        <m:r>
                          <a:rPr lang="en-US" i="1">
                            <a:latin typeface="Cambria Math" panose="02040503050406030204" pitchFamily="18" charset="0"/>
                          </a:rPr>
                          <m:t>2</m:t>
                        </m:r>
                      </m:e>
                      <m:sup>
                        <m:r>
                          <a:rPr lang="en-US" b="0" i="1" smtClean="0">
                            <a:latin typeface="Cambria Math" panose="02040503050406030204" pitchFamily="18" charset="0"/>
                          </a:rPr>
                          <m:t>2</m:t>
                        </m:r>
                      </m:sup>
                    </m:sSup>
                  </m:oMath>
                </a14:m>
                <a:r>
                  <a:rPr lang="en-IN" b="0" i="0" dirty="0">
                    <a:effectLst/>
                    <a:latin typeface="Roboto" panose="02000000000000000000" pitchFamily="2" charset="0"/>
                  </a:rPr>
                  <a:t>+0</a:t>
                </a:r>
                <a:r>
                  <a:rPr lang="en-US" dirty="0"/>
                  <a:t> </a:t>
                </a:r>
                <a14:m>
                  <m:oMath xmlns:m="http://schemas.openxmlformats.org/officeDocument/2006/math">
                    <m:r>
                      <a:rPr lang="en-US" i="1">
                        <a:latin typeface="Cambria Math" panose="02040503050406030204" pitchFamily="18" charset="0"/>
                      </a:rPr>
                      <m:t>.</m:t>
                    </m:r>
                    <m:sSup>
                      <m:sSupPr>
                        <m:ctrlPr>
                          <a:rPr lang="en-IN" i="1">
                            <a:latin typeface="Cambria Math" panose="02040503050406030204" pitchFamily="18" charset="0"/>
                          </a:rPr>
                        </m:ctrlPr>
                      </m:sSupPr>
                      <m:e>
                        <m:r>
                          <a:rPr lang="en-US" i="1">
                            <a:latin typeface="Cambria Math" panose="02040503050406030204" pitchFamily="18" charset="0"/>
                          </a:rPr>
                          <m:t>2</m:t>
                        </m:r>
                      </m:e>
                      <m:sup>
                        <m:r>
                          <a:rPr lang="en-US" b="0" i="1" smtClean="0">
                            <a:latin typeface="Cambria Math" panose="02040503050406030204" pitchFamily="18" charset="0"/>
                          </a:rPr>
                          <m:t>1</m:t>
                        </m:r>
                      </m:sup>
                    </m:sSup>
                  </m:oMath>
                </a14:m>
                <a:r>
                  <a:rPr lang="en-IN" b="0" i="0" dirty="0">
                    <a:effectLst/>
                    <a:latin typeface="Roboto" panose="02000000000000000000" pitchFamily="2" charset="0"/>
                  </a:rPr>
                  <a:t>+1</a:t>
                </a:r>
                <a:r>
                  <a:rPr lang="en-US" dirty="0"/>
                  <a:t> </a:t>
                </a:r>
                <a14:m>
                  <m:oMath xmlns:m="http://schemas.openxmlformats.org/officeDocument/2006/math">
                    <m:r>
                      <a:rPr lang="en-US" i="1">
                        <a:latin typeface="Cambria Math" panose="02040503050406030204" pitchFamily="18" charset="0"/>
                      </a:rPr>
                      <m:t>.</m:t>
                    </m:r>
                    <m:sSup>
                      <m:sSupPr>
                        <m:ctrlPr>
                          <a:rPr lang="en-IN" i="1">
                            <a:latin typeface="Cambria Math" panose="02040503050406030204" pitchFamily="18" charset="0"/>
                          </a:rPr>
                        </m:ctrlPr>
                      </m:sSupPr>
                      <m:e>
                        <m:r>
                          <a:rPr lang="en-US" i="1">
                            <a:latin typeface="Cambria Math" panose="02040503050406030204" pitchFamily="18" charset="0"/>
                          </a:rPr>
                          <m:t>2</m:t>
                        </m:r>
                      </m:e>
                      <m:sup>
                        <m:r>
                          <a:rPr lang="en-US" b="0" i="1" smtClean="0">
                            <a:latin typeface="Cambria Math" panose="02040503050406030204" pitchFamily="18" charset="0"/>
                          </a:rPr>
                          <m:t>0</m:t>
                        </m:r>
                      </m:sup>
                    </m:sSup>
                  </m:oMath>
                </a14:m>
                <a:r>
                  <a:rPr lang="en-IN" dirty="0">
                    <a:latin typeface="Roboto" panose="02000000000000000000" pitchFamily="2" charset="0"/>
                  </a:rPr>
                  <a:t> = 1.8 + 1.4 + 0.2 + 1. 1 = 13</a:t>
                </a:r>
                <a:endParaRPr lang="en-IN" b="0" i="0" dirty="0">
                  <a:effectLst/>
                  <a:latin typeface="Roboto" panose="02000000000000000000" pitchFamily="2" charset="0"/>
                </a:endParaRPr>
              </a:p>
              <a:p>
                <a:pPr algn="l"/>
                <a:endParaRPr lang="en-US" dirty="0"/>
              </a:p>
            </p:txBody>
          </p:sp>
        </mc:Choice>
        <mc:Fallback xmlns="">
          <p:sp>
            <p:nvSpPr>
              <p:cNvPr id="3" name="Content Placeholder 2">
                <a:extLst>
                  <a:ext uri="{FF2B5EF4-FFF2-40B4-BE49-F238E27FC236}">
                    <a16:creationId xmlns:a16="http://schemas.microsoft.com/office/drawing/2014/main" id="{E4947E58-85D9-1E03-C9C7-520602B3293C}"/>
                  </a:ext>
                </a:extLst>
              </p:cNvPr>
              <p:cNvSpPr>
                <a:spLocks noGrp="1" noRot="1" noChangeAspect="1" noMove="1" noResize="1" noEditPoints="1" noAdjustHandles="1" noChangeArrowheads="1" noChangeShapeType="1" noTextEdit="1"/>
              </p:cNvSpPr>
              <p:nvPr>
                <p:ph idx="1"/>
              </p:nvPr>
            </p:nvSpPr>
            <p:spPr>
              <a:blipFill>
                <a:blip r:embed="rId2"/>
                <a:stretch>
                  <a:fillRect l="-965" t="-2035"/>
                </a:stretch>
              </a:blipFill>
            </p:spPr>
            <p:txBody>
              <a:bodyPr/>
              <a:lstStyle/>
              <a:p>
                <a:r>
                  <a:rPr lang="en-US">
                    <a:noFill/>
                  </a:rPr>
                  <a:t> </a:t>
                </a:r>
              </a:p>
            </p:txBody>
          </p:sp>
        </mc:Fallback>
      </mc:AlternateContent>
    </p:spTree>
    <p:extLst>
      <p:ext uri="{BB962C8B-B14F-4D97-AF65-F5344CB8AC3E}">
        <p14:creationId xmlns:p14="http://schemas.microsoft.com/office/powerpoint/2010/main" val="1458758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F0162-1743-A170-1F78-575626D0BD2B}"/>
              </a:ext>
            </a:extLst>
          </p:cNvPr>
          <p:cNvSpPr>
            <a:spLocks noGrp="1"/>
          </p:cNvSpPr>
          <p:nvPr>
            <p:ph type="title"/>
          </p:nvPr>
        </p:nvSpPr>
        <p:spPr/>
        <p:txBody>
          <a:bodyPr/>
          <a:lstStyle/>
          <a:p>
            <a:r>
              <a:rPr lang="en-IN" b="0" i="0" dirty="0">
                <a:effectLst/>
                <a:latin typeface="Roboto" panose="02000000000000000000" pitchFamily="2" charset="0"/>
              </a:rPr>
              <a:t>Binary number</a:t>
            </a:r>
            <a:endParaRPr lang="en-US" dirty="0"/>
          </a:p>
        </p:txBody>
      </p:sp>
      <p:sp>
        <p:nvSpPr>
          <p:cNvPr id="3" name="Content Placeholder 2">
            <a:extLst>
              <a:ext uri="{FF2B5EF4-FFF2-40B4-BE49-F238E27FC236}">
                <a16:creationId xmlns:a16="http://schemas.microsoft.com/office/drawing/2014/main" id="{BB4453AB-CEF9-DD35-A326-D731AD7BBA5A}"/>
              </a:ext>
            </a:extLst>
          </p:cNvPr>
          <p:cNvSpPr>
            <a:spLocks noGrp="1"/>
          </p:cNvSpPr>
          <p:nvPr>
            <p:ph idx="1"/>
          </p:nvPr>
        </p:nvSpPr>
        <p:spPr/>
        <p:txBody>
          <a:bodyPr>
            <a:normAutofit fontScale="85000" lnSpcReduction="20000"/>
          </a:bodyPr>
          <a:lstStyle/>
          <a:p>
            <a:r>
              <a:rPr lang="en-IN" b="0" i="0" dirty="0">
                <a:effectLst/>
                <a:latin typeface="Roboto" panose="02000000000000000000" pitchFamily="2" charset="0"/>
              </a:rPr>
              <a:t>Computers represent integers as binary numbers. </a:t>
            </a:r>
          </a:p>
          <a:p>
            <a:r>
              <a:rPr lang="en-IN" b="1" i="0" dirty="0">
                <a:effectLst/>
                <a:latin typeface="Roboto" panose="02000000000000000000" pitchFamily="2" charset="0"/>
              </a:rPr>
              <a:t>Positive integers</a:t>
            </a:r>
            <a:r>
              <a:rPr lang="en-IN" b="0" i="0" dirty="0">
                <a:effectLst/>
                <a:latin typeface="Roboto" panose="02000000000000000000" pitchFamily="2" charset="0"/>
              </a:rPr>
              <a:t> (both signed and unsigned) are just represented with their binary digits, and </a:t>
            </a:r>
          </a:p>
          <a:p>
            <a:r>
              <a:rPr lang="en-IN" b="1" i="0" dirty="0">
                <a:effectLst/>
                <a:latin typeface="Roboto" panose="02000000000000000000" pitchFamily="2" charset="0"/>
              </a:rPr>
              <a:t>Negative signed numbers</a:t>
            </a:r>
            <a:r>
              <a:rPr lang="en-IN" b="0" i="0" dirty="0">
                <a:effectLst/>
                <a:latin typeface="Roboto" panose="02000000000000000000" pitchFamily="2" charset="0"/>
              </a:rPr>
              <a:t> (which can be positive and negative) are usually represented with the </a:t>
            </a:r>
            <a:r>
              <a:rPr lang="en-IN" b="0" i="0" u="none" strike="noStrike" dirty="0">
                <a:solidFill>
                  <a:srgbClr val="4051B5"/>
                </a:solidFill>
                <a:effectLst/>
                <a:latin typeface="Roboto" panose="02000000000000000000" pitchFamily="2" charset="0"/>
                <a:hlinkClick r:id="rId2"/>
              </a:rPr>
              <a:t>Two's complement</a:t>
            </a:r>
            <a:r>
              <a:rPr lang="en-IN" b="0" i="0" dirty="0">
                <a:effectLst/>
                <a:latin typeface="Roboto" panose="02000000000000000000" pitchFamily="2" charset="0"/>
              </a:rPr>
              <a:t>.</a:t>
            </a:r>
          </a:p>
          <a:p>
            <a:pPr algn="l"/>
            <a:r>
              <a:rPr lang="en-IN" b="0" i="0" dirty="0">
                <a:effectLst/>
                <a:latin typeface="Roboto" panose="02000000000000000000" pitchFamily="2" charset="0"/>
              </a:rPr>
              <a:t>CPUs are very fast at manipulating those bits with specific operations. </a:t>
            </a:r>
          </a:p>
          <a:p>
            <a:pPr algn="l"/>
            <a:r>
              <a:rPr lang="en-IN" b="0" i="0" dirty="0">
                <a:effectLst/>
                <a:latin typeface="Roboto" panose="02000000000000000000" pitchFamily="2" charset="0"/>
              </a:rPr>
              <a:t>So, for some problems, we can leverage these binary number representations to speed up execution. </a:t>
            </a:r>
          </a:p>
          <a:p>
            <a:pPr algn="l"/>
            <a:r>
              <a:rPr lang="en-IN" b="0" i="0" dirty="0">
                <a:effectLst/>
                <a:latin typeface="Roboto" panose="02000000000000000000" pitchFamily="2" charset="0"/>
              </a:rPr>
              <a:t>And for some problems (typically in combinatorics or dynamic programming) where we want to track which objects we already picked from a given set of objects, we can just use a large enough integer where each digit represents an object and depending on it, we pick or drop the object we set or clear the digit.</a:t>
            </a:r>
          </a:p>
        </p:txBody>
      </p:sp>
    </p:spTree>
    <p:extLst>
      <p:ext uri="{BB962C8B-B14F-4D97-AF65-F5344CB8AC3E}">
        <p14:creationId xmlns:p14="http://schemas.microsoft.com/office/powerpoint/2010/main" val="34683795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83AD1-59A7-4545-03D4-067ABF8EF9DC}"/>
              </a:ext>
            </a:extLst>
          </p:cNvPr>
          <p:cNvSpPr>
            <a:spLocks noGrp="1"/>
          </p:cNvSpPr>
          <p:nvPr>
            <p:ph type="title"/>
          </p:nvPr>
        </p:nvSpPr>
        <p:spPr/>
        <p:txBody>
          <a:bodyPr/>
          <a:lstStyle/>
          <a:p>
            <a:r>
              <a:rPr lang="en-IN" b="0" i="0" dirty="0">
                <a:effectLst/>
                <a:latin typeface="Roboto" panose="02000000000000000000" pitchFamily="2" charset="0"/>
              </a:rPr>
              <a:t>Binary number</a:t>
            </a:r>
            <a:endParaRPr lang="en-US" dirty="0"/>
          </a:p>
        </p:txBody>
      </p:sp>
      <p:sp>
        <p:nvSpPr>
          <p:cNvPr id="3" name="Content Placeholder 2">
            <a:extLst>
              <a:ext uri="{FF2B5EF4-FFF2-40B4-BE49-F238E27FC236}">
                <a16:creationId xmlns:a16="http://schemas.microsoft.com/office/drawing/2014/main" id="{60A33F34-1DD3-42E0-8842-084EFA343C6D}"/>
              </a:ext>
            </a:extLst>
          </p:cNvPr>
          <p:cNvSpPr>
            <a:spLocks noGrp="1"/>
          </p:cNvSpPr>
          <p:nvPr>
            <p:ph idx="1"/>
          </p:nvPr>
        </p:nvSpPr>
        <p:spPr/>
        <p:txBody>
          <a:bodyPr>
            <a:normAutofit lnSpcReduction="10000"/>
          </a:bodyPr>
          <a:lstStyle/>
          <a:p>
            <a:pPr marL="0" indent="0">
              <a:buNone/>
            </a:pPr>
            <a:r>
              <a:rPr lang="en-US" dirty="0"/>
              <a:t>unsigned int </a:t>
            </a:r>
            <a:r>
              <a:rPr lang="en-US" dirty="0" err="1"/>
              <a:t>unsigned_number</a:t>
            </a:r>
            <a:r>
              <a:rPr lang="en-US" dirty="0"/>
              <a:t> = 13;</a:t>
            </a:r>
          </a:p>
          <a:p>
            <a:pPr marL="0" indent="0">
              <a:buNone/>
            </a:pPr>
            <a:r>
              <a:rPr lang="en-US" dirty="0"/>
              <a:t>assert(</a:t>
            </a:r>
            <a:r>
              <a:rPr lang="en-US" dirty="0" err="1"/>
              <a:t>unsigned_number</a:t>
            </a:r>
            <a:r>
              <a:rPr lang="en-US" dirty="0"/>
              <a:t> == 0b1101);</a:t>
            </a:r>
          </a:p>
          <a:p>
            <a:pPr marL="0" indent="0">
              <a:buNone/>
            </a:pPr>
            <a:endParaRPr lang="en-US" dirty="0"/>
          </a:p>
          <a:p>
            <a:pPr marL="0" indent="0">
              <a:buNone/>
            </a:pPr>
            <a:r>
              <a:rPr lang="en-US" dirty="0"/>
              <a:t>int </a:t>
            </a:r>
            <a:r>
              <a:rPr lang="en-US" dirty="0" err="1"/>
              <a:t>positive_signed_number</a:t>
            </a:r>
            <a:r>
              <a:rPr lang="en-US" dirty="0"/>
              <a:t> = 13;</a:t>
            </a:r>
          </a:p>
          <a:p>
            <a:pPr marL="0" indent="0">
              <a:buNone/>
            </a:pPr>
            <a:r>
              <a:rPr lang="en-US" dirty="0"/>
              <a:t>assert(</a:t>
            </a:r>
            <a:r>
              <a:rPr lang="en-US" dirty="0" err="1"/>
              <a:t>positive_signed_number</a:t>
            </a:r>
            <a:r>
              <a:rPr lang="en-US" dirty="0"/>
              <a:t> == 0b1101);</a:t>
            </a:r>
          </a:p>
          <a:p>
            <a:pPr marL="0" indent="0">
              <a:buNone/>
            </a:pPr>
            <a:endParaRPr lang="en-US" dirty="0"/>
          </a:p>
          <a:p>
            <a:pPr marL="0" indent="0">
              <a:buNone/>
            </a:pPr>
            <a:r>
              <a:rPr lang="en-US" dirty="0"/>
              <a:t>int </a:t>
            </a:r>
            <a:r>
              <a:rPr lang="en-US" dirty="0" err="1"/>
              <a:t>negative_signed_number</a:t>
            </a:r>
            <a:r>
              <a:rPr lang="en-US" dirty="0"/>
              <a:t> = -13;</a:t>
            </a:r>
          </a:p>
          <a:p>
            <a:pPr marL="0" indent="0">
              <a:buNone/>
            </a:pPr>
            <a:r>
              <a:rPr lang="en-US" dirty="0"/>
              <a:t>assert(</a:t>
            </a:r>
            <a:r>
              <a:rPr lang="en-US" dirty="0" err="1"/>
              <a:t>negative_signed_number</a:t>
            </a:r>
            <a:r>
              <a:rPr lang="en-US" dirty="0"/>
              <a:t> == 0b1111'1111'1111'1111'1111'1111'1111'0011);</a:t>
            </a:r>
          </a:p>
        </p:txBody>
      </p:sp>
    </p:spTree>
    <p:extLst>
      <p:ext uri="{BB962C8B-B14F-4D97-AF65-F5344CB8AC3E}">
        <p14:creationId xmlns:p14="http://schemas.microsoft.com/office/powerpoint/2010/main" val="27072952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E8E98-B592-9D78-65AA-F6A952C841C8}"/>
              </a:ext>
            </a:extLst>
          </p:cNvPr>
          <p:cNvSpPr>
            <a:spLocks noGrp="1"/>
          </p:cNvSpPr>
          <p:nvPr>
            <p:ph type="title"/>
          </p:nvPr>
        </p:nvSpPr>
        <p:spPr/>
        <p:txBody>
          <a:bodyPr>
            <a:normAutofit/>
          </a:bodyPr>
          <a:lstStyle/>
          <a:p>
            <a:r>
              <a:rPr lang="en-IN" b="0" i="0" dirty="0">
                <a:effectLst/>
                <a:latin typeface="Roboto" panose="02000000000000000000" pitchFamily="2" charset="0"/>
              </a:rPr>
              <a:t>Bit operators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486D41C-0BAA-1EC7-E09D-324E4129B89A}"/>
                  </a:ext>
                </a:extLst>
              </p:cNvPr>
              <p:cNvSpPr>
                <a:spLocks noGrp="1"/>
              </p:cNvSpPr>
              <p:nvPr>
                <p:ph idx="1"/>
              </p:nvPr>
            </p:nvSpPr>
            <p:spPr/>
            <p:txBody>
              <a:bodyPr>
                <a:normAutofit fontScale="85000" lnSpcReduction="20000"/>
              </a:bodyPr>
              <a:lstStyle/>
              <a:p>
                <a:pPr algn="l">
                  <a:buFont typeface="Arial" panose="020B0604020202020204" pitchFamily="34" charset="0"/>
                  <a:buChar char="•"/>
                </a:pPr>
                <a:r>
                  <a:rPr lang="en-IN" b="0" i="0" dirty="0">
                    <a:effectLst/>
                    <a:latin typeface="Roboto" panose="02000000000000000000" pitchFamily="2" charset="0"/>
                  </a:rPr>
                  <a:t> </a:t>
                </a:r>
                <a:r>
                  <a:rPr lang="en-IN" b="1" i="0" dirty="0">
                    <a:effectLst/>
                    <a:latin typeface="Roboto" panose="02000000000000000000" pitchFamily="2" charset="0"/>
                  </a:rPr>
                  <a:t>Bitwise and (&amp;)</a:t>
                </a:r>
                <a:r>
                  <a:rPr lang="en-IN" b="0" i="0" dirty="0">
                    <a:effectLst/>
                    <a:latin typeface="Roboto" panose="02000000000000000000" pitchFamily="2" charset="0"/>
                  </a:rPr>
                  <a:t>  : The bitwise AND operator compares each bit of its first operand with the corresponding bit of its second operand. If both bits are 1, the corresponding result bit is set to 1. Otherwise, the corresponding result bit is set to 0.</a:t>
                </a:r>
              </a:p>
              <a:p>
                <a:pPr algn="l">
                  <a:buFont typeface="Arial" panose="020B0604020202020204" pitchFamily="34" charset="0"/>
                  <a:buChar char="•"/>
                </a:pPr>
                <a:r>
                  <a:rPr lang="en-IN" b="1" i="0" dirty="0">
                    <a:effectLst/>
                    <a:latin typeface="Roboto" panose="02000000000000000000" pitchFamily="2" charset="0"/>
                  </a:rPr>
                  <a:t> Bitwise and ( | )</a:t>
                </a:r>
                <a:r>
                  <a:rPr lang="en-IN" b="0" i="0" dirty="0">
                    <a:effectLst/>
                    <a:latin typeface="Roboto" panose="02000000000000000000" pitchFamily="2" charset="0"/>
                  </a:rPr>
                  <a:t>  : The bitwise inclusive OR operator compares each bit of its first operand with the corresponding bit of its second operand. If one of the two bits is 1, the corresponding result bit is set to 1. Otherwise, the corresponding result bit is set to 0.</a:t>
                </a:r>
              </a:p>
              <a:p>
                <a:pPr algn="l">
                  <a:buFont typeface="Arial" panose="020B0604020202020204" pitchFamily="34" charset="0"/>
                  <a:buChar char="•"/>
                </a:pPr>
                <a:r>
                  <a:rPr lang="en-IN" b="0" i="0" dirty="0">
                    <a:effectLst/>
                    <a:latin typeface="Roboto" panose="02000000000000000000" pitchFamily="2" charset="0"/>
                  </a:rPr>
                  <a:t> </a:t>
                </a:r>
                <a:r>
                  <a:rPr lang="en-IN" b="1" i="0" dirty="0">
                    <a:effectLst/>
                    <a:latin typeface="Roboto" panose="02000000000000000000" pitchFamily="2" charset="0"/>
                  </a:rPr>
                  <a:t>Bitwise and ( </a:t>
                </a:r>
                <a14:m>
                  <m:oMath xmlns:m="http://schemas.openxmlformats.org/officeDocument/2006/math">
                    <m:r>
                      <a:rPr lang="en-IN" b="1" i="1" smtClean="0">
                        <a:effectLst/>
                        <a:latin typeface="Cambria Math" panose="02040503050406030204" pitchFamily="18" charset="0"/>
                        <a:ea typeface="Cambria Math" panose="02040503050406030204" pitchFamily="18" charset="0"/>
                      </a:rPr>
                      <m:t>⋀</m:t>
                    </m:r>
                  </m:oMath>
                </a14:m>
                <a:r>
                  <a:rPr lang="en-IN" b="1" i="0" dirty="0">
                    <a:effectLst/>
                    <a:latin typeface="Roboto" panose="02000000000000000000" pitchFamily="2" charset="0"/>
                  </a:rPr>
                  <a:t> )</a:t>
                </a:r>
                <a:r>
                  <a:rPr lang="en-IN" b="0" i="0" dirty="0">
                    <a:effectLst/>
                    <a:latin typeface="Roboto" panose="02000000000000000000" pitchFamily="2" charset="0"/>
                  </a:rPr>
                  <a:t> : The bitwise exclusive OR (XOR) operator compares each bit of its first operand with the corresponding bit of its second operand. If one bit is 0 and the other bit is 1, the corresponding result bit is set to 1. Otherwise, the corresponding result bit is set to 0.</a:t>
                </a:r>
              </a:p>
              <a:p>
                <a:pPr algn="l">
                  <a:buFont typeface="Arial" panose="020B0604020202020204" pitchFamily="34" charset="0"/>
                  <a:buChar char="•"/>
                </a:pPr>
                <a:r>
                  <a:rPr lang="en-IN" b="0" i="0" dirty="0">
                    <a:effectLst/>
                    <a:latin typeface="Roboto" panose="02000000000000000000" pitchFamily="2" charset="0"/>
                  </a:rPr>
                  <a:t> </a:t>
                </a:r>
                <a:r>
                  <a:rPr lang="en-IN" b="1" i="0" dirty="0">
                    <a:effectLst/>
                    <a:latin typeface="Roboto" panose="02000000000000000000" pitchFamily="2" charset="0"/>
                  </a:rPr>
                  <a:t>Bitwise and ( ~ )</a:t>
                </a:r>
                <a:r>
                  <a:rPr lang="en-IN" b="0" i="0" dirty="0">
                    <a:effectLst/>
                    <a:latin typeface="Roboto" panose="02000000000000000000" pitchFamily="2" charset="0"/>
                  </a:rPr>
                  <a:t>  : The bitwise complement (NOT) operator flips each bit of a number, if a bit is set the operator will clear it, if it is cleared the operator sets it.</a:t>
                </a:r>
              </a:p>
            </p:txBody>
          </p:sp>
        </mc:Choice>
        <mc:Fallback xmlns="">
          <p:sp>
            <p:nvSpPr>
              <p:cNvPr id="3" name="Content Placeholder 2">
                <a:extLst>
                  <a:ext uri="{FF2B5EF4-FFF2-40B4-BE49-F238E27FC236}">
                    <a16:creationId xmlns:a16="http://schemas.microsoft.com/office/drawing/2014/main" id="{D486D41C-0BAA-1EC7-E09D-324E4129B89A}"/>
                  </a:ext>
                </a:extLst>
              </p:cNvPr>
              <p:cNvSpPr>
                <a:spLocks noGrp="1" noRot="1" noChangeAspect="1" noMove="1" noResize="1" noEditPoints="1" noAdjustHandles="1" noChangeArrowheads="1" noChangeShapeType="1" noTextEdit="1"/>
              </p:cNvSpPr>
              <p:nvPr>
                <p:ph idx="1"/>
              </p:nvPr>
            </p:nvSpPr>
            <p:spPr>
              <a:blipFill>
                <a:blip r:embed="rId2"/>
                <a:stretch>
                  <a:fillRect l="-844" t="-3198" r="-1448" b="-2326"/>
                </a:stretch>
              </a:blipFill>
            </p:spPr>
            <p:txBody>
              <a:bodyPr/>
              <a:lstStyle/>
              <a:p>
                <a:r>
                  <a:rPr lang="en-US">
                    <a:noFill/>
                  </a:rPr>
                  <a:t> </a:t>
                </a:r>
              </a:p>
            </p:txBody>
          </p:sp>
        </mc:Fallback>
      </mc:AlternateContent>
    </p:spTree>
    <p:extLst>
      <p:ext uri="{BB962C8B-B14F-4D97-AF65-F5344CB8AC3E}">
        <p14:creationId xmlns:p14="http://schemas.microsoft.com/office/powerpoint/2010/main" val="38540066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9DF153-7893-8644-E3A9-21728ACAF40C}"/>
              </a:ext>
            </a:extLst>
          </p:cNvPr>
          <p:cNvSpPr>
            <a:spLocks noGrp="1"/>
          </p:cNvSpPr>
          <p:nvPr>
            <p:ph type="title"/>
          </p:nvPr>
        </p:nvSpPr>
        <p:spPr/>
        <p:txBody>
          <a:bodyPr/>
          <a:lstStyle/>
          <a:p>
            <a:r>
              <a:rPr lang="en-US" dirty="0"/>
              <a:t>XOR Properties</a:t>
            </a:r>
          </a:p>
        </p:txBody>
      </p:sp>
      <p:sp>
        <p:nvSpPr>
          <p:cNvPr id="3" name="Content Placeholder 2">
            <a:extLst>
              <a:ext uri="{FF2B5EF4-FFF2-40B4-BE49-F238E27FC236}">
                <a16:creationId xmlns:a16="http://schemas.microsoft.com/office/drawing/2014/main" id="{2E641353-B0B5-1C32-5D19-216F62DC530F}"/>
              </a:ext>
            </a:extLst>
          </p:cNvPr>
          <p:cNvSpPr>
            <a:spLocks noGrp="1"/>
          </p:cNvSpPr>
          <p:nvPr>
            <p:ph idx="1"/>
          </p:nvPr>
        </p:nvSpPr>
        <p:spPr/>
        <p:txBody>
          <a:bodyPr>
            <a:normAutofit/>
          </a:bodyPr>
          <a:lstStyle/>
          <a:p>
            <a:r>
              <a:rPr lang="en-IN" sz="3600" b="0" i="0" dirty="0" err="1">
                <a:effectLst/>
                <a:latin typeface="ui-monospace"/>
              </a:rPr>
              <a:t>a^b</a:t>
            </a:r>
            <a:r>
              <a:rPr lang="en-IN" sz="3600" b="0" i="0" dirty="0">
                <a:effectLst/>
                <a:latin typeface="ui-monospace"/>
              </a:rPr>
              <a:t>=c =&gt; </a:t>
            </a:r>
            <a:r>
              <a:rPr lang="en-IN" sz="3600" b="0" i="0" dirty="0" err="1">
                <a:effectLst/>
                <a:latin typeface="ui-monospace"/>
              </a:rPr>
              <a:t>b^c</a:t>
            </a:r>
            <a:r>
              <a:rPr lang="en-IN" sz="3600" b="0" i="0" dirty="0">
                <a:effectLst/>
                <a:latin typeface="ui-monospace"/>
              </a:rPr>
              <a:t>=a </a:t>
            </a:r>
          </a:p>
          <a:p>
            <a:r>
              <a:rPr lang="en-IN" sz="3600" b="0" i="0" dirty="0">
                <a:effectLst/>
                <a:latin typeface="ui-monospace"/>
              </a:rPr>
              <a:t>x^0 = x </a:t>
            </a:r>
          </a:p>
          <a:p>
            <a:r>
              <a:rPr lang="en-IN" sz="3600" b="0" i="0" dirty="0" err="1">
                <a:effectLst/>
                <a:latin typeface="ui-monospace"/>
              </a:rPr>
              <a:t>x^x</a:t>
            </a:r>
            <a:r>
              <a:rPr lang="en-IN" sz="3600" b="0" i="0" dirty="0">
                <a:effectLst/>
                <a:latin typeface="ui-monospace"/>
              </a:rPr>
              <a:t> = 0</a:t>
            </a:r>
            <a:endParaRPr lang="en-US" sz="3600" dirty="0"/>
          </a:p>
        </p:txBody>
      </p:sp>
    </p:spTree>
    <p:extLst>
      <p:ext uri="{BB962C8B-B14F-4D97-AF65-F5344CB8AC3E}">
        <p14:creationId xmlns:p14="http://schemas.microsoft.com/office/powerpoint/2010/main" val="38460984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1CCACB-4373-5424-9DA2-B12184963F3D}"/>
              </a:ext>
            </a:extLst>
          </p:cNvPr>
          <p:cNvSpPr>
            <a:spLocks noGrp="1"/>
          </p:cNvSpPr>
          <p:nvPr>
            <p:ph type="title"/>
          </p:nvPr>
        </p:nvSpPr>
        <p:spPr/>
        <p:txBody>
          <a:bodyPr/>
          <a:lstStyle/>
          <a:p>
            <a:r>
              <a:rPr lang="en-US" dirty="0"/>
              <a:t>Important Properties</a:t>
            </a:r>
          </a:p>
        </p:txBody>
      </p:sp>
      <p:sp>
        <p:nvSpPr>
          <p:cNvPr id="3" name="Content Placeholder 2">
            <a:extLst>
              <a:ext uri="{FF2B5EF4-FFF2-40B4-BE49-F238E27FC236}">
                <a16:creationId xmlns:a16="http://schemas.microsoft.com/office/drawing/2014/main" id="{B7C75C3E-1A53-C889-F5A8-C5162DC1EDFE}"/>
              </a:ext>
            </a:extLst>
          </p:cNvPr>
          <p:cNvSpPr>
            <a:spLocks noGrp="1"/>
          </p:cNvSpPr>
          <p:nvPr>
            <p:ph idx="1"/>
          </p:nvPr>
        </p:nvSpPr>
        <p:spPr/>
        <p:txBody>
          <a:bodyPr>
            <a:normAutofit fontScale="77500" lnSpcReduction="20000"/>
          </a:bodyPr>
          <a:lstStyle/>
          <a:p>
            <a:r>
              <a:rPr lang="en-IN" b="0" i="0" dirty="0">
                <a:effectLst/>
                <a:latin typeface="ui-monospace"/>
              </a:rPr>
              <a:t>1&lt;&lt;n = 2^n </a:t>
            </a:r>
          </a:p>
          <a:p>
            <a:r>
              <a:rPr lang="en-IN" b="0" i="0" dirty="0">
                <a:effectLst/>
                <a:latin typeface="ui-monospace"/>
              </a:rPr>
              <a:t>get </a:t>
            </a:r>
            <a:r>
              <a:rPr lang="en-IN" b="0" i="0" dirty="0" err="1">
                <a:effectLst/>
                <a:latin typeface="ui-monospace"/>
              </a:rPr>
              <a:t>i</a:t>
            </a:r>
            <a:r>
              <a:rPr lang="en-IN" b="0" i="0" baseline="30000" dirty="0" err="1">
                <a:effectLst/>
                <a:latin typeface="ui-monospace"/>
              </a:rPr>
              <a:t>th</a:t>
            </a:r>
            <a:r>
              <a:rPr lang="en-IN" b="0" i="0" dirty="0">
                <a:effectLst/>
                <a:latin typeface="ui-monospace"/>
              </a:rPr>
              <a:t> Set bit Number: (1&lt;&lt;</a:t>
            </a:r>
            <a:r>
              <a:rPr lang="en-IN" b="0" i="0" dirty="0" err="1">
                <a:effectLst/>
                <a:latin typeface="ui-monospace"/>
              </a:rPr>
              <a:t>i</a:t>
            </a:r>
            <a:r>
              <a:rPr lang="en-IN" b="0" i="0" dirty="0">
                <a:effectLst/>
                <a:latin typeface="ui-monospace"/>
              </a:rPr>
              <a:t>) </a:t>
            </a:r>
          </a:p>
          <a:p>
            <a:r>
              <a:rPr lang="en-IN" b="0" i="0" dirty="0">
                <a:effectLst/>
                <a:latin typeface="ui-monospace"/>
              </a:rPr>
              <a:t>get </a:t>
            </a:r>
            <a:r>
              <a:rPr lang="en-IN" b="0" i="0" dirty="0" err="1">
                <a:effectLst/>
                <a:latin typeface="ui-monospace"/>
              </a:rPr>
              <a:t>i</a:t>
            </a:r>
            <a:r>
              <a:rPr lang="en-IN" b="0" i="0" baseline="30000" dirty="0" err="1">
                <a:effectLst/>
                <a:latin typeface="ui-monospace"/>
              </a:rPr>
              <a:t>th</a:t>
            </a:r>
            <a:r>
              <a:rPr lang="en-IN" b="0" i="0" dirty="0">
                <a:effectLst/>
                <a:latin typeface="ui-monospace"/>
              </a:rPr>
              <a:t> Unset bit Number: ~(1&lt;&lt;</a:t>
            </a:r>
            <a:r>
              <a:rPr lang="en-IN" b="0" i="0" dirty="0" err="1">
                <a:effectLst/>
                <a:latin typeface="ui-monospace"/>
              </a:rPr>
              <a:t>i</a:t>
            </a:r>
            <a:r>
              <a:rPr lang="en-IN" b="0" i="0" dirty="0">
                <a:effectLst/>
                <a:latin typeface="ui-monospace"/>
              </a:rPr>
              <a:t>) </a:t>
            </a:r>
          </a:p>
          <a:p>
            <a:r>
              <a:rPr lang="en-IN" b="0" i="0" dirty="0">
                <a:effectLst/>
                <a:latin typeface="ui-monospace"/>
              </a:rPr>
              <a:t>Check </a:t>
            </a:r>
            <a:r>
              <a:rPr lang="en-IN" b="0" i="0" dirty="0" err="1">
                <a:effectLst/>
                <a:latin typeface="ui-monospace"/>
              </a:rPr>
              <a:t>i</a:t>
            </a:r>
            <a:r>
              <a:rPr lang="en-IN" b="0" i="0" baseline="30000" dirty="0" err="1">
                <a:effectLst/>
                <a:latin typeface="ui-monospace"/>
              </a:rPr>
              <a:t>th</a:t>
            </a:r>
            <a:r>
              <a:rPr lang="en-IN" b="0" i="0" dirty="0">
                <a:effectLst/>
                <a:latin typeface="ui-monospace"/>
              </a:rPr>
              <a:t> bit of a Number is Set or Not </a:t>
            </a:r>
          </a:p>
          <a:p>
            <a:r>
              <a:rPr lang="en-IN" b="0" i="0" dirty="0">
                <a:effectLst/>
                <a:latin typeface="ui-monospace"/>
              </a:rPr>
              <a:t>if((a&amp;(1&lt;&lt;</a:t>
            </a:r>
            <a:r>
              <a:rPr lang="en-IN" b="0" i="0" dirty="0" err="1">
                <a:effectLst/>
                <a:latin typeface="ui-monospace"/>
              </a:rPr>
              <a:t>i</a:t>
            </a:r>
            <a:r>
              <a:rPr lang="en-IN" b="0" i="0" dirty="0">
                <a:effectLst/>
                <a:latin typeface="ui-monospace"/>
              </a:rPr>
              <a:t>))!=0) </a:t>
            </a:r>
            <a:r>
              <a:rPr lang="en-IN" b="0" i="0" dirty="0" err="1">
                <a:effectLst/>
                <a:latin typeface="ui-monospace"/>
              </a:rPr>
              <a:t>cout</a:t>
            </a:r>
            <a:r>
              <a:rPr lang="en-IN" b="0" i="0" dirty="0">
                <a:effectLst/>
                <a:latin typeface="ui-monospace"/>
              </a:rPr>
              <a:t>&lt;&lt;"Yes"; </a:t>
            </a:r>
          </a:p>
          <a:p>
            <a:r>
              <a:rPr lang="en-IN" dirty="0">
                <a:latin typeface="ui-monospace"/>
              </a:rPr>
              <a:t>C</a:t>
            </a:r>
            <a:r>
              <a:rPr lang="en-IN" b="0" i="0" dirty="0">
                <a:effectLst/>
                <a:latin typeface="ui-monospace"/>
              </a:rPr>
              <a:t>ount set bit __</a:t>
            </a:r>
            <a:r>
              <a:rPr lang="en-IN" b="0" i="0" dirty="0" err="1">
                <a:effectLst/>
                <a:latin typeface="ui-monospace"/>
              </a:rPr>
              <a:t>builtin_popcount</a:t>
            </a:r>
            <a:r>
              <a:rPr lang="en-IN" b="0" i="0" dirty="0">
                <a:effectLst/>
                <a:latin typeface="ui-monospace"/>
              </a:rPr>
              <a:t>(a); </a:t>
            </a:r>
          </a:p>
          <a:p>
            <a:r>
              <a:rPr lang="en-IN" b="0" i="0" dirty="0">
                <a:effectLst/>
                <a:latin typeface="ui-monospace"/>
              </a:rPr>
              <a:t>a&amp;1 == 1 (Odd digit) </a:t>
            </a:r>
          </a:p>
          <a:p>
            <a:r>
              <a:rPr lang="en-IN" b="0" i="0" dirty="0">
                <a:effectLst/>
                <a:latin typeface="ui-monospace"/>
              </a:rPr>
              <a:t>a&gt;&gt;1 -&gt; Divided by 2 </a:t>
            </a:r>
          </a:p>
          <a:p>
            <a:r>
              <a:rPr lang="en-IN" b="0" i="0" dirty="0">
                <a:effectLst/>
                <a:latin typeface="ui-monospace"/>
              </a:rPr>
              <a:t>a&lt;&lt;1 -&gt; Multiply by 2 </a:t>
            </a:r>
          </a:p>
          <a:p>
            <a:r>
              <a:rPr lang="en-IN" b="0" i="0" dirty="0">
                <a:effectLst/>
                <a:latin typeface="ui-monospace"/>
              </a:rPr>
              <a:t>Set </a:t>
            </a:r>
            <a:r>
              <a:rPr lang="en-IN" b="0" i="0" dirty="0" err="1">
                <a:effectLst/>
                <a:latin typeface="ui-monospace"/>
              </a:rPr>
              <a:t>i</a:t>
            </a:r>
            <a:r>
              <a:rPr lang="en-IN" b="0" i="0" baseline="30000" dirty="0" err="1">
                <a:effectLst/>
                <a:latin typeface="ui-monospace"/>
              </a:rPr>
              <a:t>th</a:t>
            </a:r>
            <a:r>
              <a:rPr lang="en-IN" b="0" i="0" dirty="0">
                <a:effectLst/>
                <a:latin typeface="ui-monospace"/>
              </a:rPr>
              <a:t> bit of a number =&gt; </a:t>
            </a:r>
            <a:r>
              <a:rPr lang="en-IN" b="0" i="0" dirty="0" err="1">
                <a:effectLst/>
                <a:latin typeface="ui-monospace"/>
              </a:rPr>
              <a:t>num</a:t>
            </a:r>
            <a:r>
              <a:rPr lang="en-IN" b="0" i="0" dirty="0">
                <a:effectLst/>
                <a:latin typeface="ui-monospace"/>
              </a:rPr>
              <a:t> = </a:t>
            </a:r>
            <a:r>
              <a:rPr lang="en-IN" b="0" i="0" dirty="0" err="1">
                <a:effectLst/>
                <a:latin typeface="ui-monospace"/>
              </a:rPr>
              <a:t>num</a:t>
            </a:r>
            <a:r>
              <a:rPr lang="en-IN" b="0" i="0" dirty="0">
                <a:effectLst/>
                <a:latin typeface="ui-monospace"/>
              </a:rPr>
              <a:t>|(1&lt;&lt;</a:t>
            </a:r>
            <a:r>
              <a:rPr lang="en-IN" b="0" i="0" dirty="0" err="1">
                <a:effectLst/>
                <a:latin typeface="ui-monospace"/>
              </a:rPr>
              <a:t>i</a:t>
            </a:r>
            <a:r>
              <a:rPr lang="en-IN" b="0" i="0" dirty="0">
                <a:effectLst/>
                <a:latin typeface="ui-monospace"/>
              </a:rPr>
              <a:t>); </a:t>
            </a:r>
          </a:p>
          <a:p>
            <a:r>
              <a:rPr lang="en-IN" b="0" i="0" dirty="0">
                <a:effectLst/>
                <a:latin typeface="ui-monospace"/>
              </a:rPr>
              <a:t>Unset </a:t>
            </a:r>
            <a:r>
              <a:rPr lang="en-IN" b="0" i="0" dirty="0" err="1">
                <a:effectLst/>
                <a:latin typeface="ui-monospace"/>
              </a:rPr>
              <a:t>ith</a:t>
            </a:r>
            <a:r>
              <a:rPr lang="en-IN" b="0" i="0" dirty="0">
                <a:effectLst/>
                <a:latin typeface="ui-monospace"/>
              </a:rPr>
              <a:t> bit of a number =&gt; </a:t>
            </a:r>
            <a:r>
              <a:rPr lang="en-IN" b="0" i="0" dirty="0" err="1">
                <a:effectLst/>
                <a:latin typeface="ui-monospace"/>
              </a:rPr>
              <a:t>num</a:t>
            </a:r>
            <a:r>
              <a:rPr lang="en-IN" b="0" i="0" dirty="0">
                <a:effectLst/>
                <a:latin typeface="ui-monospace"/>
              </a:rPr>
              <a:t> = </a:t>
            </a:r>
            <a:r>
              <a:rPr lang="en-IN" b="0" i="0" dirty="0" err="1">
                <a:effectLst/>
                <a:latin typeface="ui-monospace"/>
              </a:rPr>
              <a:t>num</a:t>
            </a:r>
            <a:r>
              <a:rPr lang="en-IN" b="0" i="0" dirty="0">
                <a:effectLst/>
                <a:latin typeface="ui-monospace"/>
              </a:rPr>
              <a:t>&amp;(~(1&lt;&lt;</a:t>
            </a:r>
            <a:r>
              <a:rPr lang="en-IN" b="0" i="0" dirty="0" err="1">
                <a:effectLst/>
                <a:latin typeface="ui-monospace"/>
              </a:rPr>
              <a:t>i</a:t>
            </a:r>
            <a:r>
              <a:rPr lang="en-IN" b="0" i="0" dirty="0">
                <a:effectLst/>
                <a:latin typeface="ui-monospace"/>
              </a:rPr>
              <a:t>));</a:t>
            </a:r>
          </a:p>
          <a:p>
            <a:r>
              <a:rPr lang="en-IN" b="0" i="0" dirty="0">
                <a:effectLst/>
                <a:latin typeface="ui-monospace"/>
              </a:rPr>
              <a:t>Check 2^n or Not (n&amp;(n-1)==0) // Yes  </a:t>
            </a:r>
          </a:p>
        </p:txBody>
      </p:sp>
    </p:spTree>
    <p:extLst>
      <p:ext uri="{BB962C8B-B14F-4D97-AF65-F5344CB8AC3E}">
        <p14:creationId xmlns:p14="http://schemas.microsoft.com/office/powerpoint/2010/main" val="20157663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49C206-3B96-DE9B-47A5-0764DFD9D3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81387B-B695-94E3-8C7C-6EF20B5261EF}"/>
              </a:ext>
            </a:extLst>
          </p:cNvPr>
          <p:cNvSpPr>
            <a:spLocks noGrp="1"/>
          </p:cNvSpPr>
          <p:nvPr>
            <p:ph type="title"/>
          </p:nvPr>
        </p:nvSpPr>
        <p:spPr/>
        <p:txBody>
          <a:bodyPr/>
          <a:lstStyle/>
          <a:p>
            <a:r>
              <a:rPr lang="en-US" dirty="0"/>
              <a:t>Important Properties</a:t>
            </a:r>
          </a:p>
        </p:txBody>
      </p:sp>
      <p:sp>
        <p:nvSpPr>
          <p:cNvPr id="3" name="Content Placeholder 2">
            <a:extLst>
              <a:ext uri="{FF2B5EF4-FFF2-40B4-BE49-F238E27FC236}">
                <a16:creationId xmlns:a16="http://schemas.microsoft.com/office/drawing/2014/main" id="{D6C2D381-3416-6664-A57C-12BBB87E4CC7}"/>
              </a:ext>
            </a:extLst>
          </p:cNvPr>
          <p:cNvSpPr>
            <a:spLocks noGrp="1"/>
          </p:cNvSpPr>
          <p:nvPr>
            <p:ph idx="1"/>
          </p:nvPr>
        </p:nvSpPr>
        <p:spPr/>
        <p:txBody>
          <a:bodyPr>
            <a:normAutofit fontScale="92500" lnSpcReduction="20000"/>
          </a:bodyPr>
          <a:lstStyle/>
          <a:p>
            <a:r>
              <a:rPr lang="en-IN" b="0" i="0" dirty="0">
                <a:effectLst/>
                <a:latin typeface="ui-monospace"/>
              </a:rPr>
              <a:t>Set union A | B </a:t>
            </a:r>
          </a:p>
          <a:p>
            <a:r>
              <a:rPr lang="en-IN" b="0" i="0" dirty="0">
                <a:effectLst/>
                <a:latin typeface="ui-monospace"/>
              </a:rPr>
              <a:t>Set intersection A &amp; B </a:t>
            </a:r>
          </a:p>
          <a:p>
            <a:r>
              <a:rPr lang="en-IN" b="0" i="0" dirty="0">
                <a:effectLst/>
                <a:latin typeface="ui-monospace"/>
              </a:rPr>
              <a:t>Set subtraction A &amp; ~B </a:t>
            </a:r>
          </a:p>
          <a:p>
            <a:r>
              <a:rPr lang="en-IN" b="0" i="0" dirty="0">
                <a:effectLst/>
                <a:latin typeface="ui-monospace"/>
              </a:rPr>
              <a:t>Set negation ALL_BITS ^ A or ~A </a:t>
            </a:r>
          </a:p>
          <a:p>
            <a:r>
              <a:rPr lang="en-IN" b="0" i="0" dirty="0">
                <a:effectLst/>
                <a:latin typeface="ui-monospace"/>
              </a:rPr>
              <a:t>Set bit A |= 1 &lt;&lt; bit </a:t>
            </a:r>
          </a:p>
          <a:p>
            <a:r>
              <a:rPr lang="en-IN" b="0" i="0" dirty="0">
                <a:effectLst/>
                <a:latin typeface="ui-monospace"/>
              </a:rPr>
              <a:t>Clear bit A &amp;= ~(1 &lt;&lt; bit) </a:t>
            </a:r>
          </a:p>
          <a:p>
            <a:r>
              <a:rPr lang="en-IN" b="0" i="0" dirty="0">
                <a:effectLst/>
                <a:latin typeface="ui-monospace"/>
              </a:rPr>
              <a:t>Test bit (A &amp; 1 &lt;&lt; bit) != 0 </a:t>
            </a:r>
          </a:p>
          <a:p>
            <a:r>
              <a:rPr lang="en-IN" b="0" i="0" dirty="0">
                <a:effectLst/>
                <a:latin typeface="ui-monospace"/>
              </a:rPr>
              <a:t>Extract last bit A&amp;-A or A&amp;~(A-1) or x^(x&amp;(x-1)) </a:t>
            </a:r>
          </a:p>
          <a:p>
            <a:r>
              <a:rPr lang="en-IN" b="0" i="0" dirty="0">
                <a:effectLst/>
                <a:latin typeface="ui-monospace"/>
              </a:rPr>
              <a:t>Remove last bit A&amp;(A-1) </a:t>
            </a:r>
          </a:p>
          <a:p>
            <a:r>
              <a:rPr lang="en-IN" b="0" i="0" dirty="0">
                <a:effectLst/>
                <a:latin typeface="ui-monospace"/>
              </a:rPr>
              <a:t>Get all 1-bits ~0 </a:t>
            </a:r>
            <a:endParaRPr lang="en-US" dirty="0"/>
          </a:p>
        </p:txBody>
      </p:sp>
    </p:spTree>
    <p:extLst>
      <p:ext uri="{BB962C8B-B14F-4D97-AF65-F5344CB8AC3E}">
        <p14:creationId xmlns:p14="http://schemas.microsoft.com/office/powerpoint/2010/main" val="34245332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1AEFA-DAAD-319C-785E-BFD43C629A85}"/>
              </a:ext>
            </a:extLst>
          </p:cNvPr>
          <p:cNvSpPr>
            <a:spLocks noGrp="1"/>
          </p:cNvSpPr>
          <p:nvPr>
            <p:ph type="title"/>
          </p:nvPr>
        </p:nvSpPr>
        <p:spPr/>
        <p:txBody>
          <a:bodyPr>
            <a:normAutofit/>
          </a:bodyPr>
          <a:lstStyle/>
          <a:p>
            <a:r>
              <a:rPr lang="en-IN" b="1" i="0" dirty="0">
                <a:solidFill>
                  <a:srgbClr val="273239"/>
                </a:solidFill>
                <a:effectLst/>
                <a:latin typeface="Source Sans 3"/>
              </a:rPr>
              <a:t>Add two numbers without using arithmetic operators</a:t>
            </a:r>
            <a:endParaRPr lang="en-US" dirty="0"/>
          </a:p>
        </p:txBody>
      </p:sp>
      <p:sp>
        <p:nvSpPr>
          <p:cNvPr id="3" name="Content Placeholder 2">
            <a:extLst>
              <a:ext uri="{FF2B5EF4-FFF2-40B4-BE49-F238E27FC236}">
                <a16:creationId xmlns:a16="http://schemas.microsoft.com/office/drawing/2014/main" id="{CE6F3579-78A6-1766-1316-AB2C3C8F188F}"/>
              </a:ext>
            </a:extLst>
          </p:cNvPr>
          <p:cNvSpPr>
            <a:spLocks noGrp="1"/>
          </p:cNvSpPr>
          <p:nvPr>
            <p:ph idx="1"/>
          </p:nvPr>
        </p:nvSpPr>
        <p:spPr/>
        <p:txBody>
          <a:bodyPr/>
          <a:lstStyle/>
          <a:p>
            <a:pPr algn="l" rtl="0" fontAlgn="base"/>
            <a:r>
              <a:rPr lang="en-IN" b="1" i="1" dirty="0">
                <a:solidFill>
                  <a:srgbClr val="273239"/>
                </a:solidFill>
                <a:effectLst/>
                <a:latin typeface="Nunito" pitchFamily="2" charset="77"/>
              </a:rPr>
              <a:t>Input:</a:t>
            </a:r>
            <a:r>
              <a:rPr lang="en-IN" b="0" i="1" dirty="0">
                <a:solidFill>
                  <a:srgbClr val="273239"/>
                </a:solidFill>
                <a:effectLst/>
                <a:latin typeface="Nunito" pitchFamily="2" charset="77"/>
              </a:rPr>
              <a:t> a = 10, b = 30</a:t>
            </a:r>
            <a:br>
              <a:rPr lang="en-IN" b="0" i="1" dirty="0">
                <a:solidFill>
                  <a:srgbClr val="273239"/>
                </a:solidFill>
                <a:effectLst/>
                <a:latin typeface="Nunito" pitchFamily="2" charset="77"/>
              </a:rPr>
            </a:br>
            <a:r>
              <a:rPr lang="en-IN" b="1" i="1" dirty="0">
                <a:solidFill>
                  <a:srgbClr val="273239"/>
                </a:solidFill>
                <a:effectLst/>
                <a:latin typeface="Nunito" pitchFamily="2" charset="77"/>
              </a:rPr>
              <a:t>Output:</a:t>
            </a:r>
            <a:r>
              <a:rPr lang="en-IN" b="0" i="1" dirty="0">
                <a:solidFill>
                  <a:srgbClr val="273239"/>
                </a:solidFill>
                <a:effectLst/>
                <a:latin typeface="Nunito" pitchFamily="2" charset="77"/>
              </a:rPr>
              <a:t> 40</a:t>
            </a:r>
          </a:p>
          <a:p>
            <a:pPr algn="l" rtl="0" fontAlgn="base"/>
            <a:r>
              <a:rPr lang="en-IN" b="1" i="1" dirty="0">
                <a:solidFill>
                  <a:srgbClr val="273239"/>
                </a:solidFill>
                <a:effectLst/>
                <a:latin typeface="Nunito" pitchFamily="2" charset="77"/>
              </a:rPr>
              <a:t>Input: </a:t>
            </a:r>
            <a:r>
              <a:rPr lang="en-IN" b="0" i="1" dirty="0">
                <a:solidFill>
                  <a:srgbClr val="273239"/>
                </a:solidFill>
                <a:effectLst/>
                <a:latin typeface="Nunito" pitchFamily="2" charset="77"/>
              </a:rPr>
              <a:t>a = -1, b = 2</a:t>
            </a:r>
            <a:br>
              <a:rPr lang="en-IN" b="0" i="1" dirty="0">
                <a:solidFill>
                  <a:srgbClr val="273239"/>
                </a:solidFill>
                <a:effectLst/>
                <a:latin typeface="Nunito" pitchFamily="2" charset="77"/>
              </a:rPr>
            </a:br>
            <a:r>
              <a:rPr lang="en-IN" b="1" i="1" dirty="0">
                <a:solidFill>
                  <a:srgbClr val="273239"/>
                </a:solidFill>
                <a:effectLst/>
                <a:latin typeface="Nunito" pitchFamily="2" charset="77"/>
              </a:rPr>
              <a:t>Output: </a:t>
            </a:r>
            <a:r>
              <a:rPr lang="en-IN" b="0" i="1" dirty="0">
                <a:solidFill>
                  <a:srgbClr val="273239"/>
                </a:solidFill>
                <a:effectLst/>
                <a:latin typeface="Nunito" pitchFamily="2" charset="77"/>
              </a:rPr>
              <a:t>1</a:t>
            </a:r>
          </a:p>
          <a:p>
            <a:endParaRPr lang="en-US" dirty="0"/>
          </a:p>
          <a:p>
            <a:endParaRPr lang="en-US" dirty="0"/>
          </a:p>
        </p:txBody>
      </p:sp>
    </p:spTree>
    <p:extLst>
      <p:ext uri="{BB962C8B-B14F-4D97-AF65-F5344CB8AC3E}">
        <p14:creationId xmlns:p14="http://schemas.microsoft.com/office/powerpoint/2010/main" val="8987824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760C1-CF87-2A79-D199-C8AEEC66F0D3}"/>
              </a:ext>
            </a:extLst>
          </p:cNvPr>
          <p:cNvSpPr>
            <a:spLocks noGrp="1"/>
          </p:cNvSpPr>
          <p:nvPr>
            <p:ph type="title"/>
          </p:nvPr>
        </p:nvSpPr>
        <p:spPr/>
        <p:txBody>
          <a:bodyPr>
            <a:normAutofit/>
          </a:bodyPr>
          <a:lstStyle/>
          <a:p>
            <a:r>
              <a:rPr lang="en-IN" b="1" i="0" dirty="0">
                <a:solidFill>
                  <a:srgbClr val="273239"/>
                </a:solidFill>
                <a:effectLst/>
                <a:latin typeface="Source Sans 3"/>
              </a:rPr>
              <a:t>Binary representation of a given number</a:t>
            </a:r>
            <a:endParaRPr lang="en-US" dirty="0"/>
          </a:p>
        </p:txBody>
      </p:sp>
      <p:sp>
        <p:nvSpPr>
          <p:cNvPr id="3" name="Content Placeholder 2">
            <a:extLst>
              <a:ext uri="{FF2B5EF4-FFF2-40B4-BE49-F238E27FC236}">
                <a16:creationId xmlns:a16="http://schemas.microsoft.com/office/drawing/2014/main" id="{BED9431C-7FCC-9DB9-7CDD-6452BA467764}"/>
              </a:ext>
            </a:extLst>
          </p:cNvPr>
          <p:cNvSpPr>
            <a:spLocks noGrp="1"/>
          </p:cNvSpPr>
          <p:nvPr>
            <p:ph idx="1"/>
          </p:nvPr>
        </p:nvSpPr>
        <p:spPr/>
        <p:txBody>
          <a:bodyPr>
            <a:normAutofit lnSpcReduction="10000"/>
          </a:bodyPr>
          <a:lstStyle/>
          <a:p>
            <a:r>
              <a:rPr lang="en-US" dirty="0"/>
              <a:t>String </a:t>
            </a:r>
            <a:r>
              <a:rPr lang="en-US" dirty="0" err="1"/>
              <a:t>ans</a:t>
            </a:r>
            <a:r>
              <a:rPr lang="en-US" dirty="0"/>
              <a:t> = "";</a:t>
            </a:r>
          </a:p>
          <a:p>
            <a:r>
              <a:rPr lang="en-US" dirty="0"/>
              <a:t>        </a:t>
            </a:r>
          </a:p>
          <a:p>
            <a:r>
              <a:rPr lang="en-US" dirty="0"/>
              <a:t>        // Check for each bit.</a:t>
            </a:r>
          </a:p>
          <a:p>
            <a:r>
              <a:rPr lang="en-US" dirty="0"/>
              <a:t>        for (int </a:t>
            </a:r>
            <a:r>
              <a:rPr lang="en-US" dirty="0" err="1"/>
              <a:t>i</a:t>
            </a:r>
            <a:r>
              <a:rPr lang="en-US" dirty="0"/>
              <a:t> = 31; </a:t>
            </a:r>
            <a:r>
              <a:rPr lang="en-US" dirty="0" err="1"/>
              <a:t>i</a:t>
            </a:r>
            <a:r>
              <a:rPr lang="en-US" dirty="0"/>
              <a:t> &gt;= 0; </a:t>
            </a:r>
            <a:r>
              <a:rPr lang="en-US" dirty="0" err="1"/>
              <a:t>i</a:t>
            </a:r>
            <a:r>
              <a:rPr lang="en-US" dirty="0"/>
              <a:t>--) {</a:t>
            </a:r>
          </a:p>
          <a:p>
            <a:r>
              <a:rPr lang="en-US" dirty="0"/>
              <a:t>            </a:t>
            </a:r>
          </a:p>
          <a:p>
            <a:r>
              <a:rPr lang="en-US" dirty="0"/>
              <a:t>            // If </a:t>
            </a:r>
            <a:r>
              <a:rPr lang="en-US" dirty="0" err="1"/>
              <a:t>i'th</a:t>
            </a:r>
            <a:r>
              <a:rPr lang="en-US" dirty="0"/>
              <a:t> bit is set </a:t>
            </a:r>
          </a:p>
          <a:p>
            <a:r>
              <a:rPr lang="en-US" dirty="0"/>
              <a:t>            if ((n &amp; (1 &lt;&lt; </a:t>
            </a:r>
            <a:r>
              <a:rPr lang="en-US" dirty="0" err="1"/>
              <a:t>i</a:t>
            </a:r>
            <a:r>
              <a:rPr lang="en-US" dirty="0"/>
              <a:t>)) != 0) </a:t>
            </a:r>
            <a:r>
              <a:rPr lang="en-US" dirty="0" err="1"/>
              <a:t>ans</a:t>
            </a:r>
            <a:r>
              <a:rPr lang="en-US" dirty="0"/>
              <a:t> += '1';</a:t>
            </a:r>
          </a:p>
          <a:p>
            <a:r>
              <a:rPr lang="en-US" dirty="0"/>
              <a:t>            else </a:t>
            </a:r>
            <a:r>
              <a:rPr lang="en-US" dirty="0" err="1"/>
              <a:t>ans</a:t>
            </a:r>
            <a:r>
              <a:rPr lang="en-US" dirty="0"/>
              <a:t> += '0';</a:t>
            </a:r>
          </a:p>
          <a:p>
            <a:r>
              <a:rPr lang="en-US" dirty="0"/>
              <a:t>        }</a:t>
            </a:r>
          </a:p>
        </p:txBody>
      </p:sp>
    </p:spTree>
    <p:extLst>
      <p:ext uri="{BB962C8B-B14F-4D97-AF65-F5344CB8AC3E}">
        <p14:creationId xmlns:p14="http://schemas.microsoft.com/office/powerpoint/2010/main" val="29953578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85A9A-0A73-28C7-54CC-722EC6FD4842}"/>
              </a:ext>
            </a:extLst>
          </p:cNvPr>
          <p:cNvSpPr>
            <a:spLocks noGrp="1"/>
          </p:cNvSpPr>
          <p:nvPr>
            <p:ph type="title"/>
          </p:nvPr>
        </p:nvSpPr>
        <p:spPr/>
        <p:txBody>
          <a:bodyPr>
            <a:normAutofit/>
          </a:bodyPr>
          <a:lstStyle/>
          <a:p>
            <a:r>
              <a:rPr lang="en-IN" b="1" i="0" dirty="0">
                <a:solidFill>
                  <a:srgbClr val="273239"/>
                </a:solidFill>
                <a:effectLst/>
                <a:latin typeface="Source Sans 3"/>
              </a:rPr>
              <a:t>Turn off the rightmost set bit</a:t>
            </a:r>
            <a:endParaRPr lang="en-US" dirty="0"/>
          </a:p>
        </p:txBody>
      </p:sp>
      <p:sp>
        <p:nvSpPr>
          <p:cNvPr id="3" name="Content Placeholder 2">
            <a:extLst>
              <a:ext uri="{FF2B5EF4-FFF2-40B4-BE49-F238E27FC236}">
                <a16:creationId xmlns:a16="http://schemas.microsoft.com/office/drawing/2014/main" id="{70DED6AD-954E-F111-126A-684B34DF2A1F}"/>
              </a:ext>
            </a:extLst>
          </p:cNvPr>
          <p:cNvSpPr>
            <a:spLocks noGrp="1"/>
          </p:cNvSpPr>
          <p:nvPr>
            <p:ph idx="1"/>
          </p:nvPr>
        </p:nvSpPr>
        <p:spPr/>
        <p:txBody>
          <a:bodyPr>
            <a:normAutofit fontScale="92500" lnSpcReduction="20000"/>
          </a:bodyPr>
          <a:lstStyle/>
          <a:p>
            <a:r>
              <a:rPr lang="en-US" dirty="0"/>
              <a:t>// Find the rightmost set bit</a:t>
            </a:r>
          </a:p>
          <a:p>
            <a:r>
              <a:rPr lang="en-US" dirty="0"/>
              <a:t>        int pos = 0;</a:t>
            </a:r>
          </a:p>
          <a:p>
            <a:r>
              <a:rPr lang="en-US" dirty="0"/>
              <a:t>        while (((n &gt;&gt; pos) &amp; 1) == 0) {</a:t>
            </a:r>
          </a:p>
          <a:p>
            <a:r>
              <a:rPr lang="en-US" dirty="0"/>
              <a:t>            pos++;</a:t>
            </a:r>
          </a:p>
          <a:p>
            <a:r>
              <a:rPr lang="en-US" dirty="0"/>
              <a:t>        }</a:t>
            </a:r>
          </a:p>
          <a:p>
            <a:endParaRPr lang="en-US" dirty="0"/>
          </a:p>
          <a:p>
            <a:r>
              <a:rPr lang="en-US" dirty="0"/>
              <a:t>        // Unset the rightmost set bit</a:t>
            </a:r>
          </a:p>
          <a:p>
            <a:r>
              <a:rPr lang="en-US" dirty="0"/>
              <a:t>        n = n ^ (1 &lt;&lt; pos);</a:t>
            </a:r>
          </a:p>
          <a:p>
            <a:endParaRPr lang="en-US" dirty="0"/>
          </a:p>
          <a:p>
            <a:r>
              <a:rPr lang="en-US" dirty="0">
                <a:solidFill>
                  <a:srgbClr val="00B050"/>
                </a:solidFill>
              </a:rPr>
              <a:t>n &amp; (n - 1);</a:t>
            </a:r>
          </a:p>
        </p:txBody>
      </p:sp>
    </p:spTree>
    <p:extLst>
      <p:ext uri="{BB962C8B-B14F-4D97-AF65-F5344CB8AC3E}">
        <p14:creationId xmlns:p14="http://schemas.microsoft.com/office/powerpoint/2010/main" val="15316483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E7631E1-F8C7-F80F-44E9-F2B66217F654}"/>
              </a:ext>
            </a:extLst>
          </p:cNvPr>
          <p:cNvPicPr>
            <a:picLocks noChangeAspect="1"/>
          </p:cNvPicPr>
          <p:nvPr/>
        </p:nvPicPr>
        <p:blipFill>
          <a:blip r:embed="rId2"/>
          <a:stretch>
            <a:fillRect/>
          </a:stretch>
        </p:blipFill>
        <p:spPr>
          <a:xfrm>
            <a:off x="563880" y="252730"/>
            <a:ext cx="11003280" cy="1797202"/>
          </a:xfrm>
          <a:prstGeom prst="rect">
            <a:avLst/>
          </a:prstGeom>
        </p:spPr>
      </p:pic>
      <p:pic>
        <p:nvPicPr>
          <p:cNvPr id="7" name="Picture 6">
            <a:extLst>
              <a:ext uri="{FF2B5EF4-FFF2-40B4-BE49-F238E27FC236}">
                <a16:creationId xmlns:a16="http://schemas.microsoft.com/office/drawing/2014/main" id="{F50DA63B-D6AC-C4B5-F96C-AD9BF2C10A18}"/>
              </a:ext>
            </a:extLst>
          </p:cNvPr>
          <p:cNvPicPr>
            <a:picLocks noChangeAspect="1"/>
          </p:cNvPicPr>
          <p:nvPr/>
        </p:nvPicPr>
        <p:blipFill>
          <a:blip r:embed="rId3"/>
          <a:stretch>
            <a:fillRect/>
          </a:stretch>
        </p:blipFill>
        <p:spPr>
          <a:xfrm>
            <a:off x="563878" y="3208731"/>
            <a:ext cx="11003278" cy="1797202"/>
          </a:xfrm>
          <a:prstGeom prst="rect">
            <a:avLst/>
          </a:prstGeom>
        </p:spPr>
      </p:pic>
    </p:spTree>
    <p:extLst>
      <p:ext uri="{BB962C8B-B14F-4D97-AF65-F5344CB8AC3E}">
        <p14:creationId xmlns:p14="http://schemas.microsoft.com/office/powerpoint/2010/main" val="3790692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0081B8-EC5B-859A-7AED-ACB77AFDC572}"/>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C35F2325-FA4F-6889-A89B-722355D313A0}"/>
              </a:ext>
            </a:extLst>
          </p:cNvPr>
          <p:cNvPicPr>
            <a:picLocks noChangeAspect="1"/>
          </p:cNvPicPr>
          <p:nvPr/>
        </p:nvPicPr>
        <p:blipFill>
          <a:blip r:embed="rId2"/>
          <a:stretch>
            <a:fillRect/>
          </a:stretch>
        </p:blipFill>
        <p:spPr>
          <a:xfrm>
            <a:off x="563878" y="389890"/>
            <a:ext cx="11003278" cy="1797202"/>
          </a:xfrm>
          <a:prstGeom prst="rect">
            <a:avLst/>
          </a:prstGeom>
        </p:spPr>
      </p:pic>
      <p:pic>
        <p:nvPicPr>
          <p:cNvPr id="3" name="Picture 2">
            <a:extLst>
              <a:ext uri="{FF2B5EF4-FFF2-40B4-BE49-F238E27FC236}">
                <a16:creationId xmlns:a16="http://schemas.microsoft.com/office/drawing/2014/main" id="{23C3C2F5-90D1-BA30-B061-729552993179}"/>
              </a:ext>
            </a:extLst>
          </p:cNvPr>
          <p:cNvPicPr>
            <a:picLocks noChangeAspect="1"/>
          </p:cNvPicPr>
          <p:nvPr/>
        </p:nvPicPr>
        <p:blipFill>
          <a:blip r:embed="rId3"/>
          <a:stretch>
            <a:fillRect/>
          </a:stretch>
        </p:blipFill>
        <p:spPr>
          <a:xfrm>
            <a:off x="563878" y="3117850"/>
            <a:ext cx="11003278" cy="1797202"/>
          </a:xfrm>
          <a:prstGeom prst="rect">
            <a:avLst/>
          </a:prstGeom>
        </p:spPr>
      </p:pic>
    </p:spTree>
    <p:extLst>
      <p:ext uri="{BB962C8B-B14F-4D97-AF65-F5344CB8AC3E}">
        <p14:creationId xmlns:p14="http://schemas.microsoft.com/office/powerpoint/2010/main" val="15799978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B8BD7E-D25A-11A2-6C38-78E01DABBB51}"/>
              </a:ext>
            </a:extLst>
          </p:cNvPr>
          <p:cNvSpPr>
            <a:spLocks noGrp="1"/>
          </p:cNvSpPr>
          <p:nvPr>
            <p:ph type="title"/>
          </p:nvPr>
        </p:nvSpPr>
        <p:spPr/>
        <p:txBody>
          <a:bodyPr/>
          <a:lstStyle/>
          <a:p>
            <a:r>
              <a:rPr lang="en-IN" b="0" i="0" dirty="0">
                <a:effectLst/>
                <a:latin typeface="Roboto" panose="02000000000000000000" pitchFamily="2" charset="0"/>
              </a:rPr>
              <a:t>Shift operators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22443C3-864E-9881-8BD4-F722D8405684}"/>
                  </a:ext>
                </a:extLst>
              </p:cNvPr>
              <p:cNvSpPr>
                <a:spLocks noGrp="1"/>
              </p:cNvSpPr>
              <p:nvPr>
                <p:ph idx="1"/>
              </p:nvPr>
            </p:nvSpPr>
            <p:spPr/>
            <p:txBody>
              <a:bodyPr>
                <a:noAutofit/>
              </a:bodyPr>
              <a:lstStyle/>
              <a:p>
                <a:pPr algn="l">
                  <a:lnSpc>
                    <a:spcPct val="120000"/>
                  </a:lnSpc>
                </a:pPr>
                <a:r>
                  <a:rPr lang="en-IN" sz="2000" b="0" i="0" dirty="0">
                    <a:effectLst/>
                    <a:latin typeface="Roboto" panose="02000000000000000000" pitchFamily="2" charset="0"/>
                  </a:rPr>
                  <a:t>There are two operators for shifting bits.</a:t>
                </a:r>
              </a:p>
              <a:p>
                <a:pPr>
                  <a:lnSpc>
                    <a:spcPct val="120000"/>
                  </a:lnSpc>
                </a:pPr>
                <a:r>
                  <a:rPr lang="en-IN" sz="2000" b="1" i="0" dirty="0">
                    <a:effectLst/>
                    <a:latin typeface="Roboto" panose="02000000000000000000" pitchFamily="2" charset="0"/>
                  </a:rPr>
                  <a:t> </a:t>
                </a:r>
                <a14:m>
                  <m:oMath xmlns:m="http://schemas.openxmlformats.org/officeDocument/2006/math">
                    <m:r>
                      <a:rPr lang="en-US" sz="2000" b="1" i="1">
                        <a:latin typeface="Cambria Math" panose="02040503050406030204" pitchFamily="18" charset="0"/>
                        <a:ea typeface="Cambria Math" panose="02040503050406030204" pitchFamily="18" charset="0"/>
                      </a:rPr>
                      <m:t>𝐑𝐢𝐠𝐡𝐭</m:t>
                    </m:r>
                    <m:r>
                      <a:rPr lang="en-US" sz="2000" b="1">
                        <a:latin typeface="Cambria Math" panose="02040503050406030204" pitchFamily="18" charset="0"/>
                        <a:ea typeface="Cambria Math" panose="02040503050406030204" pitchFamily="18" charset="0"/>
                      </a:rPr>
                      <m:t> </m:t>
                    </m:r>
                    <m:r>
                      <a:rPr lang="en-US" sz="2000" b="1" i="1">
                        <a:latin typeface="Cambria Math" panose="02040503050406030204" pitchFamily="18" charset="0"/>
                        <a:ea typeface="Cambria Math" panose="02040503050406030204" pitchFamily="18" charset="0"/>
                      </a:rPr>
                      <m:t>𝐒𝐡𝐢𝐟𝐭</m:t>
                    </m:r>
                    <m:r>
                      <a:rPr lang="en-US" sz="2000" b="1" i="1" smtClean="0">
                        <a:effectLst/>
                        <a:latin typeface="Cambria Math" panose="02040503050406030204" pitchFamily="18" charset="0"/>
                        <a:ea typeface="Cambria Math" panose="02040503050406030204" pitchFamily="18" charset="0"/>
                      </a:rPr>
                      <m:t>(</m:t>
                    </m:r>
                    <m:r>
                      <a:rPr lang="en-IN" sz="2000" b="1" i="1" smtClean="0">
                        <a:effectLst/>
                        <a:latin typeface="Cambria Math" panose="02040503050406030204" pitchFamily="18" charset="0"/>
                        <a:ea typeface="Cambria Math" panose="02040503050406030204" pitchFamily="18" charset="0"/>
                      </a:rPr>
                      <m:t>≫</m:t>
                    </m:r>
                    <m:r>
                      <a:rPr lang="en-US" sz="2000" b="1" i="1" smtClean="0">
                        <a:effectLst/>
                        <a:latin typeface="Cambria Math" panose="02040503050406030204" pitchFamily="18" charset="0"/>
                        <a:ea typeface="Cambria Math" panose="02040503050406030204" pitchFamily="18" charset="0"/>
                      </a:rPr>
                      <m:t>)</m:t>
                    </m:r>
                  </m:oMath>
                </a14:m>
                <a:r>
                  <a:rPr lang="en-IN" sz="2000" b="0" i="0" dirty="0">
                    <a:effectLst/>
                    <a:latin typeface="Roboto" panose="02000000000000000000" pitchFamily="2" charset="0"/>
                  </a:rPr>
                  <a:t>:  Shifts a number to the right by removing the last few binary digits of the number. Each shift by one represents an integer division by 2, so a right shift by  k  represents an integer division by  2</a:t>
                </a:r>
                <a:r>
                  <a:rPr lang="en-IN" sz="2000" b="0" i="0" baseline="30000" dirty="0">
                    <a:effectLst/>
                    <a:latin typeface="Roboto" panose="02000000000000000000" pitchFamily="2" charset="0"/>
                  </a:rPr>
                  <a:t>k</a:t>
                </a:r>
                <a:r>
                  <a:rPr lang="en-IN" sz="2000" b="0" i="0" dirty="0">
                    <a:effectLst/>
                    <a:latin typeface="Roboto" panose="02000000000000000000" pitchFamily="2" charset="0"/>
                  </a:rPr>
                  <a:t> .</a:t>
                </a:r>
              </a:p>
              <a:p>
                <a:pPr>
                  <a:lnSpc>
                    <a:spcPct val="120000"/>
                  </a:lnSpc>
                </a:pPr>
                <a:r>
                  <a:rPr lang="en-IN" sz="2000" b="0" i="0" dirty="0">
                    <a:effectLst/>
                    <a:latin typeface="Roboto" panose="02000000000000000000" pitchFamily="2" charset="0"/>
                  </a:rPr>
                  <a:t>E.g.  5 </a:t>
                </a:r>
                <a14:m>
                  <m:oMath xmlns:m="http://schemas.openxmlformats.org/officeDocument/2006/math">
                    <m:r>
                      <a:rPr lang="en-IN" sz="2000" b="0" i="1" smtClean="0">
                        <a:effectLst/>
                        <a:latin typeface="Cambria Math" panose="02040503050406030204" pitchFamily="18" charset="0"/>
                        <a:ea typeface="Cambria Math" panose="02040503050406030204" pitchFamily="18" charset="0"/>
                      </a:rPr>
                      <m:t>≫</m:t>
                    </m:r>
                  </m:oMath>
                </a14:m>
                <a:r>
                  <a:rPr lang="en-IN" sz="2000" b="0" i="0" dirty="0">
                    <a:effectLst/>
                    <a:latin typeface="Roboto" panose="02000000000000000000" pitchFamily="2" charset="0"/>
                  </a:rPr>
                  <a:t> 2 = 101</a:t>
                </a:r>
                <a:r>
                  <a:rPr lang="en-IN" sz="2000" b="0" i="0" baseline="-25000" dirty="0">
                    <a:effectLst/>
                    <a:latin typeface="Roboto" panose="02000000000000000000" pitchFamily="2" charset="0"/>
                  </a:rPr>
                  <a:t>2</a:t>
                </a:r>
                <a:r>
                  <a:rPr lang="en-IN" sz="2000" b="0" i="0" dirty="0">
                    <a:effectLst/>
                    <a:latin typeface="Roboto" panose="02000000000000000000" pitchFamily="2" charset="0"/>
                  </a:rPr>
                  <a:t> </a:t>
                </a:r>
                <a14:m>
                  <m:oMath xmlns:m="http://schemas.openxmlformats.org/officeDocument/2006/math">
                    <m:r>
                      <a:rPr lang="en-IN" sz="2000" i="1">
                        <a:latin typeface="Cambria Math" panose="02040503050406030204" pitchFamily="18" charset="0"/>
                        <a:ea typeface="Cambria Math" panose="02040503050406030204" pitchFamily="18" charset="0"/>
                      </a:rPr>
                      <m:t>≫</m:t>
                    </m:r>
                  </m:oMath>
                </a14:m>
                <a:r>
                  <a:rPr lang="en-IN" sz="2000" b="0" i="0" dirty="0">
                    <a:effectLst/>
                    <a:latin typeface="Roboto" panose="02000000000000000000" pitchFamily="2" charset="0"/>
                  </a:rPr>
                  <a:t> 2 = 1</a:t>
                </a:r>
                <a:r>
                  <a:rPr lang="en-IN" sz="2000" b="0" i="0" baseline="-25000" dirty="0">
                    <a:effectLst/>
                    <a:latin typeface="Roboto" panose="02000000000000000000" pitchFamily="2" charset="0"/>
                  </a:rPr>
                  <a:t>2</a:t>
                </a:r>
                <a:r>
                  <a:rPr lang="en-IN" sz="2000" b="0" i="0" dirty="0">
                    <a:effectLst/>
                    <a:latin typeface="Roboto" panose="02000000000000000000" pitchFamily="2" charset="0"/>
                  </a:rPr>
                  <a:t> = </a:t>
                </a:r>
                <a:r>
                  <a:rPr lang="en-IN" sz="2000" dirty="0">
                    <a:latin typeface="Roboto" panose="02000000000000000000" pitchFamily="2" charset="0"/>
                  </a:rPr>
                  <a:t>1   , which </a:t>
                </a:r>
                <a:r>
                  <a:rPr lang="en-IN" sz="2000" b="0" i="0" dirty="0">
                    <a:effectLst/>
                    <a:latin typeface="Roboto" panose="02000000000000000000" pitchFamily="2" charset="0"/>
                  </a:rPr>
                  <a:t>is the same as  </a:t>
                </a:r>
                <a14:m>
                  <m:oMath xmlns:m="http://schemas.openxmlformats.org/officeDocument/2006/math">
                    <m:f>
                      <m:fPr>
                        <m:ctrlPr>
                          <a:rPr lang="en-IN" sz="2000" b="0" i="1" smtClean="0">
                            <a:effectLst/>
                            <a:latin typeface="Cambria Math" panose="02040503050406030204" pitchFamily="18" charset="0"/>
                          </a:rPr>
                        </m:ctrlPr>
                      </m:fPr>
                      <m:num>
                        <m:r>
                          <a:rPr lang="en-US" sz="2000" b="0" i="1" smtClean="0">
                            <a:effectLst/>
                            <a:latin typeface="Cambria Math" panose="02040503050406030204" pitchFamily="18" charset="0"/>
                          </a:rPr>
                          <m:t>5</m:t>
                        </m:r>
                      </m:num>
                      <m:den>
                        <m:sSup>
                          <m:sSupPr>
                            <m:ctrlPr>
                              <a:rPr lang="en-IN" sz="2000" b="0" i="1" smtClean="0">
                                <a:effectLst/>
                                <a:latin typeface="Cambria Math" panose="02040503050406030204" pitchFamily="18" charset="0"/>
                              </a:rPr>
                            </m:ctrlPr>
                          </m:sSupPr>
                          <m:e>
                            <m:r>
                              <a:rPr lang="en-US" sz="2000" b="0" i="1" smtClean="0">
                                <a:effectLst/>
                                <a:latin typeface="Cambria Math" panose="02040503050406030204" pitchFamily="18" charset="0"/>
                              </a:rPr>
                              <m:t>2</m:t>
                            </m:r>
                          </m:e>
                          <m:sup>
                            <m:r>
                              <a:rPr lang="en-US" sz="2000" b="0" i="1" smtClean="0">
                                <a:effectLst/>
                                <a:latin typeface="Cambria Math" panose="02040503050406030204" pitchFamily="18" charset="0"/>
                              </a:rPr>
                              <m:t>2</m:t>
                            </m:r>
                          </m:sup>
                        </m:sSup>
                      </m:den>
                    </m:f>
                  </m:oMath>
                </a14:m>
                <a:r>
                  <a:rPr lang="en-IN" sz="2000" b="0" i="0" dirty="0">
                    <a:effectLst/>
                    <a:latin typeface="Roboto" panose="02000000000000000000" pitchFamily="2" charset="0"/>
                  </a:rPr>
                  <a:t> = </a:t>
                </a:r>
                <a14:m>
                  <m:oMath xmlns:m="http://schemas.openxmlformats.org/officeDocument/2006/math">
                    <m:f>
                      <m:fPr>
                        <m:ctrlPr>
                          <a:rPr lang="en-IN" sz="2000" i="1">
                            <a:latin typeface="Cambria Math" panose="02040503050406030204" pitchFamily="18" charset="0"/>
                          </a:rPr>
                        </m:ctrlPr>
                      </m:fPr>
                      <m:num>
                        <m:r>
                          <a:rPr lang="en-US" sz="2000" i="1">
                            <a:latin typeface="Cambria Math" panose="02040503050406030204" pitchFamily="18" charset="0"/>
                          </a:rPr>
                          <m:t>5</m:t>
                        </m:r>
                      </m:num>
                      <m:den>
                        <m:r>
                          <a:rPr lang="en-US" sz="2000" b="0" i="1" smtClean="0">
                            <a:latin typeface="Cambria Math" panose="02040503050406030204" pitchFamily="18" charset="0"/>
                          </a:rPr>
                          <m:t>4</m:t>
                        </m:r>
                      </m:den>
                    </m:f>
                  </m:oMath>
                </a14:m>
                <a:r>
                  <a:rPr lang="en-IN" sz="2000" b="0" i="0" dirty="0">
                    <a:effectLst/>
                    <a:latin typeface="Roboto" panose="02000000000000000000" pitchFamily="2" charset="0"/>
                  </a:rPr>
                  <a:t> = 1 . For a computer through shifting some bits is a lot faster than doing divisions.</a:t>
                </a:r>
              </a:p>
              <a:p>
                <a:pPr>
                  <a:lnSpc>
                    <a:spcPct val="120000"/>
                  </a:lnSpc>
                </a:pPr>
                <a:r>
                  <a:rPr lang="en-IN" sz="2000" b="0" i="0" dirty="0">
                    <a:effectLst/>
                    <a:latin typeface="Roboto" panose="02000000000000000000" pitchFamily="2" charset="0"/>
                  </a:rPr>
                  <a:t> </a:t>
                </a:r>
                <a14:m>
                  <m:oMath xmlns:m="http://schemas.openxmlformats.org/officeDocument/2006/math">
                    <m:r>
                      <a:rPr lang="en-US" sz="2000" b="1" i="0" smtClean="0">
                        <a:effectLst/>
                        <a:latin typeface="Cambria Math" panose="02040503050406030204" pitchFamily="18" charset="0"/>
                        <a:ea typeface="Cambria Math" panose="02040503050406030204" pitchFamily="18" charset="0"/>
                      </a:rPr>
                      <m:t>𝐋𝐞𝐟𝐭</m:t>
                    </m:r>
                    <m:r>
                      <a:rPr lang="en-US" sz="2000" b="1" i="0" smtClean="0">
                        <a:effectLst/>
                        <a:latin typeface="Cambria Math" panose="02040503050406030204" pitchFamily="18" charset="0"/>
                        <a:ea typeface="Cambria Math" panose="02040503050406030204" pitchFamily="18" charset="0"/>
                      </a:rPr>
                      <m:t> </m:t>
                    </m:r>
                    <m:r>
                      <a:rPr lang="en-US" sz="2000" b="1" i="0" smtClean="0">
                        <a:effectLst/>
                        <a:latin typeface="Cambria Math" panose="02040503050406030204" pitchFamily="18" charset="0"/>
                        <a:ea typeface="Cambria Math" panose="02040503050406030204" pitchFamily="18" charset="0"/>
                      </a:rPr>
                      <m:t>𝐒𝐡𝐢𝐟𝐭</m:t>
                    </m:r>
                    <m:r>
                      <a:rPr lang="en-US" sz="2000" b="1" i="1" smtClean="0">
                        <a:effectLst/>
                        <a:latin typeface="Cambria Math" panose="02040503050406030204" pitchFamily="18" charset="0"/>
                        <a:ea typeface="Cambria Math" panose="02040503050406030204" pitchFamily="18" charset="0"/>
                      </a:rPr>
                      <m:t>(</m:t>
                    </m:r>
                    <m:r>
                      <a:rPr lang="en-IN" sz="2000" b="1" i="1" smtClean="0">
                        <a:effectLst/>
                        <a:latin typeface="Cambria Math" panose="02040503050406030204" pitchFamily="18" charset="0"/>
                        <a:ea typeface="Cambria Math" panose="02040503050406030204" pitchFamily="18" charset="0"/>
                      </a:rPr>
                      <m:t>≪</m:t>
                    </m:r>
                  </m:oMath>
                </a14:m>
                <a:r>
                  <a:rPr lang="en-IN" sz="2000" b="1" i="0" dirty="0">
                    <a:effectLst/>
                    <a:latin typeface="Roboto" panose="02000000000000000000" pitchFamily="2" charset="0"/>
                  </a:rPr>
                  <a:t>):</a:t>
                </a:r>
                <a:r>
                  <a:rPr lang="en-IN" sz="2000" b="0" i="0" dirty="0">
                    <a:effectLst/>
                    <a:latin typeface="Roboto" panose="02000000000000000000" pitchFamily="2" charset="0"/>
                  </a:rPr>
                  <a:t>  Shifts a number to left by appending zero digits. In similar fashion to a right shift by  k , a left shift by  k  represents a multiplication </a:t>
                </a:r>
                <a:r>
                  <a:rPr lang="en-IN" sz="2000" dirty="0">
                    <a:latin typeface="Roboto" panose="02000000000000000000" pitchFamily="2" charset="0"/>
                  </a:rPr>
                  <a:t>by   2</a:t>
                </a:r>
                <a:r>
                  <a:rPr lang="en-IN" sz="2000" baseline="30000" dirty="0">
                    <a:latin typeface="Roboto" panose="02000000000000000000" pitchFamily="2" charset="0"/>
                  </a:rPr>
                  <a:t>k </a:t>
                </a:r>
                <a:r>
                  <a:rPr lang="en-IN" sz="2000" b="0" i="0" dirty="0">
                    <a:effectLst/>
                    <a:latin typeface="Roboto" panose="02000000000000000000" pitchFamily="2" charset="0"/>
                  </a:rPr>
                  <a:t> .</a:t>
                </a:r>
              </a:p>
              <a:p>
                <a:pPr>
                  <a:lnSpc>
                    <a:spcPct val="120000"/>
                  </a:lnSpc>
                </a:pPr>
                <a:r>
                  <a:rPr lang="en-IN" sz="2000" b="0" i="0" dirty="0">
                    <a:effectLst/>
                    <a:latin typeface="Roboto" panose="02000000000000000000" pitchFamily="2" charset="0"/>
                  </a:rPr>
                  <a:t>E.g.  5 </a:t>
                </a:r>
                <a14:m>
                  <m:oMath xmlns:m="http://schemas.openxmlformats.org/officeDocument/2006/math">
                    <m:r>
                      <a:rPr lang="en-IN" sz="2000" b="1" i="1" smtClean="0">
                        <a:effectLst/>
                        <a:latin typeface="Cambria Math" panose="02040503050406030204" pitchFamily="18" charset="0"/>
                        <a:ea typeface="Cambria Math" panose="02040503050406030204" pitchFamily="18" charset="0"/>
                      </a:rPr>
                      <m:t>≪</m:t>
                    </m:r>
                  </m:oMath>
                </a14:m>
                <a:r>
                  <a:rPr lang="en-IN" sz="2000" b="0" i="0" dirty="0">
                    <a:effectLst/>
                    <a:latin typeface="Roboto" panose="02000000000000000000" pitchFamily="2" charset="0"/>
                  </a:rPr>
                  <a:t> 3 = 101</a:t>
                </a:r>
                <a:r>
                  <a:rPr lang="en-IN" sz="2000" b="0" i="0" baseline="-25000" dirty="0">
                    <a:effectLst/>
                    <a:latin typeface="Roboto" panose="02000000000000000000" pitchFamily="2" charset="0"/>
                  </a:rPr>
                  <a:t>2</a:t>
                </a:r>
                <a:r>
                  <a:rPr lang="en-IN" sz="2000" b="0" i="0" dirty="0">
                    <a:effectLst/>
                    <a:latin typeface="Roboto" panose="02000000000000000000" pitchFamily="2" charset="0"/>
                  </a:rPr>
                  <a:t> </a:t>
                </a:r>
                <a14:m>
                  <m:oMath xmlns:m="http://schemas.openxmlformats.org/officeDocument/2006/math">
                    <m:r>
                      <a:rPr lang="en-IN" sz="2000" b="1" i="1">
                        <a:latin typeface="Cambria Math" panose="02040503050406030204" pitchFamily="18" charset="0"/>
                        <a:ea typeface="Cambria Math" panose="02040503050406030204" pitchFamily="18" charset="0"/>
                      </a:rPr>
                      <m:t>≪</m:t>
                    </m:r>
                  </m:oMath>
                </a14:m>
                <a:r>
                  <a:rPr lang="en-IN" sz="2000" b="0" i="0" dirty="0">
                    <a:effectLst/>
                    <a:latin typeface="Roboto" panose="02000000000000000000" pitchFamily="2" charset="0"/>
                  </a:rPr>
                  <a:t> 3 = 101000</a:t>
                </a:r>
                <a:r>
                  <a:rPr lang="en-IN" sz="2000" b="0" i="0" baseline="-25000" dirty="0">
                    <a:effectLst/>
                    <a:latin typeface="Roboto" panose="02000000000000000000" pitchFamily="2" charset="0"/>
                  </a:rPr>
                  <a:t>2</a:t>
                </a:r>
                <a:r>
                  <a:rPr lang="en-IN" sz="2000" b="0" i="0" dirty="0">
                    <a:effectLst/>
                    <a:latin typeface="Roboto" panose="02000000000000000000" pitchFamily="2" charset="0"/>
                  </a:rPr>
                  <a:t> = 40 which is the same as  5 x 2</a:t>
                </a:r>
                <a:r>
                  <a:rPr lang="en-IN" sz="2000" b="0" i="0" baseline="30000" dirty="0">
                    <a:effectLst/>
                    <a:latin typeface="Roboto" panose="02000000000000000000" pitchFamily="2" charset="0"/>
                  </a:rPr>
                  <a:t>3</a:t>
                </a:r>
                <a:r>
                  <a:rPr lang="en-IN" sz="2000" b="0" i="0" dirty="0">
                    <a:effectLst/>
                    <a:latin typeface="Roboto" panose="02000000000000000000" pitchFamily="2" charset="0"/>
                  </a:rPr>
                  <a:t> = 5 x 8 = 40 .</a:t>
                </a:r>
              </a:p>
              <a:p>
                <a:pPr algn="l">
                  <a:lnSpc>
                    <a:spcPct val="120000"/>
                  </a:lnSpc>
                  <a:buFont typeface="Arial" panose="020B0604020202020204" pitchFamily="34" charset="0"/>
                  <a:buChar char="•"/>
                </a:pPr>
                <a:r>
                  <a:rPr lang="en-IN" sz="2000" b="0" i="0" dirty="0">
                    <a:effectLst/>
                    <a:latin typeface="Roboto" panose="02000000000000000000" pitchFamily="2" charset="0"/>
                  </a:rPr>
                  <a:t>Notice however that for a fixed-length integer that means dropping the most left digits, and if you shift too much you end up with the number  0 .</a:t>
                </a:r>
              </a:p>
              <a:p>
                <a:pPr>
                  <a:lnSpc>
                    <a:spcPct val="120000"/>
                  </a:lnSpc>
                </a:pPr>
                <a:endParaRPr lang="en-US" sz="2000" dirty="0"/>
              </a:p>
            </p:txBody>
          </p:sp>
        </mc:Choice>
        <mc:Fallback xmlns="">
          <p:sp>
            <p:nvSpPr>
              <p:cNvPr id="3" name="Content Placeholder 2">
                <a:extLst>
                  <a:ext uri="{FF2B5EF4-FFF2-40B4-BE49-F238E27FC236}">
                    <a16:creationId xmlns:a16="http://schemas.microsoft.com/office/drawing/2014/main" id="{522443C3-864E-9881-8BD4-F722D8405684}"/>
                  </a:ext>
                </a:extLst>
              </p:cNvPr>
              <p:cNvSpPr>
                <a:spLocks noGrp="1" noRot="1" noChangeAspect="1" noMove="1" noResize="1" noEditPoints="1" noAdjustHandles="1" noChangeArrowheads="1" noChangeShapeType="1" noTextEdit="1"/>
              </p:cNvSpPr>
              <p:nvPr>
                <p:ph idx="1"/>
              </p:nvPr>
            </p:nvSpPr>
            <p:spPr>
              <a:blipFill>
                <a:blip r:embed="rId2"/>
                <a:stretch>
                  <a:fillRect l="-603" b="-14535"/>
                </a:stretch>
              </a:blipFill>
            </p:spPr>
            <p:txBody>
              <a:bodyPr/>
              <a:lstStyle/>
              <a:p>
                <a:r>
                  <a:rPr lang="en-US">
                    <a:noFill/>
                  </a:rPr>
                  <a:t> </a:t>
                </a:r>
              </a:p>
            </p:txBody>
          </p:sp>
        </mc:Fallback>
      </mc:AlternateContent>
    </p:spTree>
    <p:extLst>
      <p:ext uri="{BB962C8B-B14F-4D97-AF65-F5344CB8AC3E}">
        <p14:creationId xmlns:p14="http://schemas.microsoft.com/office/powerpoint/2010/main" val="18698454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36F89-FB21-DB49-35BA-92C210F85C83}"/>
              </a:ext>
            </a:extLst>
          </p:cNvPr>
          <p:cNvSpPr>
            <a:spLocks noGrp="1"/>
          </p:cNvSpPr>
          <p:nvPr>
            <p:ph type="title"/>
          </p:nvPr>
        </p:nvSpPr>
        <p:spPr/>
        <p:txBody>
          <a:bodyPr/>
          <a:lstStyle/>
          <a:p>
            <a:r>
              <a:rPr lang="en-IN" b="0" i="0" dirty="0">
                <a:effectLst/>
                <a:latin typeface="Roboto" panose="02000000000000000000" pitchFamily="2" charset="0"/>
              </a:rPr>
              <a:t>Useful tricks</a:t>
            </a:r>
            <a:r>
              <a:rPr lang="en-IN" dirty="0">
                <a:latin typeface="Roboto" panose="02000000000000000000" pitchFamily="2" charset="0"/>
              </a:rPr>
              <a:t> (</a:t>
            </a:r>
            <a:r>
              <a:rPr lang="en-IN" b="0" i="0" dirty="0">
                <a:effectLst/>
                <a:latin typeface="Roboto" panose="02000000000000000000" pitchFamily="2" charset="0"/>
              </a:rPr>
              <a:t>Set/flip/clear a bit</a:t>
            </a:r>
            <a:r>
              <a:rPr lang="en-IN" dirty="0">
                <a:latin typeface="Roboto" panose="02000000000000000000" pitchFamily="2" charset="0"/>
              </a:rPr>
              <a:t>)</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53CDCA7-11AC-5705-EDA1-8602027B8B92}"/>
                  </a:ext>
                </a:extLst>
              </p:cNvPr>
              <p:cNvSpPr>
                <a:spLocks noGrp="1"/>
              </p:cNvSpPr>
              <p:nvPr>
                <p:ph idx="1"/>
              </p:nvPr>
            </p:nvSpPr>
            <p:spPr/>
            <p:txBody>
              <a:bodyPr/>
              <a:lstStyle/>
              <a:p>
                <a:r>
                  <a:rPr lang="en-IN" b="0" i="0" dirty="0">
                    <a:effectLst/>
                    <a:latin typeface="Roboto" panose="02000000000000000000" pitchFamily="2" charset="0"/>
                  </a:rPr>
                  <a:t>Using bitwise shifts and some basic bitwise operations, we can easily </a:t>
                </a:r>
                <a:r>
                  <a:rPr lang="en-IN" b="1" i="1" dirty="0">
                    <a:effectLst/>
                    <a:latin typeface="Roboto" panose="02000000000000000000" pitchFamily="2" charset="0"/>
                  </a:rPr>
                  <a:t>set</a:t>
                </a:r>
                <a:r>
                  <a:rPr lang="en-IN" b="0" i="0" dirty="0">
                    <a:effectLst/>
                    <a:latin typeface="Roboto" panose="02000000000000000000" pitchFamily="2" charset="0"/>
                  </a:rPr>
                  <a:t>, </a:t>
                </a:r>
                <a:r>
                  <a:rPr lang="en-IN" b="1" i="1" dirty="0">
                    <a:effectLst/>
                    <a:latin typeface="Roboto" panose="02000000000000000000" pitchFamily="2" charset="0"/>
                  </a:rPr>
                  <a:t>flip</a:t>
                </a:r>
                <a:r>
                  <a:rPr lang="en-IN" b="0" i="0" dirty="0">
                    <a:effectLst/>
                    <a:latin typeface="Roboto" panose="02000000000000000000" pitchFamily="2" charset="0"/>
                  </a:rPr>
                  <a:t> or </a:t>
                </a:r>
                <a:r>
                  <a:rPr lang="en-IN" b="1" i="1" dirty="0">
                    <a:effectLst/>
                    <a:latin typeface="Roboto" panose="02000000000000000000" pitchFamily="2" charset="0"/>
                  </a:rPr>
                  <a:t>clear</a:t>
                </a:r>
                <a:r>
                  <a:rPr lang="en-IN" b="0" i="0" dirty="0">
                    <a:effectLst/>
                    <a:latin typeface="Roboto" panose="02000000000000000000" pitchFamily="2" charset="0"/>
                  </a:rPr>
                  <a:t> a bit.  </a:t>
                </a:r>
              </a:p>
              <a:p>
                <a:r>
                  <a:rPr lang="en-IN" b="0" i="0" dirty="0">
                    <a:effectLst/>
                    <a:latin typeface="Roboto" panose="02000000000000000000" pitchFamily="2" charset="0"/>
                  </a:rPr>
                  <a:t>1 </a:t>
                </a:r>
                <a14:m>
                  <m:oMath xmlns:m="http://schemas.openxmlformats.org/officeDocument/2006/math">
                    <m:r>
                      <a:rPr lang="en-IN" b="0" i="1" smtClean="0">
                        <a:effectLst/>
                        <a:latin typeface="Cambria Math" panose="02040503050406030204" pitchFamily="18" charset="0"/>
                        <a:ea typeface="Cambria Math" panose="02040503050406030204" pitchFamily="18" charset="0"/>
                      </a:rPr>
                      <m:t>≪</m:t>
                    </m:r>
                  </m:oMath>
                </a14:m>
                <a:r>
                  <a:rPr lang="en-IN" b="0" i="0" dirty="0">
                    <a:effectLst/>
                    <a:latin typeface="Roboto" panose="02000000000000000000" pitchFamily="2" charset="0"/>
                  </a:rPr>
                  <a:t> x  is a number with only the  </a:t>
                </a:r>
                <a:r>
                  <a:rPr lang="en-IN" b="0" i="0" dirty="0" err="1">
                    <a:effectLst/>
                    <a:latin typeface="Roboto" panose="02000000000000000000" pitchFamily="2" charset="0"/>
                  </a:rPr>
                  <a:t>x</a:t>
                </a:r>
                <a:r>
                  <a:rPr lang="en-IN" b="0" i="0" baseline="30000" dirty="0" err="1">
                    <a:effectLst/>
                    <a:latin typeface="Roboto" panose="02000000000000000000" pitchFamily="2" charset="0"/>
                  </a:rPr>
                  <a:t>th</a:t>
                </a:r>
                <a:r>
                  <a:rPr lang="en-IN" b="0" i="0" dirty="0">
                    <a:effectLst/>
                    <a:latin typeface="Roboto" panose="02000000000000000000" pitchFamily="2" charset="0"/>
                  </a:rPr>
                  <a:t> bit set, while  ~(1 </a:t>
                </a:r>
                <a14:m>
                  <m:oMath xmlns:m="http://schemas.openxmlformats.org/officeDocument/2006/math">
                    <m:r>
                      <a:rPr lang="en-IN" i="1">
                        <a:latin typeface="Cambria Math" panose="02040503050406030204" pitchFamily="18" charset="0"/>
                        <a:ea typeface="Cambria Math" panose="02040503050406030204" pitchFamily="18" charset="0"/>
                      </a:rPr>
                      <m:t>≪ </m:t>
                    </m:r>
                  </m:oMath>
                </a14:m>
                <a:r>
                  <a:rPr lang="en-IN" b="0" i="0" dirty="0">
                    <a:effectLst/>
                    <a:latin typeface="Roboto" panose="02000000000000000000" pitchFamily="2" charset="0"/>
                  </a:rPr>
                  <a:t>x)  is a number with all bits set except the  </a:t>
                </a:r>
                <a:r>
                  <a:rPr lang="en-IN" b="0" i="0" dirty="0" err="1">
                    <a:effectLst/>
                    <a:latin typeface="Roboto" panose="02000000000000000000" pitchFamily="2" charset="0"/>
                  </a:rPr>
                  <a:t>x</a:t>
                </a:r>
                <a:r>
                  <a:rPr lang="en-IN" b="0" i="0" baseline="30000" dirty="0" err="1">
                    <a:effectLst/>
                    <a:latin typeface="Roboto" panose="02000000000000000000" pitchFamily="2" charset="0"/>
                  </a:rPr>
                  <a:t>th</a:t>
                </a:r>
                <a:r>
                  <a:rPr lang="en-IN" b="0" i="0" dirty="0">
                    <a:effectLst/>
                    <a:latin typeface="Roboto" panose="02000000000000000000" pitchFamily="2" charset="0"/>
                  </a:rPr>
                  <a:t> bit.</a:t>
                </a:r>
              </a:p>
              <a:p>
                <a:endParaRPr lang="en-IN" b="0" i="0" dirty="0">
                  <a:effectLst/>
                  <a:latin typeface="Roboto" panose="02000000000000000000" pitchFamily="2" charset="0"/>
                </a:endParaRPr>
              </a:p>
              <a:p>
                <a:pPr algn="l">
                  <a:buFont typeface="Arial" panose="020B0604020202020204" pitchFamily="34" charset="0"/>
                  <a:buChar char="•"/>
                </a:pPr>
                <a:r>
                  <a:rPr lang="en-IN" b="0" i="0" dirty="0">
                    <a:effectLst/>
                    <a:latin typeface="Roboto" panose="02000000000000000000" pitchFamily="2" charset="0"/>
                  </a:rPr>
                  <a:t> n | (1 </a:t>
                </a:r>
                <a14:m>
                  <m:oMath xmlns:m="http://schemas.openxmlformats.org/officeDocument/2006/math">
                    <m:r>
                      <a:rPr lang="en-IN" b="0" i="1" smtClean="0">
                        <a:effectLst/>
                        <a:latin typeface="Cambria Math" panose="02040503050406030204" pitchFamily="18" charset="0"/>
                        <a:ea typeface="Cambria Math" panose="02040503050406030204" pitchFamily="18" charset="0"/>
                      </a:rPr>
                      <m:t>≪</m:t>
                    </m:r>
                  </m:oMath>
                </a14:m>
                <a:r>
                  <a:rPr lang="en-IN" b="0" i="0" dirty="0">
                    <a:effectLst/>
                    <a:latin typeface="Roboto" panose="02000000000000000000" pitchFamily="2" charset="0"/>
                  </a:rPr>
                  <a:t> x)  sets the  </a:t>
                </a:r>
                <a:r>
                  <a:rPr lang="en-IN" b="0" i="0" dirty="0" err="1">
                    <a:effectLst/>
                    <a:latin typeface="Roboto" panose="02000000000000000000" pitchFamily="2" charset="0"/>
                  </a:rPr>
                  <a:t>x</a:t>
                </a:r>
                <a:r>
                  <a:rPr lang="en-IN" b="0" i="0" baseline="30000" dirty="0" err="1">
                    <a:effectLst/>
                    <a:latin typeface="Roboto" panose="02000000000000000000" pitchFamily="2" charset="0"/>
                  </a:rPr>
                  <a:t>th</a:t>
                </a:r>
                <a:r>
                  <a:rPr lang="en-IN" b="0" i="0" dirty="0">
                    <a:effectLst/>
                    <a:latin typeface="Roboto" panose="02000000000000000000" pitchFamily="2" charset="0"/>
                  </a:rPr>
                  <a:t> bit in the number  n </a:t>
                </a:r>
              </a:p>
              <a:p>
                <a:r>
                  <a:rPr lang="en-IN" b="0" i="0" dirty="0">
                    <a:effectLst/>
                    <a:latin typeface="Roboto" panose="02000000000000000000" pitchFamily="2" charset="0"/>
                  </a:rPr>
                  <a:t> n </a:t>
                </a:r>
                <a14:m>
                  <m:oMath xmlns:m="http://schemas.openxmlformats.org/officeDocument/2006/math">
                    <m:r>
                      <a:rPr lang="en-IN" b="0" i="1" smtClean="0">
                        <a:effectLst/>
                        <a:latin typeface="Cambria Math" panose="02040503050406030204" pitchFamily="18" charset="0"/>
                        <a:ea typeface="Cambria Math" panose="02040503050406030204" pitchFamily="18" charset="0"/>
                      </a:rPr>
                      <m:t>⋀</m:t>
                    </m:r>
                  </m:oMath>
                </a14:m>
                <a:r>
                  <a:rPr lang="en-IN" b="0" i="0" dirty="0">
                    <a:effectLst/>
                    <a:latin typeface="Roboto" panose="02000000000000000000" pitchFamily="2" charset="0"/>
                  </a:rPr>
                  <a:t>(1 </a:t>
                </a:r>
                <a14:m>
                  <m:oMath xmlns:m="http://schemas.openxmlformats.org/officeDocument/2006/math">
                    <m:r>
                      <a:rPr lang="en-IN" i="1">
                        <a:latin typeface="Cambria Math" panose="02040503050406030204" pitchFamily="18" charset="0"/>
                        <a:ea typeface="Cambria Math" panose="02040503050406030204" pitchFamily="18" charset="0"/>
                      </a:rPr>
                      <m:t>≪</m:t>
                    </m:r>
                  </m:oMath>
                </a14:m>
                <a:r>
                  <a:rPr lang="en-IN" b="0" i="0" dirty="0">
                    <a:effectLst/>
                    <a:latin typeface="Roboto" panose="02000000000000000000" pitchFamily="2" charset="0"/>
                  </a:rPr>
                  <a:t> x)  flips </a:t>
                </a:r>
                <a:r>
                  <a:rPr lang="en-IN" dirty="0">
                    <a:latin typeface="Roboto" panose="02000000000000000000" pitchFamily="2" charset="0"/>
                  </a:rPr>
                  <a:t>the   </a:t>
                </a:r>
                <a:r>
                  <a:rPr lang="en-IN" dirty="0" err="1">
                    <a:latin typeface="Roboto" panose="02000000000000000000" pitchFamily="2" charset="0"/>
                  </a:rPr>
                  <a:t>x</a:t>
                </a:r>
                <a:r>
                  <a:rPr lang="en-IN" baseline="30000" dirty="0" err="1">
                    <a:latin typeface="Roboto" panose="02000000000000000000" pitchFamily="2" charset="0"/>
                  </a:rPr>
                  <a:t>th</a:t>
                </a:r>
                <a:r>
                  <a:rPr lang="en-IN" b="0" i="0" dirty="0">
                    <a:effectLst/>
                    <a:latin typeface="Roboto" panose="02000000000000000000" pitchFamily="2" charset="0"/>
                  </a:rPr>
                  <a:t> bit in the number  n </a:t>
                </a:r>
              </a:p>
              <a:p>
                <a:pPr algn="l">
                  <a:buFont typeface="Arial" panose="020B0604020202020204" pitchFamily="34" charset="0"/>
                  <a:buChar char="•"/>
                </a:pPr>
                <a:r>
                  <a:rPr lang="en-IN" b="0" i="0" dirty="0">
                    <a:effectLst/>
                    <a:latin typeface="Roboto" panose="02000000000000000000" pitchFamily="2" charset="0"/>
                  </a:rPr>
                  <a:t> n &amp; (1 </a:t>
                </a:r>
                <a14:m>
                  <m:oMath xmlns:m="http://schemas.openxmlformats.org/officeDocument/2006/math">
                    <m:r>
                      <a:rPr lang="en-IN" i="1" smtClean="0">
                        <a:latin typeface="Cambria Math" panose="02040503050406030204" pitchFamily="18" charset="0"/>
                        <a:ea typeface="Cambria Math" panose="02040503050406030204" pitchFamily="18" charset="0"/>
                      </a:rPr>
                      <m:t>≪ </m:t>
                    </m:r>
                  </m:oMath>
                </a14:m>
                <a:r>
                  <a:rPr lang="en-IN" b="0" i="0" dirty="0">
                    <a:effectLst/>
                    <a:latin typeface="Roboto" panose="02000000000000000000" pitchFamily="2" charset="0"/>
                  </a:rPr>
                  <a:t>x)$  clears the   </a:t>
                </a:r>
                <a:r>
                  <a:rPr lang="en-IN" b="0" i="0" dirty="0" err="1">
                    <a:effectLst/>
                    <a:latin typeface="Roboto" panose="02000000000000000000" pitchFamily="2" charset="0"/>
                  </a:rPr>
                  <a:t>x</a:t>
                </a:r>
                <a:r>
                  <a:rPr lang="en-IN" b="0" i="0" baseline="30000" dirty="0" err="1">
                    <a:effectLst/>
                    <a:latin typeface="Roboto" panose="02000000000000000000" pitchFamily="2" charset="0"/>
                  </a:rPr>
                  <a:t>th</a:t>
                </a:r>
                <a:r>
                  <a:rPr lang="en-IN" b="0" i="0" dirty="0">
                    <a:effectLst/>
                    <a:latin typeface="Roboto" panose="02000000000000000000" pitchFamily="2" charset="0"/>
                  </a:rPr>
                  <a:t> bit in the number  n </a:t>
                </a:r>
              </a:p>
              <a:p>
                <a:endParaRPr lang="en-US" dirty="0"/>
              </a:p>
            </p:txBody>
          </p:sp>
        </mc:Choice>
        <mc:Fallback xmlns="">
          <p:sp>
            <p:nvSpPr>
              <p:cNvPr id="3" name="Content Placeholder 2">
                <a:extLst>
                  <a:ext uri="{FF2B5EF4-FFF2-40B4-BE49-F238E27FC236}">
                    <a16:creationId xmlns:a16="http://schemas.microsoft.com/office/drawing/2014/main" id="{753CDCA7-11AC-5705-EDA1-8602027B8B92}"/>
                  </a:ext>
                </a:extLst>
              </p:cNvPr>
              <p:cNvSpPr>
                <a:spLocks noGrp="1" noRot="1" noChangeAspect="1" noMove="1" noResize="1" noEditPoints="1" noAdjustHandles="1" noChangeArrowheads="1" noChangeShapeType="1" noTextEdit="1"/>
              </p:cNvSpPr>
              <p:nvPr>
                <p:ph idx="1"/>
              </p:nvPr>
            </p:nvSpPr>
            <p:spPr>
              <a:blipFill>
                <a:blip r:embed="rId2"/>
                <a:stretch>
                  <a:fillRect l="-1086" t="-2616" r="-724"/>
                </a:stretch>
              </a:blipFill>
            </p:spPr>
            <p:txBody>
              <a:bodyPr/>
              <a:lstStyle/>
              <a:p>
                <a:r>
                  <a:rPr lang="en-US">
                    <a:noFill/>
                  </a:rPr>
                  <a:t> </a:t>
                </a:r>
              </a:p>
            </p:txBody>
          </p:sp>
        </mc:Fallback>
      </mc:AlternateContent>
    </p:spTree>
    <p:extLst>
      <p:ext uri="{BB962C8B-B14F-4D97-AF65-F5344CB8AC3E}">
        <p14:creationId xmlns:p14="http://schemas.microsoft.com/office/powerpoint/2010/main" val="12451309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54AD9-0AEF-888F-1339-3EE32F390F89}"/>
              </a:ext>
            </a:extLst>
          </p:cNvPr>
          <p:cNvSpPr>
            <a:spLocks noGrp="1"/>
          </p:cNvSpPr>
          <p:nvPr>
            <p:ph type="title"/>
          </p:nvPr>
        </p:nvSpPr>
        <p:spPr/>
        <p:txBody>
          <a:bodyPr/>
          <a:lstStyle/>
          <a:p>
            <a:r>
              <a:rPr lang="en-IN" b="0" i="0" dirty="0">
                <a:effectLst/>
                <a:latin typeface="Roboto" panose="02000000000000000000" pitchFamily="2" charset="0"/>
              </a:rPr>
              <a:t>Useful tricks</a:t>
            </a:r>
            <a:r>
              <a:rPr lang="en-IN" dirty="0">
                <a:latin typeface="Roboto" panose="02000000000000000000" pitchFamily="2" charset="0"/>
              </a:rPr>
              <a:t> (</a:t>
            </a:r>
            <a:r>
              <a:rPr lang="en-IN" b="0" i="0" dirty="0">
                <a:effectLst/>
                <a:latin typeface="Roboto" panose="02000000000000000000" pitchFamily="2" charset="0"/>
              </a:rPr>
              <a:t>Check if a bit is set</a:t>
            </a:r>
            <a:r>
              <a:rPr lang="en-IN" dirty="0">
                <a:latin typeface="Roboto" panose="02000000000000000000" pitchFamily="2" charset="0"/>
              </a:rPr>
              <a:t>)</a:t>
            </a:r>
            <a:endParaRPr lang="en-US" dirty="0"/>
          </a:p>
        </p:txBody>
      </p:sp>
      <p:sp>
        <p:nvSpPr>
          <p:cNvPr id="3" name="Content Placeholder 2">
            <a:extLst>
              <a:ext uri="{FF2B5EF4-FFF2-40B4-BE49-F238E27FC236}">
                <a16:creationId xmlns:a16="http://schemas.microsoft.com/office/drawing/2014/main" id="{F7473CC7-397B-BDCD-5E96-E28078554EAC}"/>
              </a:ext>
            </a:extLst>
          </p:cNvPr>
          <p:cNvSpPr>
            <a:spLocks noGrp="1"/>
          </p:cNvSpPr>
          <p:nvPr>
            <p:ph idx="1"/>
          </p:nvPr>
        </p:nvSpPr>
        <p:spPr/>
        <p:txBody>
          <a:bodyPr/>
          <a:lstStyle/>
          <a:p>
            <a:pPr algn="l"/>
            <a:r>
              <a:rPr lang="en-IN" b="0" i="0" dirty="0">
                <a:effectLst/>
                <a:latin typeface="Roboto" panose="02000000000000000000" pitchFamily="2" charset="0"/>
              </a:rPr>
              <a:t>The value of the  </a:t>
            </a:r>
            <a:r>
              <a:rPr lang="en-IN" b="0" i="0" dirty="0" err="1">
                <a:effectLst/>
                <a:latin typeface="Roboto" panose="02000000000000000000" pitchFamily="2" charset="0"/>
              </a:rPr>
              <a:t>x</a:t>
            </a:r>
            <a:r>
              <a:rPr lang="en-IN" b="0" i="0" baseline="30000" dirty="0" err="1">
                <a:effectLst/>
                <a:latin typeface="Roboto" panose="02000000000000000000" pitchFamily="2" charset="0"/>
              </a:rPr>
              <a:t>th</a:t>
            </a:r>
            <a:r>
              <a:rPr lang="en-IN" b="0" i="0" dirty="0">
                <a:effectLst/>
                <a:latin typeface="Roboto" panose="02000000000000000000" pitchFamily="2" charset="0"/>
              </a:rPr>
              <a:t> bit can be checked by shifting the number  x  positions to the right, so that the  </a:t>
            </a:r>
            <a:r>
              <a:rPr lang="en-IN" b="0" i="0" dirty="0" err="1">
                <a:effectLst/>
                <a:latin typeface="Roboto" panose="02000000000000000000" pitchFamily="2" charset="0"/>
              </a:rPr>
              <a:t>x</a:t>
            </a:r>
            <a:r>
              <a:rPr lang="en-IN" b="0" i="0" baseline="30000" dirty="0" err="1">
                <a:effectLst/>
                <a:latin typeface="Roboto" panose="02000000000000000000" pitchFamily="2" charset="0"/>
              </a:rPr>
              <a:t>th</a:t>
            </a:r>
            <a:r>
              <a:rPr lang="en-IN" b="0" i="0" dirty="0">
                <a:effectLst/>
                <a:latin typeface="Roboto" panose="02000000000000000000" pitchFamily="2" charset="0"/>
              </a:rPr>
              <a:t> bit is at the unit place, after which we can extract it by performing a bitwise &amp; with 1.</a:t>
            </a:r>
          </a:p>
          <a:p>
            <a:pPr algn="l"/>
            <a:endParaRPr lang="en-IN" b="0" i="0" dirty="0">
              <a:effectLst/>
              <a:latin typeface="Roboto" panose="02000000000000000000" pitchFamily="2" charset="0"/>
            </a:endParaRPr>
          </a:p>
          <a:p>
            <a:pPr marL="0" indent="0" algn="l">
              <a:buNone/>
            </a:pPr>
            <a:r>
              <a:rPr lang="en-IN" b="0" i="0" dirty="0">
                <a:solidFill>
                  <a:srgbClr val="3F6EC6"/>
                </a:solidFill>
                <a:effectLst/>
                <a:latin typeface="Roboto" panose="02000000000000000000" pitchFamily="2" charset="0"/>
              </a:rPr>
              <a:t>bool</a:t>
            </a:r>
            <a:r>
              <a:rPr lang="en-IN" b="0" i="0" dirty="0">
                <a:effectLst/>
                <a:latin typeface="Roboto" panose="02000000000000000000" pitchFamily="2" charset="0"/>
              </a:rPr>
              <a:t> </a:t>
            </a:r>
            <a:r>
              <a:rPr lang="en-IN" b="0" i="0" dirty="0" err="1">
                <a:solidFill>
                  <a:srgbClr val="A846B9"/>
                </a:solidFill>
                <a:effectLst/>
                <a:latin typeface="Roboto" panose="02000000000000000000" pitchFamily="2" charset="0"/>
              </a:rPr>
              <a:t>is_set</a:t>
            </a:r>
            <a:r>
              <a:rPr lang="en-IN" b="0" i="0" dirty="0">
                <a:effectLst/>
                <a:latin typeface="Roboto" panose="02000000000000000000" pitchFamily="2" charset="0"/>
              </a:rPr>
              <a:t>(</a:t>
            </a:r>
            <a:r>
              <a:rPr lang="en-IN" b="0" i="0" dirty="0">
                <a:solidFill>
                  <a:srgbClr val="3F6EC6"/>
                </a:solidFill>
                <a:effectLst/>
                <a:latin typeface="Roboto" panose="02000000000000000000" pitchFamily="2" charset="0"/>
              </a:rPr>
              <a:t>unsigned</a:t>
            </a:r>
            <a:r>
              <a:rPr lang="en-IN" b="0" i="0" dirty="0">
                <a:effectLst/>
                <a:latin typeface="Roboto" panose="02000000000000000000" pitchFamily="2" charset="0"/>
              </a:rPr>
              <a:t> </a:t>
            </a:r>
            <a:r>
              <a:rPr lang="en-IN" b="0" i="0" dirty="0">
                <a:solidFill>
                  <a:srgbClr val="3F6EC6"/>
                </a:solidFill>
                <a:effectLst/>
                <a:latin typeface="Roboto" panose="02000000000000000000" pitchFamily="2" charset="0"/>
              </a:rPr>
              <a:t>int</a:t>
            </a:r>
            <a:r>
              <a:rPr lang="en-IN" b="0" i="0" dirty="0">
                <a:effectLst/>
                <a:latin typeface="Roboto" panose="02000000000000000000" pitchFamily="2" charset="0"/>
              </a:rPr>
              <a:t> </a:t>
            </a:r>
            <a:r>
              <a:rPr lang="en-IN" b="0" i="0" dirty="0">
                <a:solidFill>
                  <a:srgbClr val="36464E"/>
                </a:solidFill>
                <a:effectLst/>
                <a:latin typeface="Roboto" panose="02000000000000000000" pitchFamily="2" charset="0"/>
              </a:rPr>
              <a:t>number</a:t>
            </a:r>
            <a:r>
              <a:rPr lang="en-IN" b="0" i="0" dirty="0">
                <a:effectLst/>
                <a:latin typeface="Roboto" panose="02000000000000000000" pitchFamily="2" charset="0"/>
              </a:rPr>
              <a:t>, </a:t>
            </a:r>
            <a:r>
              <a:rPr lang="en-IN" b="0" i="0" dirty="0">
                <a:solidFill>
                  <a:srgbClr val="3F6EC6"/>
                </a:solidFill>
                <a:effectLst/>
                <a:latin typeface="Roboto" panose="02000000000000000000" pitchFamily="2" charset="0"/>
              </a:rPr>
              <a:t>int</a:t>
            </a:r>
            <a:r>
              <a:rPr lang="en-IN" b="0" i="0" dirty="0">
                <a:effectLst/>
                <a:latin typeface="Roboto" panose="02000000000000000000" pitchFamily="2" charset="0"/>
              </a:rPr>
              <a:t> </a:t>
            </a:r>
            <a:r>
              <a:rPr lang="en-IN" b="0" i="0" dirty="0">
                <a:solidFill>
                  <a:srgbClr val="36464E"/>
                </a:solidFill>
                <a:effectLst/>
                <a:latin typeface="Roboto" panose="02000000000000000000" pitchFamily="2" charset="0"/>
              </a:rPr>
              <a:t>x</a:t>
            </a:r>
            <a:r>
              <a:rPr lang="en-IN" b="0" i="0" dirty="0">
                <a:effectLst/>
                <a:latin typeface="Roboto" panose="02000000000000000000" pitchFamily="2" charset="0"/>
              </a:rPr>
              <a:t>) { </a:t>
            </a:r>
          </a:p>
          <a:p>
            <a:pPr marL="0" indent="0" algn="l">
              <a:buNone/>
            </a:pPr>
            <a:r>
              <a:rPr lang="en-IN" b="0" i="0" dirty="0">
                <a:solidFill>
                  <a:srgbClr val="3F6EC6"/>
                </a:solidFill>
                <a:effectLst/>
                <a:latin typeface="Roboto" panose="02000000000000000000" pitchFamily="2" charset="0"/>
              </a:rPr>
              <a:t>      return</a:t>
            </a:r>
            <a:r>
              <a:rPr lang="en-IN" b="0" i="0" dirty="0">
                <a:effectLst/>
                <a:latin typeface="Roboto" panose="02000000000000000000" pitchFamily="2" charset="0"/>
              </a:rPr>
              <a:t> (</a:t>
            </a:r>
            <a:r>
              <a:rPr lang="en-IN" b="0" i="0" dirty="0">
                <a:solidFill>
                  <a:srgbClr val="36464E"/>
                </a:solidFill>
                <a:effectLst/>
                <a:latin typeface="Roboto" panose="02000000000000000000" pitchFamily="2" charset="0"/>
              </a:rPr>
              <a:t>number</a:t>
            </a:r>
            <a:r>
              <a:rPr lang="en-IN" b="0" i="0" dirty="0">
                <a:effectLst/>
                <a:latin typeface="Roboto" panose="02000000000000000000" pitchFamily="2" charset="0"/>
              </a:rPr>
              <a:t> &gt;&gt; </a:t>
            </a:r>
            <a:r>
              <a:rPr lang="en-IN" b="0" i="0" dirty="0">
                <a:solidFill>
                  <a:srgbClr val="36464E"/>
                </a:solidFill>
                <a:effectLst/>
                <a:latin typeface="Roboto" panose="02000000000000000000" pitchFamily="2" charset="0"/>
              </a:rPr>
              <a:t>x</a:t>
            </a:r>
            <a:r>
              <a:rPr lang="en-IN" b="0" i="0" dirty="0">
                <a:effectLst/>
                <a:latin typeface="Roboto" panose="02000000000000000000" pitchFamily="2" charset="0"/>
              </a:rPr>
              <a:t>) &amp; </a:t>
            </a:r>
            <a:r>
              <a:rPr lang="en-IN" b="0" i="0" dirty="0">
                <a:solidFill>
                  <a:srgbClr val="D52A2A"/>
                </a:solidFill>
                <a:effectLst/>
                <a:latin typeface="Roboto" panose="02000000000000000000" pitchFamily="2" charset="0"/>
              </a:rPr>
              <a:t>1</a:t>
            </a:r>
            <a:r>
              <a:rPr lang="en-IN" b="0" i="0" dirty="0">
                <a:effectLst/>
                <a:latin typeface="Roboto" panose="02000000000000000000" pitchFamily="2" charset="0"/>
              </a:rPr>
              <a:t>; </a:t>
            </a:r>
          </a:p>
          <a:p>
            <a:pPr marL="0" indent="0" algn="l">
              <a:buNone/>
            </a:pPr>
            <a:r>
              <a:rPr lang="en-IN" b="0" i="0" dirty="0">
                <a:effectLst/>
                <a:latin typeface="Roboto" panose="02000000000000000000" pitchFamily="2" charset="0"/>
              </a:rPr>
              <a:t>}</a:t>
            </a:r>
          </a:p>
          <a:p>
            <a:endParaRPr lang="en-US" dirty="0"/>
          </a:p>
        </p:txBody>
      </p:sp>
    </p:spTree>
    <p:extLst>
      <p:ext uri="{BB962C8B-B14F-4D97-AF65-F5344CB8AC3E}">
        <p14:creationId xmlns:p14="http://schemas.microsoft.com/office/powerpoint/2010/main" val="431978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4B3C4-EE96-AB24-6EB1-B6E9F6852D2B}"/>
              </a:ext>
            </a:extLst>
          </p:cNvPr>
          <p:cNvSpPr>
            <a:spLocks noGrp="1"/>
          </p:cNvSpPr>
          <p:nvPr>
            <p:ph type="title"/>
          </p:nvPr>
        </p:nvSpPr>
        <p:spPr/>
        <p:txBody>
          <a:bodyPr>
            <a:normAutofit/>
          </a:bodyPr>
          <a:lstStyle/>
          <a:p>
            <a:r>
              <a:rPr lang="en-IN" b="0" i="0" dirty="0">
                <a:effectLst/>
                <a:latin typeface="Roboto" panose="02000000000000000000" pitchFamily="2" charset="0"/>
              </a:rPr>
              <a:t>Check if the number is divisible by a power of 2</a:t>
            </a:r>
            <a:endParaRPr lang="en-US" dirty="0"/>
          </a:p>
        </p:txBody>
      </p:sp>
      <p:sp>
        <p:nvSpPr>
          <p:cNvPr id="3" name="Content Placeholder 2">
            <a:extLst>
              <a:ext uri="{FF2B5EF4-FFF2-40B4-BE49-F238E27FC236}">
                <a16:creationId xmlns:a16="http://schemas.microsoft.com/office/drawing/2014/main" id="{10CF8649-8071-FCB9-CD5A-968CE7E185BA}"/>
              </a:ext>
            </a:extLst>
          </p:cNvPr>
          <p:cNvSpPr>
            <a:spLocks noGrp="1"/>
          </p:cNvSpPr>
          <p:nvPr>
            <p:ph idx="1"/>
          </p:nvPr>
        </p:nvSpPr>
        <p:spPr/>
        <p:txBody>
          <a:bodyPr>
            <a:normAutofit fontScale="92500" lnSpcReduction="20000"/>
          </a:bodyPr>
          <a:lstStyle/>
          <a:p>
            <a:pPr algn="l"/>
            <a:r>
              <a:rPr lang="en-IN" b="0" i="0" dirty="0">
                <a:effectLst/>
                <a:latin typeface="Roboto" panose="02000000000000000000" pitchFamily="2" charset="0"/>
              </a:rPr>
              <a:t>Using the and operation, we can check if a number  n is even because  n &amp; 1 = 0  if  n  is even, and  n &amp; 1 = 1  if  n  is odd. </a:t>
            </a:r>
          </a:p>
          <a:p>
            <a:pPr algn="l"/>
            <a:r>
              <a:rPr lang="en-IN" b="0" i="0" dirty="0">
                <a:effectLst/>
                <a:latin typeface="Roboto" panose="02000000000000000000" pitchFamily="2" charset="0"/>
              </a:rPr>
              <a:t>More generally,  n  is divisible by  2</a:t>
            </a:r>
            <a:r>
              <a:rPr lang="en-IN" b="0" i="0" baseline="30000" dirty="0">
                <a:effectLst/>
                <a:latin typeface="Roboto" panose="02000000000000000000" pitchFamily="2" charset="0"/>
              </a:rPr>
              <a:t>k</a:t>
            </a:r>
            <a:r>
              <a:rPr lang="en-IN" b="0" i="0" dirty="0">
                <a:effectLst/>
                <a:latin typeface="Roboto" panose="02000000000000000000" pitchFamily="2" charset="0"/>
              </a:rPr>
              <a:t>  exactly when  n &amp; (2</a:t>
            </a:r>
            <a:r>
              <a:rPr lang="en-IN" b="0" i="0" baseline="30000" dirty="0">
                <a:effectLst/>
                <a:latin typeface="Roboto" panose="02000000000000000000" pitchFamily="2" charset="0"/>
              </a:rPr>
              <a:t>k</a:t>
            </a:r>
            <a:r>
              <a:rPr lang="en-IN" b="0" i="0" dirty="0">
                <a:effectLst/>
                <a:latin typeface="Roboto" panose="02000000000000000000" pitchFamily="2" charset="0"/>
              </a:rPr>
              <a:t>−1) = 0 .</a:t>
            </a:r>
          </a:p>
          <a:p>
            <a:pPr algn="l"/>
            <a:endParaRPr lang="en-IN" b="0" i="0" dirty="0">
              <a:effectLst/>
              <a:latin typeface="Roboto" panose="02000000000000000000" pitchFamily="2" charset="0"/>
            </a:endParaRPr>
          </a:p>
          <a:p>
            <a:pPr marL="0" indent="0" algn="l">
              <a:buNone/>
            </a:pPr>
            <a:r>
              <a:rPr lang="en-IN" b="0" i="0" dirty="0">
                <a:solidFill>
                  <a:srgbClr val="3F6EC6"/>
                </a:solidFill>
                <a:effectLst/>
                <a:latin typeface="Roboto" panose="02000000000000000000" pitchFamily="2" charset="0"/>
              </a:rPr>
              <a:t>bool</a:t>
            </a:r>
            <a:r>
              <a:rPr lang="en-IN" b="0" i="0" dirty="0">
                <a:effectLst/>
                <a:latin typeface="Roboto" panose="02000000000000000000" pitchFamily="2" charset="0"/>
              </a:rPr>
              <a:t> </a:t>
            </a:r>
            <a:r>
              <a:rPr lang="en-IN" b="0" i="0" dirty="0">
                <a:solidFill>
                  <a:srgbClr val="A846B9"/>
                </a:solidFill>
                <a:effectLst/>
                <a:latin typeface="Roboto" panose="02000000000000000000" pitchFamily="2" charset="0"/>
              </a:rPr>
              <a:t>isDivisibleByPowerOf2</a:t>
            </a:r>
            <a:r>
              <a:rPr lang="en-IN" b="0" i="0" dirty="0">
                <a:effectLst/>
                <a:latin typeface="Roboto" panose="02000000000000000000" pitchFamily="2" charset="0"/>
              </a:rPr>
              <a:t>(</a:t>
            </a:r>
            <a:r>
              <a:rPr lang="en-IN" b="0" i="0" dirty="0">
                <a:solidFill>
                  <a:srgbClr val="3F6EC6"/>
                </a:solidFill>
                <a:effectLst/>
                <a:latin typeface="Roboto" panose="02000000000000000000" pitchFamily="2" charset="0"/>
              </a:rPr>
              <a:t>int</a:t>
            </a:r>
            <a:r>
              <a:rPr lang="en-IN" b="0" i="0" dirty="0">
                <a:effectLst/>
                <a:latin typeface="Roboto" panose="02000000000000000000" pitchFamily="2" charset="0"/>
              </a:rPr>
              <a:t> </a:t>
            </a:r>
            <a:r>
              <a:rPr lang="en-IN" b="0" i="0" dirty="0">
                <a:solidFill>
                  <a:srgbClr val="36464E"/>
                </a:solidFill>
                <a:effectLst/>
                <a:latin typeface="Roboto" panose="02000000000000000000" pitchFamily="2" charset="0"/>
              </a:rPr>
              <a:t>n</a:t>
            </a:r>
            <a:r>
              <a:rPr lang="en-IN" b="0" i="0" dirty="0">
                <a:effectLst/>
                <a:latin typeface="Roboto" panose="02000000000000000000" pitchFamily="2" charset="0"/>
              </a:rPr>
              <a:t>, </a:t>
            </a:r>
            <a:r>
              <a:rPr lang="en-IN" b="0" i="0" dirty="0">
                <a:solidFill>
                  <a:srgbClr val="3F6EC6"/>
                </a:solidFill>
                <a:effectLst/>
                <a:latin typeface="Roboto" panose="02000000000000000000" pitchFamily="2" charset="0"/>
              </a:rPr>
              <a:t>int</a:t>
            </a:r>
            <a:r>
              <a:rPr lang="en-IN" b="0" i="0" dirty="0">
                <a:effectLst/>
                <a:latin typeface="Roboto" panose="02000000000000000000" pitchFamily="2" charset="0"/>
              </a:rPr>
              <a:t> </a:t>
            </a:r>
            <a:r>
              <a:rPr lang="en-IN" b="0" i="0" dirty="0">
                <a:solidFill>
                  <a:srgbClr val="36464E"/>
                </a:solidFill>
                <a:effectLst/>
                <a:latin typeface="Roboto" panose="02000000000000000000" pitchFamily="2" charset="0"/>
              </a:rPr>
              <a:t>k</a:t>
            </a:r>
            <a:r>
              <a:rPr lang="en-IN" b="0" i="0" dirty="0">
                <a:effectLst/>
                <a:latin typeface="Roboto" panose="02000000000000000000" pitchFamily="2" charset="0"/>
              </a:rPr>
              <a:t>) { </a:t>
            </a:r>
          </a:p>
          <a:p>
            <a:pPr marL="0" indent="0" algn="l">
              <a:buNone/>
            </a:pPr>
            <a:r>
              <a:rPr lang="en-IN" b="0" i="0" dirty="0">
                <a:solidFill>
                  <a:srgbClr val="3F6EC6"/>
                </a:solidFill>
                <a:effectLst/>
                <a:latin typeface="Roboto" panose="02000000000000000000" pitchFamily="2" charset="0"/>
              </a:rPr>
              <a:t>     int</a:t>
            </a:r>
            <a:r>
              <a:rPr lang="en-IN" b="0" i="0" dirty="0">
                <a:effectLst/>
                <a:latin typeface="Roboto" panose="02000000000000000000" pitchFamily="2" charset="0"/>
              </a:rPr>
              <a:t> </a:t>
            </a:r>
            <a:r>
              <a:rPr lang="en-IN" b="0" i="0" dirty="0">
                <a:solidFill>
                  <a:srgbClr val="36464E"/>
                </a:solidFill>
                <a:effectLst/>
                <a:latin typeface="Roboto" panose="02000000000000000000" pitchFamily="2" charset="0"/>
              </a:rPr>
              <a:t>powerOf2</a:t>
            </a:r>
            <a:r>
              <a:rPr lang="en-IN" b="0" i="0" dirty="0">
                <a:effectLst/>
                <a:latin typeface="Roboto" panose="02000000000000000000" pitchFamily="2" charset="0"/>
              </a:rPr>
              <a:t> = </a:t>
            </a:r>
            <a:r>
              <a:rPr lang="en-IN" b="0" i="0" dirty="0">
                <a:solidFill>
                  <a:srgbClr val="D52A2A"/>
                </a:solidFill>
                <a:effectLst/>
                <a:latin typeface="Roboto" panose="02000000000000000000" pitchFamily="2" charset="0"/>
              </a:rPr>
              <a:t>1</a:t>
            </a:r>
            <a:r>
              <a:rPr lang="en-IN" b="0" i="0" dirty="0">
                <a:effectLst/>
                <a:latin typeface="Roboto" panose="02000000000000000000" pitchFamily="2" charset="0"/>
              </a:rPr>
              <a:t> &lt;&lt; </a:t>
            </a:r>
            <a:r>
              <a:rPr lang="en-IN" b="0" i="0" dirty="0">
                <a:solidFill>
                  <a:srgbClr val="36464E"/>
                </a:solidFill>
                <a:effectLst/>
                <a:latin typeface="Roboto" panose="02000000000000000000" pitchFamily="2" charset="0"/>
              </a:rPr>
              <a:t>k</a:t>
            </a:r>
            <a:r>
              <a:rPr lang="en-IN" b="0" i="0" dirty="0">
                <a:effectLst/>
                <a:latin typeface="Roboto" panose="02000000000000000000" pitchFamily="2" charset="0"/>
              </a:rPr>
              <a:t>; </a:t>
            </a:r>
            <a:r>
              <a:rPr lang="en-IN" b="0" i="0" dirty="0">
                <a:solidFill>
                  <a:srgbClr val="3F6EC6"/>
                </a:solidFill>
                <a:effectLst/>
                <a:latin typeface="Roboto" panose="02000000000000000000" pitchFamily="2" charset="0"/>
              </a:rPr>
              <a:t>return</a:t>
            </a:r>
            <a:r>
              <a:rPr lang="en-IN" b="0" i="0" dirty="0">
                <a:effectLst/>
                <a:latin typeface="Roboto" panose="02000000000000000000" pitchFamily="2" charset="0"/>
              </a:rPr>
              <a:t> (</a:t>
            </a:r>
            <a:r>
              <a:rPr lang="en-IN" b="0" i="0" dirty="0">
                <a:solidFill>
                  <a:srgbClr val="36464E"/>
                </a:solidFill>
                <a:effectLst/>
                <a:latin typeface="Roboto" panose="02000000000000000000" pitchFamily="2" charset="0"/>
              </a:rPr>
              <a:t>n</a:t>
            </a:r>
            <a:r>
              <a:rPr lang="en-IN" b="0" i="0" dirty="0">
                <a:effectLst/>
                <a:latin typeface="Roboto" panose="02000000000000000000" pitchFamily="2" charset="0"/>
              </a:rPr>
              <a:t> &amp; (</a:t>
            </a:r>
            <a:r>
              <a:rPr lang="en-IN" b="0" i="0" dirty="0">
                <a:solidFill>
                  <a:srgbClr val="36464E"/>
                </a:solidFill>
                <a:effectLst/>
                <a:latin typeface="Roboto" panose="02000000000000000000" pitchFamily="2" charset="0"/>
              </a:rPr>
              <a:t>powerOf2</a:t>
            </a:r>
            <a:r>
              <a:rPr lang="en-IN" b="0" i="0" dirty="0">
                <a:effectLst/>
                <a:latin typeface="Roboto" panose="02000000000000000000" pitchFamily="2" charset="0"/>
              </a:rPr>
              <a:t> - </a:t>
            </a:r>
            <a:r>
              <a:rPr lang="en-IN" b="0" i="0" dirty="0">
                <a:solidFill>
                  <a:srgbClr val="D52A2A"/>
                </a:solidFill>
                <a:effectLst/>
                <a:latin typeface="Roboto" panose="02000000000000000000" pitchFamily="2" charset="0"/>
              </a:rPr>
              <a:t>1</a:t>
            </a:r>
            <a:r>
              <a:rPr lang="en-IN" b="0" i="0" dirty="0">
                <a:effectLst/>
                <a:latin typeface="Roboto" panose="02000000000000000000" pitchFamily="2" charset="0"/>
              </a:rPr>
              <a:t>)) == </a:t>
            </a:r>
            <a:r>
              <a:rPr lang="en-IN" b="0" i="0" dirty="0">
                <a:solidFill>
                  <a:srgbClr val="D52A2A"/>
                </a:solidFill>
                <a:effectLst/>
                <a:latin typeface="Roboto" panose="02000000000000000000" pitchFamily="2" charset="0"/>
              </a:rPr>
              <a:t>0</a:t>
            </a:r>
            <a:r>
              <a:rPr lang="en-IN" b="0" i="0" dirty="0">
                <a:effectLst/>
                <a:latin typeface="Roboto" panose="02000000000000000000" pitchFamily="2" charset="0"/>
              </a:rPr>
              <a:t>; </a:t>
            </a:r>
          </a:p>
          <a:p>
            <a:pPr marL="0" indent="0" algn="l">
              <a:buNone/>
            </a:pPr>
            <a:r>
              <a:rPr lang="en-IN" b="0" i="0" dirty="0">
                <a:effectLst/>
                <a:latin typeface="Roboto" panose="02000000000000000000" pitchFamily="2" charset="0"/>
              </a:rPr>
              <a:t>} </a:t>
            </a:r>
          </a:p>
          <a:p>
            <a:pPr marL="0" indent="0" algn="l">
              <a:buNone/>
            </a:pPr>
            <a:endParaRPr lang="en-IN" b="0" i="0" dirty="0">
              <a:effectLst/>
              <a:latin typeface="Roboto" panose="02000000000000000000" pitchFamily="2" charset="0"/>
            </a:endParaRPr>
          </a:p>
          <a:p>
            <a:pPr algn="l"/>
            <a:r>
              <a:rPr lang="en-IN" b="0" i="0" dirty="0">
                <a:effectLst/>
                <a:latin typeface="Roboto" panose="02000000000000000000" pitchFamily="2" charset="0"/>
              </a:rPr>
              <a:t>We can calculate  2</a:t>
            </a:r>
            <a:r>
              <a:rPr lang="en-IN" b="0" i="0" baseline="30000" dirty="0">
                <a:effectLst/>
                <a:latin typeface="Roboto" panose="02000000000000000000" pitchFamily="2" charset="0"/>
              </a:rPr>
              <a:t>k</a:t>
            </a:r>
            <a:r>
              <a:rPr lang="en-IN" b="0" i="0" dirty="0">
                <a:effectLst/>
                <a:latin typeface="Roboto" panose="02000000000000000000" pitchFamily="2" charset="0"/>
              </a:rPr>
              <a:t>  by left shifting 1 by  k positions. The trick works, because  2</a:t>
            </a:r>
            <a:r>
              <a:rPr lang="en-IN" b="0" i="0" baseline="30000" dirty="0">
                <a:effectLst/>
                <a:latin typeface="Roboto" panose="02000000000000000000" pitchFamily="2" charset="0"/>
              </a:rPr>
              <a:t>k </a:t>
            </a:r>
            <a:r>
              <a:rPr lang="en-IN" b="0" i="0" dirty="0">
                <a:effectLst/>
                <a:latin typeface="Roboto" panose="02000000000000000000" pitchFamily="2" charset="0"/>
              </a:rPr>
              <a:t>-1$  is a number that consists of exactly  k  ones. And a number that is divisible by  2</a:t>
            </a:r>
            <a:r>
              <a:rPr lang="en-IN" b="0" i="0" baseline="30000" dirty="0">
                <a:effectLst/>
                <a:latin typeface="Roboto" panose="02000000000000000000" pitchFamily="2" charset="0"/>
              </a:rPr>
              <a:t>k</a:t>
            </a:r>
            <a:r>
              <a:rPr lang="en-IN" b="0" i="0" dirty="0">
                <a:effectLst/>
                <a:latin typeface="Roboto" panose="02000000000000000000" pitchFamily="2" charset="0"/>
              </a:rPr>
              <a:t>  must have zero digits in those places.</a:t>
            </a:r>
          </a:p>
        </p:txBody>
      </p:sp>
    </p:spTree>
    <p:extLst>
      <p:ext uri="{BB962C8B-B14F-4D97-AF65-F5344CB8AC3E}">
        <p14:creationId xmlns:p14="http://schemas.microsoft.com/office/powerpoint/2010/main" val="35004706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F5F03-9B44-A770-69EC-03EC81382CFA}"/>
              </a:ext>
            </a:extLst>
          </p:cNvPr>
          <p:cNvSpPr>
            <a:spLocks noGrp="1"/>
          </p:cNvSpPr>
          <p:nvPr>
            <p:ph type="title"/>
          </p:nvPr>
        </p:nvSpPr>
        <p:spPr/>
        <p:txBody>
          <a:bodyPr/>
          <a:lstStyle/>
          <a:p>
            <a:r>
              <a:rPr lang="en-IN" b="0" i="0" dirty="0">
                <a:effectLst/>
                <a:latin typeface="Roboto" panose="02000000000000000000" pitchFamily="2" charset="0"/>
              </a:rPr>
              <a:t>Check if an integer is a power of 2</a:t>
            </a:r>
            <a:endParaRPr lang="en-US" dirty="0"/>
          </a:p>
        </p:txBody>
      </p:sp>
      <p:sp>
        <p:nvSpPr>
          <p:cNvPr id="3" name="Content Placeholder 2">
            <a:extLst>
              <a:ext uri="{FF2B5EF4-FFF2-40B4-BE49-F238E27FC236}">
                <a16:creationId xmlns:a16="http://schemas.microsoft.com/office/drawing/2014/main" id="{415BC3A4-39EB-F1B5-812B-C7FC744BC463}"/>
              </a:ext>
            </a:extLst>
          </p:cNvPr>
          <p:cNvSpPr>
            <a:spLocks noGrp="1"/>
          </p:cNvSpPr>
          <p:nvPr>
            <p:ph idx="1"/>
          </p:nvPr>
        </p:nvSpPr>
        <p:spPr/>
        <p:txBody>
          <a:bodyPr/>
          <a:lstStyle/>
          <a:p>
            <a:pPr algn="l"/>
            <a:r>
              <a:rPr lang="en-IN" b="0" i="0" dirty="0">
                <a:effectLst/>
                <a:latin typeface="Roboto" panose="02000000000000000000" pitchFamily="2" charset="0"/>
              </a:rPr>
              <a:t>A power of two is a number that has only a single bit in it (e.g.  32 = 0010 0000</a:t>
            </a:r>
            <a:r>
              <a:rPr lang="en-IN" b="0" i="0" baseline="-25000" dirty="0">
                <a:effectLst/>
                <a:latin typeface="Roboto" panose="02000000000000000000" pitchFamily="2" charset="0"/>
              </a:rPr>
              <a:t>2</a:t>
            </a:r>
            <a:r>
              <a:rPr lang="en-IN" b="0" i="0" dirty="0">
                <a:effectLst/>
                <a:latin typeface="Roboto" panose="02000000000000000000" pitchFamily="2" charset="0"/>
              </a:rPr>
              <a:t> ), while the predecessor of that number has that digit not set and all the digits after it set ( 31 = 0001 1111</a:t>
            </a:r>
            <a:r>
              <a:rPr lang="en-IN" b="0" i="0" baseline="-25000" dirty="0">
                <a:effectLst/>
                <a:latin typeface="Roboto" panose="02000000000000000000" pitchFamily="2" charset="0"/>
              </a:rPr>
              <a:t>2</a:t>
            </a:r>
            <a:r>
              <a:rPr lang="en-IN" b="0" i="0" dirty="0">
                <a:effectLst/>
                <a:latin typeface="Roboto" panose="02000000000000000000" pitchFamily="2" charset="0"/>
              </a:rPr>
              <a:t> ). So the bitwise AND of a number with it's predecessor will always be 0, as they don't have any common digits set. You can easily check that this only happens for the the power of twos and for the number  0  , which already has no digit set.</a:t>
            </a:r>
          </a:p>
          <a:p>
            <a:pPr marL="0" indent="0" algn="l">
              <a:buNone/>
            </a:pPr>
            <a:r>
              <a:rPr lang="en-IN" b="0" i="0" dirty="0">
                <a:solidFill>
                  <a:srgbClr val="3F6EC6"/>
                </a:solidFill>
                <a:effectLst/>
                <a:latin typeface="Roboto" panose="02000000000000000000" pitchFamily="2" charset="0"/>
              </a:rPr>
              <a:t>bool</a:t>
            </a:r>
            <a:r>
              <a:rPr lang="en-IN" b="0" i="0" dirty="0">
                <a:effectLst/>
                <a:latin typeface="Roboto" panose="02000000000000000000" pitchFamily="2" charset="0"/>
              </a:rPr>
              <a:t> </a:t>
            </a:r>
            <a:r>
              <a:rPr lang="en-IN" b="0" i="0" dirty="0" err="1">
                <a:solidFill>
                  <a:srgbClr val="A846B9"/>
                </a:solidFill>
                <a:effectLst/>
                <a:latin typeface="Roboto" panose="02000000000000000000" pitchFamily="2" charset="0"/>
              </a:rPr>
              <a:t>isPowerOfTwo</a:t>
            </a:r>
            <a:r>
              <a:rPr lang="en-IN" b="0" i="0" dirty="0">
                <a:effectLst/>
                <a:latin typeface="Roboto" panose="02000000000000000000" pitchFamily="2" charset="0"/>
              </a:rPr>
              <a:t>(</a:t>
            </a:r>
            <a:r>
              <a:rPr lang="en-IN" b="0" i="0" dirty="0">
                <a:solidFill>
                  <a:srgbClr val="3F6EC6"/>
                </a:solidFill>
                <a:effectLst/>
                <a:latin typeface="Roboto" panose="02000000000000000000" pitchFamily="2" charset="0"/>
              </a:rPr>
              <a:t>unsigned</a:t>
            </a:r>
            <a:r>
              <a:rPr lang="en-IN" b="0" i="0" dirty="0">
                <a:effectLst/>
                <a:latin typeface="Roboto" panose="02000000000000000000" pitchFamily="2" charset="0"/>
              </a:rPr>
              <a:t> </a:t>
            </a:r>
            <a:r>
              <a:rPr lang="en-IN" b="0" i="0" dirty="0">
                <a:solidFill>
                  <a:srgbClr val="3F6EC6"/>
                </a:solidFill>
                <a:effectLst/>
                <a:latin typeface="Roboto" panose="02000000000000000000" pitchFamily="2" charset="0"/>
              </a:rPr>
              <a:t>int</a:t>
            </a:r>
            <a:r>
              <a:rPr lang="en-IN" b="0" i="0" dirty="0">
                <a:effectLst/>
                <a:latin typeface="Roboto" panose="02000000000000000000" pitchFamily="2" charset="0"/>
              </a:rPr>
              <a:t> </a:t>
            </a:r>
            <a:r>
              <a:rPr lang="en-IN" b="0" i="0" dirty="0">
                <a:solidFill>
                  <a:srgbClr val="36464E"/>
                </a:solidFill>
                <a:effectLst/>
                <a:latin typeface="Roboto" panose="02000000000000000000" pitchFamily="2" charset="0"/>
              </a:rPr>
              <a:t>n</a:t>
            </a:r>
            <a:r>
              <a:rPr lang="en-IN" b="0" i="0" dirty="0">
                <a:effectLst/>
                <a:latin typeface="Roboto" panose="02000000000000000000" pitchFamily="2" charset="0"/>
              </a:rPr>
              <a:t>) { </a:t>
            </a:r>
          </a:p>
          <a:p>
            <a:pPr marL="0" indent="0" algn="l">
              <a:buNone/>
            </a:pPr>
            <a:r>
              <a:rPr lang="en-IN" b="0" i="0" dirty="0">
                <a:solidFill>
                  <a:srgbClr val="3F6EC6"/>
                </a:solidFill>
                <a:effectLst/>
                <a:latin typeface="Roboto" panose="02000000000000000000" pitchFamily="2" charset="0"/>
              </a:rPr>
              <a:t>      return</a:t>
            </a:r>
            <a:r>
              <a:rPr lang="en-IN" b="0" i="0" dirty="0">
                <a:effectLst/>
                <a:latin typeface="Roboto" panose="02000000000000000000" pitchFamily="2" charset="0"/>
              </a:rPr>
              <a:t> </a:t>
            </a:r>
            <a:r>
              <a:rPr lang="en-IN" b="0" i="0" dirty="0">
                <a:solidFill>
                  <a:srgbClr val="36464E"/>
                </a:solidFill>
                <a:effectLst/>
                <a:latin typeface="Roboto" panose="02000000000000000000" pitchFamily="2" charset="0"/>
              </a:rPr>
              <a:t>n</a:t>
            </a:r>
            <a:r>
              <a:rPr lang="en-IN" b="0" i="0" dirty="0">
                <a:effectLst/>
                <a:latin typeface="Roboto" panose="02000000000000000000" pitchFamily="2" charset="0"/>
              </a:rPr>
              <a:t> &amp;&amp; !(</a:t>
            </a:r>
            <a:r>
              <a:rPr lang="en-IN" b="0" i="0" dirty="0">
                <a:solidFill>
                  <a:srgbClr val="36464E"/>
                </a:solidFill>
                <a:effectLst/>
                <a:latin typeface="Roboto" panose="02000000000000000000" pitchFamily="2" charset="0"/>
              </a:rPr>
              <a:t>n</a:t>
            </a:r>
            <a:r>
              <a:rPr lang="en-IN" b="0" i="0" dirty="0">
                <a:effectLst/>
                <a:latin typeface="Roboto" panose="02000000000000000000" pitchFamily="2" charset="0"/>
              </a:rPr>
              <a:t> &amp; (</a:t>
            </a:r>
            <a:r>
              <a:rPr lang="en-IN" b="0" i="0" dirty="0">
                <a:solidFill>
                  <a:srgbClr val="36464E"/>
                </a:solidFill>
                <a:effectLst/>
                <a:latin typeface="Roboto" panose="02000000000000000000" pitchFamily="2" charset="0"/>
              </a:rPr>
              <a:t>n</a:t>
            </a:r>
            <a:r>
              <a:rPr lang="en-IN" b="0" i="0" dirty="0">
                <a:effectLst/>
                <a:latin typeface="Roboto" panose="02000000000000000000" pitchFamily="2" charset="0"/>
              </a:rPr>
              <a:t> - </a:t>
            </a:r>
            <a:r>
              <a:rPr lang="en-IN" b="0" i="0" dirty="0">
                <a:solidFill>
                  <a:srgbClr val="D52A2A"/>
                </a:solidFill>
                <a:effectLst/>
                <a:latin typeface="Roboto" panose="02000000000000000000" pitchFamily="2" charset="0"/>
              </a:rPr>
              <a:t>1</a:t>
            </a:r>
            <a:r>
              <a:rPr lang="en-IN" b="0" i="0" dirty="0">
                <a:effectLst/>
                <a:latin typeface="Roboto" panose="02000000000000000000" pitchFamily="2" charset="0"/>
              </a:rPr>
              <a:t>)); </a:t>
            </a:r>
          </a:p>
          <a:p>
            <a:pPr marL="0" indent="0" algn="l">
              <a:buNone/>
            </a:pPr>
            <a:r>
              <a:rPr lang="en-IN" b="0" i="0" dirty="0">
                <a:effectLst/>
                <a:latin typeface="Roboto" panose="02000000000000000000" pitchFamily="2" charset="0"/>
              </a:rPr>
              <a:t>}</a:t>
            </a:r>
          </a:p>
          <a:p>
            <a:endParaRPr lang="en-US" dirty="0"/>
          </a:p>
        </p:txBody>
      </p:sp>
    </p:spTree>
    <p:extLst>
      <p:ext uri="{BB962C8B-B14F-4D97-AF65-F5344CB8AC3E}">
        <p14:creationId xmlns:p14="http://schemas.microsoft.com/office/powerpoint/2010/main" val="3437966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AFF53-9404-B4A7-CE25-9BF0626C40E9}"/>
              </a:ext>
            </a:extLst>
          </p:cNvPr>
          <p:cNvSpPr>
            <a:spLocks noGrp="1"/>
          </p:cNvSpPr>
          <p:nvPr>
            <p:ph type="title"/>
          </p:nvPr>
        </p:nvSpPr>
        <p:spPr/>
        <p:txBody>
          <a:bodyPr/>
          <a:lstStyle/>
          <a:p>
            <a:r>
              <a:rPr lang="en-IN" b="0" i="0" dirty="0">
                <a:effectLst/>
                <a:latin typeface="Roboto" panose="02000000000000000000" pitchFamily="2" charset="0"/>
              </a:rPr>
              <a:t>Clear the right-most set bit</a:t>
            </a:r>
            <a:endParaRPr lang="en-US" dirty="0"/>
          </a:p>
        </p:txBody>
      </p:sp>
      <p:sp>
        <p:nvSpPr>
          <p:cNvPr id="3" name="Content Placeholder 2">
            <a:extLst>
              <a:ext uri="{FF2B5EF4-FFF2-40B4-BE49-F238E27FC236}">
                <a16:creationId xmlns:a16="http://schemas.microsoft.com/office/drawing/2014/main" id="{FE002766-3502-D705-4EC0-6616FB64C079}"/>
              </a:ext>
            </a:extLst>
          </p:cNvPr>
          <p:cNvSpPr>
            <a:spLocks noGrp="1"/>
          </p:cNvSpPr>
          <p:nvPr>
            <p:ph idx="1"/>
          </p:nvPr>
        </p:nvSpPr>
        <p:spPr/>
        <p:txBody>
          <a:bodyPr/>
          <a:lstStyle/>
          <a:p>
            <a:pPr algn="l"/>
            <a:r>
              <a:rPr lang="en-IN" b="0" i="0" dirty="0">
                <a:effectLst/>
                <a:latin typeface="Roboto" panose="02000000000000000000" pitchFamily="2" charset="0"/>
              </a:rPr>
              <a:t>The expression  n &amp; (n-1) can be used to turn off the rightmost set bit of a number  n . </a:t>
            </a:r>
          </a:p>
          <a:p>
            <a:pPr algn="l"/>
            <a:r>
              <a:rPr lang="en-IN" b="0" i="0" dirty="0">
                <a:effectLst/>
                <a:latin typeface="Roboto" panose="02000000000000000000" pitchFamily="2" charset="0"/>
              </a:rPr>
              <a:t>This works because the expression  n-1  flips all bits after the rightmost set bit of n , including the rightmost set bit. </a:t>
            </a:r>
          </a:p>
          <a:p>
            <a:pPr algn="l"/>
            <a:r>
              <a:rPr lang="en-IN" b="0" i="0" dirty="0">
                <a:effectLst/>
                <a:latin typeface="Roboto" panose="02000000000000000000" pitchFamily="2" charset="0"/>
              </a:rPr>
              <a:t>So all those digits are different from the original number, and by doing a bitwise AND they are all set to 0, giving you the original number  n  with the rightmost set bit flipped.</a:t>
            </a:r>
          </a:p>
          <a:p>
            <a:pPr algn="l"/>
            <a:r>
              <a:rPr lang="en-IN" b="0" i="0" dirty="0">
                <a:effectLst/>
                <a:latin typeface="Roboto" panose="02000000000000000000" pitchFamily="2" charset="0"/>
              </a:rPr>
              <a:t>For example, consider the number  52 = 0011 0100</a:t>
            </a:r>
            <a:r>
              <a:rPr lang="en-IN" b="0" i="0" baseline="-25000" dirty="0">
                <a:effectLst/>
                <a:latin typeface="Roboto" panose="02000000000000000000" pitchFamily="2" charset="0"/>
              </a:rPr>
              <a:t>2</a:t>
            </a:r>
            <a:r>
              <a:rPr lang="en-IN" b="0" i="0" dirty="0">
                <a:effectLst/>
                <a:latin typeface="Roboto" panose="02000000000000000000" pitchFamily="2" charset="0"/>
              </a:rPr>
              <a:t> :</a:t>
            </a:r>
          </a:p>
          <a:p>
            <a:endParaRPr lang="en-US" dirty="0"/>
          </a:p>
        </p:txBody>
      </p:sp>
      <p:pic>
        <p:nvPicPr>
          <p:cNvPr id="5" name="Picture 4">
            <a:extLst>
              <a:ext uri="{FF2B5EF4-FFF2-40B4-BE49-F238E27FC236}">
                <a16:creationId xmlns:a16="http://schemas.microsoft.com/office/drawing/2014/main" id="{F5FB1B9B-B4C2-351B-06DF-ACB01E49D173}"/>
              </a:ext>
            </a:extLst>
          </p:cNvPr>
          <p:cNvPicPr>
            <a:picLocks noChangeAspect="1"/>
          </p:cNvPicPr>
          <p:nvPr/>
        </p:nvPicPr>
        <p:blipFill>
          <a:blip r:embed="rId2"/>
          <a:stretch>
            <a:fillRect/>
          </a:stretch>
        </p:blipFill>
        <p:spPr>
          <a:xfrm>
            <a:off x="838199" y="5334530"/>
            <a:ext cx="9327367" cy="1523470"/>
          </a:xfrm>
          <a:prstGeom prst="rect">
            <a:avLst/>
          </a:prstGeom>
        </p:spPr>
      </p:pic>
    </p:spTree>
    <p:extLst>
      <p:ext uri="{BB962C8B-B14F-4D97-AF65-F5344CB8AC3E}">
        <p14:creationId xmlns:p14="http://schemas.microsoft.com/office/powerpoint/2010/main" val="2359616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01069-2C81-5540-B0BB-7F2626DC2826}"/>
              </a:ext>
            </a:extLst>
          </p:cNvPr>
          <p:cNvSpPr>
            <a:spLocks noGrp="1"/>
          </p:cNvSpPr>
          <p:nvPr>
            <p:ph type="title"/>
          </p:nvPr>
        </p:nvSpPr>
        <p:spPr/>
        <p:txBody>
          <a:bodyPr/>
          <a:lstStyle/>
          <a:p>
            <a:r>
              <a:rPr lang="en-IN" b="0" i="0" dirty="0">
                <a:effectLst/>
                <a:latin typeface="Roboto" panose="02000000000000000000" pitchFamily="2" charset="0"/>
              </a:rPr>
              <a:t>Brian Kernighan's algorithm</a:t>
            </a:r>
            <a:endParaRPr lang="en-US" dirty="0"/>
          </a:p>
        </p:txBody>
      </p:sp>
      <p:sp>
        <p:nvSpPr>
          <p:cNvPr id="3" name="Content Placeholder 2">
            <a:extLst>
              <a:ext uri="{FF2B5EF4-FFF2-40B4-BE49-F238E27FC236}">
                <a16:creationId xmlns:a16="http://schemas.microsoft.com/office/drawing/2014/main" id="{BEBAB968-D73E-6374-C4FC-F3411BC641AB}"/>
              </a:ext>
            </a:extLst>
          </p:cNvPr>
          <p:cNvSpPr>
            <a:spLocks noGrp="1"/>
          </p:cNvSpPr>
          <p:nvPr>
            <p:ph idx="1"/>
          </p:nvPr>
        </p:nvSpPr>
        <p:spPr/>
        <p:txBody>
          <a:bodyPr>
            <a:normAutofit fontScale="85000" lnSpcReduction="20000"/>
          </a:bodyPr>
          <a:lstStyle/>
          <a:p>
            <a:pPr algn="l"/>
            <a:r>
              <a:rPr lang="en-IN" b="0" i="0" dirty="0">
                <a:effectLst/>
                <a:latin typeface="Roboto" panose="02000000000000000000" pitchFamily="2" charset="0"/>
              </a:rPr>
              <a:t>We can count the number of bits set.</a:t>
            </a:r>
          </a:p>
          <a:p>
            <a:pPr algn="l"/>
            <a:r>
              <a:rPr lang="en-IN" b="0" i="0" dirty="0">
                <a:effectLst/>
                <a:latin typeface="Roboto" panose="02000000000000000000" pitchFamily="2" charset="0"/>
              </a:rPr>
              <a:t>The idea is to consider only the set bits of an integer by turning off its rightmost set bit (after counting it), so the next iteration of the loop considers the Next Rightmost bit.</a:t>
            </a:r>
          </a:p>
          <a:p>
            <a:pPr algn="l"/>
            <a:endParaRPr lang="en-IN" b="0" i="0" dirty="0">
              <a:effectLst/>
              <a:latin typeface="Roboto" panose="02000000000000000000" pitchFamily="2" charset="0"/>
            </a:endParaRPr>
          </a:p>
          <a:p>
            <a:pPr marL="0" indent="0" algn="l">
              <a:buNone/>
            </a:pPr>
            <a:r>
              <a:rPr lang="en-IN" b="0" i="0" dirty="0">
                <a:solidFill>
                  <a:srgbClr val="3F6EC6"/>
                </a:solidFill>
                <a:effectLst/>
                <a:latin typeface="Roboto" panose="02000000000000000000" pitchFamily="2" charset="0"/>
              </a:rPr>
              <a:t>int</a:t>
            </a:r>
            <a:r>
              <a:rPr lang="en-IN" b="0" i="0" dirty="0">
                <a:effectLst/>
                <a:latin typeface="Roboto" panose="02000000000000000000" pitchFamily="2" charset="0"/>
              </a:rPr>
              <a:t> </a:t>
            </a:r>
            <a:r>
              <a:rPr lang="en-IN" b="0" i="0" dirty="0" err="1">
                <a:solidFill>
                  <a:srgbClr val="A846B9"/>
                </a:solidFill>
                <a:effectLst/>
                <a:latin typeface="Roboto" panose="02000000000000000000" pitchFamily="2" charset="0"/>
              </a:rPr>
              <a:t>countSetBits</a:t>
            </a:r>
            <a:r>
              <a:rPr lang="en-IN" b="0" i="0" dirty="0">
                <a:effectLst/>
                <a:latin typeface="Roboto" panose="02000000000000000000" pitchFamily="2" charset="0"/>
              </a:rPr>
              <a:t>(</a:t>
            </a:r>
            <a:r>
              <a:rPr lang="en-IN" b="0" i="0" dirty="0">
                <a:solidFill>
                  <a:srgbClr val="3F6EC6"/>
                </a:solidFill>
                <a:effectLst/>
                <a:latin typeface="Roboto" panose="02000000000000000000" pitchFamily="2" charset="0"/>
              </a:rPr>
              <a:t>int</a:t>
            </a:r>
            <a:r>
              <a:rPr lang="en-IN" b="0" i="0" dirty="0">
                <a:effectLst/>
                <a:latin typeface="Roboto" panose="02000000000000000000" pitchFamily="2" charset="0"/>
              </a:rPr>
              <a:t> </a:t>
            </a:r>
            <a:r>
              <a:rPr lang="en-IN" b="0" i="0" dirty="0">
                <a:solidFill>
                  <a:srgbClr val="36464E"/>
                </a:solidFill>
                <a:effectLst/>
                <a:latin typeface="Roboto" panose="02000000000000000000" pitchFamily="2" charset="0"/>
              </a:rPr>
              <a:t>n</a:t>
            </a:r>
            <a:r>
              <a:rPr lang="en-IN" b="0" i="0" dirty="0">
                <a:effectLst/>
                <a:latin typeface="Roboto" panose="02000000000000000000" pitchFamily="2" charset="0"/>
              </a:rPr>
              <a:t>) { </a:t>
            </a:r>
          </a:p>
          <a:p>
            <a:pPr marL="0" indent="0" algn="l">
              <a:buNone/>
            </a:pPr>
            <a:r>
              <a:rPr lang="en-IN" b="0" i="0" dirty="0">
                <a:solidFill>
                  <a:srgbClr val="3F6EC6"/>
                </a:solidFill>
                <a:effectLst/>
                <a:latin typeface="Roboto" panose="02000000000000000000" pitchFamily="2" charset="0"/>
              </a:rPr>
              <a:t>    int</a:t>
            </a:r>
            <a:r>
              <a:rPr lang="en-IN" b="0" i="0" dirty="0">
                <a:effectLst/>
                <a:latin typeface="Roboto" panose="02000000000000000000" pitchFamily="2" charset="0"/>
              </a:rPr>
              <a:t> </a:t>
            </a:r>
            <a:r>
              <a:rPr lang="en-IN" b="0" i="0" dirty="0">
                <a:solidFill>
                  <a:srgbClr val="36464E"/>
                </a:solidFill>
                <a:effectLst/>
                <a:latin typeface="Roboto" panose="02000000000000000000" pitchFamily="2" charset="0"/>
              </a:rPr>
              <a:t>count</a:t>
            </a:r>
            <a:r>
              <a:rPr lang="en-IN" b="0" i="0" dirty="0">
                <a:effectLst/>
                <a:latin typeface="Roboto" panose="02000000000000000000" pitchFamily="2" charset="0"/>
              </a:rPr>
              <a:t> = </a:t>
            </a:r>
            <a:r>
              <a:rPr lang="en-IN" b="0" i="0" dirty="0">
                <a:solidFill>
                  <a:srgbClr val="D52A2A"/>
                </a:solidFill>
                <a:effectLst/>
                <a:latin typeface="Roboto" panose="02000000000000000000" pitchFamily="2" charset="0"/>
              </a:rPr>
              <a:t>0</a:t>
            </a:r>
            <a:r>
              <a:rPr lang="en-IN" b="0" i="0" dirty="0">
                <a:effectLst/>
                <a:latin typeface="Roboto" panose="02000000000000000000" pitchFamily="2" charset="0"/>
              </a:rPr>
              <a:t>; </a:t>
            </a:r>
            <a:r>
              <a:rPr lang="en-IN" b="0" i="0" dirty="0">
                <a:solidFill>
                  <a:srgbClr val="3F6EC6"/>
                </a:solidFill>
                <a:effectLst/>
                <a:latin typeface="Roboto" panose="02000000000000000000" pitchFamily="2" charset="0"/>
              </a:rPr>
              <a:t>while</a:t>
            </a:r>
            <a:r>
              <a:rPr lang="en-IN" b="0" i="0" dirty="0">
                <a:effectLst/>
                <a:latin typeface="Roboto" panose="02000000000000000000" pitchFamily="2" charset="0"/>
              </a:rPr>
              <a:t> (</a:t>
            </a:r>
            <a:r>
              <a:rPr lang="en-IN" b="0" i="0" dirty="0">
                <a:solidFill>
                  <a:srgbClr val="36464E"/>
                </a:solidFill>
                <a:effectLst/>
                <a:latin typeface="Roboto" panose="02000000000000000000" pitchFamily="2" charset="0"/>
              </a:rPr>
              <a:t>n</a:t>
            </a:r>
            <a:r>
              <a:rPr lang="en-IN" b="0" i="0" dirty="0">
                <a:effectLst/>
                <a:latin typeface="Roboto" panose="02000000000000000000" pitchFamily="2" charset="0"/>
              </a:rPr>
              <a:t>) { </a:t>
            </a:r>
          </a:p>
          <a:p>
            <a:pPr marL="0" indent="0" algn="l">
              <a:buNone/>
            </a:pPr>
            <a:r>
              <a:rPr lang="en-IN" b="0" i="0" dirty="0">
                <a:solidFill>
                  <a:srgbClr val="36464E"/>
                </a:solidFill>
                <a:effectLst/>
                <a:latin typeface="Roboto" panose="02000000000000000000" pitchFamily="2" charset="0"/>
              </a:rPr>
              <a:t>        n</a:t>
            </a:r>
            <a:r>
              <a:rPr lang="en-IN" b="0" i="0" dirty="0">
                <a:effectLst/>
                <a:latin typeface="Roboto" panose="02000000000000000000" pitchFamily="2" charset="0"/>
              </a:rPr>
              <a:t> = </a:t>
            </a:r>
            <a:r>
              <a:rPr lang="en-IN" b="0" i="0" dirty="0">
                <a:solidFill>
                  <a:srgbClr val="36464E"/>
                </a:solidFill>
                <a:effectLst/>
                <a:latin typeface="Roboto" panose="02000000000000000000" pitchFamily="2" charset="0"/>
              </a:rPr>
              <a:t>n</a:t>
            </a:r>
            <a:r>
              <a:rPr lang="en-IN" b="0" i="0" dirty="0">
                <a:effectLst/>
                <a:latin typeface="Roboto" panose="02000000000000000000" pitchFamily="2" charset="0"/>
              </a:rPr>
              <a:t> &amp; (</a:t>
            </a:r>
            <a:r>
              <a:rPr lang="en-IN" b="0" i="0" dirty="0">
                <a:solidFill>
                  <a:srgbClr val="36464E"/>
                </a:solidFill>
                <a:effectLst/>
                <a:latin typeface="Roboto" panose="02000000000000000000" pitchFamily="2" charset="0"/>
              </a:rPr>
              <a:t>n</a:t>
            </a:r>
            <a:r>
              <a:rPr lang="en-IN" b="0" i="0" dirty="0">
                <a:effectLst/>
                <a:latin typeface="Roboto" panose="02000000000000000000" pitchFamily="2" charset="0"/>
              </a:rPr>
              <a:t> - </a:t>
            </a:r>
            <a:r>
              <a:rPr lang="en-IN" b="0" i="0" dirty="0">
                <a:solidFill>
                  <a:srgbClr val="D52A2A"/>
                </a:solidFill>
                <a:effectLst/>
                <a:latin typeface="Roboto" panose="02000000000000000000" pitchFamily="2" charset="0"/>
              </a:rPr>
              <a:t>1</a:t>
            </a:r>
            <a:r>
              <a:rPr lang="en-IN" b="0" i="0" dirty="0">
                <a:effectLst/>
                <a:latin typeface="Roboto" panose="02000000000000000000" pitchFamily="2" charset="0"/>
              </a:rPr>
              <a:t>); </a:t>
            </a:r>
          </a:p>
          <a:p>
            <a:pPr marL="0" indent="0" algn="l">
              <a:buNone/>
            </a:pPr>
            <a:r>
              <a:rPr lang="en-IN" b="0" i="0" dirty="0">
                <a:solidFill>
                  <a:srgbClr val="36464E"/>
                </a:solidFill>
                <a:effectLst/>
                <a:latin typeface="Roboto" panose="02000000000000000000" pitchFamily="2" charset="0"/>
              </a:rPr>
              <a:t>        count</a:t>
            </a:r>
            <a:r>
              <a:rPr lang="en-IN" b="0" i="0" dirty="0">
                <a:effectLst/>
                <a:latin typeface="Roboto" panose="02000000000000000000" pitchFamily="2" charset="0"/>
              </a:rPr>
              <a:t>++; </a:t>
            </a:r>
          </a:p>
          <a:p>
            <a:pPr marL="0" indent="0" algn="l">
              <a:buNone/>
            </a:pPr>
            <a:r>
              <a:rPr lang="en-IN" b="0" i="0" dirty="0">
                <a:effectLst/>
                <a:latin typeface="Roboto" panose="02000000000000000000" pitchFamily="2" charset="0"/>
              </a:rPr>
              <a:t>    } </a:t>
            </a:r>
          </a:p>
          <a:p>
            <a:pPr marL="0" indent="0" algn="l">
              <a:buNone/>
            </a:pPr>
            <a:r>
              <a:rPr lang="en-IN" b="0" i="0" dirty="0">
                <a:solidFill>
                  <a:srgbClr val="3F6EC6"/>
                </a:solidFill>
                <a:effectLst/>
                <a:latin typeface="Roboto" panose="02000000000000000000" pitchFamily="2" charset="0"/>
              </a:rPr>
              <a:t>    return</a:t>
            </a:r>
            <a:r>
              <a:rPr lang="en-IN" b="0" i="0" dirty="0">
                <a:effectLst/>
                <a:latin typeface="Roboto" panose="02000000000000000000" pitchFamily="2" charset="0"/>
              </a:rPr>
              <a:t> </a:t>
            </a:r>
            <a:r>
              <a:rPr lang="en-IN" b="0" i="0" dirty="0">
                <a:solidFill>
                  <a:srgbClr val="36464E"/>
                </a:solidFill>
                <a:effectLst/>
                <a:latin typeface="Roboto" panose="02000000000000000000" pitchFamily="2" charset="0"/>
              </a:rPr>
              <a:t>count</a:t>
            </a:r>
            <a:r>
              <a:rPr lang="en-IN" b="0" i="0" dirty="0">
                <a:effectLst/>
                <a:latin typeface="Roboto" panose="02000000000000000000" pitchFamily="2" charset="0"/>
              </a:rPr>
              <a:t>; </a:t>
            </a:r>
          </a:p>
          <a:p>
            <a:pPr marL="0" indent="0" algn="l">
              <a:buNone/>
            </a:pPr>
            <a:r>
              <a:rPr lang="en-IN" b="0" i="0" dirty="0">
                <a:effectLst/>
                <a:latin typeface="Roboto" panose="02000000000000000000" pitchFamily="2" charset="0"/>
              </a:rPr>
              <a:t>} </a:t>
            </a:r>
          </a:p>
        </p:txBody>
      </p:sp>
    </p:spTree>
    <p:extLst>
      <p:ext uri="{BB962C8B-B14F-4D97-AF65-F5344CB8AC3E}">
        <p14:creationId xmlns:p14="http://schemas.microsoft.com/office/powerpoint/2010/main" val="42469943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2E477E-DC75-1204-7B56-8383B0E6BA87}"/>
              </a:ext>
            </a:extLst>
          </p:cNvPr>
          <p:cNvSpPr>
            <a:spLocks noGrp="1"/>
          </p:cNvSpPr>
          <p:nvPr>
            <p:ph type="title"/>
          </p:nvPr>
        </p:nvSpPr>
        <p:spPr/>
        <p:txBody>
          <a:bodyPr/>
          <a:lstStyle/>
          <a:p>
            <a:r>
              <a:rPr lang="en-IN" b="0" i="0" dirty="0">
                <a:effectLst/>
                <a:latin typeface="Roboto" panose="02000000000000000000" pitchFamily="2" charset="0"/>
              </a:rPr>
              <a:t>Count set bits </a:t>
            </a:r>
            <a:r>
              <a:rPr lang="en-IN" b="0" i="0" dirty="0" err="1">
                <a:effectLst/>
                <a:latin typeface="Roboto" panose="02000000000000000000" pitchFamily="2" charset="0"/>
              </a:rPr>
              <a:t>upto</a:t>
            </a:r>
            <a:r>
              <a:rPr lang="en-IN" b="0" i="0" dirty="0">
                <a:effectLst/>
                <a:latin typeface="Roboto" panose="02000000000000000000" pitchFamily="2" charset="0"/>
              </a:rPr>
              <a:t>  n</a:t>
            </a:r>
            <a:endParaRPr lang="en-US" dirty="0"/>
          </a:p>
        </p:txBody>
      </p:sp>
      <p:sp>
        <p:nvSpPr>
          <p:cNvPr id="3" name="Content Placeholder 2">
            <a:extLst>
              <a:ext uri="{FF2B5EF4-FFF2-40B4-BE49-F238E27FC236}">
                <a16:creationId xmlns:a16="http://schemas.microsoft.com/office/drawing/2014/main" id="{2317421F-C4C3-50F4-4BAC-43D3F80C8358}"/>
              </a:ext>
            </a:extLst>
          </p:cNvPr>
          <p:cNvSpPr>
            <a:spLocks noGrp="1"/>
          </p:cNvSpPr>
          <p:nvPr>
            <p:ph idx="1"/>
          </p:nvPr>
        </p:nvSpPr>
        <p:spPr/>
        <p:txBody>
          <a:bodyPr>
            <a:normAutofit fontScale="92500" lnSpcReduction="10000"/>
          </a:bodyPr>
          <a:lstStyle/>
          <a:p>
            <a:pPr algn="l"/>
            <a:r>
              <a:rPr lang="en-IN" b="0" i="0" dirty="0">
                <a:effectLst/>
                <a:latin typeface="Roboto" panose="02000000000000000000" pitchFamily="2" charset="0"/>
              </a:rPr>
              <a:t>To count the number of set bits of all numbers </a:t>
            </a:r>
            <a:r>
              <a:rPr lang="en-IN" b="0" i="0" dirty="0" err="1">
                <a:effectLst/>
                <a:latin typeface="Roboto" panose="02000000000000000000" pitchFamily="2" charset="0"/>
              </a:rPr>
              <a:t>upto</a:t>
            </a:r>
            <a:r>
              <a:rPr lang="en-IN" b="0" i="0" dirty="0">
                <a:effectLst/>
                <a:latin typeface="Roboto" panose="02000000000000000000" pitchFamily="2" charset="0"/>
              </a:rPr>
              <a:t> the number  n  (inclusive), we can run </a:t>
            </a:r>
            <a:r>
              <a:rPr lang="en-IN" b="1" i="0" dirty="0">
                <a:effectLst/>
                <a:latin typeface="Roboto" panose="02000000000000000000" pitchFamily="2" charset="0"/>
              </a:rPr>
              <a:t>Brian Kernighan's algorithm</a:t>
            </a:r>
            <a:r>
              <a:rPr lang="en-IN" b="0" i="0" dirty="0">
                <a:effectLst/>
                <a:latin typeface="Roboto" panose="02000000000000000000" pitchFamily="2" charset="0"/>
              </a:rPr>
              <a:t> on all numbers </a:t>
            </a:r>
            <a:r>
              <a:rPr lang="en-IN" b="0" i="0" dirty="0" err="1">
                <a:effectLst/>
                <a:latin typeface="Roboto" panose="02000000000000000000" pitchFamily="2" charset="0"/>
              </a:rPr>
              <a:t>upto</a:t>
            </a:r>
            <a:r>
              <a:rPr lang="en-IN" b="0" i="0" dirty="0">
                <a:effectLst/>
                <a:latin typeface="Roboto" panose="02000000000000000000" pitchFamily="2" charset="0"/>
              </a:rPr>
              <a:t>  n . But this will result in a "Time Limit Exceeded" in contest submissions.</a:t>
            </a:r>
          </a:p>
          <a:p>
            <a:pPr algn="l"/>
            <a:r>
              <a:rPr lang="en-IN" b="0" i="0" dirty="0">
                <a:effectLst/>
                <a:latin typeface="Roboto" panose="02000000000000000000" pitchFamily="2" charset="0"/>
              </a:rPr>
              <a:t>We can use the fact that for numbers </a:t>
            </a:r>
            <a:r>
              <a:rPr lang="en-IN" b="0" i="0" dirty="0" err="1">
                <a:effectLst/>
                <a:latin typeface="Roboto" panose="02000000000000000000" pitchFamily="2" charset="0"/>
              </a:rPr>
              <a:t>upto</a:t>
            </a:r>
            <a:r>
              <a:rPr lang="en-IN" b="0" i="0" dirty="0">
                <a:effectLst/>
                <a:latin typeface="Roboto" panose="02000000000000000000" pitchFamily="2" charset="0"/>
              </a:rPr>
              <a:t>  </a:t>
            </a:r>
          </a:p>
          <a:p>
            <a:pPr marL="0" indent="0" algn="l">
              <a:buNone/>
            </a:pPr>
            <a:r>
              <a:rPr lang="en-IN" b="0" i="0" dirty="0">
                <a:effectLst/>
                <a:latin typeface="Roboto" panose="02000000000000000000" pitchFamily="2" charset="0"/>
              </a:rPr>
              <a:t>   2</a:t>
            </a:r>
            <a:r>
              <a:rPr lang="en-IN" b="0" i="0" baseline="30000" dirty="0">
                <a:effectLst/>
                <a:latin typeface="Roboto" panose="02000000000000000000" pitchFamily="2" charset="0"/>
              </a:rPr>
              <a:t>x</a:t>
            </a:r>
            <a:r>
              <a:rPr lang="en-IN" b="0" i="0" dirty="0">
                <a:effectLst/>
                <a:latin typeface="Roboto" panose="02000000000000000000" pitchFamily="2" charset="0"/>
              </a:rPr>
              <a:t> (i.e. from  1  to  2</a:t>
            </a:r>
            <a:r>
              <a:rPr lang="en-IN" b="0" i="0" baseline="30000" dirty="0">
                <a:effectLst/>
                <a:latin typeface="Roboto" panose="02000000000000000000" pitchFamily="2" charset="0"/>
              </a:rPr>
              <a:t>x</a:t>
            </a:r>
            <a:r>
              <a:rPr lang="en-IN" b="0" i="0" dirty="0">
                <a:effectLst/>
                <a:latin typeface="Roboto" panose="02000000000000000000" pitchFamily="2" charset="0"/>
              </a:rPr>
              <a:t> - 1 ) there are  x . 2</a:t>
            </a:r>
            <a:r>
              <a:rPr lang="en-IN" b="0" i="0" baseline="30000" dirty="0">
                <a:effectLst/>
                <a:latin typeface="Roboto" panose="02000000000000000000" pitchFamily="2" charset="0"/>
              </a:rPr>
              <a:t>x-1</a:t>
            </a:r>
            <a:r>
              <a:rPr lang="en-IN" b="0" i="0" dirty="0">
                <a:effectLst/>
                <a:latin typeface="Roboto" panose="02000000000000000000" pitchFamily="2" charset="0"/>
              </a:rPr>
              <a:t>  set bits. </a:t>
            </a:r>
          </a:p>
          <a:p>
            <a:pPr marL="0" indent="0" algn="l">
              <a:buNone/>
            </a:pPr>
            <a:r>
              <a:rPr lang="en-IN" b="0" i="0" dirty="0">
                <a:effectLst/>
                <a:latin typeface="Roboto" panose="02000000000000000000" pitchFamily="2" charset="0"/>
              </a:rPr>
              <a:t>   This can be visualised as follows.</a:t>
            </a:r>
          </a:p>
          <a:p>
            <a:pPr algn="l"/>
            <a:r>
              <a:rPr lang="en-IN" b="0" i="0" dirty="0">
                <a:effectLst/>
                <a:latin typeface="Roboto" panose="02000000000000000000" pitchFamily="2" charset="0"/>
              </a:rPr>
              <a:t>We can see that all the columns except the </a:t>
            </a:r>
          </a:p>
          <a:p>
            <a:pPr marL="0" indent="0" algn="l">
              <a:buNone/>
            </a:pPr>
            <a:r>
              <a:rPr lang="en-IN" b="0" i="0" dirty="0">
                <a:effectLst/>
                <a:latin typeface="Roboto" panose="02000000000000000000" pitchFamily="2" charset="0"/>
              </a:rPr>
              <a:t>   leftmost have  4  (i.e.  2</a:t>
            </a:r>
            <a:r>
              <a:rPr lang="en-IN" b="0" i="0" baseline="30000" dirty="0">
                <a:effectLst/>
                <a:latin typeface="Roboto" panose="02000000000000000000" pitchFamily="2" charset="0"/>
              </a:rPr>
              <a:t>2</a:t>
            </a:r>
            <a:r>
              <a:rPr lang="en-IN" b="0" i="0" dirty="0">
                <a:effectLst/>
                <a:latin typeface="Roboto" panose="02000000000000000000" pitchFamily="2" charset="0"/>
              </a:rPr>
              <a:t> ) set bits each, i.e. </a:t>
            </a:r>
            <a:r>
              <a:rPr lang="en-IN" b="0" i="0" dirty="0" err="1">
                <a:effectLst/>
                <a:latin typeface="Roboto" panose="02000000000000000000" pitchFamily="2" charset="0"/>
              </a:rPr>
              <a:t>upto</a:t>
            </a:r>
            <a:r>
              <a:rPr lang="en-IN" b="0" i="0" dirty="0">
                <a:effectLst/>
                <a:latin typeface="Roboto" panose="02000000000000000000" pitchFamily="2" charset="0"/>
              </a:rPr>
              <a:t> </a:t>
            </a:r>
          </a:p>
          <a:p>
            <a:pPr marL="0" indent="0" algn="l">
              <a:buNone/>
            </a:pPr>
            <a:r>
              <a:rPr lang="en-IN" b="0" i="0" dirty="0">
                <a:effectLst/>
                <a:latin typeface="Roboto" panose="02000000000000000000" pitchFamily="2" charset="0"/>
              </a:rPr>
              <a:t>   the number  2</a:t>
            </a:r>
            <a:r>
              <a:rPr lang="en-IN" b="0" i="0" baseline="30000" dirty="0">
                <a:effectLst/>
                <a:latin typeface="Roboto" panose="02000000000000000000" pitchFamily="2" charset="0"/>
              </a:rPr>
              <a:t>3</a:t>
            </a:r>
            <a:r>
              <a:rPr lang="en-IN" b="0" i="0" dirty="0">
                <a:effectLst/>
                <a:latin typeface="Roboto" panose="02000000000000000000" pitchFamily="2" charset="0"/>
              </a:rPr>
              <a:t> - 1 , the number of set bits is  3 . 2</a:t>
            </a:r>
            <a:r>
              <a:rPr lang="en-IN" b="0" i="0" baseline="30000" dirty="0">
                <a:effectLst/>
                <a:latin typeface="Roboto" panose="02000000000000000000" pitchFamily="2" charset="0"/>
              </a:rPr>
              <a:t>3-1</a:t>
            </a:r>
            <a:r>
              <a:rPr lang="en-IN" b="0" i="0" dirty="0">
                <a:effectLst/>
                <a:latin typeface="Roboto" panose="02000000000000000000" pitchFamily="2" charset="0"/>
              </a:rPr>
              <a:t> .</a:t>
            </a:r>
          </a:p>
          <a:p>
            <a:endParaRPr lang="en-US" dirty="0"/>
          </a:p>
        </p:txBody>
      </p:sp>
      <p:pic>
        <p:nvPicPr>
          <p:cNvPr id="4" name="Picture 3">
            <a:extLst>
              <a:ext uri="{FF2B5EF4-FFF2-40B4-BE49-F238E27FC236}">
                <a16:creationId xmlns:a16="http://schemas.microsoft.com/office/drawing/2014/main" id="{3DCF1109-3411-D470-7E56-ABAA329ECCB7}"/>
              </a:ext>
            </a:extLst>
          </p:cNvPr>
          <p:cNvPicPr>
            <a:picLocks noChangeAspect="1"/>
          </p:cNvPicPr>
          <p:nvPr/>
        </p:nvPicPr>
        <p:blipFill>
          <a:blip r:embed="rId2"/>
          <a:stretch>
            <a:fillRect/>
          </a:stretch>
        </p:blipFill>
        <p:spPr>
          <a:xfrm>
            <a:off x="8838265" y="3382433"/>
            <a:ext cx="3353735" cy="2929467"/>
          </a:xfrm>
          <a:prstGeom prst="rect">
            <a:avLst/>
          </a:prstGeom>
        </p:spPr>
      </p:pic>
    </p:spTree>
    <p:extLst>
      <p:ext uri="{BB962C8B-B14F-4D97-AF65-F5344CB8AC3E}">
        <p14:creationId xmlns:p14="http://schemas.microsoft.com/office/powerpoint/2010/main" val="8209094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CE919-8B92-518E-DEF7-68EAE136BC38}"/>
              </a:ext>
            </a:extLst>
          </p:cNvPr>
          <p:cNvSpPr>
            <a:spLocks noGrp="1"/>
          </p:cNvSpPr>
          <p:nvPr>
            <p:ph type="title"/>
          </p:nvPr>
        </p:nvSpPr>
        <p:spPr/>
        <p:txBody>
          <a:bodyPr/>
          <a:lstStyle/>
          <a:p>
            <a:r>
              <a:rPr lang="en-IN" b="0" i="0" dirty="0">
                <a:effectLst/>
                <a:latin typeface="Roboto" panose="02000000000000000000" pitchFamily="2" charset="0"/>
              </a:rPr>
              <a:t>Count set bits </a:t>
            </a:r>
            <a:r>
              <a:rPr lang="en-IN" b="0" i="0" dirty="0" err="1">
                <a:effectLst/>
                <a:latin typeface="Roboto" panose="02000000000000000000" pitchFamily="2" charset="0"/>
              </a:rPr>
              <a:t>upto</a:t>
            </a:r>
            <a:r>
              <a:rPr lang="en-IN" b="0" i="0" dirty="0">
                <a:effectLst/>
                <a:latin typeface="Roboto" panose="02000000000000000000" pitchFamily="2" charset="0"/>
              </a:rPr>
              <a:t>  n</a:t>
            </a:r>
            <a:endParaRPr lang="en-US" dirty="0"/>
          </a:p>
        </p:txBody>
      </p:sp>
      <p:sp>
        <p:nvSpPr>
          <p:cNvPr id="3" name="Content Placeholder 2">
            <a:extLst>
              <a:ext uri="{FF2B5EF4-FFF2-40B4-BE49-F238E27FC236}">
                <a16:creationId xmlns:a16="http://schemas.microsoft.com/office/drawing/2014/main" id="{8EE7E802-C21B-356B-090F-800C24F06A9E}"/>
              </a:ext>
            </a:extLst>
          </p:cNvPr>
          <p:cNvSpPr>
            <a:spLocks noGrp="1"/>
          </p:cNvSpPr>
          <p:nvPr>
            <p:ph idx="1"/>
          </p:nvPr>
        </p:nvSpPr>
        <p:spPr/>
        <p:txBody>
          <a:bodyPr>
            <a:normAutofit lnSpcReduction="10000"/>
          </a:bodyPr>
          <a:lstStyle/>
          <a:p>
            <a:pPr algn="l"/>
            <a:r>
              <a:rPr lang="en-IN" b="0" i="0" dirty="0">
                <a:effectLst/>
                <a:latin typeface="Roboto" panose="02000000000000000000" pitchFamily="2" charset="0"/>
              </a:rPr>
              <a:t>With the new knowledge in hand we can come up with the following algorithm:</a:t>
            </a:r>
          </a:p>
          <a:p>
            <a:pPr algn="l">
              <a:buFont typeface="Arial" panose="020B0604020202020204" pitchFamily="34" charset="0"/>
              <a:buChar char="•"/>
            </a:pPr>
            <a:r>
              <a:rPr lang="en-IN" b="0" i="0" dirty="0">
                <a:effectLst/>
                <a:latin typeface="Roboto" panose="02000000000000000000" pitchFamily="2" charset="0"/>
              </a:rPr>
              <a:t>Find the highest power of  2  that is less than or equal to the given number. Let this number be  x .</a:t>
            </a:r>
          </a:p>
          <a:p>
            <a:pPr algn="l">
              <a:buFont typeface="Arial" panose="020B0604020202020204" pitchFamily="34" charset="0"/>
              <a:buChar char="•"/>
            </a:pPr>
            <a:r>
              <a:rPr lang="en-IN" b="0" i="0" dirty="0">
                <a:effectLst/>
                <a:latin typeface="Roboto" panose="02000000000000000000" pitchFamily="2" charset="0"/>
              </a:rPr>
              <a:t>Calculate the number of set bits from  1  to  2</a:t>
            </a:r>
            <a:r>
              <a:rPr lang="en-IN" b="0" i="0" baseline="30000" dirty="0">
                <a:effectLst/>
                <a:latin typeface="Roboto" panose="02000000000000000000" pitchFamily="2" charset="0"/>
              </a:rPr>
              <a:t>x - 1</a:t>
            </a:r>
            <a:r>
              <a:rPr lang="en-IN" b="0" i="0" dirty="0">
                <a:effectLst/>
                <a:latin typeface="Roboto" panose="02000000000000000000" pitchFamily="2" charset="0"/>
              </a:rPr>
              <a:t>  by using the formula  x . 2</a:t>
            </a:r>
            <a:r>
              <a:rPr lang="en-IN" b="0" i="0" baseline="30000" dirty="0">
                <a:effectLst/>
                <a:latin typeface="Roboto" panose="02000000000000000000" pitchFamily="2" charset="0"/>
              </a:rPr>
              <a:t>x-1</a:t>
            </a:r>
            <a:r>
              <a:rPr lang="en-IN" b="0" i="0" dirty="0">
                <a:effectLst/>
                <a:latin typeface="Roboto" panose="02000000000000000000" pitchFamily="2" charset="0"/>
              </a:rPr>
              <a:t> .</a:t>
            </a:r>
          </a:p>
          <a:p>
            <a:pPr algn="l">
              <a:buFont typeface="Arial" panose="020B0604020202020204" pitchFamily="34" charset="0"/>
              <a:buChar char="•"/>
            </a:pPr>
            <a:r>
              <a:rPr lang="en-IN" b="0" i="0" dirty="0">
                <a:effectLst/>
                <a:latin typeface="Roboto" panose="02000000000000000000" pitchFamily="2" charset="0"/>
              </a:rPr>
              <a:t>Count the number of set bits in the most significant bit from  2</a:t>
            </a:r>
            <a:r>
              <a:rPr lang="en-IN" b="0" i="0" baseline="30000" dirty="0">
                <a:effectLst/>
                <a:latin typeface="Roboto" panose="02000000000000000000" pitchFamily="2" charset="0"/>
              </a:rPr>
              <a:t>x</a:t>
            </a:r>
            <a:r>
              <a:rPr lang="en-IN" b="0" i="0" dirty="0">
                <a:effectLst/>
                <a:latin typeface="Roboto" panose="02000000000000000000" pitchFamily="2" charset="0"/>
              </a:rPr>
              <a:t>  to  n  and add it.</a:t>
            </a:r>
          </a:p>
          <a:p>
            <a:pPr algn="l">
              <a:buFont typeface="Arial" panose="020B0604020202020204" pitchFamily="34" charset="0"/>
              <a:buChar char="•"/>
            </a:pPr>
            <a:r>
              <a:rPr lang="en-IN" b="0" i="0" dirty="0">
                <a:effectLst/>
                <a:latin typeface="Roboto" panose="02000000000000000000" pitchFamily="2" charset="0"/>
              </a:rPr>
              <a:t>Subtract  2</a:t>
            </a:r>
            <a:r>
              <a:rPr lang="en-IN" b="0" i="0" baseline="30000" dirty="0">
                <a:effectLst/>
                <a:latin typeface="Roboto" panose="02000000000000000000" pitchFamily="2" charset="0"/>
              </a:rPr>
              <a:t>x</a:t>
            </a:r>
            <a:r>
              <a:rPr lang="en-IN" b="0" i="0" dirty="0">
                <a:effectLst/>
                <a:latin typeface="Roboto" panose="02000000000000000000" pitchFamily="2" charset="0"/>
              </a:rPr>
              <a:t>  from  n  and repeat the above steps using the new  n .</a:t>
            </a:r>
          </a:p>
        </p:txBody>
      </p:sp>
    </p:spTree>
    <p:extLst>
      <p:ext uri="{BB962C8B-B14F-4D97-AF65-F5344CB8AC3E}">
        <p14:creationId xmlns:p14="http://schemas.microsoft.com/office/powerpoint/2010/main" val="13569880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68FAC7-F9D2-7A7D-84DE-DD9305CEC389}"/>
              </a:ext>
            </a:extLst>
          </p:cNvPr>
          <p:cNvSpPr>
            <a:spLocks noGrp="1"/>
          </p:cNvSpPr>
          <p:nvPr>
            <p:ph type="title"/>
          </p:nvPr>
        </p:nvSpPr>
        <p:spPr/>
        <p:txBody>
          <a:bodyPr/>
          <a:lstStyle/>
          <a:p>
            <a:r>
              <a:rPr lang="en-IN" b="0" i="0" dirty="0">
                <a:effectLst/>
                <a:latin typeface="Roboto" panose="02000000000000000000" pitchFamily="2" charset="0"/>
              </a:rPr>
              <a:t>Count set bits </a:t>
            </a:r>
            <a:r>
              <a:rPr lang="en-IN" b="0" i="0" dirty="0" err="1">
                <a:effectLst/>
                <a:latin typeface="Roboto" panose="02000000000000000000" pitchFamily="2" charset="0"/>
              </a:rPr>
              <a:t>upto</a:t>
            </a:r>
            <a:r>
              <a:rPr lang="en-IN" b="0" i="0" dirty="0">
                <a:effectLst/>
                <a:latin typeface="Roboto" panose="02000000000000000000" pitchFamily="2" charset="0"/>
              </a:rPr>
              <a:t>  n</a:t>
            </a:r>
            <a:endParaRPr lang="en-US" dirty="0"/>
          </a:p>
        </p:txBody>
      </p:sp>
      <p:sp>
        <p:nvSpPr>
          <p:cNvPr id="3" name="Content Placeholder 2">
            <a:extLst>
              <a:ext uri="{FF2B5EF4-FFF2-40B4-BE49-F238E27FC236}">
                <a16:creationId xmlns:a16="http://schemas.microsoft.com/office/drawing/2014/main" id="{7B2C1766-7286-863C-9401-C717158C1707}"/>
              </a:ext>
            </a:extLst>
          </p:cNvPr>
          <p:cNvSpPr>
            <a:spLocks noGrp="1"/>
          </p:cNvSpPr>
          <p:nvPr>
            <p:ph idx="1"/>
          </p:nvPr>
        </p:nvSpPr>
        <p:spPr/>
        <p:txBody>
          <a:bodyPr>
            <a:normAutofit fontScale="92500" lnSpcReduction="20000"/>
          </a:bodyPr>
          <a:lstStyle/>
          <a:p>
            <a:pPr marL="0" indent="0" algn="l">
              <a:buNone/>
            </a:pPr>
            <a:r>
              <a:rPr lang="en-IN" b="0" i="0" dirty="0">
                <a:solidFill>
                  <a:srgbClr val="3F6EC6"/>
                </a:solidFill>
                <a:effectLst/>
                <a:latin typeface="Roboto" panose="02000000000000000000" pitchFamily="2" charset="0"/>
              </a:rPr>
              <a:t>int</a:t>
            </a:r>
            <a:r>
              <a:rPr lang="en-IN" b="0" i="0" dirty="0">
                <a:effectLst/>
                <a:latin typeface="Roboto" panose="02000000000000000000" pitchFamily="2" charset="0"/>
              </a:rPr>
              <a:t> </a:t>
            </a:r>
            <a:r>
              <a:rPr lang="en-IN" b="0" i="0" dirty="0" err="1">
                <a:solidFill>
                  <a:srgbClr val="A846B9"/>
                </a:solidFill>
                <a:effectLst/>
                <a:latin typeface="Roboto" panose="02000000000000000000" pitchFamily="2" charset="0"/>
              </a:rPr>
              <a:t>countSetBits</a:t>
            </a:r>
            <a:r>
              <a:rPr lang="en-IN" b="0" i="0" dirty="0">
                <a:effectLst/>
                <a:latin typeface="Roboto" panose="02000000000000000000" pitchFamily="2" charset="0"/>
              </a:rPr>
              <a:t>(</a:t>
            </a:r>
            <a:r>
              <a:rPr lang="en-IN" b="0" i="0" dirty="0">
                <a:solidFill>
                  <a:srgbClr val="3F6EC6"/>
                </a:solidFill>
                <a:effectLst/>
                <a:latin typeface="Roboto" panose="02000000000000000000" pitchFamily="2" charset="0"/>
              </a:rPr>
              <a:t>int</a:t>
            </a:r>
            <a:r>
              <a:rPr lang="en-IN" b="0" i="0" dirty="0">
                <a:effectLst/>
                <a:latin typeface="Roboto" panose="02000000000000000000" pitchFamily="2" charset="0"/>
              </a:rPr>
              <a:t> </a:t>
            </a:r>
            <a:r>
              <a:rPr lang="en-IN" b="0" i="0" dirty="0">
                <a:solidFill>
                  <a:srgbClr val="36464E"/>
                </a:solidFill>
                <a:effectLst/>
                <a:latin typeface="Roboto" panose="02000000000000000000" pitchFamily="2" charset="0"/>
              </a:rPr>
              <a:t>n</a:t>
            </a:r>
            <a:r>
              <a:rPr lang="en-IN" b="0" i="0" dirty="0">
                <a:effectLst/>
                <a:latin typeface="Roboto" panose="02000000000000000000" pitchFamily="2" charset="0"/>
              </a:rPr>
              <a:t>) { </a:t>
            </a:r>
          </a:p>
          <a:p>
            <a:pPr marL="0" indent="0" algn="l">
              <a:buNone/>
            </a:pPr>
            <a:r>
              <a:rPr lang="en-IN" b="0" i="0" dirty="0">
                <a:solidFill>
                  <a:srgbClr val="3F6EC6"/>
                </a:solidFill>
                <a:effectLst/>
                <a:latin typeface="Roboto" panose="02000000000000000000" pitchFamily="2" charset="0"/>
              </a:rPr>
              <a:t>	int</a:t>
            </a:r>
            <a:r>
              <a:rPr lang="en-IN" b="0" i="0" dirty="0">
                <a:effectLst/>
                <a:latin typeface="Roboto" panose="02000000000000000000" pitchFamily="2" charset="0"/>
              </a:rPr>
              <a:t> </a:t>
            </a:r>
            <a:r>
              <a:rPr lang="en-IN" b="0" i="0" dirty="0">
                <a:solidFill>
                  <a:srgbClr val="36464E"/>
                </a:solidFill>
                <a:effectLst/>
                <a:latin typeface="Roboto" panose="02000000000000000000" pitchFamily="2" charset="0"/>
              </a:rPr>
              <a:t>count</a:t>
            </a:r>
            <a:r>
              <a:rPr lang="en-IN" b="0" i="0" dirty="0">
                <a:effectLst/>
                <a:latin typeface="Roboto" panose="02000000000000000000" pitchFamily="2" charset="0"/>
              </a:rPr>
              <a:t> = </a:t>
            </a:r>
            <a:r>
              <a:rPr lang="en-IN" b="0" i="0" dirty="0">
                <a:solidFill>
                  <a:srgbClr val="D52A2A"/>
                </a:solidFill>
                <a:effectLst/>
                <a:latin typeface="Roboto" panose="02000000000000000000" pitchFamily="2" charset="0"/>
              </a:rPr>
              <a:t>0</a:t>
            </a:r>
            <a:r>
              <a:rPr lang="en-IN" b="0" i="0" dirty="0">
                <a:effectLst/>
                <a:latin typeface="Roboto" panose="02000000000000000000" pitchFamily="2" charset="0"/>
              </a:rPr>
              <a:t>; </a:t>
            </a:r>
          </a:p>
          <a:p>
            <a:pPr marL="0" indent="0" algn="l">
              <a:buNone/>
            </a:pPr>
            <a:r>
              <a:rPr lang="en-IN" b="0" i="0" dirty="0">
                <a:solidFill>
                  <a:srgbClr val="3F6EC6"/>
                </a:solidFill>
                <a:effectLst/>
                <a:latin typeface="Roboto" panose="02000000000000000000" pitchFamily="2" charset="0"/>
              </a:rPr>
              <a:t>	while</a:t>
            </a:r>
            <a:r>
              <a:rPr lang="en-IN" b="0" i="0" dirty="0">
                <a:effectLst/>
                <a:latin typeface="Roboto" panose="02000000000000000000" pitchFamily="2" charset="0"/>
              </a:rPr>
              <a:t> (</a:t>
            </a:r>
            <a:r>
              <a:rPr lang="en-IN" b="0" i="0" dirty="0">
                <a:solidFill>
                  <a:srgbClr val="36464E"/>
                </a:solidFill>
                <a:effectLst/>
                <a:latin typeface="Roboto" panose="02000000000000000000" pitchFamily="2" charset="0"/>
              </a:rPr>
              <a:t>n</a:t>
            </a:r>
            <a:r>
              <a:rPr lang="en-IN" b="0" i="0" dirty="0">
                <a:effectLst/>
                <a:latin typeface="Roboto" panose="02000000000000000000" pitchFamily="2" charset="0"/>
              </a:rPr>
              <a:t> &gt; </a:t>
            </a:r>
            <a:r>
              <a:rPr lang="en-IN" b="0" i="0" dirty="0">
                <a:solidFill>
                  <a:srgbClr val="D52A2A"/>
                </a:solidFill>
                <a:effectLst/>
                <a:latin typeface="Roboto" panose="02000000000000000000" pitchFamily="2" charset="0"/>
              </a:rPr>
              <a:t>0</a:t>
            </a:r>
            <a:r>
              <a:rPr lang="en-IN" b="0" i="0" dirty="0">
                <a:effectLst/>
                <a:latin typeface="Roboto" panose="02000000000000000000" pitchFamily="2" charset="0"/>
              </a:rPr>
              <a:t>) { </a:t>
            </a:r>
          </a:p>
          <a:p>
            <a:pPr marL="0" indent="0" algn="l">
              <a:buNone/>
            </a:pPr>
            <a:r>
              <a:rPr lang="en-IN" b="0" i="0" dirty="0">
                <a:solidFill>
                  <a:srgbClr val="3F6EC6"/>
                </a:solidFill>
                <a:effectLst/>
                <a:latin typeface="Roboto" panose="02000000000000000000" pitchFamily="2" charset="0"/>
              </a:rPr>
              <a:t>		int</a:t>
            </a:r>
            <a:r>
              <a:rPr lang="en-IN" b="0" i="0" dirty="0">
                <a:effectLst/>
                <a:latin typeface="Roboto" panose="02000000000000000000" pitchFamily="2" charset="0"/>
              </a:rPr>
              <a:t> </a:t>
            </a:r>
            <a:r>
              <a:rPr lang="en-IN" b="0" i="0" dirty="0">
                <a:solidFill>
                  <a:srgbClr val="36464E"/>
                </a:solidFill>
                <a:effectLst/>
                <a:latin typeface="Roboto" panose="02000000000000000000" pitchFamily="2" charset="0"/>
              </a:rPr>
              <a:t>x</a:t>
            </a:r>
            <a:r>
              <a:rPr lang="en-IN" b="0" i="0" dirty="0">
                <a:effectLst/>
                <a:latin typeface="Roboto" panose="02000000000000000000" pitchFamily="2" charset="0"/>
              </a:rPr>
              <a:t> = </a:t>
            </a:r>
            <a:r>
              <a:rPr lang="en-IN" b="0" i="0" dirty="0">
                <a:solidFill>
                  <a:srgbClr val="36464E"/>
                </a:solidFill>
                <a:effectLst/>
                <a:latin typeface="Roboto" panose="02000000000000000000" pitchFamily="2" charset="0"/>
              </a:rPr>
              <a:t>std</a:t>
            </a:r>
            <a:r>
              <a:rPr lang="en-IN" b="0" i="0" dirty="0">
                <a:effectLst/>
                <a:latin typeface="Roboto" panose="02000000000000000000" pitchFamily="2" charset="0"/>
              </a:rPr>
              <a:t>::</a:t>
            </a:r>
            <a:r>
              <a:rPr lang="en-IN" b="0" i="0" dirty="0" err="1">
                <a:solidFill>
                  <a:srgbClr val="36464E"/>
                </a:solidFill>
                <a:effectLst/>
                <a:latin typeface="Roboto" panose="02000000000000000000" pitchFamily="2" charset="0"/>
              </a:rPr>
              <a:t>bit_width</a:t>
            </a:r>
            <a:r>
              <a:rPr lang="en-IN" b="0" i="0" dirty="0">
                <a:effectLst/>
                <a:latin typeface="Roboto" panose="02000000000000000000" pitchFamily="2" charset="0"/>
              </a:rPr>
              <a:t>(</a:t>
            </a:r>
            <a:r>
              <a:rPr lang="en-IN" b="0" i="0" dirty="0">
                <a:solidFill>
                  <a:srgbClr val="36464E"/>
                </a:solidFill>
                <a:effectLst/>
                <a:latin typeface="Roboto" panose="02000000000000000000" pitchFamily="2" charset="0"/>
              </a:rPr>
              <a:t>n</a:t>
            </a:r>
            <a:r>
              <a:rPr lang="en-IN" b="0" i="0" dirty="0">
                <a:effectLst/>
                <a:latin typeface="Roboto" panose="02000000000000000000" pitchFamily="2" charset="0"/>
              </a:rPr>
              <a:t>) - </a:t>
            </a:r>
            <a:r>
              <a:rPr lang="en-IN" b="0" i="0" dirty="0">
                <a:solidFill>
                  <a:srgbClr val="D52A2A"/>
                </a:solidFill>
                <a:effectLst/>
                <a:latin typeface="Roboto" panose="02000000000000000000" pitchFamily="2" charset="0"/>
              </a:rPr>
              <a:t>1</a:t>
            </a:r>
            <a:r>
              <a:rPr lang="en-IN" b="0" i="0" dirty="0">
                <a:effectLst/>
                <a:latin typeface="Roboto" panose="02000000000000000000" pitchFamily="2" charset="0"/>
              </a:rPr>
              <a:t>; </a:t>
            </a:r>
          </a:p>
          <a:p>
            <a:pPr marL="0" indent="0" algn="l">
              <a:buNone/>
            </a:pPr>
            <a:r>
              <a:rPr lang="en-IN" b="0" i="0" dirty="0">
                <a:solidFill>
                  <a:srgbClr val="36464E"/>
                </a:solidFill>
                <a:effectLst/>
                <a:latin typeface="Roboto" panose="02000000000000000000" pitchFamily="2" charset="0"/>
              </a:rPr>
              <a:t>		count</a:t>
            </a:r>
            <a:r>
              <a:rPr lang="en-IN" b="0" i="0" dirty="0">
                <a:effectLst/>
                <a:latin typeface="Roboto" panose="02000000000000000000" pitchFamily="2" charset="0"/>
              </a:rPr>
              <a:t> += </a:t>
            </a:r>
            <a:r>
              <a:rPr lang="en-IN" b="0" i="0" dirty="0">
                <a:solidFill>
                  <a:srgbClr val="36464E"/>
                </a:solidFill>
                <a:effectLst/>
                <a:latin typeface="Roboto" panose="02000000000000000000" pitchFamily="2" charset="0"/>
              </a:rPr>
              <a:t>x</a:t>
            </a:r>
            <a:r>
              <a:rPr lang="en-IN" b="0" i="0" dirty="0">
                <a:effectLst/>
                <a:latin typeface="Roboto" panose="02000000000000000000" pitchFamily="2" charset="0"/>
              </a:rPr>
              <a:t> &lt;&lt; (</a:t>
            </a:r>
            <a:r>
              <a:rPr lang="en-IN" b="0" i="0" dirty="0">
                <a:solidFill>
                  <a:srgbClr val="36464E"/>
                </a:solidFill>
                <a:effectLst/>
                <a:latin typeface="Roboto" panose="02000000000000000000" pitchFamily="2" charset="0"/>
              </a:rPr>
              <a:t>x</a:t>
            </a:r>
            <a:r>
              <a:rPr lang="en-IN" b="0" i="0" dirty="0">
                <a:effectLst/>
                <a:latin typeface="Roboto" panose="02000000000000000000" pitchFamily="2" charset="0"/>
              </a:rPr>
              <a:t> - </a:t>
            </a:r>
            <a:r>
              <a:rPr lang="en-IN" b="0" i="0" dirty="0">
                <a:solidFill>
                  <a:srgbClr val="D52A2A"/>
                </a:solidFill>
                <a:effectLst/>
                <a:latin typeface="Roboto" panose="02000000000000000000" pitchFamily="2" charset="0"/>
              </a:rPr>
              <a:t>1</a:t>
            </a:r>
            <a:r>
              <a:rPr lang="en-IN" b="0" i="0" dirty="0">
                <a:effectLst/>
                <a:latin typeface="Roboto" panose="02000000000000000000" pitchFamily="2" charset="0"/>
              </a:rPr>
              <a:t>); </a:t>
            </a:r>
          </a:p>
          <a:p>
            <a:pPr marL="0" indent="0" algn="l">
              <a:buNone/>
            </a:pPr>
            <a:r>
              <a:rPr lang="en-IN" b="0" i="0" dirty="0">
                <a:solidFill>
                  <a:srgbClr val="36464E"/>
                </a:solidFill>
                <a:effectLst/>
                <a:latin typeface="Roboto" panose="02000000000000000000" pitchFamily="2" charset="0"/>
              </a:rPr>
              <a:t>		n</a:t>
            </a:r>
            <a:r>
              <a:rPr lang="en-IN" b="0" i="0" dirty="0">
                <a:effectLst/>
                <a:latin typeface="Roboto" panose="02000000000000000000" pitchFamily="2" charset="0"/>
              </a:rPr>
              <a:t> -= </a:t>
            </a:r>
            <a:r>
              <a:rPr lang="en-IN" b="0" i="0" dirty="0">
                <a:solidFill>
                  <a:srgbClr val="D52A2A"/>
                </a:solidFill>
                <a:effectLst/>
                <a:latin typeface="Roboto" panose="02000000000000000000" pitchFamily="2" charset="0"/>
              </a:rPr>
              <a:t>1</a:t>
            </a:r>
            <a:r>
              <a:rPr lang="en-IN" b="0" i="0" dirty="0">
                <a:effectLst/>
                <a:latin typeface="Roboto" panose="02000000000000000000" pitchFamily="2" charset="0"/>
              </a:rPr>
              <a:t> &lt;&lt; </a:t>
            </a:r>
            <a:r>
              <a:rPr lang="en-IN" b="0" i="0" dirty="0">
                <a:solidFill>
                  <a:srgbClr val="36464E"/>
                </a:solidFill>
                <a:effectLst/>
                <a:latin typeface="Roboto" panose="02000000000000000000" pitchFamily="2" charset="0"/>
              </a:rPr>
              <a:t>x</a:t>
            </a:r>
            <a:r>
              <a:rPr lang="en-IN" b="0" i="0" dirty="0">
                <a:effectLst/>
                <a:latin typeface="Roboto" panose="02000000000000000000" pitchFamily="2" charset="0"/>
              </a:rPr>
              <a:t>; </a:t>
            </a:r>
          </a:p>
          <a:p>
            <a:pPr marL="0" indent="0" algn="l">
              <a:buNone/>
            </a:pPr>
            <a:r>
              <a:rPr lang="en-IN" b="0" i="0" dirty="0">
                <a:solidFill>
                  <a:srgbClr val="36464E"/>
                </a:solidFill>
                <a:effectLst/>
                <a:latin typeface="Roboto" panose="02000000000000000000" pitchFamily="2" charset="0"/>
              </a:rPr>
              <a:t>		count</a:t>
            </a:r>
            <a:r>
              <a:rPr lang="en-IN" b="0" i="0" dirty="0">
                <a:effectLst/>
                <a:latin typeface="Roboto" panose="02000000000000000000" pitchFamily="2" charset="0"/>
              </a:rPr>
              <a:t> += </a:t>
            </a:r>
            <a:r>
              <a:rPr lang="en-IN" b="0" i="0" dirty="0">
                <a:solidFill>
                  <a:srgbClr val="36464E"/>
                </a:solidFill>
                <a:effectLst/>
                <a:latin typeface="Roboto" panose="02000000000000000000" pitchFamily="2" charset="0"/>
              </a:rPr>
              <a:t>n</a:t>
            </a:r>
            <a:r>
              <a:rPr lang="en-IN" b="0" i="0" dirty="0">
                <a:effectLst/>
                <a:latin typeface="Roboto" panose="02000000000000000000" pitchFamily="2" charset="0"/>
              </a:rPr>
              <a:t> + </a:t>
            </a:r>
            <a:r>
              <a:rPr lang="en-IN" b="0" i="0" dirty="0">
                <a:solidFill>
                  <a:srgbClr val="D52A2A"/>
                </a:solidFill>
                <a:effectLst/>
                <a:latin typeface="Roboto" panose="02000000000000000000" pitchFamily="2" charset="0"/>
              </a:rPr>
              <a:t>1</a:t>
            </a:r>
            <a:r>
              <a:rPr lang="en-IN" b="0" i="0" dirty="0">
                <a:effectLst/>
                <a:latin typeface="Roboto" panose="02000000000000000000" pitchFamily="2" charset="0"/>
              </a:rPr>
              <a:t>; </a:t>
            </a:r>
          </a:p>
          <a:p>
            <a:pPr marL="0" indent="0" algn="l">
              <a:buNone/>
            </a:pPr>
            <a:r>
              <a:rPr lang="en-IN" b="0" i="0" dirty="0">
                <a:effectLst/>
                <a:latin typeface="Roboto" panose="02000000000000000000" pitchFamily="2" charset="0"/>
              </a:rPr>
              <a:t>	} </a:t>
            </a:r>
          </a:p>
          <a:p>
            <a:pPr marL="0" indent="0" algn="l">
              <a:buNone/>
            </a:pPr>
            <a:r>
              <a:rPr lang="en-IN" b="0" i="0" dirty="0">
                <a:solidFill>
                  <a:srgbClr val="3F6EC6"/>
                </a:solidFill>
                <a:effectLst/>
                <a:latin typeface="Roboto" panose="02000000000000000000" pitchFamily="2" charset="0"/>
              </a:rPr>
              <a:t>return</a:t>
            </a:r>
            <a:r>
              <a:rPr lang="en-IN" b="0" i="0" dirty="0">
                <a:effectLst/>
                <a:latin typeface="Roboto" panose="02000000000000000000" pitchFamily="2" charset="0"/>
              </a:rPr>
              <a:t> </a:t>
            </a:r>
            <a:r>
              <a:rPr lang="en-IN" b="0" i="0" dirty="0">
                <a:solidFill>
                  <a:srgbClr val="36464E"/>
                </a:solidFill>
                <a:effectLst/>
                <a:latin typeface="Roboto" panose="02000000000000000000" pitchFamily="2" charset="0"/>
              </a:rPr>
              <a:t>count</a:t>
            </a:r>
            <a:r>
              <a:rPr lang="en-IN" b="0" i="0" dirty="0">
                <a:effectLst/>
                <a:latin typeface="Roboto" panose="02000000000000000000" pitchFamily="2" charset="0"/>
              </a:rPr>
              <a:t>; </a:t>
            </a:r>
          </a:p>
          <a:p>
            <a:pPr marL="0" indent="0" algn="l">
              <a:buNone/>
            </a:pPr>
            <a:r>
              <a:rPr lang="en-IN" b="0" i="0" dirty="0">
                <a:effectLst/>
                <a:latin typeface="Roboto" panose="02000000000000000000" pitchFamily="2" charset="0"/>
              </a:rPr>
              <a:t>}</a:t>
            </a:r>
            <a:endParaRPr lang="en-US" dirty="0"/>
          </a:p>
          <a:p>
            <a:pPr marL="0" indent="0">
              <a:buNone/>
            </a:pPr>
            <a:endParaRPr lang="en-US" dirty="0"/>
          </a:p>
        </p:txBody>
      </p:sp>
    </p:spTree>
    <p:extLst>
      <p:ext uri="{BB962C8B-B14F-4D97-AF65-F5344CB8AC3E}">
        <p14:creationId xmlns:p14="http://schemas.microsoft.com/office/powerpoint/2010/main" val="21488526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7CAB5-295E-2A4D-0047-CFC6A379214C}"/>
              </a:ext>
            </a:extLst>
          </p:cNvPr>
          <p:cNvSpPr>
            <a:spLocks noGrp="1"/>
          </p:cNvSpPr>
          <p:nvPr>
            <p:ph type="title"/>
          </p:nvPr>
        </p:nvSpPr>
        <p:spPr/>
        <p:txBody>
          <a:bodyPr/>
          <a:lstStyle/>
          <a:p>
            <a:r>
              <a:rPr lang="en-IN" b="0" i="0" dirty="0">
                <a:effectLst/>
                <a:latin typeface="Roboto" panose="02000000000000000000" pitchFamily="2" charset="0"/>
              </a:rPr>
              <a:t>Additional tricks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0381655-4B78-9E4C-2FA4-BD656DD5FA54}"/>
                  </a:ext>
                </a:extLst>
              </p:cNvPr>
              <p:cNvSpPr>
                <a:spLocks noGrp="1"/>
              </p:cNvSpPr>
              <p:nvPr>
                <p:ph idx="1"/>
              </p:nvPr>
            </p:nvSpPr>
            <p:spPr/>
            <p:txBody>
              <a:bodyPr/>
              <a:lstStyle/>
              <a:p>
                <a:pPr algn="l">
                  <a:buFont typeface="Arial" panose="020B0604020202020204" pitchFamily="34" charset="0"/>
                  <a:buChar char="•"/>
                </a:pPr>
                <a:r>
                  <a:rPr lang="en-IN" b="0" i="0" dirty="0">
                    <a:effectLst/>
                    <a:latin typeface="Roboto" panose="02000000000000000000" pitchFamily="2" charset="0"/>
                  </a:rPr>
                  <a:t> n &amp; (n + 1)  clears all trailing ones:  0011 0111</a:t>
                </a:r>
                <a:r>
                  <a:rPr lang="en-IN" b="0" i="0" baseline="-25000" dirty="0">
                    <a:effectLst/>
                    <a:latin typeface="Roboto" panose="02000000000000000000" pitchFamily="2" charset="0"/>
                  </a:rPr>
                  <a:t>2</a:t>
                </a:r>
                <a:r>
                  <a:rPr lang="en-IN" b="0" i="0" dirty="0">
                    <a:effectLst/>
                    <a:latin typeface="Roboto" panose="02000000000000000000" pitchFamily="2" charset="0"/>
                  </a:rPr>
                  <a:t> </a:t>
                </a:r>
                <a14:m>
                  <m:oMath xmlns:m="http://schemas.openxmlformats.org/officeDocument/2006/math">
                    <m:r>
                      <a:rPr lang="en-IN" b="0" i="1" smtClean="0">
                        <a:effectLst/>
                        <a:latin typeface="Cambria Math" panose="02040503050406030204" pitchFamily="18" charset="0"/>
                        <a:ea typeface="Cambria Math" panose="02040503050406030204" pitchFamily="18" charset="0"/>
                      </a:rPr>
                      <m:t>→</m:t>
                    </m:r>
                    <m:r>
                      <a:rPr lang="en-US" b="0" i="1" smtClean="0">
                        <a:effectLst/>
                        <a:latin typeface="Cambria Math" panose="02040503050406030204" pitchFamily="18" charset="0"/>
                        <a:ea typeface="Cambria Math" panose="02040503050406030204" pitchFamily="18" charset="0"/>
                      </a:rPr>
                      <m:t> </m:t>
                    </m:r>
                  </m:oMath>
                </a14:m>
                <a:r>
                  <a:rPr lang="en-IN" b="0" i="0" dirty="0">
                    <a:effectLst/>
                    <a:latin typeface="Roboto" panose="02000000000000000000" pitchFamily="2" charset="0"/>
                  </a:rPr>
                  <a:t>0011 0000</a:t>
                </a:r>
                <a:r>
                  <a:rPr lang="en-IN" b="0" i="0" baseline="-25000" dirty="0">
                    <a:effectLst/>
                    <a:latin typeface="Roboto" panose="02000000000000000000" pitchFamily="2" charset="0"/>
                  </a:rPr>
                  <a:t>2</a:t>
                </a:r>
                <a:r>
                  <a:rPr lang="en-IN" b="0" i="0" dirty="0">
                    <a:effectLst/>
                    <a:latin typeface="Roboto" panose="02000000000000000000" pitchFamily="2" charset="0"/>
                  </a:rPr>
                  <a:t> .</a:t>
                </a:r>
              </a:p>
              <a:p>
                <a:pPr algn="l">
                  <a:buFont typeface="Arial" panose="020B0604020202020204" pitchFamily="34" charset="0"/>
                  <a:buChar char="•"/>
                </a:pPr>
                <a:r>
                  <a:rPr lang="en-IN" b="0" i="0" dirty="0">
                    <a:effectLst/>
                    <a:latin typeface="Roboto" panose="02000000000000000000" pitchFamily="2" charset="0"/>
                  </a:rPr>
                  <a:t> n | (n + 1)  sets the last cleared bit:  0011 0101</a:t>
                </a:r>
                <a:r>
                  <a:rPr lang="en-IN" b="0" i="0" baseline="-25000" dirty="0">
                    <a:effectLst/>
                    <a:latin typeface="Roboto" panose="02000000000000000000" pitchFamily="2" charset="0"/>
                  </a:rPr>
                  <a:t>2</a:t>
                </a:r>
                <a:r>
                  <a:rPr lang="en-IN" b="0" i="0" dirty="0">
                    <a:effectLst/>
                    <a:latin typeface="Roboto" panose="02000000000000000000" pitchFamily="2" charset="0"/>
                  </a:rPr>
                  <a:t> </a:t>
                </a:r>
                <a14:m>
                  <m:oMath xmlns:m="http://schemas.openxmlformats.org/officeDocument/2006/math">
                    <m:r>
                      <a:rPr lang="en-IN" b="0" i="1" smtClean="0">
                        <a:effectLst/>
                        <a:latin typeface="Cambria Math" panose="02040503050406030204" pitchFamily="18" charset="0"/>
                        <a:ea typeface="Cambria Math" panose="02040503050406030204" pitchFamily="18" charset="0"/>
                      </a:rPr>
                      <m:t>→</m:t>
                    </m:r>
                  </m:oMath>
                </a14:m>
                <a:r>
                  <a:rPr lang="en-IN" b="0" i="0" dirty="0">
                    <a:effectLst/>
                    <a:latin typeface="Roboto" panose="02000000000000000000" pitchFamily="2" charset="0"/>
                  </a:rPr>
                  <a:t> 0011 0111</a:t>
                </a:r>
                <a:r>
                  <a:rPr lang="en-IN" b="0" i="0" baseline="-25000" dirty="0">
                    <a:effectLst/>
                    <a:latin typeface="Roboto" panose="02000000000000000000" pitchFamily="2" charset="0"/>
                  </a:rPr>
                  <a:t>2</a:t>
                </a:r>
                <a:r>
                  <a:rPr lang="en-IN" b="0" i="0" dirty="0">
                    <a:effectLst/>
                    <a:latin typeface="Roboto" panose="02000000000000000000" pitchFamily="2" charset="0"/>
                  </a:rPr>
                  <a:t> .</a:t>
                </a:r>
              </a:p>
              <a:p>
                <a:pPr algn="l">
                  <a:buFont typeface="Arial" panose="020B0604020202020204" pitchFamily="34" charset="0"/>
                  <a:buChar char="•"/>
                </a:pPr>
                <a:r>
                  <a:rPr lang="en-IN" b="0" i="0" dirty="0">
                    <a:effectLst/>
                    <a:latin typeface="Roboto" panose="02000000000000000000" pitchFamily="2" charset="0"/>
                  </a:rPr>
                  <a:t> n &amp; -n  extracts the last set bit:  0011 0100</a:t>
                </a:r>
                <a:r>
                  <a:rPr lang="en-IN" b="0" i="0" baseline="-25000" dirty="0">
                    <a:effectLst/>
                    <a:latin typeface="Roboto" panose="02000000000000000000" pitchFamily="2" charset="0"/>
                  </a:rPr>
                  <a:t>2</a:t>
                </a:r>
                <a:r>
                  <a:rPr lang="en-IN" b="0" i="0" dirty="0">
                    <a:effectLst/>
                    <a:latin typeface="Roboto" panose="02000000000000000000" pitchFamily="2" charset="0"/>
                  </a:rPr>
                  <a:t> </a:t>
                </a:r>
                <a14:m>
                  <m:oMath xmlns:m="http://schemas.openxmlformats.org/officeDocument/2006/math">
                    <m:r>
                      <a:rPr lang="en-IN" b="0" i="1" smtClean="0">
                        <a:effectLst/>
                        <a:latin typeface="Cambria Math" panose="02040503050406030204" pitchFamily="18" charset="0"/>
                        <a:ea typeface="Cambria Math" panose="02040503050406030204" pitchFamily="18" charset="0"/>
                      </a:rPr>
                      <m:t>→</m:t>
                    </m:r>
                  </m:oMath>
                </a14:m>
                <a:r>
                  <a:rPr lang="en-IN" b="0" i="0" dirty="0">
                    <a:effectLst/>
                    <a:latin typeface="Roboto" panose="02000000000000000000" pitchFamily="2" charset="0"/>
                  </a:rPr>
                  <a:t> </a:t>
                </a:r>
                <a:r>
                  <a:rPr lang="en-IN" b="0" i="0">
                    <a:effectLst/>
                    <a:latin typeface="Roboto" panose="02000000000000000000" pitchFamily="2" charset="0"/>
                  </a:rPr>
                  <a:t>0000 0100</a:t>
                </a:r>
                <a:r>
                  <a:rPr lang="en-IN" b="0" i="0" baseline="-25000">
                    <a:effectLst/>
                    <a:latin typeface="Roboto" panose="02000000000000000000" pitchFamily="2" charset="0"/>
                  </a:rPr>
                  <a:t>2</a:t>
                </a:r>
                <a:r>
                  <a:rPr lang="en-IN" b="0" i="0">
                    <a:effectLst/>
                    <a:latin typeface="Roboto" panose="02000000000000000000" pitchFamily="2" charset="0"/>
                  </a:rPr>
                  <a:t> </a:t>
                </a:r>
                <a:r>
                  <a:rPr lang="en-IN" b="0" i="0" dirty="0">
                    <a:effectLst/>
                    <a:latin typeface="Roboto" panose="02000000000000000000" pitchFamily="2" charset="0"/>
                  </a:rPr>
                  <a:t>.</a:t>
                </a:r>
              </a:p>
              <a:p>
                <a:endParaRPr lang="en-US" dirty="0"/>
              </a:p>
            </p:txBody>
          </p:sp>
        </mc:Choice>
        <mc:Fallback xmlns="">
          <p:sp>
            <p:nvSpPr>
              <p:cNvPr id="3" name="Content Placeholder 2">
                <a:extLst>
                  <a:ext uri="{FF2B5EF4-FFF2-40B4-BE49-F238E27FC236}">
                    <a16:creationId xmlns:a16="http://schemas.microsoft.com/office/drawing/2014/main" id="{90381655-4B78-9E4C-2FA4-BD656DD5FA54}"/>
                  </a:ext>
                </a:extLst>
              </p:cNvPr>
              <p:cNvSpPr>
                <a:spLocks noGrp="1" noRot="1" noChangeAspect="1" noMove="1" noResize="1" noEditPoints="1" noAdjustHandles="1" noChangeArrowheads="1" noChangeShapeType="1" noTextEdit="1"/>
              </p:cNvSpPr>
              <p:nvPr>
                <p:ph idx="1"/>
              </p:nvPr>
            </p:nvSpPr>
            <p:spPr>
              <a:blipFill>
                <a:blip r:embed="rId2"/>
                <a:stretch>
                  <a:fillRect l="-1086" t="-2616"/>
                </a:stretch>
              </a:blipFill>
            </p:spPr>
            <p:txBody>
              <a:bodyPr/>
              <a:lstStyle/>
              <a:p>
                <a:r>
                  <a:rPr lang="en-US">
                    <a:noFill/>
                  </a:rPr>
                  <a:t> </a:t>
                </a:r>
              </a:p>
            </p:txBody>
          </p:sp>
        </mc:Fallback>
      </mc:AlternateContent>
    </p:spTree>
    <p:extLst>
      <p:ext uri="{BB962C8B-B14F-4D97-AF65-F5344CB8AC3E}">
        <p14:creationId xmlns:p14="http://schemas.microsoft.com/office/powerpoint/2010/main" val="38232890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3635</TotalTime>
  <Words>2181</Words>
  <Application>Microsoft Macintosh PowerPoint</Application>
  <PresentationFormat>Widescreen</PresentationFormat>
  <Paragraphs>165</Paragraphs>
  <Slides>24</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24</vt:i4>
      </vt:variant>
    </vt:vector>
  </HeadingPairs>
  <TitlesOfParts>
    <vt:vector size="33" baseType="lpstr">
      <vt:lpstr>Aptos</vt:lpstr>
      <vt:lpstr>Aptos Display</vt:lpstr>
      <vt:lpstr>Arial</vt:lpstr>
      <vt:lpstr>Cambria Math</vt:lpstr>
      <vt:lpstr>Nunito</vt:lpstr>
      <vt:lpstr>Roboto</vt:lpstr>
      <vt:lpstr>Source Sans 3</vt:lpstr>
      <vt:lpstr>ui-monospace</vt:lpstr>
      <vt:lpstr>Office Theme</vt:lpstr>
      <vt:lpstr>DSA-19 Bit Manipulation</vt:lpstr>
      <vt:lpstr>Binary number</vt:lpstr>
      <vt:lpstr>Binary number</vt:lpstr>
      <vt:lpstr>Binary number</vt:lpstr>
      <vt:lpstr>Bit operators</vt:lpstr>
      <vt:lpstr>XOR Properties</vt:lpstr>
      <vt:lpstr>Important Properties</vt:lpstr>
      <vt:lpstr>Important Properties</vt:lpstr>
      <vt:lpstr>Add two numbers without using arithmetic operators</vt:lpstr>
      <vt:lpstr>Binary representation of a given number</vt:lpstr>
      <vt:lpstr>Turn off the rightmost set bit</vt:lpstr>
      <vt:lpstr>PowerPoint Presentation</vt:lpstr>
      <vt:lpstr>PowerPoint Presentation</vt:lpstr>
      <vt:lpstr>Shift operators</vt:lpstr>
      <vt:lpstr>Useful tricks (Set/flip/clear a bit)</vt:lpstr>
      <vt:lpstr>Useful tricks (Check if a bit is set)</vt:lpstr>
      <vt:lpstr>Check if the number is divisible by a power of 2</vt:lpstr>
      <vt:lpstr>Check if an integer is a power of 2</vt:lpstr>
      <vt:lpstr>Clear the right-most set bit</vt:lpstr>
      <vt:lpstr>Brian Kernighan's algorithm</vt:lpstr>
      <vt:lpstr>Count set bits upto  n</vt:lpstr>
      <vt:lpstr>Count set bits upto  n</vt:lpstr>
      <vt:lpstr>Count set bits upto  n</vt:lpstr>
      <vt:lpstr>Additional tricks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NAVEEN KUMAR</dc:creator>
  <cp:lastModifiedBy>NAVEEN KUMAR</cp:lastModifiedBy>
  <cp:revision>127</cp:revision>
  <dcterms:created xsi:type="dcterms:W3CDTF">2026-01-15T04:12:31Z</dcterms:created>
  <dcterms:modified xsi:type="dcterms:W3CDTF">2026-03-30T08:18:06Z</dcterms:modified>
</cp:coreProperties>
</file>