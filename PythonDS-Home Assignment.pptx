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51"/>
    <p:restoredTop sz="94560"/>
  </p:normalViewPr>
  <p:slideViewPr>
    <p:cSldViewPr snapToGrid="0">
      <p:cViewPr varScale="1">
        <p:scale>
          <a:sx n="102" d="100"/>
          <a:sy n="102" d="100"/>
        </p:scale>
        <p:origin x="59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3DA9-E962-4670-597E-4C9CD6E412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8A4FBF-5D81-57BE-89DE-B6FA9BF8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1C1BF3-77AA-DB2E-1DF0-59825E936C91}"/>
              </a:ext>
            </a:extLst>
          </p:cNvPr>
          <p:cNvSpPr>
            <a:spLocks noGrp="1"/>
          </p:cNvSpPr>
          <p:nvPr>
            <p:ph type="dt" sz="half" idx="10"/>
          </p:nvPr>
        </p:nvSpPr>
        <p:spPr/>
        <p:txBody>
          <a:bodyPr/>
          <a:lstStyle/>
          <a:p>
            <a:fld id="{A0723D25-A2BC-274F-A813-3B06A34CD740}" type="datetimeFigureOut">
              <a:rPr lang="en-US" smtClean="0"/>
              <a:t>2/13/26</a:t>
            </a:fld>
            <a:endParaRPr lang="en-US"/>
          </a:p>
        </p:txBody>
      </p:sp>
      <p:sp>
        <p:nvSpPr>
          <p:cNvPr id="5" name="Footer Placeholder 4">
            <a:extLst>
              <a:ext uri="{FF2B5EF4-FFF2-40B4-BE49-F238E27FC236}">
                <a16:creationId xmlns:a16="http://schemas.microsoft.com/office/drawing/2014/main" id="{CE3CE1A2-B778-3FDB-D880-08BE937EC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08238-AAA3-EB3D-2030-44EF2A37997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4514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67AC-4F97-8FBD-F886-632779C39B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2DEEFE-F85E-366F-23C8-D0A0CF0DE75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05F2CC-507C-6795-51B2-16D8369183A2}"/>
              </a:ext>
            </a:extLst>
          </p:cNvPr>
          <p:cNvSpPr>
            <a:spLocks noGrp="1"/>
          </p:cNvSpPr>
          <p:nvPr>
            <p:ph type="dt" sz="half" idx="10"/>
          </p:nvPr>
        </p:nvSpPr>
        <p:spPr/>
        <p:txBody>
          <a:bodyPr/>
          <a:lstStyle/>
          <a:p>
            <a:fld id="{A0723D25-A2BC-274F-A813-3B06A34CD740}" type="datetimeFigureOut">
              <a:rPr lang="en-US" smtClean="0"/>
              <a:t>2/13/26</a:t>
            </a:fld>
            <a:endParaRPr lang="en-US"/>
          </a:p>
        </p:txBody>
      </p:sp>
      <p:sp>
        <p:nvSpPr>
          <p:cNvPr id="5" name="Footer Placeholder 4">
            <a:extLst>
              <a:ext uri="{FF2B5EF4-FFF2-40B4-BE49-F238E27FC236}">
                <a16:creationId xmlns:a16="http://schemas.microsoft.com/office/drawing/2014/main" id="{30FB82C6-AB76-B50D-7079-FDBED2613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78F90-9858-319E-2D9B-7BED7DF7566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558895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A475C-D161-EE28-37F5-01CB65945D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B58EAF-9EA6-FAC9-DA83-5EE92332DB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6AD692-8F1E-78AF-D6FB-97D1B99B1904}"/>
              </a:ext>
            </a:extLst>
          </p:cNvPr>
          <p:cNvSpPr>
            <a:spLocks noGrp="1"/>
          </p:cNvSpPr>
          <p:nvPr>
            <p:ph type="dt" sz="half" idx="10"/>
          </p:nvPr>
        </p:nvSpPr>
        <p:spPr/>
        <p:txBody>
          <a:bodyPr/>
          <a:lstStyle/>
          <a:p>
            <a:fld id="{A0723D25-A2BC-274F-A813-3B06A34CD740}" type="datetimeFigureOut">
              <a:rPr lang="en-US" smtClean="0"/>
              <a:t>2/13/26</a:t>
            </a:fld>
            <a:endParaRPr lang="en-US"/>
          </a:p>
        </p:txBody>
      </p:sp>
      <p:sp>
        <p:nvSpPr>
          <p:cNvPr id="5" name="Footer Placeholder 4">
            <a:extLst>
              <a:ext uri="{FF2B5EF4-FFF2-40B4-BE49-F238E27FC236}">
                <a16:creationId xmlns:a16="http://schemas.microsoft.com/office/drawing/2014/main" id="{3DD4BDEE-322C-86FB-1990-5B383501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36F1F5-8E08-10FB-70B6-3E0EE445BF80}"/>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2937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B37A-3FC4-9E76-E7FD-2835B53B9E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E7647AC-F0F5-A131-8418-3C843D871C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6D75A3F-F688-26A1-0A51-DE674F9FDF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98B083-258B-212A-DEA0-7D0C49DAFA6B}"/>
              </a:ext>
            </a:extLst>
          </p:cNvPr>
          <p:cNvSpPr>
            <a:spLocks noGrp="1"/>
          </p:cNvSpPr>
          <p:nvPr>
            <p:ph type="dt" sz="half" idx="10"/>
          </p:nvPr>
        </p:nvSpPr>
        <p:spPr/>
        <p:txBody>
          <a:bodyPr/>
          <a:lstStyle/>
          <a:p>
            <a:fld id="{A0723D25-A2BC-274F-A813-3B06A34CD740}" type="datetimeFigureOut">
              <a:rPr lang="en-US" smtClean="0"/>
              <a:t>2/13/26</a:t>
            </a:fld>
            <a:endParaRPr lang="en-US"/>
          </a:p>
        </p:txBody>
      </p:sp>
      <p:sp>
        <p:nvSpPr>
          <p:cNvPr id="6" name="Footer Placeholder 5">
            <a:extLst>
              <a:ext uri="{FF2B5EF4-FFF2-40B4-BE49-F238E27FC236}">
                <a16:creationId xmlns:a16="http://schemas.microsoft.com/office/drawing/2014/main" id="{CB592C50-0793-6A57-870E-22B7BD618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D6423-EEDD-EBD2-1637-86B04459E90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37070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1BA5-617B-7CDB-72DD-34B6798B3B1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C80CCF-7651-8CCF-9517-5870109B8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D4BCFD4-2E93-06B8-C482-0D21CC1EBE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660270-A358-7E87-C238-0769FE0FB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E7A0AE-4CFF-347C-E881-82620BD145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7C6E51-FCC1-52F4-C78F-B887C1FA308A}"/>
              </a:ext>
            </a:extLst>
          </p:cNvPr>
          <p:cNvSpPr>
            <a:spLocks noGrp="1"/>
          </p:cNvSpPr>
          <p:nvPr>
            <p:ph type="dt" sz="half" idx="10"/>
          </p:nvPr>
        </p:nvSpPr>
        <p:spPr/>
        <p:txBody>
          <a:bodyPr/>
          <a:lstStyle/>
          <a:p>
            <a:fld id="{A0723D25-A2BC-274F-A813-3B06A34CD740}" type="datetimeFigureOut">
              <a:rPr lang="en-US" smtClean="0"/>
              <a:t>2/13/26</a:t>
            </a:fld>
            <a:endParaRPr lang="en-US"/>
          </a:p>
        </p:txBody>
      </p:sp>
      <p:sp>
        <p:nvSpPr>
          <p:cNvPr id="8" name="Footer Placeholder 7">
            <a:extLst>
              <a:ext uri="{FF2B5EF4-FFF2-40B4-BE49-F238E27FC236}">
                <a16:creationId xmlns:a16="http://schemas.microsoft.com/office/drawing/2014/main" id="{BE576F17-2F94-52B2-6671-B20FA66ACE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1D5A75-636E-B0D0-E178-8EAFE094029B}"/>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882323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FB98-7E1E-0B36-4C0F-D927C13AD6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8F3EE1B-ED62-BEF9-34E2-222A596BDF57}"/>
              </a:ext>
            </a:extLst>
          </p:cNvPr>
          <p:cNvSpPr>
            <a:spLocks noGrp="1"/>
          </p:cNvSpPr>
          <p:nvPr>
            <p:ph type="dt" sz="half" idx="10"/>
          </p:nvPr>
        </p:nvSpPr>
        <p:spPr/>
        <p:txBody>
          <a:bodyPr/>
          <a:lstStyle/>
          <a:p>
            <a:fld id="{A0723D25-A2BC-274F-A813-3B06A34CD740}" type="datetimeFigureOut">
              <a:rPr lang="en-US" smtClean="0"/>
              <a:t>2/13/26</a:t>
            </a:fld>
            <a:endParaRPr lang="en-US"/>
          </a:p>
        </p:txBody>
      </p:sp>
      <p:sp>
        <p:nvSpPr>
          <p:cNvPr id="4" name="Footer Placeholder 3">
            <a:extLst>
              <a:ext uri="{FF2B5EF4-FFF2-40B4-BE49-F238E27FC236}">
                <a16:creationId xmlns:a16="http://schemas.microsoft.com/office/drawing/2014/main" id="{DFF261D6-18DB-9A91-C126-DD2F5E2E45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059ADF-81AA-2B42-2EBB-820240321765}"/>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86510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1D2292-CA5F-4083-1A9A-EB2B58E19240}"/>
              </a:ext>
            </a:extLst>
          </p:cNvPr>
          <p:cNvSpPr>
            <a:spLocks noGrp="1"/>
          </p:cNvSpPr>
          <p:nvPr>
            <p:ph type="dt" sz="half" idx="10"/>
          </p:nvPr>
        </p:nvSpPr>
        <p:spPr/>
        <p:txBody>
          <a:bodyPr/>
          <a:lstStyle/>
          <a:p>
            <a:fld id="{A0723D25-A2BC-274F-A813-3B06A34CD740}" type="datetimeFigureOut">
              <a:rPr lang="en-US" smtClean="0"/>
              <a:t>2/13/26</a:t>
            </a:fld>
            <a:endParaRPr lang="en-US"/>
          </a:p>
        </p:txBody>
      </p:sp>
      <p:sp>
        <p:nvSpPr>
          <p:cNvPr id="3" name="Footer Placeholder 2">
            <a:extLst>
              <a:ext uri="{FF2B5EF4-FFF2-40B4-BE49-F238E27FC236}">
                <a16:creationId xmlns:a16="http://schemas.microsoft.com/office/drawing/2014/main" id="{8F12B3B1-82D6-97E3-D949-FFB7FA90F6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19118-D5E2-7F99-490E-D0B7E1DF8A4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59130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26D8-8282-46D6-DCD3-C429D78063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A29B8B-7B37-8054-3412-78ED6298B2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3CB76E-5538-EFF5-3840-3F95921DE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469B70-8065-08A4-BEA2-BEB45F6659CA}"/>
              </a:ext>
            </a:extLst>
          </p:cNvPr>
          <p:cNvSpPr>
            <a:spLocks noGrp="1"/>
          </p:cNvSpPr>
          <p:nvPr>
            <p:ph type="dt" sz="half" idx="10"/>
          </p:nvPr>
        </p:nvSpPr>
        <p:spPr/>
        <p:txBody>
          <a:bodyPr/>
          <a:lstStyle/>
          <a:p>
            <a:fld id="{A0723D25-A2BC-274F-A813-3B06A34CD740}" type="datetimeFigureOut">
              <a:rPr lang="en-US" smtClean="0"/>
              <a:t>2/13/26</a:t>
            </a:fld>
            <a:endParaRPr lang="en-US"/>
          </a:p>
        </p:txBody>
      </p:sp>
      <p:sp>
        <p:nvSpPr>
          <p:cNvPr id="6" name="Footer Placeholder 5">
            <a:extLst>
              <a:ext uri="{FF2B5EF4-FFF2-40B4-BE49-F238E27FC236}">
                <a16:creationId xmlns:a16="http://schemas.microsoft.com/office/drawing/2014/main" id="{0969013F-2801-2160-2F4C-465578780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1CEC8-65E3-3969-42AC-F0ED6B13F508}"/>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601936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61C37-17AA-33E3-0390-EA606A3581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B43312D-93EC-9C8A-CE05-8F6E26D5B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453B4D-6A39-F2C2-0AC5-90587FC97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2A5798-F966-6273-EF24-8C2072EB6630}"/>
              </a:ext>
            </a:extLst>
          </p:cNvPr>
          <p:cNvSpPr>
            <a:spLocks noGrp="1"/>
          </p:cNvSpPr>
          <p:nvPr>
            <p:ph type="dt" sz="half" idx="10"/>
          </p:nvPr>
        </p:nvSpPr>
        <p:spPr/>
        <p:txBody>
          <a:bodyPr/>
          <a:lstStyle/>
          <a:p>
            <a:fld id="{A0723D25-A2BC-274F-A813-3B06A34CD740}" type="datetimeFigureOut">
              <a:rPr lang="en-US" smtClean="0"/>
              <a:t>2/13/26</a:t>
            </a:fld>
            <a:endParaRPr lang="en-US"/>
          </a:p>
        </p:txBody>
      </p:sp>
      <p:sp>
        <p:nvSpPr>
          <p:cNvPr id="6" name="Footer Placeholder 5">
            <a:extLst>
              <a:ext uri="{FF2B5EF4-FFF2-40B4-BE49-F238E27FC236}">
                <a16:creationId xmlns:a16="http://schemas.microsoft.com/office/drawing/2014/main" id="{8FA438AC-0EF4-6EFF-7122-AA7AF380C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B676E-8BCB-855E-469D-77726A6708B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4725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BF2D-DC52-AB82-D456-A9F7669986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75B52E-7C17-9742-93F2-6FBCC7C9AF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F82469-B56D-D697-74FA-E8852CA9F19B}"/>
              </a:ext>
            </a:extLst>
          </p:cNvPr>
          <p:cNvSpPr>
            <a:spLocks noGrp="1"/>
          </p:cNvSpPr>
          <p:nvPr>
            <p:ph type="dt" sz="half" idx="10"/>
          </p:nvPr>
        </p:nvSpPr>
        <p:spPr/>
        <p:txBody>
          <a:bodyPr/>
          <a:lstStyle/>
          <a:p>
            <a:fld id="{A0723D25-A2BC-274F-A813-3B06A34CD740}" type="datetimeFigureOut">
              <a:rPr lang="en-US" smtClean="0"/>
              <a:t>2/13/26</a:t>
            </a:fld>
            <a:endParaRPr lang="en-US"/>
          </a:p>
        </p:txBody>
      </p:sp>
      <p:sp>
        <p:nvSpPr>
          <p:cNvPr id="5" name="Footer Placeholder 4">
            <a:extLst>
              <a:ext uri="{FF2B5EF4-FFF2-40B4-BE49-F238E27FC236}">
                <a16:creationId xmlns:a16="http://schemas.microsoft.com/office/drawing/2014/main" id="{BA63B3DD-0851-EDC4-7258-094C58713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433DF-7287-31EC-DC3D-5EF75C9DE25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06682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12A4E-DB63-F42E-FEFE-81BF1DF702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05DC2C-31FB-BE5D-E312-3459A2BF67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695E30-A15F-0592-C0C0-D84705897AB9}"/>
              </a:ext>
            </a:extLst>
          </p:cNvPr>
          <p:cNvSpPr>
            <a:spLocks noGrp="1"/>
          </p:cNvSpPr>
          <p:nvPr>
            <p:ph type="dt" sz="half" idx="10"/>
          </p:nvPr>
        </p:nvSpPr>
        <p:spPr/>
        <p:txBody>
          <a:bodyPr/>
          <a:lstStyle/>
          <a:p>
            <a:fld id="{A0723D25-A2BC-274F-A813-3B06A34CD740}" type="datetimeFigureOut">
              <a:rPr lang="en-US" smtClean="0"/>
              <a:t>2/13/26</a:t>
            </a:fld>
            <a:endParaRPr lang="en-US"/>
          </a:p>
        </p:txBody>
      </p:sp>
      <p:sp>
        <p:nvSpPr>
          <p:cNvPr id="5" name="Footer Placeholder 4">
            <a:extLst>
              <a:ext uri="{FF2B5EF4-FFF2-40B4-BE49-F238E27FC236}">
                <a16:creationId xmlns:a16="http://schemas.microsoft.com/office/drawing/2014/main" id="{2923656B-61F3-0BFE-4769-187DCA8F8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27752-34F9-D1E1-FF95-25144EC8A666}"/>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49783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A833E-D2CB-6565-D916-D9A794C0D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EA88AD-984A-6993-4F53-7E5A42031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22DD2F-4490-A570-F314-42C5AE24F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723D25-A2BC-274F-A813-3B06A34CD740}" type="datetimeFigureOut">
              <a:rPr lang="en-US" smtClean="0"/>
              <a:t>2/13/26</a:t>
            </a:fld>
            <a:endParaRPr lang="en-US"/>
          </a:p>
        </p:txBody>
      </p:sp>
      <p:sp>
        <p:nvSpPr>
          <p:cNvPr id="5" name="Footer Placeholder 4">
            <a:extLst>
              <a:ext uri="{FF2B5EF4-FFF2-40B4-BE49-F238E27FC236}">
                <a16:creationId xmlns:a16="http://schemas.microsoft.com/office/drawing/2014/main" id="{20975424-8CF4-072B-CAE3-58BD17272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590F5-3CB3-DFF2-DE46-0A76F551A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5FEBB-C89D-0C42-8AB8-154526A1FE25}" type="slidenum">
              <a:rPr lang="en-US" smtClean="0"/>
              <a:t>‹#›</a:t>
            </a:fld>
            <a:endParaRPr lang="en-US"/>
          </a:p>
        </p:txBody>
      </p:sp>
    </p:spTree>
    <p:extLst>
      <p:ext uri="{BB962C8B-B14F-4D97-AF65-F5344CB8AC3E}">
        <p14:creationId xmlns:p14="http://schemas.microsoft.com/office/powerpoint/2010/main" val="2120847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eeksforgeeks.org/maths/factoria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geeksforgeeks.org/maths/greatest-common-divisor-gcd/"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geeksforgeeks.org/maths/lcm-least-common-multipl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geeksforgeeks.org/maths/perfect-number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geeksforgeeks.org/dsa/fibonacci-serie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geeksforgeeks.org/maths/what-are-positive-and-negative-numbers/"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040E-2D3D-6833-C463-92F398723407}"/>
              </a:ext>
            </a:extLst>
          </p:cNvPr>
          <p:cNvSpPr>
            <a:spLocks noGrp="1"/>
          </p:cNvSpPr>
          <p:nvPr>
            <p:ph type="ctrTitle"/>
          </p:nvPr>
        </p:nvSpPr>
        <p:spPr/>
        <p:txBody>
          <a:bodyPr>
            <a:normAutofit/>
          </a:bodyPr>
          <a:lstStyle/>
          <a:p>
            <a:r>
              <a:rPr lang="en-US"/>
              <a:t>Python DS-Code </a:t>
            </a:r>
            <a:r>
              <a:rPr lang="en-US" dirty="0"/>
              <a:t>Practice</a:t>
            </a:r>
          </a:p>
        </p:txBody>
      </p:sp>
      <p:sp>
        <p:nvSpPr>
          <p:cNvPr id="3" name="Subtitle 2">
            <a:extLst>
              <a:ext uri="{FF2B5EF4-FFF2-40B4-BE49-F238E27FC236}">
                <a16:creationId xmlns:a16="http://schemas.microsoft.com/office/drawing/2014/main" id="{850E0D38-6295-EB40-A50D-CED5DB05B4BF}"/>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81946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166B1-6C5A-E710-C5E0-3E897667803A}"/>
              </a:ext>
            </a:extLst>
          </p:cNvPr>
          <p:cNvSpPr>
            <a:spLocks noGrp="1"/>
          </p:cNvSpPr>
          <p:nvPr>
            <p:ph type="title"/>
          </p:nvPr>
        </p:nvSpPr>
        <p:spPr/>
        <p:txBody>
          <a:bodyPr>
            <a:normAutofit/>
          </a:bodyPr>
          <a:lstStyle/>
          <a:p>
            <a:r>
              <a:rPr lang="en-IN" b="1" i="0" dirty="0">
                <a:solidFill>
                  <a:srgbClr val="273239"/>
                </a:solidFill>
                <a:effectLst/>
                <a:latin typeface="Source Sans 3"/>
              </a:rPr>
              <a:t>Program for Armstrong Numbers</a:t>
            </a:r>
            <a:endParaRPr lang="en-US" dirty="0"/>
          </a:p>
        </p:txBody>
      </p:sp>
      <p:sp>
        <p:nvSpPr>
          <p:cNvPr id="3" name="Content Placeholder 2">
            <a:extLst>
              <a:ext uri="{FF2B5EF4-FFF2-40B4-BE49-F238E27FC236}">
                <a16:creationId xmlns:a16="http://schemas.microsoft.com/office/drawing/2014/main" id="{0AB0244F-332E-E205-5689-E9B68EF6F0ED}"/>
              </a:ext>
            </a:extLst>
          </p:cNvPr>
          <p:cNvSpPr>
            <a:spLocks noGrp="1"/>
          </p:cNvSpPr>
          <p:nvPr>
            <p:ph idx="1"/>
          </p:nvPr>
        </p:nvSpPr>
        <p:spPr/>
        <p:txBody>
          <a:bodyPr>
            <a:normAutofit fontScale="70000" lnSpcReduction="20000"/>
          </a:bodyPr>
          <a:lstStyle/>
          <a:p>
            <a:pPr algn="l" rtl="0" fontAlgn="base"/>
            <a:r>
              <a:rPr lang="en-IN" b="0" i="0" dirty="0">
                <a:solidFill>
                  <a:srgbClr val="273239"/>
                </a:solidFill>
                <a:effectLst/>
                <a:latin typeface="Nunito" pitchFamily="2" charset="77"/>
              </a:rPr>
              <a:t>Given a number </a:t>
            </a:r>
            <a:r>
              <a:rPr lang="en-IN" b="1" i="0" dirty="0">
                <a:solidFill>
                  <a:srgbClr val="273239"/>
                </a:solidFill>
                <a:effectLst/>
                <a:latin typeface="Nunito" pitchFamily="2" charset="77"/>
              </a:rPr>
              <a:t>x</a:t>
            </a:r>
            <a:r>
              <a:rPr lang="en-IN" b="0" i="0" dirty="0">
                <a:solidFill>
                  <a:srgbClr val="273239"/>
                </a:solidFill>
                <a:effectLst/>
                <a:latin typeface="Nunito" pitchFamily="2" charset="77"/>
              </a:rPr>
              <a:t>, determine whether the given number is </a:t>
            </a:r>
            <a:r>
              <a:rPr lang="en-IN" b="1" i="0" dirty="0">
                <a:solidFill>
                  <a:srgbClr val="273239"/>
                </a:solidFill>
                <a:effectLst/>
                <a:latin typeface="Nunito" pitchFamily="2" charset="77"/>
              </a:rPr>
              <a:t>Armstrong's number</a:t>
            </a:r>
            <a:r>
              <a:rPr lang="en-IN" b="0" i="0" dirty="0">
                <a:solidFill>
                  <a:srgbClr val="273239"/>
                </a:solidFill>
                <a:effectLst/>
                <a:latin typeface="Nunito" pitchFamily="2" charset="77"/>
              </a:rPr>
              <a:t> or not. A positive integer of </a:t>
            </a:r>
            <a:r>
              <a:rPr lang="en-IN" b="1" i="0" dirty="0">
                <a:solidFill>
                  <a:srgbClr val="273239"/>
                </a:solidFill>
                <a:effectLst/>
                <a:latin typeface="Nunito" pitchFamily="2" charset="77"/>
              </a:rPr>
              <a:t>n digits</a:t>
            </a:r>
            <a:r>
              <a:rPr lang="en-IN" b="0" i="0" dirty="0">
                <a:solidFill>
                  <a:srgbClr val="273239"/>
                </a:solidFill>
                <a:effectLst/>
                <a:latin typeface="Nunito" pitchFamily="2" charset="77"/>
              </a:rPr>
              <a:t> is called an Armstrong number of </a:t>
            </a:r>
            <a:r>
              <a:rPr lang="en-IN" b="1" i="0" dirty="0">
                <a:solidFill>
                  <a:srgbClr val="273239"/>
                </a:solidFill>
                <a:effectLst/>
                <a:latin typeface="Nunito" pitchFamily="2" charset="77"/>
              </a:rPr>
              <a:t>order n</a:t>
            </a:r>
            <a:r>
              <a:rPr lang="en-IN" b="0" i="0" dirty="0">
                <a:solidFill>
                  <a:srgbClr val="273239"/>
                </a:solidFill>
                <a:effectLst/>
                <a:latin typeface="Nunito" pitchFamily="2" charset="77"/>
              </a:rPr>
              <a:t> (order is the number of digits) if</a:t>
            </a:r>
          </a:p>
          <a:p>
            <a:pPr algn="l" rtl="0" fontAlgn="base"/>
            <a:r>
              <a:rPr lang="en-IN" b="1" i="0" dirty="0" err="1">
                <a:solidFill>
                  <a:srgbClr val="273239"/>
                </a:solidFill>
                <a:effectLst/>
                <a:latin typeface="Nunito" pitchFamily="2" charset="77"/>
              </a:rPr>
              <a:t>abcd</a:t>
            </a:r>
            <a:r>
              <a:rPr lang="en-IN" b="1" i="0" dirty="0">
                <a:solidFill>
                  <a:srgbClr val="273239"/>
                </a:solidFill>
                <a:effectLst/>
                <a:latin typeface="Nunito" pitchFamily="2" charset="77"/>
              </a:rPr>
              <a:t>... = pow(</a:t>
            </a:r>
            <a:r>
              <a:rPr lang="en-IN" b="1" i="0" dirty="0" err="1">
                <a:solidFill>
                  <a:srgbClr val="273239"/>
                </a:solidFill>
                <a:effectLst/>
                <a:latin typeface="Nunito" pitchFamily="2" charset="77"/>
              </a:rPr>
              <a:t>a,n</a:t>
            </a:r>
            <a:r>
              <a:rPr lang="en-IN" b="1" i="0" dirty="0">
                <a:solidFill>
                  <a:srgbClr val="273239"/>
                </a:solidFill>
                <a:effectLst/>
                <a:latin typeface="Nunito" pitchFamily="2" charset="77"/>
              </a:rPr>
              <a:t>) + pow(</a:t>
            </a:r>
            <a:r>
              <a:rPr lang="en-IN" b="1" i="0" dirty="0" err="1">
                <a:solidFill>
                  <a:srgbClr val="273239"/>
                </a:solidFill>
                <a:effectLst/>
                <a:latin typeface="Nunito" pitchFamily="2" charset="77"/>
              </a:rPr>
              <a:t>b,n</a:t>
            </a:r>
            <a:r>
              <a:rPr lang="en-IN" b="1" i="0" dirty="0">
                <a:solidFill>
                  <a:srgbClr val="273239"/>
                </a:solidFill>
                <a:effectLst/>
                <a:latin typeface="Nunito" pitchFamily="2" charset="77"/>
              </a:rPr>
              <a:t>) + pow(</a:t>
            </a:r>
            <a:r>
              <a:rPr lang="en-IN" b="1" i="0" dirty="0" err="1">
                <a:solidFill>
                  <a:srgbClr val="273239"/>
                </a:solidFill>
                <a:effectLst/>
                <a:latin typeface="Nunito" pitchFamily="2" charset="77"/>
              </a:rPr>
              <a:t>c,n</a:t>
            </a:r>
            <a:r>
              <a:rPr lang="en-IN" b="1" i="0" dirty="0">
                <a:solidFill>
                  <a:srgbClr val="273239"/>
                </a:solidFill>
                <a:effectLst/>
                <a:latin typeface="Nunito" pitchFamily="2" charset="77"/>
              </a:rPr>
              <a:t>) + pow(</a:t>
            </a:r>
            <a:r>
              <a:rPr lang="en-IN" b="1" i="0" dirty="0" err="1">
                <a:solidFill>
                  <a:srgbClr val="273239"/>
                </a:solidFill>
                <a:effectLst/>
                <a:latin typeface="Nunito" pitchFamily="2" charset="77"/>
              </a:rPr>
              <a:t>d,n</a:t>
            </a:r>
            <a:r>
              <a:rPr lang="en-IN" b="1" i="0" dirty="0">
                <a:solidFill>
                  <a:srgbClr val="273239"/>
                </a:solidFill>
                <a:effectLst/>
                <a:latin typeface="Nunito" pitchFamily="2" charset="77"/>
              </a:rPr>
              <a:t>) + ....</a:t>
            </a:r>
            <a:endParaRPr lang="en-IN" b="0" i="0" dirty="0">
              <a:solidFill>
                <a:srgbClr val="273239"/>
              </a:solidFill>
              <a:effectLst/>
              <a:latin typeface="Nunito" pitchFamily="2" charset="77"/>
            </a:endParaRPr>
          </a:p>
          <a:p>
            <a:pPr algn="l" rtl="0" fontAlgn="base"/>
            <a:r>
              <a:rPr lang="en-IN" b="0" i="0" dirty="0">
                <a:solidFill>
                  <a:srgbClr val="273239"/>
                </a:solidFill>
                <a:effectLst/>
                <a:latin typeface="Nunito" pitchFamily="2" charset="77"/>
              </a:rPr>
              <a:t>Here a, b, c and d are digits of input number </a:t>
            </a:r>
            <a:r>
              <a:rPr lang="en-IN" b="0" i="0" dirty="0" err="1">
                <a:solidFill>
                  <a:srgbClr val="273239"/>
                </a:solidFill>
                <a:effectLst/>
                <a:latin typeface="Nunito" pitchFamily="2" charset="77"/>
              </a:rPr>
              <a:t>abcd</a:t>
            </a:r>
            <a:r>
              <a:rPr lang="en-IN" b="0" i="0" dirty="0">
                <a:solidFill>
                  <a:srgbClr val="273239"/>
                </a:solidFill>
                <a:effectLst/>
                <a:latin typeface="Nunito" pitchFamily="2" charset="77"/>
              </a:rPr>
              <a:t>.....</a:t>
            </a:r>
          </a:p>
          <a:p>
            <a:pPr algn="l" rtl="0" fontAlgn="base"/>
            <a:r>
              <a:rPr lang="en-IN" b="1" i="0" dirty="0">
                <a:solidFill>
                  <a:srgbClr val="273239"/>
                </a:solidFill>
                <a:effectLst/>
                <a:latin typeface="Nunito" pitchFamily="2" charset="77"/>
              </a:rPr>
              <a:t>Examples</a:t>
            </a:r>
            <a:endParaRPr lang="en-IN" b="0" i="0" dirty="0">
              <a:solidFill>
                <a:srgbClr val="273239"/>
              </a:solidFill>
              <a:effectLst/>
              <a:latin typeface="Nunito" pitchFamily="2" charset="77"/>
            </a:endParaRPr>
          </a:p>
          <a:p>
            <a:pPr rtl="0" fontAlgn="base"/>
            <a:r>
              <a:rPr lang="en-IN" b="1" dirty="0">
                <a:effectLst/>
                <a:latin typeface="Nunito" pitchFamily="2" charset="77"/>
              </a:rPr>
              <a:t>Input: </a:t>
            </a:r>
            <a:r>
              <a:rPr lang="en-IN" b="0" dirty="0">
                <a:effectLst/>
                <a:latin typeface="Nunito" pitchFamily="2" charset="77"/>
              </a:rPr>
              <a:t>n = 153</a:t>
            </a:r>
            <a:br>
              <a:rPr lang="en-IN" b="0" dirty="0">
                <a:effectLst/>
                <a:latin typeface="Nunito" pitchFamily="2" charset="77"/>
              </a:rPr>
            </a:br>
            <a:r>
              <a:rPr lang="en-IN" b="1" dirty="0">
                <a:effectLst/>
                <a:latin typeface="Nunito" pitchFamily="2" charset="77"/>
              </a:rPr>
              <a:t>Output: </a:t>
            </a:r>
            <a:r>
              <a:rPr lang="en-IN" b="0" dirty="0">
                <a:effectLst/>
                <a:latin typeface="Nunito" pitchFamily="2" charset="77"/>
              </a:rPr>
              <a:t>true</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153 is an Armstrong number, 1*1*1 + 5*5*5 + 3*3*3 = 153</a:t>
            </a:r>
          </a:p>
          <a:p>
            <a:pPr rtl="0" fontAlgn="base"/>
            <a:r>
              <a:rPr lang="en-IN" b="1" dirty="0">
                <a:effectLst/>
                <a:latin typeface="Nunito" pitchFamily="2" charset="77"/>
              </a:rPr>
              <a:t>Input: </a:t>
            </a:r>
            <a:r>
              <a:rPr lang="en-IN" b="0" dirty="0">
                <a:effectLst/>
                <a:latin typeface="Nunito" pitchFamily="2" charset="77"/>
              </a:rPr>
              <a:t>n = 9474</a:t>
            </a:r>
            <a:br>
              <a:rPr lang="en-IN" b="0" dirty="0">
                <a:effectLst/>
                <a:latin typeface="Nunito" pitchFamily="2" charset="77"/>
              </a:rPr>
            </a:br>
            <a:r>
              <a:rPr lang="en-IN" b="1" dirty="0">
                <a:effectLst/>
                <a:latin typeface="Nunito" pitchFamily="2" charset="77"/>
              </a:rPr>
              <a:t>Output: </a:t>
            </a:r>
            <a:r>
              <a:rPr lang="en-IN" b="0" dirty="0">
                <a:effectLst/>
                <a:latin typeface="Nunito" pitchFamily="2" charset="77"/>
              </a:rPr>
              <a:t>true</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9</a:t>
            </a:r>
            <a:r>
              <a:rPr lang="en-IN" b="0" baseline="30000" dirty="0">
                <a:effectLst/>
                <a:latin typeface="Nunito" pitchFamily="2" charset="77"/>
              </a:rPr>
              <a:t>4</a:t>
            </a:r>
            <a:r>
              <a:rPr lang="en-IN" b="0" dirty="0">
                <a:effectLst/>
                <a:latin typeface="Nunito" pitchFamily="2" charset="77"/>
              </a:rPr>
              <a:t> + 4</a:t>
            </a:r>
            <a:r>
              <a:rPr lang="en-IN" b="0" baseline="30000" dirty="0">
                <a:effectLst/>
                <a:latin typeface="Nunito" pitchFamily="2" charset="77"/>
              </a:rPr>
              <a:t>4</a:t>
            </a:r>
            <a:r>
              <a:rPr lang="en-IN" b="0" dirty="0">
                <a:effectLst/>
                <a:latin typeface="Nunito" pitchFamily="2" charset="77"/>
              </a:rPr>
              <a:t> + 7</a:t>
            </a:r>
            <a:r>
              <a:rPr lang="en-IN" b="0" baseline="30000" dirty="0">
                <a:effectLst/>
                <a:latin typeface="Nunito" pitchFamily="2" charset="77"/>
              </a:rPr>
              <a:t>4</a:t>
            </a:r>
            <a:r>
              <a:rPr lang="en-IN" b="0" dirty="0">
                <a:effectLst/>
                <a:latin typeface="Nunito" pitchFamily="2" charset="77"/>
              </a:rPr>
              <a:t> + 4</a:t>
            </a:r>
            <a:r>
              <a:rPr lang="en-IN" b="0" baseline="30000" dirty="0">
                <a:effectLst/>
                <a:latin typeface="Nunito" pitchFamily="2" charset="77"/>
              </a:rPr>
              <a:t>4</a:t>
            </a:r>
            <a:r>
              <a:rPr lang="en-IN" b="0" dirty="0">
                <a:effectLst/>
                <a:latin typeface="Nunito" pitchFamily="2" charset="77"/>
              </a:rPr>
              <a:t> = 6561 + 256 + 2401 + 256 = 9474</a:t>
            </a:r>
          </a:p>
          <a:p>
            <a:pPr rtl="0" fontAlgn="base"/>
            <a:r>
              <a:rPr lang="en-IN" b="1" dirty="0">
                <a:effectLst/>
                <a:latin typeface="Nunito" pitchFamily="2" charset="77"/>
              </a:rPr>
              <a:t>Input: </a:t>
            </a:r>
            <a:r>
              <a:rPr lang="en-IN" b="0" dirty="0">
                <a:effectLst/>
                <a:latin typeface="Nunito" pitchFamily="2" charset="77"/>
              </a:rPr>
              <a:t>n = 123</a:t>
            </a:r>
            <a:br>
              <a:rPr lang="en-IN" b="0" dirty="0">
                <a:effectLst/>
                <a:latin typeface="Nunito" pitchFamily="2" charset="77"/>
              </a:rPr>
            </a:br>
            <a:r>
              <a:rPr lang="en-IN" b="1" dirty="0">
                <a:effectLst/>
                <a:latin typeface="Nunito" pitchFamily="2" charset="77"/>
              </a:rPr>
              <a:t>Output: </a:t>
            </a:r>
            <a:r>
              <a:rPr lang="en-IN" b="0" dirty="0">
                <a:effectLst/>
                <a:latin typeface="Nunito" pitchFamily="2" charset="77"/>
              </a:rPr>
              <a:t>false</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1³ + 2³ + 3³ = 1 + 8 + 27 = 36</a:t>
            </a:r>
          </a:p>
          <a:p>
            <a:endParaRPr lang="en-US" dirty="0"/>
          </a:p>
        </p:txBody>
      </p:sp>
    </p:spTree>
    <p:extLst>
      <p:ext uri="{BB962C8B-B14F-4D97-AF65-F5344CB8AC3E}">
        <p14:creationId xmlns:p14="http://schemas.microsoft.com/office/powerpoint/2010/main" val="942493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1C07C-9605-730C-490F-87EC49B68651}"/>
              </a:ext>
            </a:extLst>
          </p:cNvPr>
          <p:cNvSpPr>
            <a:spLocks noGrp="1"/>
          </p:cNvSpPr>
          <p:nvPr>
            <p:ph type="title"/>
          </p:nvPr>
        </p:nvSpPr>
        <p:spPr/>
        <p:txBody>
          <a:bodyPr/>
          <a:lstStyle/>
          <a:p>
            <a:r>
              <a:rPr lang="en-US" dirty="0"/>
              <a:t>Sum of Digits of a Number</a:t>
            </a:r>
          </a:p>
        </p:txBody>
      </p:sp>
      <p:sp>
        <p:nvSpPr>
          <p:cNvPr id="3" name="Content Placeholder 2">
            <a:extLst>
              <a:ext uri="{FF2B5EF4-FFF2-40B4-BE49-F238E27FC236}">
                <a16:creationId xmlns:a16="http://schemas.microsoft.com/office/drawing/2014/main" id="{819C0AB2-DBD8-24BA-DF04-9F19D63737EE}"/>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Given a number</a:t>
            </a:r>
            <a:r>
              <a:rPr lang="en-IN" b="1" i="0" dirty="0">
                <a:solidFill>
                  <a:srgbClr val="273239"/>
                </a:solidFill>
                <a:effectLst/>
                <a:latin typeface="Nunito" pitchFamily="2" charset="77"/>
              </a:rPr>
              <a:t> n</a:t>
            </a:r>
            <a:r>
              <a:rPr lang="en-IN" b="0" i="0" dirty="0">
                <a:solidFill>
                  <a:srgbClr val="273239"/>
                </a:solidFill>
                <a:effectLst/>
                <a:latin typeface="Nunito" pitchFamily="2" charset="77"/>
              </a:rPr>
              <a:t>, find the sum of its digits.</a:t>
            </a:r>
          </a:p>
          <a:p>
            <a:pPr algn="l" rtl="0" fontAlgn="base"/>
            <a:r>
              <a:rPr lang="en-IN" b="1" i="0" dirty="0">
                <a:solidFill>
                  <a:srgbClr val="273239"/>
                </a:solidFill>
                <a:effectLst/>
                <a:latin typeface="Nunito" pitchFamily="2" charset="77"/>
              </a:rPr>
              <a:t>Examples : </a:t>
            </a:r>
            <a:endParaRPr lang="en-IN" b="0" i="0" dirty="0">
              <a:solidFill>
                <a:srgbClr val="273239"/>
              </a:solidFill>
              <a:effectLst/>
              <a:latin typeface="Nunito" pitchFamily="2" charset="77"/>
            </a:endParaRPr>
          </a:p>
          <a:p>
            <a:pPr rtl="0" fontAlgn="base"/>
            <a:r>
              <a:rPr lang="en-IN" b="1" dirty="0">
                <a:effectLst/>
                <a:latin typeface="Nunito" pitchFamily="2" charset="77"/>
              </a:rPr>
              <a:t>Input:</a:t>
            </a:r>
            <a:r>
              <a:rPr lang="en-IN" b="0" dirty="0">
                <a:effectLst/>
                <a:latin typeface="Nunito" pitchFamily="2" charset="77"/>
              </a:rPr>
              <a:t> n = 687</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21</a:t>
            </a:r>
            <a:br>
              <a:rPr lang="en-IN" b="0" dirty="0">
                <a:effectLst/>
                <a:latin typeface="Nunito" pitchFamily="2" charset="77"/>
              </a:rPr>
            </a:br>
            <a:r>
              <a:rPr lang="en-IN" b="1" dirty="0">
                <a:effectLst/>
                <a:latin typeface="Nunito" pitchFamily="2" charset="77"/>
              </a:rPr>
              <a:t>Explanation: </a:t>
            </a:r>
            <a:r>
              <a:rPr lang="en-IN" b="0" i="1" dirty="0">
                <a:effectLst/>
                <a:latin typeface="Nunito" pitchFamily="2" charset="77"/>
              </a:rPr>
              <a:t>The sum of its digits are: 6 + 8 + 7 = 21</a:t>
            </a:r>
            <a:endParaRPr lang="en-IN" b="0" dirty="0">
              <a:effectLst/>
              <a:latin typeface="Nunito" pitchFamily="2" charset="77"/>
            </a:endParaRPr>
          </a:p>
          <a:p>
            <a:pPr rtl="0" fontAlgn="base"/>
            <a:r>
              <a:rPr lang="en-IN" b="1" dirty="0">
                <a:effectLst/>
                <a:latin typeface="Nunito" pitchFamily="2" charset="77"/>
              </a:rPr>
              <a:t>Input:</a:t>
            </a:r>
            <a:r>
              <a:rPr lang="en-IN" b="0" dirty="0">
                <a:effectLst/>
                <a:latin typeface="Nunito" pitchFamily="2" charset="77"/>
              </a:rPr>
              <a:t> n = 12</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3</a:t>
            </a:r>
            <a:br>
              <a:rPr lang="en-IN" b="0" dirty="0">
                <a:effectLst/>
                <a:latin typeface="Nunito" pitchFamily="2" charset="77"/>
              </a:rPr>
            </a:br>
            <a:r>
              <a:rPr lang="en-IN" b="1" dirty="0">
                <a:effectLst/>
                <a:latin typeface="Nunito" pitchFamily="2" charset="77"/>
              </a:rPr>
              <a:t>Explanation: </a:t>
            </a:r>
            <a:r>
              <a:rPr lang="en-IN" b="0" i="1" dirty="0">
                <a:effectLst/>
                <a:latin typeface="Nunito" pitchFamily="2" charset="77"/>
              </a:rPr>
              <a:t>The sum of its digits are: 1 + 2 = 3</a:t>
            </a:r>
            <a:endParaRPr lang="en-IN" b="0" dirty="0">
              <a:effectLst/>
              <a:latin typeface="Nunito" pitchFamily="2" charset="77"/>
            </a:endParaRPr>
          </a:p>
        </p:txBody>
      </p:sp>
    </p:spTree>
    <p:extLst>
      <p:ext uri="{BB962C8B-B14F-4D97-AF65-F5344CB8AC3E}">
        <p14:creationId xmlns:p14="http://schemas.microsoft.com/office/powerpoint/2010/main" val="3917271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A158C-AF6A-3662-5871-107F03351125}"/>
              </a:ext>
            </a:extLst>
          </p:cNvPr>
          <p:cNvSpPr>
            <a:spLocks noGrp="1"/>
          </p:cNvSpPr>
          <p:nvPr>
            <p:ph type="title"/>
          </p:nvPr>
        </p:nvSpPr>
        <p:spPr/>
        <p:txBody>
          <a:bodyPr>
            <a:normAutofit/>
          </a:bodyPr>
          <a:lstStyle/>
          <a:p>
            <a:r>
              <a:rPr lang="en-IN" b="1" i="0" dirty="0">
                <a:solidFill>
                  <a:srgbClr val="273239"/>
                </a:solidFill>
                <a:effectLst/>
                <a:latin typeface="Source Sans 3"/>
              </a:rPr>
              <a:t>WAP to reverse digits of a number</a:t>
            </a:r>
            <a:endParaRPr lang="en-US" dirty="0"/>
          </a:p>
        </p:txBody>
      </p:sp>
      <p:sp>
        <p:nvSpPr>
          <p:cNvPr id="3" name="Content Placeholder 2">
            <a:extLst>
              <a:ext uri="{FF2B5EF4-FFF2-40B4-BE49-F238E27FC236}">
                <a16:creationId xmlns:a16="http://schemas.microsoft.com/office/drawing/2014/main" id="{D136C485-2A02-4A11-6C1B-7336A0481CA0}"/>
              </a:ext>
            </a:extLst>
          </p:cNvPr>
          <p:cNvSpPr>
            <a:spLocks noGrp="1"/>
          </p:cNvSpPr>
          <p:nvPr>
            <p:ph idx="1"/>
          </p:nvPr>
        </p:nvSpPr>
        <p:spPr/>
        <p:txBody>
          <a:bodyPr>
            <a:normAutofit fontScale="85000" lnSpcReduction="20000"/>
          </a:bodyPr>
          <a:lstStyle/>
          <a:p>
            <a:pPr algn="just" rtl="0" fontAlgn="base"/>
            <a:r>
              <a:rPr lang="en-IN" b="0" i="0" dirty="0">
                <a:solidFill>
                  <a:srgbClr val="273239"/>
                </a:solidFill>
                <a:effectLst/>
                <a:latin typeface="Nunito" pitchFamily="2" charset="77"/>
              </a:rPr>
              <a:t>Given an Integer n, find the reverse of its digits.</a:t>
            </a:r>
          </a:p>
          <a:p>
            <a:pPr algn="just" rtl="0" fontAlgn="base"/>
            <a:r>
              <a:rPr lang="en-IN" b="1" i="0" dirty="0">
                <a:solidFill>
                  <a:srgbClr val="273239"/>
                </a:solidFill>
                <a:effectLst/>
                <a:latin typeface="Nunito" pitchFamily="2" charset="77"/>
              </a:rPr>
              <a:t>Examples:</a:t>
            </a:r>
            <a:r>
              <a:rPr lang="en-IN" b="0" i="0" dirty="0">
                <a:solidFill>
                  <a:srgbClr val="273239"/>
                </a:solidFill>
                <a:effectLst/>
                <a:latin typeface="Nunito" pitchFamily="2" charset="77"/>
              </a:rPr>
              <a:t>  </a:t>
            </a:r>
          </a:p>
          <a:p>
            <a:pPr rtl="0" fontAlgn="base"/>
            <a:r>
              <a:rPr lang="en-IN" b="1" dirty="0">
                <a:effectLst/>
                <a:latin typeface="Nunito" pitchFamily="2" charset="77"/>
              </a:rPr>
              <a:t>Input: n = </a:t>
            </a:r>
            <a:r>
              <a:rPr lang="en-IN" b="0" dirty="0">
                <a:effectLst/>
                <a:latin typeface="Nunito" pitchFamily="2" charset="77"/>
              </a:rPr>
              <a:t>122</a:t>
            </a:r>
            <a:br>
              <a:rPr lang="en-IN" b="0" dirty="0">
                <a:effectLst/>
                <a:latin typeface="Nunito" pitchFamily="2" charset="77"/>
              </a:rPr>
            </a:br>
            <a:r>
              <a:rPr lang="en-IN" b="1" dirty="0">
                <a:effectLst/>
                <a:latin typeface="Nunito" pitchFamily="2" charset="77"/>
              </a:rPr>
              <a:t>Output: </a:t>
            </a:r>
            <a:r>
              <a:rPr lang="en-IN" b="0" dirty="0">
                <a:effectLst/>
                <a:latin typeface="Nunito" pitchFamily="2" charset="77"/>
              </a:rPr>
              <a:t>221</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By reversing the digits of number, number will change into 221.</a:t>
            </a:r>
          </a:p>
          <a:p>
            <a:pPr rtl="0" fontAlgn="base"/>
            <a:r>
              <a:rPr lang="en-IN" b="1" dirty="0">
                <a:effectLst/>
                <a:latin typeface="Nunito" pitchFamily="2" charset="77"/>
              </a:rPr>
              <a:t>Input:</a:t>
            </a:r>
            <a:r>
              <a:rPr lang="en-IN" b="0" dirty="0">
                <a:effectLst/>
                <a:latin typeface="Nunito" pitchFamily="2" charset="77"/>
              </a:rPr>
              <a:t> n = 200</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2</a:t>
            </a:r>
            <a:br>
              <a:rPr lang="en-IN" b="0" dirty="0">
                <a:effectLst/>
                <a:latin typeface="Nunito" pitchFamily="2" charset="77"/>
              </a:rPr>
            </a:br>
            <a:r>
              <a:rPr lang="en-IN" b="1" dirty="0">
                <a:effectLst/>
                <a:latin typeface="Nunito" pitchFamily="2" charset="77"/>
              </a:rPr>
              <a:t>Explanation</a:t>
            </a:r>
            <a:r>
              <a:rPr lang="en-IN" b="0" dirty="0">
                <a:effectLst/>
                <a:latin typeface="Nunito" pitchFamily="2" charset="77"/>
              </a:rPr>
              <a:t>: By reversing the digits of number, number will change into 2.</a:t>
            </a:r>
          </a:p>
          <a:p>
            <a:pPr rtl="0" fontAlgn="base"/>
            <a:r>
              <a:rPr lang="en-IN" b="1" dirty="0">
                <a:effectLst/>
                <a:latin typeface="Nunito" pitchFamily="2" charset="77"/>
              </a:rPr>
              <a:t>Input:</a:t>
            </a:r>
            <a:r>
              <a:rPr lang="en-IN" b="0" dirty="0">
                <a:effectLst/>
                <a:latin typeface="Nunito" pitchFamily="2" charset="77"/>
              </a:rPr>
              <a:t> n = 12345 </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54321</a:t>
            </a:r>
            <a:br>
              <a:rPr lang="en-IN" b="0" dirty="0">
                <a:effectLst/>
                <a:latin typeface="Nunito" pitchFamily="2" charset="77"/>
              </a:rPr>
            </a:br>
            <a:r>
              <a:rPr lang="en-IN" b="1" dirty="0">
                <a:effectLst/>
                <a:latin typeface="Nunito" pitchFamily="2" charset="77"/>
              </a:rPr>
              <a:t>Explanation</a:t>
            </a:r>
            <a:r>
              <a:rPr lang="en-IN" b="0" dirty="0">
                <a:effectLst/>
                <a:latin typeface="Nunito" pitchFamily="2" charset="77"/>
              </a:rPr>
              <a:t>: By reversing the digits of number, number will change into 54321.</a:t>
            </a:r>
          </a:p>
          <a:p>
            <a:endParaRPr lang="en-US" dirty="0"/>
          </a:p>
        </p:txBody>
      </p:sp>
    </p:spTree>
    <p:extLst>
      <p:ext uri="{BB962C8B-B14F-4D97-AF65-F5344CB8AC3E}">
        <p14:creationId xmlns:p14="http://schemas.microsoft.com/office/powerpoint/2010/main" val="2979547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7706A-D943-D63D-804B-00579AB0C5EA}"/>
              </a:ext>
            </a:extLst>
          </p:cNvPr>
          <p:cNvSpPr>
            <a:spLocks noGrp="1"/>
          </p:cNvSpPr>
          <p:nvPr>
            <p:ph type="title"/>
          </p:nvPr>
        </p:nvSpPr>
        <p:spPr/>
        <p:txBody>
          <a:bodyPr>
            <a:normAutofit/>
          </a:bodyPr>
          <a:lstStyle/>
          <a:p>
            <a:r>
              <a:rPr lang="en-IN" b="1" i="0" dirty="0">
                <a:solidFill>
                  <a:srgbClr val="273239"/>
                </a:solidFill>
                <a:effectLst/>
                <a:latin typeface="Source Sans 3"/>
              </a:rPr>
              <a:t>Primality Test of a Number</a:t>
            </a:r>
            <a:endParaRPr lang="en-US" dirty="0"/>
          </a:p>
        </p:txBody>
      </p:sp>
      <p:sp>
        <p:nvSpPr>
          <p:cNvPr id="3" name="Content Placeholder 2">
            <a:extLst>
              <a:ext uri="{FF2B5EF4-FFF2-40B4-BE49-F238E27FC236}">
                <a16:creationId xmlns:a16="http://schemas.microsoft.com/office/drawing/2014/main" id="{72B00315-5764-2B03-4B9B-45228D918C2E}"/>
              </a:ext>
            </a:extLst>
          </p:cNvPr>
          <p:cNvSpPr>
            <a:spLocks noGrp="1"/>
          </p:cNvSpPr>
          <p:nvPr>
            <p:ph idx="1"/>
          </p:nvPr>
        </p:nvSpPr>
        <p:spPr/>
        <p:txBody>
          <a:bodyPr>
            <a:normAutofit lnSpcReduction="10000"/>
          </a:bodyPr>
          <a:lstStyle/>
          <a:p>
            <a:pPr algn="l" rtl="0" fontAlgn="base"/>
            <a:r>
              <a:rPr lang="en-IN" b="0" i="0" dirty="0">
                <a:solidFill>
                  <a:srgbClr val="273239"/>
                </a:solidFill>
                <a:effectLst/>
                <a:latin typeface="Nunito" pitchFamily="2" charset="77"/>
              </a:rPr>
              <a:t>Given a positive integer, check if the number is prime or not. A prime is a natural number greater than 1 that has no positive divisors other than 1 and itself. Examples of the first few prime numbers are {2, 3, 5, ...}</a:t>
            </a:r>
            <a:br>
              <a:rPr lang="en-IN" b="0" i="0" dirty="0">
                <a:solidFill>
                  <a:srgbClr val="273239"/>
                </a:solidFill>
                <a:effectLst/>
                <a:latin typeface="Nunito" pitchFamily="2" charset="77"/>
              </a:rPr>
            </a:br>
            <a:r>
              <a:rPr lang="en-IN" b="1" i="0" dirty="0">
                <a:solidFill>
                  <a:srgbClr val="273239"/>
                </a:solidFill>
                <a:effectLst/>
                <a:latin typeface="Nunito" pitchFamily="2" charset="77"/>
              </a:rPr>
              <a:t>Examples :</a:t>
            </a:r>
            <a:r>
              <a:rPr lang="en-IN" b="0" i="0" dirty="0">
                <a:solidFill>
                  <a:srgbClr val="273239"/>
                </a:solidFill>
                <a:effectLst/>
                <a:latin typeface="Nunito" pitchFamily="2" charset="77"/>
              </a:rPr>
              <a:t> </a:t>
            </a:r>
          </a:p>
          <a:p>
            <a:pPr rtl="0" fontAlgn="base"/>
            <a:r>
              <a:rPr lang="en-IN" b="1" dirty="0">
                <a:effectLst/>
                <a:latin typeface="Nunito" pitchFamily="2" charset="77"/>
              </a:rPr>
              <a:t>Input:</a:t>
            </a:r>
            <a:r>
              <a:rPr lang="en-IN" b="0" dirty="0">
                <a:effectLst/>
                <a:latin typeface="Nunito" pitchFamily="2" charset="77"/>
              </a:rPr>
              <a:t>  n = 11</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true</a:t>
            </a:r>
          </a:p>
          <a:p>
            <a:pPr rtl="0" fontAlgn="base"/>
            <a:r>
              <a:rPr lang="en-IN" b="1" dirty="0">
                <a:effectLst/>
                <a:latin typeface="Nunito" pitchFamily="2" charset="77"/>
              </a:rPr>
              <a:t>Input:</a:t>
            </a:r>
            <a:r>
              <a:rPr lang="en-IN" b="0" dirty="0">
                <a:effectLst/>
                <a:latin typeface="Nunito" pitchFamily="2" charset="77"/>
              </a:rPr>
              <a:t>  n = 15</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false</a:t>
            </a:r>
          </a:p>
          <a:p>
            <a:pPr rtl="0" fontAlgn="base"/>
            <a:r>
              <a:rPr lang="en-IN" b="1" dirty="0">
                <a:effectLst/>
                <a:latin typeface="Nunito" pitchFamily="2" charset="77"/>
              </a:rPr>
              <a:t>Input:</a:t>
            </a:r>
            <a:r>
              <a:rPr lang="en-IN" b="0" dirty="0">
                <a:effectLst/>
                <a:latin typeface="Nunito" pitchFamily="2" charset="77"/>
              </a:rPr>
              <a:t>  n = 1</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false </a:t>
            </a:r>
          </a:p>
          <a:p>
            <a:endParaRPr lang="en-US" dirty="0"/>
          </a:p>
        </p:txBody>
      </p:sp>
    </p:spTree>
    <p:extLst>
      <p:ext uri="{BB962C8B-B14F-4D97-AF65-F5344CB8AC3E}">
        <p14:creationId xmlns:p14="http://schemas.microsoft.com/office/powerpoint/2010/main" val="2451628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2F898-6621-E436-540E-53FDBD1C03D9}"/>
              </a:ext>
            </a:extLst>
          </p:cNvPr>
          <p:cNvSpPr>
            <a:spLocks noGrp="1"/>
          </p:cNvSpPr>
          <p:nvPr>
            <p:ph type="title"/>
          </p:nvPr>
        </p:nvSpPr>
        <p:spPr/>
        <p:txBody>
          <a:bodyPr>
            <a:normAutofit/>
          </a:bodyPr>
          <a:lstStyle/>
          <a:p>
            <a:r>
              <a:rPr lang="en-IN" b="1" i="0" dirty="0">
                <a:solidFill>
                  <a:srgbClr val="273239"/>
                </a:solidFill>
                <a:effectLst/>
                <a:latin typeface="Source Sans 3"/>
              </a:rPr>
              <a:t>Check if a number is a power of another number</a:t>
            </a:r>
            <a:endParaRPr lang="en-US" dirty="0"/>
          </a:p>
        </p:txBody>
      </p:sp>
      <p:sp>
        <p:nvSpPr>
          <p:cNvPr id="3" name="Content Placeholder 2">
            <a:extLst>
              <a:ext uri="{FF2B5EF4-FFF2-40B4-BE49-F238E27FC236}">
                <a16:creationId xmlns:a16="http://schemas.microsoft.com/office/drawing/2014/main" id="{49B9302C-7920-88C7-E39F-1C4A9A8A335F}"/>
              </a:ext>
            </a:extLst>
          </p:cNvPr>
          <p:cNvSpPr>
            <a:spLocks noGrp="1"/>
          </p:cNvSpPr>
          <p:nvPr>
            <p:ph idx="1"/>
          </p:nvPr>
        </p:nvSpPr>
        <p:spPr/>
        <p:txBody>
          <a:bodyPr>
            <a:normAutofit lnSpcReduction="10000"/>
          </a:bodyPr>
          <a:lstStyle/>
          <a:p>
            <a:pPr algn="l" rtl="0" fontAlgn="base"/>
            <a:r>
              <a:rPr lang="en-IN" b="0" i="0" dirty="0">
                <a:solidFill>
                  <a:srgbClr val="273239"/>
                </a:solidFill>
                <a:effectLst/>
                <a:latin typeface="Nunito" pitchFamily="2" charset="77"/>
              </a:rPr>
              <a:t>Given two positive numbers x and y, check if y is a power of x or not.</a:t>
            </a:r>
            <a:br>
              <a:rPr lang="en-IN" b="0" i="0" dirty="0">
                <a:solidFill>
                  <a:srgbClr val="273239"/>
                </a:solidFill>
                <a:effectLst/>
                <a:latin typeface="Nunito" pitchFamily="2" charset="77"/>
              </a:rPr>
            </a:br>
            <a:r>
              <a:rPr lang="en-IN" b="1" i="0" dirty="0">
                <a:solidFill>
                  <a:srgbClr val="273239"/>
                </a:solidFill>
                <a:effectLst/>
                <a:latin typeface="Nunito" pitchFamily="2" charset="77"/>
              </a:rPr>
              <a:t>Examples :</a:t>
            </a:r>
            <a:r>
              <a:rPr lang="en-IN" b="0" i="0" dirty="0">
                <a:solidFill>
                  <a:srgbClr val="273239"/>
                </a:solidFill>
                <a:effectLst/>
                <a:latin typeface="Nunito" pitchFamily="2" charset="77"/>
              </a:rPr>
              <a:t> </a:t>
            </a:r>
          </a:p>
          <a:p>
            <a:pPr rtl="0" fontAlgn="base"/>
            <a:r>
              <a:rPr lang="en-IN" b="1" dirty="0">
                <a:effectLst/>
                <a:latin typeface="Nunito" pitchFamily="2" charset="77"/>
              </a:rPr>
              <a:t>Input: </a:t>
            </a:r>
            <a:r>
              <a:rPr lang="en-IN" b="0" dirty="0">
                <a:effectLst/>
                <a:latin typeface="Nunito" pitchFamily="2" charset="77"/>
              </a:rPr>
              <a:t> x = 10, y = 1</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True</a:t>
            </a:r>
            <a:br>
              <a:rPr lang="en-IN" b="0" dirty="0">
                <a:effectLst/>
                <a:latin typeface="Nunito" pitchFamily="2" charset="77"/>
              </a:rPr>
            </a:br>
            <a:r>
              <a:rPr lang="en-IN" b="0" dirty="0">
                <a:effectLst/>
                <a:latin typeface="Nunito" pitchFamily="2" charset="77"/>
              </a:rPr>
              <a:t>x^0 = 1</a:t>
            </a:r>
          </a:p>
          <a:p>
            <a:pPr rtl="0" fontAlgn="base"/>
            <a:r>
              <a:rPr lang="en-IN" b="1" dirty="0">
                <a:effectLst/>
                <a:latin typeface="Nunito" pitchFamily="2" charset="77"/>
              </a:rPr>
              <a:t>Input:</a:t>
            </a:r>
            <a:r>
              <a:rPr lang="en-IN" b="0" dirty="0">
                <a:effectLst/>
                <a:latin typeface="Nunito" pitchFamily="2" charset="77"/>
              </a:rPr>
              <a:t>  x = 10, y = 1000</a:t>
            </a:r>
            <a:br>
              <a:rPr lang="en-IN" b="0" dirty="0">
                <a:effectLst/>
                <a:latin typeface="Nunito" pitchFamily="2" charset="77"/>
              </a:rPr>
            </a:br>
            <a:r>
              <a:rPr lang="en-IN" b="1" dirty="0">
                <a:effectLst/>
                <a:latin typeface="Nunito" pitchFamily="2" charset="77"/>
              </a:rPr>
              <a:t>Output: </a:t>
            </a:r>
            <a:r>
              <a:rPr lang="en-IN" b="0" dirty="0">
                <a:effectLst/>
                <a:latin typeface="Nunito" pitchFamily="2" charset="77"/>
              </a:rPr>
              <a:t>True</a:t>
            </a:r>
            <a:br>
              <a:rPr lang="en-IN" b="0" dirty="0">
                <a:effectLst/>
                <a:latin typeface="Nunito" pitchFamily="2" charset="77"/>
              </a:rPr>
            </a:br>
            <a:r>
              <a:rPr lang="en-IN" b="0" dirty="0">
                <a:effectLst/>
                <a:latin typeface="Nunito" pitchFamily="2" charset="77"/>
              </a:rPr>
              <a:t>x^3 = 1</a:t>
            </a:r>
          </a:p>
          <a:p>
            <a:pPr rtl="0" fontAlgn="base"/>
            <a:r>
              <a:rPr lang="en-IN" b="1" dirty="0">
                <a:effectLst/>
                <a:latin typeface="Nunito" pitchFamily="2" charset="77"/>
              </a:rPr>
              <a:t>Input: </a:t>
            </a:r>
            <a:r>
              <a:rPr lang="en-IN" b="0" dirty="0">
                <a:effectLst/>
                <a:latin typeface="Nunito" pitchFamily="2" charset="77"/>
              </a:rPr>
              <a:t> x = 10, y = 1001</a:t>
            </a:r>
            <a:br>
              <a:rPr lang="en-IN" b="0" dirty="0">
                <a:effectLst/>
                <a:latin typeface="Nunito" pitchFamily="2" charset="77"/>
              </a:rPr>
            </a:br>
            <a:r>
              <a:rPr lang="en-IN" b="1" dirty="0">
                <a:effectLst/>
                <a:latin typeface="Nunito" pitchFamily="2" charset="77"/>
              </a:rPr>
              <a:t>Output: </a:t>
            </a:r>
            <a:r>
              <a:rPr lang="en-IN" b="0" dirty="0">
                <a:effectLst/>
                <a:latin typeface="Nunito" pitchFamily="2" charset="77"/>
              </a:rPr>
              <a:t>False</a:t>
            </a:r>
          </a:p>
          <a:p>
            <a:endParaRPr lang="en-US" dirty="0"/>
          </a:p>
        </p:txBody>
      </p:sp>
    </p:spTree>
    <p:extLst>
      <p:ext uri="{BB962C8B-B14F-4D97-AF65-F5344CB8AC3E}">
        <p14:creationId xmlns:p14="http://schemas.microsoft.com/office/powerpoint/2010/main" val="375541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18EB9-4574-85FD-E726-DD545F5D2A56}"/>
              </a:ext>
            </a:extLst>
          </p:cNvPr>
          <p:cNvSpPr>
            <a:spLocks noGrp="1"/>
          </p:cNvSpPr>
          <p:nvPr>
            <p:ph type="title"/>
          </p:nvPr>
        </p:nvSpPr>
        <p:spPr/>
        <p:txBody>
          <a:bodyPr/>
          <a:lstStyle/>
          <a:p>
            <a:r>
              <a:rPr lang="en-US" dirty="0"/>
              <a:t>Distance Calculation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2DED7A-BEF1-0B3A-6737-5F4CB67BB25E}"/>
                  </a:ext>
                </a:extLst>
              </p:cNvPr>
              <p:cNvSpPr>
                <a:spLocks noGrp="1"/>
              </p:cNvSpPr>
              <p:nvPr>
                <p:ph idx="1"/>
              </p:nvPr>
            </p:nvSpPr>
            <p:spPr/>
            <p:txBody>
              <a:bodyPr>
                <a:normAutofit fontScale="77500" lnSpcReduction="20000"/>
              </a:bodyPr>
              <a:lstStyle/>
              <a:p>
                <a:pPr rtl="0" fontAlgn="base"/>
                <a:r>
                  <a:rPr lang="en-IN" b="0" dirty="0">
                    <a:effectLst/>
                    <a:latin typeface="Nunito" pitchFamily="2" charset="77"/>
                  </a:rPr>
                  <a:t>You are given two coordinates (x1, y1) and (x2, y2) of a two-dimensional graph. Find the distance between them.</a:t>
                </a:r>
              </a:p>
              <a:p>
                <a:pPr rtl="0" fontAlgn="base"/>
                <a:r>
                  <a:rPr lang="en-IN" b="1" dirty="0">
                    <a:effectLst/>
                    <a:latin typeface="Nunito" pitchFamily="2" charset="77"/>
                  </a:rPr>
                  <a:t>Examples: </a:t>
                </a:r>
                <a:endParaRPr lang="en-IN" b="0" dirty="0">
                  <a:effectLst/>
                  <a:latin typeface="Nunito" pitchFamily="2" charset="77"/>
                </a:endParaRPr>
              </a:p>
              <a:p>
                <a:pPr rtl="0" fontAlgn="base"/>
                <a:r>
                  <a:rPr lang="en-IN" b="1" dirty="0">
                    <a:effectLst/>
                    <a:latin typeface="Nunito" pitchFamily="2" charset="77"/>
                  </a:rPr>
                  <a:t>Input</a:t>
                </a:r>
                <a:r>
                  <a:rPr lang="en-IN" b="0" dirty="0">
                    <a:effectLst/>
                    <a:latin typeface="Nunito" pitchFamily="2" charset="77"/>
                  </a:rPr>
                  <a:t> : x1, y1 = (3, 4)</a:t>
                </a:r>
                <a:br>
                  <a:rPr lang="en-IN" b="0" dirty="0">
                    <a:effectLst/>
                    <a:latin typeface="Nunito" pitchFamily="2" charset="77"/>
                  </a:rPr>
                </a:br>
                <a:r>
                  <a:rPr lang="en-IN" b="0" dirty="0">
                    <a:effectLst/>
                    <a:latin typeface="Nunito" pitchFamily="2" charset="77"/>
                  </a:rPr>
                  <a:t>x2, y2 = (7, 7)</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 5</a:t>
                </a:r>
                <a:br>
                  <a:rPr lang="en-IN" b="0" dirty="0">
                    <a:effectLst/>
                    <a:latin typeface="Nunito" pitchFamily="2" charset="77"/>
                  </a:rPr>
                </a:br>
                <a:br>
                  <a:rPr lang="en-IN" b="0" dirty="0">
                    <a:effectLst/>
                    <a:latin typeface="Nunito" pitchFamily="2" charset="77"/>
                  </a:rPr>
                </a:br>
                <a:r>
                  <a:rPr lang="en-IN" b="1" dirty="0">
                    <a:effectLst/>
                    <a:latin typeface="Nunito" pitchFamily="2" charset="77"/>
                  </a:rPr>
                  <a:t>Input</a:t>
                </a:r>
                <a:r>
                  <a:rPr lang="en-IN" b="0" dirty="0">
                    <a:effectLst/>
                    <a:latin typeface="Nunito" pitchFamily="2" charset="77"/>
                  </a:rPr>
                  <a:t> : x1, y1 = (3, 4) </a:t>
                </a:r>
                <a:br>
                  <a:rPr lang="en-IN" b="0" dirty="0">
                    <a:effectLst/>
                    <a:latin typeface="Nunito" pitchFamily="2" charset="77"/>
                  </a:rPr>
                </a:br>
                <a:r>
                  <a:rPr lang="en-IN" b="0" dirty="0">
                    <a:effectLst/>
                    <a:latin typeface="Nunito" pitchFamily="2" charset="77"/>
                  </a:rPr>
                  <a:t>x2, y2 = (4, 3)</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 1.41421</a:t>
                </a:r>
              </a:p>
              <a:p>
                <a:pPr algn="l" fontAlgn="base"/>
                <a:r>
                  <a:rPr lang="en-IN" b="1" dirty="0">
                    <a:effectLst/>
                    <a:latin typeface="Nunito" pitchFamily="2" charset="77"/>
                  </a:rPr>
                  <a:t>Calculate the distance between two points.</a:t>
                </a:r>
              </a:p>
              <a:p>
                <a:pPr fontAlgn="base"/>
                <a:r>
                  <a:rPr lang="en-IN" b="0" dirty="0">
                    <a:effectLst/>
                    <a:latin typeface="Nunito" pitchFamily="2" charset="77"/>
                  </a:rPr>
                  <a:t>We will use the distance formula derived from Pythagorean theorem. The formula for distance between two point (x1, y1) and (x2, y2) is</a:t>
                </a:r>
                <a:br>
                  <a:rPr lang="en-IN" b="0" dirty="0">
                    <a:effectLst/>
                    <a:latin typeface="Nunito" pitchFamily="2" charset="77"/>
                  </a:rPr>
                </a:br>
                <a:r>
                  <a:rPr lang="en-IN" b="0" dirty="0">
                    <a:effectLst/>
                    <a:latin typeface="Nunito" pitchFamily="2" charset="77"/>
                  </a:rPr>
                  <a:t>Distance = </a:t>
                </a:r>
                <a14:m>
                  <m:oMath xmlns:m="http://schemas.openxmlformats.org/officeDocument/2006/math">
                    <m:rad>
                      <m:radPr>
                        <m:degHide m:val="on"/>
                        <m:ctrlPr>
                          <a:rPr lang="en-IN" b="0" i="1" smtClean="0">
                            <a:effectLst/>
                            <a:latin typeface="Cambria Math" panose="02040503050406030204" pitchFamily="18" charset="0"/>
                          </a:rPr>
                        </m:ctrlPr>
                      </m:radPr>
                      <m:deg/>
                      <m:e>
                        <m:r>
                          <m:rPr>
                            <m:nor/>
                          </m:rPr>
                          <a:rPr lang="en-IN" dirty="0">
                            <a:latin typeface="KaTeX_Main"/>
                          </a:rPr>
                          <m:t>(</m:t>
                        </m:r>
                        <m:r>
                          <m:rPr>
                            <m:nor/>
                          </m:rPr>
                          <a:rPr lang="en-IN" dirty="0">
                            <a:latin typeface="KaTeX_Main"/>
                          </a:rPr>
                          <m:t>x</m:t>
                        </m:r>
                        <m:r>
                          <m:rPr>
                            <m:nor/>
                          </m:rPr>
                          <a:rPr lang="en-IN" dirty="0">
                            <a:latin typeface="KaTeX_Main"/>
                          </a:rPr>
                          <m:t>2−</m:t>
                        </m:r>
                        <m:r>
                          <m:rPr>
                            <m:nor/>
                          </m:rPr>
                          <a:rPr lang="en-IN" dirty="0">
                            <a:latin typeface="KaTeX_Main"/>
                          </a:rPr>
                          <m:t>x</m:t>
                        </m:r>
                        <m:r>
                          <m:rPr>
                            <m:nor/>
                          </m:rPr>
                          <a:rPr lang="en-IN" dirty="0">
                            <a:latin typeface="KaTeX_Main"/>
                          </a:rPr>
                          <m:t>1)2+(</m:t>
                        </m:r>
                        <m:r>
                          <m:rPr>
                            <m:nor/>
                          </m:rPr>
                          <a:rPr lang="en-IN" dirty="0">
                            <a:latin typeface="KaTeX_Main"/>
                          </a:rPr>
                          <m:t>y</m:t>
                        </m:r>
                        <m:r>
                          <m:rPr>
                            <m:nor/>
                          </m:rPr>
                          <a:rPr lang="en-IN" dirty="0">
                            <a:latin typeface="KaTeX_Main"/>
                          </a:rPr>
                          <m:t>2−</m:t>
                        </m:r>
                        <m:r>
                          <m:rPr>
                            <m:nor/>
                          </m:rPr>
                          <a:rPr lang="en-IN" dirty="0">
                            <a:latin typeface="KaTeX_Main"/>
                          </a:rPr>
                          <m:t>y</m:t>
                        </m:r>
                        <m:r>
                          <m:rPr>
                            <m:nor/>
                          </m:rPr>
                          <a:rPr lang="en-IN" dirty="0">
                            <a:latin typeface="KaTeX_Main"/>
                          </a:rPr>
                          <m:t>1)2</m:t>
                        </m:r>
                      </m:e>
                    </m:rad>
                  </m:oMath>
                </a14:m>
                <a:br>
                  <a:rPr lang="en-IN" b="0" i="0" dirty="0">
                    <a:solidFill>
                      <a:srgbClr val="273239"/>
                    </a:solidFill>
                    <a:effectLst/>
                    <a:latin typeface="KaTeX_Main"/>
                  </a:rPr>
                </a:br>
                <a:endParaRPr lang="en-IN" b="0" dirty="0">
                  <a:effectLst/>
                  <a:latin typeface="Nunito" pitchFamily="2" charset="77"/>
                </a:endParaRPr>
              </a:p>
              <a:p>
                <a:endParaRPr lang="en-US" dirty="0"/>
              </a:p>
            </p:txBody>
          </p:sp>
        </mc:Choice>
        <mc:Fallback xmlns="">
          <p:sp>
            <p:nvSpPr>
              <p:cNvPr id="3" name="Content Placeholder 2">
                <a:extLst>
                  <a:ext uri="{FF2B5EF4-FFF2-40B4-BE49-F238E27FC236}">
                    <a16:creationId xmlns:a16="http://schemas.microsoft.com/office/drawing/2014/main" id="{E82DED7A-BEF1-0B3A-6737-5F4CB67BB25E}"/>
                  </a:ext>
                </a:extLst>
              </p:cNvPr>
              <p:cNvSpPr>
                <a:spLocks noGrp="1" noRot="1" noChangeAspect="1" noMove="1" noResize="1" noEditPoints="1" noAdjustHandles="1" noChangeArrowheads="1" noChangeShapeType="1" noTextEdit="1"/>
              </p:cNvSpPr>
              <p:nvPr>
                <p:ph idx="1"/>
              </p:nvPr>
            </p:nvSpPr>
            <p:spPr>
              <a:blipFill>
                <a:blip r:embed="rId2"/>
                <a:stretch>
                  <a:fillRect l="-724" t="-2616"/>
                </a:stretch>
              </a:blipFill>
            </p:spPr>
            <p:txBody>
              <a:bodyPr/>
              <a:lstStyle/>
              <a:p>
                <a:r>
                  <a:rPr lang="en-US">
                    <a:noFill/>
                  </a:rPr>
                  <a:t> </a:t>
                </a:r>
              </a:p>
            </p:txBody>
          </p:sp>
        </mc:Fallback>
      </mc:AlternateContent>
    </p:spTree>
    <p:extLst>
      <p:ext uri="{BB962C8B-B14F-4D97-AF65-F5344CB8AC3E}">
        <p14:creationId xmlns:p14="http://schemas.microsoft.com/office/powerpoint/2010/main" val="369965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1EF26-C633-73C5-96C4-8C606EE88BD7}"/>
              </a:ext>
            </a:extLst>
          </p:cNvPr>
          <p:cNvSpPr>
            <a:spLocks noGrp="1"/>
          </p:cNvSpPr>
          <p:nvPr>
            <p:ph type="title"/>
          </p:nvPr>
        </p:nvSpPr>
        <p:spPr/>
        <p:txBody>
          <a:bodyPr>
            <a:normAutofit/>
          </a:bodyPr>
          <a:lstStyle/>
          <a:p>
            <a:r>
              <a:rPr lang="en-IN" b="1" i="0" dirty="0">
                <a:solidFill>
                  <a:srgbClr val="273239"/>
                </a:solidFill>
                <a:effectLst/>
                <a:latin typeface="Source Sans 3"/>
              </a:rPr>
              <a:t>Check whether triangle is valid or not if sides are given</a:t>
            </a:r>
            <a:endParaRPr lang="en-US" dirty="0"/>
          </a:p>
        </p:txBody>
      </p:sp>
      <p:sp>
        <p:nvSpPr>
          <p:cNvPr id="3" name="Content Placeholder 2">
            <a:extLst>
              <a:ext uri="{FF2B5EF4-FFF2-40B4-BE49-F238E27FC236}">
                <a16:creationId xmlns:a16="http://schemas.microsoft.com/office/drawing/2014/main" id="{210A061D-61B2-8317-532D-F24B46897B51}"/>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Given three sides, check whether triangle is valid or not. </a:t>
            </a:r>
          </a:p>
          <a:p>
            <a:pPr algn="l" rtl="0" fontAlgn="base"/>
            <a:r>
              <a:rPr lang="en-IN" b="0" i="0" dirty="0">
                <a:solidFill>
                  <a:srgbClr val="273239"/>
                </a:solidFill>
                <a:effectLst/>
                <a:latin typeface="Nunito" pitchFamily="2" charset="77"/>
              </a:rPr>
              <a:t>Examples:  </a:t>
            </a:r>
          </a:p>
          <a:p>
            <a:pPr rtl="0" fontAlgn="base"/>
            <a:r>
              <a:rPr lang="en-IN" b="1" dirty="0">
                <a:effectLst/>
                <a:latin typeface="Nunito" pitchFamily="2" charset="77"/>
              </a:rPr>
              <a:t>Input</a:t>
            </a:r>
            <a:r>
              <a:rPr lang="en-IN" b="0" dirty="0">
                <a:effectLst/>
                <a:latin typeface="Nunito" pitchFamily="2" charset="77"/>
              </a:rPr>
              <a:t> : a = 7, b = 10, c = 5 </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 Valid</a:t>
            </a:r>
            <a:br>
              <a:rPr lang="en-IN" b="0" dirty="0">
                <a:effectLst/>
                <a:latin typeface="Nunito" pitchFamily="2" charset="77"/>
              </a:rPr>
            </a:br>
            <a:r>
              <a:rPr lang="en-IN" b="0" dirty="0">
                <a:effectLst/>
                <a:latin typeface="Nunito" pitchFamily="2" charset="77"/>
              </a:rPr>
              <a:t>We can draw a triangle with the given three edge lengths.</a:t>
            </a:r>
            <a:br>
              <a:rPr lang="en-IN" b="0" dirty="0">
                <a:effectLst/>
                <a:latin typeface="Nunito" pitchFamily="2" charset="77"/>
              </a:rPr>
            </a:br>
            <a:br>
              <a:rPr lang="en-IN" b="0" dirty="0">
                <a:effectLst/>
                <a:latin typeface="Nunito" pitchFamily="2" charset="77"/>
              </a:rPr>
            </a:br>
            <a:r>
              <a:rPr lang="en-IN" b="1" dirty="0">
                <a:effectLst/>
                <a:latin typeface="Nunito" pitchFamily="2" charset="77"/>
              </a:rPr>
              <a:t>Input</a:t>
            </a:r>
            <a:r>
              <a:rPr lang="en-IN" b="0" dirty="0">
                <a:effectLst/>
                <a:latin typeface="Nunito" pitchFamily="2" charset="77"/>
              </a:rPr>
              <a:t> : a = 1, b = 10, c = 12 </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 Invalid</a:t>
            </a:r>
            <a:br>
              <a:rPr lang="en-IN" b="0" dirty="0">
                <a:effectLst/>
                <a:latin typeface="Nunito" pitchFamily="2" charset="77"/>
              </a:rPr>
            </a:br>
            <a:r>
              <a:rPr lang="en-IN" b="0" dirty="0">
                <a:effectLst/>
                <a:latin typeface="Nunito" pitchFamily="2" charset="77"/>
              </a:rPr>
              <a:t>We can not draw a triangle with the given three edge lengths.</a:t>
            </a:r>
          </a:p>
          <a:p>
            <a:endParaRPr lang="en-US" dirty="0"/>
          </a:p>
        </p:txBody>
      </p:sp>
      <p:pic>
        <p:nvPicPr>
          <p:cNvPr id="24578" name="Picture 2" descr="Check whether triangle is valid or not if sides are given">
            <a:extLst>
              <a:ext uri="{FF2B5EF4-FFF2-40B4-BE49-F238E27FC236}">
                <a16:creationId xmlns:a16="http://schemas.microsoft.com/office/drawing/2014/main" id="{F16832CD-14C2-9007-4963-52056F968F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2425" y="2265283"/>
            <a:ext cx="3096039" cy="1335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9108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0B5E9-8298-4032-19B1-29002F33A2B1}"/>
              </a:ext>
            </a:extLst>
          </p:cNvPr>
          <p:cNvSpPr>
            <a:spLocks noGrp="1"/>
          </p:cNvSpPr>
          <p:nvPr>
            <p:ph type="title"/>
          </p:nvPr>
        </p:nvSpPr>
        <p:spPr/>
        <p:txBody>
          <a:bodyPr>
            <a:normAutofit/>
          </a:bodyPr>
          <a:lstStyle/>
          <a:p>
            <a:r>
              <a:rPr lang="en-IN" b="1" i="0" dirty="0">
                <a:solidFill>
                  <a:srgbClr val="273239"/>
                </a:solidFill>
                <a:effectLst/>
                <a:latin typeface="Source Sans 3"/>
              </a:rPr>
              <a:t>Find if two rectangles overlap</a:t>
            </a:r>
            <a:endParaRPr lang="en-US" dirty="0"/>
          </a:p>
        </p:txBody>
      </p:sp>
      <p:sp>
        <p:nvSpPr>
          <p:cNvPr id="3" name="Content Placeholder 2">
            <a:extLst>
              <a:ext uri="{FF2B5EF4-FFF2-40B4-BE49-F238E27FC236}">
                <a16:creationId xmlns:a16="http://schemas.microsoft.com/office/drawing/2014/main" id="{314FE818-DF4A-39BE-16F6-04CAB534EF75}"/>
              </a:ext>
            </a:extLst>
          </p:cNvPr>
          <p:cNvSpPr>
            <a:spLocks noGrp="1"/>
          </p:cNvSpPr>
          <p:nvPr>
            <p:ph idx="1"/>
          </p:nvPr>
        </p:nvSpPr>
        <p:spPr/>
        <p:txBody>
          <a:bodyPr/>
          <a:lstStyle/>
          <a:p>
            <a:r>
              <a:rPr lang="en-IN" b="0" i="0" dirty="0">
                <a:solidFill>
                  <a:srgbClr val="273239"/>
                </a:solidFill>
                <a:effectLst/>
                <a:latin typeface="Nunito" pitchFamily="2" charset="77"/>
              </a:rPr>
              <a:t>Given two rectangles, find if the given two rectangles overlap or not.</a:t>
            </a:r>
            <a:br>
              <a:rPr lang="en-IN" dirty="0"/>
            </a:br>
            <a:r>
              <a:rPr lang="en-IN" b="0" i="0" dirty="0">
                <a:solidFill>
                  <a:srgbClr val="273239"/>
                </a:solidFill>
                <a:effectLst/>
                <a:latin typeface="Nunito" pitchFamily="2" charset="77"/>
              </a:rPr>
              <a:t>Note that a rectangle can be represented by two coordinates, top left and bottom right. So mainly we are given following four coordinates. </a:t>
            </a:r>
            <a:br>
              <a:rPr lang="en-IN" dirty="0"/>
            </a:br>
            <a:r>
              <a:rPr lang="en-IN" b="1" i="0" dirty="0">
                <a:solidFill>
                  <a:srgbClr val="273239"/>
                </a:solidFill>
                <a:effectLst/>
                <a:latin typeface="Nunito" pitchFamily="2" charset="77"/>
              </a:rPr>
              <a:t>l1</a:t>
            </a:r>
            <a:r>
              <a:rPr lang="en-IN" b="0" i="0" dirty="0">
                <a:solidFill>
                  <a:srgbClr val="273239"/>
                </a:solidFill>
                <a:effectLst/>
                <a:latin typeface="Nunito" pitchFamily="2" charset="77"/>
              </a:rPr>
              <a:t>: Top Left coordinate of first rectangle. </a:t>
            </a:r>
            <a:br>
              <a:rPr lang="en-IN" dirty="0"/>
            </a:br>
            <a:r>
              <a:rPr lang="en-IN" b="1" i="0" dirty="0">
                <a:solidFill>
                  <a:srgbClr val="273239"/>
                </a:solidFill>
                <a:effectLst/>
                <a:latin typeface="Nunito" pitchFamily="2" charset="77"/>
              </a:rPr>
              <a:t>r1</a:t>
            </a:r>
            <a:r>
              <a:rPr lang="en-IN" b="0" i="0" dirty="0">
                <a:solidFill>
                  <a:srgbClr val="273239"/>
                </a:solidFill>
                <a:effectLst/>
                <a:latin typeface="Nunito" pitchFamily="2" charset="77"/>
              </a:rPr>
              <a:t>: Bottom Right coordinate of first rectangle. </a:t>
            </a:r>
            <a:br>
              <a:rPr lang="en-IN" dirty="0"/>
            </a:br>
            <a:r>
              <a:rPr lang="en-IN" b="1" i="0" dirty="0">
                <a:solidFill>
                  <a:srgbClr val="273239"/>
                </a:solidFill>
                <a:effectLst/>
                <a:latin typeface="Nunito" pitchFamily="2" charset="77"/>
              </a:rPr>
              <a:t>l2</a:t>
            </a:r>
            <a:r>
              <a:rPr lang="en-IN" b="0" i="0" dirty="0">
                <a:solidFill>
                  <a:srgbClr val="273239"/>
                </a:solidFill>
                <a:effectLst/>
                <a:latin typeface="Nunito" pitchFamily="2" charset="77"/>
              </a:rPr>
              <a:t>: Top Left coordinate of second rectangle. </a:t>
            </a:r>
            <a:br>
              <a:rPr lang="en-IN" dirty="0"/>
            </a:br>
            <a:r>
              <a:rPr lang="en-IN" b="1" i="0" dirty="0">
                <a:solidFill>
                  <a:srgbClr val="273239"/>
                </a:solidFill>
                <a:effectLst/>
                <a:latin typeface="Nunito" pitchFamily="2" charset="77"/>
              </a:rPr>
              <a:t>r2</a:t>
            </a:r>
            <a:r>
              <a:rPr lang="en-IN" b="0" i="0" dirty="0">
                <a:solidFill>
                  <a:srgbClr val="273239"/>
                </a:solidFill>
                <a:effectLst/>
                <a:latin typeface="Nunito" pitchFamily="2" charset="77"/>
              </a:rPr>
              <a:t>: Bottom Right coordinate of </a:t>
            </a:r>
          </a:p>
          <a:p>
            <a:pPr marL="0" indent="0">
              <a:buNone/>
            </a:pPr>
            <a:r>
              <a:rPr lang="en-IN" b="0" i="0" dirty="0">
                <a:solidFill>
                  <a:srgbClr val="273239"/>
                </a:solidFill>
                <a:effectLst/>
                <a:latin typeface="Nunito" pitchFamily="2" charset="77"/>
              </a:rPr>
              <a:t>         second rectangle.</a:t>
            </a:r>
            <a:endParaRPr lang="en-US" dirty="0"/>
          </a:p>
        </p:txBody>
      </p:sp>
      <p:pic>
        <p:nvPicPr>
          <p:cNvPr id="25602" name="Picture 2" descr="rectanglesOverlap">
            <a:extLst>
              <a:ext uri="{FF2B5EF4-FFF2-40B4-BE49-F238E27FC236}">
                <a16:creationId xmlns:a16="http://schemas.microsoft.com/office/drawing/2014/main" id="{63573995-3550-8C29-575F-1EB39336E2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1753" y="4486274"/>
            <a:ext cx="3767209" cy="237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974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91169-7DFF-7D43-D97D-A0BEB05FEF3C}"/>
              </a:ext>
            </a:extLst>
          </p:cNvPr>
          <p:cNvSpPr>
            <a:spLocks noGrp="1"/>
          </p:cNvSpPr>
          <p:nvPr>
            <p:ph type="title"/>
          </p:nvPr>
        </p:nvSpPr>
        <p:spPr/>
        <p:txBody>
          <a:bodyPr/>
          <a:lstStyle/>
          <a:p>
            <a:r>
              <a:rPr lang="en-US" dirty="0"/>
              <a:t>Factorial of a Number</a:t>
            </a:r>
          </a:p>
        </p:txBody>
      </p:sp>
      <p:sp>
        <p:nvSpPr>
          <p:cNvPr id="3" name="Content Placeholder 2">
            <a:extLst>
              <a:ext uri="{FF2B5EF4-FFF2-40B4-BE49-F238E27FC236}">
                <a16:creationId xmlns:a16="http://schemas.microsoft.com/office/drawing/2014/main" id="{73C36D7F-49C5-8605-E863-32889B043BA4}"/>
              </a:ext>
            </a:extLst>
          </p:cNvPr>
          <p:cNvSpPr>
            <a:spLocks noGrp="1"/>
          </p:cNvSpPr>
          <p:nvPr>
            <p:ph idx="1"/>
          </p:nvPr>
        </p:nvSpPr>
        <p:spPr/>
        <p:txBody>
          <a:bodyPr>
            <a:normAutofit lnSpcReduction="10000"/>
          </a:bodyPr>
          <a:lstStyle/>
          <a:p>
            <a:pPr algn="l" rtl="0" fontAlgn="base"/>
            <a:r>
              <a:rPr lang="en-IN" b="0" i="0" dirty="0">
                <a:solidFill>
                  <a:srgbClr val="273239"/>
                </a:solidFill>
                <a:effectLst/>
                <a:latin typeface="Nunito" pitchFamily="2" charset="77"/>
              </a:rPr>
              <a:t>Given the non-negative integers </a:t>
            </a:r>
            <a:r>
              <a:rPr lang="en-IN" b="1" i="0" dirty="0">
                <a:solidFill>
                  <a:srgbClr val="273239"/>
                </a:solidFill>
                <a:effectLst/>
                <a:latin typeface="Nunito" pitchFamily="2" charset="77"/>
              </a:rPr>
              <a:t>n</a:t>
            </a:r>
            <a:r>
              <a:rPr lang="en-IN" b="0" i="0" dirty="0">
                <a:solidFill>
                  <a:srgbClr val="273239"/>
                </a:solidFill>
                <a:effectLst/>
                <a:latin typeface="Nunito" pitchFamily="2" charset="77"/>
              </a:rPr>
              <a:t> , compute the </a:t>
            </a:r>
            <a:r>
              <a:rPr lang="en-IN" b="0" i="0" u="sng" dirty="0">
                <a:solidFill>
                  <a:srgbClr val="357960"/>
                </a:solidFill>
                <a:effectLst/>
                <a:latin typeface="Nunito" pitchFamily="2" charset="77"/>
                <a:hlinkClick r:id="rId2"/>
              </a:rPr>
              <a:t>factorial</a:t>
            </a:r>
            <a:r>
              <a:rPr lang="en-IN" b="0" i="0" dirty="0">
                <a:solidFill>
                  <a:srgbClr val="273239"/>
                </a:solidFill>
                <a:effectLst/>
                <a:latin typeface="Nunito" pitchFamily="2" charset="77"/>
              </a:rPr>
              <a:t> of a given number.</a:t>
            </a:r>
            <a:br>
              <a:rPr lang="en-IN" b="0" i="0" dirty="0">
                <a:solidFill>
                  <a:srgbClr val="273239"/>
                </a:solidFill>
                <a:effectLst/>
                <a:latin typeface="Nunito" pitchFamily="2" charset="77"/>
              </a:rPr>
            </a:br>
            <a:r>
              <a:rPr lang="en-IN" b="1" i="0" dirty="0">
                <a:solidFill>
                  <a:srgbClr val="273239"/>
                </a:solidFill>
                <a:effectLst/>
                <a:latin typeface="Nunito" pitchFamily="2" charset="77"/>
              </a:rPr>
              <a:t>Note: </a:t>
            </a:r>
            <a:r>
              <a:rPr lang="en-IN" b="0" i="0" dirty="0">
                <a:solidFill>
                  <a:srgbClr val="273239"/>
                </a:solidFill>
                <a:effectLst/>
                <a:latin typeface="Nunito" pitchFamily="2" charset="77"/>
              </a:rPr>
              <a:t>Factorial of </a:t>
            </a:r>
            <a:r>
              <a:rPr lang="en-IN" b="1" i="0" dirty="0">
                <a:solidFill>
                  <a:srgbClr val="273239"/>
                </a:solidFill>
                <a:effectLst/>
                <a:latin typeface="Nunito" pitchFamily="2" charset="77"/>
              </a:rPr>
              <a:t>n</a:t>
            </a:r>
            <a:r>
              <a:rPr lang="en-IN" b="0" i="0" dirty="0">
                <a:solidFill>
                  <a:srgbClr val="273239"/>
                </a:solidFill>
                <a:effectLst/>
                <a:latin typeface="Nunito" pitchFamily="2" charset="77"/>
              </a:rPr>
              <a:t> is defined as</a:t>
            </a:r>
            <a:r>
              <a:rPr lang="en-IN" b="1" i="0" dirty="0">
                <a:solidFill>
                  <a:srgbClr val="273239"/>
                </a:solidFill>
                <a:effectLst/>
                <a:latin typeface="Nunito" pitchFamily="2" charset="77"/>
              </a:rPr>
              <a:t> n * (n -1) * (n - 2) * ... * 1</a:t>
            </a:r>
            <a:r>
              <a:rPr lang="en-IN" b="0" i="0" dirty="0">
                <a:solidFill>
                  <a:srgbClr val="273239"/>
                </a:solidFill>
                <a:effectLst/>
                <a:latin typeface="Nunito" pitchFamily="2" charset="77"/>
              </a:rPr>
              <a:t>, for n = 0, factorial is 1.</a:t>
            </a:r>
          </a:p>
          <a:p>
            <a:pPr algn="l" rtl="0" fontAlgn="base"/>
            <a:r>
              <a:rPr lang="en-IN" b="1" i="0" dirty="0">
                <a:solidFill>
                  <a:srgbClr val="273239"/>
                </a:solidFill>
                <a:effectLst/>
                <a:latin typeface="Nunito" pitchFamily="2" charset="77"/>
              </a:rPr>
              <a:t>Examples:</a:t>
            </a:r>
            <a:endParaRPr lang="en-IN" b="0" i="0" dirty="0">
              <a:solidFill>
                <a:srgbClr val="273239"/>
              </a:solidFill>
              <a:effectLst/>
              <a:latin typeface="Nunito" pitchFamily="2" charset="77"/>
            </a:endParaRPr>
          </a:p>
          <a:p>
            <a:pPr rtl="0" fontAlgn="base"/>
            <a:r>
              <a:rPr lang="en-IN" b="1" dirty="0">
                <a:effectLst/>
                <a:latin typeface="Nunito" pitchFamily="2" charset="77"/>
              </a:rPr>
              <a:t>Input:</a:t>
            </a:r>
            <a:r>
              <a:rPr lang="en-IN" b="0" dirty="0">
                <a:effectLst/>
                <a:latin typeface="Nunito" pitchFamily="2" charset="77"/>
              </a:rPr>
              <a:t> n = 5</a:t>
            </a:r>
            <a:br>
              <a:rPr lang="en-IN" b="0" dirty="0">
                <a:effectLst/>
                <a:latin typeface="Nunito" pitchFamily="2" charset="77"/>
              </a:rPr>
            </a:br>
            <a:r>
              <a:rPr lang="en-IN" b="1" dirty="0">
                <a:effectLst/>
                <a:latin typeface="Nunito" pitchFamily="2" charset="77"/>
              </a:rPr>
              <a:t>Output: </a:t>
            </a:r>
            <a:r>
              <a:rPr lang="en-IN" b="0" dirty="0">
                <a:effectLst/>
                <a:latin typeface="Nunito" pitchFamily="2" charset="77"/>
              </a:rPr>
              <a:t>120</a:t>
            </a:r>
            <a:br>
              <a:rPr lang="en-IN" b="0" dirty="0">
                <a:effectLst/>
                <a:latin typeface="Nunito" pitchFamily="2" charset="77"/>
              </a:rPr>
            </a:br>
            <a:r>
              <a:rPr lang="en-IN" b="1" dirty="0">
                <a:effectLst/>
                <a:latin typeface="Nunito" pitchFamily="2" charset="77"/>
              </a:rPr>
              <a:t>Explanation:</a:t>
            </a:r>
            <a:r>
              <a:rPr lang="en-IN" b="0" dirty="0">
                <a:effectLst/>
                <a:latin typeface="Nunito" pitchFamily="2" charset="77"/>
              </a:rPr>
              <a:t> 5! = 5 * 4 * 3 * 2 * 1 = 120</a:t>
            </a:r>
          </a:p>
          <a:p>
            <a:pPr rtl="0" fontAlgn="base"/>
            <a:r>
              <a:rPr lang="en-IN" b="1" dirty="0">
                <a:effectLst/>
                <a:latin typeface="Nunito" pitchFamily="2" charset="77"/>
              </a:rPr>
              <a:t>Input: </a:t>
            </a:r>
            <a:r>
              <a:rPr lang="en-IN" b="0" dirty="0">
                <a:effectLst/>
                <a:latin typeface="Nunito" pitchFamily="2" charset="77"/>
              </a:rPr>
              <a:t>n = 4</a:t>
            </a:r>
            <a:br>
              <a:rPr lang="en-IN" b="0" dirty="0">
                <a:effectLst/>
                <a:latin typeface="Nunito" pitchFamily="2" charset="77"/>
              </a:rPr>
            </a:br>
            <a:r>
              <a:rPr lang="en-IN" b="1" dirty="0">
                <a:effectLst/>
                <a:latin typeface="Nunito" pitchFamily="2" charset="77"/>
              </a:rPr>
              <a:t>Output: </a:t>
            </a:r>
            <a:r>
              <a:rPr lang="en-IN" b="0" dirty="0">
                <a:effectLst/>
                <a:latin typeface="Nunito" pitchFamily="2" charset="77"/>
              </a:rPr>
              <a:t>24</a:t>
            </a:r>
            <a:br>
              <a:rPr lang="en-IN" b="0" dirty="0">
                <a:effectLst/>
                <a:latin typeface="Nunito" pitchFamily="2" charset="77"/>
              </a:rPr>
            </a:br>
            <a:r>
              <a:rPr lang="en-IN" b="1" dirty="0">
                <a:effectLst/>
                <a:latin typeface="Nunito" pitchFamily="2" charset="77"/>
              </a:rPr>
              <a:t>Explanation:</a:t>
            </a:r>
            <a:r>
              <a:rPr lang="en-IN" b="0" dirty="0">
                <a:effectLst/>
                <a:latin typeface="Nunito" pitchFamily="2" charset="77"/>
              </a:rPr>
              <a:t> 4! = 4 * 3 * 2 * 1 = 24</a:t>
            </a:r>
          </a:p>
          <a:p>
            <a:endParaRPr lang="en-US" dirty="0"/>
          </a:p>
        </p:txBody>
      </p:sp>
    </p:spTree>
    <p:extLst>
      <p:ext uri="{BB962C8B-B14F-4D97-AF65-F5344CB8AC3E}">
        <p14:creationId xmlns:p14="http://schemas.microsoft.com/office/powerpoint/2010/main" val="1070748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8C0BE-1DD1-AC60-F7EA-48CC8D1F8042}"/>
              </a:ext>
            </a:extLst>
          </p:cNvPr>
          <p:cNvSpPr>
            <a:spLocks noGrp="1"/>
          </p:cNvSpPr>
          <p:nvPr>
            <p:ph type="title"/>
          </p:nvPr>
        </p:nvSpPr>
        <p:spPr/>
        <p:txBody>
          <a:bodyPr/>
          <a:lstStyle/>
          <a:p>
            <a:r>
              <a:rPr lang="en-IN" b="0" i="0" dirty="0">
                <a:solidFill>
                  <a:srgbClr val="273239"/>
                </a:solidFill>
                <a:effectLst/>
                <a:latin typeface="Nunito" pitchFamily="2" charset="77"/>
              </a:rPr>
              <a:t>GCD or HCF</a:t>
            </a:r>
            <a:endParaRPr lang="en-US" dirty="0"/>
          </a:p>
        </p:txBody>
      </p:sp>
      <p:sp>
        <p:nvSpPr>
          <p:cNvPr id="3" name="Content Placeholder 2">
            <a:extLst>
              <a:ext uri="{FF2B5EF4-FFF2-40B4-BE49-F238E27FC236}">
                <a16:creationId xmlns:a16="http://schemas.microsoft.com/office/drawing/2014/main" id="{48D6EE8B-BF2B-F64B-071C-79BDBB4BEE94}"/>
              </a:ext>
            </a:extLst>
          </p:cNvPr>
          <p:cNvSpPr>
            <a:spLocks noGrp="1"/>
          </p:cNvSpPr>
          <p:nvPr>
            <p:ph idx="1"/>
          </p:nvPr>
        </p:nvSpPr>
        <p:spPr/>
        <p:txBody>
          <a:bodyPr>
            <a:normAutofit fontScale="85000" lnSpcReduction="20000"/>
          </a:bodyPr>
          <a:lstStyle/>
          <a:p>
            <a:pPr algn="l" rtl="0" fontAlgn="base"/>
            <a:r>
              <a:rPr lang="en-IN" b="0" i="0" dirty="0">
                <a:solidFill>
                  <a:srgbClr val="273239"/>
                </a:solidFill>
                <a:effectLst/>
                <a:latin typeface="Nunito" pitchFamily="2" charset="77"/>
              </a:rPr>
              <a:t>Given two positive integers </a:t>
            </a:r>
            <a:r>
              <a:rPr lang="en-IN" b="1" i="0" dirty="0">
                <a:solidFill>
                  <a:srgbClr val="273239"/>
                </a:solidFill>
                <a:effectLst/>
                <a:latin typeface="Nunito" pitchFamily="2" charset="77"/>
              </a:rPr>
              <a:t>a</a:t>
            </a:r>
            <a:r>
              <a:rPr lang="en-IN" b="0" i="0" dirty="0">
                <a:solidFill>
                  <a:srgbClr val="273239"/>
                </a:solidFill>
                <a:effectLst/>
                <a:latin typeface="Nunito" pitchFamily="2" charset="77"/>
              </a:rPr>
              <a:t> and </a:t>
            </a:r>
            <a:r>
              <a:rPr lang="en-IN" b="1" i="0" dirty="0">
                <a:solidFill>
                  <a:srgbClr val="273239"/>
                </a:solidFill>
                <a:effectLst/>
                <a:latin typeface="Nunito" pitchFamily="2" charset="77"/>
              </a:rPr>
              <a:t>b</a:t>
            </a:r>
            <a:r>
              <a:rPr lang="en-IN" b="0" i="0" dirty="0">
                <a:solidFill>
                  <a:srgbClr val="273239"/>
                </a:solidFill>
                <a:effectLst/>
                <a:latin typeface="Nunito" pitchFamily="2" charset="77"/>
              </a:rPr>
              <a:t>, the task is to find the </a:t>
            </a:r>
            <a:r>
              <a:rPr lang="en-IN" b="0" i="0" u="sng" dirty="0">
                <a:solidFill>
                  <a:srgbClr val="357960"/>
                </a:solidFill>
                <a:effectLst/>
                <a:latin typeface="Nunito" pitchFamily="2" charset="77"/>
                <a:hlinkClick r:id="rId2"/>
              </a:rPr>
              <a:t>GCD</a:t>
            </a:r>
            <a:r>
              <a:rPr lang="en-IN" b="0" i="0" dirty="0">
                <a:solidFill>
                  <a:srgbClr val="273239"/>
                </a:solidFill>
                <a:effectLst/>
                <a:latin typeface="Nunito" pitchFamily="2" charset="77"/>
              </a:rPr>
              <a:t> of the two numbers.</a:t>
            </a:r>
          </a:p>
          <a:p>
            <a:pPr algn="l" rtl="0" fontAlgn="base"/>
            <a:r>
              <a:rPr lang="en-IN" b="1" i="0" dirty="0">
                <a:solidFill>
                  <a:srgbClr val="273239"/>
                </a:solidFill>
                <a:effectLst/>
                <a:latin typeface="Nunito" pitchFamily="2" charset="77"/>
              </a:rPr>
              <a:t>Note:</a:t>
            </a:r>
            <a:r>
              <a:rPr lang="en-IN" b="0" i="0" dirty="0">
                <a:solidFill>
                  <a:srgbClr val="273239"/>
                </a:solidFill>
                <a:effectLst/>
                <a:latin typeface="Nunito" pitchFamily="2" charset="77"/>
              </a:rPr>
              <a:t> The GCD (Greatest Common Divisor) or HCF (Highest Common Factor) of two numbers is the largest number that divides both of them. </a:t>
            </a:r>
          </a:p>
          <a:p>
            <a:pPr algn="l" rtl="0" fontAlgn="base"/>
            <a:r>
              <a:rPr lang="en-IN" b="1" i="0" dirty="0">
                <a:solidFill>
                  <a:srgbClr val="273239"/>
                </a:solidFill>
                <a:effectLst/>
                <a:latin typeface="Nunito" pitchFamily="2" charset="77"/>
              </a:rPr>
              <a:t>Examples:</a:t>
            </a:r>
            <a:endParaRPr lang="en-IN" b="0" i="0" dirty="0">
              <a:solidFill>
                <a:srgbClr val="273239"/>
              </a:solidFill>
              <a:effectLst/>
              <a:latin typeface="Nunito" pitchFamily="2" charset="77"/>
            </a:endParaRPr>
          </a:p>
          <a:p>
            <a:pPr rtl="0" fontAlgn="base"/>
            <a:r>
              <a:rPr lang="en-IN" b="1" dirty="0">
                <a:effectLst/>
                <a:latin typeface="Nunito" pitchFamily="2" charset="77"/>
              </a:rPr>
              <a:t>Input:</a:t>
            </a:r>
            <a:r>
              <a:rPr lang="en-IN" b="0" dirty="0">
                <a:effectLst/>
                <a:latin typeface="Nunito" pitchFamily="2" charset="77"/>
              </a:rPr>
              <a:t> a = 20, b = 28</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4</a:t>
            </a:r>
            <a:br>
              <a:rPr lang="en-IN" b="0" dirty="0">
                <a:effectLst/>
                <a:latin typeface="Nunito" pitchFamily="2" charset="77"/>
              </a:rPr>
            </a:br>
            <a:r>
              <a:rPr lang="en-IN" b="1" dirty="0">
                <a:effectLst/>
                <a:latin typeface="Nunito" pitchFamily="2" charset="77"/>
              </a:rPr>
              <a:t>Explanation:</a:t>
            </a:r>
            <a:r>
              <a:rPr lang="en-IN" b="0" dirty="0">
                <a:effectLst/>
                <a:latin typeface="Nunito" pitchFamily="2" charset="77"/>
              </a:rPr>
              <a:t> The factors of 20 are 1, 2, 4, 5, 10 and 20. The factors of 28 are 1, 2, 4, 7, 14 and 28. Among these factors, 1, 2 and 4 are the common factors of both 20 and 28. The greatest among the common factors is 4.</a:t>
            </a:r>
          </a:p>
          <a:p>
            <a:pPr rtl="0" fontAlgn="base"/>
            <a:r>
              <a:rPr lang="en-IN" b="1" dirty="0">
                <a:effectLst/>
                <a:latin typeface="Nunito" pitchFamily="2" charset="77"/>
              </a:rPr>
              <a:t>Input:</a:t>
            </a:r>
            <a:r>
              <a:rPr lang="en-IN" b="0" dirty="0">
                <a:effectLst/>
                <a:latin typeface="Nunito" pitchFamily="2" charset="77"/>
              </a:rPr>
              <a:t> a = 60, b = 36</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12</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GCD of 60 and 36 is 12.</a:t>
            </a:r>
            <a:endParaRPr lang="en-IN" b="0" i="0" dirty="0">
              <a:solidFill>
                <a:srgbClr val="273239"/>
              </a:solidFill>
              <a:effectLst/>
              <a:latin typeface="Nunito" pitchFamily="2" charset="77"/>
            </a:endParaRPr>
          </a:p>
          <a:p>
            <a:endParaRPr lang="en-US" dirty="0"/>
          </a:p>
        </p:txBody>
      </p:sp>
      <p:pic>
        <p:nvPicPr>
          <p:cNvPr id="26626" name="Picture 2" descr="gcd">
            <a:extLst>
              <a:ext uri="{FF2B5EF4-FFF2-40B4-BE49-F238E27FC236}">
                <a16:creationId xmlns:a16="http://schemas.microsoft.com/office/drawing/2014/main" id="{C689ACF1-69A9-0439-295E-8D31A2DD5B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0525" y="4764653"/>
            <a:ext cx="4181475" cy="2093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9286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D308B-0130-2EC5-1D7D-F44FF34E39F4}"/>
              </a:ext>
            </a:extLst>
          </p:cNvPr>
          <p:cNvSpPr>
            <a:spLocks noGrp="1"/>
          </p:cNvSpPr>
          <p:nvPr>
            <p:ph type="title"/>
          </p:nvPr>
        </p:nvSpPr>
        <p:spPr/>
        <p:txBody>
          <a:bodyPr/>
          <a:lstStyle/>
          <a:p>
            <a:r>
              <a:rPr lang="en-US" dirty="0"/>
              <a:t>LCM of Two Numbers</a:t>
            </a:r>
          </a:p>
        </p:txBody>
      </p:sp>
      <p:sp>
        <p:nvSpPr>
          <p:cNvPr id="3" name="Content Placeholder 2">
            <a:extLst>
              <a:ext uri="{FF2B5EF4-FFF2-40B4-BE49-F238E27FC236}">
                <a16:creationId xmlns:a16="http://schemas.microsoft.com/office/drawing/2014/main" id="{321C90F6-667E-9623-EE32-BF3C1CCEF759}"/>
              </a:ext>
            </a:extLst>
          </p:cNvPr>
          <p:cNvSpPr>
            <a:spLocks noGrp="1"/>
          </p:cNvSpPr>
          <p:nvPr>
            <p:ph idx="1"/>
          </p:nvPr>
        </p:nvSpPr>
        <p:spPr/>
        <p:txBody>
          <a:bodyPr>
            <a:normAutofit fontScale="92500"/>
          </a:bodyPr>
          <a:lstStyle/>
          <a:p>
            <a:pPr algn="l" rtl="0" fontAlgn="base"/>
            <a:r>
              <a:rPr lang="en-IN" b="0" i="0" dirty="0">
                <a:solidFill>
                  <a:srgbClr val="273239"/>
                </a:solidFill>
                <a:effectLst/>
                <a:latin typeface="Nunito" pitchFamily="2" charset="77"/>
              </a:rPr>
              <a:t>Given two positive integers </a:t>
            </a:r>
            <a:r>
              <a:rPr lang="en-IN" b="1" i="0" dirty="0">
                <a:solidFill>
                  <a:srgbClr val="273239"/>
                </a:solidFill>
                <a:effectLst/>
                <a:latin typeface="Nunito" pitchFamily="2" charset="77"/>
              </a:rPr>
              <a:t>a </a:t>
            </a:r>
            <a:r>
              <a:rPr lang="en-IN" b="0" i="0" dirty="0">
                <a:solidFill>
                  <a:srgbClr val="273239"/>
                </a:solidFill>
                <a:effectLst/>
                <a:latin typeface="Nunito" pitchFamily="2" charset="77"/>
              </a:rPr>
              <a:t>and </a:t>
            </a:r>
            <a:r>
              <a:rPr lang="en-IN" b="1" i="0" dirty="0">
                <a:solidFill>
                  <a:srgbClr val="273239"/>
                </a:solidFill>
                <a:effectLst/>
                <a:latin typeface="Nunito" pitchFamily="2" charset="77"/>
              </a:rPr>
              <a:t>b.</a:t>
            </a:r>
            <a:r>
              <a:rPr lang="en-IN" b="0" i="0" dirty="0">
                <a:solidFill>
                  <a:srgbClr val="273239"/>
                </a:solidFill>
                <a:effectLst/>
                <a:latin typeface="Nunito" pitchFamily="2" charset="77"/>
              </a:rPr>
              <a:t> Find the Least Common Multiple (LCM) of </a:t>
            </a:r>
            <a:r>
              <a:rPr lang="en-IN" b="1" i="0" dirty="0">
                <a:solidFill>
                  <a:srgbClr val="273239"/>
                </a:solidFill>
                <a:effectLst/>
                <a:latin typeface="Nunito" pitchFamily="2" charset="77"/>
              </a:rPr>
              <a:t>a</a:t>
            </a:r>
            <a:r>
              <a:rPr lang="en-IN" b="0" i="0" dirty="0">
                <a:solidFill>
                  <a:srgbClr val="273239"/>
                </a:solidFill>
                <a:effectLst/>
                <a:latin typeface="Nunito" pitchFamily="2" charset="77"/>
              </a:rPr>
              <a:t> and </a:t>
            </a:r>
            <a:r>
              <a:rPr lang="en-IN" b="1" i="0" dirty="0">
                <a:solidFill>
                  <a:srgbClr val="273239"/>
                </a:solidFill>
                <a:effectLst/>
                <a:latin typeface="Nunito" pitchFamily="2" charset="77"/>
              </a:rPr>
              <a:t>b</a:t>
            </a:r>
            <a:r>
              <a:rPr lang="en-IN" b="0" i="0" dirty="0">
                <a:solidFill>
                  <a:srgbClr val="273239"/>
                </a:solidFill>
                <a:effectLst/>
                <a:latin typeface="Nunito" pitchFamily="2" charset="77"/>
              </a:rPr>
              <a:t>.</a:t>
            </a:r>
            <a:br>
              <a:rPr lang="en-IN" b="0" i="0" dirty="0">
                <a:solidFill>
                  <a:srgbClr val="273239"/>
                </a:solidFill>
                <a:effectLst/>
                <a:latin typeface="Nunito" pitchFamily="2" charset="77"/>
              </a:rPr>
            </a:br>
            <a:r>
              <a:rPr lang="en-IN" b="1" i="0" u="sng" dirty="0">
                <a:solidFill>
                  <a:srgbClr val="357960"/>
                </a:solidFill>
                <a:effectLst/>
                <a:latin typeface="Nunito" pitchFamily="2" charset="77"/>
                <a:hlinkClick r:id="rId2"/>
              </a:rPr>
              <a:t>LCM</a:t>
            </a:r>
            <a:r>
              <a:rPr lang="en-IN" b="0" i="0" dirty="0">
                <a:solidFill>
                  <a:srgbClr val="273239"/>
                </a:solidFill>
                <a:effectLst/>
                <a:latin typeface="Nunito" pitchFamily="2" charset="77"/>
              </a:rPr>
              <a:t> of two numbers is the smallest number which can be divided by both numbers. </a:t>
            </a:r>
          </a:p>
          <a:p>
            <a:pPr rtl="0" fontAlgn="base"/>
            <a:r>
              <a:rPr lang="en-IN" b="1" dirty="0">
                <a:effectLst/>
                <a:latin typeface="Nunito" pitchFamily="2" charset="77"/>
              </a:rPr>
              <a:t>Input</a:t>
            </a:r>
            <a:r>
              <a:rPr lang="en-IN" b="0" dirty="0">
                <a:effectLst/>
                <a:latin typeface="Nunito" pitchFamily="2" charset="77"/>
              </a:rPr>
              <a:t> : a = 10, b = 5</a:t>
            </a:r>
            <a:br>
              <a:rPr lang="en-IN" b="0" dirty="0">
                <a:effectLst/>
                <a:latin typeface="Nunito" pitchFamily="2" charset="77"/>
              </a:rPr>
            </a:br>
            <a:r>
              <a:rPr lang="en-IN" b="1" dirty="0">
                <a:effectLst/>
                <a:latin typeface="Nunito" pitchFamily="2" charset="77"/>
              </a:rPr>
              <a:t>Output </a:t>
            </a:r>
            <a:r>
              <a:rPr lang="en-IN" b="0" dirty="0">
                <a:effectLst/>
                <a:latin typeface="Nunito" pitchFamily="2" charset="77"/>
              </a:rPr>
              <a:t>: 10</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 10 is the smallest number divisible by both 10 and 5</a:t>
            </a:r>
          </a:p>
          <a:p>
            <a:pPr rtl="0" fontAlgn="base"/>
            <a:r>
              <a:rPr lang="en-IN" b="1" dirty="0">
                <a:effectLst/>
                <a:latin typeface="Nunito" pitchFamily="2" charset="77"/>
              </a:rPr>
              <a:t>Input</a:t>
            </a:r>
            <a:r>
              <a:rPr lang="en-IN" b="0" dirty="0">
                <a:effectLst/>
                <a:latin typeface="Nunito" pitchFamily="2" charset="77"/>
              </a:rPr>
              <a:t> : a = 5, b = 11</a:t>
            </a:r>
            <a:br>
              <a:rPr lang="en-IN" b="0" dirty="0">
                <a:effectLst/>
                <a:latin typeface="Nunito" pitchFamily="2" charset="77"/>
              </a:rPr>
            </a:br>
            <a:r>
              <a:rPr lang="en-IN" b="1" dirty="0">
                <a:effectLst/>
                <a:latin typeface="Nunito" pitchFamily="2" charset="77"/>
              </a:rPr>
              <a:t>Output </a:t>
            </a:r>
            <a:r>
              <a:rPr lang="en-IN" b="0" dirty="0">
                <a:effectLst/>
                <a:latin typeface="Nunito" pitchFamily="2" charset="77"/>
              </a:rPr>
              <a:t>: 55</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 55 is the smallest number divisible by both 5 and 11</a:t>
            </a:r>
          </a:p>
          <a:p>
            <a:endParaRPr lang="en-US" dirty="0"/>
          </a:p>
        </p:txBody>
      </p:sp>
    </p:spTree>
    <p:extLst>
      <p:ext uri="{BB962C8B-B14F-4D97-AF65-F5344CB8AC3E}">
        <p14:creationId xmlns:p14="http://schemas.microsoft.com/office/powerpoint/2010/main" val="2656777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8C404-361E-795C-8D90-673BA85FA1A0}"/>
              </a:ext>
            </a:extLst>
          </p:cNvPr>
          <p:cNvSpPr>
            <a:spLocks noGrp="1"/>
          </p:cNvSpPr>
          <p:nvPr>
            <p:ph type="title"/>
          </p:nvPr>
        </p:nvSpPr>
        <p:spPr/>
        <p:txBody>
          <a:bodyPr/>
          <a:lstStyle/>
          <a:p>
            <a:r>
              <a:rPr lang="en-US" dirty="0"/>
              <a:t>Perfect Number</a:t>
            </a:r>
          </a:p>
        </p:txBody>
      </p:sp>
      <p:sp>
        <p:nvSpPr>
          <p:cNvPr id="3" name="Content Placeholder 2">
            <a:extLst>
              <a:ext uri="{FF2B5EF4-FFF2-40B4-BE49-F238E27FC236}">
                <a16:creationId xmlns:a16="http://schemas.microsoft.com/office/drawing/2014/main" id="{EA8CC766-DC23-83D2-C59B-9E639A0DE9D7}"/>
              </a:ext>
            </a:extLst>
          </p:cNvPr>
          <p:cNvSpPr>
            <a:spLocks noGrp="1"/>
          </p:cNvSpPr>
          <p:nvPr>
            <p:ph idx="1"/>
          </p:nvPr>
        </p:nvSpPr>
        <p:spPr/>
        <p:txBody>
          <a:bodyPr>
            <a:normAutofit fontScale="92500" lnSpcReduction="10000"/>
          </a:bodyPr>
          <a:lstStyle/>
          <a:p>
            <a:pPr algn="l" rtl="0" fontAlgn="base"/>
            <a:r>
              <a:rPr lang="en-IN" b="0" i="0" dirty="0">
                <a:solidFill>
                  <a:srgbClr val="273239"/>
                </a:solidFill>
                <a:effectLst/>
                <a:latin typeface="Nunito" pitchFamily="2" charset="77"/>
              </a:rPr>
              <a:t>A number is a </a:t>
            </a:r>
            <a:r>
              <a:rPr lang="en-IN" b="0" i="0" u="sng" dirty="0">
                <a:solidFill>
                  <a:srgbClr val="357960"/>
                </a:solidFill>
                <a:effectLst/>
                <a:latin typeface="Nunito" pitchFamily="2" charset="77"/>
                <a:hlinkClick r:id="rId2"/>
              </a:rPr>
              <a:t>perfect number</a:t>
            </a:r>
            <a:r>
              <a:rPr lang="en-IN" b="0" i="0" dirty="0">
                <a:solidFill>
                  <a:srgbClr val="273239"/>
                </a:solidFill>
                <a:effectLst/>
                <a:latin typeface="Nunito" pitchFamily="2" charset="77"/>
              </a:rPr>
              <a:t> if it is equal to the sum of its proper divisors, that is, the sum of its positive divisors excluding the number itself. Find whether a given positive integer n is perfect or not.</a:t>
            </a:r>
            <a:br>
              <a:rPr lang="en-IN" b="0" i="0" dirty="0">
                <a:solidFill>
                  <a:srgbClr val="273239"/>
                </a:solidFill>
                <a:effectLst/>
                <a:latin typeface="Nunito" pitchFamily="2" charset="77"/>
              </a:rPr>
            </a:br>
            <a:r>
              <a:rPr lang="en-IN" b="1" i="0" dirty="0">
                <a:solidFill>
                  <a:srgbClr val="273239"/>
                </a:solidFill>
                <a:effectLst/>
                <a:latin typeface="Nunito" pitchFamily="2" charset="77"/>
              </a:rPr>
              <a:t>Examples:</a:t>
            </a:r>
            <a:r>
              <a:rPr lang="en-IN" b="0" i="0" dirty="0">
                <a:solidFill>
                  <a:srgbClr val="273239"/>
                </a:solidFill>
                <a:effectLst/>
                <a:latin typeface="Nunito" pitchFamily="2" charset="77"/>
              </a:rPr>
              <a:t> </a:t>
            </a:r>
          </a:p>
          <a:p>
            <a:pPr rtl="0" fontAlgn="base"/>
            <a:r>
              <a:rPr lang="en-IN" b="1" dirty="0">
                <a:effectLst/>
                <a:latin typeface="Nunito" pitchFamily="2" charset="77"/>
              </a:rPr>
              <a:t>Input</a:t>
            </a:r>
            <a:r>
              <a:rPr lang="en-IN" b="0" dirty="0">
                <a:effectLst/>
                <a:latin typeface="Nunito" pitchFamily="2" charset="77"/>
              </a:rPr>
              <a:t>: n = 15</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false</a:t>
            </a:r>
            <a:br>
              <a:rPr lang="en-IN" b="0" dirty="0">
                <a:effectLst/>
                <a:latin typeface="Nunito" pitchFamily="2" charset="77"/>
              </a:rPr>
            </a:br>
            <a:r>
              <a:rPr lang="en-IN" b="1" dirty="0">
                <a:effectLst/>
                <a:latin typeface="Nunito" pitchFamily="2" charset="77"/>
              </a:rPr>
              <a:t>Explanation:</a:t>
            </a:r>
            <a:r>
              <a:rPr lang="en-IN" b="0" dirty="0">
                <a:effectLst/>
                <a:latin typeface="Nunito" pitchFamily="2" charset="77"/>
              </a:rPr>
              <a:t> Divisors of 15 are 1, 3 and 5. Sum of divisors is 9 which is not equal to 15.</a:t>
            </a:r>
            <a:br>
              <a:rPr lang="en-IN" b="0" dirty="0">
                <a:effectLst/>
                <a:latin typeface="Nunito" pitchFamily="2" charset="77"/>
              </a:rPr>
            </a:br>
            <a:br>
              <a:rPr lang="en-IN" b="0" dirty="0">
                <a:effectLst/>
                <a:latin typeface="Nunito" pitchFamily="2" charset="77"/>
              </a:rPr>
            </a:br>
            <a:r>
              <a:rPr lang="en-IN" b="1" dirty="0">
                <a:effectLst/>
                <a:latin typeface="Nunito" pitchFamily="2" charset="77"/>
              </a:rPr>
              <a:t>Input</a:t>
            </a:r>
            <a:r>
              <a:rPr lang="en-IN" b="0" dirty="0">
                <a:effectLst/>
                <a:latin typeface="Nunito" pitchFamily="2" charset="77"/>
              </a:rPr>
              <a:t>: n = 6</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true</a:t>
            </a:r>
            <a:br>
              <a:rPr lang="en-IN" b="0" dirty="0">
                <a:effectLst/>
                <a:latin typeface="Nunito" pitchFamily="2" charset="77"/>
              </a:rPr>
            </a:br>
            <a:r>
              <a:rPr lang="en-IN" b="1" dirty="0">
                <a:effectLst/>
                <a:latin typeface="Nunito" pitchFamily="2" charset="77"/>
              </a:rPr>
              <a:t>Explanation</a:t>
            </a:r>
            <a:r>
              <a:rPr lang="en-IN" b="0" dirty="0">
                <a:effectLst/>
                <a:latin typeface="Nunito" pitchFamily="2" charset="77"/>
              </a:rPr>
              <a:t>: Divisors of 6 are 1, 2 and 3. Sum of divisors is 6.</a:t>
            </a:r>
          </a:p>
          <a:p>
            <a:endParaRPr lang="en-US" dirty="0"/>
          </a:p>
        </p:txBody>
      </p:sp>
    </p:spTree>
    <p:extLst>
      <p:ext uri="{BB962C8B-B14F-4D97-AF65-F5344CB8AC3E}">
        <p14:creationId xmlns:p14="http://schemas.microsoft.com/office/powerpoint/2010/main" val="198855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0A2E1-4FF1-BA76-90BE-6029A54F4449}"/>
              </a:ext>
            </a:extLst>
          </p:cNvPr>
          <p:cNvSpPr>
            <a:spLocks noGrp="1"/>
          </p:cNvSpPr>
          <p:nvPr>
            <p:ph type="title"/>
          </p:nvPr>
        </p:nvSpPr>
        <p:spPr/>
        <p:txBody>
          <a:bodyPr/>
          <a:lstStyle/>
          <a:p>
            <a:r>
              <a:rPr lang="en-US" dirty="0"/>
              <a:t>Add Two Fraction</a:t>
            </a:r>
          </a:p>
        </p:txBody>
      </p:sp>
      <p:sp>
        <p:nvSpPr>
          <p:cNvPr id="3" name="Content Placeholder 2">
            <a:extLst>
              <a:ext uri="{FF2B5EF4-FFF2-40B4-BE49-F238E27FC236}">
                <a16:creationId xmlns:a16="http://schemas.microsoft.com/office/drawing/2014/main" id="{9D4B5A99-44D5-DB3C-5DE8-A6DB581283A8}"/>
              </a:ext>
            </a:extLst>
          </p:cNvPr>
          <p:cNvSpPr>
            <a:spLocks noGrp="1"/>
          </p:cNvSpPr>
          <p:nvPr>
            <p:ph idx="1"/>
          </p:nvPr>
        </p:nvSpPr>
        <p:spPr/>
        <p:txBody>
          <a:bodyPr>
            <a:normAutofit fontScale="85000" lnSpcReduction="20000"/>
          </a:bodyPr>
          <a:lstStyle/>
          <a:p>
            <a:pPr algn="l" rtl="0" fontAlgn="base"/>
            <a:r>
              <a:rPr lang="en-IN" b="0" i="0" dirty="0">
                <a:solidFill>
                  <a:srgbClr val="273239"/>
                </a:solidFill>
                <a:effectLst/>
                <a:latin typeface="Nunito" pitchFamily="2" charset="77"/>
              </a:rPr>
              <a:t>Given two integer arrays </a:t>
            </a:r>
            <a:r>
              <a:rPr lang="en-IN" b="1" i="0" dirty="0">
                <a:solidFill>
                  <a:srgbClr val="273239"/>
                </a:solidFill>
                <a:effectLst/>
                <a:latin typeface="Nunito" pitchFamily="2" charset="77"/>
              </a:rPr>
              <a:t>a[]</a:t>
            </a:r>
            <a:r>
              <a:rPr lang="en-IN" b="0" i="0" dirty="0">
                <a:solidFill>
                  <a:srgbClr val="273239"/>
                </a:solidFill>
                <a:effectLst/>
                <a:latin typeface="Nunito" pitchFamily="2" charset="77"/>
              </a:rPr>
              <a:t> and </a:t>
            </a:r>
            <a:r>
              <a:rPr lang="en-IN" b="1" i="0" dirty="0">
                <a:solidFill>
                  <a:srgbClr val="273239"/>
                </a:solidFill>
                <a:effectLst/>
                <a:latin typeface="Nunito" pitchFamily="2" charset="77"/>
              </a:rPr>
              <a:t>b[]</a:t>
            </a:r>
            <a:r>
              <a:rPr lang="en-IN" b="0" i="0" dirty="0">
                <a:solidFill>
                  <a:srgbClr val="273239"/>
                </a:solidFill>
                <a:effectLst/>
                <a:latin typeface="Nunito" pitchFamily="2" charset="77"/>
              </a:rPr>
              <a:t> containing two integers each representing the numerator and denominator of a fraction respectively. The task is to find the sum of the two fractions and return the numerator and denominator of the result.</a:t>
            </a:r>
          </a:p>
          <a:p>
            <a:pPr algn="l" rtl="0" fontAlgn="base"/>
            <a:r>
              <a:rPr lang="en-IN" b="1" i="0" dirty="0">
                <a:solidFill>
                  <a:srgbClr val="273239"/>
                </a:solidFill>
                <a:effectLst/>
                <a:latin typeface="Nunito" pitchFamily="2" charset="77"/>
              </a:rPr>
              <a:t>Examples :</a:t>
            </a:r>
            <a:r>
              <a:rPr lang="en-IN" b="0" i="0" dirty="0">
                <a:solidFill>
                  <a:srgbClr val="273239"/>
                </a:solidFill>
                <a:effectLst/>
                <a:latin typeface="Nunito" pitchFamily="2" charset="77"/>
              </a:rPr>
              <a:t> </a:t>
            </a:r>
          </a:p>
          <a:p>
            <a:pPr rtl="0" fontAlgn="base"/>
            <a:r>
              <a:rPr lang="en-IN" b="1" dirty="0">
                <a:effectLst/>
                <a:latin typeface="Nunito" pitchFamily="2" charset="77"/>
              </a:rPr>
              <a:t>Input</a:t>
            </a:r>
            <a:r>
              <a:rPr lang="en-IN" b="0" dirty="0">
                <a:effectLst/>
                <a:latin typeface="Nunito" pitchFamily="2" charset="77"/>
              </a:rPr>
              <a:t>: a = [1, 2] , b = [3, 2] </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[2, 1] </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1/2 + 3/2 = 2/1</a:t>
            </a:r>
          </a:p>
          <a:p>
            <a:pPr rtl="0" fontAlgn="base"/>
            <a:r>
              <a:rPr lang="en-IN" b="1" dirty="0">
                <a:effectLst/>
                <a:latin typeface="Nunito" pitchFamily="2" charset="77"/>
              </a:rPr>
              <a:t>Input</a:t>
            </a:r>
            <a:r>
              <a:rPr lang="en-IN" b="0" dirty="0">
                <a:effectLst/>
                <a:latin typeface="Nunito" pitchFamily="2" charset="77"/>
              </a:rPr>
              <a:t>: a = [1, 3] , b = [3, 9] </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[2, 3] </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1/3 + 3/9 = 2/3 </a:t>
            </a:r>
          </a:p>
          <a:p>
            <a:pPr rtl="0" fontAlgn="base"/>
            <a:r>
              <a:rPr lang="en-IN" b="1" dirty="0">
                <a:effectLst/>
                <a:latin typeface="Nunito" pitchFamily="2" charset="77"/>
              </a:rPr>
              <a:t>Input</a:t>
            </a:r>
            <a:r>
              <a:rPr lang="en-IN" b="0" dirty="0">
                <a:effectLst/>
                <a:latin typeface="Nunito" pitchFamily="2" charset="77"/>
              </a:rPr>
              <a:t>: a = [1, 5] , b = [3, 15] </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[2, 5] </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1/5 + 3/15 = 2/5 </a:t>
            </a:r>
          </a:p>
          <a:p>
            <a:endParaRPr lang="en-US" dirty="0"/>
          </a:p>
        </p:txBody>
      </p:sp>
    </p:spTree>
    <p:extLst>
      <p:ext uri="{BB962C8B-B14F-4D97-AF65-F5344CB8AC3E}">
        <p14:creationId xmlns:p14="http://schemas.microsoft.com/office/powerpoint/2010/main" val="1373490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E3C6B-E68C-3339-6F88-525FD47EAC6C}"/>
              </a:ext>
            </a:extLst>
          </p:cNvPr>
          <p:cNvSpPr>
            <a:spLocks noGrp="1"/>
          </p:cNvSpPr>
          <p:nvPr>
            <p:ph type="title"/>
          </p:nvPr>
        </p:nvSpPr>
        <p:spPr/>
        <p:txBody>
          <a:bodyPr>
            <a:normAutofit/>
          </a:bodyPr>
          <a:lstStyle/>
          <a:p>
            <a:r>
              <a:rPr lang="en-IN" b="1" i="0" dirty="0">
                <a:solidFill>
                  <a:srgbClr val="273239"/>
                </a:solidFill>
                <a:effectLst/>
                <a:latin typeface="Source Sans 3"/>
              </a:rPr>
              <a:t>Find day of the week for a given date</a:t>
            </a:r>
            <a:endParaRPr lang="en-US" dirty="0"/>
          </a:p>
        </p:txBody>
      </p:sp>
      <p:sp>
        <p:nvSpPr>
          <p:cNvPr id="3" name="Content Placeholder 2">
            <a:extLst>
              <a:ext uri="{FF2B5EF4-FFF2-40B4-BE49-F238E27FC236}">
                <a16:creationId xmlns:a16="http://schemas.microsoft.com/office/drawing/2014/main" id="{BF7172E0-C0F8-874A-720E-B18F5A6FFF97}"/>
              </a:ext>
            </a:extLst>
          </p:cNvPr>
          <p:cNvSpPr>
            <a:spLocks noGrp="1"/>
          </p:cNvSpPr>
          <p:nvPr>
            <p:ph idx="1"/>
          </p:nvPr>
        </p:nvSpPr>
        <p:spPr/>
        <p:txBody>
          <a:bodyPr>
            <a:normAutofit fontScale="85000" lnSpcReduction="20000"/>
          </a:bodyPr>
          <a:lstStyle/>
          <a:p>
            <a:pPr algn="just" rtl="0" fontAlgn="base"/>
            <a:r>
              <a:rPr lang="en-IN" b="0" i="0" dirty="0">
                <a:solidFill>
                  <a:srgbClr val="273239"/>
                </a:solidFill>
                <a:effectLst/>
                <a:latin typeface="Nunito" pitchFamily="2" charset="77"/>
              </a:rPr>
              <a:t>Given a date (day, month, year), the task is to determine the day of the week on which that date falls. The function should be able to compute the day for any date in the past or future. The function should return values from 0 to 6 where 0 means Sunday, 1 Monday and so on.</a:t>
            </a:r>
          </a:p>
          <a:p>
            <a:pPr algn="l" rtl="0" fontAlgn="base"/>
            <a:r>
              <a:rPr lang="en-IN" b="1" i="0" dirty="0">
                <a:solidFill>
                  <a:srgbClr val="273239"/>
                </a:solidFill>
                <a:effectLst/>
                <a:latin typeface="Nunito" pitchFamily="2" charset="77"/>
              </a:rPr>
              <a:t>Examples:</a:t>
            </a:r>
            <a:endParaRPr lang="en-IN" b="0" i="0" dirty="0">
              <a:solidFill>
                <a:srgbClr val="273239"/>
              </a:solidFill>
              <a:effectLst/>
              <a:latin typeface="Nunito" pitchFamily="2" charset="77"/>
            </a:endParaRPr>
          </a:p>
          <a:p>
            <a:pPr rtl="0" fontAlgn="base"/>
            <a:r>
              <a:rPr lang="en-IN" b="1" dirty="0">
                <a:effectLst/>
                <a:latin typeface="Nunito" pitchFamily="2" charset="77"/>
              </a:rPr>
              <a:t>Input: </a:t>
            </a:r>
            <a:r>
              <a:rPr lang="en-IN" b="0" dirty="0">
                <a:effectLst/>
                <a:latin typeface="Nunito" pitchFamily="2" charset="77"/>
              </a:rPr>
              <a:t>d = 30, m = 8, y = 2010</a:t>
            </a:r>
            <a:br>
              <a:rPr lang="en-IN" b="0" dirty="0">
                <a:effectLst/>
                <a:latin typeface="Nunito" pitchFamily="2" charset="77"/>
              </a:rPr>
            </a:br>
            <a:r>
              <a:rPr lang="en-IN" b="1" dirty="0">
                <a:effectLst/>
                <a:latin typeface="Nunito" pitchFamily="2" charset="77"/>
              </a:rPr>
              <a:t>Output: </a:t>
            </a:r>
            <a:r>
              <a:rPr lang="en-IN" b="0" dirty="0">
                <a:effectLst/>
                <a:latin typeface="Nunito" pitchFamily="2" charset="77"/>
              </a:rPr>
              <a:t>1</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30th August 2010 was a </a:t>
            </a:r>
            <a:r>
              <a:rPr lang="en-IN" b="1" dirty="0">
                <a:effectLst/>
                <a:latin typeface="Nunito" pitchFamily="2" charset="77"/>
              </a:rPr>
              <a:t>Monday</a:t>
            </a:r>
            <a:r>
              <a:rPr lang="en-IN" b="0" dirty="0">
                <a:effectLst/>
                <a:latin typeface="Nunito" pitchFamily="2" charset="77"/>
              </a:rPr>
              <a:t>.</a:t>
            </a:r>
          </a:p>
          <a:p>
            <a:pPr rtl="0" fontAlgn="base"/>
            <a:r>
              <a:rPr lang="en-IN" b="1" dirty="0">
                <a:effectLst/>
                <a:latin typeface="Nunito" pitchFamily="2" charset="77"/>
              </a:rPr>
              <a:t>Input: </a:t>
            </a:r>
            <a:r>
              <a:rPr lang="en-IN" b="0" dirty="0">
                <a:effectLst/>
                <a:latin typeface="Nunito" pitchFamily="2" charset="77"/>
              </a:rPr>
              <a:t>d = 15, m = 6, y = 1995</a:t>
            </a:r>
            <a:br>
              <a:rPr lang="en-IN" b="0" dirty="0">
                <a:effectLst/>
                <a:latin typeface="Nunito" pitchFamily="2" charset="77"/>
              </a:rPr>
            </a:br>
            <a:r>
              <a:rPr lang="en-IN" b="1" dirty="0">
                <a:effectLst/>
                <a:latin typeface="Nunito" pitchFamily="2" charset="77"/>
              </a:rPr>
              <a:t>Output: </a:t>
            </a:r>
            <a:r>
              <a:rPr lang="en-IN" b="0" dirty="0">
                <a:effectLst/>
                <a:latin typeface="Nunito" pitchFamily="2" charset="77"/>
              </a:rPr>
              <a:t>4</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15th June 1995 was a </a:t>
            </a:r>
            <a:r>
              <a:rPr lang="en-IN" b="1" dirty="0">
                <a:effectLst/>
                <a:latin typeface="Nunito" pitchFamily="2" charset="77"/>
              </a:rPr>
              <a:t>Thursday</a:t>
            </a:r>
            <a:r>
              <a:rPr lang="en-IN" b="0" dirty="0">
                <a:effectLst/>
                <a:latin typeface="Nunito" pitchFamily="2" charset="77"/>
              </a:rPr>
              <a:t>.</a:t>
            </a:r>
          </a:p>
          <a:p>
            <a:pPr rtl="0" fontAlgn="base"/>
            <a:r>
              <a:rPr lang="en-IN" b="1" dirty="0">
                <a:effectLst/>
                <a:latin typeface="Nunito" pitchFamily="2" charset="77"/>
              </a:rPr>
              <a:t>Input: </a:t>
            </a:r>
            <a:r>
              <a:rPr lang="en-IN" b="0" dirty="0">
                <a:effectLst/>
                <a:latin typeface="Nunito" pitchFamily="2" charset="77"/>
              </a:rPr>
              <a:t>d = 29, m = 2, y = 2016</a:t>
            </a:r>
            <a:br>
              <a:rPr lang="en-IN" b="0" dirty="0">
                <a:effectLst/>
                <a:latin typeface="Nunito" pitchFamily="2" charset="77"/>
              </a:rPr>
            </a:br>
            <a:r>
              <a:rPr lang="en-IN" b="1" dirty="0">
                <a:effectLst/>
                <a:latin typeface="Nunito" pitchFamily="2" charset="77"/>
              </a:rPr>
              <a:t>Output: </a:t>
            </a:r>
            <a:r>
              <a:rPr lang="en-IN" b="0" dirty="0">
                <a:effectLst/>
                <a:latin typeface="Nunito" pitchFamily="2" charset="77"/>
              </a:rPr>
              <a:t>1</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26th January was a </a:t>
            </a:r>
            <a:r>
              <a:rPr lang="en-IN" b="1" dirty="0">
                <a:effectLst/>
                <a:latin typeface="Nunito" pitchFamily="2" charset="77"/>
              </a:rPr>
              <a:t>Monday</a:t>
            </a:r>
            <a:r>
              <a:rPr lang="en-IN" b="0" dirty="0">
                <a:effectLst/>
                <a:latin typeface="Nunito" pitchFamily="2" charset="77"/>
              </a:rPr>
              <a:t>.</a:t>
            </a:r>
          </a:p>
          <a:p>
            <a:endParaRPr lang="en-US" dirty="0"/>
          </a:p>
        </p:txBody>
      </p:sp>
    </p:spTree>
    <p:extLst>
      <p:ext uri="{BB962C8B-B14F-4D97-AF65-F5344CB8AC3E}">
        <p14:creationId xmlns:p14="http://schemas.microsoft.com/office/powerpoint/2010/main" val="3459238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DAB37-3108-DE9A-6C99-85887A78CB58}"/>
              </a:ext>
            </a:extLst>
          </p:cNvPr>
          <p:cNvSpPr>
            <a:spLocks noGrp="1"/>
          </p:cNvSpPr>
          <p:nvPr>
            <p:ph type="title"/>
          </p:nvPr>
        </p:nvSpPr>
        <p:spPr/>
        <p:txBody>
          <a:bodyPr/>
          <a:lstStyle/>
          <a:p>
            <a:r>
              <a:rPr lang="en-IN" b="1" i="0" dirty="0">
                <a:solidFill>
                  <a:srgbClr val="273239"/>
                </a:solidFill>
                <a:effectLst/>
                <a:latin typeface="Nunito" pitchFamily="2" charset="77"/>
              </a:rPr>
              <a:t>nth Fibonacci number</a:t>
            </a:r>
            <a:endParaRPr lang="en-US" b="1" dirty="0"/>
          </a:p>
        </p:txBody>
      </p:sp>
      <p:sp>
        <p:nvSpPr>
          <p:cNvPr id="3" name="Content Placeholder 2">
            <a:extLst>
              <a:ext uri="{FF2B5EF4-FFF2-40B4-BE49-F238E27FC236}">
                <a16:creationId xmlns:a16="http://schemas.microsoft.com/office/drawing/2014/main" id="{F8AB6074-436F-B805-61ED-79F1D7CCC309}"/>
              </a:ext>
            </a:extLst>
          </p:cNvPr>
          <p:cNvSpPr>
            <a:spLocks noGrp="1"/>
          </p:cNvSpPr>
          <p:nvPr>
            <p:ph idx="1"/>
          </p:nvPr>
        </p:nvSpPr>
        <p:spPr/>
        <p:txBody>
          <a:bodyPr>
            <a:normAutofit fontScale="92500" lnSpcReduction="20000"/>
          </a:bodyPr>
          <a:lstStyle/>
          <a:p>
            <a:pPr algn="l" rtl="0" fontAlgn="base"/>
            <a:r>
              <a:rPr lang="en-IN" b="0" i="0" dirty="0">
                <a:solidFill>
                  <a:srgbClr val="273239"/>
                </a:solidFill>
                <a:effectLst/>
                <a:latin typeface="Nunito" pitchFamily="2" charset="77"/>
              </a:rPr>
              <a:t>Given a positive integer </a:t>
            </a:r>
            <a:r>
              <a:rPr lang="en-IN" b="1" i="0" dirty="0">
                <a:solidFill>
                  <a:srgbClr val="273239"/>
                </a:solidFill>
                <a:effectLst/>
                <a:latin typeface="Nunito" pitchFamily="2" charset="77"/>
              </a:rPr>
              <a:t>n</a:t>
            </a:r>
            <a:r>
              <a:rPr lang="en-IN" b="0" i="0" dirty="0">
                <a:solidFill>
                  <a:srgbClr val="273239"/>
                </a:solidFill>
                <a:effectLst/>
                <a:latin typeface="Nunito" pitchFamily="2" charset="77"/>
              </a:rPr>
              <a:t>, find the</a:t>
            </a:r>
            <a:r>
              <a:rPr lang="en-IN" b="1" i="0" dirty="0">
                <a:solidFill>
                  <a:srgbClr val="273239"/>
                </a:solidFill>
                <a:effectLst/>
                <a:latin typeface="Nunito" pitchFamily="2" charset="77"/>
              </a:rPr>
              <a:t> nth</a:t>
            </a:r>
            <a:r>
              <a:rPr lang="en-IN" b="0" i="0" dirty="0">
                <a:solidFill>
                  <a:srgbClr val="273239"/>
                </a:solidFill>
                <a:effectLst/>
                <a:latin typeface="Nunito" pitchFamily="2" charset="77"/>
              </a:rPr>
              <a:t> Fibonacci number.</a:t>
            </a:r>
          </a:p>
          <a:p>
            <a:pPr algn="l" rtl="0" fontAlgn="base"/>
            <a:r>
              <a:rPr lang="en-IN" b="0" i="0" dirty="0">
                <a:solidFill>
                  <a:srgbClr val="273239"/>
                </a:solidFill>
                <a:effectLst/>
                <a:latin typeface="Nunito" pitchFamily="2" charset="77"/>
              </a:rPr>
              <a:t>The </a:t>
            </a:r>
            <a:r>
              <a:rPr lang="en-IN" b="0" i="0" u="sng" dirty="0">
                <a:solidFill>
                  <a:srgbClr val="357960"/>
                </a:solidFill>
                <a:effectLst/>
                <a:latin typeface="Nunito" pitchFamily="2" charset="77"/>
                <a:hlinkClick r:id="rId2"/>
              </a:rPr>
              <a:t>Fibonacci series</a:t>
            </a:r>
            <a:r>
              <a:rPr lang="en-IN" b="0" i="0" dirty="0">
                <a:solidFill>
                  <a:srgbClr val="273239"/>
                </a:solidFill>
                <a:effectLst/>
                <a:latin typeface="Nunito" pitchFamily="2" charset="77"/>
              </a:rPr>
              <a:t> is a sequence where a term is the sum of previous two terms. The first two terms of the Fibonacci sequence are 0 followed by 1. The Fibonacci sequence: 0, 1, 1, 2, 3, 5, 8, 13, 21.</a:t>
            </a:r>
          </a:p>
          <a:p>
            <a:pPr algn="l" rtl="0" fontAlgn="base"/>
            <a:r>
              <a:rPr lang="en-IN" b="1" i="0" dirty="0">
                <a:solidFill>
                  <a:srgbClr val="273239"/>
                </a:solidFill>
                <a:effectLst/>
                <a:latin typeface="Nunito" pitchFamily="2" charset="77"/>
              </a:rPr>
              <a:t>Example:</a:t>
            </a:r>
            <a:endParaRPr lang="en-IN" b="0" i="0" dirty="0">
              <a:solidFill>
                <a:srgbClr val="273239"/>
              </a:solidFill>
              <a:effectLst/>
              <a:latin typeface="Nunito" pitchFamily="2" charset="77"/>
            </a:endParaRPr>
          </a:p>
          <a:p>
            <a:pPr rtl="0" fontAlgn="base"/>
            <a:r>
              <a:rPr lang="en-IN" b="1" dirty="0">
                <a:effectLst/>
                <a:latin typeface="Nunito" pitchFamily="2" charset="77"/>
              </a:rPr>
              <a:t>Input: </a:t>
            </a:r>
            <a:r>
              <a:rPr lang="en-IN" b="0" dirty="0">
                <a:effectLst/>
                <a:latin typeface="Nunito" pitchFamily="2" charset="77"/>
              </a:rPr>
              <a:t>n = 2</a:t>
            </a:r>
            <a:br>
              <a:rPr lang="en-IN" b="0" dirty="0">
                <a:effectLst/>
                <a:latin typeface="Nunito" pitchFamily="2" charset="77"/>
              </a:rPr>
            </a:br>
            <a:r>
              <a:rPr lang="en-IN" b="1" dirty="0">
                <a:effectLst/>
                <a:latin typeface="Nunito" pitchFamily="2" charset="77"/>
              </a:rPr>
              <a:t>Output: </a:t>
            </a:r>
            <a:r>
              <a:rPr lang="en-IN" b="0" dirty="0">
                <a:effectLst/>
                <a:latin typeface="Nunito" pitchFamily="2" charset="77"/>
              </a:rPr>
              <a:t>1 </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1 is the 2nd number of Fibonacci series.</a:t>
            </a:r>
          </a:p>
          <a:p>
            <a:pPr rtl="0" fontAlgn="base"/>
            <a:r>
              <a:rPr lang="en-IN" b="1" dirty="0">
                <a:effectLst/>
                <a:latin typeface="Nunito" pitchFamily="2" charset="77"/>
              </a:rPr>
              <a:t>Input:</a:t>
            </a:r>
            <a:r>
              <a:rPr lang="en-IN" b="0" dirty="0">
                <a:effectLst/>
                <a:latin typeface="Nunito" pitchFamily="2" charset="77"/>
              </a:rPr>
              <a:t> n = 5</a:t>
            </a:r>
            <a:br>
              <a:rPr lang="en-IN" b="0" dirty="0">
                <a:effectLst/>
                <a:latin typeface="Nunito" pitchFamily="2" charset="77"/>
              </a:rPr>
            </a:br>
            <a:r>
              <a:rPr lang="en-IN" b="1" dirty="0">
                <a:effectLst/>
                <a:latin typeface="Nunito" pitchFamily="2" charset="77"/>
              </a:rPr>
              <a:t>Output: </a:t>
            </a:r>
            <a:r>
              <a:rPr lang="en-IN" b="0" dirty="0">
                <a:effectLst/>
                <a:latin typeface="Nunito" pitchFamily="2" charset="77"/>
              </a:rPr>
              <a:t>5</a:t>
            </a:r>
            <a:br>
              <a:rPr lang="en-IN" b="0" dirty="0">
                <a:effectLst/>
                <a:latin typeface="Nunito" pitchFamily="2" charset="77"/>
              </a:rPr>
            </a:br>
            <a:r>
              <a:rPr lang="en-IN" b="1" dirty="0">
                <a:effectLst/>
                <a:latin typeface="Nunito" pitchFamily="2" charset="77"/>
              </a:rPr>
              <a:t>Explanation:</a:t>
            </a:r>
            <a:r>
              <a:rPr lang="en-IN" b="0" dirty="0">
                <a:effectLst/>
                <a:latin typeface="Nunito" pitchFamily="2" charset="77"/>
              </a:rPr>
              <a:t> 5 is the 5th number of Fibonacci series.</a:t>
            </a:r>
          </a:p>
          <a:p>
            <a:endParaRPr lang="en-US" dirty="0"/>
          </a:p>
        </p:txBody>
      </p:sp>
    </p:spTree>
    <p:extLst>
      <p:ext uri="{BB962C8B-B14F-4D97-AF65-F5344CB8AC3E}">
        <p14:creationId xmlns:p14="http://schemas.microsoft.com/office/powerpoint/2010/main" val="3565548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CC445-0FEB-24D5-5DB0-2AC6E4507CBC}"/>
              </a:ext>
            </a:extLst>
          </p:cNvPr>
          <p:cNvSpPr>
            <a:spLocks noGrp="1"/>
          </p:cNvSpPr>
          <p:nvPr>
            <p:ph type="title"/>
          </p:nvPr>
        </p:nvSpPr>
        <p:spPr/>
        <p:txBody>
          <a:bodyPr/>
          <a:lstStyle/>
          <a:p>
            <a:r>
              <a:rPr lang="en-US" dirty="0"/>
              <a:t>Palindrome Number</a:t>
            </a:r>
          </a:p>
        </p:txBody>
      </p:sp>
      <p:sp>
        <p:nvSpPr>
          <p:cNvPr id="3" name="Content Placeholder 2">
            <a:extLst>
              <a:ext uri="{FF2B5EF4-FFF2-40B4-BE49-F238E27FC236}">
                <a16:creationId xmlns:a16="http://schemas.microsoft.com/office/drawing/2014/main" id="{72B103F7-E912-DE86-7ACC-8010F0BD49E0}"/>
              </a:ext>
            </a:extLst>
          </p:cNvPr>
          <p:cNvSpPr>
            <a:spLocks noGrp="1"/>
          </p:cNvSpPr>
          <p:nvPr>
            <p:ph idx="1"/>
          </p:nvPr>
        </p:nvSpPr>
        <p:spPr/>
        <p:txBody>
          <a:bodyPr>
            <a:normAutofit fontScale="92500" lnSpcReduction="10000"/>
          </a:bodyPr>
          <a:lstStyle/>
          <a:p>
            <a:pPr algn="l" rtl="0" fontAlgn="base"/>
            <a:r>
              <a:rPr lang="en-IN" b="0" i="0" dirty="0">
                <a:solidFill>
                  <a:srgbClr val="273239"/>
                </a:solidFill>
                <a:effectLst/>
                <a:latin typeface="Nunito" pitchFamily="2" charset="77"/>
              </a:rPr>
              <a:t>Given an integer </a:t>
            </a:r>
            <a:r>
              <a:rPr lang="en-IN" b="1" i="0" dirty="0">
                <a:solidFill>
                  <a:srgbClr val="273239"/>
                </a:solidFill>
                <a:effectLst/>
                <a:latin typeface="Nunito" pitchFamily="2" charset="77"/>
              </a:rPr>
              <a:t>n</a:t>
            </a:r>
            <a:r>
              <a:rPr lang="en-IN" b="0" i="0" dirty="0">
                <a:solidFill>
                  <a:srgbClr val="273239"/>
                </a:solidFill>
                <a:effectLst/>
                <a:latin typeface="Nunito" pitchFamily="2" charset="77"/>
              </a:rPr>
              <a:t>, determine whether it is a </a:t>
            </a:r>
            <a:r>
              <a:rPr lang="en-IN" b="1" i="0" dirty="0">
                <a:solidFill>
                  <a:srgbClr val="273239"/>
                </a:solidFill>
                <a:effectLst/>
                <a:latin typeface="Nunito" pitchFamily="2" charset="77"/>
              </a:rPr>
              <a:t>palindrome </a:t>
            </a:r>
            <a:r>
              <a:rPr lang="en-IN" b="0" i="0" dirty="0">
                <a:solidFill>
                  <a:srgbClr val="273239"/>
                </a:solidFill>
                <a:effectLst/>
                <a:latin typeface="Nunito" pitchFamily="2" charset="77"/>
              </a:rPr>
              <a:t>number or not. A number is called a </a:t>
            </a:r>
            <a:r>
              <a:rPr lang="en-IN" b="1" i="0" dirty="0">
                <a:solidFill>
                  <a:srgbClr val="273239"/>
                </a:solidFill>
                <a:effectLst/>
                <a:latin typeface="Nunito" pitchFamily="2" charset="77"/>
              </a:rPr>
              <a:t>palindrome</a:t>
            </a:r>
            <a:r>
              <a:rPr lang="en-IN" b="0" i="0" dirty="0">
                <a:solidFill>
                  <a:srgbClr val="273239"/>
                </a:solidFill>
                <a:effectLst/>
                <a:latin typeface="Nunito" pitchFamily="2" charset="77"/>
              </a:rPr>
              <a:t> if it reads the same from </a:t>
            </a:r>
            <a:r>
              <a:rPr lang="en-IN" b="1" i="0" dirty="0">
                <a:solidFill>
                  <a:srgbClr val="273239"/>
                </a:solidFill>
                <a:effectLst/>
                <a:latin typeface="Nunito" pitchFamily="2" charset="77"/>
              </a:rPr>
              <a:t>forward </a:t>
            </a:r>
            <a:r>
              <a:rPr lang="en-IN" b="0" i="0" dirty="0">
                <a:solidFill>
                  <a:srgbClr val="273239"/>
                </a:solidFill>
                <a:effectLst/>
                <a:latin typeface="Nunito" pitchFamily="2" charset="77"/>
              </a:rPr>
              <a:t>and</a:t>
            </a:r>
            <a:r>
              <a:rPr lang="en-IN" b="1" i="0" dirty="0">
                <a:solidFill>
                  <a:srgbClr val="273239"/>
                </a:solidFill>
                <a:effectLst/>
                <a:latin typeface="Nunito" pitchFamily="2" charset="77"/>
              </a:rPr>
              <a:t> backward</a:t>
            </a:r>
            <a:r>
              <a:rPr lang="en-IN" b="0" i="0" dirty="0">
                <a:solidFill>
                  <a:srgbClr val="273239"/>
                </a:solidFill>
                <a:effectLst/>
                <a:latin typeface="Nunito" pitchFamily="2" charset="77"/>
              </a:rPr>
              <a:t>.</a:t>
            </a:r>
          </a:p>
          <a:p>
            <a:pPr algn="l" rtl="0" fontAlgn="base"/>
            <a:r>
              <a:rPr lang="en-IN" b="1" i="0" dirty="0">
                <a:solidFill>
                  <a:srgbClr val="273239"/>
                </a:solidFill>
                <a:effectLst/>
                <a:latin typeface="Nunito" pitchFamily="2" charset="77"/>
              </a:rPr>
              <a:t>Examples:</a:t>
            </a:r>
            <a:endParaRPr lang="en-IN" b="0" i="0" dirty="0">
              <a:solidFill>
                <a:srgbClr val="273239"/>
              </a:solidFill>
              <a:effectLst/>
              <a:latin typeface="Nunito" pitchFamily="2" charset="77"/>
            </a:endParaRPr>
          </a:p>
          <a:p>
            <a:pPr rtl="0" fontAlgn="base"/>
            <a:r>
              <a:rPr lang="en-IN" b="1" dirty="0">
                <a:effectLst/>
                <a:latin typeface="Nunito" pitchFamily="2" charset="77"/>
              </a:rPr>
              <a:t>Input:</a:t>
            </a:r>
            <a:r>
              <a:rPr lang="en-IN" b="0" dirty="0">
                <a:effectLst/>
                <a:latin typeface="Nunito" pitchFamily="2" charset="77"/>
              </a:rPr>
              <a:t> n = 12321</a:t>
            </a:r>
            <a:br>
              <a:rPr lang="en-IN" b="0" dirty="0">
                <a:effectLst/>
                <a:latin typeface="Nunito" pitchFamily="2" charset="77"/>
              </a:rPr>
            </a:br>
            <a:r>
              <a:rPr lang="en-IN" b="1" dirty="0">
                <a:effectLst/>
                <a:latin typeface="Nunito" pitchFamily="2" charset="77"/>
              </a:rPr>
              <a:t>Output: </a:t>
            </a:r>
            <a:r>
              <a:rPr lang="en-IN" b="0" dirty="0">
                <a:effectLst/>
                <a:latin typeface="Nunito" pitchFamily="2" charset="77"/>
              </a:rPr>
              <a:t>True</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12321 is a palindrome number because it reads same forward and backward.</a:t>
            </a:r>
          </a:p>
          <a:p>
            <a:pPr rtl="0" fontAlgn="base"/>
            <a:r>
              <a:rPr lang="en-IN" b="1" dirty="0">
                <a:effectLst/>
                <a:latin typeface="Nunito" pitchFamily="2" charset="77"/>
              </a:rPr>
              <a:t>Input: </a:t>
            </a:r>
            <a:r>
              <a:rPr lang="en-IN" b="0" dirty="0">
                <a:effectLst/>
                <a:latin typeface="Nunito" pitchFamily="2" charset="77"/>
              </a:rPr>
              <a:t>n = 1234</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False</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1234 is not a palindrome number because it does not read the same forward and backward.</a:t>
            </a:r>
          </a:p>
          <a:p>
            <a:endParaRPr lang="en-US" dirty="0"/>
          </a:p>
        </p:txBody>
      </p:sp>
    </p:spTree>
    <p:extLst>
      <p:ext uri="{BB962C8B-B14F-4D97-AF65-F5344CB8AC3E}">
        <p14:creationId xmlns:p14="http://schemas.microsoft.com/office/powerpoint/2010/main" val="41843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C1D37-6FDA-268A-F53A-B7F28DC68AED}"/>
              </a:ext>
            </a:extLst>
          </p:cNvPr>
          <p:cNvSpPr>
            <a:spLocks noGrp="1"/>
          </p:cNvSpPr>
          <p:nvPr>
            <p:ph type="title"/>
          </p:nvPr>
        </p:nvSpPr>
        <p:spPr/>
        <p:txBody>
          <a:bodyPr>
            <a:normAutofit/>
          </a:bodyPr>
          <a:lstStyle/>
          <a:p>
            <a:r>
              <a:rPr lang="en-IN" b="1" i="0" dirty="0">
                <a:solidFill>
                  <a:srgbClr val="273239"/>
                </a:solidFill>
                <a:effectLst/>
                <a:latin typeface="Source Sans 3"/>
              </a:rPr>
              <a:t>Program for Square Root of Integer</a:t>
            </a:r>
            <a:endParaRPr lang="en-US" dirty="0"/>
          </a:p>
        </p:txBody>
      </p:sp>
      <p:sp>
        <p:nvSpPr>
          <p:cNvPr id="3" name="Content Placeholder 2">
            <a:extLst>
              <a:ext uri="{FF2B5EF4-FFF2-40B4-BE49-F238E27FC236}">
                <a16:creationId xmlns:a16="http://schemas.microsoft.com/office/drawing/2014/main" id="{D8346B97-DC6F-A032-B211-6701C640C558}"/>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Given a positive integer </a:t>
            </a:r>
            <a:r>
              <a:rPr lang="en-IN" b="1" i="0" dirty="0">
                <a:solidFill>
                  <a:srgbClr val="273239"/>
                </a:solidFill>
                <a:effectLst/>
                <a:latin typeface="Nunito" pitchFamily="2" charset="77"/>
              </a:rPr>
              <a:t>n</a:t>
            </a:r>
            <a:r>
              <a:rPr lang="en-IN" b="0" i="0" dirty="0">
                <a:solidFill>
                  <a:srgbClr val="273239"/>
                </a:solidFill>
                <a:effectLst/>
                <a:latin typeface="Nunito" pitchFamily="2" charset="77"/>
              </a:rPr>
              <a:t>, find its square root. If </a:t>
            </a:r>
            <a:r>
              <a:rPr lang="en-IN" b="1" i="0" dirty="0">
                <a:solidFill>
                  <a:srgbClr val="273239"/>
                </a:solidFill>
                <a:effectLst/>
                <a:latin typeface="Nunito" pitchFamily="2" charset="77"/>
              </a:rPr>
              <a:t>n</a:t>
            </a:r>
            <a:r>
              <a:rPr lang="en-IN" b="0" i="0" dirty="0">
                <a:solidFill>
                  <a:srgbClr val="273239"/>
                </a:solidFill>
                <a:effectLst/>
                <a:latin typeface="Nunito" pitchFamily="2" charset="77"/>
              </a:rPr>
              <a:t> is not a perfect square, then return </a:t>
            </a:r>
            <a:r>
              <a:rPr lang="en-IN" b="1" i="0" dirty="0">
                <a:solidFill>
                  <a:srgbClr val="273239"/>
                </a:solidFill>
                <a:effectLst/>
                <a:latin typeface="Nunito" pitchFamily="2" charset="77"/>
              </a:rPr>
              <a:t>floor </a:t>
            </a:r>
            <a:r>
              <a:rPr lang="en-IN" b="0" i="0" dirty="0">
                <a:solidFill>
                  <a:srgbClr val="273239"/>
                </a:solidFill>
                <a:effectLst/>
                <a:latin typeface="Nunito" pitchFamily="2" charset="77"/>
              </a:rPr>
              <a:t>of </a:t>
            </a:r>
            <a:r>
              <a:rPr lang="en-IN" b="1" i="0" dirty="0">
                <a:solidFill>
                  <a:srgbClr val="273239"/>
                </a:solidFill>
                <a:effectLst/>
                <a:latin typeface="Nunito" pitchFamily="2" charset="77"/>
              </a:rPr>
              <a:t>√n</a:t>
            </a:r>
            <a:r>
              <a:rPr lang="en-IN" b="0" i="0" dirty="0">
                <a:solidFill>
                  <a:srgbClr val="273239"/>
                </a:solidFill>
                <a:effectLst/>
                <a:latin typeface="Nunito" pitchFamily="2" charset="77"/>
              </a:rPr>
              <a:t>.</a:t>
            </a:r>
          </a:p>
          <a:p>
            <a:pPr algn="l" rtl="0" fontAlgn="base"/>
            <a:r>
              <a:rPr lang="en-IN" b="1" i="0" dirty="0">
                <a:solidFill>
                  <a:srgbClr val="273239"/>
                </a:solidFill>
                <a:effectLst/>
                <a:latin typeface="Nunito" pitchFamily="2" charset="77"/>
              </a:rPr>
              <a:t>Examples :</a:t>
            </a:r>
            <a:r>
              <a:rPr lang="en-IN" b="0" i="0" dirty="0">
                <a:solidFill>
                  <a:srgbClr val="273239"/>
                </a:solidFill>
                <a:effectLst/>
                <a:latin typeface="Nunito" pitchFamily="2" charset="77"/>
              </a:rPr>
              <a:t> </a:t>
            </a:r>
          </a:p>
          <a:p>
            <a:pPr rtl="0" fontAlgn="base"/>
            <a:r>
              <a:rPr lang="en-IN" b="1" dirty="0">
                <a:effectLst/>
                <a:latin typeface="Nunito" pitchFamily="2" charset="77"/>
              </a:rPr>
              <a:t>Input:</a:t>
            </a:r>
            <a:r>
              <a:rPr lang="en-IN" b="0" dirty="0">
                <a:effectLst/>
                <a:latin typeface="Nunito" pitchFamily="2" charset="77"/>
              </a:rPr>
              <a:t> n = 4</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2</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The square root of 4 is 2.</a:t>
            </a:r>
          </a:p>
          <a:p>
            <a:pPr rtl="0" fontAlgn="base"/>
            <a:r>
              <a:rPr lang="en-IN" b="1" dirty="0">
                <a:effectLst/>
                <a:latin typeface="Nunito" pitchFamily="2" charset="77"/>
              </a:rPr>
              <a:t>Input:</a:t>
            </a:r>
            <a:r>
              <a:rPr lang="en-IN" b="0" dirty="0">
                <a:effectLst/>
                <a:latin typeface="Nunito" pitchFamily="2" charset="77"/>
              </a:rPr>
              <a:t> n = 11</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3</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The square root of 11 lies in between 3 and 4 so floor of the square root is 3.</a:t>
            </a:r>
          </a:p>
          <a:p>
            <a:endParaRPr lang="en-US" dirty="0"/>
          </a:p>
        </p:txBody>
      </p:sp>
    </p:spTree>
    <p:extLst>
      <p:ext uri="{BB962C8B-B14F-4D97-AF65-F5344CB8AC3E}">
        <p14:creationId xmlns:p14="http://schemas.microsoft.com/office/powerpoint/2010/main" val="3276043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9AE26-5824-7158-172D-FEA5AE321F4F}"/>
              </a:ext>
            </a:extLst>
          </p:cNvPr>
          <p:cNvSpPr>
            <a:spLocks noGrp="1"/>
          </p:cNvSpPr>
          <p:nvPr>
            <p:ph type="title"/>
          </p:nvPr>
        </p:nvSpPr>
        <p:spPr/>
        <p:txBody>
          <a:bodyPr>
            <a:normAutofit/>
          </a:bodyPr>
          <a:lstStyle/>
          <a:p>
            <a:r>
              <a:rPr lang="en-IN" b="1" i="0" dirty="0">
                <a:solidFill>
                  <a:srgbClr val="273239"/>
                </a:solidFill>
                <a:effectLst/>
                <a:latin typeface="Source Sans 3"/>
              </a:rPr>
              <a:t>Sieve of Eratosthenes</a:t>
            </a:r>
            <a:endParaRPr lang="en-US" dirty="0"/>
          </a:p>
        </p:txBody>
      </p:sp>
      <p:sp>
        <p:nvSpPr>
          <p:cNvPr id="3" name="Content Placeholder 2">
            <a:extLst>
              <a:ext uri="{FF2B5EF4-FFF2-40B4-BE49-F238E27FC236}">
                <a16:creationId xmlns:a16="http://schemas.microsoft.com/office/drawing/2014/main" id="{E78AA2E5-88C1-A022-5927-89E330BAA4F2}"/>
              </a:ext>
            </a:extLst>
          </p:cNvPr>
          <p:cNvSpPr>
            <a:spLocks noGrp="1"/>
          </p:cNvSpPr>
          <p:nvPr>
            <p:ph idx="1"/>
          </p:nvPr>
        </p:nvSpPr>
        <p:spPr/>
        <p:txBody>
          <a:bodyPr>
            <a:normAutofit lnSpcReduction="10000"/>
          </a:bodyPr>
          <a:lstStyle/>
          <a:p>
            <a:pPr algn="l" rtl="0" fontAlgn="base"/>
            <a:r>
              <a:rPr lang="en-IN" b="0" i="0" dirty="0">
                <a:solidFill>
                  <a:srgbClr val="273239"/>
                </a:solidFill>
                <a:effectLst/>
                <a:latin typeface="Nunito" pitchFamily="2" charset="77"/>
              </a:rPr>
              <a:t>Given a number </a:t>
            </a:r>
            <a:r>
              <a:rPr lang="en-IN" b="1" i="0" dirty="0">
                <a:solidFill>
                  <a:srgbClr val="273239"/>
                </a:solidFill>
                <a:effectLst/>
                <a:latin typeface="Nunito" pitchFamily="2" charset="77"/>
              </a:rPr>
              <a:t>n</a:t>
            </a:r>
            <a:r>
              <a:rPr lang="en-IN" b="0" i="0" dirty="0">
                <a:solidFill>
                  <a:srgbClr val="273239"/>
                </a:solidFill>
                <a:effectLst/>
                <a:latin typeface="Nunito" pitchFamily="2" charset="77"/>
              </a:rPr>
              <a:t>, find all prime numbers less than or equal to n.</a:t>
            </a:r>
          </a:p>
          <a:p>
            <a:pPr algn="l" rtl="0" fontAlgn="base"/>
            <a:r>
              <a:rPr lang="en-IN" b="1" i="0" dirty="0">
                <a:solidFill>
                  <a:srgbClr val="273239"/>
                </a:solidFill>
                <a:effectLst/>
                <a:latin typeface="Nunito" pitchFamily="2" charset="77"/>
              </a:rPr>
              <a:t>Examples:</a:t>
            </a:r>
            <a:endParaRPr lang="en-IN" b="0" i="0" dirty="0">
              <a:solidFill>
                <a:srgbClr val="273239"/>
              </a:solidFill>
              <a:effectLst/>
              <a:latin typeface="Nunito" pitchFamily="2" charset="77"/>
            </a:endParaRPr>
          </a:p>
          <a:p>
            <a:pPr rtl="0" fontAlgn="base"/>
            <a:r>
              <a:rPr lang="en-IN" b="1" dirty="0">
                <a:effectLst/>
                <a:latin typeface="Nunito" pitchFamily="2" charset="77"/>
              </a:rPr>
              <a:t>Input:</a:t>
            </a:r>
            <a:r>
              <a:rPr lang="en-IN" b="0" dirty="0">
                <a:effectLst/>
                <a:latin typeface="Nunito" pitchFamily="2" charset="77"/>
              </a:rPr>
              <a:t> n = 10</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[2, 3, 5, 7]</a:t>
            </a:r>
            <a:br>
              <a:rPr lang="en-IN" b="0" dirty="0">
                <a:effectLst/>
                <a:latin typeface="Nunito" pitchFamily="2" charset="77"/>
              </a:rPr>
            </a:br>
            <a:r>
              <a:rPr lang="en-IN" b="1" dirty="0">
                <a:effectLst/>
                <a:latin typeface="Nunito" pitchFamily="2" charset="77"/>
              </a:rPr>
              <a:t>Explanation:</a:t>
            </a:r>
            <a:r>
              <a:rPr lang="en-IN" b="0" dirty="0">
                <a:effectLst/>
                <a:latin typeface="Nunito" pitchFamily="2" charset="77"/>
              </a:rPr>
              <a:t> The prime numbers up to 10 obtained by Sieve of Eratosthenes are [2, 3, 5, 7].</a:t>
            </a:r>
          </a:p>
          <a:p>
            <a:pPr rtl="0" fontAlgn="base"/>
            <a:r>
              <a:rPr lang="en-IN" b="1" dirty="0">
                <a:effectLst/>
                <a:latin typeface="Nunito" pitchFamily="2" charset="77"/>
              </a:rPr>
              <a:t>Input:</a:t>
            </a:r>
            <a:r>
              <a:rPr lang="en-IN" b="0" dirty="0">
                <a:effectLst/>
                <a:latin typeface="Nunito" pitchFamily="2" charset="77"/>
              </a:rPr>
              <a:t> n = 35</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[2, 3, 5, 7, 11, 13, 17, 19, 23, 29, 31]</a:t>
            </a:r>
            <a:br>
              <a:rPr lang="en-IN" b="0" dirty="0">
                <a:effectLst/>
                <a:latin typeface="Nunito" pitchFamily="2" charset="77"/>
              </a:rPr>
            </a:br>
            <a:r>
              <a:rPr lang="en-IN" b="1" dirty="0">
                <a:effectLst/>
                <a:latin typeface="Nunito" pitchFamily="2" charset="77"/>
              </a:rPr>
              <a:t>Explanation:</a:t>
            </a:r>
            <a:r>
              <a:rPr lang="en-IN" b="0" dirty="0">
                <a:effectLst/>
                <a:latin typeface="Nunito" pitchFamily="2" charset="77"/>
              </a:rPr>
              <a:t> The prime numbers up to 35 obtained by Sieve of Eratosthenes are [2, 3, 5, 7, 11, 13, 17, 19, 23, 29, 31].</a:t>
            </a:r>
          </a:p>
          <a:p>
            <a:endParaRPr lang="en-US" dirty="0"/>
          </a:p>
        </p:txBody>
      </p:sp>
    </p:spTree>
    <p:extLst>
      <p:ext uri="{BB962C8B-B14F-4D97-AF65-F5344CB8AC3E}">
        <p14:creationId xmlns:p14="http://schemas.microsoft.com/office/powerpoint/2010/main" val="1692004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F5BA5-4B03-811A-86FF-4C5C4ECD1E76}"/>
              </a:ext>
            </a:extLst>
          </p:cNvPr>
          <p:cNvSpPr>
            <a:spLocks noGrp="1"/>
          </p:cNvSpPr>
          <p:nvPr>
            <p:ph type="title"/>
          </p:nvPr>
        </p:nvSpPr>
        <p:spPr/>
        <p:txBody>
          <a:bodyPr>
            <a:normAutofit/>
          </a:bodyPr>
          <a:lstStyle/>
          <a:p>
            <a:r>
              <a:rPr lang="en-IN" b="1" i="0" dirty="0">
                <a:solidFill>
                  <a:srgbClr val="273239"/>
                </a:solidFill>
                <a:effectLst/>
                <a:latin typeface="Source Sans 3"/>
              </a:rPr>
              <a:t>Super Prime</a:t>
            </a:r>
            <a:endParaRPr lang="en-US" dirty="0"/>
          </a:p>
        </p:txBody>
      </p:sp>
      <p:sp>
        <p:nvSpPr>
          <p:cNvPr id="3" name="Content Placeholder 2">
            <a:extLst>
              <a:ext uri="{FF2B5EF4-FFF2-40B4-BE49-F238E27FC236}">
                <a16:creationId xmlns:a16="http://schemas.microsoft.com/office/drawing/2014/main" id="{33C1C87E-E1C0-AB6A-5F9D-379289EFBDDD}"/>
              </a:ext>
            </a:extLst>
          </p:cNvPr>
          <p:cNvSpPr>
            <a:spLocks noGrp="1"/>
          </p:cNvSpPr>
          <p:nvPr>
            <p:ph idx="1"/>
          </p:nvPr>
        </p:nvSpPr>
        <p:spPr/>
        <p:txBody>
          <a:bodyPr>
            <a:normAutofit fontScale="70000" lnSpcReduction="20000"/>
          </a:bodyPr>
          <a:lstStyle/>
          <a:p>
            <a:pPr algn="l" rtl="0" fontAlgn="base"/>
            <a:r>
              <a:rPr lang="en-IN" b="0" i="0" dirty="0">
                <a:solidFill>
                  <a:srgbClr val="273239"/>
                </a:solidFill>
                <a:effectLst/>
                <a:latin typeface="Nunito" pitchFamily="2" charset="77"/>
              </a:rPr>
              <a:t>Given a </a:t>
            </a:r>
            <a:r>
              <a:rPr lang="en-IN" b="0" i="0" u="sng" dirty="0">
                <a:solidFill>
                  <a:srgbClr val="357960"/>
                </a:solidFill>
                <a:effectLst/>
                <a:latin typeface="Nunito" pitchFamily="2" charset="77"/>
                <a:hlinkClick r:id="rId2"/>
              </a:rPr>
              <a:t>positive integer</a:t>
            </a:r>
            <a:r>
              <a:rPr lang="en-IN" b="0" i="0" dirty="0">
                <a:solidFill>
                  <a:srgbClr val="273239"/>
                </a:solidFill>
                <a:effectLst/>
                <a:latin typeface="Nunito" pitchFamily="2" charset="77"/>
              </a:rPr>
              <a:t> n and the task is to print all the Super-Primes less than or equal to n.</a:t>
            </a:r>
          </a:p>
          <a:p>
            <a:pPr algn="l" rtl="0" fontAlgn="base"/>
            <a:r>
              <a:rPr lang="en-IN" b="1" i="0" dirty="0">
                <a:solidFill>
                  <a:srgbClr val="273239"/>
                </a:solidFill>
                <a:effectLst/>
                <a:latin typeface="Nunito" pitchFamily="2" charset="77"/>
              </a:rPr>
              <a:t>Super-prime</a:t>
            </a:r>
            <a:r>
              <a:rPr lang="en-IN" b="0" i="0" dirty="0">
                <a:solidFill>
                  <a:srgbClr val="273239"/>
                </a:solidFill>
                <a:effectLst/>
                <a:latin typeface="Nunito" pitchFamily="2" charset="77"/>
              </a:rPr>
              <a:t> numbers (also known as </a:t>
            </a:r>
            <a:r>
              <a:rPr lang="en-IN" b="1" i="0" dirty="0">
                <a:solidFill>
                  <a:srgbClr val="273239"/>
                </a:solidFill>
                <a:effectLst/>
                <a:latin typeface="Nunito" pitchFamily="2" charset="77"/>
              </a:rPr>
              <a:t>higher order primes</a:t>
            </a:r>
            <a:r>
              <a:rPr lang="en-IN" b="0" i="0" dirty="0">
                <a:solidFill>
                  <a:srgbClr val="273239"/>
                </a:solidFill>
                <a:effectLst/>
                <a:latin typeface="Nunito" pitchFamily="2" charset="77"/>
              </a:rPr>
              <a:t>) are the subsequence of prime number sequence that occupy prime-numbered positions within the sequence of all prime numbers. The first few super primes are 3, 5, 11, and 17. </a:t>
            </a:r>
          </a:p>
          <a:p>
            <a:pPr algn="l" rtl="0" fontAlgn="base"/>
            <a:r>
              <a:rPr lang="en-IN" b="1" i="0" dirty="0">
                <a:solidFill>
                  <a:srgbClr val="273239"/>
                </a:solidFill>
                <a:effectLst/>
                <a:latin typeface="Nunito" pitchFamily="2" charset="77"/>
              </a:rPr>
              <a:t>Examples:</a:t>
            </a:r>
            <a:r>
              <a:rPr lang="en-IN" b="0" i="0" dirty="0">
                <a:solidFill>
                  <a:srgbClr val="273239"/>
                </a:solidFill>
                <a:effectLst/>
                <a:latin typeface="Nunito" pitchFamily="2" charset="77"/>
              </a:rPr>
              <a:t> </a:t>
            </a:r>
          </a:p>
          <a:p>
            <a:pPr rtl="0" fontAlgn="base"/>
            <a:r>
              <a:rPr lang="en-IN" b="1" dirty="0">
                <a:effectLst/>
                <a:latin typeface="Nunito" pitchFamily="2" charset="77"/>
              </a:rPr>
              <a:t>Input:</a:t>
            </a:r>
            <a:r>
              <a:rPr lang="en-IN" b="0" dirty="0">
                <a:effectLst/>
                <a:latin typeface="Nunito" pitchFamily="2" charset="77"/>
              </a:rPr>
              <a:t> n = 7</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3 5 </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In list of primes (2, 3, 5, 7}, 3 and 5 are super primes because they appear at 2nd and 3rd positions which are also a prime . </a:t>
            </a:r>
          </a:p>
          <a:p>
            <a:pPr rtl="0" fontAlgn="base"/>
            <a:r>
              <a:rPr lang="en-IN" b="1" dirty="0">
                <a:effectLst/>
                <a:latin typeface="Nunito" pitchFamily="2" charset="77"/>
              </a:rPr>
              <a:t>Input:</a:t>
            </a:r>
            <a:r>
              <a:rPr lang="en-IN" b="0" dirty="0">
                <a:effectLst/>
                <a:latin typeface="Nunito" pitchFamily="2" charset="77"/>
              </a:rPr>
              <a:t> n = 17</a:t>
            </a:r>
            <a:br>
              <a:rPr lang="en-IN" b="0" dirty="0">
                <a:effectLst/>
                <a:latin typeface="Nunito" pitchFamily="2" charset="77"/>
              </a:rPr>
            </a:br>
            <a:r>
              <a:rPr lang="en-IN" b="1" dirty="0">
                <a:effectLst/>
                <a:latin typeface="Nunito" pitchFamily="2" charset="77"/>
              </a:rPr>
              <a:t>Output:</a:t>
            </a:r>
            <a:r>
              <a:rPr lang="en-IN" b="0" dirty="0">
                <a:effectLst/>
                <a:latin typeface="Nunito" pitchFamily="2" charset="77"/>
              </a:rPr>
              <a:t> 3 5 11 17</a:t>
            </a:r>
            <a:br>
              <a:rPr lang="en-IN" b="0" dirty="0">
                <a:effectLst/>
                <a:latin typeface="Nunito" pitchFamily="2" charset="77"/>
              </a:rPr>
            </a:br>
            <a:r>
              <a:rPr lang="en-IN" b="1" dirty="0">
                <a:effectLst/>
                <a:latin typeface="Nunito" pitchFamily="2" charset="77"/>
              </a:rPr>
              <a:t>Explanation: </a:t>
            </a:r>
            <a:r>
              <a:rPr lang="en-IN" b="0" dirty="0">
                <a:effectLst/>
                <a:latin typeface="Nunito" pitchFamily="2" charset="77"/>
              </a:rPr>
              <a:t>In list of primes (2, 3, 5, 7, 11, 13, 17), 3, 5, 11 and 17 are super primes because they appear at 2nd, 3rd, 5th and 7th positions which are also a prime . </a:t>
            </a:r>
          </a:p>
        </p:txBody>
      </p:sp>
    </p:spTree>
    <p:extLst>
      <p:ext uri="{BB962C8B-B14F-4D97-AF65-F5344CB8AC3E}">
        <p14:creationId xmlns:p14="http://schemas.microsoft.com/office/powerpoint/2010/main" val="2678555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8C56C-4A62-27D6-5263-CC8FABFC9875}"/>
              </a:ext>
            </a:extLst>
          </p:cNvPr>
          <p:cNvSpPr>
            <a:spLocks noGrp="1"/>
          </p:cNvSpPr>
          <p:nvPr>
            <p:ph type="title"/>
          </p:nvPr>
        </p:nvSpPr>
        <p:spPr/>
        <p:txBody>
          <a:bodyPr>
            <a:normAutofit/>
          </a:bodyPr>
          <a:lstStyle/>
          <a:p>
            <a:r>
              <a:rPr lang="en-IN" b="1" i="0" dirty="0">
                <a:solidFill>
                  <a:srgbClr val="273239"/>
                </a:solidFill>
                <a:effectLst/>
                <a:latin typeface="Source Sans 3"/>
              </a:rPr>
              <a:t>Tower of Hanoi Algorithm</a:t>
            </a:r>
            <a:endParaRPr lang="en-US" dirty="0"/>
          </a:p>
        </p:txBody>
      </p:sp>
      <p:sp>
        <p:nvSpPr>
          <p:cNvPr id="3" name="Content Placeholder 2">
            <a:extLst>
              <a:ext uri="{FF2B5EF4-FFF2-40B4-BE49-F238E27FC236}">
                <a16:creationId xmlns:a16="http://schemas.microsoft.com/office/drawing/2014/main" id="{8A5B30C6-8014-AC43-6E49-F5ACE5CBCBC5}"/>
              </a:ext>
            </a:extLst>
          </p:cNvPr>
          <p:cNvSpPr>
            <a:spLocks noGrp="1"/>
          </p:cNvSpPr>
          <p:nvPr>
            <p:ph idx="1"/>
          </p:nvPr>
        </p:nvSpPr>
        <p:spPr/>
        <p:txBody>
          <a:bodyPr>
            <a:normAutofit fontScale="92500" lnSpcReduction="10000"/>
          </a:bodyPr>
          <a:lstStyle/>
          <a:p>
            <a:pPr algn="l" rtl="0" fontAlgn="base"/>
            <a:r>
              <a:rPr lang="en-IN" b="0" i="0" dirty="0">
                <a:solidFill>
                  <a:srgbClr val="273239"/>
                </a:solidFill>
                <a:effectLst/>
                <a:latin typeface="Nunito" pitchFamily="2" charset="77"/>
              </a:rPr>
              <a:t>The </a:t>
            </a:r>
            <a:r>
              <a:rPr lang="en-IN" b="1" i="0" dirty="0">
                <a:solidFill>
                  <a:srgbClr val="273239"/>
                </a:solidFill>
                <a:effectLst/>
                <a:latin typeface="Nunito" pitchFamily="2" charset="77"/>
              </a:rPr>
              <a:t>Tower of Hanoi</a:t>
            </a:r>
            <a:r>
              <a:rPr lang="en-IN" b="0" i="0" dirty="0">
                <a:solidFill>
                  <a:srgbClr val="273239"/>
                </a:solidFill>
                <a:effectLst/>
                <a:latin typeface="Nunito" pitchFamily="2" charset="77"/>
              </a:rPr>
              <a:t> is a classic mathematical puzzle involving three rods (</a:t>
            </a:r>
            <a:r>
              <a:rPr lang="en-IN" b="1" i="0" dirty="0">
                <a:solidFill>
                  <a:srgbClr val="273239"/>
                </a:solidFill>
                <a:effectLst/>
                <a:latin typeface="Nunito" pitchFamily="2" charset="77"/>
              </a:rPr>
              <a:t>A, B, and C</a:t>
            </a:r>
            <a:r>
              <a:rPr lang="en-IN" b="0" i="0" dirty="0">
                <a:solidFill>
                  <a:srgbClr val="273239"/>
                </a:solidFill>
                <a:effectLst/>
                <a:latin typeface="Nunito" pitchFamily="2" charset="77"/>
              </a:rPr>
              <a:t>) and </a:t>
            </a:r>
            <a:r>
              <a:rPr lang="en-IN" b="1" i="0" dirty="0">
                <a:solidFill>
                  <a:srgbClr val="273239"/>
                </a:solidFill>
                <a:effectLst/>
                <a:latin typeface="Nunito" pitchFamily="2" charset="77"/>
              </a:rPr>
              <a:t>n</a:t>
            </a:r>
            <a:r>
              <a:rPr lang="en-IN" b="0" i="0" dirty="0">
                <a:solidFill>
                  <a:srgbClr val="273239"/>
                </a:solidFill>
                <a:effectLst/>
                <a:latin typeface="Nunito" pitchFamily="2" charset="77"/>
              </a:rPr>
              <a:t> disks of different sizes. Initially, all disks are stacked on rod A in decreasing order of diameter - the largest disk at the bottom and the smallest at the top.</a:t>
            </a:r>
            <a:br>
              <a:rPr lang="en-IN" b="0" i="0" dirty="0">
                <a:solidFill>
                  <a:srgbClr val="273239"/>
                </a:solidFill>
                <a:effectLst/>
                <a:latin typeface="Nunito" pitchFamily="2" charset="77"/>
              </a:rPr>
            </a:br>
            <a:r>
              <a:rPr lang="en-IN" b="0" i="0" dirty="0">
                <a:solidFill>
                  <a:srgbClr val="273239"/>
                </a:solidFill>
                <a:effectLst/>
                <a:latin typeface="Nunito" pitchFamily="2" charset="77"/>
              </a:rPr>
              <a:t>Goal is to move the entire stack to another rod (rod C) while following these rules:</a:t>
            </a:r>
          </a:p>
          <a:p>
            <a:pPr algn="l" fontAlgn="base">
              <a:buFont typeface="Arial" panose="020B0604020202020204" pitchFamily="34" charset="0"/>
              <a:buChar char="•"/>
            </a:pPr>
            <a:r>
              <a:rPr lang="en-IN" b="0" i="0" dirty="0">
                <a:solidFill>
                  <a:srgbClr val="273239"/>
                </a:solidFill>
                <a:effectLst/>
                <a:latin typeface="Nunito" pitchFamily="2" charset="77"/>
              </a:rPr>
              <a:t>Move only one disk at a time.</a:t>
            </a:r>
          </a:p>
          <a:p>
            <a:pPr algn="l" fontAlgn="base">
              <a:buFont typeface="Arial" panose="020B0604020202020204" pitchFamily="34" charset="0"/>
              <a:buChar char="•"/>
            </a:pPr>
            <a:r>
              <a:rPr lang="en-IN" b="0" i="0" dirty="0">
                <a:solidFill>
                  <a:srgbClr val="273239"/>
                </a:solidFill>
                <a:effectLst/>
                <a:latin typeface="Nunito" pitchFamily="2" charset="77"/>
              </a:rPr>
              <a:t>At each step, you can take the top disk from any rod and place it on another rod.</a:t>
            </a:r>
          </a:p>
          <a:p>
            <a:pPr algn="l" fontAlgn="base">
              <a:buFont typeface="Arial" panose="020B0604020202020204" pitchFamily="34" charset="0"/>
              <a:buChar char="•"/>
            </a:pPr>
            <a:r>
              <a:rPr lang="en-IN" b="0" i="0" dirty="0">
                <a:solidFill>
                  <a:srgbClr val="273239"/>
                </a:solidFill>
                <a:effectLst/>
                <a:latin typeface="Nunito" pitchFamily="2" charset="77"/>
              </a:rPr>
              <a:t>A disk can only be moved if it is the topmost disk of a rod.</a:t>
            </a:r>
          </a:p>
          <a:p>
            <a:pPr algn="l" fontAlgn="base">
              <a:buFont typeface="Arial" panose="020B0604020202020204" pitchFamily="34" charset="0"/>
              <a:buChar char="•"/>
            </a:pPr>
            <a:r>
              <a:rPr lang="en-IN" b="0" i="0" dirty="0">
                <a:solidFill>
                  <a:srgbClr val="273239"/>
                </a:solidFill>
                <a:effectLst/>
                <a:latin typeface="Nunito" pitchFamily="2" charset="77"/>
              </a:rPr>
              <a:t>No larger disk may be placed on top of a smaller disk.</a:t>
            </a:r>
          </a:p>
          <a:p>
            <a:endParaRPr lang="en-US" dirty="0"/>
          </a:p>
        </p:txBody>
      </p:sp>
    </p:spTree>
    <p:extLst>
      <p:ext uri="{BB962C8B-B14F-4D97-AF65-F5344CB8AC3E}">
        <p14:creationId xmlns:p14="http://schemas.microsoft.com/office/powerpoint/2010/main" val="4264537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CBC9D-95F3-03B3-0CE6-672544CB0928}"/>
              </a:ext>
            </a:extLst>
          </p:cNvPr>
          <p:cNvSpPr>
            <a:spLocks noGrp="1"/>
          </p:cNvSpPr>
          <p:nvPr>
            <p:ph type="title"/>
          </p:nvPr>
        </p:nvSpPr>
        <p:spPr/>
        <p:txBody>
          <a:bodyPr/>
          <a:lstStyle/>
          <a:p>
            <a:r>
              <a:rPr lang="en-IN" b="1" i="0" dirty="0">
                <a:solidFill>
                  <a:srgbClr val="273239"/>
                </a:solidFill>
                <a:effectLst/>
                <a:latin typeface="Nunito" pitchFamily="2" charset="77"/>
              </a:rPr>
              <a:t>Examples:</a:t>
            </a:r>
            <a:endParaRPr lang="en-US" dirty="0"/>
          </a:p>
        </p:txBody>
      </p:sp>
      <p:sp>
        <p:nvSpPr>
          <p:cNvPr id="3" name="Content Placeholder 2">
            <a:extLst>
              <a:ext uri="{FF2B5EF4-FFF2-40B4-BE49-F238E27FC236}">
                <a16:creationId xmlns:a16="http://schemas.microsoft.com/office/drawing/2014/main" id="{C337A597-FE12-9420-DD69-06818FA52FD9}"/>
              </a:ext>
            </a:extLst>
          </p:cNvPr>
          <p:cNvSpPr>
            <a:spLocks noGrp="1"/>
          </p:cNvSpPr>
          <p:nvPr>
            <p:ph idx="1"/>
          </p:nvPr>
        </p:nvSpPr>
        <p:spPr>
          <a:xfrm>
            <a:off x="838200" y="1825625"/>
            <a:ext cx="5257800" cy="4351338"/>
          </a:xfrm>
        </p:spPr>
        <p:txBody>
          <a:bodyPr>
            <a:normAutofit fontScale="77500" lnSpcReduction="20000"/>
          </a:bodyPr>
          <a:lstStyle/>
          <a:p>
            <a:pPr algn="l" fontAlgn="base"/>
            <a:r>
              <a:rPr lang="en-IN" b="1" dirty="0">
                <a:effectLst/>
                <a:latin typeface="Nunito" pitchFamily="2" charset="77"/>
              </a:rPr>
              <a:t>Input:</a:t>
            </a:r>
            <a:r>
              <a:rPr lang="en-IN" b="0" dirty="0">
                <a:effectLst/>
                <a:latin typeface="Nunito" pitchFamily="2" charset="77"/>
              </a:rPr>
              <a:t> n = 4</a:t>
            </a:r>
            <a:br>
              <a:rPr lang="en-IN" b="0" dirty="0">
                <a:effectLst/>
                <a:latin typeface="Nunito" pitchFamily="2" charset="77"/>
              </a:rPr>
            </a:br>
            <a:r>
              <a:rPr lang="en-IN" b="1" dirty="0">
                <a:effectLst/>
                <a:latin typeface="Nunito" pitchFamily="2" charset="77"/>
              </a:rPr>
              <a:t>Output:</a:t>
            </a:r>
            <a:br>
              <a:rPr lang="en-IN" b="0" dirty="0">
                <a:effectLst/>
                <a:latin typeface="Nunito" pitchFamily="2" charset="77"/>
              </a:rPr>
            </a:br>
            <a:r>
              <a:rPr lang="en-IN" b="0" dirty="0">
                <a:effectLst/>
                <a:latin typeface="Nunito" pitchFamily="2" charset="77"/>
              </a:rPr>
              <a:t>Disk 1 moved from A to B</a:t>
            </a:r>
            <a:br>
              <a:rPr lang="en-IN" b="0" dirty="0">
                <a:effectLst/>
                <a:latin typeface="Nunito" pitchFamily="2" charset="77"/>
              </a:rPr>
            </a:br>
            <a:r>
              <a:rPr lang="en-IN" b="0" dirty="0">
                <a:effectLst/>
                <a:latin typeface="Nunito" pitchFamily="2" charset="77"/>
              </a:rPr>
              <a:t>Disk 2 moved from A to C</a:t>
            </a:r>
            <a:br>
              <a:rPr lang="en-IN" b="0" dirty="0">
                <a:effectLst/>
                <a:latin typeface="Nunito" pitchFamily="2" charset="77"/>
              </a:rPr>
            </a:br>
            <a:r>
              <a:rPr lang="en-IN" b="0" dirty="0">
                <a:effectLst/>
                <a:latin typeface="Nunito" pitchFamily="2" charset="77"/>
              </a:rPr>
              <a:t>Disk 1 moved from B to C</a:t>
            </a:r>
            <a:br>
              <a:rPr lang="en-IN" b="0" dirty="0">
                <a:effectLst/>
                <a:latin typeface="Nunito" pitchFamily="2" charset="77"/>
              </a:rPr>
            </a:br>
            <a:r>
              <a:rPr lang="en-IN" b="0" dirty="0">
                <a:effectLst/>
                <a:latin typeface="Nunito" pitchFamily="2" charset="77"/>
              </a:rPr>
              <a:t>Disk 3 moved from A to B</a:t>
            </a:r>
            <a:br>
              <a:rPr lang="en-IN" b="0" dirty="0">
                <a:effectLst/>
                <a:latin typeface="Nunito" pitchFamily="2" charset="77"/>
              </a:rPr>
            </a:br>
            <a:r>
              <a:rPr lang="en-IN" b="0" dirty="0">
                <a:effectLst/>
                <a:latin typeface="Nunito" pitchFamily="2" charset="77"/>
              </a:rPr>
              <a:t>Disk 1 moved from C to A</a:t>
            </a:r>
            <a:br>
              <a:rPr lang="en-IN" b="0" dirty="0">
                <a:effectLst/>
                <a:latin typeface="Nunito" pitchFamily="2" charset="77"/>
              </a:rPr>
            </a:br>
            <a:r>
              <a:rPr lang="en-IN" b="0" dirty="0">
                <a:effectLst/>
                <a:latin typeface="Nunito" pitchFamily="2" charset="77"/>
              </a:rPr>
              <a:t>Disk 2 moved from C to B</a:t>
            </a:r>
            <a:br>
              <a:rPr lang="en-IN" b="0" dirty="0">
                <a:effectLst/>
                <a:latin typeface="Nunito" pitchFamily="2" charset="77"/>
              </a:rPr>
            </a:br>
            <a:r>
              <a:rPr lang="en-IN" b="0" dirty="0">
                <a:effectLst/>
                <a:latin typeface="Nunito" pitchFamily="2" charset="77"/>
              </a:rPr>
              <a:t>Disk 1 moved from A to B</a:t>
            </a:r>
            <a:br>
              <a:rPr lang="en-IN" b="0" dirty="0">
                <a:effectLst/>
                <a:latin typeface="Nunito" pitchFamily="2" charset="77"/>
              </a:rPr>
            </a:br>
            <a:r>
              <a:rPr lang="en-IN" b="0" dirty="0">
                <a:effectLst/>
                <a:latin typeface="Nunito" pitchFamily="2" charset="77"/>
              </a:rPr>
              <a:t>Disk 4 moved from A to C</a:t>
            </a:r>
            <a:br>
              <a:rPr lang="en-IN" b="0" dirty="0">
                <a:effectLst/>
                <a:latin typeface="Nunito" pitchFamily="2" charset="77"/>
              </a:rPr>
            </a:br>
            <a:r>
              <a:rPr lang="en-IN" b="0" dirty="0">
                <a:effectLst/>
                <a:latin typeface="Nunito" pitchFamily="2" charset="77"/>
              </a:rPr>
              <a:t>Disk 1 moved from B to C</a:t>
            </a:r>
            <a:br>
              <a:rPr lang="en-IN" b="0" dirty="0">
                <a:effectLst/>
                <a:latin typeface="Nunito" pitchFamily="2" charset="77"/>
              </a:rPr>
            </a:br>
            <a:r>
              <a:rPr lang="en-IN" b="0" dirty="0">
                <a:effectLst/>
                <a:latin typeface="Nunito" pitchFamily="2" charset="77"/>
              </a:rPr>
              <a:t>Disk 2 moved from B to A</a:t>
            </a:r>
            <a:br>
              <a:rPr lang="en-IN" b="0" dirty="0">
                <a:effectLst/>
                <a:latin typeface="Nunito" pitchFamily="2" charset="77"/>
              </a:rPr>
            </a:br>
            <a:r>
              <a:rPr lang="en-IN" b="0" dirty="0">
                <a:effectLst/>
                <a:latin typeface="Nunito" pitchFamily="2" charset="77"/>
              </a:rPr>
              <a:t>Disk 1 moved from C to A</a:t>
            </a:r>
            <a:br>
              <a:rPr lang="en-IN" b="0" dirty="0">
                <a:effectLst/>
                <a:latin typeface="Nunito" pitchFamily="2" charset="77"/>
              </a:rPr>
            </a:br>
            <a:r>
              <a:rPr lang="en-IN" b="0" dirty="0">
                <a:effectLst/>
                <a:latin typeface="Nunito" pitchFamily="2" charset="77"/>
              </a:rPr>
              <a:t>Disk 3 moved from B to C</a:t>
            </a:r>
            <a:br>
              <a:rPr lang="en-IN" b="0" dirty="0">
                <a:effectLst/>
                <a:latin typeface="Nunito" pitchFamily="2" charset="77"/>
              </a:rPr>
            </a:br>
            <a:r>
              <a:rPr lang="en-IN" b="0" dirty="0">
                <a:effectLst/>
                <a:latin typeface="Nunito" pitchFamily="2" charset="77"/>
              </a:rPr>
              <a:t>Disk 1 moved from A to B</a:t>
            </a:r>
            <a:br>
              <a:rPr lang="en-IN" b="0" dirty="0">
                <a:effectLst/>
                <a:latin typeface="Nunito" pitchFamily="2" charset="77"/>
              </a:rPr>
            </a:br>
            <a:r>
              <a:rPr lang="en-IN" b="0" dirty="0">
                <a:effectLst/>
                <a:latin typeface="Nunito" pitchFamily="2" charset="77"/>
              </a:rPr>
              <a:t>Disk 2 moved from A to C</a:t>
            </a:r>
            <a:br>
              <a:rPr lang="en-IN" b="0" dirty="0">
                <a:effectLst/>
                <a:latin typeface="Nunito" pitchFamily="2" charset="77"/>
              </a:rPr>
            </a:br>
            <a:r>
              <a:rPr lang="en-IN" b="0" dirty="0">
                <a:effectLst/>
                <a:latin typeface="Nunito" pitchFamily="2" charset="77"/>
              </a:rPr>
              <a:t>Disk 1 moved from B to C</a:t>
            </a:r>
          </a:p>
        </p:txBody>
      </p:sp>
      <p:sp>
        <p:nvSpPr>
          <p:cNvPr id="4" name="Content Placeholder 2">
            <a:extLst>
              <a:ext uri="{FF2B5EF4-FFF2-40B4-BE49-F238E27FC236}">
                <a16:creationId xmlns:a16="http://schemas.microsoft.com/office/drawing/2014/main" id="{F1329508-A97E-C928-F83C-766C71ECF22A}"/>
              </a:ext>
            </a:extLst>
          </p:cNvPr>
          <p:cNvSpPr txBox="1">
            <a:spLocks/>
          </p:cNvSpPr>
          <p:nvPr/>
        </p:nvSpPr>
        <p:spPr>
          <a:xfrm>
            <a:off x="6096000" y="1803400"/>
            <a:ext cx="5257800" cy="435133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IN" b="1" dirty="0">
                <a:solidFill>
                  <a:srgbClr val="273239"/>
                </a:solidFill>
                <a:latin typeface="Nunito" pitchFamily="2" charset="77"/>
              </a:rPr>
              <a:t>Examples:</a:t>
            </a:r>
          </a:p>
          <a:p>
            <a:pPr fontAlgn="base"/>
            <a:r>
              <a:rPr lang="en-IN" b="1" dirty="0">
                <a:latin typeface="Nunito" pitchFamily="2" charset="77"/>
              </a:rPr>
              <a:t>Input:</a:t>
            </a:r>
            <a:r>
              <a:rPr lang="en-IN" dirty="0">
                <a:latin typeface="Nunito" pitchFamily="2" charset="77"/>
              </a:rPr>
              <a:t> n = 4</a:t>
            </a:r>
            <a:br>
              <a:rPr lang="en-IN" dirty="0">
                <a:latin typeface="Nunito" pitchFamily="2" charset="77"/>
              </a:rPr>
            </a:br>
            <a:r>
              <a:rPr lang="en-IN" b="1" dirty="0">
                <a:latin typeface="Nunito" pitchFamily="2" charset="77"/>
              </a:rPr>
              <a:t>Output:</a:t>
            </a:r>
            <a:br>
              <a:rPr lang="en-IN" dirty="0">
                <a:latin typeface="Nunito" pitchFamily="2" charset="77"/>
              </a:rPr>
            </a:br>
            <a:r>
              <a:rPr lang="en-IN" dirty="0">
                <a:latin typeface="Nunito" pitchFamily="2" charset="77"/>
              </a:rPr>
              <a:t>Disk 1 moved from A to B</a:t>
            </a:r>
            <a:br>
              <a:rPr lang="en-IN" dirty="0">
                <a:latin typeface="Nunito" pitchFamily="2" charset="77"/>
              </a:rPr>
            </a:br>
            <a:r>
              <a:rPr lang="en-IN" dirty="0">
                <a:latin typeface="Nunito" pitchFamily="2" charset="77"/>
              </a:rPr>
              <a:t>Disk 2 moved from A to C</a:t>
            </a:r>
            <a:br>
              <a:rPr lang="en-IN" dirty="0">
                <a:latin typeface="Nunito" pitchFamily="2" charset="77"/>
              </a:rPr>
            </a:br>
            <a:r>
              <a:rPr lang="en-IN" dirty="0">
                <a:latin typeface="Nunito" pitchFamily="2" charset="77"/>
              </a:rPr>
              <a:t>Disk 1 moved from B to C</a:t>
            </a:r>
            <a:br>
              <a:rPr lang="en-IN" dirty="0">
                <a:latin typeface="Nunito" pitchFamily="2" charset="77"/>
              </a:rPr>
            </a:br>
            <a:r>
              <a:rPr lang="en-IN" dirty="0">
                <a:latin typeface="Nunito" pitchFamily="2" charset="77"/>
              </a:rPr>
              <a:t>Disk 3 moved from A to B</a:t>
            </a:r>
            <a:br>
              <a:rPr lang="en-IN" dirty="0">
                <a:latin typeface="Nunito" pitchFamily="2" charset="77"/>
              </a:rPr>
            </a:br>
            <a:r>
              <a:rPr lang="en-IN" dirty="0">
                <a:latin typeface="Nunito" pitchFamily="2" charset="77"/>
              </a:rPr>
              <a:t>Disk 1 moved from C to A</a:t>
            </a:r>
            <a:br>
              <a:rPr lang="en-IN" dirty="0">
                <a:latin typeface="Nunito" pitchFamily="2" charset="77"/>
              </a:rPr>
            </a:br>
            <a:r>
              <a:rPr lang="en-IN" dirty="0">
                <a:latin typeface="Nunito" pitchFamily="2" charset="77"/>
              </a:rPr>
              <a:t>Disk 2 moved from C to B</a:t>
            </a:r>
            <a:br>
              <a:rPr lang="en-IN" dirty="0">
                <a:latin typeface="Nunito" pitchFamily="2" charset="77"/>
              </a:rPr>
            </a:br>
            <a:r>
              <a:rPr lang="en-IN" dirty="0">
                <a:latin typeface="Nunito" pitchFamily="2" charset="77"/>
              </a:rPr>
              <a:t>Disk 1 moved from A to B</a:t>
            </a:r>
            <a:br>
              <a:rPr lang="en-IN" dirty="0">
                <a:latin typeface="Nunito" pitchFamily="2" charset="77"/>
              </a:rPr>
            </a:br>
            <a:r>
              <a:rPr lang="en-IN" dirty="0">
                <a:latin typeface="Nunito" pitchFamily="2" charset="77"/>
              </a:rPr>
              <a:t>Disk 4 moved from A to C</a:t>
            </a:r>
            <a:br>
              <a:rPr lang="en-IN" dirty="0">
                <a:latin typeface="Nunito" pitchFamily="2" charset="77"/>
              </a:rPr>
            </a:br>
            <a:r>
              <a:rPr lang="en-IN" dirty="0">
                <a:latin typeface="Nunito" pitchFamily="2" charset="77"/>
              </a:rPr>
              <a:t>Disk 1 moved from B to C</a:t>
            </a:r>
            <a:br>
              <a:rPr lang="en-IN" dirty="0">
                <a:latin typeface="Nunito" pitchFamily="2" charset="77"/>
              </a:rPr>
            </a:br>
            <a:r>
              <a:rPr lang="en-IN" dirty="0">
                <a:latin typeface="Nunito" pitchFamily="2" charset="77"/>
              </a:rPr>
              <a:t>Disk 2 moved from B to A</a:t>
            </a:r>
            <a:br>
              <a:rPr lang="en-IN" dirty="0">
                <a:latin typeface="Nunito" pitchFamily="2" charset="77"/>
              </a:rPr>
            </a:br>
            <a:r>
              <a:rPr lang="en-IN" dirty="0">
                <a:latin typeface="Nunito" pitchFamily="2" charset="77"/>
              </a:rPr>
              <a:t>Disk 1 moved from C to A</a:t>
            </a:r>
            <a:br>
              <a:rPr lang="en-IN" dirty="0">
                <a:latin typeface="Nunito" pitchFamily="2" charset="77"/>
              </a:rPr>
            </a:br>
            <a:r>
              <a:rPr lang="en-IN" dirty="0">
                <a:latin typeface="Nunito" pitchFamily="2" charset="77"/>
              </a:rPr>
              <a:t>Disk 3 moved from B to C</a:t>
            </a:r>
            <a:br>
              <a:rPr lang="en-IN" dirty="0">
                <a:latin typeface="Nunito" pitchFamily="2" charset="77"/>
              </a:rPr>
            </a:br>
            <a:r>
              <a:rPr lang="en-IN" dirty="0">
                <a:latin typeface="Nunito" pitchFamily="2" charset="77"/>
              </a:rPr>
              <a:t>Disk 1 moved from A to B</a:t>
            </a:r>
            <a:br>
              <a:rPr lang="en-IN" dirty="0">
                <a:latin typeface="Nunito" pitchFamily="2" charset="77"/>
              </a:rPr>
            </a:br>
            <a:r>
              <a:rPr lang="en-IN" dirty="0">
                <a:latin typeface="Nunito" pitchFamily="2" charset="77"/>
              </a:rPr>
              <a:t>Disk 2 moved from A to C</a:t>
            </a:r>
            <a:br>
              <a:rPr lang="en-IN" dirty="0">
                <a:latin typeface="Nunito" pitchFamily="2" charset="77"/>
              </a:rPr>
            </a:br>
            <a:r>
              <a:rPr lang="en-IN" dirty="0">
                <a:latin typeface="Nunito" pitchFamily="2" charset="77"/>
              </a:rPr>
              <a:t>Disk 1 moved from B to C</a:t>
            </a:r>
          </a:p>
        </p:txBody>
      </p:sp>
    </p:spTree>
    <p:extLst>
      <p:ext uri="{BB962C8B-B14F-4D97-AF65-F5344CB8AC3E}">
        <p14:creationId xmlns:p14="http://schemas.microsoft.com/office/powerpoint/2010/main" val="42225133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2535</TotalTime>
  <Words>2586</Words>
  <Application>Microsoft Macintosh PowerPoint</Application>
  <PresentationFormat>Widescreen</PresentationFormat>
  <Paragraphs>114</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Aptos</vt:lpstr>
      <vt:lpstr>Aptos Display</vt:lpstr>
      <vt:lpstr>Arial</vt:lpstr>
      <vt:lpstr>Cambria Math</vt:lpstr>
      <vt:lpstr>KaTeX_Main</vt:lpstr>
      <vt:lpstr>Nunito</vt:lpstr>
      <vt:lpstr>Source Sans 3</vt:lpstr>
      <vt:lpstr>Office Theme</vt:lpstr>
      <vt:lpstr>Python DS-Code Practice</vt:lpstr>
      <vt:lpstr>Program for Armstrong Numbers</vt:lpstr>
      <vt:lpstr>Sum of Digits of a Number</vt:lpstr>
      <vt:lpstr>WAP to reverse digits of a number</vt:lpstr>
      <vt:lpstr>Primality Test of a Number</vt:lpstr>
      <vt:lpstr>Check if a number is a power of another number</vt:lpstr>
      <vt:lpstr>Distance Calculation</vt:lpstr>
      <vt:lpstr>Check whether triangle is valid or not if sides are given</vt:lpstr>
      <vt:lpstr>Find if two rectangles overlap</vt:lpstr>
      <vt:lpstr>Factorial of a Number</vt:lpstr>
      <vt:lpstr>GCD or HCF</vt:lpstr>
      <vt:lpstr>LCM of Two Numbers</vt:lpstr>
      <vt:lpstr>Perfect Number</vt:lpstr>
      <vt:lpstr>Add Two Fraction</vt:lpstr>
      <vt:lpstr>Find day of the week for a given date</vt:lpstr>
      <vt:lpstr>nth Fibonacci number</vt:lpstr>
      <vt:lpstr>Palindrome Number</vt:lpstr>
      <vt:lpstr>Program for Square Root of Integer</vt:lpstr>
      <vt:lpstr>Sieve of Eratosthenes</vt:lpstr>
      <vt:lpstr>Super Prime</vt:lpstr>
      <vt:lpstr>Tower of Hanoi Algorithm</vt:lpstr>
      <vt:lpstr>Examples: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178</cp:revision>
  <dcterms:created xsi:type="dcterms:W3CDTF">2026-01-15T04:12:31Z</dcterms:created>
  <dcterms:modified xsi:type="dcterms:W3CDTF">2026-02-13T10:51:05Z</dcterms:modified>
</cp:coreProperties>
</file>