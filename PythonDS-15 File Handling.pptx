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5" r:id="rId39"/>
    <p:sldId id="294" r:id="rId40"/>
    <p:sldId id="296" r:id="rId41"/>
    <p:sldId id="29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31"/>
    <p:restoredTop sz="91619"/>
  </p:normalViewPr>
  <p:slideViewPr>
    <p:cSldViewPr snapToGrid="0">
      <p:cViewPr varScale="1">
        <p:scale>
          <a:sx n="81" d="100"/>
          <a:sy n="81" d="100"/>
        </p:scale>
        <p:origin x="12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4/3/26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4/3/26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normAutofit/>
          </a:bodyPr>
          <a:lstStyle/>
          <a:p>
            <a:r>
              <a:rPr lang="en-US"/>
              <a:t>PythonDS-15 File Handling</a:t>
            </a:r>
            <a:endParaRPr lang="en-US" dirty="0"/>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71C4-9CE5-4D60-390A-5552737290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DFD840-1B04-293A-3D4C-5C34A771F5B2}"/>
              </a:ext>
            </a:extLst>
          </p:cNvPr>
          <p:cNvSpPr>
            <a:spLocks noGrp="1"/>
          </p:cNvSpPr>
          <p:nvPr>
            <p:ph idx="1"/>
          </p:nvPr>
        </p:nvSpPr>
        <p:spPr/>
        <p:txBody>
          <a:bodyPr>
            <a:normAutofit fontScale="92500" lnSpcReduction="20000"/>
          </a:bodyPr>
          <a:lstStyle/>
          <a:p>
            <a:r>
              <a:rPr lang="en-US" dirty="0"/>
              <a:t>So far we are storing data in the form of variables, they are saved in volatile memory (RAM). </a:t>
            </a:r>
          </a:p>
          <a:p>
            <a:r>
              <a:rPr lang="en-US" dirty="0"/>
              <a:t>As the part of programming requirement, we have to store our data permanently for future purpose. For this requirement we should go for files.</a:t>
            </a:r>
          </a:p>
          <a:p>
            <a:r>
              <a:rPr lang="en-US" dirty="0"/>
              <a:t> Files are very common permanent storage areas to store our data.</a:t>
            </a:r>
          </a:p>
          <a:p>
            <a:r>
              <a:rPr lang="en-US" b="1" dirty="0"/>
              <a:t>Two Types of Files:</a:t>
            </a:r>
          </a:p>
          <a:p>
            <a:r>
              <a:rPr lang="en-US" dirty="0"/>
              <a:t> Text Files: Usually we can use text files to store character data</a:t>
            </a:r>
          </a:p>
          <a:p>
            <a:r>
              <a:rPr lang="en-US" dirty="0"/>
              <a:t> </a:t>
            </a:r>
            <a:r>
              <a:rPr lang="en-US" dirty="0" err="1"/>
              <a:t>Eg</a:t>
            </a:r>
            <a:r>
              <a:rPr lang="en-US" dirty="0"/>
              <a:t>: </a:t>
            </a:r>
            <a:r>
              <a:rPr lang="en-US" dirty="0" err="1"/>
              <a:t>abc.txt</a:t>
            </a:r>
            <a:endParaRPr lang="en-US" dirty="0"/>
          </a:p>
          <a:p>
            <a:r>
              <a:rPr lang="en-US" dirty="0"/>
              <a:t> Binary Files: Usually we can use binary files to store binary data like images, video files, audio files.</a:t>
            </a:r>
          </a:p>
        </p:txBody>
      </p:sp>
    </p:spTree>
    <p:extLst>
      <p:ext uri="{BB962C8B-B14F-4D97-AF65-F5344CB8AC3E}">
        <p14:creationId xmlns:p14="http://schemas.microsoft.com/office/powerpoint/2010/main" val="3855073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23419-C6C7-059D-AB93-29C50E8355CB}"/>
              </a:ext>
            </a:extLst>
          </p:cNvPr>
          <p:cNvSpPr>
            <a:spLocks noGrp="1"/>
          </p:cNvSpPr>
          <p:nvPr>
            <p:ph type="title"/>
          </p:nvPr>
        </p:nvSpPr>
        <p:spPr/>
        <p:txBody>
          <a:bodyPr/>
          <a:lstStyle/>
          <a:p>
            <a:r>
              <a:rPr lang="en-US" dirty="0"/>
              <a:t>Opening a File</a:t>
            </a:r>
          </a:p>
        </p:txBody>
      </p:sp>
      <p:sp>
        <p:nvSpPr>
          <p:cNvPr id="3" name="Content Placeholder 2">
            <a:extLst>
              <a:ext uri="{FF2B5EF4-FFF2-40B4-BE49-F238E27FC236}">
                <a16:creationId xmlns:a16="http://schemas.microsoft.com/office/drawing/2014/main" id="{5C88D0EF-17D7-D280-A260-AD1A0AE021AC}"/>
              </a:ext>
            </a:extLst>
          </p:cNvPr>
          <p:cNvSpPr>
            <a:spLocks noGrp="1"/>
          </p:cNvSpPr>
          <p:nvPr>
            <p:ph idx="1"/>
          </p:nvPr>
        </p:nvSpPr>
        <p:spPr/>
        <p:txBody>
          <a:bodyPr>
            <a:normAutofit/>
          </a:bodyPr>
          <a:lstStyle/>
          <a:p>
            <a:r>
              <a:rPr lang="en-US" dirty="0"/>
              <a:t>To performing any operation on the file, first we have to open</a:t>
            </a:r>
          </a:p>
          <a:p>
            <a:r>
              <a:rPr lang="en-US" dirty="0"/>
              <a:t>that file using inbuilt function </a:t>
            </a:r>
            <a:r>
              <a:rPr lang="en-US" b="1" dirty="0"/>
              <a:t>open()</a:t>
            </a:r>
          </a:p>
          <a:p>
            <a:r>
              <a:rPr lang="en-US" dirty="0"/>
              <a:t>We have to specify </a:t>
            </a:r>
            <a:r>
              <a:rPr lang="en-US" b="1" dirty="0"/>
              <a:t>mode</a:t>
            </a:r>
            <a:r>
              <a:rPr lang="en-US" dirty="0"/>
              <a:t>, which represents the purpose of opening file.</a:t>
            </a:r>
          </a:p>
          <a:p>
            <a:endParaRPr lang="en-US" dirty="0"/>
          </a:p>
          <a:p>
            <a:r>
              <a:rPr lang="en-US" dirty="0"/>
              <a:t>f = open(filename, mode)</a:t>
            </a:r>
          </a:p>
          <a:p>
            <a:endParaRPr lang="en-US" dirty="0"/>
          </a:p>
          <a:p>
            <a:r>
              <a:rPr lang="en-US" dirty="0"/>
              <a:t> </a:t>
            </a:r>
          </a:p>
        </p:txBody>
      </p:sp>
    </p:spTree>
    <p:extLst>
      <p:ext uri="{BB962C8B-B14F-4D97-AF65-F5344CB8AC3E}">
        <p14:creationId xmlns:p14="http://schemas.microsoft.com/office/powerpoint/2010/main" val="3899874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C228E-D17B-7A07-268A-1475E7D8B3CF}"/>
              </a:ext>
            </a:extLst>
          </p:cNvPr>
          <p:cNvSpPr>
            <a:spLocks noGrp="1"/>
          </p:cNvSpPr>
          <p:nvPr>
            <p:ph type="title"/>
          </p:nvPr>
        </p:nvSpPr>
        <p:spPr/>
        <p:txBody>
          <a:bodyPr/>
          <a:lstStyle/>
          <a:p>
            <a:r>
              <a:rPr lang="en-US" dirty="0"/>
              <a:t>File Modes and Its Purpose</a:t>
            </a:r>
          </a:p>
        </p:txBody>
      </p:sp>
      <p:sp>
        <p:nvSpPr>
          <p:cNvPr id="3" name="Content Placeholder 2">
            <a:extLst>
              <a:ext uri="{FF2B5EF4-FFF2-40B4-BE49-F238E27FC236}">
                <a16:creationId xmlns:a16="http://schemas.microsoft.com/office/drawing/2014/main" id="{2C67EE46-A85F-E2A3-8724-CF76327C0CFF}"/>
              </a:ext>
            </a:extLst>
          </p:cNvPr>
          <p:cNvSpPr>
            <a:spLocks noGrp="1"/>
          </p:cNvSpPr>
          <p:nvPr>
            <p:ph idx="1"/>
          </p:nvPr>
        </p:nvSpPr>
        <p:spPr/>
        <p:txBody>
          <a:bodyPr>
            <a:normAutofit fontScale="92500" lnSpcReduction="10000"/>
          </a:bodyPr>
          <a:lstStyle/>
          <a:p>
            <a:r>
              <a:rPr lang="en-US" dirty="0"/>
              <a:t>r : open an existing file for read operation. The file pointer is positioned at the beginning of the file. If the specified file does not exist then we will get </a:t>
            </a:r>
            <a:r>
              <a:rPr lang="en-US" dirty="0" err="1"/>
              <a:t>FileNotFoundError</a:t>
            </a:r>
            <a:r>
              <a:rPr lang="en-US" dirty="0"/>
              <a:t>. </a:t>
            </a:r>
            <a:r>
              <a:rPr lang="en-US" b="1" dirty="0"/>
              <a:t>This is default mode. </a:t>
            </a:r>
          </a:p>
          <a:p>
            <a:endParaRPr lang="en-US" b="1" dirty="0"/>
          </a:p>
          <a:p>
            <a:r>
              <a:rPr lang="en-US" dirty="0"/>
              <a:t> w :  open an existing file for write operation. If the file already contains some data then it will be overridden. If the specified file is not already available then this mode will create that file.</a:t>
            </a:r>
          </a:p>
          <a:p>
            <a:endParaRPr lang="en-US" dirty="0"/>
          </a:p>
          <a:p>
            <a:r>
              <a:rPr lang="en-US" dirty="0"/>
              <a:t>a: open an existing file for append operation. It won't override existing data. If the specified file is not already available then this mode will create a new file.</a:t>
            </a:r>
          </a:p>
          <a:p>
            <a:endParaRPr lang="en-US" dirty="0"/>
          </a:p>
        </p:txBody>
      </p:sp>
    </p:spTree>
    <p:extLst>
      <p:ext uri="{BB962C8B-B14F-4D97-AF65-F5344CB8AC3E}">
        <p14:creationId xmlns:p14="http://schemas.microsoft.com/office/powerpoint/2010/main" val="1859416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8D737-E36E-D273-3B53-AA09E8E90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4EB54-74E2-D81D-47E6-810E6CECE3EF}"/>
              </a:ext>
            </a:extLst>
          </p:cNvPr>
          <p:cNvSpPr>
            <a:spLocks noGrp="1"/>
          </p:cNvSpPr>
          <p:nvPr>
            <p:ph type="title"/>
          </p:nvPr>
        </p:nvSpPr>
        <p:spPr/>
        <p:txBody>
          <a:bodyPr/>
          <a:lstStyle/>
          <a:p>
            <a:r>
              <a:rPr lang="en-US" dirty="0"/>
              <a:t>Opening a File</a:t>
            </a:r>
          </a:p>
        </p:txBody>
      </p:sp>
      <p:sp>
        <p:nvSpPr>
          <p:cNvPr id="3" name="Content Placeholder 2">
            <a:extLst>
              <a:ext uri="{FF2B5EF4-FFF2-40B4-BE49-F238E27FC236}">
                <a16:creationId xmlns:a16="http://schemas.microsoft.com/office/drawing/2014/main" id="{F19A5671-92CF-65F9-2FE3-07EB8EA88D25}"/>
              </a:ext>
            </a:extLst>
          </p:cNvPr>
          <p:cNvSpPr>
            <a:spLocks noGrp="1"/>
          </p:cNvSpPr>
          <p:nvPr>
            <p:ph idx="1"/>
          </p:nvPr>
        </p:nvSpPr>
        <p:spPr/>
        <p:txBody>
          <a:bodyPr>
            <a:normAutofit fontScale="55000" lnSpcReduction="20000"/>
          </a:bodyPr>
          <a:lstStyle/>
          <a:p>
            <a:r>
              <a:rPr lang="en-US" dirty="0"/>
              <a:t>r+ : To read and write data into the file. The previous data in the file will not be deleted. The file pointer is placed at the beginning of the file. </a:t>
            </a:r>
          </a:p>
          <a:p>
            <a:endParaRPr lang="en-US" dirty="0"/>
          </a:p>
          <a:p>
            <a:r>
              <a:rPr lang="en-US" dirty="0"/>
              <a:t> w+ : To write and read data. It will override existing data.</a:t>
            </a:r>
          </a:p>
          <a:p>
            <a:endParaRPr lang="en-US" dirty="0"/>
          </a:p>
          <a:p>
            <a:r>
              <a:rPr lang="en-US" dirty="0"/>
              <a:t>a+ : To append and read data from the </a:t>
            </a:r>
            <a:r>
              <a:rPr lang="en-US" dirty="0" err="1"/>
              <a:t>file.It</a:t>
            </a:r>
            <a:r>
              <a:rPr lang="en-US" dirty="0"/>
              <a:t> wont override existing data.</a:t>
            </a:r>
          </a:p>
          <a:p>
            <a:endParaRPr lang="en-US" dirty="0"/>
          </a:p>
          <a:p>
            <a:r>
              <a:rPr lang="en-US" dirty="0"/>
              <a:t>x : To open a file in exclusive creation mode for write operation. If the file already exists then we will get </a:t>
            </a:r>
            <a:r>
              <a:rPr lang="en-US" dirty="0" err="1"/>
              <a:t>FileExistsError</a:t>
            </a:r>
            <a:r>
              <a:rPr lang="en-US" dirty="0"/>
              <a:t>.</a:t>
            </a:r>
          </a:p>
          <a:p>
            <a:endParaRPr lang="en-US" dirty="0"/>
          </a:p>
          <a:p>
            <a:r>
              <a:rPr lang="en-US" dirty="0"/>
              <a:t>Note: All the above modes are applicable for text files. If the above modes suffixed with 'b' then these represents for binary files.</a:t>
            </a:r>
          </a:p>
          <a:p>
            <a:r>
              <a:rPr lang="en-US" b="1" dirty="0" err="1"/>
              <a:t>Eg</a:t>
            </a:r>
            <a:r>
              <a:rPr lang="en-US" b="1" dirty="0"/>
              <a:t>: </a:t>
            </a:r>
            <a:r>
              <a:rPr lang="en-US" b="1" dirty="0" err="1"/>
              <a:t>rb,wb,ab,r+b,w+b,a+b,xb</a:t>
            </a:r>
            <a:endParaRPr lang="en-US" b="1" dirty="0"/>
          </a:p>
          <a:p>
            <a:endParaRPr lang="en-US" dirty="0"/>
          </a:p>
          <a:p>
            <a:r>
              <a:rPr lang="en-US" dirty="0"/>
              <a:t> f = open("</a:t>
            </a:r>
            <a:r>
              <a:rPr lang="en-US" dirty="0" err="1"/>
              <a:t>abc.txt","w</a:t>
            </a:r>
            <a:r>
              <a:rPr lang="en-US" dirty="0"/>
              <a:t>")</a:t>
            </a:r>
          </a:p>
          <a:p>
            <a:r>
              <a:rPr lang="en-US" dirty="0"/>
              <a:t>This is opening </a:t>
            </a:r>
            <a:r>
              <a:rPr lang="en-US" dirty="0" err="1"/>
              <a:t>abc.txt</a:t>
            </a:r>
            <a:r>
              <a:rPr lang="en-US" dirty="0"/>
              <a:t> file for writing data.</a:t>
            </a:r>
          </a:p>
        </p:txBody>
      </p:sp>
    </p:spTree>
    <p:extLst>
      <p:ext uri="{BB962C8B-B14F-4D97-AF65-F5344CB8AC3E}">
        <p14:creationId xmlns:p14="http://schemas.microsoft.com/office/powerpoint/2010/main" val="3079913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7EAFF-4894-3AC8-4A9E-DB29EB9B1C03}"/>
              </a:ext>
            </a:extLst>
          </p:cNvPr>
          <p:cNvSpPr>
            <a:spLocks noGrp="1"/>
          </p:cNvSpPr>
          <p:nvPr>
            <p:ph type="title"/>
          </p:nvPr>
        </p:nvSpPr>
        <p:spPr/>
        <p:txBody>
          <a:bodyPr/>
          <a:lstStyle/>
          <a:p>
            <a:r>
              <a:rPr lang="en-US" dirty="0"/>
              <a:t> Closing a File</a:t>
            </a:r>
          </a:p>
        </p:txBody>
      </p:sp>
      <p:sp>
        <p:nvSpPr>
          <p:cNvPr id="3" name="Content Placeholder 2">
            <a:extLst>
              <a:ext uri="{FF2B5EF4-FFF2-40B4-BE49-F238E27FC236}">
                <a16:creationId xmlns:a16="http://schemas.microsoft.com/office/drawing/2014/main" id="{7E7A8774-3EEF-314D-7638-4BAC91E5CB5E}"/>
              </a:ext>
            </a:extLst>
          </p:cNvPr>
          <p:cNvSpPr>
            <a:spLocks noGrp="1"/>
          </p:cNvSpPr>
          <p:nvPr>
            <p:ph idx="1"/>
          </p:nvPr>
        </p:nvSpPr>
        <p:spPr/>
        <p:txBody>
          <a:bodyPr/>
          <a:lstStyle/>
          <a:p>
            <a:r>
              <a:rPr lang="en-US" dirty="0"/>
              <a:t>After completing our operations on the file, it is highly recommended to close the file.</a:t>
            </a:r>
          </a:p>
          <a:p>
            <a:r>
              <a:rPr lang="en-US" dirty="0"/>
              <a:t> For this we have to use close() function.</a:t>
            </a:r>
          </a:p>
          <a:p>
            <a:r>
              <a:rPr lang="en-US" b="1" dirty="0"/>
              <a:t> </a:t>
            </a:r>
            <a:r>
              <a:rPr lang="en-US" b="1" dirty="0" err="1"/>
              <a:t>f.close</a:t>
            </a:r>
            <a:r>
              <a:rPr lang="en-US" b="1" dirty="0"/>
              <a:t>()</a:t>
            </a:r>
          </a:p>
        </p:txBody>
      </p:sp>
    </p:spTree>
    <p:extLst>
      <p:ext uri="{BB962C8B-B14F-4D97-AF65-F5344CB8AC3E}">
        <p14:creationId xmlns:p14="http://schemas.microsoft.com/office/powerpoint/2010/main" val="55428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0DCB2-9FF3-E47E-B398-F1DC8AC6C908}"/>
              </a:ext>
            </a:extLst>
          </p:cNvPr>
          <p:cNvSpPr>
            <a:spLocks noGrp="1"/>
          </p:cNvSpPr>
          <p:nvPr>
            <p:ph type="title"/>
          </p:nvPr>
        </p:nvSpPr>
        <p:spPr/>
        <p:txBody>
          <a:bodyPr/>
          <a:lstStyle/>
          <a:p>
            <a:r>
              <a:rPr lang="en-US" dirty="0"/>
              <a:t>Various Properties of File Object</a:t>
            </a:r>
          </a:p>
        </p:txBody>
      </p:sp>
      <p:sp>
        <p:nvSpPr>
          <p:cNvPr id="3" name="Content Placeholder 2">
            <a:extLst>
              <a:ext uri="{FF2B5EF4-FFF2-40B4-BE49-F238E27FC236}">
                <a16:creationId xmlns:a16="http://schemas.microsoft.com/office/drawing/2014/main" id="{EDE8CD20-6C52-6C46-A3EE-8094B9E6F637}"/>
              </a:ext>
            </a:extLst>
          </p:cNvPr>
          <p:cNvSpPr>
            <a:spLocks noGrp="1"/>
          </p:cNvSpPr>
          <p:nvPr>
            <p:ph idx="1"/>
          </p:nvPr>
        </p:nvSpPr>
        <p:spPr/>
        <p:txBody>
          <a:bodyPr>
            <a:normAutofit/>
          </a:bodyPr>
          <a:lstStyle/>
          <a:p>
            <a:r>
              <a:rPr lang="en-US" dirty="0"/>
              <a:t>Once we opened a file and we get file object, we can access various details related to that file by using its properties.</a:t>
            </a:r>
          </a:p>
          <a:p>
            <a:r>
              <a:rPr lang="en-US" b="1" dirty="0"/>
              <a:t>name</a:t>
            </a:r>
            <a:r>
              <a:rPr lang="en-US" dirty="0"/>
              <a:t>: Name of opened file</a:t>
            </a:r>
          </a:p>
          <a:p>
            <a:r>
              <a:rPr lang="en-US" b="1" dirty="0"/>
              <a:t>mode</a:t>
            </a:r>
            <a:r>
              <a:rPr lang="en-US" dirty="0"/>
              <a:t>: Mode in which the file is opened</a:t>
            </a:r>
          </a:p>
          <a:p>
            <a:r>
              <a:rPr lang="en-US" b="1" dirty="0"/>
              <a:t>closed</a:t>
            </a:r>
            <a:r>
              <a:rPr lang="en-US" dirty="0"/>
              <a:t>: Returns </a:t>
            </a:r>
            <a:r>
              <a:rPr lang="en-US" dirty="0" err="1"/>
              <a:t>boolean</a:t>
            </a:r>
            <a:r>
              <a:rPr lang="en-US" dirty="0"/>
              <a:t> value indicates that file is closed or not</a:t>
            </a:r>
          </a:p>
          <a:p>
            <a:r>
              <a:rPr lang="en-US" b="1" dirty="0"/>
              <a:t>readable()</a:t>
            </a:r>
            <a:r>
              <a:rPr lang="en-US" dirty="0"/>
              <a:t>:  </a:t>
            </a:r>
            <a:r>
              <a:rPr lang="en-US" dirty="0" err="1"/>
              <a:t>Retruns</a:t>
            </a:r>
            <a:r>
              <a:rPr lang="en-US" dirty="0"/>
              <a:t> </a:t>
            </a:r>
            <a:r>
              <a:rPr lang="en-US" dirty="0" err="1"/>
              <a:t>boolean</a:t>
            </a:r>
            <a:r>
              <a:rPr lang="en-US" dirty="0"/>
              <a:t> value indicates that whether file is readable or not</a:t>
            </a:r>
          </a:p>
          <a:p>
            <a:r>
              <a:rPr lang="en-US" b="1" dirty="0"/>
              <a:t>writable()</a:t>
            </a:r>
            <a:r>
              <a:rPr lang="en-US" dirty="0"/>
              <a:t>:  Returns </a:t>
            </a:r>
            <a:r>
              <a:rPr lang="en-US" dirty="0" err="1"/>
              <a:t>boolean</a:t>
            </a:r>
            <a:r>
              <a:rPr lang="en-US" dirty="0"/>
              <a:t> value indicates that whether file is writable or not.</a:t>
            </a:r>
          </a:p>
        </p:txBody>
      </p:sp>
    </p:spTree>
    <p:extLst>
      <p:ext uri="{BB962C8B-B14F-4D97-AF65-F5344CB8AC3E}">
        <p14:creationId xmlns:p14="http://schemas.microsoft.com/office/powerpoint/2010/main" val="1089650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74163-479F-8A30-29F7-B4F6D6F9E9AF}"/>
              </a:ext>
            </a:extLst>
          </p:cNvPr>
          <p:cNvSpPr>
            <a:spLocks noGrp="1"/>
          </p:cNvSpPr>
          <p:nvPr>
            <p:ph type="title"/>
          </p:nvPr>
        </p:nvSpPr>
        <p:spPr/>
        <p:txBody>
          <a:bodyPr/>
          <a:lstStyle/>
          <a:p>
            <a:r>
              <a:rPr lang="en-US" dirty="0"/>
              <a:t>Demo Program</a:t>
            </a:r>
          </a:p>
        </p:txBody>
      </p:sp>
      <p:sp>
        <p:nvSpPr>
          <p:cNvPr id="3" name="Content Placeholder 2">
            <a:extLst>
              <a:ext uri="{FF2B5EF4-FFF2-40B4-BE49-F238E27FC236}">
                <a16:creationId xmlns:a16="http://schemas.microsoft.com/office/drawing/2014/main" id="{5409A9F4-B7E8-613C-419E-A9C4C8AFD0B1}"/>
              </a:ext>
            </a:extLst>
          </p:cNvPr>
          <p:cNvSpPr>
            <a:spLocks noGrp="1"/>
          </p:cNvSpPr>
          <p:nvPr>
            <p:ph idx="1"/>
          </p:nvPr>
        </p:nvSpPr>
        <p:spPr/>
        <p:txBody>
          <a:bodyPr>
            <a:normAutofit fontScale="47500" lnSpcReduction="20000"/>
          </a:bodyPr>
          <a:lstStyle/>
          <a:p>
            <a:r>
              <a:rPr lang="en-US" dirty="0"/>
              <a:t>f=open("</a:t>
            </a:r>
            <a:r>
              <a:rPr lang="en-US" dirty="0" err="1"/>
              <a:t>abc.txt",'w</a:t>
            </a:r>
            <a:r>
              <a:rPr lang="en-US" dirty="0"/>
              <a:t>')</a:t>
            </a:r>
          </a:p>
          <a:p>
            <a:r>
              <a:rPr lang="en-US" dirty="0"/>
              <a:t>print("</a:t>
            </a:r>
            <a:r>
              <a:rPr lang="en-US" dirty="0" err="1"/>
              <a:t>FileName</a:t>
            </a:r>
            <a:r>
              <a:rPr lang="en-US" dirty="0"/>
              <a:t>:",</a:t>
            </a:r>
            <a:r>
              <a:rPr lang="en-US" dirty="0" err="1"/>
              <a:t>f.name</a:t>
            </a:r>
            <a:r>
              <a:rPr lang="en-US" dirty="0"/>
              <a:t>)</a:t>
            </a:r>
          </a:p>
          <a:p>
            <a:r>
              <a:rPr lang="en-US" dirty="0"/>
              <a:t>print("</a:t>
            </a:r>
            <a:r>
              <a:rPr lang="en-US" dirty="0" err="1"/>
              <a:t>FileMode</a:t>
            </a:r>
            <a:r>
              <a:rPr lang="en-US" dirty="0"/>
              <a:t>:",</a:t>
            </a:r>
            <a:r>
              <a:rPr lang="en-US" dirty="0" err="1"/>
              <a:t>f.mode</a:t>
            </a:r>
            <a:r>
              <a:rPr lang="en-US" dirty="0"/>
              <a:t>)</a:t>
            </a:r>
          </a:p>
          <a:p>
            <a:r>
              <a:rPr lang="en-US" dirty="0"/>
              <a:t>print("Is File Readable: ",</a:t>
            </a:r>
            <a:r>
              <a:rPr lang="en-US" dirty="0" err="1"/>
              <a:t>f.readable</a:t>
            </a:r>
            <a:r>
              <a:rPr lang="en-US" dirty="0"/>
              <a:t>())</a:t>
            </a:r>
          </a:p>
          <a:p>
            <a:r>
              <a:rPr lang="en-US" dirty="0"/>
              <a:t>print("Is File Writable: ",</a:t>
            </a:r>
            <a:r>
              <a:rPr lang="en-US" dirty="0" err="1"/>
              <a:t>f.writable</a:t>
            </a:r>
            <a:r>
              <a:rPr lang="en-US" dirty="0"/>
              <a:t>())</a:t>
            </a:r>
          </a:p>
          <a:p>
            <a:r>
              <a:rPr lang="en-US" dirty="0"/>
              <a:t>print("</a:t>
            </a:r>
            <a:r>
              <a:rPr lang="en-US" dirty="0" err="1"/>
              <a:t>IsFileClosed</a:t>
            </a:r>
            <a:r>
              <a:rPr lang="en-US" dirty="0"/>
              <a:t>:",</a:t>
            </a:r>
            <a:r>
              <a:rPr lang="en-US" dirty="0" err="1"/>
              <a:t>f.closed</a:t>
            </a:r>
            <a:r>
              <a:rPr lang="en-US" dirty="0"/>
              <a:t>)</a:t>
            </a:r>
          </a:p>
          <a:p>
            <a:r>
              <a:rPr lang="en-US" dirty="0" err="1"/>
              <a:t>f.close</a:t>
            </a:r>
            <a:r>
              <a:rPr lang="en-US" dirty="0"/>
              <a:t>()</a:t>
            </a:r>
          </a:p>
          <a:p>
            <a:r>
              <a:rPr lang="en-US" dirty="0"/>
              <a:t>print("</a:t>
            </a:r>
            <a:r>
              <a:rPr lang="en-US" dirty="0" err="1"/>
              <a:t>IsFileClosed</a:t>
            </a:r>
            <a:r>
              <a:rPr lang="en-US" dirty="0"/>
              <a:t>:",</a:t>
            </a:r>
            <a:r>
              <a:rPr lang="en-US" dirty="0" err="1"/>
              <a:t>f.closed</a:t>
            </a:r>
            <a:r>
              <a:rPr lang="en-US" dirty="0"/>
              <a:t>)</a:t>
            </a:r>
          </a:p>
          <a:p>
            <a:endParaRPr lang="en-US" dirty="0"/>
          </a:p>
          <a:p>
            <a:r>
              <a:rPr lang="en-US" dirty="0"/>
              <a:t>Output</a:t>
            </a:r>
          </a:p>
          <a:p>
            <a:r>
              <a:rPr lang="en-US" dirty="0" err="1"/>
              <a:t>FileName</a:t>
            </a:r>
            <a:r>
              <a:rPr lang="en-US" dirty="0"/>
              <a:t>: </a:t>
            </a:r>
            <a:r>
              <a:rPr lang="en-US" dirty="0" err="1"/>
              <a:t>abc.txt</a:t>
            </a:r>
            <a:endParaRPr lang="en-US" dirty="0"/>
          </a:p>
          <a:p>
            <a:r>
              <a:rPr lang="en-US" dirty="0" err="1"/>
              <a:t>FileMode</a:t>
            </a:r>
            <a:r>
              <a:rPr lang="en-US" dirty="0"/>
              <a:t>: w</a:t>
            </a:r>
          </a:p>
          <a:p>
            <a:r>
              <a:rPr lang="en-US" dirty="0"/>
              <a:t>Is File Readable:  False</a:t>
            </a:r>
          </a:p>
          <a:p>
            <a:r>
              <a:rPr lang="en-US" dirty="0"/>
              <a:t>Is File Writable:  True</a:t>
            </a:r>
          </a:p>
          <a:p>
            <a:r>
              <a:rPr lang="en-US" dirty="0" err="1"/>
              <a:t>IsFileClosed</a:t>
            </a:r>
            <a:r>
              <a:rPr lang="en-US" dirty="0"/>
              <a:t>: False</a:t>
            </a:r>
          </a:p>
          <a:p>
            <a:r>
              <a:rPr lang="en-US" dirty="0" err="1"/>
              <a:t>IsFileClosed</a:t>
            </a:r>
            <a:r>
              <a:rPr lang="en-US" dirty="0"/>
              <a:t>: True</a:t>
            </a:r>
          </a:p>
        </p:txBody>
      </p:sp>
    </p:spTree>
    <p:extLst>
      <p:ext uri="{BB962C8B-B14F-4D97-AF65-F5344CB8AC3E}">
        <p14:creationId xmlns:p14="http://schemas.microsoft.com/office/powerpoint/2010/main" val="333882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1F268-7F22-A4B7-57D0-6D59CFF6C8F2}"/>
              </a:ext>
            </a:extLst>
          </p:cNvPr>
          <p:cNvSpPr>
            <a:spLocks noGrp="1"/>
          </p:cNvSpPr>
          <p:nvPr>
            <p:ph type="title"/>
          </p:nvPr>
        </p:nvSpPr>
        <p:spPr/>
        <p:txBody>
          <a:bodyPr/>
          <a:lstStyle/>
          <a:p>
            <a:r>
              <a:rPr lang="en-US" dirty="0"/>
              <a:t> Methods to Write Data to Text Files</a:t>
            </a:r>
          </a:p>
        </p:txBody>
      </p:sp>
      <p:sp>
        <p:nvSpPr>
          <p:cNvPr id="3" name="Content Placeholder 2">
            <a:extLst>
              <a:ext uri="{FF2B5EF4-FFF2-40B4-BE49-F238E27FC236}">
                <a16:creationId xmlns:a16="http://schemas.microsoft.com/office/drawing/2014/main" id="{1623FD19-172E-948A-A6C1-8118892D2F1D}"/>
              </a:ext>
            </a:extLst>
          </p:cNvPr>
          <p:cNvSpPr>
            <a:spLocks noGrp="1"/>
          </p:cNvSpPr>
          <p:nvPr>
            <p:ph idx="1"/>
          </p:nvPr>
        </p:nvSpPr>
        <p:spPr/>
        <p:txBody>
          <a:bodyPr>
            <a:normAutofit fontScale="85000" lnSpcReduction="20000"/>
          </a:bodyPr>
          <a:lstStyle/>
          <a:p>
            <a:r>
              <a:rPr lang="en-US" dirty="0"/>
              <a:t>We can write character data to the text files by using the following 2 methods.</a:t>
            </a:r>
          </a:p>
          <a:p>
            <a:r>
              <a:rPr lang="en-US" b="1" dirty="0"/>
              <a:t>write(str)</a:t>
            </a:r>
          </a:p>
          <a:p>
            <a:r>
              <a:rPr lang="en-US" b="1" dirty="0"/>
              <a:t> </a:t>
            </a:r>
            <a:r>
              <a:rPr lang="en-US" b="1" dirty="0" err="1"/>
              <a:t>writelines</a:t>
            </a:r>
            <a:r>
              <a:rPr lang="en-US" b="1" dirty="0"/>
              <a:t>(list of lines)</a:t>
            </a:r>
          </a:p>
          <a:p>
            <a:endParaRPr lang="en-US" dirty="0"/>
          </a:p>
          <a:p>
            <a:r>
              <a:rPr lang="en-US" dirty="0"/>
              <a:t>Example:</a:t>
            </a:r>
          </a:p>
          <a:p>
            <a:r>
              <a:rPr lang="en-US" dirty="0"/>
              <a:t>f=open("</a:t>
            </a:r>
            <a:r>
              <a:rPr lang="en-US" dirty="0" err="1"/>
              <a:t>abcd.txt",'w</a:t>
            </a:r>
            <a:r>
              <a:rPr lang="en-US" dirty="0"/>
              <a:t>')</a:t>
            </a:r>
          </a:p>
          <a:p>
            <a:r>
              <a:rPr lang="en-US" dirty="0" err="1"/>
              <a:t>f.write</a:t>
            </a:r>
            <a:r>
              <a:rPr lang="en-US" dirty="0"/>
              <a:t>("Durga\n")</a:t>
            </a:r>
          </a:p>
          <a:p>
            <a:r>
              <a:rPr lang="en-US" dirty="0" err="1"/>
              <a:t>f.write</a:t>
            </a:r>
            <a:r>
              <a:rPr lang="en-US" dirty="0"/>
              <a:t>("Software\n")</a:t>
            </a:r>
          </a:p>
          <a:p>
            <a:r>
              <a:rPr lang="en-US" dirty="0" err="1"/>
              <a:t>f.write</a:t>
            </a:r>
            <a:r>
              <a:rPr lang="en-US" dirty="0"/>
              <a:t>("Solutions\n")</a:t>
            </a:r>
          </a:p>
          <a:p>
            <a:r>
              <a:rPr lang="en-US" dirty="0"/>
              <a:t>print("Data written to the file successfully")</a:t>
            </a:r>
          </a:p>
          <a:p>
            <a:r>
              <a:rPr lang="en-US" dirty="0" err="1"/>
              <a:t>f.close</a:t>
            </a:r>
            <a:r>
              <a:rPr lang="en-US" dirty="0"/>
              <a:t>()</a:t>
            </a:r>
          </a:p>
        </p:txBody>
      </p:sp>
    </p:spTree>
    <p:extLst>
      <p:ext uri="{BB962C8B-B14F-4D97-AF65-F5344CB8AC3E}">
        <p14:creationId xmlns:p14="http://schemas.microsoft.com/office/powerpoint/2010/main" val="3177071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0DB4E-B5E0-865C-67FC-177FE6CAAE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9E36EA-287C-3A47-C66B-0D363D514CBB}"/>
              </a:ext>
            </a:extLst>
          </p:cNvPr>
          <p:cNvSpPr>
            <a:spLocks noGrp="1"/>
          </p:cNvSpPr>
          <p:nvPr>
            <p:ph idx="1"/>
          </p:nvPr>
        </p:nvSpPr>
        <p:spPr/>
        <p:txBody>
          <a:bodyPr>
            <a:normAutofit fontScale="92500" lnSpcReduction="20000"/>
          </a:bodyPr>
          <a:lstStyle/>
          <a:p>
            <a:r>
              <a:rPr lang="en-US" dirty="0"/>
              <a:t> Note: In the above program, data present in the file will be overridden </a:t>
            </a:r>
            <a:r>
              <a:rPr lang="en-US" dirty="0" err="1"/>
              <a:t>everytime</a:t>
            </a:r>
            <a:r>
              <a:rPr lang="en-US" dirty="0"/>
              <a:t> if we run the program. </a:t>
            </a:r>
          </a:p>
          <a:p>
            <a:r>
              <a:rPr lang="en-US" dirty="0"/>
              <a:t>Instead of overriding if we want to append operation then we should open the file as follows.</a:t>
            </a:r>
          </a:p>
          <a:p>
            <a:r>
              <a:rPr lang="en-US" b="1" dirty="0"/>
              <a:t>f = open("</a:t>
            </a:r>
            <a:r>
              <a:rPr lang="en-US" b="1" dirty="0" err="1"/>
              <a:t>abcd.txt","a</a:t>
            </a:r>
            <a:r>
              <a:rPr lang="en-US" b="1" dirty="0"/>
              <a:t>")</a:t>
            </a:r>
          </a:p>
          <a:p>
            <a:endParaRPr lang="en-US" b="1" dirty="0"/>
          </a:p>
          <a:p>
            <a:r>
              <a:rPr lang="en-US" b="1" dirty="0"/>
              <a:t>f=open("</a:t>
            </a:r>
            <a:r>
              <a:rPr lang="en-US" b="1" dirty="0" err="1"/>
              <a:t>abcd.txt",'w</a:t>
            </a:r>
            <a:r>
              <a:rPr lang="en-US" b="1" dirty="0"/>
              <a:t>')</a:t>
            </a:r>
          </a:p>
          <a:p>
            <a:r>
              <a:rPr lang="en-US" dirty="0"/>
              <a:t>list=["sunny\</a:t>
            </a:r>
            <a:r>
              <a:rPr lang="en-US" dirty="0" err="1"/>
              <a:t>n","bunny</a:t>
            </a:r>
            <a:r>
              <a:rPr lang="en-US" dirty="0"/>
              <a:t>\n","</a:t>
            </a:r>
            <a:r>
              <a:rPr lang="en-US" dirty="0" err="1"/>
              <a:t>vinny</a:t>
            </a:r>
            <a:r>
              <a:rPr lang="en-US" dirty="0"/>
              <a:t>\</a:t>
            </a:r>
            <a:r>
              <a:rPr lang="en-US" dirty="0" err="1"/>
              <a:t>n","chinny</a:t>
            </a:r>
            <a:r>
              <a:rPr lang="en-US" dirty="0"/>
              <a:t>"]</a:t>
            </a:r>
          </a:p>
          <a:p>
            <a:r>
              <a:rPr lang="en-US" dirty="0" err="1"/>
              <a:t>f.writelines</a:t>
            </a:r>
            <a:r>
              <a:rPr lang="en-US" dirty="0"/>
              <a:t>(list)</a:t>
            </a:r>
          </a:p>
          <a:p>
            <a:r>
              <a:rPr lang="en-US" dirty="0"/>
              <a:t>print("List of lines written to the file successfully")</a:t>
            </a:r>
          </a:p>
          <a:p>
            <a:r>
              <a:rPr lang="en-US" dirty="0" err="1"/>
              <a:t>f.close</a:t>
            </a:r>
            <a:r>
              <a:rPr lang="en-US" dirty="0"/>
              <a:t>()</a:t>
            </a:r>
          </a:p>
        </p:txBody>
      </p:sp>
    </p:spTree>
    <p:extLst>
      <p:ext uri="{BB962C8B-B14F-4D97-AF65-F5344CB8AC3E}">
        <p14:creationId xmlns:p14="http://schemas.microsoft.com/office/powerpoint/2010/main" val="1100662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D7E8F-1A65-9F15-A200-ED0E0E0AEC33}"/>
              </a:ext>
            </a:extLst>
          </p:cNvPr>
          <p:cNvSpPr>
            <a:spLocks noGrp="1"/>
          </p:cNvSpPr>
          <p:nvPr>
            <p:ph type="title"/>
          </p:nvPr>
        </p:nvSpPr>
        <p:spPr/>
        <p:txBody>
          <a:bodyPr/>
          <a:lstStyle/>
          <a:p>
            <a:r>
              <a:rPr lang="en-US" dirty="0"/>
              <a:t>Methods to read data from File</a:t>
            </a:r>
          </a:p>
        </p:txBody>
      </p:sp>
      <p:sp>
        <p:nvSpPr>
          <p:cNvPr id="3" name="Content Placeholder 2">
            <a:extLst>
              <a:ext uri="{FF2B5EF4-FFF2-40B4-BE49-F238E27FC236}">
                <a16:creationId xmlns:a16="http://schemas.microsoft.com/office/drawing/2014/main" id="{736E156E-CA25-C824-E356-0FD5233F470D}"/>
              </a:ext>
            </a:extLst>
          </p:cNvPr>
          <p:cNvSpPr>
            <a:spLocks noGrp="1"/>
          </p:cNvSpPr>
          <p:nvPr>
            <p:ph idx="1"/>
          </p:nvPr>
        </p:nvSpPr>
        <p:spPr/>
        <p:txBody>
          <a:bodyPr>
            <a:normAutofit fontScale="92500" lnSpcReduction="20000"/>
          </a:bodyPr>
          <a:lstStyle/>
          <a:p>
            <a:r>
              <a:rPr lang="en-US" dirty="0"/>
              <a:t>We can read character data from text file by using the following read methods. </a:t>
            </a:r>
          </a:p>
          <a:p>
            <a:r>
              <a:rPr lang="en-US" b="1" dirty="0"/>
              <a:t> read()</a:t>
            </a:r>
            <a:r>
              <a:rPr lang="en-US" dirty="0"/>
              <a:t>: To read total data from the file</a:t>
            </a:r>
          </a:p>
          <a:p>
            <a:r>
              <a:rPr lang="en-US" dirty="0"/>
              <a:t> </a:t>
            </a:r>
            <a:r>
              <a:rPr lang="en-US" b="1" dirty="0"/>
              <a:t>read(n)</a:t>
            </a:r>
            <a:r>
              <a:rPr lang="en-US" dirty="0"/>
              <a:t> : To read 'n' characters from the file</a:t>
            </a:r>
          </a:p>
          <a:p>
            <a:r>
              <a:rPr lang="en-US" dirty="0"/>
              <a:t> </a:t>
            </a:r>
            <a:r>
              <a:rPr lang="en-US" b="1" dirty="0" err="1"/>
              <a:t>readline</a:t>
            </a:r>
            <a:r>
              <a:rPr lang="en-US" b="1" dirty="0"/>
              <a:t>()</a:t>
            </a:r>
            <a:r>
              <a:rPr lang="en-US" dirty="0"/>
              <a:t>: To read only one line</a:t>
            </a:r>
          </a:p>
          <a:p>
            <a:r>
              <a:rPr lang="en-US" dirty="0"/>
              <a:t> </a:t>
            </a:r>
            <a:r>
              <a:rPr lang="en-US" b="1" dirty="0" err="1"/>
              <a:t>readlines</a:t>
            </a:r>
            <a:r>
              <a:rPr lang="en-US" b="1" dirty="0"/>
              <a:t>()</a:t>
            </a:r>
            <a:r>
              <a:rPr lang="en-US" dirty="0"/>
              <a:t>: To read all lines into a list</a:t>
            </a:r>
          </a:p>
          <a:p>
            <a:endParaRPr lang="en-US" dirty="0"/>
          </a:p>
          <a:p>
            <a:r>
              <a:rPr lang="en-US" dirty="0"/>
              <a:t>f=open("</a:t>
            </a:r>
            <a:r>
              <a:rPr lang="en-US" dirty="0" err="1"/>
              <a:t>abc.txt",'r</a:t>
            </a:r>
            <a:r>
              <a:rPr lang="en-US" dirty="0"/>
              <a:t>’) </a:t>
            </a:r>
          </a:p>
          <a:p>
            <a:r>
              <a:rPr lang="en-US" dirty="0"/>
              <a:t>data=</a:t>
            </a:r>
            <a:r>
              <a:rPr lang="en-US" dirty="0" err="1"/>
              <a:t>f.read</a:t>
            </a:r>
            <a:r>
              <a:rPr lang="en-US" dirty="0"/>
              <a:t>() #Reads all data</a:t>
            </a:r>
          </a:p>
          <a:p>
            <a:r>
              <a:rPr lang="en-US" dirty="0"/>
              <a:t>print(data)</a:t>
            </a:r>
          </a:p>
          <a:p>
            <a:r>
              <a:rPr lang="en-US" dirty="0" err="1"/>
              <a:t>f.close</a:t>
            </a:r>
            <a:r>
              <a:rPr lang="en-US" dirty="0"/>
              <a:t>()</a:t>
            </a:r>
          </a:p>
        </p:txBody>
      </p:sp>
    </p:spTree>
    <p:extLst>
      <p:ext uri="{BB962C8B-B14F-4D97-AF65-F5344CB8AC3E}">
        <p14:creationId xmlns:p14="http://schemas.microsoft.com/office/powerpoint/2010/main" val="2947245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9535A-109A-23B2-7F0A-AEB0403350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C3C41C-3609-95E2-652F-DDEFC4AFB0DB}"/>
              </a:ext>
            </a:extLst>
          </p:cNvPr>
          <p:cNvSpPr>
            <a:spLocks noGrp="1"/>
          </p:cNvSpPr>
          <p:nvPr>
            <p:ph idx="1"/>
          </p:nvPr>
        </p:nvSpPr>
        <p:spPr/>
        <p:txBody>
          <a:bodyPr/>
          <a:lstStyle/>
          <a:p>
            <a:r>
              <a:rPr lang="en-US" dirty="0"/>
              <a:t>f=open("</a:t>
            </a:r>
            <a:r>
              <a:rPr lang="en-US" dirty="0" err="1"/>
              <a:t>abc.txt",'r</a:t>
            </a:r>
            <a:r>
              <a:rPr lang="en-US" dirty="0"/>
              <a:t>')</a:t>
            </a:r>
          </a:p>
          <a:p>
            <a:r>
              <a:rPr lang="en-US" dirty="0"/>
              <a:t>data=</a:t>
            </a:r>
            <a:r>
              <a:rPr lang="en-US" dirty="0" err="1"/>
              <a:t>f.read</a:t>
            </a:r>
            <a:r>
              <a:rPr lang="en-US" dirty="0"/>
              <a:t>(10) # Reads 10 characters</a:t>
            </a:r>
          </a:p>
          <a:p>
            <a:r>
              <a:rPr lang="en-US" dirty="0"/>
              <a:t>print(data)</a:t>
            </a:r>
          </a:p>
          <a:p>
            <a:r>
              <a:rPr lang="en-US" dirty="0" err="1"/>
              <a:t>f.close</a:t>
            </a:r>
            <a:r>
              <a:rPr lang="en-US" dirty="0"/>
              <a:t>()</a:t>
            </a:r>
          </a:p>
        </p:txBody>
      </p:sp>
    </p:spTree>
    <p:extLst>
      <p:ext uri="{BB962C8B-B14F-4D97-AF65-F5344CB8AC3E}">
        <p14:creationId xmlns:p14="http://schemas.microsoft.com/office/powerpoint/2010/main" val="3584348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F3766-0353-1E85-F674-F96577828707}"/>
              </a:ext>
            </a:extLst>
          </p:cNvPr>
          <p:cNvSpPr>
            <a:spLocks noGrp="1"/>
          </p:cNvSpPr>
          <p:nvPr>
            <p:ph type="title"/>
          </p:nvPr>
        </p:nvSpPr>
        <p:spPr/>
        <p:txBody>
          <a:bodyPr/>
          <a:lstStyle/>
          <a:p>
            <a:r>
              <a:rPr lang="en-US" dirty="0"/>
              <a:t>Reads a line at a time</a:t>
            </a:r>
          </a:p>
        </p:txBody>
      </p:sp>
      <p:sp>
        <p:nvSpPr>
          <p:cNvPr id="3" name="Content Placeholder 2">
            <a:extLst>
              <a:ext uri="{FF2B5EF4-FFF2-40B4-BE49-F238E27FC236}">
                <a16:creationId xmlns:a16="http://schemas.microsoft.com/office/drawing/2014/main" id="{354744B0-CCD4-A66D-826A-B9D2A1A1EC09}"/>
              </a:ext>
            </a:extLst>
          </p:cNvPr>
          <p:cNvSpPr>
            <a:spLocks noGrp="1"/>
          </p:cNvSpPr>
          <p:nvPr>
            <p:ph idx="1"/>
          </p:nvPr>
        </p:nvSpPr>
        <p:spPr/>
        <p:txBody>
          <a:bodyPr/>
          <a:lstStyle/>
          <a:p>
            <a:r>
              <a:rPr lang="en-US" dirty="0"/>
              <a:t>f=open("</a:t>
            </a:r>
            <a:r>
              <a:rPr lang="en-US" dirty="0" err="1"/>
              <a:t>abc.txt",'r</a:t>
            </a:r>
            <a:r>
              <a:rPr lang="en-US" dirty="0"/>
              <a:t>')</a:t>
            </a:r>
          </a:p>
          <a:p>
            <a:r>
              <a:rPr lang="en-US" dirty="0"/>
              <a:t>line1=</a:t>
            </a:r>
            <a:r>
              <a:rPr lang="en-US" dirty="0" err="1"/>
              <a:t>f.readline</a:t>
            </a:r>
            <a:r>
              <a:rPr lang="en-US" dirty="0"/>
              <a:t>()</a:t>
            </a:r>
          </a:p>
          <a:p>
            <a:r>
              <a:rPr lang="en-US" dirty="0"/>
              <a:t>print(line1,end='')</a:t>
            </a:r>
          </a:p>
          <a:p>
            <a:r>
              <a:rPr lang="en-US" dirty="0"/>
              <a:t>line2=</a:t>
            </a:r>
            <a:r>
              <a:rPr lang="en-US" dirty="0" err="1"/>
              <a:t>f.readline</a:t>
            </a:r>
            <a:r>
              <a:rPr lang="en-US" dirty="0"/>
              <a:t>()</a:t>
            </a:r>
          </a:p>
          <a:p>
            <a:r>
              <a:rPr lang="en-US" dirty="0"/>
              <a:t>print(line2,end='')</a:t>
            </a:r>
          </a:p>
          <a:p>
            <a:r>
              <a:rPr lang="en-US" dirty="0"/>
              <a:t>line3=</a:t>
            </a:r>
            <a:r>
              <a:rPr lang="en-US" dirty="0" err="1"/>
              <a:t>f.readline</a:t>
            </a:r>
            <a:r>
              <a:rPr lang="en-US" dirty="0"/>
              <a:t>()</a:t>
            </a:r>
          </a:p>
          <a:p>
            <a:r>
              <a:rPr lang="en-US" dirty="0"/>
              <a:t>print(line3,end='')</a:t>
            </a:r>
          </a:p>
          <a:p>
            <a:r>
              <a:rPr lang="en-US" dirty="0" err="1"/>
              <a:t>f.close</a:t>
            </a:r>
            <a:r>
              <a:rPr lang="en-US" dirty="0"/>
              <a:t>()</a:t>
            </a:r>
          </a:p>
        </p:txBody>
      </p:sp>
    </p:spTree>
    <p:extLst>
      <p:ext uri="{BB962C8B-B14F-4D97-AF65-F5344CB8AC3E}">
        <p14:creationId xmlns:p14="http://schemas.microsoft.com/office/powerpoint/2010/main" val="121347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8D5AB-74C7-AF96-00EA-C08AEBD07069}"/>
              </a:ext>
            </a:extLst>
          </p:cNvPr>
          <p:cNvSpPr>
            <a:spLocks noGrp="1"/>
          </p:cNvSpPr>
          <p:nvPr>
            <p:ph type="title"/>
          </p:nvPr>
        </p:nvSpPr>
        <p:spPr/>
        <p:txBody>
          <a:bodyPr/>
          <a:lstStyle/>
          <a:p>
            <a:r>
              <a:rPr lang="en-US" dirty="0"/>
              <a:t>Reads all data into list of lines</a:t>
            </a:r>
          </a:p>
        </p:txBody>
      </p:sp>
      <p:sp>
        <p:nvSpPr>
          <p:cNvPr id="3" name="Content Placeholder 2">
            <a:extLst>
              <a:ext uri="{FF2B5EF4-FFF2-40B4-BE49-F238E27FC236}">
                <a16:creationId xmlns:a16="http://schemas.microsoft.com/office/drawing/2014/main" id="{301137CF-ACD0-BD5C-FA43-74E59697BB48}"/>
              </a:ext>
            </a:extLst>
          </p:cNvPr>
          <p:cNvSpPr>
            <a:spLocks noGrp="1"/>
          </p:cNvSpPr>
          <p:nvPr>
            <p:ph idx="1"/>
          </p:nvPr>
        </p:nvSpPr>
        <p:spPr/>
        <p:txBody>
          <a:bodyPr/>
          <a:lstStyle/>
          <a:p>
            <a:r>
              <a:rPr lang="en-US" dirty="0"/>
              <a:t>1) f=open("</a:t>
            </a:r>
            <a:r>
              <a:rPr lang="en-US" dirty="0" err="1"/>
              <a:t>abc.txt",'r</a:t>
            </a:r>
            <a:r>
              <a:rPr lang="en-US" dirty="0"/>
              <a:t>')</a:t>
            </a:r>
          </a:p>
          <a:p>
            <a:r>
              <a:rPr lang="en-US" dirty="0"/>
              <a:t>2) lines=</a:t>
            </a:r>
            <a:r>
              <a:rPr lang="en-US" dirty="0" err="1"/>
              <a:t>f.readlines</a:t>
            </a:r>
            <a:r>
              <a:rPr lang="en-US" dirty="0"/>
              <a:t>()</a:t>
            </a:r>
          </a:p>
          <a:p>
            <a:r>
              <a:rPr lang="en-US" dirty="0"/>
              <a:t>3) </a:t>
            </a:r>
            <a:r>
              <a:rPr lang="en-US" dirty="0" err="1"/>
              <a:t>forlineinlines</a:t>
            </a:r>
            <a:r>
              <a:rPr lang="en-US" dirty="0"/>
              <a:t>:</a:t>
            </a:r>
          </a:p>
          <a:p>
            <a:r>
              <a:rPr lang="en-US" dirty="0"/>
              <a:t>4) print(</a:t>
            </a:r>
            <a:r>
              <a:rPr lang="en-US" dirty="0" err="1"/>
              <a:t>line,end</a:t>
            </a:r>
            <a:r>
              <a:rPr lang="en-US" dirty="0"/>
              <a:t>='')</a:t>
            </a:r>
          </a:p>
          <a:p>
            <a:r>
              <a:rPr lang="en-US" dirty="0"/>
              <a:t>5) </a:t>
            </a:r>
            <a:r>
              <a:rPr lang="en-US" dirty="0" err="1"/>
              <a:t>f.close</a:t>
            </a:r>
            <a:r>
              <a:rPr lang="en-US" dirty="0"/>
              <a:t>()</a:t>
            </a:r>
          </a:p>
        </p:txBody>
      </p:sp>
    </p:spTree>
    <p:extLst>
      <p:ext uri="{BB962C8B-B14F-4D97-AF65-F5344CB8AC3E}">
        <p14:creationId xmlns:p14="http://schemas.microsoft.com/office/powerpoint/2010/main" val="410495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0A442-1B64-ED89-49BB-E2C37585F715}"/>
              </a:ext>
            </a:extLst>
          </p:cNvPr>
          <p:cNvSpPr>
            <a:spLocks noGrp="1"/>
          </p:cNvSpPr>
          <p:nvPr>
            <p:ph type="title"/>
          </p:nvPr>
        </p:nvSpPr>
        <p:spPr/>
        <p:txBody>
          <a:bodyPr/>
          <a:lstStyle/>
          <a:p>
            <a:r>
              <a:rPr lang="en-US" dirty="0"/>
              <a:t>Predict Output</a:t>
            </a:r>
          </a:p>
        </p:txBody>
      </p:sp>
      <p:sp>
        <p:nvSpPr>
          <p:cNvPr id="3" name="Content Placeholder 2">
            <a:extLst>
              <a:ext uri="{FF2B5EF4-FFF2-40B4-BE49-F238E27FC236}">
                <a16:creationId xmlns:a16="http://schemas.microsoft.com/office/drawing/2014/main" id="{73E4401B-547C-F2CE-64EC-D94427AB8205}"/>
              </a:ext>
            </a:extLst>
          </p:cNvPr>
          <p:cNvSpPr>
            <a:spLocks noGrp="1"/>
          </p:cNvSpPr>
          <p:nvPr>
            <p:ph idx="1"/>
          </p:nvPr>
        </p:nvSpPr>
        <p:spPr/>
        <p:txBody>
          <a:bodyPr/>
          <a:lstStyle/>
          <a:p>
            <a:r>
              <a:rPr lang="en-US" dirty="0"/>
              <a:t>f=open("</a:t>
            </a:r>
            <a:r>
              <a:rPr lang="en-US" dirty="0" err="1"/>
              <a:t>abc.txt","r</a:t>
            </a:r>
            <a:r>
              <a:rPr lang="en-US" dirty="0"/>
              <a:t>")</a:t>
            </a:r>
          </a:p>
          <a:p>
            <a:r>
              <a:rPr lang="en-US" dirty="0"/>
              <a:t>print(</a:t>
            </a:r>
            <a:r>
              <a:rPr lang="en-US" dirty="0" err="1"/>
              <a:t>f.read</a:t>
            </a:r>
            <a:r>
              <a:rPr lang="en-US" dirty="0"/>
              <a:t>(3))</a:t>
            </a:r>
          </a:p>
          <a:p>
            <a:r>
              <a:rPr lang="en-US" dirty="0"/>
              <a:t>print(</a:t>
            </a:r>
            <a:r>
              <a:rPr lang="en-US" dirty="0" err="1"/>
              <a:t>f.readline</a:t>
            </a:r>
            <a:r>
              <a:rPr lang="en-US" dirty="0"/>
              <a:t>())</a:t>
            </a:r>
          </a:p>
          <a:p>
            <a:r>
              <a:rPr lang="en-US" dirty="0"/>
              <a:t>print(</a:t>
            </a:r>
            <a:r>
              <a:rPr lang="en-US" dirty="0" err="1"/>
              <a:t>f.read</a:t>
            </a:r>
            <a:r>
              <a:rPr lang="en-US" dirty="0"/>
              <a:t>(4))</a:t>
            </a:r>
          </a:p>
          <a:p>
            <a:r>
              <a:rPr lang="en-US" dirty="0"/>
              <a:t>print("</a:t>
            </a:r>
            <a:r>
              <a:rPr lang="en-US" dirty="0" err="1"/>
              <a:t>Remainingdata</a:t>
            </a:r>
            <a:r>
              <a:rPr lang="en-US" dirty="0"/>
              <a:t>")</a:t>
            </a:r>
          </a:p>
          <a:p>
            <a:r>
              <a:rPr lang="en-US" dirty="0"/>
              <a:t>print(</a:t>
            </a:r>
            <a:r>
              <a:rPr lang="en-US" dirty="0" err="1"/>
              <a:t>f.read</a:t>
            </a:r>
            <a:r>
              <a:rPr lang="en-US" dirty="0"/>
              <a:t>())</a:t>
            </a:r>
          </a:p>
        </p:txBody>
      </p:sp>
    </p:spTree>
    <p:extLst>
      <p:ext uri="{BB962C8B-B14F-4D97-AF65-F5344CB8AC3E}">
        <p14:creationId xmlns:p14="http://schemas.microsoft.com/office/powerpoint/2010/main" val="300002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55BE-D263-337C-2EBE-1EB16E1C7CE5}"/>
              </a:ext>
            </a:extLst>
          </p:cNvPr>
          <p:cNvSpPr>
            <a:spLocks noGrp="1"/>
          </p:cNvSpPr>
          <p:nvPr>
            <p:ph type="title"/>
          </p:nvPr>
        </p:nvSpPr>
        <p:spPr/>
        <p:txBody>
          <a:bodyPr/>
          <a:lstStyle/>
          <a:p>
            <a:r>
              <a:rPr lang="en-US" dirty="0"/>
              <a:t>The with Statement</a:t>
            </a:r>
          </a:p>
        </p:txBody>
      </p:sp>
      <p:sp>
        <p:nvSpPr>
          <p:cNvPr id="3" name="Content Placeholder 2">
            <a:extLst>
              <a:ext uri="{FF2B5EF4-FFF2-40B4-BE49-F238E27FC236}">
                <a16:creationId xmlns:a16="http://schemas.microsoft.com/office/drawing/2014/main" id="{9F1A926F-0261-9CFC-905E-4D61ED6D7EF9}"/>
              </a:ext>
            </a:extLst>
          </p:cNvPr>
          <p:cNvSpPr>
            <a:spLocks noGrp="1"/>
          </p:cNvSpPr>
          <p:nvPr>
            <p:ph idx="1"/>
          </p:nvPr>
        </p:nvSpPr>
        <p:spPr/>
        <p:txBody>
          <a:bodyPr>
            <a:normAutofit fontScale="85000" lnSpcReduction="20000"/>
          </a:bodyPr>
          <a:lstStyle/>
          <a:p>
            <a:r>
              <a:rPr lang="en-US" dirty="0"/>
              <a:t>The with statement can be used while opening a file. We can use this to group file operation statements within a block.</a:t>
            </a:r>
          </a:p>
          <a:p>
            <a:r>
              <a:rPr lang="en-US" dirty="0"/>
              <a:t>The advantage of with statement is it will take care closing of file, after completing all operations automatically even in the case of exceptions, and we are not required to close explicitly.</a:t>
            </a:r>
          </a:p>
          <a:p>
            <a:endParaRPr lang="en-US" dirty="0"/>
          </a:p>
          <a:p>
            <a:r>
              <a:rPr lang="en-US" b="1" dirty="0"/>
              <a:t>with open("</a:t>
            </a:r>
            <a:r>
              <a:rPr lang="en-US" b="1" dirty="0" err="1"/>
              <a:t>abc.txt</a:t>
            </a:r>
            <a:r>
              <a:rPr lang="en-US" b="1" dirty="0"/>
              <a:t>", "w") as f:</a:t>
            </a:r>
          </a:p>
          <a:p>
            <a:r>
              <a:rPr lang="en-US" dirty="0"/>
              <a:t>     </a:t>
            </a:r>
            <a:r>
              <a:rPr lang="en-US" dirty="0" err="1"/>
              <a:t>f.write</a:t>
            </a:r>
            <a:r>
              <a:rPr lang="en-US" dirty="0"/>
              <a:t>(”Welcome\n")</a:t>
            </a:r>
          </a:p>
          <a:p>
            <a:r>
              <a:rPr lang="en-US" dirty="0"/>
              <a:t>     </a:t>
            </a:r>
            <a:r>
              <a:rPr lang="en-US" dirty="0" err="1"/>
              <a:t>f.write</a:t>
            </a:r>
            <a:r>
              <a:rPr lang="en-US" dirty="0"/>
              <a:t>(”to\n")</a:t>
            </a:r>
          </a:p>
          <a:p>
            <a:r>
              <a:rPr lang="en-US" dirty="0"/>
              <a:t>     </a:t>
            </a:r>
            <a:r>
              <a:rPr lang="en-US" dirty="0" err="1"/>
              <a:t>f.write</a:t>
            </a:r>
            <a:r>
              <a:rPr lang="en-US" dirty="0"/>
              <a:t>(”Python Programming\n")</a:t>
            </a:r>
          </a:p>
          <a:p>
            <a:r>
              <a:rPr lang="en-US" dirty="0"/>
              <a:t>     print("Is File Closed: ",</a:t>
            </a:r>
            <a:r>
              <a:rPr lang="en-US" dirty="0" err="1"/>
              <a:t>f.closed</a:t>
            </a:r>
            <a:r>
              <a:rPr lang="en-US" dirty="0"/>
              <a:t>)</a:t>
            </a:r>
          </a:p>
          <a:p>
            <a:r>
              <a:rPr lang="en-US" dirty="0"/>
              <a:t>print("</a:t>
            </a:r>
            <a:r>
              <a:rPr lang="en-US" dirty="0" err="1"/>
              <a:t>IsFileClosed</a:t>
            </a:r>
            <a:r>
              <a:rPr lang="en-US" dirty="0"/>
              <a:t>:",</a:t>
            </a:r>
            <a:r>
              <a:rPr lang="en-US" dirty="0" err="1"/>
              <a:t>f.closed</a:t>
            </a:r>
            <a:r>
              <a:rPr lang="en-US" dirty="0"/>
              <a:t>)</a:t>
            </a:r>
          </a:p>
        </p:txBody>
      </p:sp>
    </p:spTree>
    <p:extLst>
      <p:ext uri="{BB962C8B-B14F-4D97-AF65-F5344CB8AC3E}">
        <p14:creationId xmlns:p14="http://schemas.microsoft.com/office/powerpoint/2010/main" val="317327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01D1D-397B-67F6-2C46-B00DF13C2861}"/>
              </a:ext>
            </a:extLst>
          </p:cNvPr>
          <p:cNvSpPr>
            <a:spLocks noGrp="1"/>
          </p:cNvSpPr>
          <p:nvPr>
            <p:ph type="title"/>
          </p:nvPr>
        </p:nvSpPr>
        <p:spPr/>
        <p:txBody>
          <a:bodyPr/>
          <a:lstStyle/>
          <a:p>
            <a:r>
              <a:rPr lang="en-US" dirty="0"/>
              <a:t>The seek() and tell() Methods</a:t>
            </a:r>
          </a:p>
        </p:txBody>
      </p:sp>
      <p:sp>
        <p:nvSpPr>
          <p:cNvPr id="3" name="Content Placeholder 2">
            <a:extLst>
              <a:ext uri="{FF2B5EF4-FFF2-40B4-BE49-F238E27FC236}">
                <a16:creationId xmlns:a16="http://schemas.microsoft.com/office/drawing/2014/main" id="{3D556434-F2C1-58F4-717C-7A4D406A8E33}"/>
              </a:ext>
            </a:extLst>
          </p:cNvPr>
          <p:cNvSpPr>
            <a:spLocks noGrp="1"/>
          </p:cNvSpPr>
          <p:nvPr>
            <p:ph idx="1"/>
          </p:nvPr>
        </p:nvSpPr>
        <p:spPr/>
        <p:txBody>
          <a:bodyPr>
            <a:normAutofit fontScale="92500" lnSpcReduction="10000"/>
          </a:bodyPr>
          <a:lstStyle/>
          <a:p>
            <a:r>
              <a:rPr lang="en-US" dirty="0"/>
              <a:t>tell(): We can use tell() method to return the current position of the cursor(file pointer) from the beginning of the file. </a:t>
            </a:r>
          </a:p>
          <a:p>
            <a:r>
              <a:rPr lang="en-US" dirty="0"/>
              <a:t> The position(index) of first character in files starts from zero just like string index.</a:t>
            </a:r>
          </a:p>
          <a:p>
            <a:r>
              <a:rPr lang="en-US" dirty="0"/>
              <a:t>f=open("</a:t>
            </a:r>
            <a:r>
              <a:rPr lang="en-US" dirty="0" err="1"/>
              <a:t>abc.txt","r</a:t>
            </a:r>
            <a:r>
              <a:rPr lang="en-US" dirty="0"/>
              <a:t>")</a:t>
            </a:r>
          </a:p>
          <a:p>
            <a:r>
              <a:rPr lang="en-US" dirty="0"/>
              <a:t>print(</a:t>
            </a:r>
            <a:r>
              <a:rPr lang="en-US" dirty="0" err="1"/>
              <a:t>f.tell</a:t>
            </a:r>
            <a:r>
              <a:rPr lang="en-US" dirty="0"/>
              <a:t>())</a:t>
            </a:r>
          </a:p>
          <a:p>
            <a:r>
              <a:rPr lang="en-US" dirty="0"/>
              <a:t>print(</a:t>
            </a:r>
            <a:r>
              <a:rPr lang="en-US" dirty="0" err="1"/>
              <a:t>f.read</a:t>
            </a:r>
            <a:r>
              <a:rPr lang="en-US" dirty="0"/>
              <a:t>(2))</a:t>
            </a:r>
          </a:p>
          <a:p>
            <a:r>
              <a:rPr lang="en-US" dirty="0"/>
              <a:t>print(</a:t>
            </a:r>
            <a:r>
              <a:rPr lang="en-US" dirty="0" err="1"/>
              <a:t>f.tell</a:t>
            </a:r>
            <a:r>
              <a:rPr lang="en-US" dirty="0"/>
              <a:t>())</a:t>
            </a:r>
          </a:p>
          <a:p>
            <a:r>
              <a:rPr lang="en-US" dirty="0"/>
              <a:t>print(</a:t>
            </a:r>
            <a:r>
              <a:rPr lang="en-US" dirty="0" err="1"/>
              <a:t>f.read</a:t>
            </a:r>
            <a:r>
              <a:rPr lang="en-US" dirty="0"/>
              <a:t>(3))</a:t>
            </a:r>
          </a:p>
          <a:p>
            <a:r>
              <a:rPr lang="en-US" dirty="0"/>
              <a:t>print(</a:t>
            </a:r>
            <a:r>
              <a:rPr lang="en-US" dirty="0" err="1"/>
              <a:t>f.tell</a:t>
            </a:r>
            <a:r>
              <a:rPr lang="en-US" dirty="0"/>
              <a:t>())</a:t>
            </a:r>
          </a:p>
        </p:txBody>
      </p:sp>
    </p:spTree>
    <p:extLst>
      <p:ext uri="{BB962C8B-B14F-4D97-AF65-F5344CB8AC3E}">
        <p14:creationId xmlns:p14="http://schemas.microsoft.com/office/powerpoint/2010/main" val="3204047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46C02-A648-2489-D12F-7E1831EC6D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01F92E-B277-EF34-F345-F8C9DC0C5C70}"/>
              </a:ext>
            </a:extLst>
          </p:cNvPr>
          <p:cNvSpPr>
            <a:spLocks noGrp="1"/>
          </p:cNvSpPr>
          <p:nvPr>
            <p:ph idx="1"/>
          </p:nvPr>
        </p:nvSpPr>
        <p:spPr/>
        <p:txBody>
          <a:bodyPr/>
          <a:lstStyle/>
          <a:p>
            <a:r>
              <a:rPr lang="en-US" dirty="0"/>
              <a:t>seek(): We can use seek() method to move cursor (file pointer) to specified location.</a:t>
            </a:r>
          </a:p>
          <a:p>
            <a:r>
              <a:rPr lang="en-US" b="1" dirty="0" err="1"/>
              <a:t>f.seek</a:t>
            </a:r>
            <a:r>
              <a:rPr lang="en-US" b="1" dirty="0"/>
              <a:t>(offset, </a:t>
            </a:r>
            <a:r>
              <a:rPr lang="en-US" b="1" dirty="0" err="1"/>
              <a:t>fromwhere</a:t>
            </a:r>
            <a:r>
              <a:rPr lang="en-US" b="1" dirty="0"/>
              <a:t>)</a:t>
            </a:r>
          </a:p>
          <a:p>
            <a:r>
              <a:rPr lang="en-US" dirty="0"/>
              <a:t>offset represents the number of positions</a:t>
            </a:r>
          </a:p>
          <a:p>
            <a:r>
              <a:rPr lang="en-US" dirty="0"/>
              <a:t>0 : From beginning of File (Default Value) (only in python3)</a:t>
            </a:r>
          </a:p>
          <a:p>
            <a:r>
              <a:rPr lang="en-US" dirty="0"/>
              <a:t> 1: From Current Position</a:t>
            </a:r>
          </a:p>
          <a:p>
            <a:r>
              <a:rPr lang="en-US" dirty="0"/>
              <a:t> 2: From end of the File</a:t>
            </a:r>
          </a:p>
          <a:p>
            <a:endParaRPr lang="en-US" dirty="0"/>
          </a:p>
          <a:p>
            <a:r>
              <a:rPr lang="en-IN" sz="1800" dirty="0">
                <a:effectLst/>
                <a:latin typeface="Calibri,Bold"/>
              </a:rPr>
              <a:t>Note: Python 2 supports all 3 values but Python 3 supports only zero. </a:t>
            </a:r>
            <a:endParaRPr lang="en-IN" dirty="0"/>
          </a:p>
        </p:txBody>
      </p:sp>
    </p:spTree>
    <p:extLst>
      <p:ext uri="{BB962C8B-B14F-4D97-AF65-F5344CB8AC3E}">
        <p14:creationId xmlns:p14="http://schemas.microsoft.com/office/powerpoint/2010/main" val="4025283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C6429-FEB7-5C27-4DE2-840309264B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A66556-6516-0D10-7307-9AE3EFAE7C30}"/>
              </a:ext>
            </a:extLst>
          </p:cNvPr>
          <p:cNvSpPr>
            <a:spLocks noGrp="1"/>
          </p:cNvSpPr>
          <p:nvPr>
            <p:ph idx="1"/>
          </p:nvPr>
        </p:nvSpPr>
        <p:spPr/>
        <p:txBody>
          <a:bodyPr>
            <a:normAutofit fontScale="55000" lnSpcReduction="20000"/>
          </a:bodyPr>
          <a:lstStyle/>
          <a:p>
            <a:r>
              <a:rPr lang="en-US" dirty="0"/>
              <a:t>data="All Students are STUPIDS”</a:t>
            </a:r>
          </a:p>
          <a:p>
            <a:r>
              <a:rPr lang="en-US" dirty="0"/>
              <a:t>f=open("</a:t>
            </a:r>
            <a:r>
              <a:rPr lang="en-US" dirty="0" err="1"/>
              <a:t>abc.txt","w</a:t>
            </a:r>
            <a:r>
              <a:rPr lang="en-US" dirty="0"/>
              <a:t>")</a:t>
            </a:r>
          </a:p>
          <a:p>
            <a:r>
              <a:rPr lang="en-US" dirty="0" err="1"/>
              <a:t>f.write</a:t>
            </a:r>
            <a:r>
              <a:rPr lang="en-US" dirty="0"/>
              <a:t>(data)</a:t>
            </a:r>
          </a:p>
          <a:p>
            <a:r>
              <a:rPr lang="en-US" dirty="0"/>
              <a:t>      with open("</a:t>
            </a:r>
            <a:r>
              <a:rPr lang="en-US" dirty="0" err="1"/>
              <a:t>abc.txt","r</a:t>
            </a:r>
            <a:r>
              <a:rPr lang="en-US" dirty="0"/>
              <a:t>+") as f:</a:t>
            </a:r>
          </a:p>
          <a:p>
            <a:r>
              <a:rPr lang="en-US" dirty="0"/>
              <a:t>      text=</a:t>
            </a:r>
            <a:r>
              <a:rPr lang="en-US" dirty="0" err="1"/>
              <a:t>f.read</a:t>
            </a:r>
            <a:r>
              <a:rPr lang="en-US" dirty="0"/>
              <a:t>()</a:t>
            </a:r>
          </a:p>
          <a:p>
            <a:r>
              <a:rPr lang="en-US" dirty="0"/>
              <a:t>      print(text)</a:t>
            </a:r>
          </a:p>
          <a:p>
            <a:r>
              <a:rPr lang="en-US" dirty="0"/>
              <a:t>      print("The Current Cursor Position: ",</a:t>
            </a:r>
            <a:r>
              <a:rPr lang="en-US" dirty="0" err="1"/>
              <a:t>f.tell</a:t>
            </a:r>
            <a:r>
              <a:rPr lang="en-US" dirty="0"/>
              <a:t>())</a:t>
            </a:r>
          </a:p>
          <a:p>
            <a:r>
              <a:rPr lang="en-US" dirty="0"/>
              <a:t>      </a:t>
            </a:r>
            <a:r>
              <a:rPr lang="en-US" dirty="0" err="1"/>
              <a:t>f.seek</a:t>
            </a:r>
            <a:r>
              <a:rPr lang="en-US" dirty="0"/>
              <a:t>(17)</a:t>
            </a:r>
          </a:p>
          <a:p>
            <a:r>
              <a:rPr lang="en-US" dirty="0"/>
              <a:t>      print("The Current Cursor Position: ",</a:t>
            </a:r>
            <a:r>
              <a:rPr lang="en-US" dirty="0" err="1"/>
              <a:t>f.tell</a:t>
            </a:r>
            <a:r>
              <a:rPr lang="en-US" dirty="0"/>
              <a:t>())</a:t>
            </a:r>
          </a:p>
          <a:p>
            <a:r>
              <a:rPr lang="en-US" dirty="0"/>
              <a:t>      </a:t>
            </a:r>
            <a:r>
              <a:rPr lang="en-US" dirty="0" err="1"/>
              <a:t>f.write</a:t>
            </a:r>
            <a:r>
              <a:rPr lang="en-US" dirty="0"/>
              <a:t>("GEMS!!!")</a:t>
            </a:r>
          </a:p>
          <a:p>
            <a:r>
              <a:rPr lang="en-US" dirty="0"/>
              <a:t>      </a:t>
            </a:r>
            <a:r>
              <a:rPr lang="en-US" dirty="0" err="1"/>
              <a:t>f.seek</a:t>
            </a:r>
            <a:r>
              <a:rPr lang="en-US" dirty="0"/>
              <a:t>(0)</a:t>
            </a:r>
          </a:p>
          <a:p>
            <a:r>
              <a:rPr lang="en-US" dirty="0"/>
              <a:t>      text=</a:t>
            </a:r>
            <a:r>
              <a:rPr lang="en-US" dirty="0" err="1"/>
              <a:t>f.read</a:t>
            </a:r>
            <a:r>
              <a:rPr lang="en-US" dirty="0"/>
              <a:t>()</a:t>
            </a:r>
          </a:p>
          <a:p>
            <a:r>
              <a:rPr lang="en-US" dirty="0"/>
              <a:t>      print("Data After Modification:")</a:t>
            </a:r>
          </a:p>
          <a:p>
            <a:r>
              <a:rPr lang="en-US" dirty="0"/>
              <a:t>      print(text)</a:t>
            </a:r>
          </a:p>
        </p:txBody>
      </p:sp>
    </p:spTree>
    <p:extLst>
      <p:ext uri="{BB962C8B-B14F-4D97-AF65-F5344CB8AC3E}">
        <p14:creationId xmlns:p14="http://schemas.microsoft.com/office/powerpoint/2010/main" val="196257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195D8-2A77-D7F9-CD37-78AD724BC78F}"/>
              </a:ext>
            </a:extLst>
          </p:cNvPr>
          <p:cNvSpPr>
            <a:spLocks noGrp="1"/>
          </p:cNvSpPr>
          <p:nvPr>
            <p:ph type="title"/>
          </p:nvPr>
        </p:nvSpPr>
        <p:spPr/>
        <p:txBody>
          <a:bodyPr/>
          <a:lstStyle/>
          <a:p>
            <a:r>
              <a:rPr lang="en-US" dirty="0"/>
              <a:t>Check a particular File exists OR not?</a:t>
            </a:r>
          </a:p>
        </p:txBody>
      </p:sp>
      <p:sp>
        <p:nvSpPr>
          <p:cNvPr id="3" name="Content Placeholder 2">
            <a:extLst>
              <a:ext uri="{FF2B5EF4-FFF2-40B4-BE49-F238E27FC236}">
                <a16:creationId xmlns:a16="http://schemas.microsoft.com/office/drawing/2014/main" id="{C81E6AA2-297F-D75E-8CB9-062E6234331C}"/>
              </a:ext>
            </a:extLst>
          </p:cNvPr>
          <p:cNvSpPr>
            <a:spLocks noGrp="1"/>
          </p:cNvSpPr>
          <p:nvPr>
            <p:ph idx="1"/>
          </p:nvPr>
        </p:nvSpPr>
        <p:spPr/>
        <p:txBody>
          <a:bodyPr/>
          <a:lstStyle/>
          <a:p>
            <a:r>
              <a:rPr lang="en-US" dirty="0"/>
              <a:t>We can use </a:t>
            </a:r>
            <a:r>
              <a:rPr lang="en-US" b="1" dirty="0" err="1"/>
              <a:t>os</a:t>
            </a:r>
            <a:r>
              <a:rPr lang="en-US" dirty="0"/>
              <a:t> library to get information about files in our computer.</a:t>
            </a:r>
          </a:p>
          <a:p>
            <a:r>
              <a:rPr lang="en-US" b="1" dirty="0" err="1"/>
              <a:t>os</a:t>
            </a:r>
            <a:r>
              <a:rPr lang="en-US" dirty="0"/>
              <a:t> module has </a:t>
            </a:r>
            <a:r>
              <a:rPr lang="en-US" b="1" dirty="0"/>
              <a:t>path</a:t>
            </a:r>
            <a:r>
              <a:rPr lang="en-US" dirty="0"/>
              <a:t> sub module, which contains </a:t>
            </a:r>
            <a:r>
              <a:rPr lang="en-US" b="1" dirty="0" err="1"/>
              <a:t>isFile</a:t>
            </a:r>
            <a:r>
              <a:rPr lang="en-US" b="1" dirty="0"/>
              <a:t>()</a:t>
            </a:r>
            <a:r>
              <a:rPr lang="en-US" dirty="0"/>
              <a:t> function to check whether a particular file exists or not?</a:t>
            </a:r>
          </a:p>
          <a:p>
            <a:r>
              <a:rPr lang="en-US" b="1" dirty="0" err="1"/>
              <a:t>os.path.isfile</a:t>
            </a:r>
            <a:r>
              <a:rPr lang="en-US" b="1" dirty="0"/>
              <a:t>(</a:t>
            </a:r>
            <a:r>
              <a:rPr lang="en-US" b="1" dirty="0" err="1"/>
              <a:t>fname</a:t>
            </a:r>
            <a:r>
              <a:rPr lang="en-US" b="1" dirty="0"/>
              <a:t>)</a:t>
            </a:r>
          </a:p>
        </p:txBody>
      </p:sp>
    </p:spTree>
    <p:extLst>
      <p:ext uri="{BB962C8B-B14F-4D97-AF65-F5344CB8AC3E}">
        <p14:creationId xmlns:p14="http://schemas.microsoft.com/office/powerpoint/2010/main" val="1815385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77CF2-1ACF-6E7A-FCE7-198D250630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EAA199-679B-CD13-B012-BE3AB7327211}"/>
              </a:ext>
            </a:extLst>
          </p:cNvPr>
          <p:cNvSpPr>
            <a:spLocks noGrp="1"/>
          </p:cNvSpPr>
          <p:nvPr>
            <p:ph idx="1"/>
          </p:nvPr>
        </p:nvSpPr>
        <p:spPr/>
        <p:txBody>
          <a:bodyPr>
            <a:normAutofit fontScale="55000" lnSpcReduction="20000"/>
          </a:bodyPr>
          <a:lstStyle/>
          <a:p>
            <a:r>
              <a:rPr lang="en-US" dirty="0"/>
              <a:t>Import </a:t>
            </a:r>
            <a:r>
              <a:rPr lang="en-US" dirty="0" err="1"/>
              <a:t>os</a:t>
            </a:r>
            <a:r>
              <a:rPr lang="en-US" dirty="0"/>
              <a:t>, sys</a:t>
            </a:r>
          </a:p>
          <a:p>
            <a:r>
              <a:rPr lang="en-US" dirty="0" err="1"/>
              <a:t>fname</a:t>
            </a:r>
            <a:r>
              <a:rPr lang="en-US" dirty="0"/>
              <a:t>=input("Enter File Name:")</a:t>
            </a:r>
          </a:p>
          <a:p>
            <a:r>
              <a:rPr lang="en-US" dirty="0"/>
              <a:t>If </a:t>
            </a:r>
            <a:r>
              <a:rPr lang="en-US" dirty="0" err="1"/>
              <a:t>os.path.isfile</a:t>
            </a:r>
            <a:r>
              <a:rPr lang="en-US" dirty="0"/>
              <a:t>(</a:t>
            </a:r>
            <a:r>
              <a:rPr lang="en-US" dirty="0" err="1"/>
              <a:t>fname</a:t>
            </a:r>
            <a:r>
              <a:rPr lang="en-US" dirty="0"/>
              <a:t>):</a:t>
            </a:r>
          </a:p>
          <a:p>
            <a:r>
              <a:rPr lang="en-US" dirty="0"/>
              <a:t>      print("File exists:",</a:t>
            </a:r>
            <a:r>
              <a:rPr lang="en-US" dirty="0" err="1"/>
              <a:t>fname</a:t>
            </a:r>
            <a:r>
              <a:rPr lang="en-US" dirty="0"/>
              <a:t>)</a:t>
            </a:r>
          </a:p>
          <a:p>
            <a:r>
              <a:rPr lang="en-US" dirty="0"/>
              <a:t>      f=open(</a:t>
            </a:r>
            <a:r>
              <a:rPr lang="en-US" dirty="0" err="1"/>
              <a:t>fname</a:t>
            </a:r>
            <a:r>
              <a:rPr lang="en-US" dirty="0"/>
              <a:t>,"r")</a:t>
            </a:r>
          </a:p>
          <a:p>
            <a:r>
              <a:rPr lang="en-US" dirty="0"/>
              <a:t>else:</a:t>
            </a:r>
          </a:p>
          <a:p>
            <a:r>
              <a:rPr lang="en-US" dirty="0"/>
              <a:t>      print("File does not exist:",</a:t>
            </a:r>
            <a:r>
              <a:rPr lang="en-US" dirty="0" err="1"/>
              <a:t>fname</a:t>
            </a:r>
            <a:r>
              <a:rPr lang="en-US" dirty="0"/>
              <a:t>)</a:t>
            </a:r>
          </a:p>
          <a:p>
            <a:r>
              <a:rPr lang="en-US" dirty="0"/>
              <a:t>      </a:t>
            </a:r>
            <a:r>
              <a:rPr lang="en-US" dirty="0" err="1"/>
              <a:t>sys.exit</a:t>
            </a:r>
            <a:r>
              <a:rPr lang="en-US" dirty="0"/>
              <a:t>(0)</a:t>
            </a:r>
          </a:p>
          <a:p>
            <a:r>
              <a:rPr lang="en-US" dirty="0"/>
              <a:t>print("The content of file is:")</a:t>
            </a:r>
          </a:p>
          <a:p>
            <a:r>
              <a:rPr lang="en-US" dirty="0"/>
              <a:t>data=</a:t>
            </a:r>
            <a:r>
              <a:rPr lang="en-US" dirty="0" err="1"/>
              <a:t>f.read</a:t>
            </a:r>
            <a:r>
              <a:rPr lang="en-US" dirty="0"/>
              <a:t>()</a:t>
            </a:r>
          </a:p>
          <a:p>
            <a:r>
              <a:rPr lang="en-US" dirty="0"/>
              <a:t>print(data)</a:t>
            </a:r>
          </a:p>
          <a:p>
            <a:endParaRPr lang="en-US" dirty="0"/>
          </a:p>
          <a:p>
            <a:r>
              <a:rPr lang="en-US" dirty="0"/>
              <a:t> Note:</a:t>
            </a:r>
          </a:p>
          <a:p>
            <a:r>
              <a:rPr lang="en-US" dirty="0"/>
              <a:t>  </a:t>
            </a:r>
            <a:r>
              <a:rPr lang="en-US" dirty="0" err="1"/>
              <a:t>sys.exit</a:t>
            </a:r>
            <a:r>
              <a:rPr lang="en-US" dirty="0"/>
              <a:t>(0): To exit system without executing rest of the program.</a:t>
            </a:r>
          </a:p>
          <a:p>
            <a:r>
              <a:rPr lang="en-US" dirty="0"/>
              <a:t> argument represents status code. 0 means normal termination and it is the default value.</a:t>
            </a:r>
          </a:p>
        </p:txBody>
      </p:sp>
    </p:spTree>
    <p:extLst>
      <p:ext uri="{BB962C8B-B14F-4D97-AF65-F5344CB8AC3E}">
        <p14:creationId xmlns:p14="http://schemas.microsoft.com/office/powerpoint/2010/main" val="2619340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4345-AD57-0AF8-076D-162AE9A9BEF0}"/>
              </a:ext>
            </a:extLst>
          </p:cNvPr>
          <p:cNvSpPr>
            <a:spLocks noGrp="1"/>
          </p:cNvSpPr>
          <p:nvPr>
            <p:ph type="title"/>
          </p:nvPr>
        </p:nvSpPr>
        <p:spPr/>
        <p:txBody>
          <a:bodyPr/>
          <a:lstStyle/>
          <a:p>
            <a:r>
              <a:rPr lang="en-US" dirty="0"/>
              <a:t>Handling Binary Data</a:t>
            </a:r>
          </a:p>
        </p:txBody>
      </p:sp>
      <p:sp>
        <p:nvSpPr>
          <p:cNvPr id="3" name="Content Placeholder 2">
            <a:extLst>
              <a:ext uri="{FF2B5EF4-FFF2-40B4-BE49-F238E27FC236}">
                <a16:creationId xmlns:a16="http://schemas.microsoft.com/office/drawing/2014/main" id="{81C0BADE-0A0D-53EF-8A39-7EB1F042E04C}"/>
              </a:ext>
            </a:extLst>
          </p:cNvPr>
          <p:cNvSpPr>
            <a:spLocks noGrp="1"/>
          </p:cNvSpPr>
          <p:nvPr>
            <p:ph idx="1"/>
          </p:nvPr>
        </p:nvSpPr>
        <p:spPr/>
        <p:txBody>
          <a:bodyPr>
            <a:normAutofit/>
          </a:bodyPr>
          <a:lstStyle/>
          <a:p>
            <a:r>
              <a:rPr lang="en-US" dirty="0"/>
              <a:t>It is a very common requirement to read or write binary data like images, video files, audio files, etc.</a:t>
            </a:r>
          </a:p>
          <a:p>
            <a:r>
              <a:rPr lang="en-US" dirty="0"/>
              <a:t>Program to read an image file and write to a New Image File?</a:t>
            </a:r>
          </a:p>
          <a:p>
            <a:r>
              <a:rPr lang="en-US" dirty="0"/>
              <a:t>f1=open("</a:t>
            </a:r>
            <a:r>
              <a:rPr lang="en-US" dirty="0" err="1"/>
              <a:t>rossum.jpg</a:t>
            </a:r>
            <a:r>
              <a:rPr lang="en-US" dirty="0"/>
              <a:t>", "</a:t>
            </a:r>
            <a:r>
              <a:rPr lang="en-US" dirty="0" err="1"/>
              <a:t>rb</a:t>
            </a:r>
            <a:r>
              <a:rPr lang="en-US" dirty="0"/>
              <a:t>")</a:t>
            </a:r>
          </a:p>
          <a:p>
            <a:r>
              <a:rPr lang="en-US" dirty="0"/>
              <a:t>f2=open("</a:t>
            </a:r>
            <a:r>
              <a:rPr lang="en-US" dirty="0" err="1"/>
              <a:t>newpic.jpg</a:t>
            </a:r>
            <a:r>
              <a:rPr lang="en-US" dirty="0"/>
              <a:t>", "</a:t>
            </a:r>
            <a:r>
              <a:rPr lang="en-US" dirty="0" err="1"/>
              <a:t>wb</a:t>
            </a:r>
            <a:r>
              <a:rPr lang="en-US" dirty="0"/>
              <a:t>")</a:t>
            </a:r>
          </a:p>
          <a:p>
            <a:r>
              <a:rPr lang="en-US" dirty="0"/>
              <a:t>bytes=f1.read()</a:t>
            </a:r>
          </a:p>
          <a:p>
            <a:r>
              <a:rPr lang="en-US" dirty="0"/>
              <a:t>f2.write(bytes)</a:t>
            </a:r>
          </a:p>
          <a:p>
            <a:r>
              <a:rPr lang="en-US" dirty="0"/>
              <a:t>print("New Image is available with the name: </a:t>
            </a:r>
            <a:r>
              <a:rPr lang="en-US" dirty="0" err="1"/>
              <a:t>newpic.jpg</a:t>
            </a:r>
            <a:r>
              <a:rPr lang="en-US" dirty="0"/>
              <a:t>")</a:t>
            </a:r>
          </a:p>
        </p:txBody>
      </p:sp>
    </p:spTree>
    <p:extLst>
      <p:ext uri="{BB962C8B-B14F-4D97-AF65-F5344CB8AC3E}">
        <p14:creationId xmlns:p14="http://schemas.microsoft.com/office/powerpoint/2010/main" val="520758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CB471-D0CC-935D-2C8E-E71D3C5488D3}"/>
              </a:ext>
            </a:extLst>
          </p:cNvPr>
          <p:cNvSpPr>
            <a:spLocks noGrp="1"/>
          </p:cNvSpPr>
          <p:nvPr>
            <p:ph type="title"/>
          </p:nvPr>
        </p:nvSpPr>
        <p:spPr/>
        <p:txBody>
          <a:bodyPr/>
          <a:lstStyle/>
          <a:p>
            <a:r>
              <a:rPr lang="en-US" dirty="0"/>
              <a:t>Handling CSV Files</a:t>
            </a:r>
          </a:p>
        </p:txBody>
      </p:sp>
      <p:sp>
        <p:nvSpPr>
          <p:cNvPr id="3" name="Content Placeholder 2">
            <a:extLst>
              <a:ext uri="{FF2B5EF4-FFF2-40B4-BE49-F238E27FC236}">
                <a16:creationId xmlns:a16="http://schemas.microsoft.com/office/drawing/2014/main" id="{D9057DCB-DBE0-652E-A014-EDD4142880EB}"/>
              </a:ext>
            </a:extLst>
          </p:cNvPr>
          <p:cNvSpPr>
            <a:spLocks noGrp="1"/>
          </p:cNvSpPr>
          <p:nvPr>
            <p:ph idx="1"/>
          </p:nvPr>
        </p:nvSpPr>
        <p:spPr/>
        <p:txBody>
          <a:bodyPr>
            <a:normAutofit fontScale="70000" lnSpcReduction="20000"/>
          </a:bodyPr>
          <a:lstStyle/>
          <a:p>
            <a:r>
              <a:rPr lang="en-US" dirty="0"/>
              <a:t> CSV: Comma-separated values as part of programming; it is a very common requirement to write and read data with CSV files.</a:t>
            </a:r>
          </a:p>
          <a:p>
            <a:r>
              <a:rPr lang="en-US" dirty="0"/>
              <a:t>Python provides the </a:t>
            </a:r>
            <a:r>
              <a:rPr lang="en-US" b="1" dirty="0"/>
              <a:t>csv module</a:t>
            </a:r>
            <a:r>
              <a:rPr lang="en-US" dirty="0"/>
              <a:t> to handle csv files.</a:t>
            </a:r>
          </a:p>
          <a:p>
            <a:endParaRPr lang="en-US" dirty="0"/>
          </a:p>
          <a:p>
            <a:r>
              <a:rPr lang="en-US" dirty="0"/>
              <a:t>Note: Observe the difference with newline attribute and without</a:t>
            </a:r>
          </a:p>
          <a:p>
            <a:r>
              <a:rPr lang="en-US" dirty="0"/>
              <a:t>  with open("</a:t>
            </a:r>
            <a:r>
              <a:rPr lang="en-US" dirty="0" err="1"/>
              <a:t>emp.csv","w",newline</a:t>
            </a:r>
            <a:r>
              <a:rPr lang="en-US" dirty="0"/>
              <a:t>='') as f:</a:t>
            </a:r>
          </a:p>
          <a:p>
            <a:r>
              <a:rPr lang="en-US" dirty="0"/>
              <a:t> with open("</a:t>
            </a:r>
            <a:r>
              <a:rPr lang="en-US" dirty="0" err="1"/>
              <a:t>emp.csv","w</a:t>
            </a:r>
            <a:r>
              <a:rPr lang="en-US" dirty="0"/>
              <a:t>") as f:</a:t>
            </a:r>
          </a:p>
          <a:p>
            <a:endParaRPr lang="en-US" dirty="0"/>
          </a:p>
          <a:p>
            <a:r>
              <a:rPr lang="en-US" dirty="0"/>
              <a:t>Note: If we are not using newline attribute then in the csv file blank lines will be included</a:t>
            </a:r>
          </a:p>
          <a:p>
            <a:r>
              <a:rPr lang="en-US" dirty="0"/>
              <a:t> </a:t>
            </a:r>
          </a:p>
          <a:p>
            <a:r>
              <a:rPr lang="en-US" dirty="0"/>
              <a:t>between data. To prevent these blank lines, newline attribute is required in Python-3,but</a:t>
            </a:r>
          </a:p>
          <a:p>
            <a:r>
              <a:rPr lang="en-US" dirty="0"/>
              <a:t>in Python-2 just we can specify mode as '</a:t>
            </a:r>
            <a:r>
              <a:rPr lang="en-US" dirty="0" err="1"/>
              <a:t>wb</a:t>
            </a:r>
            <a:r>
              <a:rPr lang="en-US" dirty="0"/>
              <a:t>' and we are not required to use newline</a:t>
            </a:r>
          </a:p>
          <a:p>
            <a:r>
              <a:rPr lang="en-US"/>
              <a:t>attribute.</a:t>
            </a:r>
            <a:endParaRPr lang="en-US" dirty="0"/>
          </a:p>
        </p:txBody>
      </p:sp>
    </p:spTree>
    <p:extLst>
      <p:ext uri="{BB962C8B-B14F-4D97-AF65-F5344CB8AC3E}">
        <p14:creationId xmlns:p14="http://schemas.microsoft.com/office/powerpoint/2010/main" val="3793115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653D-CD5B-2AEA-77BD-0F13025CA8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0D2B96-6378-F4BD-BA0B-86345A3EB9BE}"/>
              </a:ext>
            </a:extLst>
          </p:cNvPr>
          <p:cNvSpPr>
            <a:spLocks noGrp="1"/>
          </p:cNvSpPr>
          <p:nvPr>
            <p:ph idx="1"/>
          </p:nvPr>
        </p:nvSpPr>
        <p:spPr/>
        <p:txBody>
          <a:bodyPr>
            <a:normAutofit fontScale="77500" lnSpcReduction="20000"/>
          </a:bodyPr>
          <a:lstStyle/>
          <a:p>
            <a:r>
              <a:rPr lang="en-US" dirty="0"/>
              <a:t>Import csv</a:t>
            </a:r>
          </a:p>
          <a:p>
            <a:r>
              <a:rPr lang="en-US" dirty="0"/>
              <a:t>with open("</a:t>
            </a:r>
            <a:r>
              <a:rPr lang="en-US" dirty="0" err="1"/>
              <a:t>emp.csv","w",newline</a:t>
            </a:r>
            <a:r>
              <a:rPr lang="en-US" dirty="0"/>
              <a:t>='') as f:</a:t>
            </a:r>
          </a:p>
          <a:p>
            <a:r>
              <a:rPr lang="en-US" dirty="0"/>
              <a:t>    w=</a:t>
            </a:r>
            <a:r>
              <a:rPr lang="en-US" dirty="0" err="1"/>
              <a:t>csv.writer</a:t>
            </a:r>
            <a:r>
              <a:rPr lang="en-US" dirty="0"/>
              <a:t>(f) #returns csv writer object</a:t>
            </a:r>
          </a:p>
          <a:p>
            <a:r>
              <a:rPr lang="en-US" dirty="0"/>
              <a:t>    </a:t>
            </a:r>
            <a:r>
              <a:rPr lang="en-US" dirty="0" err="1"/>
              <a:t>w.writerow</a:t>
            </a:r>
            <a:r>
              <a:rPr lang="en-US" dirty="0"/>
              <a:t>(["ENO","ENAME","ESAL","EADDR"])</a:t>
            </a:r>
          </a:p>
          <a:p>
            <a:r>
              <a:rPr lang="en-US" dirty="0"/>
              <a:t>    n=int(input("Enter Number of Employees:"))</a:t>
            </a:r>
          </a:p>
          <a:p>
            <a:r>
              <a:rPr lang="en-US" dirty="0"/>
              <a:t>    for </a:t>
            </a:r>
            <a:r>
              <a:rPr lang="en-US" dirty="0" err="1"/>
              <a:t>i</a:t>
            </a:r>
            <a:r>
              <a:rPr lang="en-US" dirty="0"/>
              <a:t> in range(n):</a:t>
            </a:r>
          </a:p>
          <a:p>
            <a:r>
              <a:rPr lang="en-US" dirty="0"/>
              <a:t>        </a:t>
            </a:r>
            <a:r>
              <a:rPr lang="en-US" dirty="0" err="1"/>
              <a:t>eno</a:t>
            </a:r>
            <a:r>
              <a:rPr lang="en-US" dirty="0"/>
              <a:t>=input("Enter Employee No:")</a:t>
            </a:r>
          </a:p>
          <a:p>
            <a:r>
              <a:rPr lang="en-US" dirty="0"/>
              <a:t>        </a:t>
            </a:r>
            <a:r>
              <a:rPr lang="en-US" dirty="0" err="1"/>
              <a:t>ename</a:t>
            </a:r>
            <a:r>
              <a:rPr lang="en-US" dirty="0"/>
              <a:t>=input("Enter Employee Name:")</a:t>
            </a:r>
          </a:p>
          <a:p>
            <a:r>
              <a:rPr lang="en-US" dirty="0"/>
              <a:t>        </a:t>
            </a:r>
            <a:r>
              <a:rPr lang="en-US" dirty="0" err="1"/>
              <a:t>esal</a:t>
            </a:r>
            <a:r>
              <a:rPr lang="en-US" dirty="0"/>
              <a:t>=input("Enter Employee Salary:")</a:t>
            </a:r>
          </a:p>
          <a:p>
            <a:r>
              <a:rPr lang="en-US" dirty="0"/>
              <a:t>        </a:t>
            </a:r>
            <a:r>
              <a:rPr lang="en-US" dirty="0" err="1"/>
              <a:t>eaddr</a:t>
            </a:r>
            <a:r>
              <a:rPr lang="en-US" dirty="0"/>
              <a:t>=input("Enter Employee Address:")</a:t>
            </a:r>
          </a:p>
          <a:p>
            <a:r>
              <a:rPr lang="en-US" dirty="0"/>
              <a:t>        </a:t>
            </a:r>
            <a:r>
              <a:rPr lang="en-US" dirty="0" err="1"/>
              <a:t>w.writerow</a:t>
            </a:r>
            <a:r>
              <a:rPr lang="en-US" dirty="0"/>
              <a:t>([</a:t>
            </a:r>
            <a:r>
              <a:rPr lang="en-US" dirty="0" err="1"/>
              <a:t>eno,ename,esal,eaddr</a:t>
            </a:r>
            <a:r>
              <a:rPr lang="en-US" dirty="0"/>
              <a:t>])</a:t>
            </a:r>
          </a:p>
          <a:p>
            <a:r>
              <a:rPr lang="en-US" dirty="0"/>
              <a:t>print("Total Employees data written to csv file successfully")</a:t>
            </a:r>
          </a:p>
          <a:p>
            <a:endParaRPr lang="en-US" dirty="0"/>
          </a:p>
        </p:txBody>
      </p:sp>
    </p:spTree>
    <p:extLst>
      <p:ext uri="{BB962C8B-B14F-4D97-AF65-F5344CB8AC3E}">
        <p14:creationId xmlns:p14="http://schemas.microsoft.com/office/powerpoint/2010/main" val="2207477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B3A74-8746-83F1-7BF2-C58D4D98D399}"/>
              </a:ext>
            </a:extLst>
          </p:cNvPr>
          <p:cNvSpPr>
            <a:spLocks noGrp="1"/>
          </p:cNvSpPr>
          <p:nvPr>
            <p:ph type="title"/>
          </p:nvPr>
        </p:nvSpPr>
        <p:spPr/>
        <p:txBody>
          <a:bodyPr/>
          <a:lstStyle/>
          <a:p>
            <a:r>
              <a:rPr lang="en-US" dirty="0"/>
              <a:t>Reading data from CSV file</a:t>
            </a:r>
          </a:p>
        </p:txBody>
      </p:sp>
      <p:sp>
        <p:nvSpPr>
          <p:cNvPr id="3" name="Content Placeholder 2">
            <a:extLst>
              <a:ext uri="{FF2B5EF4-FFF2-40B4-BE49-F238E27FC236}">
                <a16:creationId xmlns:a16="http://schemas.microsoft.com/office/drawing/2014/main" id="{3AA94281-7916-5C7F-7845-2F39EC69BB91}"/>
              </a:ext>
            </a:extLst>
          </p:cNvPr>
          <p:cNvSpPr>
            <a:spLocks noGrp="1"/>
          </p:cNvSpPr>
          <p:nvPr>
            <p:ph idx="1"/>
          </p:nvPr>
        </p:nvSpPr>
        <p:spPr/>
        <p:txBody>
          <a:bodyPr>
            <a:normAutofit lnSpcReduction="10000"/>
          </a:bodyPr>
          <a:lstStyle/>
          <a:p>
            <a:r>
              <a:rPr lang="en-US" dirty="0"/>
              <a:t>import csv</a:t>
            </a:r>
          </a:p>
          <a:p>
            <a:r>
              <a:rPr lang="en-US" dirty="0"/>
              <a:t>f=open("</a:t>
            </a:r>
            <a:r>
              <a:rPr lang="en-US" dirty="0" err="1"/>
              <a:t>emp.csv</a:t>
            </a:r>
            <a:r>
              <a:rPr lang="en-US" dirty="0"/>
              <a:t>", 'r')</a:t>
            </a:r>
          </a:p>
          <a:p>
            <a:r>
              <a:rPr lang="en-US" dirty="0"/>
              <a:t>r=</a:t>
            </a:r>
            <a:r>
              <a:rPr lang="en-US" dirty="0" err="1"/>
              <a:t>csv.reader</a:t>
            </a:r>
            <a:r>
              <a:rPr lang="en-US" dirty="0"/>
              <a:t>(f) #returns csv reader object</a:t>
            </a:r>
          </a:p>
          <a:p>
            <a:r>
              <a:rPr lang="en-US" dirty="0"/>
              <a:t>data=list(r)</a:t>
            </a:r>
          </a:p>
          <a:p>
            <a:r>
              <a:rPr lang="en-US" dirty="0"/>
              <a:t>#print(data)</a:t>
            </a:r>
          </a:p>
          <a:p>
            <a:r>
              <a:rPr lang="en-US" dirty="0"/>
              <a:t>for line in data:</a:t>
            </a:r>
          </a:p>
          <a:p>
            <a:r>
              <a:rPr lang="en-US" dirty="0"/>
              <a:t>    for word in line:</a:t>
            </a:r>
          </a:p>
          <a:p>
            <a:r>
              <a:rPr lang="en-US" dirty="0"/>
              <a:t>        print(word,"\</a:t>
            </a:r>
            <a:r>
              <a:rPr lang="en-US" dirty="0" err="1"/>
              <a:t>t",end</a:t>
            </a:r>
            <a:r>
              <a:rPr lang="en-US" dirty="0"/>
              <a:t>='')</a:t>
            </a:r>
          </a:p>
          <a:p>
            <a:r>
              <a:rPr lang="en-US" dirty="0"/>
              <a:t>    print()</a:t>
            </a:r>
          </a:p>
        </p:txBody>
      </p:sp>
    </p:spTree>
    <p:extLst>
      <p:ext uri="{BB962C8B-B14F-4D97-AF65-F5344CB8AC3E}">
        <p14:creationId xmlns:p14="http://schemas.microsoft.com/office/powerpoint/2010/main" val="2047433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E10CF-ED6D-46EC-333A-C42F0903D914}"/>
              </a:ext>
            </a:extLst>
          </p:cNvPr>
          <p:cNvSpPr>
            <a:spLocks noGrp="1"/>
          </p:cNvSpPr>
          <p:nvPr>
            <p:ph type="title"/>
          </p:nvPr>
        </p:nvSpPr>
        <p:spPr/>
        <p:txBody>
          <a:bodyPr/>
          <a:lstStyle/>
          <a:p>
            <a:r>
              <a:rPr lang="en-US" dirty="0"/>
              <a:t> Zipping and Unzipping Files</a:t>
            </a:r>
          </a:p>
        </p:txBody>
      </p:sp>
      <p:sp>
        <p:nvSpPr>
          <p:cNvPr id="3" name="Content Placeholder 2">
            <a:extLst>
              <a:ext uri="{FF2B5EF4-FFF2-40B4-BE49-F238E27FC236}">
                <a16:creationId xmlns:a16="http://schemas.microsoft.com/office/drawing/2014/main" id="{335449E5-7E94-5BC5-3205-CC419BD68446}"/>
              </a:ext>
            </a:extLst>
          </p:cNvPr>
          <p:cNvSpPr>
            <a:spLocks noGrp="1"/>
          </p:cNvSpPr>
          <p:nvPr>
            <p:ph idx="1"/>
          </p:nvPr>
        </p:nvSpPr>
        <p:spPr/>
        <p:txBody>
          <a:bodyPr>
            <a:normAutofit/>
          </a:bodyPr>
          <a:lstStyle/>
          <a:p>
            <a:r>
              <a:rPr lang="en-US" dirty="0"/>
              <a:t>It is very common requirement to zip and unzip files.</a:t>
            </a:r>
          </a:p>
          <a:p>
            <a:r>
              <a:rPr lang="en-US" dirty="0"/>
              <a:t> The main advantages are:</a:t>
            </a:r>
          </a:p>
          <a:p>
            <a:pPr lvl="1"/>
            <a:r>
              <a:rPr lang="en-US" dirty="0"/>
              <a:t>To improve memory </a:t>
            </a:r>
            <a:r>
              <a:rPr lang="en-US" dirty="0" err="1"/>
              <a:t>utilisation</a:t>
            </a:r>
            <a:endParaRPr lang="en-US" dirty="0"/>
          </a:p>
          <a:p>
            <a:pPr lvl="1"/>
            <a:r>
              <a:rPr lang="en-US" dirty="0"/>
              <a:t> We can reduce transport time</a:t>
            </a:r>
          </a:p>
          <a:p>
            <a:pPr lvl="1"/>
            <a:r>
              <a:rPr lang="en-US" dirty="0"/>
              <a:t> We can improve performance.</a:t>
            </a:r>
          </a:p>
          <a:p>
            <a:r>
              <a:rPr lang="en-US" dirty="0"/>
              <a:t> To perform zip and unzip operations, Python contains one in-</a:t>
            </a:r>
            <a:r>
              <a:rPr lang="en-US" dirty="0" err="1"/>
              <a:t>bulit</a:t>
            </a:r>
            <a:r>
              <a:rPr lang="en-US" dirty="0"/>
              <a:t> module </a:t>
            </a:r>
            <a:r>
              <a:rPr lang="en-US" b="1" dirty="0" err="1"/>
              <a:t>zipfile</a:t>
            </a:r>
            <a:r>
              <a:rPr lang="en-US" dirty="0"/>
              <a:t>.</a:t>
            </a:r>
          </a:p>
          <a:p>
            <a:r>
              <a:rPr lang="en-US" dirty="0"/>
              <a:t> This module contains a class: </a:t>
            </a:r>
            <a:r>
              <a:rPr lang="en-US" b="1" dirty="0" err="1"/>
              <a:t>ZipFile</a:t>
            </a:r>
            <a:endParaRPr lang="en-US" b="1" dirty="0"/>
          </a:p>
        </p:txBody>
      </p:sp>
    </p:spTree>
    <p:extLst>
      <p:ext uri="{BB962C8B-B14F-4D97-AF65-F5344CB8AC3E}">
        <p14:creationId xmlns:p14="http://schemas.microsoft.com/office/powerpoint/2010/main" val="384618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88DCF-0F04-69BE-DD89-ED5DC8C31B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76B6F4-1591-B89D-9D53-10863E3E631A}"/>
              </a:ext>
            </a:extLst>
          </p:cNvPr>
          <p:cNvSpPr>
            <a:spLocks noGrp="1"/>
          </p:cNvSpPr>
          <p:nvPr>
            <p:ph idx="1"/>
          </p:nvPr>
        </p:nvSpPr>
        <p:spPr/>
        <p:txBody>
          <a:bodyPr/>
          <a:lstStyle/>
          <a:p>
            <a:r>
              <a:rPr lang="en-US" dirty="0"/>
              <a:t>from </a:t>
            </a:r>
            <a:r>
              <a:rPr lang="en-US" dirty="0" err="1"/>
              <a:t>zipfile</a:t>
            </a:r>
            <a:r>
              <a:rPr lang="en-US" dirty="0"/>
              <a:t> import *</a:t>
            </a:r>
          </a:p>
          <a:p>
            <a:r>
              <a:rPr lang="en-US" dirty="0"/>
              <a:t>f=</a:t>
            </a:r>
            <a:r>
              <a:rPr lang="en-US" dirty="0" err="1"/>
              <a:t>ZipFile</a:t>
            </a:r>
            <a:r>
              <a:rPr lang="en-US" dirty="0"/>
              <a:t>("</a:t>
            </a:r>
            <a:r>
              <a:rPr lang="en-US" dirty="0" err="1"/>
              <a:t>files.zip",'w',ZIP_DEFLATED</a:t>
            </a:r>
            <a:r>
              <a:rPr lang="en-US" dirty="0"/>
              <a:t>)</a:t>
            </a:r>
          </a:p>
          <a:p>
            <a:r>
              <a:rPr lang="en-US" dirty="0" err="1"/>
              <a:t>f.write</a:t>
            </a:r>
            <a:r>
              <a:rPr lang="en-US" dirty="0"/>
              <a:t>("file1.txt")</a:t>
            </a:r>
          </a:p>
          <a:p>
            <a:r>
              <a:rPr lang="en-US" dirty="0" err="1"/>
              <a:t>f.write</a:t>
            </a:r>
            <a:r>
              <a:rPr lang="en-US" dirty="0"/>
              <a:t>("file2.txt")</a:t>
            </a:r>
          </a:p>
          <a:p>
            <a:r>
              <a:rPr lang="en-US" dirty="0" err="1"/>
              <a:t>f.write</a:t>
            </a:r>
            <a:r>
              <a:rPr lang="en-US" dirty="0"/>
              <a:t>("file3.txt")</a:t>
            </a:r>
          </a:p>
          <a:p>
            <a:r>
              <a:rPr lang="en-US" dirty="0" err="1"/>
              <a:t>f.close</a:t>
            </a:r>
            <a:r>
              <a:rPr lang="en-US" dirty="0"/>
              <a:t>()</a:t>
            </a:r>
          </a:p>
          <a:p>
            <a:r>
              <a:rPr lang="en-US" dirty="0"/>
              <a:t>print("</a:t>
            </a:r>
            <a:r>
              <a:rPr lang="en-US" dirty="0" err="1"/>
              <a:t>files.zipfilecreatedsuccessfully</a:t>
            </a:r>
            <a:r>
              <a:rPr lang="en-US" dirty="0"/>
              <a:t>")</a:t>
            </a:r>
          </a:p>
        </p:txBody>
      </p:sp>
    </p:spTree>
    <p:extLst>
      <p:ext uri="{BB962C8B-B14F-4D97-AF65-F5344CB8AC3E}">
        <p14:creationId xmlns:p14="http://schemas.microsoft.com/office/powerpoint/2010/main" val="2066317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BC05-A27B-4221-B5D7-B8FBB8F9316E}"/>
              </a:ext>
            </a:extLst>
          </p:cNvPr>
          <p:cNvSpPr>
            <a:spLocks noGrp="1"/>
          </p:cNvSpPr>
          <p:nvPr>
            <p:ph type="title"/>
          </p:nvPr>
        </p:nvSpPr>
        <p:spPr/>
        <p:txBody>
          <a:bodyPr/>
          <a:lstStyle/>
          <a:p>
            <a:r>
              <a:rPr lang="en-US" dirty="0"/>
              <a:t>unzip Operation</a:t>
            </a:r>
          </a:p>
        </p:txBody>
      </p:sp>
      <p:sp>
        <p:nvSpPr>
          <p:cNvPr id="3" name="Content Placeholder 2">
            <a:extLst>
              <a:ext uri="{FF2B5EF4-FFF2-40B4-BE49-F238E27FC236}">
                <a16:creationId xmlns:a16="http://schemas.microsoft.com/office/drawing/2014/main" id="{8D4F5426-82D4-5774-980B-DF17E68D8CED}"/>
              </a:ext>
            </a:extLst>
          </p:cNvPr>
          <p:cNvSpPr>
            <a:spLocks noGrp="1"/>
          </p:cNvSpPr>
          <p:nvPr>
            <p:ph idx="1"/>
          </p:nvPr>
        </p:nvSpPr>
        <p:spPr/>
        <p:txBody>
          <a:bodyPr/>
          <a:lstStyle/>
          <a:p>
            <a:r>
              <a:rPr lang="en-US" dirty="0"/>
              <a:t>We have to create </a:t>
            </a:r>
            <a:r>
              <a:rPr lang="en-US" dirty="0" err="1"/>
              <a:t>ZipFile</a:t>
            </a:r>
            <a:r>
              <a:rPr lang="en-US" dirty="0"/>
              <a:t> object as follows</a:t>
            </a:r>
          </a:p>
          <a:p>
            <a:r>
              <a:rPr lang="en-US" dirty="0"/>
              <a:t>f = </a:t>
            </a:r>
            <a:r>
              <a:rPr lang="en-US" dirty="0" err="1"/>
              <a:t>ZipFile</a:t>
            </a:r>
            <a:r>
              <a:rPr lang="en-US" dirty="0"/>
              <a:t>("</a:t>
            </a:r>
            <a:r>
              <a:rPr lang="en-US" dirty="0" err="1"/>
              <a:t>files.zip","r</a:t>
            </a:r>
            <a:r>
              <a:rPr lang="en-US" dirty="0"/>
              <a:t>", ZIP_STORED)</a:t>
            </a:r>
          </a:p>
          <a:p>
            <a:r>
              <a:rPr lang="en-US" dirty="0"/>
              <a:t>ZIP_STORED represents unzip operation. </a:t>
            </a:r>
          </a:p>
          <a:p>
            <a:r>
              <a:rPr lang="en-US" dirty="0"/>
              <a:t>This is default value and hence we are not required to specify.</a:t>
            </a:r>
          </a:p>
          <a:p>
            <a:r>
              <a:rPr lang="en-US" dirty="0"/>
              <a:t>Once we created </a:t>
            </a:r>
            <a:r>
              <a:rPr lang="en-US" dirty="0" err="1"/>
              <a:t>ZipFile</a:t>
            </a:r>
            <a:r>
              <a:rPr lang="en-US" dirty="0"/>
              <a:t> object for unzip operation, we can get all file names present in that zip file by using </a:t>
            </a:r>
            <a:r>
              <a:rPr lang="en-US" dirty="0" err="1"/>
              <a:t>namelist</a:t>
            </a:r>
            <a:r>
              <a:rPr lang="en-US" dirty="0"/>
              <a:t>() method.</a:t>
            </a:r>
          </a:p>
          <a:p>
            <a:r>
              <a:rPr lang="en-US" b="1" dirty="0"/>
              <a:t>names = </a:t>
            </a:r>
            <a:r>
              <a:rPr lang="en-US" b="1" dirty="0" err="1"/>
              <a:t>f.namelist</a:t>
            </a:r>
            <a:r>
              <a:rPr lang="en-US" b="1" dirty="0"/>
              <a:t>()</a:t>
            </a:r>
          </a:p>
        </p:txBody>
      </p:sp>
    </p:spTree>
    <p:extLst>
      <p:ext uri="{BB962C8B-B14F-4D97-AF65-F5344CB8AC3E}">
        <p14:creationId xmlns:p14="http://schemas.microsoft.com/office/powerpoint/2010/main" val="2192212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3AC3C-01DE-0FDA-49A8-9180352B75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11906F-568E-17EA-66CE-BFC04724E603}"/>
              </a:ext>
            </a:extLst>
          </p:cNvPr>
          <p:cNvSpPr>
            <a:spLocks noGrp="1"/>
          </p:cNvSpPr>
          <p:nvPr>
            <p:ph idx="1"/>
          </p:nvPr>
        </p:nvSpPr>
        <p:spPr/>
        <p:txBody>
          <a:bodyPr>
            <a:normAutofit lnSpcReduction="10000"/>
          </a:bodyPr>
          <a:lstStyle/>
          <a:p>
            <a:r>
              <a:rPr lang="en-US" dirty="0"/>
              <a:t>from </a:t>
            </a:r>
            <a:r>
              <a:rPr lang="en-US" dirty="0" err="1"/>
              <a:t>zipfile</a:t>
            </a:r>
            <a:r>
              <a:rPr lang="en-US" dirty="0"/>
              <a:t> import *</a:t>
            </a:r>
          </a:p>
          <a:p>
            <a:r>
              <a:rPr lang="en-US" dirty="0"/>
              <a:t>f=</a:t>
            </a:r>
            <a:r>
              <a:rPr lang="en-US" dirty="0" err="1"/>
              <a:t>ZipFile</a:t>
            </a:r>
            <a:r>
              <a:rPr lang="en-US" dirty="0"/>
              <a:t>("</a:t>
            </a:r>
            <a:r>
              <a:rPr lang="en-US" dirty="0" err="1"/>
              <a:t>files.zip",'r</a:t>
            </a:r>
            <a:r>
              <a:rPr lang="en-US" dirty="0"/>
              <a:t>’, ZIP_STORED)</a:t>
            </a:r>
          </a:p>
          <a:p>
            <a:r>
              <a:rPr lang="en-US" dirty="0"/>
              <a:t>names=</a:t>
            </a:r>
            <a:r>
              <a:rPr lang="en-US" dirty="0" err="1"/>
              <a:t>f.namelist</a:t>
            </a:r>
            <a:r>
              <a:rPr lang="en-US" dirty="0"/>
              <a:t>()</a:t>
            </a:r>
          </a:p>
          <a:p>
            <a:r>
              <a:rPr lang="en-US" dirty="0"/>
              <a:t>for name in names:</a:t>
            </a:r>
          </a:p>
          <a:p>
            <a:r>
              <a:rPr lang="en-US" dirty="0"/>
              <a:t>print( "</a:t>
            </a:r>
            <a:r>
              <a:rPr lang="en-US" dirty="0" err="1"/>
              <a:t>FileName</a:t>
            </a:r>
            <a:r>
              <a:rPr lang="en-US" dirty="0"/>
              <a:t>:",name)</a:t>
            </a:r>
          </a:p>
          <a:p>
            <a:r>
              <a:rPr lang="en-US" dirty="0"/>
              <a:t>print("The Content of this file is:")</a:t>
            </a:r>
          </a:p>
          <a:p>
            <a:r>
              <a:rPr lang="en-US" dirty="0"/>
              <a:t>f1=open(</a:t>
            </a:r>
            <a:r>
              <a:rPr lang="en-US" dirty="0" err="1"/>
              <a:t>name,'r</a:t>
            </a:r>
            <a:r>
              <a:rPr lang="en-US" dirty="0"/>
              <a:t>')</a:t>
            </a:r>
          </a:p>
          <a:p>
            <a:r>
              <a:rPr lang="en-US" dirty="0"/>
              <a:t>print(f1.read())</a:t>
            </a:r>
          </a:p>
          <a:p>
            <a:r>
              <a:rPr lang="en-US" dirty="0"/>
              <a:t>print()</a:t>
            </a:r>
          </a:p>
        </p:txBody>
      </p:sp>
    </p:spTree>
    <p:extLst>
      <p:ext uri="{BB962C8B-B14F-4D97-AF65-F5344CB8AC3E}">
        <p14:creationId xmlns:p14="http://schemas.microsoft.com/office/powerpoint/2010/main" val="1008913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020BA-60A9-3F11-D936-CE67C4296407}"/>
              </a:ext>
            </a:extLst>
          </p:cNvPr>
          <p:cNvSpPr>
            <a:spLocks noGrp="1"/>
          </p:cNvSpPr>
          <p:nvPr>
            <p:ph type="title"/>
          </p:nvPr>
        </p:nvSpPr>
        <p:spPr/>
        <p:txBody>
          <a:bodyPr/>
          <a:lstStyle/>
          <a:p>
            <a:r>
              <a:rPr lang="en-US" dirty="0"/>
              <a:t>Working with Directories:</a:t>
            </a:r>
          </a:p>
        </p:txBody>
      </p:sp>
      <p:sp>
        <p:nvSpPr>
          <p:cNvPr id="3" name="Content Placeholder 2">
            <a:extLst>
              <a:ext uri="{FF2B5EF4-FFF2-40B4-BE49-F238E27FC236}">
                <a16:creationId xmlns:a16="http://schemas.microsoft.com/office/drawing/2014/main" id="{FBC63AA7-A2D1-70C2-4CF7-900A4D40D6F9}"/>
              </a:ext>
            </a:extLst>
          </p:cNvPr>
          <p:cNvSpPr>
            <a:spLocks noGrp="1"/>
          </p:cNvSpPr>
          <p:nvPr>
            <p:ph idx="1"/>
          </p:nvPr>
        </p:nvSpPr>
        <p:spPr/>
        <p:txBody>
          <a:bodyPr>
            <a:normAutofit/>
          </a:bodyPr>
          <a:lstStyle/>
          <a:p>
            <a:r>
              <a:rPr lang="en-US" dirty="0"/>
              <a:t>It is very common requirement to perform operations for directories like</a:t>
            </a:r>
          </a:p>
          <a:p>
            <a:pPr lvl="1"/>
            <a:r>
              <a:rPr lang="en-US" dirty="0"/>
              <a:t>To know the current working directory</a:t>
            </a:r>
          </a:p>
          <a:p>
            <a:pPr lvl="1"/>
            <a:r>
              <a:rPr lang="en-US" dirty="0"/>
              <a:t>To create a new directory</a:t>
            </a:r>
          </a:p>
          <a:p>
            <a:pPr lvl="1"/>
            <a:r>
              <a:rPr lang="en-US" dirty="0"/>
              <a:t>To remove an existing directory</a:t>
            </a:r>
          </a:p>
          <a:p>
            <a:pPr lvl="1"/>
            <a:r>
              <a:rPr lang="en-US" dirty="0"/>
              <a:t>To rename a directory</a:t>
            </a:r>
          </a:p>
          <a:p>
            <a:pPr lvl="1"/>
            <a:r>
              <a:rPr lang="en-US" dirty="0"/>
              <a:t>To list contents of the directory</a:t>
            </a:r>
          </a:p>
          <a:p>
            <a:pPr lvl="1"/>
            <a:r>
              <a:rPr lang="en-US" dirty="0"/>
              <a:t>etc...</a:t>
            </a:r>
          </a:p>
          <a:p>
            <a:r>
              <a:rPr lang="en-US" dirty="0"/>
              <a:t>Python provides built-in module </a:t>
            </a:r>
            <a:r>
              <a:rPr lang="en-US" dirty="0" err="1"/>
              <a:t>os</a:t>
            </a:r>
            <a:r>
              <a:rPr lang="en-US" dirty="0"/>
              <a:t>, which contains several functions to perform directory related operations. </a:t>
            </a:r>
          </a:p>
        </p:txBody>
      </p:sp>
    </p:spTree>
    <p:extLst>
      <p:ext uri="{BB962C8B-B14F-4D97-AF65-F5344CB8AC3E}">
        <p14:creationId xmlns:p14="http://schemas.microsoft.com/office/powerpoint/2010/main" val="34156041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FEC1E9-4D25-799F-E4ED-0F60AAF3A540}"/>
              </a:ext>
            </a:extLst>
          </p:cNvPr>
          <p:cNvSpPr>
            <a:spLocks noGrp="1"/>
          </p:cNvSpPr>
          <p:nvPr>
            <p:ph idx="1"/>
          </p:nvPr>
        </p:nvSpPr>
        <p:spPr>
          <a:xfrm>
            <a:off x="838200" y="350520"/>
            <a:ext cx="10515600" cy="5826443"/>
          </a:xfrm>
        </p:spPr>
        <p:txBody>
          <a:bodyPr>
            <a:normAutofit fontScale="92500" lnSpcReduction="10000"/>
          </a:bodyPr>
          <a:lstStyle/>
          <a:p>
            <a:r>
              <a:rPr lang="en-US" dirty="0"/>
              <a:t> Know Current Working Directory</a:t>
            </a:r>
          </a:p>
          <a:p>
            <a:pPr lvl="1"/>
            <a:r>
              <a:rPr lang="en-US" dirty="0"/>
              <a:t>  import </a:t>
            </a:r>
            <a:r>
              <a:rPr lang="en-US" dirty="0" err="1"/>
              <a:t>os</a:t>
            </a:r>
            <a:endParaRPr lang="en-US" dirty="0"/>
          </a:p>
          <a:p>
            <a:pPr lvl="1"/>
            <a:r>
              <a:rPr lang="en-US" dirty="0"/>
              <a:t> </a:t>
            </a:r>
            <a:r>
              <a:rPr lang="en-US" dirty="0" err="1"/>
              <a:t>cwd</a:t>
            </a:r>
            <a:r>
              <a:rPr lang="en-US" dirty="0"/>
              <a:t> = </a:t>
            </a:r>
            <a:r>
              <a:rPr lang="en-US" dirty="0" err="1"/>
              <a:t>os.getcwd</a:t>
            </a:r>
            <a:r>
              <a:rPr lang="en-US" dirty="0"/>
              <a:t>()</a:t>
            </a:r>
          </a:p>
          <a:p>
            <a:pPr lvl="1"/>
            <a:r>
              <a:rPr lang="en-US" dirty="0"/>
              <a:t> print("Current Working Directory:",</a:t>
            </a:r>
            <a:r>
              <a:rPr lang="en-US" dirty="0" err="1"/>
              <a:t>cwd</a:t>
            </a:r>
            <a:r>
              <a:rPr lang="en-US" dirty="0"/>
              <a:t>)</a:t>
            </a:r>
          </a:p>
          <a:p>
            <a:r>
              <a:rPr lang="en-US" dirty="0"/>
              <a:t>Create a Sub Directory in the Current Working Directory</a:t>
            </a:r>
          </a:p>
          <a:p>
            <a:pPr lvl="1"/>
            <a:r>
              <a:rPr lang="en-US" dirty="0"/>
              <a:t>  import </a:t>
            </a:r>
            <a:r>
              <a:rPr lang="en-US" dirty="0" err="1"/>
              <a:t>os</a:t>
            </a:r>
            <a:endParaRPr lang="en-US" dirty="0"/>
          </a:p>
          <a:p>
            <a:pPr lvl="1"/>
            <a:r>
              <a:rPr lang="en-US" dirty="0"/>
              <a:t> </a:t>
            </a:r>
            <a:r>
              <a:rPr lang="en-US" dirty="0" err="1"/>
              <a:t>os.mkdir</a:t>
            </a:r>
            <a:r>
              <a:rPr lang="en-US" dirty="0"/>
              <a:t>("</a:t>
            </a:r>
            <a:r>
              <a:rPr lang="en-US" dirty="0" err="1"/>
              <a:t>mysub</a:t>
            </a:r>
            <a:r>
              <a:rPr lang="en-US" dirty="0"/>
              <a:t>")</a:t>
            </a:r>
          </a:p>
          <a:p>
            <a:pPr lvl="1"/>
            <a:r>
              <a:rPr lang="en-US" dirty="0"/>
              <a:t> print("</a:t>
            </a:r>
            <a:r>
              <a:rPr lang="en-US" dirty="0" err="1"/>
              <a:t>mysub</a:t>
            </a:r>
            <a:r>
              <a:rPr lang="en-US" dirty="0"/>
              <a:t> directory created in </a:t>
            </a:r>
            <a:r>
              <a:rPr lang="en-US" dirty="0" err="1"/>
              <a:t>cwd</a:t>
            </a:r>
            <a:r>
              <a:rPr lang="en-US" dirty="0"/>
              <a:t>")</a:t>
            </a:r>
          </a:p>
          <a:p>
            <a:r>
              <a:rPr lang="en-US" dirty="0"/>
              <a:t>Create a Sub Directory in </a:t>
            </a:r>
            <a:r>
              <a:rPr lang="en-US" dirty="0" err="1"/>
              <a:t>mysub</a:t>
            </a:r>
            <a:r>
              <a:rPr lang="en-US" dirty="0"/>
              <a:t> Directory</a:t>
            </a:r>
          </a:p>
          <a:p>
            <a:pPr lvl="1"/>
            <a:r>
              <a:rPr lang="en-US" dirty="0"/>
              <a:t>import </a:t>
            </a:r>
            <a:r>
              <a:rPr lang="en-US" dirty="0" err="1"/>
              <a:t>os</a:t>
            </a:r>
            <a:endParaRPr lang="en-US" dirty="0"/>
          </a:p>
          <a:p>
            <a:pPr lvl="1"/>
            <a:r>
              <a:rPr lang="en-US" dirty="0" err="1"/>
              <a:t>os.mkdir</a:t>
            </a:r>
            <a:r>
              <a:rPr lang="en-US" dirty="0"/>
              <a:t>("</a:t>
            </a:r>
            <a:r>
              <a:rPr lang="en-US" dirty="0" err="1"/>
              <a:t>mysub</a:t>
            </a:r>
            <a:r>
              <a:rPr lang="en-US" dirty="0"/>
              <a:t>/mysub2")</a:t>
            </a:r>
          </a:p>
          <a:p>
            <a:pPr lvl="1"/>
            <a:r>
              <a:rPr lang="en-US" dirty="0"/>
              <a:t>print("mysub2 created inside </a:t>
            </a:r>
            <a:r>
              <a:rPr lang="en-US" dirty="0" err="1"/>
              <a:t>mysub</a:t>
            </a:r>
            <a:r>
              <a:rPr lang="en-US" dirty="0"/>
              <a:t>")</a:t>
            </a:r>
          </a:p>
          <a:p>
            <a:r>
              <a:rPr lang="en-US" dirty="0"/>
              <a:t>Create Multiple Directories like sub1 in that sub2 in that sub3</a:t>
            </a:r>
          </a:p>
          <a:p>
            <a:pPr lvl="1"/>
            <a:r>
              <a:rPr lang="en-US" dirty="0"/>
              <a:t>import </a:t>
            </a:r>
            <a:r>
              <a:rPr lang="en-US" dirty="0" err="1"/>
              <a:t>os</a:t>
            </a:r>
            <a:endParaRPr lang="en-US" dirty="0"/>
          </a:p>
          <a:p>
            <a:pPr lvl="1"/>
            <a:r>
              <a:rPr lang="en-US" dirty="0" err="1"/>
              <a:t>os.makedirs</a:t>
            </a:r>
            <a:r>
              <a:rPr lang="en-US" dirty="0"/>
              <a:t>("sub1/sub2/sub3")</a:t>
            </a:r>
          </a:p>
          <a:p>
            <a:pPr lvl="1"/>
            <a:r>
              <a:rPr lang="en-US" dirty="0"/>
              <a:t>print("sub1 and in that sub2 and in that sub3 directories created")</a:t>
            </a:r>
          </a:p>
        </p:txBody>
      </p:sp>
    </p:spTree>
    <p:extLst>
      <p:ext uri="{BB962C8B-B14F-4D97-AF65-F5344CB8AC3E}">
        <p14:creationId xmlns:p14="http://schemas.microsoft.com/office/powerpoint/2010/main" val="28720760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934853-6983-192A-F6FB-85959C66E21F}"/>
              </a:ext>
            </a:extLst>
          </p:cNvPr>
          <p:cNvSpPr>
            <a:spLocks noGrp="1"/>
          </p:cNvSpPr>
          <p:nvPr>
            <p:ph idx="1"/>
          </p:nvPr>
        </p:nvSpPr>
        <p:spPr>
          <a:xfrm>
            <a:off x="838200" y="259080"/>
            <a:ext cx="10515600" cy="5917883"/>
          </a:xfrm>
        </p:spPr>
        <p:txBody>
          <a:bodyPr>
            <a:noAutofit/>
          </a:bodyPr>
          <a:lstStyle/>
          <a:p>
            <a:r>
              <a:rPr lang="en-US" sz="1600" dirty="0"/>
              <a:t>Remove a Directory</a:t>
            </a:r>
          </a:p>
          <a:p>
            <a:pPr lvl="1"/>
            <a:r>
              <a:rPr lang="en-US" sz="1600" dirty="0"/>
              <a:t>  import </a:t>
            </a:r>
            <a:r>
              <a:rPr lang="en-US" sz="1600" dirty="0" err="1"/>
              <a:t>os</a:t>
            </a:r>
            <a:endParaRPr lang="en-US" sz="1600" dirty="0"/>
          </a:p>
          <a:p>
            <a:pPr lvl="1"/>
            <a:r>
              <a:rPr lang="en-US" sz="1600" dirty="0"/>
              <a:t> </a:t>
            </a:r>
            <a:r>
              <a:rPr lang="en-US" sz="1600" dirty="0" err="1"/>
              <a:t>os.rmdir</a:t>
            </a:r>
            <a:r>
              <a:rPr lang="en-US" sz="1600" dirty="0"/>
              <a:t>("</a:t>
            </a:r>
            <a:r>
              <a:rPr lang="en-US" sz="1600" dirty="0" err="1"/>
              <a:t>mysub</a:t>
            </a:r>
            <a:r>
              <a:rPr lang="en-US" sz="1600" dirty="0"/>
              <a:t>/mysub2")</a:t>
            </a:r>
          </a:p>
          <a:p>
            <a:pPr lvl="1"/>
            <a:r>
              <a:rPr lang="en-US" sz="1600" dirty="0"/>
              <a:t> print("mysub2 directory deleted")</a:t>
            </a:r>
          </a:p>
          <a:p>
            <a:r>
              <a:rPr lang="en-US" sz="1600" dirty="0"/>
              <a:t>Remove Multiple Directories in the Path</a:t>
            </a:r>
          </a:p>
          <a:p>
            <a:pPr lvl="1"/>
            <a:r>
              <a:rPr lang="en-US" sz="1600" dirty="0"/>
              <a:t>import </a:t>
            </a:r>
            <a:r>
              <a:rPr lang="en-US" sz="1600" dirty="0" err="1"/>
              <a:t>os</a:t>
            </a:r>
            <a:endParaRPr lang="en-US" sz="1600" dirty="0"/>
          </a:p>
          <a:p>
            <a:pPr lvl="1"/>
            <a:r>
              <a:rPr lang="en-US" sz="1600" dirty="0"/>
              <a:t>import </a:t>
            </a:r>
            <a:r>
              <a:rPr lang="en-US" sz="1600" dirty="0" err="1"/>
              <a:t>os</a:t>
            </a:r>
            <a:endParaRPr lang="en-US" sz="1600" dirty="0"/>
          </a:p>
          <a:p>
            <a:pPr lvl="1"/>
            <a:r>
              <a:rPr lang="en-US" sz="1600" dirty="0" err="1"/>
              <a:t>os.removedirs</a:t>
            </a:r>
            <a:r>
              <a:rPr lang="en-US" sz="1600" dirty="0"/>
              <a:t>("sub1/sub2/sub3")</a:t>
            </a:r>
          </a:p>
          <a:p>
            <a:pPr lvl="1"/>
            <a:r>
              <a:rPr lang="en-US" sz="1600" dirty="0"/>
              <a:t>print("All 3 directories sub1,sub2 and sub3 removed")</a:t>
            </a:r>
          </a:p>
          <a:p>
            <a:r>
              <a:rPr lang="en-US" sz="1600" dirty="0"/>
              <a:t>Rename a Directory</a:t>
            </a:r>
          </a:p>
          <a:p>
            <a:pPr lvl="1"/>
            <a:r>
              <a:rPr lang="en-US" sz="1600" dirty="0" err="1"/>
              <a:t>os.rename</a:t>
            </a:r>
            <a:r>
              <a:rPr lang="en-US" sz="1600" dirty="0"/>
              <a:t>("</a:t>
            </a:r>
            <a:r>
              <a:rPr lang="en-US" sz="1600" dirty="0" err="1"/>
              <a:t>mysub</a:t>
            </a:r>
            <a:r>
              <a:rPr lang="en-US" sz="1600" dirty="0"/>
              <a:t>","</a:t>
            </a:r>
            <a:r>
              <a:rPr lang="en-US" sz="1600" dirty="0" err="1"/>
              <a:t>newdir</a:t>
            </a:r>
            <a:r>
              <a:rPr lang="en-US" sz="1600" dirty="0"/>
              <a:t>")</a:t>
            </a:r>
          </a:p>
          <a:p>
            <a:pPr lvl="1"/>
            <a:r>
              <a:rPr lang="en-US" sz="1600" dirty="0"/>
              <a:t>print("</a:t>
            </a:r>
            <a:r>
              <a:rPr lang="en-US" sz="1600" dirty="0" err="1"/>
              <a:t>mysub</a:t>
            </a:r>
            <a:r>
              <a:rPr lang="en-US" sz="1600" dirty="0"/>
              <a:t> directory renamed to </a:t>
            </a:r>
            <a:r>
              <a:rPr lang="en-US" sz="1600" dirty="0" err="1"/>
              <a:t>newdir</a:t>
            </a:r>
            <a:r>
              <a:rPr lang="en-US" sz="1600" dirty="0"/>
              <a:t>")</a:t>
            </a:r>
          </a:p>
          <a:p>
            <a:r>
              <a:rPr lang="en-US" sz="1600" dirty="0"/>
              <a:t>know Contents of Directory</a:t>
            </a:r>
          </a:p>
          <a:p>
            <a:r>
              <a:rPr lang="en-US" sz="1600" dirty="0"/>
              <a:t>OS Module provides </a:t>
            </a:r>
            <a:r>
              <a:rPr lang="en-US" sz="1600" dirty="0" err="1"/>
              <a:t>listdir</a:t>
            </a:r>
            <a:r>
              <a:rPr lang="en-US" sz="1600" dirty="0"/>
              <a:t>() to list out the contents of the specified directory. It won't display the contents of sub directory.</a:t>
            </a:r>
          </a:p>
          <a:p>
            <a:pPr lvl="1"/>
            <a:r>
              <a:rPr lang="en-US" sz="1600" dirty="0"/>
              <a:t>Import </a:t>
            </a:r>
            <a:r>
              <a:rPr lang="en-US" sz="1600" dirty="0" err="1"/>
              <a:t>os</a:t>
            </a:r>
            <a:endParaRPr lang="en-US" sz="1600" dirty="0"/>
          </a:p>
          <a:p>
            <a:pPr lvl="1"/>
            <a:r>
              <a:rPr lang="en-US" sz="1600" dirty="0"/>
              <a:t>print(</a:t>
            </a:r>
            <a:r>
              <a:rPr lang="en-US" sz="1600" dirty="0" err="1"/>
              <a:t>os.listdir</a:t>
            </a:r>
            <a:r>
              <a:rPr lang="en-US" sz="1600" dirty="0"/>
              <a:t>("."))</a:t>
            </a:r>
          </a:p>
          <a:p>
            <a:r>
              <a:rPr lang="en-US" sz="1600" dirty="0"/>
              <a:t>The above program display contents of current working directory but not contents of</a:t>
            </a:r>
          </a:p>
          <a:p>
            <a:r>
              <a:rPr lang="en-US" sz="1600" dirty="0"/>
              <a:t>sub directories.</a:t>
            </a:r>
          </a:p>
          <a:p>
            <a:r>
              <a:rPr lang="en-US" sz="1600" dirty="0"/>
              <a:t>If we want the contents of a directory including sub directories then we should go for walk() function.</a:t>
            </a:r>
          </a:p>
        </p:txBody>
      </p:sp>
    </p:spTree>
    <p:extLst>
      <p:ext uri="{BB962C8B-B14F-4D97-AF65-F5344CB8AC3E}">
        <p14:creationId xmlns:p14="http://schemas.microsoft.com/office/powerpoint/2010/main" val="1282414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BC972-D33E-65A3-ABED-A0747E94B17D}"/>
              </a:ext>
            </a:extLst>
          </p:cNvPr>
          <p:cNvSpPr>
            <a:spLocks noGrp="1"/>
          </p:cNvSpPr>
          <p:nvPr>
            <p:ph type="title"/>
          </p:nvPr>
        </p:nvSpPr>
        <p:spPr/>
        <p:txBody>
          <a:bodyPr>
            <a:normAutofit/>
          </a:bodyPr>
          <a:lstStyle/>
          <a:p>
            <a:r>
              <a:rPr lang="en-US" dirty="0"/>
              <a:t>To Know Contents of Directory including Sub Directories</a:t>
            </a:r>
          </a:p>
        </p:txBody>
      </p:sp>
      <p:sp>
        <p:nvSpPr>
          <p:cNvPr id="3" name="Content Placeholder 2">
            <a:extLst>
              <a:ext uri="{FF2B5EF4-FFF2-40B4-BE49-F238E27FC236}">
                <a16:creationId xmlns:a16="http://schemas.microsoft.com/office/drawing/2014/main" id="{562037EC-1280-7252-1FF5-BC1D4CF796D0}"/>
              </a:ext>
            </a:extLst>
          </p:cNvPr>
          <p:cNvSpPr>
            <a:spLocks noGrp="1"/>
          </p:cNvSpPr>
          <p:nvPr>
            <p:ph idx="1"/>
          </p:nvPr>
        </p:nvSpPr>
        <p:spPr/>
        <p:txBody>
          <a:bodyPr>
            <a:normAutofit lnSpcReduction="10000"/>
          </a:bodyPr>
          <a:lstStyle/>
          <a:p>
            <a:r>
              <a:rPr lang="en-US" dirty="0"/>
              <a:t>We have to use walk() function</a:t>
            </a:r>
          </a:p>
          <a:p>
            <a:r>
              <a:rPr lang="en-US" b="1" dirty="0" err="1"/>
              <a:t>os.walk</a:t>
            </a:r>
            <a:r>
              <a:rPr lang="en-US" b="1" dirty="0"/>
              <a:t>(path, </a:t>
            </a:r>
            <a:r>
              <a:rPr lang="en-US" b="1" dirty="0" err="1"/>
              <a:t>topdown</a:t>
            </a:r>
            <a:r>
              <a:rPr lang="en-US" b="1" dirty="0"/>
              <a:t> = True, </a:t>
            </a:r>
            <a:r>
              <a:rPr lang="en-US" b="1" dirty="0" err="1"/>
              <a:t>onerror</a:t>
            </a:r>
            <a:r>
              <a:rPr lang="en-US" b="1" dirty="0"/>
              <a:t> = None, </a:t>
            </a:r>
            <a:r>
              <a:rPr lang="en-US" b="1" dirty="0" err="1"/>
              <a:t>followlinks</a:t>
            </a:r>
            <a:r>
              <a:rPr lang="en-US" b="1" dirty="0"/>
              <a:t> = False)</a:t>
            </a:r>
          </a:p>
          <a:p>
            <a:r>
              <a:rPr lang="en-US" dirty="0"/>
              <a:t>It returns an Iterator object whose contents can be displayed by using for loop</a:t>
            </a:r>
          </a:p>
          <a:p>
            <a:r>
              <a:rPr lang="en-US" b="1" dirty="0"/>
              <a:t>Path</a:t>
            </a:r>
            <a:r>
              <a:rPr lang="en-US" dirty="0"/>
              <a:t>  #Directory Path. </a:t>
            </a:r>
            <a:r>
              <a:rPr lang="en-US" dirty="0" err="1"/>
              <a:t>cwd</a:t>
            </a:r>
            <a:r>
              <a:rPr lang="en-US" dirty="0"/>
              <a:t> means .</a:t>
            </a:r>
          </a:p>
          <a:p>
            <a:r>
              <a:rPr lang="en-US" b="1" dirty="0" err="1"/>
              <a:t>topdown</a:t>
            </a:r>
            <a:r>
              <a:rPr lang="en-US" b="1" dirty="0"/>
              <a:t> = True</a:t>
            </a:r>
            <a:r>
              <a:rPr lang="en-US" dirty="0"/>
              <a:t> #Travel from top to bottom </a:t>
            </a:r>
          </a:p>
          <a:p>
            <a:r>
              <a:rPr lang="en-US" b="1" dirty="0" err="1"/>
              <a:t>onerror</a:t>
            </a:r>
            <a:r>
              <a:rPr lang="en-US" b="1" dirty="0"/>
              <a:t> = None</a:t>
            </a:r>
            <a:r>
              <a:rPr lang="en-US" dirty="0"/>
              <a:t> #On error detected, which function has to execute.</a:t>
            </a:r>
          </a:p>
          <a:p>
            <a:r>
              <a:rPr lang="en-US" b="1" dirty="0" err="1"/>
              <a:t>followlinks</a:t>
            </a:r>
            <a:r>
              <a:rPr lang="en-US" b="1" dirty="0"/>
              <a:t> = True</a:t>
            </a:r>
            <a:r>
              <a:rPr lang="en-US" dirty="0"/>
              <a:t> #To visit directories pointed by symbolic links</a:t>
            </a:r>
          </a:p>
        </p:txBody>
      </p:sp>
    </p:spTree>
    <p:extLst>
      <p:ext uri="{BB962C8B-B14F-4D97-AF65-F5344CB8AC3E}">
        <p14:creationId xmlns:p14="http://schemas.microsoft.com/office/powerpoint/2010/main" val="3192022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AA907-EAA4-D578-E1C2-332DA03015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A7DE0E-BE4C-92E2-DDE6-A3B9FE672D7D}"/>
              </a:ext>
            </a:extLst>
          </p:cNvPr>
          <p:cNvSpPr>
            <a:spLocks noGrp="1"/>
          </p:cNvSpPr>
          <p:nvPr>
            <p:ph idx="1"/>
          </p:nvPr>
        </p:nvSpPr>
        <p:spPr/>
        <p:txBody>
          <a:bodyPr>
            <a:normAutofit fontScale="77500" lnSpcReduction="20000"/>
          </a:bodyPr>
          <a:lstStyle/>
          <a:p>
            <a:r>
              <a:rPr lang="en-IN" sz="1800" dirty="0">
                <a:effectLst/>
                <a:latin typeface="Calibri,Bold"/>
              </a:rPr>
              <a:t>To display all contents of Current working directory including sub directories: </a:t>
            </a:r>
            <a:endParaRPr lang="en-IN" dirty="0"/>
          </a:p>
          <a:p>
            <a:endParaRPr lang="en-US" dirty="0"/>
          </a:p>
          <a:p>
            <a:r>
              <a:rPr lang="en-US" dirty="0"/>
              <a:t>import </a:t>
            </a:r>
            <a:r>
              <a:rPr lang="en-US" dirty="0" err="1"/>
              <a:t>os</a:t>
            </a:r>
            <a:endParaRPr lang="en-US" dirty="0"/>
          </a:p>
          <a:p>
            <a:r>
              <a:rPr lang="en-US" dirty="0"/>
              <a:t>for </a:t>
            </a:r>
            <a:r>
              <a:rPr lang="en-US" dirty="0" err="1"/>
              <a:t>dirpath</a:t>
            </a:r>
            <a:r>
              <a:rPr lang="en-US" dirty="0"/>
              <a:t>, </a:t>
            </a:r>
            <a:r>
              <a:rPr lang="en-US" dirty="0" err="1"/>
              <a:t>dirnames</a:t>
            </a:r>
            <a:r>
              <a:rPr lang="en-US" dirty="0"/>
              <a:t>, filenames in </a:t>
            </a:r>
            <a:r>
              <a:rPr lang="en-US" dirty="0" err="1"/>
              <a:t>os.walk</a:t>
            </a:r>
            <a:r>
              <a:rPr lang="en-US" dirty="0"/>
              <a:t>('.'):</a:t>
            </a:r>
          </a:p>
          <a:p>
            <a:r>
              <a:rPr lang="en-US" dirty="0"/>
              <a:t>print("Current Directory Path:", </a:t>
            </a:r>
            <a:r>
              <a:rPr lang="en-US" dirty="0" err="1"/>
              <a:t>dirpath</a:t>
            </a:r>
            <a:r>
              <a:rPr lang="en-US" dirty="0"/>
              <a:t>)</a:t>
            </a:r>
          </a:p>
          <a:p>
            <a:r>
              <a:rPr lang="en-US" dirty="0"/>
              <a:t>print("Directories:", </a:t>
            </a:r>
            <a:r>
              <a:rPr lang="en-US" dirty="0" err="1"/>
              <a:t>dirnames</a:t>
            </a:r>
            <a:r>
              <a:rPr lang="en-US" dirty="0"/>
              <a:t>)</a:t>
            </a:r>
          </a:p>
          <a:p>
            <a:r>
              <a:rPr lang="en-US" dirty="0"/>
              <a:t>print("Files:", filenames)</a:t>
            </a:r>
          </a:p>
          <a:p>
            <a:r>
              <a:rPr lang="en-US" dirty="0"/>
              <a:t>print()</a:t>
            </a:r>
          </a:p>
          <a:p>
            <a:endParaRPr lang="en-US" dirty="0"/>
          </a:p>
          <a:p>
            <a:r>
              <a:rPr lang="en-US" dirty="0"/>
              <a:t>Note: To display contents of particular directory, we have to provide that directory name as argument to walk() function.</a:t>
            </a:r>
          </a:p>
          <a:p>
            <a:r>
              <a:rPr lang="en-US" b="1" dirty="0"/>
              <a:t> </a:t>
            </a:r>
            <a:r>
              <a:rPr lang="en-US" b="1" dirty="0" err="1"/>
              <a:t>os.walk</a:t>
            </a:r>
            <a:r>
              <a:rPr lang="en-US" b="1" dirty="0"/>
              <a:t>("</a:t>
            </a:r>
            <a:r>
              <a:rPr lang="en-US" b="1" dirty="0" err="1"/>
              <a:t>directoryname</a:t>
            </a:r>
            <a:r>
              <a:rPr lang="en-US" b="1" dirty="0"/>
              <a:t>")</a:t>
            </a:r>
          </a:p>
        </p:txBody>
      </p:sp>
    </p:spTree>
    <p:extLst>
      <p:ext uri="{BB962C8B-B14F-4D97-AF65-F5344CB8AC3E}">
        <p14:creationId xmlns:p14="http://schemas.microsoft.com/office/powerpoint/2010/main" val="2349438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B54E2-D3C6-EDCD-21C1-C8BEF3AA0F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12F3A6-EA5F-856C-62B6-3140976AD46F}"/>
              </a:ext>
            </a:extLst>
          </p:cNvPr>
          <p:cNvSpPr>
            <a:spLocks noGrp="1"/>
          </p:cNvSpPr>
          <p:nvPr>
            <p:ph idx="1"/>
          </p:nvPr>
        </p:nvSpPr>
        <p:spPr/>
        <p:txBody>
          <a:bodyPr/>
          <a:lstStyle/>
          <a:p>
            <a:r>
              <a:rPr lang="en-US" dirty="0"/>
              <a:t>In the case of </a:t>
            </a:r>
            <a:r>
              <a:rPr lang="en-US" dirty="0" err="1"/>
              <a:t>listdir</a:t>
            </a:r>
            <a:r>
              <a:rPr lang="en-US" dirty="0"/>
              <a:t>(), we will get contents of specified directory but not sub directory contents. But in the case of walk() function we will get contents of specified directory and its sub directories also.</a:t>
            </a:r>
          </a:p>
          <a:p>
            <a:endParaRPr lang="en-US" dirty="0"/>
          </a:p>
          <a:p>
            <a:endParaRPr lang="en-US" dirty="0"/>
          </a:p>
        </p:txBody>
      </p:sp>
    </p:spTree>
    <p:extLst>
      <p:ext uri="{BB962C8B-B14F-4D97-AF65-F5344CB8AC3E}">
        <p14:creationId xmlns:p14="http://schemas.microsoft.com/office/powerpoint/2010/main" val="41695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6172E-87E1-8B5A-3E12-80C765F01CA4}"/>
              </a:ext>
            </a:extLst>
          </p:cNvPr>
          <p:cNvSpPr>
            <a:spLocks noGrp="1"/>
          </p:cNvSpPr>
          <p:nvPr>
            <p:ph type="title"/>
          </p:nvPr>
        </p:nvSpPr>
        <p:spPr/>
        <p:txBody>
          <a:bodyPr/>
          <a:lstStyle/>
          <a:p>
            <a:r>
              <a:rPr lang="en-US" dirty="0"/>
              <a:t>How to get Information about a File</a:t>
            </a:r>
          </a:p>
        </p:txBody>
      </p:sp>
      <p:sp>
        <p:nvSpPr>
          <p:cNvPr id="3" name="Content Placeholder 2">
            <a:extLst>
              <a:ext uri="{FF2B5EF4-FFF2-40B4-BE49-F238E27FC236}">
                <a16:creationId xmlns:a16="http://schemas.microsoft.com/office/drawing/2014/main" id="{A7B56FDD-2F76-18D9-AD3B-AA411E1D2E99}"/>
              </a:ext>
            </a:extLst>
          </p:cNvPr>
          <p:cNvSpPr>
            <a:spLocks noGrp="1"/>
          </p:cNvSpPr>
          <p:nvPr>
            <p:ph idx="1"/>
          </p:nvPr>
        </p:nvSpPr>
        <p:spPr/>
        <p:txBody>
          <a:bodyPr>
            <a:noAutofit/>
          </a:bodyPr>
          <a:lstStyle/>
          <a:p>
            <a:r>
              <a:rPr lang="en-US" sz="1600" dirty="0"/>
              <a:t>We can get statistics of a file like size, last accessed </a:t>
            </a:r>
            <a:r>
              <a:rPr lang="en-US" sz="1600" dirty="0" err="1"/>
              <a:t>time,last</a:t>
            </a:r>
            <a:r>
              <a:rPr lang="en-US" sz="1600" dirty="0"/>
              <a:t> modified time </a:t>
            </a:r>
            <a:r>
              <a:rPr lang="en-US" sz="1600" dirty="0" err="1"/>
              <a:t>etc</a:t>
            </a:r>
            <a:r>
              <a:rPr lang="en-US" sz="1600" dirty="0"/>
              <a:t> by using stat() function of </a:t>
            </a:r>
            <a:r>
              <a:rPr lang="en-US" sz="1600" dirty="0" err="1"/>
              <a:t>os</a:t>
            </a:r>
            <a:r>
              <a:rPr lang="en-US" sz="1600" dirty="0"/>
              <a:t> module.</a:t>
            </a:r>
          </a:p>
          <a:p>
            <a:r>
              <a:rPr lang="en-US" sz="1600" b="1" dirty="0"/>
              <a:t>stats = </a:t>
            </a:r>
            <a:r>
              <a:rPr lang="en-US" sz="1600" b="1" dirty="0" err="1"/>
              <a:t>os.stat</a:t>
            </a:r>
            <a:r>
              <a:rPr lang="en-US" sz="1600" b="1" dirty="0"/>
              <a:t>("</a:t>
            </a:r>
            <a:r>
              <a:rPr lang="en-US" sz="1600" b="1" dirty="0" err="1"/>
              <a:t>abc.txt</a:t>
            </a:r>
            <a:r>
              <a:rPr lang="en-US" sz="1600" b="1" dirty="0"/>
              <a:t>")</a:t>
            </a:r>
          </a:p>
          <a:p>
            <a:endParaRPr lang="en-US" sz="1600" dirty="0"/>
          </a:p>
          <a:p>
            <a:r>
              <a:rPr lang="en-US" sz="1600" dirty="0"/>
              <a:t>The statistics of a file includes the following parameters:</a:t>
            </a:r>
          </a:p>
          <a:p>
            <a:r>
              <a:rPr lang="en-US" sz="1600" dirty="0" err="1"/>
              <a:t>st_mode</a:t>
            </a:r>
            <a:r>
              <a:rPr lang="en-US" sz="1600" dirty="0"/>
              <a:t>: Protection Bits</a:t>
            </a:r>
          </a:p>
          <a:p>
            <a:r>
              <a:rPr lang="en-US" sz="1600" dirty="0" err="1"/>
              <a:t>st_ino</a:t>
            </a:r>
            <a:r>
              <a:rPr lang="en-US" sz="1600" dirty="0"/>
              <a:t>: </a:t>
            </a:r>
            <a:r>
              <a:rPr lang="en-US" sz="1600" dirty="0" err="1"/>
              <a:t>Inode</a:t>
            </a:r>
            <a:r>
              <a:rPr lang="en-US" sz="1600" dirty="0"/>
              <a:t> number</a:t>
            </a:r>
          </a:p>
          <a:p>
            <a:r>
              <a:rPr lang="en-US" sz="1600" dirty="0" err="1"/>
              <a:t>st_dev</a:t>
            </a:r>
            <a:r>
              <a:rPr lang="en-US" sz="1600" dirty="0"/>
              <a:t> :  Device</a:t>
            </a:r>
          </a:p>
          <a:p>
            <a:r>
              <a:rPr lang="en-US" sz="1600" dirty="0" err="1"/>
              <a:t>st_nlink</a:t>
            </a:r>
            <a:r>
              <a:rPr lang="en-US" sz="1600" dirty="0"/>
              <a:t>: Number of Hard Links</a:t>
            </a:r>
          </a:p>
          <a:p>
            <a:r>
              <a:rPr lang="en-US" sz="1600" dirty="0" err="1"/>
              <a:t>st_uid</a:t>
            </a:r>
            <a:r>
              <a:rPr lang="en-US" sz="1600" dirty="0"/>
              <a:t>: User id of Owner</a:t>
            </a:r>
          </a:p>
          <a:p>
            <a:r>
              <a:rPr lang="en-US" sz="1600" dirty="0" err="1"/>
              <a:t>st_gid</a:t>
            </a:r>
            <a:r>
              <a:rPr lang="en-US" sz="1600" dirty="0"/>
              <a:t>: Group id of Owner</a:t>
            </a:r>
          </a:p>
          <a:p>
            <a:r>
              <a:rPr lang="en-US" sz="1600" dirty="0" err="1"/>
              <a:t>st_size</a:t>
            </a:r>
            <a:r>
              <a:rPr lang="en-US" sz="1600" dirty="0"/>
              <a:t> :  Size of File in Bytes</a:t>
            </a:r>
          </a:p>
          <a:p>
            <a:r>
              <a:rPr lang="en-US" sz="1600" dirty="0" err="1"/>
              <a:t>st_atime</a:t>
            </a:r>
            <a:r>
              <a:rPr lang="en-US" sz="1600" dirty="0"/>
              <a:t>: Time of Most Recent Access</a:t>
            </a:r>
          </a:p>
          <a:p>
            <a:r>
              <a:rPr lang="en-US" sz="1600" dirty="0" err="1"/>
              <a:t>st_mtime</a:t>
            </a:r>
            <a:r>
              <a:rPr lang="en-US" sz="1600" dirty="0"/>
              <a:t>: Time of Most Recent Modification</a:t>
            </a:r>
          </a:p>
          <a:p>
            <a:r>
              <a:rPr lang="en-US" sz="1600" dirty="0" err="1"/>
              <a:t>st_ctime</a:t>
            </a:r>
            <a:r>
              <a:rPr lang="en-US" sz="1600" dirty="0"/>
              <a:t>: Time of Most Recent Meta Data Change</a:t>
            </a:r>
          </a:p>
        </p:txBody>
      </p:sp>
      <p:sp>
        <p:nvSpPr>
          <p:cNvPr id="4" name="TextBox 3">
            <a:extLst>
              <a:ext uri="{FF2B5EF4-FFF2-40B4-BE49-F238E27FC236}">
                <a16:creationId xmlns:a16="http://schemas.microsoft.com/office/drawing/2014/main" id="{E919AF85-DD84-3150-B927-8985AECC438C}"/>
              </a:ext>
            </a:extLst>
          </p:cNvPr>
          <p:cNvSpPr txBox="1"/>
          <p:nvPr/>
        </p:nvSpPr>
        <p:spPr>
          <a:xfrm>
            <a:off x="5689600" y="4001294"/>
            <a:ext cx="5862054" cy="1200329"/>
          </a:xfrm>
          <a:prstGeom prst="rect">
            <a:avLst/>
          </a:prstGeom>
          <a:noFill/>
        </p:spPr>
        <p:txBody>
          <a:bodyPr wrap="none" rtlCol="0">
            <a:spAutoFit/>
          </a:bodyPr>
          <a:lstStyle/>
          <a:p>
            <a:r>
              <a:rPr lang="en-US" b="1" dirty="0"/>
              <a:t>Note</a:t>
            </a:r>
            <a:r>
              <a:rPr lang="en-US" dirty="0"/>
              <a:t>: </a:t>
            </a:r>
            <a:r>
              <a:rPr lang="en-US" dirty="0" err="1"/>
              <a:t>st_atime</a:t>
            </a:r>
            <a:r>
              <a:rPr lang="en-US" dirty="0"/>
              <a:t>, </a:t>
            </a:r>
            <a:r>
              <a:rPr lang="en-US" dirty="0" err="1"/>
              <a:t>st_mtime</a:t>
            </a:r>
            <a:r>
              <a:rPr lang="en-US" dirty="0"/>
              <a:t> and </a:t>
            </a:r>
            <a:r>
              <a:rPr lang="en-US" dirty="0" err="1"/>
              <a:t>st_ctime</a:t>
            </a:r>
            <a:r>
              <a:rPr lang="en-US" dirty="0"/>
              <a:t> returns the time </a:t>
            </a:r>
          </a:p>
          <a:p>
            <a:r>
              <a:rPr lang="en-US" dirty="0"/>
              <a:t>as number of milli seconds since Jan 1st 1970, 12:00 AM. </a:t>
            </a:r>
          </a:p>
          <a:p>
            <a:r>
              <a:rPr lang="en-US" dirty="0"/>
              <a:t>By using datetime module from timestamp() function, </a:t>
            </a:r>
          </a:p>
          <a:p>
            <a:r>
              <a:rPr lang="en-US" dirty="0"/>
              <a:t>we can get exact date and time.</a:t>
            </a:r>
          </a:p>
        </p:txBody>
      </p:sp>
    </p:spTree>
    <p:extLst>
      <p:ext uri="{BB962C8B-B14F-4D97-AF65-F5344CB8AC3E}">
        <p14:creationId xmlns:p14="http://schemas.microsoft.com/office/powerpoint/2010/main" val="3953531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D5566-85CB-D81A-9903-E06C314B97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140B8C-76C8-3FC6-3F59-3212A731C99F}"/>
              </a:ext>
            </a:extLst>
          </p:cNvPr>
          <p:cNvSpPr>
            <a:spLocks noGrp="1"/>
          </p:cNvSpPr>
          <p:nvPr>
            <p:ph idx="1"/>
          </p:nvPr>
        </p:nvSpPr>
        <p:spPr/>
        <p:txBody>
          <a:bodyPr/>
          <a:lstStyle/>
          <a:p>
            <a:r>
              <a:rPr lang="en-US" dirty="0"/>
              <a:t>Print all stats of a file</a:t>
            </a:r>
          </a:p>
          <a:p>
            <a:r>
              <a:rPr lang="en-US" dirty="0"/>
              <a:t>Import </a:t>
            </a:r>
            <a:r>
              <a:rPr lang="en-US" dirty="0" err="1"/>
              <a:t>os</a:t>
            </a:r>
            <a:endParaRPr lang="en-US" dirty="0"/>
          </a:p>
          <a:p>
            <a:r>
              <a:rPr lang="en-US" dirty="0"/>
              <a:t>stats=</a:t>
            </a:r>
            <a:r>
              <a:rPr lang="en-US" dirty="0" err="1"/>
              <a:t>os.stat</a:t>
            </a:r>
            <a:r>
              <a:rPr lang="en-US" dirty="0"/>
              <a:t>("</a:t>
            </a:r>
            <a:r>
              <a:rPr lang="en-US" dirty="0" err="1"/>
              <a:t>abc.txt</a:t>
            </a:r>
            <a:r>
              <a:rPr lang="en-US" dirty="0"/>
              <a:t>")</a:t>
            </a:r>
          </a:p>
          <a:p>
            <a:r>
              <a:rPr lang="en-US" dirty="0"/>
              <a:t>print(stats)</a:t>
            </a:r>
          </a:p>
        </p:txBody>
      </p:sp>
    </p:spTree>
    <p:extLst>
      <p:ext uri="{BB962C8B-B14F-4D97-AF65-F5344CB8AC3E}">
        <p14:creationId xmlns:p14="http://schemas.microsoft.com/office/powerpoint/2010/main" val="2518824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BF8D1-CA39-AAC2-A182-21CDF389B6D9}"/>
              </a:ext>
            </a:extLst>
          </p:cNvPr>
          <p:cNvSpPr>
            <a:spLocks noGrp="1"/>
          </p:cNvSpPr>
          <p:nvPr>
            <p:ph type="title"/>
          </p:nvPr>
        </p:nvSpPr>
        <p:spPr/>
        <p:txBody>
          <a:bodyPr/>
          <a:lstStyle/>
          <a:p>
            <a:r>
              <a:rPr lang="en-US" dirty="0"/>
              <a:t>Pickling and Unpickling of Objects</a:t>
            </a:r>
          </a:p>
        </p:txBody>
      </p:sp>
      <p:sp>
        <p:nvSpPr>
          <p:cNvPr id="3" name="Content Placeholder 2">
            <a:extLst>
              <a:ext uri="{FF2B5EF4-FFF2-40B4-BE49-F238E27FC236}">
                <a16:creationId xmlns:a16="http://schemas.microsoft.com/office/drawing/2014/main" id="{AE37EC2B-0964-6E59-9F7B-990552066FDD}"/>
              </a:ext>
            </a:extLst>
          </p:cNvPr>
          <p:cNvSpPr>
            <a:spLocks noGrp="1"/>
          </p:cNvSpPr>
          <p:nvPr>
            <p:ph idx="1"/>
          </p:nvPr>
        </p:nvSpPr>
        <p:spPr/>
        <p:txBody>
          <a:bodyPr>
            <a:normAutofit fontScale="92500" lnSpcReduction="20000"/>
          </a:bodyPr>
          <a:lstStyle/>
          <a:p>
            <a:r>
              <a:rPr lang="en-US" dirty="0"/>
              <a:t>Sometimes we have to write total state of object to the file and we have to read total object from the file.</a:t>
            </a:r>
          </a:p>
          <a:p>
            <a:r>
              <a:rPr lang="en-US" dirty="0"/>
              <a:t>The process of writing state of object to the file is called </a:t>
            </a:r>
            <a:r>
              <a:rPr lang="en-US" b="1" dirty="0"/>
              <a:t>pickling</a:t>
            </a:r>
            <a:r>
              <a:rPr lang="en-US" dirty="0"/>
              <a:t> and the process of reading state of an object from the file is called </a:t>
            </a:r>
            <a:r>
              <a:rPr lang="en-US" b="1" dirty="0"/>
              <a:t>unpickling</a:t>
            </a:r>
            <a:r>
              <a:rPr lang="en-US" dirty="0"/>
              <a:t>.</a:t>
            </a:r>
          </a:p>
          <a:p>
            <a:r>
              <a:rPr lang="en-US" dirty="0"/>
              <a:t>We can implement pickling and unpickling by </a:t>
            </a:r>
            <a:r>
              <a:rPr lang="en-US" b="1" dirty="0"/>
              <a:t>using pickle module</a:t>
            </a:r>
            <a:r>
              <a:rPr lang="en-US" dirty="0"/>
              <a:t> of Python.</a:t>
            </a:r>
          </a:p>
          <a:p>
            <a:r>
              <a:rPr lang="en-US" dirty="0"/>
              <a:t>pickle module contains </a:t>
            </a:r>
            <a:r>
              <a:rPr lang="en-US" b="1" dirty="0"/>
              <a:t>dump() function</a:t>
            </a:r>
            <a:r>
              <a:rPr lang="en-US" dirty="0"/>
              <a:t> to perform pickling.</a:t>
            </a:r>
          </a:p>
          <a:p>
            <a:r>
              <a:rPr lang="en-US" b="1" dirty="0" err="1"/>
              <a:t>pickle.dump</a:t>
            </a:r>
            <a:r>
              <a:rPr lang="en-US" b="1" dirty="0"/>
              <a:t>(</a:t>
            </a:r>
            <a:r>
              <a:rPr lang="en-US" b="1" dirty="0" err="1"/>
              <a:t>object,file</a:t>
            </a:r>
            <a:r>
              <a:rPr lang="en-US" b="1" dirty="0"/>
              <a:t>)</a:t>
            </a:r>
          </a:p>
          <a:p>
            <a:r>
              <a:rPr lang="en-US" dirty="0"/>
              <a:t>pickle module contains </a:t>
            </a:r>
            <a:r>
              <a:rPr lang="en-US" b="1" dirty="0"/>
              <a:t>load() function</a:t>
            </a:r>
            <a:r>
              <a:rPr lang="en-US" dirty="0"/>
              <a:t> to perform unpickling</a:t>
            </a:r>
          </a:p>
          <a:p>
            <a:r>
              <a:rPr lang="en-US" b="1" dirty="0"/>
              <a:t>obj=</a:t>
            </a:r>
            <a:r>
              <a:rPr lang="en-US" b="1" dirty="0" err="1"/>
              <a:t>pickle.load</a:t>
            </a:r>
            <a:r>
              <a:rPr lang="en-US" b="1" dirty="0"/>
              <a:t>(file)</a:t>
            </a:r>
          </a:p>
        </p:txBody>
      </p:sp>
    </p:spTree>
    <p:extLst>
      <p:ext uri="{BB962C8B-B14F-4D97-AF65-F5344CB8AC3E}">
        <p14:creationId xmlns:p14="http://schemas.microsoft.com/office/powerpoint/2010/main" val="1040159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C1919-3C64-6A90-D9E6-E4DDFE643FF4}"/>
              </a:ext>
            </a:extLst>
          </p:cNvPr>
          <p:cNvSpPr>
            <a:spLocks noGrp="1"/>
          </p:cNvSpPr>
          <p:nvPr>
            <p:ph type="title"/>
          </p:nvPr>
        </p:nvSpPr>
        <p:spPr/>
        <p:txBody>
          <a:bodyPr>
            <a:normAutofit/>
          </a:bodyPr>
          <a:lstStyle/>
          <a:p>
            <a:r>
              <a:rPr lang="en-US" dirty="0"/>
              <a:t>Writing and Reading State of Object by using pickle Module:</a:t>
            </a:r>
          </a:p>
        </p:txBody>
      </p:sp>
      <p:sp>
        <p:nvSpPr>
          <p:cNvPr id="3" name="Content Placeholder 2">
            <a:extLst>
              <a:ext uri="{FF2B5EF4-FFF2-40B4-BE49-F238E27FC236}">
                <a16:creationId xmlns:a16="http://schemas.microsoft.com/office/drawing/2014/main" id="{9D7C5DFE-D0B0-9A73-640D-CCEDAC4AFEFE}"/>
              </a:ext>
            </a:extLst>
          </p:cNvPr>
          <p:cNvSpPr>
            <a:spLocks noGrp="1"/>
          </p:cNvSpPr>
          <p:nvPr>
            <p:ph idx="1"/>
          </p:nvPr>
        </p:nvSpPr>
        <p:spPr>
          <a:xfrm>
            <a:off x="0" y="1825625"/>
            <a:ext cx="6096000" cy="4351338"/>
          </a:xfrm>
        </p:spPr>
        <p:txBody>
          <a:bodyPr>
            <a:normAutofit fontScale="85000" lnSpcReduction="10000"/>
          </a:bodyPr>
          <a:lstStyle/>
          <a:p>
            <a:r>
              <a:rPr lang="en-US" dirty="0"/>
              <a:t>Import pickle</a:t>
            </a:r>
          </a:p>
          <a:p>
            <a:r>
              <a:rPr lang="en-US" dirty="0"/>
              <a:t>Class Employee:</a:t>
            </a:r>
          </a:p>
          <a:p>
            <a:r>
              <a:rPr lang="en-US" dirty="0"/>
              <a:t>  def __</a:t>
            </a:r>
            <a:r>
              <a:rPr lang="en-US" dirty="0" err="1"/>
              <a:t>init</a:t>
            </a:r>
            <a:r>
              <a:rPr lang="en-US" dirty="0"/>
              <a:t>__(self, </a:t>
            </a:r>
            <a:r>
              <a:rPr lang="en-US" dirty="0" err="1"/>
              <a:t>eno</a:t>
            </a:r>
            <a:r>
              <a:rPr lang="en-US" dirty="0"/>
              <a:t>, </a:t>
            </a:r>
            <a:r>
              <a:rPr lang="en-US" dirty="0" err="1"/>
              <a:t>ename</a:t>
            </a:r>
            <a:r>
              <a:rPr lang="en-US" dirty="0"/>
              <a:t>, </a:t>
            </a:r>
            <a:r>
              <a:rPr lang="en-US" dirty="0" err="1"/>
              <a:t>esal</a:t>
            </a:r>
            <a:r>
              <a:rPr lang="en-US" dirty="0"/>
              <a:t>, </a:t>
            </a:r>
            <a:r>
              <a:rPr lang="en-US" dirty="0" err="1"/>
              <a:t>eaddr</a:t>
            </a:r>
            <a:r>
              <a:rPr lang="en-US" dirty="0"/>
              <a:t>):</a:t>
            </a:r>
          </a:p>
          <a:p>
            <a:r>
              <a:rPr lang="en-US" dirty="0"/>
              <a:t>    </a:t>
            </a:r>
            <a:r>
              <a:rPr lang="en-US" dirty="0" err="1"/>
              <a:t>self.eno</a:t>
            </a:r>
            <a:r>
              <a:rPr lang="en-US" dirty="0"/>
              <a:t>=</a:t>
            </a:r>
            <a:r>
              <a:rPr lang="en-US" dirty="0" err="1"/>
              <a:t>eno</a:t>
            </a:r>
            <a:r>
              <a:rPr lang="en-US" dirty="0"/>
              <a:t>;</a:t>
            </a:r>
          </a:p>
          <a:p>
            <a:r>
              <a:rPr lang="en-US" dirty="0"/>
              <a:t>    </a:t>
            </a:r>
            <a:r>
              <a:rPr lang="en-US" dirty="0" err="1"/>
              <a:t>self.ename</a:t>
            </a:r>
            <a:r>
              <a:rPr lang="en-US" dirty="0"/>
              <a:t>=</a:t>
            </a:r>
            <a:r>
              <a:rPr lang="en-US" dirty="0" err="1"/>
              <a:t>ename</a:t>
            </a:r>
            <a:endParaRPr lang="en-US" dirty="0"/>
          </a:p>
          <a:p>
            <a:r>
              <a:rPr lang="en-US" dirty="0"/>
              <a:t>    </a:t>
            </a:r>
            <a:r>
              <a:rPr lang="en-US" dirty="0" err="1"/>
              <a:t>self.esal</a:t>
            </a:r>
            <a:r>
              <a:rPr lang="en-US" dirty="0"/>
              <a:t>=</a:t>
            </a:r>
            <a:r>
              <a:rPr lang="en-US" dirty="0" err="1"/>
              <a:t>esal</a:t>
            </a:r>
            <a:endParaRPr lang="en-US" dirty="0"/>
          </a:p>
          <a:p>
            <a:r>
              <a:rPr lang="en-US" dirty="0"/>
              <a:t>    </a:t>
            </a:r>
            <a:r>
              <a:rPr lang="en-US" dirty="0" err="1"/>
              <a:t>self.eaddr</a:t>
            </a:r>
            <a:r>
              <a:rPr lang="en-US" dirty="0"/>
              <a:t>=</a:t>
            </a:r>
            <a:r>
              <a:rPr lang="en-US" dirty="0" err="1"/>
              <a:t>eaddr</a:t>
            </a:r>
            <a:endParaRPr lang="en-US" dirty="0"/>
          </a:p>
          <a:p>
            <a:r>
              <a:rPr lang="en-US" dirty="0"/>
              <a:t>  def display(self):</a:t>
            </a:r>
          </a:p>
          <a:p>
            <a:r>
              <a:rPr lang="en-US" dirty="0"/>
              <a:t>     print(</a:t>
            </a:r>
            <a:r>
              <a:rPr lang="en-US" dirty="0" err="1"/>
              <a:t>self.eno</a:t>
            </a:r>
            <a:r>
              <a:rPr lang="en-US" dirty="0"/>
              <a:t>,"\t",</a:t>
            </a:r>
            <a:r>
              <a:rPr lang="en-US" dirty="0" err="1"/>
              <a:t>self.ename</a:t>
            </a:r>
            <a:r>
              <a:rPr lang="en-US" dirty="0"/>
              <a:t>,"\t",</a:t>
            </a:r>
            <a:r>
              <a:rPr lang="en-US" dirty="0" err="1"/>
              <a:t>self.esal</a:t>
            </a:r>
            <a:r>
              <a:rPr lang="en-US" dirty="0"/>
              <a:t>,"\t",</a:t>
            </a:r>
            <a:r>
              <a:rPr lang="en-US" dirty="0" err="1"/>
              <a:t>self.eaddr</a:t>
            </a:r>
            <a:r>
              <a:rPr lang="en-US" dirty="0"/>
              <a:t>)</a:t>
            </a:r>
          </a:p>
          <a:p>
            <a:endParaRPr lang="en-US" dirty="0"/>
          </a:p>
        </p:txBody>
      </p:sp>
      <p:sp>
        <p:nvSpPr>
          <p:cNvPr id="4" name="Content Placeholder 2">
            <a:extLst>
              <a:ext uri="{FF2B5EF4-FFF2-40B4-BE49-F238E27FC236}">
                <a16:creationId xmlns:a16="http://schemas.microsoft.com/office/drawing/2014/main" id="{81DF68ED-F3EF-CCB2-BEAD-0017BC53A3D0}"/>
              </a:ext>
            </a:extLst>
          </p:cNvPr>
          <p:cNvSpPr txBox="1">
            <a:spLocks/>
          </p:cNvSpPr>
          <p:nvPr/>
        </p:nvSpPr>
        <p:spPr>
          <a:xfrm>
            <a:off x="6096000" y="1825625"/>
            <a:ext cx="60960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with open("emp.</a:t>
            </a:r>
            <a:r>
              <a:rPr lang="en-US" dirty="0" err="1"/>
              <a:t>dat</a:t>
            </a:r>
            <a:r>
              <a:rPr lang="en-US" dirty="0"/>
              <a:t>","</a:t>
            </a:r>
            <a:r>
              <a:rPr lang="en-US" dirty="0" err="1"/>
              <a:t>wb</a:t>
            </a:r>
            <a:r>
              <a:rPr lang="en-US" dirty="0"/>
              <a:t>") as f:</a:t>
            </a:r>
          </a:p>
          <a:p>
            <a:r>
              <a:rPr lang="en-US" dirty="0"/>
              <a:t>e=Employee(100,"Durga",1000,"Hyd")</a:t>
            </a:r>
          </a:p>
          <a:p>
            <a:r>
              <a:rPr lang="en-US" dirty="0" err="1"/>
              <a:t>pickle.dump</a:t>
            </a:r>
            <a:r>
              <a:rPr lang="en-US" dirty="0"/>
              <a:t>(</a:t>
            </a:r>
            <a:r>
              <a:rPr lang="en-US" dirty="0" err="1"/>
              <a:t>e,f</a:t>
            </a:r>
            <a:r>
              <a:rPr lang="en-US" dirty="0"/>
              <a:t>)</a:t>
            </a:r>
          </a:p>
          <a:p>
            <a:r>
              <a:rPr lang="en-US" dirty="0"/>
              <a:t>print("Pickling of Employee Object completed...")</a:t>
            </a:r>
          </a:p>
          <a:p>
            <a:endParaRPr lang="en-US" dirty="0"/>
          </a:p>
          <a:p>
            <a:r>
              <a:rPr lang="en-US" dirty="0"/>
              <a:t>with open("emp.</a:t>
            </a:r>
            <a:r>
              <a:rPr lang="en-US" dirty="0" err="1"/>
              <a:t>dat</a:t>
            </a:r>
            <a:r>
              <a:rPr lang="en-US" dirty="0"/>
              <a:t>","</a:t>
            </a:r>
            <a:r>
              <a:rPr lang="en-US" dirty="0" err="1"/>
              <a:t>rb</a:t>
            </a:r>
            <a:r>
              <a:rPr lang="en-US" dirty="0"/>
              <a:t>") as f:</a:t>
            </a:r>
          </a:p>
          <a:p>
            <a:r>
              <a:rPr lang="en-US" dirty="0"/>
              <a:t>    obj=</a:t>
            </a:r>
            <a:r>
              <a:rPr lang="en-US" dirty="0" err="1"/>
              <a:t>pickle.load</a:t>
            </a:r>
            <a:r>
              <a:rPr lang="en-US" dirty="0"/>
              <a:t>(f)</a:t>
            </a:r>
          </a:p>
          <a:p>
            <a:r>
              <a:rPr lang="en-US" dirty="0"/>
              <a:t>    print("Printing Employee Information after unpickling")</a:t>
            </a:r>
          </a:p>
          <a:p>
            <a:r>
              <a:rPr lang="en-US" dirty="0"/>
              <a:t>    </a:t>
            </a:r>
            <a:r>
              <a:rPr lang="en-US" dirty="0" err="1"/>
              <a:t>obj.display</a:t>
            </a:r>
            <a:r>
              <a:rPr lang="en-US" dirty="0"/>
              <a:t>()</a:t>
            </a:r>
          </a:p>
        </p:txBody>
      </p:sp>
    </p:spTree>
    <p:extLst>
      <p:ext uri="{BB962C8B-B14F-4D97-AF65-F5344CB8AC3E}">
        <p14:creationId xmlns:p14="http://schemas.microsoft.com/office/powerpoint/2010/main" val="1080896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D18AE-D419-77DF-15E7-4101946035E2}"/>
              </a:ext>
            </a:extLst>
          </p:cNvPr>
          <p:cNvSpPr>
            <a:spLocks noGrp="1"/>
          </p:cNvSpPr>
          <p:nvPr>
            <p:ph type="title"/>
          </p:nvPr>
        </p:nvSpPr>
        <p:spPr/>
        <p:txBody>
          <a:bodyPr>
            <a:normAutofit/>
          </a:bodyPr>
          <a:lstStyle/>
          <a:p>
            <a:r>
              <a:rPr lang="en-US" dirty="0"/>
              <a:t>Writing Multiple Employee Objects to the File: </a:t>
            </a:r>
            <a:r>
              <a:rPr lang="en-US" dirty="0" err="1"/>
              <a:t>emp.py</a:t>
            </a:r>
            <a:r>
              <a:rPr lang="en-US" dirty="0"/>
              <a:t>:</a:t>
            </a:r>
          </a:p>
        </p:txBody>
      </p:sp>
      <p:sp>
        <p:nvSpPr>
          <p:cNvPr id="3" name="Content Placeholder 2">
            <a:extLst>
              <a:ext uri="{FF2B5EF4-FFF2-40B4-BE49-F238E27FC236}">
                <a16:creationId xmlns:a16="http://schemas.microsoft.com/office/drawing/2014/main" id="{A78E680F-E357-D880-25B6-B0C3B3883648}"/>
              </a:ext>
            </a:extLst>
          </p:cNvPr>
          <p:cNvSpPr>
            <a:spLocks noGrp="1"/>
          </p:cNvSpPr>
          <p:nvPr>
            <p:ph idx="1"/>
          </p:nvPr>
        </p:nvSpPr>
        <p:spPr/>
        <p:txBody>
          <a:bodyPr>
            <a:normAutofit/>
          </a:bodyPr>
          <a:lstStyle/>
          <a:p>
            <a:r>
              <a:rPr lang="en-US" dirty="0" err="1"/>
              <a:t>classEmployee</a:t>
            </a:r>
            <a:r>
              <a:rPr lang="en-US" dirty="0"/>
              <a:t>:</a:t>
            </a:r>
          </a:p>
          <a:p>
            <a:r>
              <a:rPr lang="en-US" dirty="0"/>
              <a:t>    def __</a:t>
            </a:r>
            <a:r>
              <a:rPr lang="en-US" dirty="0" err="1"/>
              <a:t>init</a:t>
            </a:r>
            <a:r>
              <a:rPr lang="en-US" dirty="0"/>
              <a:t>__(</a:t>
            </a:r>
            <a:r>
              <a:rPr lang="en-US" dirty="0" err="1"/>
              <a:t>self,eno,ename,esal,eaddr</a:t>
            </a:r>
            <a:r>
              <a:rPr lang="en-US" dirty="0"/>
              <a:t>):</a:t>
            </a:r>
          </a:p>
          <a:p>
            <a:r>
              <a:rPr lang="en-US" dirty="0"/>
              <a:t>        </a:t>
            </a:r>
            <a:r>
              <a:rPr lang="en-US" dirty="0" err="1"/>
              <a:t>self.eno</a:t>
            </a:r>
            <a:r>
              <a:rPr lang="en-US" dirty="0"/>
              <a:t>=</a:t>
            </a:r>
            <a:r>
              <a:rPr lang="en-US" dirty="0" err="1"/>
              <a:t>eno</a:t>
            </a:r>
            <a:r>
              <a:rPr lang="en-US" dirty="0"/>
              <a:t>;</a:t>
            </a:r>
          </a:p>
          <a:p>
            <a:r>
              <a:rPr lang="en-US" dirty="0"/>
              <a:t>        </a:t>
            </a:r>
            <a:r>
              <a:rPr lang="en-US" dirty="0" err="1"/>
              <a:t>self.ename</a:t>
            </a:r>
            <a:r>
              <a:rPr lang="en-US" dirty="0"/>
              <a:t>=</a:t>
            </a:r>
            <a:r>
              <a:rPr lang="en-US" dirty="0" err="1"/>
              <a:t>ename</a:t>
            </a:r>
            <a:r>
              <a:rPr lang="en-US" dirty="0"/>
              <a:t>;</a:t>
            </a:r>
          </a:p>
          <a:p>
            <a:r>
              <a:rPr lang="en-US" dirty="0"/>
              <a:t>        </a:t>
            </a:r>
            <a:r>
              <a:rPr lang="en-US" dirty="0" err="1"/>
              <a:t>self.esal</a:t>
            </a:r>
            <a:r>
              <a:rPr lang="en-US" dirty="0"/>
              <a:t>=</a:t>
            </a:r>
            <a:r>
              <a:rPr lang="en-US" dirty="0" err="1"/>
              <a:t>esal</a:t>
            </a:r>
            <a:r>
              <a:rPr lang="en-US" dirty="0"/>
              <a:t>;</a:t>
            </a:r>
          </a:p>
          <a:p>
            <a:r>
              <a:rPr lang="en-US" dirty="0"/>
              <a:t>        </a:t>
            </a:r>
            <a:r>
              <a:rPr lang="en-US" dirty="0" err="1"/>
              <a:t>self.eaddr</a:t>
            </a:r>
            <a:r>
              <a:rPr lang="en-US" dirty="0"/>
              <a:t>=</a:t>
            </a:r>
            <a:r>
              <a:rPr lang="en-US" dirty="0" err="1"/>
              <a:t>eaddr</a:t>
            </a:r>
            <a:r>
              <a:rPr lang="en-US" dirty="0"/>
              <a:t>; </a:t>
            </a:r>
          </a:p>
          <a:p>
            <a:r>
              <a:rPr lang="en-US" dirty="0"/>
              <a:t>    def display(self):</a:t>
            </a:r>
          </a:p>
          <a:p>
            <a:r>
              <a:rPr lang="en-US" dirty="0"/>
              <a:t>        print(</a:t>
            </a:r>
            <a:r>
              <a:rPr lang="en-US" dirty="0" err="1"/>
              <a:t>self.eno</a:t>
            </a:r>
            <a:r>
              <a:rPr lang="en-US" dirty="0"/>
              <a:t>,"\t",</a:t>
            </a:r>
            <a:r>
              <a:rPr lang="en-US" dirty="0" err="1"/>
              <a:t>self.ename</a:t>
            </a:r>
            <a:r>
              <a:rPr lang="en-US" dirty="0"/>
              <a:t>,"\t",</a:t>
            </a:r>
            <a:r>
              <a:rPr lang="en-US" dirty="0" err="1"/>
              <a:t>self.esal</a:t>
            </a:r>
            <a:r>
              <a:rPr lang="en-US" dirty="0"/>
              <a:t>,"\t",</a:t>
            </a:r>
            <a:r>
              <a:rPr lang="en-US" dirty="0" err="1"/>
              <a:t>self.eaddr</a:t>
            </a:r>
            <a:r>
              <a:rPr lang="en-US" dirty="0"/>
              <a:t>)</a:t>
            </a:r>
          </a:p>
        </p:txBody>
      </p:sp>
    </p:spTree>
    <p:extLst>
      <p:ext uri="{BB962C8B-B14F-4D97-AF65-F5344CB8AC3E}">
        <p14:creationId xmlns:p14="http://schemas.microsoft.com/office/powerpoint/2010/main" val="38640620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88AB-E4BC-692B-B408-6EA2163FF04D}"/>
              </a:ext>
            </a:extLst>
          </p:cNvPr>
          <p:cNvSpPr>
            <a:spLocks noGrp="1"/>
          </p:cNvSpPr>
          <p:nvPr>
            <p:ph type="title"/>
          </p:nvPr>
        </p:nvSpPr>
        <p:spPr/>
        <p:txBody>
          <a:bodyPr/>
          <a:lstStyle/>
          <a:p>
            <a:r>
              <a:rPr lang="en-US" dirty="0" err="1"/>
              <a:t>pick.py</a:t>
            </a:r>
            <a:endParaRPr lang="en-US" dirty="0"/>
          </a:p>
        </p:txBody>
      </p:sp>
      <p:sp>
        <p:nvSpPr>
          <p:cNvPr id="3" name="Content Placeholder 2">
            <a:extLst>
              <a:ext uri="{FF2B5EF4-FFF2-40B4-BE49-F238E27FC236}">
                <a16:creationId xmlns:a16="http://schemas.microsoft.com/office/drawing/2014/main" id="{5C3C97D2-557C-F8E4-49CD-C79B1F916B13}"/>
              </a:ext>
            </a:extLst>
          </p:cNvPr>
          <p:cNvSpPr>
            <a:spLocks noGrp="1"/>
          </p:cNvSpPr>
          <p:nvPr>
            <p:ph idx="1"/>
          </p:nvPr>
        </p:nvSpPr>
        <p:spPr/>
        <p:txBody>
          <a:bodyPr>
            <a:normAutofit fontScale="92500" lnSpcReduction="10000"/>
          </a:bodyPr>
          <a:lstStyle/>
          <a:p>
            <a:r>
              <a:rPr lang="en-US" dirty="0"/>
              <a:t>Import </a:t>
            </a:r>
            <a:r>
              <a:rPr lang="en-US" dirty="0" err="1"/>
              <a:t>emp,pickle</a:t>
            </a:r>
            <a:endParaRPr lang="en-US" dirty="0"/>
          </a:p>
          <a:p>
            <a:r>
              <a:rPr lang="en-US" dirty="0"/>
              <a:t>f=open("emp.</a:t>
            </a:r>
            <a:r>
              <a:rPr lang="en-US" dirty="0" err="1"/>
              <a:t>dat</a:t>
            </a:r>
            <a:r>
              <a:rPr lang="en-US" dirty="0"/>
              <a:t>","</a:t>
            </a:r>
            <a:r>
              <a:rPr lang="en-US" dirty="0" err="1"/>
              <a:t>wb</a:t>
            </a:r>
            <a:r>
              <a:rPr lang="en-US" dirty="0"/>
              <a:t>")</a:t>
            </a:r>
          </a:p>
          <a:p>
            <a:r>
              <a:rPr lang="en-US" dirty="0"/>
              <a:t>n=int(input("</a:t>
            </a:r>
            <a:r>
              <a:rPr lang="en-US" dirty="0" err="1"/>
              <a:t>EnterThenumberofEmployees</a:t>
            </a:r>
            <a:r>
              <a:rPr lang="en-US" dirty="0"/>
              <a:t>:"))</a:t>
            </a:r>
          </a:p>
          <a:p>
            <a:r>
              <a:rPr lang="en-US" dirty="0"/>
              <a:t>For I in range(n):</a:t>
            </a:r>
          </a:p>
          <a:p>
            <a:pPr lvl="1"/>
            <a:r>
              <a:rPr lang="en-US" dirty="0" err="1"/>
              <a:t>eno</a:t>
            </a:r>
            <a:r>
              <a:rPr lang="en-US" dirty="0"/>
              <a:t>=int(input("Enter Employee Number:"))</a:t>
            </a:r>
          </a:p>
          <a:p>
            <a:pPr lvl="1"/>
            <a:r>
              <a:rPr lang="en-US" dirty="0" err="1"/>
              <a:t>ename</a:t>
            </a:r>
            <a:r>
              <a:rPr lang="en-US" dirty="0"/>
              <a:t>=input("Enter Employee Name:")</a:t>
            </a:r>
          </a:p>
          <a:p>
            <a:pPr lvl="1"/>
            <a:r>
              <a:rPr lang="en-US" dirty="0" err="1"/>
              <a:t>esal</a:t>
            </a:r>
            <a:r>
              <a:rPr lang="en-US" dirty="0"/>
              <a:t>=float(input("Enter Employee Salary:"))</a:t>
            </a:r>
          </a:p>
          <a:p>
            <a:pPr lvl="1"/>
            <a:r>
              <a:rPr lang="en-US" dirty="0" err="1"/>
              <a:t>eaddr</a:t>
            </a:r>
            <a:r>
              <a:rPr lang="en-US" dirty="0"/>
              <a:t>=input("Enter Employee Address:")</a:t>
            </a:r>
          </a:p>
          <a:p>
            <a:pPr lvl="1"/>
            <a:r>
              <a:rPr lang="en-US" dirty="0"/>
              <a:t>e=</a:t>
            </a:r>
            <a:r>
              <a:rPr lang="en-US" dirty="0" err="1"/>
              <a:t>emp.Employee</a:t>
            </a:r>
            <a:r>
              <a:rPr lang="en-US" dirty="0"/>
              <a:t>(</a:t>
            </a:r>
            <a:r>
              <a:rPr lang="en-US" dirty="0" err="1"/>
              <a:t>eno,ename,esal,eaddr</a:t>
            </a:r>
            <a:r>
              <a:rPr lang="en-US" dirty="0"/>
              <a:t>)</a:t>
            </a:r>
          </a:p>
          <a:p>
            <a:pPr lvl="1"/>
            <a:r>
              <a:rPr lang="en-US" dirty="0" err="1"/>
              <a:t>pickle.dump</a:t>
            </a:r>
            <a:r>
              <a:rPr lang="en-US" dirty="0"/>
              <a:t>(</a:t>
            </a:r>
            <a:r>
              <a:rPr lang="en-US" dirty="0" err="1"/>
              <a:t>e,f</a:t>
            </a:r>
            <a:r>
              <a:rPr lang="en-US" dirty="0"/>
              <a:t>)</a:t>
            </a:r>
          </a:p>
          <a:p>
            <a:r>
              <a:rPr lang="en-US" dirty="0"/>
              <a:t>print("Employee Objects pickled successfully")</a:t>
            </a:r>
          </a:p>
        </p:txBody>
      </p:sp>
    </p:spTree>
    <p:extLst>
      <p:ext uri="{BB962C8B-B14F-4D97-AF65-F5344CB8AC3E}">
        <p14:creationId xmlns:p14="http://schemas.microsoft.com/office/powerpoint/2010/main" val="3137090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2560</TotalTime>
  <Words>3530</Words>
  <Application>Microsoft Macintosh PowerPoint</Application>
  <PresentationFormat>Widescreen</PresentationFormat>
  <Paragraphs>395</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Display</vt:lpstr>
      <vt:lpstr>Arial</vt:lpstr>
      <vt:lpstr>Calibri,Bold</vt:lpstr>
      <vt:lpstr>Office Theme</vt:lpstr>
      <vt:lpstr>PythonDS-15 File Handling</vt:lpstr>
      <vt:lpstr>PowerPoint Presentation</vt:lpstr>
      <vt:lpstr>Opening a File</vt:lpstr>
      <vt:lpstr>File Modes and Its Purpose</vt:lpstr>
      <vt:lpstr>Opening a File</vt:lpstr>
      <vt:lpstr> Closing a File</vt:lpstr>
      <vt:lpstr>Various Properties of File Object</vt:lpstr>
      <vt:lpstr>Demo Program</vt:lpstr>
      <vt:lpstr> Methods to Write Data to Text Files</vt:lpstr>
      <vt:lpstr>PowerPoint Presentation</vt:lpstr>
      <vt:lpstr>Methods to read data from File</vt:lpstr>
      <vt:lpstr>PowerPoint Presentation</vt:lpstr>
      <vt:lpstr>Reads a line at a time</vt:lpstr>
      <vt:lpstr>Reads all data into list of lines</vt:lpstr>
      <vt:lpstr>Predict Output</vt:lpstr>
      <vt:lpstr>The with Statement</vt:lpstr>
      <vt:lpstr>The seek() and tell() Methods</vt:lpstr>
      <vt:lpstr>PowerPoint Presentation</vt:lpstr>
      <vt:lpstr>PowerPoint Presentation</vt:lpstr>
      <vt:lpstr>Check a particular File exists OR not?</vt:lpstr>
      <vt:lpstr>PowerPoint Presentation</vt:lpstr>
      <vt:lpstr>Handling Binary Data</vt:lpstr>
      <vt:lpstr>Handling CSV Files</vt:lpstr>
      <vt:lpstr>PowerPoint Presentation</vt:lpstr>
      <vt:lpstr>Reading data from CSV file</vt:lpstr>
      <vt:lpstr> Zipping and Unzipping Files</vt:lpstr>
      <vt:lpstr>PowerPoint Presentation</vt:lpstr>
      <vt:lpstr>unzip Operation</vt:lpstr>
      <vt:lpstr>PowerPoint Presentation</vt:lpstr>
      <vt:lpstr>Working with Directories:</vt:lpstr>
      <vt:lpstr>PowerPoint Presentation</vt:lpstr>
      <vt:lpstr>PowerPoint Presentation</vt:lpstr>
      <vt:lpstr>To Know Contents of Directory including Sub Directories</vt:lpstr>
      <vt:lpstr>PowerPoint Presentation</vt:lpstr>
      <vt:lpstr>PowerPoint Presentation</vt:lpstr>
      <vt:lpstr>How to get Information about a File</vt:lpstr>
      <vt:lpstr>PowerPoint Presentation</vt:lpstr>
      <vt:lpstr>Pickling and Unpickling of Objects</vt:lpstr>
      <vt:lpstr>Writing and Reading State of Object by using pickle Module:</vt:lpstr>
      <vt:lpstr>Writing Multiple Employee Objects to the File: emp.py:</vt:lpstr>
      <vt:lpstr>pick.py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250</cp:revision>
  <dcterms:created xsi:type="dcterms:W3CDTF">2026-01-15T04:12:31Z</dcterms:created>
  <dcterms:modified xsi:type="dcterms:W3CDTF">2026-04-03T06:38:55Z</dcterms:modified>
</cp:coreProperties>
</file>