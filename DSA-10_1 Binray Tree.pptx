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6" r:id="rId9"/>
    <p:sldId id="277" r:id="rId10"/>
    <p:sldId id="278" r:id="rId11"/>
    <p:sldId id="279" r:id="rId12"/>
    <p:sldId id="280" r:id="rId13"/>
    <p:sldId id="272" r:id="rId14"/>
    <p:sldId id="273" r:id="rId15"/>
    <p:sldId id="274" r:id="rId16"/>
    <p:sldId id="275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78"/>
    <p:restoredTop sz="94476"/>
  </p:normalViewPr>
  <p:slideViewPr>
    <p:cSldViewPr snapToGrid="0">
      <p:cViewPr varScale="1">
        <p:scale>
          <a:sx n="68" d="100"/>
          <a:sy n="68" d="100"/>
        </p:scale>
        <p:origin x="21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wscubetech.com/resources/dsa/full-binary-tre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wscubetech.com/resources/dsa/complete-binary-tre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wscubetech.com/resources/dsa/perfect-binary-tre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wscubetech.com/resources/dsa/balanced-binary-tre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wscubetech.com/resources/dsa/linked-list-data-structure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queue-data-structure/" TargetMode="External"/><Relationship Id="rId2" Type="http://schemas.openxmlformats.org/officeDocument/2006/relationships/hyperlink" Target="https://www.geeksforgeeks.org/dsa/level-order-tree-traversal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level-order-tree-traversal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 </a:t>
            </a:r>
            <a:r>
              <a:rPr lang="en-US"/>
              <a:t>Data Structure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1AE8-B9F5-F655-FFB2-59D28901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3FA8-619F-4D85-1B90-597E0158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CBD4A9-38A3-16F3-F5F9-0D47C4A75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65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46D4-D0B2-6C91-3317-924EA047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Types of Tree Data Structures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84867-C6E7-42B4-25F1-1610E49AA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Tree data structures can be classified based on the number of children each node can have.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Binary Tree: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Each node can have a maximum of two children.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Full Binary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– every node has either 0 or 2 children.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Complete Binary Tree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– all levels are fully filled except possibly the last, which is filled from left to right.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Balanced Binary Tree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– height difference between left and right subtrees of every node is minimal.</a:t>
            </a:r>
          </a:p>
        </p:txBody>
      </p:sp>
    </p:spTree>
    <p:extLst>
      <p:ext uri="{BB962C8B-B14F-4D97-AF65-F5344CB8AC3E}">
        <p14:creationId xmlns:p14="http://schemas.microsoft.com/office/powerpoint/2010/main" val="41532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17A5-045E-90A6-DC36-3BBCCACA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Binary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7DB93-F224-3DB4-5EBE-457FD3A24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euclid_circular_a"/>
              </a:rPr>
              <a:t>A binary tree is a tree data structure in which each parent node can have at most two children. 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Each node of a binary tree consists of three items: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euclid_circular_a"/>
              </a:rPr>
              <a:t>data item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euclid_circular_a"/>
              </a:rPr>
              <a:t>address of left child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euclid_circular_a"/>
              </a:rPr>
              <a:t>address of right child</a:t>
            </a:r>
            <a:br>
              <a:rPr lang="en-IN" dirty="0"/>
            </a:br>
            <a:endParaRPr lang="en-US" dirty="0"/>
          </a:p>
        </p:txBody>
      </p:sp>
      <p:pic>
        <p:nvPicPr>
          <p:cNvPr id="1026" name="Picture 2" descr="Binary Tree">
            <a:extLst>
              <a:ext uri="{FF2B5EF4-FFF2-40B4-BE49-F238E27FC236}">
                <a16:creationId xmlns:a16="http://schemas.microsoft.com/office/drawing/2014/main" id="{CB56D78B-B2F5-6784-AD4D-1609A6E08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604" y="2834256"/>
            <a:ext cx="7369967" cy="3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18DB82-0F6A-DEF8-C6C8-1DB031017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87" y="5089129"/>
            <a:ext cx="5915387" cy="13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8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BFDA-3A32-DA2D-A1BA-7EF11ABC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Types of Binary Tree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F8F3-3883-3F2A-57C5-3E6C9EFD9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1. Full Binary Tree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A full Binary tree is a special type of binary tree in which every parent node/internal node has either two or no children.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It is also known as</a:t>
            </a:r>
            <a:r>
              <a:rPr lang="en-IN" b="1" i="0" dirty="0">
                <a:effectLst/>
                <a:latin typeface="euclid_circular_a"/>
              </a:rPr>
              <a:t> a proper binary tree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2050" name="Picture 2" descr="Full binary tree">
            <a:extLst>
              <a:ext uri="{FF2B5EF4-FFF2-40B4-BE49-F238E27FC236}">
                <a16:creationId xmlns:a16="http://schemas.microsoft.com/office/drawing/2014/main" id="{266F0A25-5461-DF9E-0590-C14CB2AB9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534" y="2543175"/>
            <a:ext cx="339619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342006-E1EF-23C5-5A45-80FE873A0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41201"/>
            <a:ext cx="6807243" cy="311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8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6C77-28F8-9DC2-0D79-1875373C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Full Binary Tree Theorems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038E-FE7C-48F9-D36F-8C4979826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number of leaves is </a:t>
            </a:r>
            <a:r>
              <a:rPr lang="en-IN" b="0" i="0" dirty="0" err="1">
                <a:effectLst/>
                <a:latin typeface="euclid_circular_a"/>
              </a:rPr>
              <a:t>i</a:t>
            </a:r>
            <a:r>
              <a:rPr lang="en-IN" b="0" i="0" dirty="0">
                <a:effectLst/>
                <a:latin typeface="euclid_circular_a"/>
              </a:rPr>
              <a:t> + 1.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total number of nodes is 2i + 1.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number of internal nodes is </a:t>
            </a:r>
            <a:r>
              <a:rPr lang="en-IN" b="0" i="0" dirty="0">
                <a:effectLst/>
                <a:latin typeface="Droid Sans Mono"/>
              </a:rPr>
              <a:t>(n – 1) / 2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number of leaves is (n + 1) / 2.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total number of nodes is 2l – 1.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number of internal nodes is l – 1.</a:t>
            </a:r>
          </a:p>
          <a:p>
            <a:pPr algn="l">
              <a:buFont typeface="+mj-lt"/>
              <a:buAutoNum type="arabicPeriod"/>
            </a:pPr>
            <a:r>
              <a:rPr lang="en-IN" b="0" i="0" dirty="0">
                <a:effectLst/>
                <a:latin typeface="euclid_circular_a"/>
              </a:rPr>
              <a:t>The number of leaves is at most 2</a:t>
            </a:r>
            <a:r>
              <a:rPr lang="el-GR" b="0" i="0" baseline="30000" dirty="0">
                <a:effectLst/>
                <a:latin typeface="euclid_circular_a"/>
              </a:rPr>
              <a:t>λ - 1</a:t>
            </a:r>
            <a:r>
              <a:rPr lang="el-GR" b="0" i="0" dirty="0">
                <a:effectLst/>
                <a:latin typeface="euclid_circular_a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4CE82-9AC8-CCDD-D35C-54EF956D5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4337247"/>
            <a:ext cx="5505450" cy="252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1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A3B8-844A-9501-4016-5A2C170C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1C023-FC0E-8923-5086-7A0B3315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159AC-ABD7-4FD2-686A-4ADF9859A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803" y="0"/>
            <a:ext cx="5298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5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598-E812-B4D6-30FE-50ACAFA3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A </a:t>
            </a:r>
            <a:r>
              <a:rPr lang="en-IN" b="0" i="0" u="none" strike="noStrike" dirty="0">
                <a:solidFill>
                  <a:srgbClr val="194CFF"/>
                </a:solidFill>
                <a:effectLst/>
                <a:latin typeface="Inter"/>
                <a:hlinkClick r:id="rId2"/>
              </a:rPr>
              <a:t>full binary tree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is a tree where every node has either 0 or 2 children.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8B921-1834-917B-001B-F8266DC49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Full binary tree">
            <a:extLst>
              <a:ext uri="{FF2B5EF4-FFF2-40B4-BE49-F238E27FC236}">
                <a16:creationId xmlns:a16="http://schemas.microsoft.com/office/drawing/2014/main" id="{ECFDCD09-74A6-F075-CF7B-4AEB50C63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430" y="1690688"/>
            <a:ext cx="12192000" cy="549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769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39CE-8289-8077-5B34-1D58AFB6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A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u="none" strike="noStrike" dirty="0">
                <a:solidFill>
                  <a:srgbClr val="194CFF"/>
                </a:solidFill>
                <a:effectLst/>
                <a:latin typeface="Inter"/>
                <a:hlinkClick r:id="rId2"/>
              </a:rPr>
              <a:t>complete binary tree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is a tree where all levels are fully filled except possibly the last level, which is filled from left to right.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98031-95C2-B4A0-0CF0-7B57915E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 Complete binary tree">
            <a:extLst>
              <a:ext uri="{FF2B5EF4-FFF2-40B4-BE49-F238E27FC236}">
                <a16:creationId xmlns:a16="http://schemas.microsoft.com/office/drawing/2014/main" id="{FD1823E1-DFB1-F0F4-EC6F-C51FE0C5B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740" y="1825625"/>
            <a:ext cx="12192000" cy="549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08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DA51-0506-FB80-1360-1CF50186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A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u="none" strike="noStrike" dirty="0">
                <a:solidFill>
                  <a:srgbClr val="194CFF"/>
                </a:solidFill>
                <a:effectLst/>
                <a:latin typeface="Inter"/>
                <a:hlinkClick r:id="rId2"/>
              </a:rPr>
              <a:t>perfect binary tree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is a tree where all internal nodes have exactly two children and all leaf nodes are at the same level.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FD16-30AB-9673-893D-A9614E8D1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erfect binary tree">
            <a:extLst>
              <a:ext uri="{FF2B5EF4-FFF2-40B4-BE49-F238E27FC236}">
                <a16:creationId xmlns:a16="http://schemas.microsoft.com/office/drawing/2014/main" id="{435D5519-B344-5BC3-7594-4D71E67AF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020" y="1782128"/>
            <a:ext cx="10782300" cy="569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84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31C4-FEDF-CFAF-D4C5-1E4D8353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A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u="none" strike="noStrike" dirty="0">
                <a:solidFill>
                  <a:srgbClr val="194CFF"/>
                </a:solidFill>
                <a:effectLst/>
                <a:latin typeface="Inter"/>
                <a:hlinkClick r:id="rId2"/>
              </a:rPr>
              <a:t>balanced binary tree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is a tree where the height of the left and right subtrees of any node differ by at most one.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7B28-E8E5-E7DE-2945-58369F72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Balanced binary tree">
            <a:extLst>
              <a:ext uri="{FF2B5EF4-FFF2-40B4-BE49-F238E27FC236}">
                <a16:creationId xmlns:a16="http://schemas.microsoft.com/office/drawing/2014/main" id="{7544B984-E232-3517-E3E6-45AC3EE32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140" y="2271713"/>
            <a:ext cx="12192000" cy="458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46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59147-5BDD-B57F-07DD-3D9047E3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IN" b="1" i="0" dirty="0">
                <a:solidFill>
                  <a:srgbClr val="4B5563"/>
                </a:solidFill>
                <a:effectLst/>
                <a:latin typeface="Inter"/>
              </a:rPr>
              <a:t>Degenerate (or Pathological)</a:t>
            </a:r>
            <a:br>
              <a:rPr lang="en-IN" b="1" i="0" dirty="0">
                <a:solidFill>
                  <a:srgbClr val="4B5563"/>
                </a:solidFill>
                <a:effectLst/>
                <a:latin typeface="Inter"/>
              </a:rPr>
            </a:br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A degenerate binary tree is a tree where each parent node has only one child. This makes the tree look like a</a:t>
            </a:r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 </a:t>
            </a:r>
            <a:r>
              <a:rPr lang="en-IN" b="0" i="0" u="none" strike="noStrike" dirty="0">
                <a:solidFill>
                  <a:srgbClr val="194CFF"/>
                </a:solidFill>
                <a:effectLst/>
                <a:latin typeface="Inter"/>
                <a:hlinkClick r:id="rId2"/>
              </a:rPr>
              <a:t>linked list</a:t>
            </a:r>
            <a:r>
              <a:rPr lang="en-IN" b="0" i="0" dirty="0">
                <a:solidFill>
                  <a:srgbClr val="666666"/>
                </a:solidFill>
                <a:effectLst/>
                <a:latin typeface="Inter"/>
              </a:rPr>
              <a:t>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D597-6EE2-5059-717F-1158D5BD9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egenerate binary tree ">
            <a:extLst>
              <a:ext uri="{FF2B5EF4-FFF2-40B4-BE49-F238E27FC236}">
                <a16:creationId xmlns:a16="http://schemas.microsoft.com/office/drawing/2014/main" id="{B9AE73A8-6C57-23BA-5B60-1CE278BB8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2103279"/>
            <a:ext cx="11186160" cy="541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248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9840-9BF6-DBBC-F9EB-B3F3C3A0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i="0" dirty="0">
                <a:solidFill>
                  <a:srgbClr val="273239"/>
                </a:solidFill>
                <a:effectLst/>
                <a:latin typeface="Source Sans 3"/>
              </a:rPr>
              <a:t>Insertion in a Binary Tree in level order</a:t>
            </a:r>
            <a:endParaRPr lang="en-IN" b="0" i="0" dirty="0">
              <a:solidFill>
                <a:srgbClr val="6D6D6D"/>
              </a:solidFill>
              <a:effectLst/>
              <a:latin typeface="Source Sans 3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2C9DD-9282-6DF3-C766-471DCF23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7" name="Picture 3" descr="insertion-in-a-binary-tree-in-level-order">
            <a:extLst>
              <a:ext uri="{FF2B5EF4-FFF2-40B4-BE49-F238E27FC236}">
                <a16:creationId xmlns:a16="http://schemas.microsoft.com/office/drawing/2014/main" id="{8452B53F-00B8-0180-2B07-9F84669C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5715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insertion-in-a-binary-tree-in-level-order-2">
            <a:extLst>
              <a:ext uri="{FF2B5EF4-FFF2-40B4-BE49-F238E27FC236}">
                <a16:creationId xmlns:a16="http://schemas.microsoft.com/office/drawing/2014/main" id="{FA357100-9519-A847-E61A-9E1E9129C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711325"/>
            <a:ext cx="5715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19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A07A-DE35-B347-B0F2-4224F016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Algorithm in General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C5ED-1F92-FCE0-249A-D5DA18BEC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solidFill>
                  <a:srgbClr val="273239"/>
                </a:solidFill>
                <a:latin typeface="Nunito" pitchFamily="2" charset="77"/>
              </a:rPr>
              <a:t>I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terate </a:t>
            </a:r>
            <a:r>
              <a:rPr lang="en-IN" b="0" i="1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level order traversal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 of the given tree using </a:t>
            </a:r>
            <a:r>
              <a:rPr lang="en-IN" b="0" i="1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queue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If we find a node whose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 left child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is empty, we make a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new key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as the left child of the node. </a:t>
            </a:r>
          </a:p>
          <a:p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Else if we find a node whose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right child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is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empty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, we make the new key as the right child. </a:t>
            </a:r>
          </a:p>
          <a:p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We keep traversing the tree until we find a node whose either left or right child is empty.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54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E106-6AE9-DB71-9F86-7BE73709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2E69D-E8F3-5412-E3A3-92FA49914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C1B04-3382-E5D3-ED00-1179A777D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172" y="0"/>
            <a:ext cx="47296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77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05B6-FE7E-9072-D5D7-6A503430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6C8-9D58-CD7F-77DF-0B7DA9B0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E9406-3205-33A3-8194-D266C6DE7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407"/>
            <a:ext cx="5907629" cy="4893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D25E42-E1E1-0DD7-21CC-4337ACB99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42" y="0"/>
            <a:ext cx="6468357" cy="616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69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3D11-815E-C317-5606-66D9FD57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Operation in General 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1701F-3ADD-25CF-D4DD-140C24F50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a general binary tree, the deletion process is simpler and aims to maintain the tree's structure rather than key order. </a:t>
            </a:r>
          </a:p>
          <a:p>
            <a:r>
              <a:rPr lang="en-US" dirty="0"/>
              <a:t>Find the node to be deleted.</a:t>
            </a:r>
          </a:p>
          <a:p>
            <a:r>
              <a:rPr lang="en-US" dirty="0"/>
              <a:t>Find the deepest and rightmost node in the entire tree.</a:t>
            </a:r>
          </a:p>
          <a:p>
            <a:r>
              <a:rPr lang="en-US" dirty="0"/>
              <a:t>Replace the data of the node to be deleted with the data of the deepest and rightmost node.</a:t>
            </a:r>
          </a:p>
          <a:p>
            <a:r>
              <a:rPr lang="en-US" dirty="0"/>
              <a:t>Remove the deepest and rightmost node from its original position. </a:t>
            </a:r>
          </a:p>
          <a:p>
            <a:r>
              <a:rPr lang="en-US" dirty="0"/>
              <a:t>This approach ensures the tree "shrinks from the bottom," which helps in maintaining the overall balance, though it has a time complexity of O(n) in the worst case because the entire tree may need to be traversed to find the deepest node.</a:t>
            </a:r>
          </a:p>
        </p:txBody>
      </p:sp>
    </p:spTree>
    <p:extLst>
      <p:ext uri="{BB962C8B-B14F-4D97-AF65-F5344CB8AC3E}">
        <p14:creationId xmlns:p14="http://schemas.microsoft.com/office/powerpoint/2010/main" val="1013191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2BF8-0CC0-D739-BE07-C14A729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E1B4-8108-E0EF-CC8D-E16B6AF86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The idea is to traverse the tree in </a:t>
            </a:r>
            <a:r>
              <a:rPr lang="en-IN" b="0" i="1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level order manner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. </a:t>
            </a:r>
          </a:p>
          <a:p>
            <a:pPr algn="l" rtl="0" fontAlgn="base"/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To perform the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 Deletion in a Binary Tree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follow below: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Starting at the root, find the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deepest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and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rightmost node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 in the binary tree and the node which we want to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delete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Replace the deepest rightmost node’s data with the node to be deleted.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Then 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delete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the deepest rightmost node.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45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BDC0-747D-545A-637B-F2D0EAAA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004D5-2B88-14B2-9780-2B3D8F4A5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eletion-in-a-binary-tree-5">
            <a:extLst>
              <a:ext uri="{FF2B5EF4-FFF2-40B4-BE49-F238E27FC236}">
                <a16:creationId xmlns:a16="http://schemas.microsoft.com/office/drawing/2014/main" id="{794565A0-3EA6-73AB-1985-9F821824D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" y="0"/>
            <a:ext cx="9783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85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3983</TotalTime>
  <Words>686</Words>
  <Application>Microsoft Macintosh PowerPoint</Application>
  <PresentationFormat>Widescreen</PresentationFormat>
  <Paragraphs>54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Droid Sans Mono</vt:lpstr>
      <vt:lpstr>euclid_circular_a</vt:lpstr>
      <vt:lpstr>Inter</vt:lpstr>
      <vt:lpstr>Nunito</vt:lpstr>
      <vt:lpstr>Source Sans 3</vt:lpstr>
      <vt:lpstr>Office Theme</vt:lpstr>
      <vt:lpstr>Tree Data Structure</vt:lpstr>
      <vt:lpstr>PowerPoint Presentation</vt:lpstr>
      <vt:lpstr>Types of Tree Data Structures</vt:lpstr>
      <vt:lpstr>Binary Tree</vt:lpstr>
      <vt:lpstr>Types of Binary Tree</vt:lpstr>
      <vt:lpstr>Full Binary Tree Theorems</vt:lpstr>
      <vt:lpstr>PowerPoint Presentation</vt:lpstr>
      <vt:lpstr>A full binary tree is a tree where every node has either 0 or 2 children.</vt:lpstr>
      <vt:lpstr>A complete binary tree is a tree where all levels are fully filled except possibly the last level, which is filled from left to right.</vt:lpstr>
      <vt:lpstr>A perfect binary tree is a tree where all internal nodes have exactly two children and all leaf nodes are at the same level.</vt:lpstr>
      <vt:lpstr>A balanced binary tree is a tree where the height of the left and right subtrees of any node differ by at most one.</vt:lpstr>
      <vt:lpstr>Degenerate (or Pathological) A degenerate binary tree is a tree where each parent node has only one child. This makes the tree look like a linked list.</vt:lpstr>
      <vt:lpstr>Insertion in a Binary Tree in level order</vt:lpstr>
      <vt:lpstr>Insert Algorithm in General Binary Tree</vt:lpstr>
      <vt:lpstr>PowerPoint Presentation</vt:lpstr>
      <vt:lpstr>PowerPoint Presentation</vt:lpstr>
      <vt:lpstr>Delete Operation in General Binary Trees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110</cp:revision>
  <dcterms:created xsi:type="dcterms:W3CDTF">2026-01-15T04:12:31Z</dcterms:created>
  <dcterms:modified xsi:type="dcterms:W3CDTF">2026-03-11T07:26:52Z</dcterms:modified>
</cp:coreProperties>
</file>