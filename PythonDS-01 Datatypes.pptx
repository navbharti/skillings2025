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2" r:id="rId9"/>
    <p:sldId id="265" r:id="rId10"/>
    <p:sldId id="263" r:id="rId11"/>
    <p:sldId id="264" r:id="rId12"/>
    <p:sldId id="299" r:id="rId13"/>
    <p:sldId id="300" r:id="rId14"/>
    <p:sldId id="301" r:id="rId15"/>
    <p:sldId id="302" r:id="rId16"/>
    <p:sldId id="266" r:id="rId17"/>
    <p:sldId id="267" r:id="rId18"/>
    <p:sldId id="268" r:id="rId19"/>
    <p:sldId id="269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5" r:id="rId70"/>
    <p:sldId id="324" r:id="rId71"/>
    <p:sldId id="326" r:id="rId72"/>
    <p:sldId id="32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geeksforgeeks.org/python/python-for-loops/" TargetMode="External"/><Relationship Id="rId18" Type="http://schemas.openxmlformats.org/officeDocument/2006/relationships/hyperlink" Target="https://www.geeksforgeeks.org/python/python-try-except/" TargetMode="External"/><Relationship Id="rId26" Type="http://schemas.openxmlformats.org/officeDocument/2006/relationships/hyperlink" Target="https://www.geeksforgeeks.org/python/python-classes-and-objects/" TargetMode="External"/><Relationship Id="rId3" Type="http://schemas.openxmlformats.org/officeDocument/2006/relationships/hyperlink" Target="https://www.geeksforgeeks.org/python/python-false-keyword/" TargetMode="External"/><Relationship Id="rId21" Type="http://schemas.openxmlformats.org/officeDocument/2006/relationships/hyperlink" Target="https://www.geeksforgeeks.org/python/python-assert-keyword/" TargetMode="External"/><Relationship Id="rId34" Type="http://schemas.openxmlformats.org/officeDocument/2006/relationships/hyperlink" Target="https://www.geeksforgeeks.org/python/await-in-python/" TargetMode="External"/><Relationship Id="rId7" Type="http://schemas.openxmlformats.org/officeDocument/2006/relationships/hyperlink" Target="https://www.geeksforgeeks.org/python/python-not-keyword/" TargetMode="External"/><Relationship Id="rId12" Type="http://schemas.openxmlformats.org/officeDocument/2006/relationships/hyperlink" Target="https://www.geeksforgeeks.org/python/python3-if-if-else-nested-if-if-elif-statements/" TargetMode="External"/><Relationship Id="rId17" Type="http://schemas.openxmlformats.org/officeDocument/2006/relationships/hyperlink" Target="https://www.geeksforgeeks.org/python/python-pass-statement/" TargetMode="External"/><Relationship Id="rId25" Type="http://schemas.openxmlformats.org/officeDocument/2006/relationships/hyperlink" Target="https://www.geeksforgeeks.org/python/python-yield-keyword/" TargetMode="External"/><Relationship Id="rId33" Type="http://schemas.openxmlformats.org/officeDocument/2006/relationships/hyperlink" Target="https://www.geeksforgeeks.org/python/python-async/" TargetMode="External"/><Relationship Id="rId2" Type="http://schemas.openxmlformats.org/officeDocument/2006/relationships/hyperlink" Target="https://www.geeksforgeeks.org/python/python-true-keyword/" TargetMode="External"/><Relationship Id="rId16" Type="http://schemas.openxmlformats.org/officeDocument/2006/relationships/hyperlink" Target="https://www.geeksforgeeks.org/python/python-continue-statement/" TargetMode="External"/><Relationship Id="rId20" Type="http://schemas.openxmlformats.org/officeDocument/2006/relationships/hyperlink" Target="https://www.geeksforgeeks.org/python/python-raise-keyword/" TargetMode="External"/><Relationship Id="rId29" Type="http://schemas.openxmlformats.org/officeDocument/2006/relationships/hyperlink" Target="https://www.geeksforgeeks.org/python/import-module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or-keyword/" TargetMode="External"/><Relationship Id="rId11" Type="http://schemas.openxmlformats.org/officeDocument/2006/relationships/hyperlink" Target="https://www.geeksforgeeks.org/python/python-if-else/" TargetMode="External"/><Relationship Id="rId24" Type="http://schemas.openxmlformats.org/officeDocument/2006/relationships/hyperlink" Target="https://www.geeksforgeeks.org/python/python-lambda/" TargetMode="External"/><Relationship Id="rId32" Type="http://schemas.openxmlformats.org/officeDocument/2006/relationships/hyperlink" Target="https://www.geeksforgeeks.org/python/python-nonlocal-keyword/" TargetMode="External"/><Relationship Id="rId5" Type="http://schemas.openxmlformats.org/officeDocument/2006/relationships/hyperlink" Target="https://www.geeksforgeeks.org/python/python-and-keyword/" TargetMode="External"/><Relationship Id="rId15" Type="http://schemas.openxmlformats.org/officeDocument/2006/relationships/hyperlink" Target="https://www.geeksforgeeks.org/python/python-break-statement/" TargetMode="External"/><Relationship Id="rId23" Type="http://schemas.openxmlformats.org/officeDocument/2006/relationships/hyperlink" Target="https://www.geeksforgeeks.org/python/python-return-statement/" TargetMode="External"/><Relationship Id="rId28" Type="http://schemas.openxmlformats.org/officeDocument/2006/relationships/hyperlink" Target="https://www.geeksforgeeks.org/python/python-as-keyword/" TargetMode="External"/><Relationship Id="rId10" Type="http://schemas.openxmlformats.org/officeDocument/2006/relationships/hyperlink" Target="https://www.geeksforgeeks.org/python/nested-if-statement-in-python/" TargetMode="External"/><Relationship Id="rId19" Type="http://schemas.openxmlformats.org/officeDocument/2006/relationships/hyperlink" Target="https://www.geeksforgeeks.org/python/finally-keyword-in-python/" TargetMode="External"/><Relationship Id="rId31" Type="http://schemas.openxmlformats.org/officeDocument/2006/relationships/hyperlink" Target="https://www.geeksforgeeks.org/python/global-keyword-in-python/" TargetMode="External"/><Relationship Id="rId4" Type="http://schemas.openxmlformats.org/officeDocument/2006/relationships/hyperlink" Target="https://www.geeksforgeeks.org/python/python-none-keyword/" TargetMode="External"/><Relationship Id="rId9" Type="http://schemas.openxmlformats.org/officeDocument/2006/relationships/hyperlink" Target="https://www.geeksforgeeks.org/python/python-in-keyword/" TargetMode="External"/><Relationship Id="rId14" Type="http://schemas.openxmlformats.org/officeDocument/2006/relationships/hyperlink" Target="https://www.geeksforgeeks.org/python/python-while-loop/" TargetMode="External"/><Relationship Id="rId22" Type="http://schemas.openxmlformats.org/officeDocument/2006/relationships/hyperlink" Target="https://www.geeksforgeeks.org/python/python-def-keyword/" TargetMode="External"/><Relationship Id="rId27" Type="http://schemas.openxmlformats.org/officeDocument/2006/relationships/hyperlink" Target="https://www.geeksforgeeks.org/python/with-statement-in-python/" TargetMode="External"/><Relationship Id="rId30" Type="http://schemas.openxmlformats.org/officeDocument/2006/relationships/hyperlink" Target="https://www.geeksforgeeks.org/python/python-from-keyword/" TargetMode="External"/><Relationship Id="rId8" Type="http://schemas.openxmlformats.org/officeDocument/2006/relationships/hyperlink" Target="https://www.geeksforgeeks.org/python/is-keyword-in-pytho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python.org/3/library/stdtype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edu/python/string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frozenset-in-python/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ictionary-pop-method/" TargetMode="External"/><Relationship Id="rId2" Type="http://schemas.openxmlformats.org/officeDocument/2006/relationships/hyperlink" Target="https://www.geeksforgeeks.org/python/python-del-to-delete-objec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python/python-dictionary-popitem-method/" TargetMode="External"/><Relationship Id="rId4" Type="http://schemas.openxmlformats.org/officeDocument/2006/relationships/hyperlink" Target="https://www.geeksforgeeks.org/python/python-dictionary-clear/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ictionary-values/" TargetMode="External"/><Relationship Id="rId2" Type="http://schemas.openxmlformats.org/officeDocument/2006/relationships/hyperlink" Target="https://www.geeksforgeeks.org/python/python-dictionary-keys-metho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python/python-dictionary-items-method/" TargetMode="Externa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6CD-D1D0-8FA3-6DF0-31332601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2D22-199E-07CF-A201-8FE297BC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 </a:t>
            </a:r>
            <a:r>
              <a:rPr lang="en-IN" b="1" dirty="0">
                <a:effectLst/>
              </a:rPr>
              <a:t>identifier</a:t>
            </a:r>
            <a:r>
              <a:rPr lang="en-IN" dirty="0"/>
              <a:t> in Python is a user-defined name used to identify program elements such as variables, functions, classes, modules, or other objects. They are fundamental for making code readable, organized, and maintainable.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1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A937-F5E3-2D15-B79A-C171DD6C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Naming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136E-E9E2-40EF-F995-4837822A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Valid identifiers must adhere to the following rules:</a:t>
            </a:r>
          </a:p>
          <a:p>
            <a:r>
              <a:rPr lang="en-US" b="1" dirty="0"/>
              <a:t>Allowed Characters</a:t>
            </a:r>
            <a:r>
              <a:rPr lang="en-US" dirty="0"/>
              <a:t>: An identifier can only contain letters (a-z, A-Z), digits (0-9), and underscores (_).</a:t>
            </a:r>
          </a:p>
          <a:p>
            <a:r>
              <a:rPr lang="en-US" b="1" dirty="0"/>
              <a:t>Starting Character</a:t>
            </a:r>
            <a:r>
              <a:rPr lang="en-US" dirty="0"/>
              <a:t>: It must start with a letter or an underscore, never a digit.</a:t>
            </a:r>
          </a:p>
          <a:p>
            <a:r>
              <a:rPr lang="en-US" b="1" dirty="0"/>
              <a:t>No Special Characters/Spaces</a:t>
            </a:r>
            <a:r>
              <a:rPr lang="en-US" dirty="0"/>
              <a:t>: Punctuation characters such as @, $, %, or spaces are not allowed.</a:t>
            </a:r>
          </a:p>
          <a:p>
            <a:r>
              <a:rPr lang="en-US" b="1" dirty="0"/>
              <a:t>No Keywords</a:t>
            </a:r>
            <a:r>
              <a:rPr lang="en-US" dirty="0"/>
              <a:t>: An identifier cannot use any of </a:t>
            </a:r>
            <a:r>
              <a:rPr lang="en-US" b="1" dirty="0"/>
              <a:t>Python's reserved keywords</a:t>
            </a:r>
            <a:r>
              <a:rPr lang="en-US" dirty="0"/>
              <a:t>.</a:t>
            </a:r>
          </a:p>
          <a:p>
            <a:r>
              <a:rPr lang="en-US" b="1" dirty="0"/>
              <a:t>Case-Sensitive</a:t>
            </a:r>
            <a:r>
              <a:rPr lang="en-US" dirty="0"/>
              <a:t>: Python is case-sensitive, meaning </a:t>
            </a:r>
            <a:r>
              <a:rPr lang="en-US" b="1" dirty="0" err="1"/>
              <a:t>myVar</a:t>
            </a:r>
            <a:r>
              <a:rPr lang="en-US" dirty="0"/>
              <a:t> and </a:t>
            </a:r>
            <a:r>
              <a:rPr lang="en-US" b="1" dirty="0" err="1"/>
              <a:t>myvar</a:t>
            </a:r>
            <a:r>
              <a:rPr lang="en-US" dirty="0"/>
              <a:t> are treated as two different identifiers.</a:t>
            </a:r>
          </a:p>
          <a:p>
            <a:r>
              <a:rPr lang="en-US" b="1" dirty="0"/>
              <a:t>Length</a:t>
            </a:r>
            <a:r>
              <a:rPr lang="en-US" dirty="0"/>
              <a:t>: Identifiers can be of any length, though it is a best practice to keep them concise and meaningful. </a:t>
            </a:r>
          </a:p>
          <a:p>
            <a:endParaRPr lang="en-US" dirty="0"/>
          </a:p>
          <a:p>
            <a:r>
              <a:rPr lang="en-US" dirty="0"/>
              <a:t>import keyword</a:t>
            </a:r>
          </a:p>
          <a:p>
            <a:r>
              <a:rPr lang="en-US" dirty="0"/>
              <a:t>print(</a:t>
            </a:r>
            <a:r>
              <a:rPr lang="en-US" dirty="0" err="1"/>
              <a:t>keyword.kwlist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008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FAD6-F269-1FD3-1EC4-C88CEAE7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Reserved Keywords in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849F93-FE7A-2C8F-F0B0-D890623B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544756"/>
              </p:ext>
            </p:extLst>
          </p:nvPr>
        </p:nvGraphicFramePr>
        <p:xfrm>
          <a:off x="838200" y="1690688"/>
          <a:ext cx="10515600" cy="482901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64992">
                  <a:extLst>
                    <a:ext uri="{9D8B030D-6E8A-4147-A177-3AD203B41FA5}">
                      <a16:colId xmlns:a16="http://schemas.microsoft.com/office/drawing/2014/main" val="41742153"/>
                    </a:ext>
                  </a:extLst>
                </a:gridCol>
                <a:gridCol w="7150608">
                  <a:extLst>
                    <a:ext uri="{9D8B030D-6E8A-4147-A177-3AD203B41FA5}">
                      <a16:colId xmlns:a16="http://schemas.microsoft.com/office/drawing/2014/main" val="2353487436"/>
                    </a:ext>
                  </a:extLst>
                </a:gridCol>
              </a:tblGrid>
              <a:tr h="49341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Category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Keywords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00194645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400" b="1" dirty="0">
                          <a:effectLst/>
                        </a:rPr>
                        <a:t>Value Keywords</a:t>
                      </a:r>
                      <a:endParaRPr lang="en-IN" sz="2400" b="0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2"/>
                        </a:rPr>
                        <a:t>True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"/>
                        </a:rPr>
                        <a:t>False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4"/>
                        </a:rPr>
                        <a:t>None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3333455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Operator Keywords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5"/>
                        </a:rPr>
                        <a:t>and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6"/>
                        </a:rPr>
                        <a:t>or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7"/>
                        </a:rPr>
                        <a:t>not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8"/>
                        </a:rPr>
                        <a:t>is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9"/>
                        </a:rPr>
                        <a:t>in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7244657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400" b="1">
                          <a:effectLst/>
                        </a:rPr>
                        <a:t>Control Flow Keywords</a:t>
                      </a:r>
                      <a:endParaRPr lang="en-IN" sz="2400" b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0"/>
                        </a:rPr>
                        <a:t>if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1"/>
                        </a:rPr>
                        <a:t>else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2"/>
                        </a:rPr>
                        <a:t>elif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3"/>
                        </a:rPr>
                        <a:t>for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4"/>
                        </a:rPr>
                        <a:t>while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5"/>
                        </a:rPr>
                        <a:t>break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6"/>
                        </a:rPr>
                        <a:t>continue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7"/>
                        </a:rPr>
                        <a:t>pass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8"/>
                        </a:rPr>
                        <a:t>try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8"/>
                        </a:rPr>
                        <a:t>except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9"/>
                        </a:rPr>
                        <a:t>finally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0"/>
                        </a:rPr>
                        <a:t>raise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1"/>
                        </a:rPr>
                        <a:t>assert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953483930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Function and Class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2"/>
                        </a:rPr>
                        <a:t>def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3"/>
                        </a:rPr>
                        <a:t>return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4"/>
                        </a:rPr>
                        <a:t>lambda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5"/>
                        </a:rPr>
                        <a:t>yield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6"/>
                        </a:rPr>
                        <a:t>class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0583588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Context Management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7"/>
                        </a:rPr>
                        <a:t>with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8"/>
                        </a:rPr>
                        <a:t>as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5350715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Import and Module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9"/>
                        </a:rPr>
                        <a:t>import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0"/>
                        </a:rPr>
                        <a:t>from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36650175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Scope and Namespace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1"/>
                        </a:rPr>
                        <a:t>global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2"/>
                        </a:rPr>
                        <a:t>nonlocal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297751594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Async Programming</a:t>
                      </a:r>
                      <a:endParaRPr lang="en-IN" sz="2400" b="1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3"/>
                        </a:rPr>
                        <a:t>async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4"/>
                        </a:rPr>
                        <a:t>await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05166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90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756E-132E-80FF-3068-53BD105C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D6FE-F89C-F295-2438-13B9FFAF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 diagram illustrating various data types in Python">
            <a:extLst>
              <a:ext uri="{FF2B5EF4-FFF2-40B4-BE49-F238E27FC236}">
                <a16:creationId xmlns:a16="http://schemas.microsoft.com/office/drawing/2014/main" id="{7BE1AC69-DD2E-5EBB-A2B8-9C07B65C0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45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FEDA-233B-6274-FF1C-B9F4080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Datatypes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02F7B-C894-3A28-25A1-B3855F09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Python’s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basic data types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include int, float, complex, str, bytes, 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bytearray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and bool.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check a variable’s type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using the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type() function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convert data types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 Python using functions like int(), float(), str(), and others.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Despite being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dynamically typed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Python does have data types.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most essential data types in Python can be categorized as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numeric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sequence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binary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and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Boolean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2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E6CC-7299-D288-0B7B-FA662BCE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7A31-4970-3D88-BEDE-91EB0CBA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E9D7-2272-0F62-028B-CD870C3E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D783-875C-AC2A-077A-8847D78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1" dirty="0">
                <a:effectLst/>
              </a:rPr>
              <a:t>Note</a:t>
            </a:r>
            <a:r>
              <a:rPr lang="en-IN" dirty="0"/>
              <a:t>: When a number in a non-decimal base is written directly in Python code, it must be prefixed with its base indicator (e.g., </a:t>
            </a:r>
            <a:r>
              <a:rPr lang="en-IN" b="1" dirty="0"/>
              <a:t>0b1010</a:t>
            </a:r>
            <a:r>
              <a:rPr lang="en-IN" dirty="0"/>
              <a:t>, </a:t>
            </a:r>
            <a:r>
              <a:rPr lang="en-IN" b="1" dirty="0"/>
              <a:t>0o12</a:t>
            </a:r>
            <a:r>
              <a:rPr lang="en-IN" dirty="0"/>
              <a:t>, </a:t>
            </a:r>
            <a:r>
              <a:rPr lang="en-IN" b="1" dirty="0"/>
              <a:t>0xa</a:t>
            </a:r>
            <a:r>
              <a:rPr lang="en-IN" dirty="0"/>
              <a:t>). Python automatically interprets these as integers.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IN" dirty="0">
              <a:effectLst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In Python, </a:t>
            </a:r>
            <a:r>
              <a:rPr lang="en-IN" b="1" i="0" dirty="0">
                <a:effectLst/>
                <a:latin typeface="Google Sans"/>
              </a:rPr>
              <a:t>bin()</a:t>
            </a:r>
            <a:r>
              <a:rPr lang="en-IN" b="0" i="0" dirty="0">
                <a:effectLst/>
                <a:latin typeface="Google Sans"/>
              </a:rPr>
              <a:t>, </a:t>
            </a:r>
            <a:r>
              <a:rPr lang="en-IN" b="1" i="0" dirty="0">
                <a:effectLst/>
                <a:latin typeface="Google Sans"/>
              </a:rPr>
              <a:t>oct()</a:t>
            </a:r>
            <a:r>
              <a:rPr lang="en-IN" b="0" i="0" dirty="0">
                <a:effectLst/>
                <a:latin typeface="Google Sans"/>
              </a:rPr>
              <a:t>, and </a:t>
            </a:r>
            <a:r>
              <a:rPr lang="en-IN" b="1" i="0" dirty="0">
                <a:effectLst/>
                <a:latin typeface="Google Sans"/>
              </a:rPr>
              <a:t>hex()</a:t>
            </a:r>
            <a:r>
              <a:rPr lang="en-IN" b="0" i="0" dirty="0">
                <a:effectLst/>
                <a:latin typeface="Google Sans"/>
              </a:rPr>
              <a:t> are built-in functions used to convert an integer to its string representation in binary, octal, and hexadecimal number systems, respectively. 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The </a:t>
            </a:r>
            <a:r>
              <a:rPr lang="en-IN" b="1" i="0" dirty="0">
                <a:effectLst/>
                <a:latin typeface="Google Sans"/>
              </a:rPr>
              <a:t>int()</a:t>
            </a:r>
            <a:r>
              <a:rPr lang="en-IN" b="0" i="0" dirty="0">
                <a:effectLst/>
                <a:latin typeface="Google Sans"/>
              </a:rPr>
              <a:t> function is used to create an integer object from various number systems. </a:t>
            </a:r>
          </a:p>
          <a:p>
            <a:r>
              <a:rPr lang="en-IN" dirty="0"/>
              <a:t>These functions take an integer as an argument and return a string with a specific prefix indicating the base of the number system.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6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F484-1637-7300-A993-B20462E9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481E-92BC-F71B-53AA-CD6D50275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Direct representation in Python</a:t>
            </a:r>
          </a:p>
          <a:p>
            <a:r>
              <a:rPr lang="en-US" dirty="0" err="1"/>
              <a:t>binary_num</a:t>
            </a:r>
            <a:r>
              <a:rPr lang="en-US" dirty="0"/>
              <a:t> = 0b1010</a:t>
            </a:r>
          </a:p>
          <a:p>
            <a:r>
              <a:rPr lang="en-US" dirty="0" err="1"/>
              <a:t>octal_num</a:t>
            </a:r>
            <a:r>
              <a:rPr lang="en-US" dirty="0"/>
              <a:t> = 0o12</a:t>
            </a:r>
          </a:p>
          <a:p>
            <a:r>
              <a:rPr lang="en-US" dirty="0" err="1"/>
              <a:t>hex_num</a:t>
            </a:r>
            <a:r>
              <a:rPr lang="en-US" dirty="0"/>
              <a:t> = 0xa</a:t>
            </a:r>
          </a:p>
          <a:p>
            <a:endParaRPr lang="en-US" dirty="0"/>
          </a:p>
          <a:p>
            <a:r>
              <a:rPr lang="en-US" dirty="0"/>
              <a:t>print(f"{</a:t>
            </a:r>
            <a:r>
              <a:rPr lang="en-US" dirty="0" err="1"/>
              <a:t>binary_num</a:t>
            </a:r>
            <a:r>
              <a:rPr lang="en-US" dirty="0"/>
              <a:t>}, {</a:t>
            </a:r>
            <a:r>
              <a:rPr lang="en-US" dirty="0" err="1"/>
              <a:t>octal_num</a:t>
            </a:r>
            <a:r>
              <a:rPr lang="en-US" dirty="0"/>
              <a:t>}, {</a:t>
            </a:r>
            <a:r>
              <a:rPr lang="en-US" dirty="0" err="1"/>
              <a:t>hex_num</a:t>
            </a:r>
            <a:r>
              <a:rPr lang="en-US" dirty="0"/>
              <a:t>}") # Output: 10, 10,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4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8206-DC16-3843-64BC-01C267D8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a different </a:t>
            </a:r>
            <a:r>
              <a:rPr lang="en-US" dirty="0" err="1"/>
              <a:t>Systemss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B2545C-45F2-B667-13D6-1E74EC56FC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028691"/>
              </p:ext>
            </p:extLst>
          </p:nvPr>
        </p:nvGraphicFramePr>
        <p:xfrm>
          <a:off x="838200" y="1825625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03708428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3875737062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3189877247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324929052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217750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String Prefix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0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 an integer to a binary string (base 2).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bin(10)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'0b1010'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6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oct()		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an integer to an octal string (base 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oct(10)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'0o12'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53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hex()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an integer to a hexadecimal string 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hex(10)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'0xa'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1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int(x)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the value x to a decimal integer.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int('10')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65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int(x, 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the string x from a given base to a decimal integer.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int('1010', 2)</a:t>
                      </a:r>
                    </a:p>
                    <a:p>
                      <a:r>
                        <a:rPr lang="en-US" sz="2000" dirty="0"/>
                        <a:t>int('12’, 8)</a:t>
                      </a:r>
                    </a:p>
                    <a:p>
                      <a:r>
                        <a:rPr lang="en-US" sz="2000" dirty="0"/>
                        <a:t>int(‘a’,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  <a:p>
                      <a:r>
                        <a:rPr lang="en-US" sz="2000" dirty="0"/>
                        <a:t>10</a:t>
                      </a:r>
                    </a:p>
                    <a:p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92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A14C-FA60-4AB8-2CD7-EECE4DBE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15EE6-2A86-9EDC-F2BB-620DB3FC9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We can use resultant string slicing [2:] or the format() function to remove the prefixes if needed. </a:t>
            </a:r>
          </a:p>
          <a:p>
            <a:pPr marL="0" indent="0" algn="l">
              <a:buNone/>
            </a:pP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 = 10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print(bin(</a:t>
            </a: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)[2:]) # Output: 1010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print(format(</a:t>
            </a: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, 'o')) # Output: 12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print(f'{</a:t>
            </a:r>
            <a:r>
              <a:rPr lang="en-IN" b="0" i="0" dirty="0" err="1">
                <a:effectLst/>
                <a:latin typeface="Google Sans"/>
              </a:rPr>
              <a:t>decimal_num:x</a:t>
            </a:r>
            <a:r>
              <a:rPr lang="en-IN" b="0" i="0" dirty="0">
                <a:effectLst/>
                <a:latin typeface="Google Sans"/>
              </a:rPr>
              <a:t>}') # Output: a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dirty="0"/>
              <a:t>The int() function is versatile. When used with a single argument, it converts the argument (which can be a number or a string) into a decimal integer.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pPr algn="l"/>
            <a:r>
              <a:rPr lang="en-IN" dirty="0"/>
              <a:t>When used with two arguments, int(x, base), it converts a string representation x from the specified base (from 2 to 36) into a base-10 integer.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7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8A79-C177-8AA9-5B35-4046958D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238D-5A03-CC0D-FA94-451EF7705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In Python, the complex data type is a built-in numeric type used to represent </a:t>
            </a:r>
            <a:r>
              <a:rPr lang="en-IN" b="1" dirty="0">
                <a:effectLst/>
              </a:rPr>
              <a:t>complex numbers</a:t>
            </a:r>
            <a:r>
              <a:rPr lang="en-IN" dirty="0"/>
              <a:t>, which have both a </a:t>
            </a:r>
            <a:r>
              <a:rPr lang="en-IN" b="1" dirty="0"/>
              <a:t>real</a:t>
            </a:r>
            <a:r>
              <a:rPr lang="en-IN" dirty="0"/>
              <a:t> and an </a:t>
            </a:r>
            <a:r>
              <a:rPr lang="en-IN" b="1" dirty="0"/>
              <a:t>imaginary</a:t>
            </a:r>
            <a:r>
              <a:rPr lang="en-IN" dirty="0"/>
              <a:t> part. They are primarily used in scientific and engineering applications.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Representation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A complex number in Python is written in the form of </a:t>
            </a:r>
            <a:r>
              <a:rPr lang="en-IN" b="1" i="1" dirty="0">
                <a:effectLst/>
                <a:latin typeface="Google Sans"/>
              </a:rPr>
              <a:t>a + </a:t>
            </a:r>
            <a:r>
              <a:rPr lang="en-IN" b="1" i="1" dirty="0" err="1">
                <a:effectLst/>
                <a:latin typeface="Google Sans"/>
              </a:rPr>
              <a:t>bj</a:t>
            </a:r>
            <a:r>
              <a:rPr lang="en-IN" b="0" i="0" dirty="0">
                <a:effectLst/>
                <a:latin typeface="Google Sans"/>
              </a:rPr>
              <a:t>, where: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a is the </a:t>
            </a:r>
            <a:r>
              <a:rPr lang="en-IN" b="1" i="0" dirty="0">
                <a:effectLst/>
                <a:latin typeface="Google Sans"/>
              </a:rPr>
              <a:t>real</a:t>
            </a:r>
            <a:r>
              <a:rPr lang="en-IN" b="0" i="0" dirty="0">
                <a:effectLst/>
                <a:latin typeface="Google Sans"/>
              </a:rPr>
              <a:t> part (a float).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b is the </a:t>
            </a:r>
            <a:r>
              <a:rPr lang="en-IN" b="1" i="0" dirty="0">
                <a:effectLst/>
                <a:latin typeface="Google Sans"/>
              </a:rPr>
              <a:t>imaginary</a:t>
            </a:r>
            <a:r>
              <a:rPr lang="en-IN" b="0" i="0" dirty="0">
                <a:effectLst/>
                <a:latin typeface="Google Sans"/>
              </a:rPr>
              <a:t> part (a float).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j (or J) is the imaginary unit, representing the square root of -1 (√-1).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6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69A9-2A26-FB5A-6042-775B1A21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Creating Complex Number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3526-F993-B3B8-E059-C7766164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Complex numbers can be created using: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Literals:</a:t>
            </a:r>
            <a:r>
              <a:rPr lang="en-IN" b="0" i="0" dirty="0">
                <a:effectLst/>
                <a:latin typeface="Google Sans"/>
              </a:rPr>
              <a:t> Directly writing the number with the j suffix, such as 3 + 5j.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The complex() function:</a:t>
            </a:r>
            <a:endParaRPr lang="en-IN" b="0" i="0" dirty="0">
              <a:effectLst/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complex(real, imaginary) returns a complex number with the specified parts.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complex(string) parses a string representation of a complex number (e.g., '1+1j').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Key Features and Operations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Accessing parts:</a:t>
            </a:r>
            <a:r>
              <a:rPr lang="en-IN" b="0" i="0" dirty="0">
                <a:effectLst/>
                <a:latin typeface="Google Sans"/>
              </a:rPr>
              <a:t> You can access the real and imaginary components using the .real and .</a:t>
            </a:r>
            <a:r>
              <a:rPr lang="en-IN" b="0" i="0" dirty="0" err="1">
                <a:effectLst/>
                <a:latin typeface="Google Sans"/>
              </a:rPr>
              <a:t>imag</a:t>
            </a:r>
            <a:r>
              <a:rPr lang="en-IN" b="0" i="0" dirty="0">
                <a:effectLst/>
                <a:latin typeface="Google Sans"/>
              </a:rPr>
              <a:t> attributes.</a:t>
            </a:r>
          </a:p>
          <a:p>
            <a:r>
              <a:rPr lang="en-US" dirty="0"/>
              <a:t>z = 3 + 4j</a:t>
            </a:r>
          </a:p>
          <a:p>
            <a:r>
              <a:rPr lang="en-US" dirty="0"/>
              <a:t>print(</a:t>
            </a:r>
            <a:r>
              <a:rPr lang="en-US" dirty="0" err="1"/>
              <a:t>z.real</a:t>
            </a:r>
            <a:r>
              <a:rPr lang="en-US" dirty="0"/>
              <a:t>)  # Output: 3.0</a:t>
            </a:r>
          </a:p>
          <a:p>
            <a:r>
              <a:rPr lang="en-US" dirty="0"/>
              <a:t>print(</a:t>
            </a:r>
            <a:r>
              <a:rPr lang="en-US" dirty="0" err="1"/>
              <a:t>z.imag</a:t>
            </a:r>
            <a:r>
              <a:rPr lang="en-US" dirty="0"/>
              <a:t>)  # Output: 4.0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1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8F77-307D-C285-44B8-06AFAC8D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7605A-755A-1D51-C22C-804E6429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Arithmetic operations:</a:t>
            </a:r>
            <a:r>
              <a:rPr lang="en-IN" b="0" i="0" dirty="0">
                <a:effectLst/>
                <a:latin typeface="Google Sans"/>
              </a:rPr>
              <a:t> Standard arithmetic operations (+, -, *, /) are supported for complex numbers, as well as mixed arithmetic with integers and floats.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Conjugate:</a:t>
            </a:r>
            <a:r>
              <a:rPr lang="en-IN" b="0" i="0" dirty="0">
                <a:effectLst/>
                <a:latin typeface="Google Sans"/>
              </a:rPr>
              <a:t> The complex conjugate can be obtained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using the .conjugate() 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Advanced functions:</a:t>
            </a:r>
            <a:r>
              <a:rPr lang="en-IN" b="0" i="0" dirty="0">
                <a:effectLst/>
                <a:latin typeface="Google Sans"/>
              </a:rPr>
              <a:t> For advanced mathematical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functions (e.g., phase, polar coordinates), Python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provides the built-in </a:t>
            </a:r>
            <a:r>
              <a:rPr lang="en-IN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cmath module</a:t>
            </a:r>
            <a:r>
              <a:rPr lang="en-IN" b="0" i="0" dirty="0">
                <a:effectLst/>
                <a:latin typeface="Google Sans"/>
              </a:rPr>
              <a:t>. 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1AE43-4E1D-2356-07E6-F033840D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463" y="3081867"/>
            <a:ext cx="3624537" cy="377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34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B13F-FFC6-2D2F-E59A-F4C99D90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450E-9609-37B5-119E-A42B580A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25035-3FF8-6041-60E3-F3D814B8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0822"/>
            <a:ext cx="7772400" cy="625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1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18A4-197C-EF93-93BD-6CE2557E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type() and id() 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3E2A-EECA-9B50-80C2-28E061AA5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In Python, every item of data is an </a:t>
            </a:r>
            <a:r>
              <a:rPr lang="en-IN" b="1" dirty="0"/>
              <a:t>object</a:t>
            </a:r>
            <a:r>
              <a:rPr lang="en-IN" dirty="0"/>
              <a:t> with a unique </a:t>
            </a:r>
            <a:r>
              <a:rPr lang="en-IN" b="1" dirty="0">
                <a:effectLst/>
              </a:rPr>
              <a:t>identity</a:t>
            </a:r>
            <a:r>
              <a:rPr lang="en-IN" dirty="0"/>
              <a:t> and a specific </a:t>
            </a:r>
            <a:r>
              <a:rPr lang="en-IN" b="1" dirty="0">
                <a:effectLst/>
              </a:rPr>
              <a:t>type</a:t>
            </a:r>
            <a:r>
              <a:rPr lang="en-IN" dirty="0"/>
              <a:t>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The built-in </a:t>
            </a:r>
            <a:r>
              <a:rPr lang="en-IN" b="1" i="1" dirty="0">
                <a:effectLst/>
                <a:latin typeface="Google Sans"/>
              </a:rPr>
              <a:t>id()</a:t>
            </a:r>
            <a:r>
              <a:rPr lang="en-IN" b="0" i="0" dirty="0">
                <a:effectLst/>
                <a:latin typeface="Google Sans"/>
              </a:rPr>
              <a:t> function returns the object's unique integer identifier, which is constant throughout its lifetime in memory.</a:t>
            </a:r>
          </a:p>
          <a:p>
            <a:r>
              <a:rPr lang="en-IN" dirty="0">
                <a:effectLst/>
              </a:rPr>
              <a:t>The built-in </a:t>
            </a:r>
            <a:r>
              <a:rPr lang="en-IN" b="1" i="1" dirty="0">
                <a:effectLst/>
              </a:rPr>
              <a:t>type()</a:t>
            </a:r>
            <a:r>
              <a:rPr lang="en-IN" dirty="0">
                <a:effectLst/>
              </a:rPr>
              <a:t> function returns the class (type) of the object passed to it.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/>
              <a:t>The id() function takes a single object as a parameter and returns its identity as an integer. In the </a:t>
            </a:r>
            <a:r>
              <a:rPr lang="en-IN" dirty="0" err="1"/>
              <a:t>CPython</a:t>
            </a:r>
            <a:r>
              <a:rPr lang="en-IN" dirty="0"/>
              <a:t> implementation, this number is the memory address of the object. The primary use of id() is to determine if two variables refer to the exact same object in memory.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Syntax:</a:t>
            </a:r>
            <a:r>
              <a:rPr lang="en-IN" b="0" i="0" dirty="0">
                <a:effectLst/>
                <a:latin typeface="Google Sans"/>
              </a:rPr>
              <a:t> id(object)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Return Value:</a:t>
            </a:r>
            <a:r>
              <a:rPr lang="en-IN" b="0" i="0" dirty="0">
                <a:effectLst/>
                <a:latin typeface="Google Sans"/>
              </a:rPr>
              <a:t> A unique and constant integer identifier for the object.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Use Case:</a:t>
            </a:r>
            <a:r>
              <a:rPr lang="en-IN" b="0" i="0" dirty="0">
                <a:effectLst/>
                <a:latin typeface="Google Sans"/>
              </a:rPr>
              <a:t> Often used for debugging and understanding Python's memory management, especially with mutable and immutable types. The </a:t>
            </a:r>
            <a:r>
              <a:rPr lang="en-IN" b="1" i="1" dirty="0">
                <a:effectLst/>
                <a:latin typeface="Google Sans"/>
              </a:rPr>
              <a:t>is</a:t>
            </a:r>
            <a:r>
              <a:rPr lang="en-IN" b="0" i="0" dirty="0">
                <a:effectLst/>
                <a:latin typeface="Google Sans"/>
              </a:rPr>
              <a:t> operator is a more common way to check if two objects have the same identity (x is y is equivalent to id(x) == id(y)).</a:t>
            </a:r>
          </a:p>
        </p:txBody>
      </p:sp>
    </p:spTree>
    <p:extLst>
      <p:ext uri="{BB962C8B-B14F-4D97-AF65-F5344CB8AC3E}">
        <p14:creationId xmlns:p14="http://schemas.microsoft.com/office/powerpoint/2010/main" val="325607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5BDC-C447-C4EC-D602-CBAA4E3E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6650-FB23-9728-6C7E-1BD556FF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71400-CE91-91A1-1FC4-A5645350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26" y="0"/>
            <a:ext cx="11105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8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B2A1-1CE2-ED99-377F-BADBF212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B47B-B0C5-A0FE-8028-B42D9B3A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type() function has two distinct forms. The most common form takes a single object as a parameter and returns its type (class). </a:t>
            </a:r>
          </a:p>
          <a:p>
            <a:r>
              <a:rPr lang="en-US" dirty="0"/>
              <a:t>Syntax (Single Argument): </a:t>
            </a:r>
            <a:r>
              <a:rPr lang="en-US" b="1" dirty="0"/>
              <a:t>type(object)</a:t>
            </a:r>
          </a:p>
          <a:p>
            <a:r>
              <a:rPr lang="en-US" dirty="0"/>
              <a:t>Return Value (Single Argument): The class object of the given object (e.g., </a:t>
            </a:r>
            <a:r>
              <a:rPr lang="en-US" b="1" dirty="0"/>
              <a:t>&lt;class 'int'&gt;, &lt;class 'str'&gt;</a:t>
            </a:r>
            <a:r>
              <a:rPr lang="en-US" dirty="0"/>
              <a:t>).</a:t>
            </a:r>
          </a:p>
          <a:p>
            <a:r>
              <a:rPr lang="en-US" b="1" dirty="0"/>
              <a:t>Use Case</a:t>
            </a:r>
            <a:r>
              <a:rPr lang="en-US" dirty="0"/>
              <a:t>: Primarily used for dynamic type checking and debugging, or for type-based dispatch in functions.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54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4438-B51C-2B48-365E-60FFDB4B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982A0-15D1-3BE2-42A0-3DC4F2B13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4FE3E-1DE8-7DBC-A8E8-CBF5D4E4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9561"/>
            <a:ext cx="7772400" cy="493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97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655-5B72-7E6B-9622-B14C5F74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E8C7-9F0D-B1AD-26B4-C50EF9B3B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a </a:t>
            </a:r>
            <a:r>
              <a:rPr lang="en-IN" b="1" dirty="0">
                <a:effectLst/>
              </a:rPr>
              <a:t>string (str) is an immutable sequence of Unicode characters</a:t>
            </a:r>
            <a:r>
              <a:rPr lang="en-IN" dirty="0"/>
              <a:t> used for handling text. Strings are a built-in data type and can be created using single quotes ('...'), double quotes ("..."), or triple quotes ("""...""" or '''...''') for multi-line strings.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/>
              <a:t>Python provides a rich set of built-in methods for efficient text manipulation and processing. String methods return </a:t>
            </a:r>
            <a:r>
              <a:rPr lang="en-IN" b="1" dirty="0">
                <a:effectLst/>
              </a:rPr>
              <a:t>new string objects</a:t>
            </a:r>
            <a:r>
              <a:rPr lang="en-IN" dirty="0"/>
              <a:t> and do not change the original string because strings in Python are immutable.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A8E9-EEF1-EFC6-BAF8-181CBD87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EB31-A557-9988-B253-D80C7324E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Immutability</a:t>
            </a:r>
            <a:r>
              <a:rPr lang="en-IN" b="0" i="0" dirty="0">
                <a:effectLst/>
                <a:latin typeface="Google Sans"/>
              </a:rPr>
              <a:t>: Once a string is created, its characters cannot be changed. Any operation that appears to modify a string, such as replacing a substring or changing its case, actually creates a </a:t>
            </a:r>
            <a:r>
              <a:rPr lang="en-IN" b="0" i="1" dirty="0">
                <a:effectLst/>
                <a:latin typeface="Google Sans"/>
              </a:rPr>
              <a:t>new</a:t>
            </a:r>
            <a:r>
              <a:rPr lang="en-IN" b="0" i="0" dirty="0">
                <a:effectLst/>
                <a:latin typeface="Google Sans"/>
              </a:rPr>
              <a:t> string.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Indexing</a:t>
            </a:r>
            <a:r>
              <a:rPr lang="en-IN" b="0" i="0" dirty="0">
                <a:effectLst/>
                <a:latin typeface="Google Sans"/>
              </a:rPr>
              <a:t>: Characters in a string can be accessed by their position (index), starting from 0 for the first character. Negative indexing is also supported, where ­1 refers to the last character.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Slicing</a:t>
            </a:r>
            <a:r>
              <a:rPr lang="en-IN" b="0" i="0" dirty="0">
                <a:effectLst/>
                <a:latin typeface="Google Sans"/>
              </a:rPr>
              <a:t>: You can extract a portion (substring) of a string using slice syntax: string[</a:t>
            </a:r>
            <a:r>
              <a:rPr lang="en-IN" b="0" i="0" dirty="0" err="1">
                <a:effectLst/>
                <a:latin typeface="Google Sans"/>
              </a:rPr>
              <a:t>start:end</a:t>
            </a:r>
            <a:r>
              <a:rPr lang="en-IN" b="0" i="0" dirty="0">
                <a:effectLst/>
                <a:latin typeface="Google Sans"/>
              </a:rPr>
              <a:t>] or string[</a:t>
            </a:r>
            <a:r>
              <a:rPr lang="en-IN" b="0" i="0" dirty="0" err="1">
                <a:effectLst/>
                <a:latin typeface="Google Sans"/>
              </a:rPr>
              <a:t>start:end:step</a:t>
            </a:r>
            <a:r>
              <a:rPr lang="en-IN" b="0" i="0" dirty="0">
                <a:effectLst/>
                <a:latin typeface="Google Sans"/>
              </a:rPr>
              <a:t>].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No Character Type</a:t>
            </a:r>
            <a:r>
              <a:rPr lang="en-IN" b="0" i="0" dirty="0">
                <a:effectLst/>
                <a:latin typeface="Google Sans"/>
              </a:rPr>
              <a:t>: Python does not have a separate character type; a single character is simply a string of length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49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15FC-6603-B822-AB24-863B4F09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Common Operations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F720-F08E-4661-441B-6DDFAA8E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Python provides many built-in functions and string methods for working with text.</a:t>
            </a:r>
          </a:p>
          <a:p>
            <a:r>
              <a:rPr lang="en-IN" b="1" i="0" dirty="0">
                <a:effectLst/>
                <a:latin typeface="Google Sans"/>
              </a:rPr>
              <a:t>Concatenation</a:t>
            </a:r>
            <a:r>
              <a:rPr lang="en-IN" b="0" i="0" dirty="0">
                <a:effectLst/>
                <a:latin typeface="Google Sans"/>
              </a:rPr>
              <a:t>: Join two or more strings using the </a:t>
            </a:r>
            <a:r>
              <a:rPr lang="en-IN" dirty="0"/>
              <a:t>+</a:t>
            </a:r>
            <a:r>
              <a:rPr lang="en-IN" b="0" i="0" dirty="0">
                <a:effectLst/>
                <a:latin typeface="Google Sans"/>
              </a:rPr>
              <a:t> operator.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13E02-7083-66DF-BC88-0C29157BF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267" y="3323316"/>
            <a:ext cx="7772400" cy="353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2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3140-81FD-C253-4587-02F5A16B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6E56-CB41-2937-D7B2-3E988BD1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i="0" dirty="0">
                <a:effectLst/>
                <a:latin typeface="Google Sans"/>
              </a:rPr>
              <a:t>Repetition</a:t>
            </a:r>
            <a:r>
              <a:rPr lang="en-IN" sz="2400" b="0" i="0" dirty="0">
                <a:effectLst/>
                <a:latin typeface="Google Sans"/>
              </a:rPr>
              <a:t>: Repeat a string multiple times using the * operator.</a:t>
            </a:r>
          </a:p>
          <a:p>
            <a:r>
              <a:rPr lang="en-IN" sz="2400" dirty="0"/>
              <a:t>print(</a:t>
            </a:r>
            <a:r>
              <a:rPr lang="en-IN" sz="2400" dirty="0">
                <a:effectLst/>
              </a:rPr>
              <a:t>"la"</a:t>
            </a:r>
            <a:r>
              <a:rPr lang="en-IN" sz="2400" dirty="0"/>
              <a:t> * </a:t>
            </a:r>
            <a:r>
              <a:rPr lang="en-IN" sz="2400" dirty="0">
                <a:effectLst/>
              </a:rPr>
              <a:t>3</a:t>
            </a:r>
            <a:r>
              <a:rPr lang="en-IN" sz="2400" dirty="0"/>
              <a:t>) </a:t>
            </a:r>
            <a:r>
              <a:rPr lang="en-IN" sz="2400" i="1" dirty="0">
                <a:effectLst/>
              </a:rPr>
              <a:t># Output: "</a:t>
            </a:r>
            <a:r>
              <a:rPr lang="en-IN" sz="2400" i="1" dirty="0" err="1">
                <a:effectLst/>
              </a:rPr>
              <a:t>lalala</a:t>
            </a:r>
            <a:r>
              <a:rPr lang="en-IN" sz="2400" i="1" dirty="0">
                <a:effectLst/>
              </a:rPr>
              <a:t>”</a:t>
            </a:r>
          </a:p>
          <a:p>
            <a:r>
              <a:rPr lang="en-IN" sz="2400" b="1" i="0" dirty="0">
                <a:effectLst/>
                <a:latin typeface="Google Sans"/>
              </a:rPr>
              <a:t>Length</a:t>
            </a:r>
            <a:r>
              <a:rPr lang="en-IN" sz="2400" b="0" i="0" dirty="0">
                <a:effectLst/>
                <a:latin typeface="Google Sans"/>
              </a:rPr>
              <a:t>: Use the </a:t>
            </a:r>
            <a:r>
              <a:rPr lang="en-IN" sz="2400" b="0" i="0" dirty="0" err="1">
                <a:effectLst/>
                <a:latin typeface="Google Sans"/>
              </a:rPr>
              <a:t>len</a:t>
            </a:r>
            <a:r>
              <a:rPr lang="en-IN" sz="2400" b="0" i="0" dirty="0">
                <a:effectLst/>
                <a:latin typeface="Google Sans"/>
              </a:rPr>
              <a:t>() function to get the number of characters in a string.</a:t>
            </a:r>
          </a:p>
          <a:p>
            <a:r>
              <a:rPr lang="en-IN" sz="2400" b="0" i="0" dirty="0">
                <a:effectLst/>
                <a:latin typeface="Google Sans"/>
              </a:rPr>
              <a:t>s = "Python"</a:t>
            </a:r>
          </a:p>
          <a:p>
            <a:r>
              <a:rPr lang="en-IN" sz="2400" b="0" i="0" dirty="0">
                <a:effectLst/>
                <a:latin typeface="Google Sans"/>
              </a:rPr>
              <a:t>length = </a:t>
            </a:r>
            <a:r>
              <a:rPr lang="en-IN" sz="2400" b="0" i="0" dirty="0" err="1">
                <a:effectLst/>
                <a:latin typeface="Google Sans"/>
              </a:rPr>
              <a:t>len</a:t>
            </a:r>
            <a:r>
              <a:rPr lang="en-IN" sz="2400" b="0" i="0" dirty="0">
                <a:effectLst/>
                <a:latin typeface="Google Sans"/>
              </a:rPr>
              <a:t>(s)</a:t>
            </a:r>
          </a:p>
          <a:p>
            <a:r>
              <a:rPr lang="en-IN" sz="2400" b="0" i="0" dirty="0">
                <a:effectLst/>
                <a:latin typeface="Google Sans"/>
              </a:rPr>
              <a:t># length is 6</a:t>
            </a:r>
          </a:p>
          <a:p>
            <a:r>
              <a:rPr lang="en-IN" sz="2400" b="1" i="0" dirty="0">
                <a:effectLst/>
                <a:latin typeface="Google Sans"/>
              </a:rPr>
              <a:t>Formatting</a:t>
            </a:r>
            <a:r>
              <a:rPr lang="en-IN" sz="2400" b="0" i="0" dirty="0">
                <a:effectLst/>
                <a:latin typeface="Google Sans"/>
              </a:rPr>
              <a:t>: </a:t>
            </a:r>
            <a:r>
              <a:rPr lang="en-IN" sz="2400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F-strings</a:t>
            </a:r>
            <a:r>
              <a:rPr lang="en-IN" sz="2400" b="0" i="0" dirty="0">
                <a:effectLst/>
                <a:latin typeface="Google Sans"/>
              </a:rPr>
              <a:t> (formatted string literals) are the recommended way to embed variables within strings.</a:t>
            </a:r>
          </a:p>
          <a:p>
            <a:r>
              <a:rPr lang="en-IN" sz="2400" b="0" i="0" dirty="0">
                <a:effectLst/>
                <a:latin typeface="Google Sans"/>
              </a:rPr>
              <a:t>name = "Jane"</a:t>
            </a:r>
          </a:p>
          <a:p>
            <a:r>
              <a:rPr lang="en-IN" sz="2400" b="0" i="0" dirty="0">
                <a:effectLst/>
                <a:latin typeface="Google Sans"/>
              </a:rPr>
              <a:t>age = 30</a:t>
            </a:r>
          </a:p>
          <a:p>
            <a:r>
              <a:rPr lang="en-IN" sz="2400" b="0" i="0" dirty="0">
                <a:effectLst/>
                <a:latin typeface="Google Sans"/>
              </a:rPr>
              <a:t>print(</a:t>
            </a:r>
            <a:r>
              <a:rPr lang="en-IN" sz="2400" b="0" i="0" dirty="0" err="1">
                <a:effectLst/>
                <a:latin typeface="Google Sans"/>
              </a:rPr>
              <a:t>f"My</a:t>
            </a:r>
            <a:r>
              <a:rPr lang="en-IN" sz="2400" b="0" i="0" dirty="0">
                <a:effectLst/>
                <a:latin typeface="Google Sans"/>
              </a:rPr>
              <a:t> name is {name} and I am {age} years old.")</a:t>
            </a:r>
          </a:p>
          <a:p>
            <a:r>
              <a:rPr lang="en-IN" sz="2400" b="0" i="0" dirty="0">
                <a:effectLst/>
                <a:latin typeface="Google Sans"/>
              </a:rPr>
              <a:t># Output: "My name is Jane and I am 30 years old."</a:t>
            </a:r>
          </a:p>
        </p:txBody>
      </p:sp>
    </p:spTree>
    <p:extLst>
      <p:ext uri="{BB962C8B-B14F-4D97-AF65-F5344CB8AC3E}">
        <p14:creationId xmlns:p14="http://schemas.microsoft.com/office/powerpoint/2010/main" val="133353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DBEC-F8FA-6DBF-C8DD-308B51E4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Case Modification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FB7D-1A97-A7F0-FE52-F651554B6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lower(): Converts all characters in the string to lowercase.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upper(): Converts all characters in the string to uppercase.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capitalize(): Converts the first character of the string to uppercase and the rest to lowercase.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title(): Converts the first character of each word to uppercase.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swapcase</a:t>
            </a:r>
            <a:r>
              <a:rPr lang="en-IN" b="0" i="0" dirty="0">
                <a:effectLst/>
                <a:latin typeface="Google Sans"/>
              </a:rPr>
              <a:t>(): Swaps the case of all characters (uppercase becomes lowercase and vice versa).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casefold</a:t>
            </a:r>
            <a:r>
              <a:rPr lang="en-IN" b="0" i="0" dirty="0">
                <a:effectLst/>
                <a:latin typeface="Google Sans"/>
              </a:rPr>
              <a:t>(): Similar to lower(), but removes all case distinctions for caseless matching across different languages and alphabets.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327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36DC-DD97-29B4-27EC-70BF2801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Searching and Finding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0665-EB75-F3A2-DDA5-FC493CA5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find(sub): Returns the lowest index where the substring sub is found, or -1 if not found.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index(sub): Similar to find(), but raises a </a:t>
            </a:r>
            <a:r>
              <a:rPr lang="en-IN" b="0" i="0" dirty="0" err="1">
                <a:effectLst/>
                <a:latin typeface="Google Sans"/>
              </a:rPr>
              <a:t>ValueError</a:t>
            </a:r>
            <a:r>
              <a:rPr lang="en-IN" b="0" i="0" dirty="0">
                <a:effectLst/>
                <a:latin typeface="Google Sans"/>
              </a:rPr>
              <a:t> exception if the substring is not found.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count(sub): Returns the number of occurrences of the substring sub in the string.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startswith</a:t>
            </a:r>
            <a:r>
              <a:rPr lang="en-IN" b="0" i="0" dirty="0">
                <a:effectLst/>
                <a:latin typeface="Google Sans"/>
              </a:rPr>
              <a:t>(prefix): Checks if the string starts with the specified prefix, returning True or False.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endswith</a:t>
            </a:r>
            <a:r>
              <a:rPr lang="en-IN" b="0" i="0" dirty="0">
                <a:effectLst/>
                <a:latin typeface="Google Sans"/>
              </a:rPr>
              <a:t>(suffix): Checks if the string ends with the specified suffix, returning True or 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99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A5E6-EBC0-8606-FE59-14F06AD0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Trimming and Replacing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4D91-9856-FEBE-A7E8-1C00CB82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strip(chars): Removes leading and trailing whitespace or a specified set of characters.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lstrip</a:t>
            </a:r>
            <a:r>
              <a:rPr lang="en-IN" b="0" i="0" dirty="0">
                <a:effectLst/>
                <a:latin typeface="Google Sans"/>
              </a:rPr>
              <a:t>(chars): Removes leading characters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rstrip</a:t>
            </a:r>
            <a:r>
              <a:rPr lang="en-IN" b="0" i="0" dirty="0">
                <a:effectLst/>
                <a:latin typeface="Google Sans"/>
              </a:rPr>
              <a:t>(chars): Removes trailing characters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replace(old, new): Replaces all occurrences of the substring old with new.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removeprefix</a:t>
            </a:r>
            <a:r>
              <a:rPr lang="en-IN" b="0" i="0" dirty="0">
                <a:effectLst/>
                <a:latin typeface="Google Sans"/>
              </a:rPr>
              <a:t>(prefix): Removes a specified prefix from the beginning of the string if it exists.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removesuffix</a:t>
            </a:r>
            <a:r>
              <a:rPr lang="en-IN" b="0" i="0" dirty="0">
                <a:effectLst/>
                <a:latin typeface="Google Sans"/>
              </a:rPr>
              <a:t>(suffix): Removes a specified suffix from the end of the string if it exists.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59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97C6-250F-7B9E-BEDF-DD5AEE71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Splitting and Joining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3548-D244-7138-78F8-2943DC288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split(</a:t>
            </a:r>
            <a:r>
              <a:rPr lang="en-IN" b="0" i="0" dirty="0" err="1">
                <a:effectLst/>
                <a:latin typeface="Google Sans"/>
              </a:rPr>
              <a:t>sep</a:t>
            </a:r>
            <a:r>
              <a:rPr lang="en-IN" b="0" i="0" dirty="0">
                <a:effectLst/>
                <a:latin typeface="Google Sans"/>
              </a:rPr>
              <a:t>): Splits the string into a list of substrings using a specified separator (</a:t>
            </a:r>
            <a:r>
              <a:rPr lang="en-IN" b="0" i="0" dirty="0" err="1">
                <a:effectLst/>
                <a:latin typeface="Google Sans"/>
              </a:rPr>
              <a:t>sep</a:t>
            </a:r>
            <a:r>
              <a:rPr lang="en-IN" b="0" i="0" dirty="0">
                <a:effectLst/>
                <a:latin typeface="Google Sans"/>
              </a:rPr>
              <a:t>); if no separator is given, it splits on all whitespace.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join(</a:t>
            </a:r>
            <a:r>
              <a:rPr lang="en-IN" b="0" i="0" dirty="0" err="1">
                <a:effectLst/>
                <a:latin typeface="Google Sans"/>
              </a:rPr>
              <a:t>iterable</a:t>
            </a:r>
            <a:r>
              <a:rPr lang="en-IN" b="0" i="0" dirty="0">
                <a:effectLst/>
                <a:latin typeface="Google Sans"/>
              </a:rPr>
              <a:t>): Concatenates elements of an </a:t>
            </a:r>
            <a:r>
              <a:rPr lang="en-IN" b="0" i="0" dirty="0" err="1">
                <a:effectLst/>
                <a:latin typeface="Google Sans"/>
              </a:rPr>
              <a:t>iterable</a:t>
            </a:r>
            <a:r>
              <a:rPr lang="en-IN" b="0" i="0" dirty="0">
                <a:effectLst/>
                <a:latin typeface="Google Sans"/>
              </a:rPr>
              <a:t> (e.g., a list of strings) into a single string using the string itself as the separator.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splitlines</a:t>
            </a:r>
            <a:r>
              <a:rPr lang="en-IN" b="0" i="0" dirty="0">
                <a:effectLst/>
                <a:latin typeface="Google Sans"/>
              </a:rPr>
              <a:t>(): Splits the string at line breaks (\n, \r, etc.) and returns a list of lines.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390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DE9D-20BF-99EE-91DD-01C3979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Formatting and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6169-6E59-CC3E-F6F2-B66B8A79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format(): Formats values into a string using placeholders ({}).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isalnum</a:t>
            </a:r>
            <a:r>
              <a:rPr lang="en-IN" b="0" i="0" dirty="0">
                <a:effectLst/>
                <a:latin typeface="Google Sans"/>
              </a:rPr>
              <a:t>(): Returns True if all characters are alphanumeric (letters or numbers).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isalpha</a:t>
            </a:r>
            <a:r>
              <a:rPr lang="en-IN" b="0" i="0" dirty="0">
                <a:effectLst/>
                <a:latin typeface="Google Sans"/>
              </a:rPr>
              <a:t>(): Returns True if all characters are in the alphabet.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isdigit</a:t>
            </a:r>
            <a:r>
              <a:rPr lang="en-IN" b="0" i="0" dirty="0">
                <a:effectLst/>
                <a:latin typeface="Google Sans"/>
              </a:rPr>
              <a:t>(): Returns True if all characters are digits.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Google Sans"/>
              </a:rPr>
              <a:t>isspace</a:t>
            </a:r>
            <a:r>
              <a:rPr lang="en-IN" b="0" i="0" dirty="0">
                <a:effectLst/>
                <a:latin typeface="Google Sans"/>
              </a:rPr>
              <a:t>(): Returns True if the string contains only whitespace characters.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38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DB04-DABD-F315-1024-4F281196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print() function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C9CD-9978-A4B7-B935-572E3E0A6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print() function in Python is a built-in function used to </a:t>
            </a:r>
            <a:r>
              <a:rPr lang="en-IN" b="1" dirty="0">
                <a:effectLst/>
              </a:rPr>
              <a:t>display output</a:t>
            </a:r>
            <a:r>
              <a:rPr lang="en-IN" dirty="0"/>
              <a:t> to the console (standard output device). It can take one or more objects as arguments, converts them to strings, and displays them.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r>
              <a:rPr lang="en-US" dirty="0"/>
              <a:t>print(*objects, </a:t>
            </a:r>
            <a:r>
              <a:rPr lang="en-US" dirty="0" err="1"/>
              <a:t>sep</a:t>
            </a:r>
            <a:r>
              <a:rPr lang="en-US" dirty="0"/>
              <a:t>=' ', end='\n', file=</a:t>
            </a:r>
            <a:r>
              <a:rPr lang="en-US" dirty="0" err="1"/>
              <a:t>sys.stdout</a:t>
            </a:r>
            <a:r>
              <a:rPr lang="en-US" dirty="0"/>
              <a:t>, flush=False)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688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4225-EA8C-C344-EE54-23189AC5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of print()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AEF8E-6309-245D-46C3-B4A15DA0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print() function accepts the following parameters:</a:t>
            </a:r>
          </a:p>
          <a:p>
            <a:r>
              <a:rPr lang="en-US" b="1" dirty="0"/>
              <a:t>*objects</a:t>
            </a:r>
            <a:r>
              <a:rPr lang="en-US" dirty="0"/>
              <a:t>: The values to be printed. It can accept any number of objects of any data type (strings, numbers, lists, etc.), which are converted to strings before printing.</a:t>
            </a:r>
          </a:p>
          <a:p>
            <a:r>
              <a:rPr lang="en-US" b="1" dirty="0" err="1"/>
              <a:t>sep</a:t>
            </a:r>
            <a:r>
              <a:rPr lang="en-US" dirty="0"/>
              <a:t>='separator' (Optional): Specifies the separator between multiple objects if more than one is provided. The default is a single space (' ').</a:t>
            </a:r>
          </a:p>
          <a:p>
            <a:r>
              <a:rPr lang="en-US" b="1" dirty="0"/>
              <a:t>end</a:t>
            </a:r>
            <a:r>
              <a:rPr lang="en-US" dirty="0"/>
              <a:t>='end' (Optional): Specifies what to print at the end of the output. The default is a newline character ('\n'), which causes the next print statement to start on a new line.</a:t>
            </a:r>
          </a:p>
          <a:p>
            <a:r>
              <a:rPr lang="en-US" b="1" dirty="0"/>
              <a:t>file (Optional)</a:t>
            </a:r>
            <a:r>
              <a:rPr lang="en-US" dirty="0"/>
              <a:t>: An object with a write method, specifying where the output should be sent (e.g., a file). The default is </a:t>
            </a:r>
            <a:r>
              <a:rPr lang="en-US" b="1" dirty="0" err="1"/>
              <a:t>sys.stdout</a:t>
            </a:r>
            <a:r>
              <a:rPr lang="en-US" dirty="0"/>
              <a:t> (the screen/console).</a:t>
            </a:r>
          </a:p>
          <a:p>
            <a:r>
              <a:rPr lang="en-US" b="1" dirty="0"/>
              <a:t>flush (Optional)</a:t>
            </a:r>
            <a:r>
              <a:rPr lang="en-US" dirty="0"/>
              <a:t>: A </a:t>
            </a:r>
            <a:r>
              <a:rPr lang="en-US" dirty="0" err="1"/>
              <a:t>boolean</a:t>
            </a:r>
            <a:r>
              <a:rPr lang="en-US" dirty="0"/>
              <a:t> value. If True, the output is forced to appear immediately; otherwise, it is buffered (delayed) by default. The default is False. </a:t>
            </a:r>
          </a:p>
        </p:txBody>
      </p:sp>
    </p:spTree>
    <p:extLst>
      <p:ext uri="{BB962C8B-B14F-4D97-AF65-F5344CB8AC3E}">
        <p14:creationId xmlns:p14="http://schemas.microsoft.com/office/powerpoint/2010/main" val="748246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71A1-1055-505F-6CB1-A9114D9D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print()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8768-E17A-6118-A0B5-869D1EFD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i="0" dirty="0">
                <a:effectLst/>
                <a:latin typeface="Google Sans"/>
              </a:rPr>
              <a:t>Basic usage</a:t>
            </a:r>
            <a:r>
              <a:rPr lang="en-IN" b="0" i="0" dirty="0">
                <a:effectLst/>
                <a:latin typeface="Google Sans"/>
              </a:rPr>
              <a:t>: Printing a simple message.</a:t>
            </a:r>
          </a:p>
          <a:p>
            <a:r>
              <a:rPr lang="en-US" dirty="0"/>
              <a:t>print("Hello, World!")</a:t>
            </a:r>
          </a:p>
          <a:p>
            <a:r>
              <a:rPr lang="en-US" dirty="0"/>
              <a:t># Output: Hello, World!</a:t>
            </a:r>
          </a:p>
          <a:p>
            <a:endParaRPr lang="en-IN" dirty="0">
              <a:latin typeface="Google Sans"/>
            </a:endParaRPr>
          </a:p>
          <a:p>
            <a:r>
              <a:rPr lang="en-IN" b="1" i="0" dirty="0">
                <a:effectLst/>
                <a:latin typeface="Google Sans"/>
              </a:rPr>
              <a:t>Printing variables and multiple items</a:t>
            </a:r>
            <a:r>
              <a:rPr lang="en-IN" b="0" i="0" dirty="0">
                <a:effectLst/>
                <a:latin typeface="Google Sans"/>
              </a:rPr>
              <a:t>: Items separated by commas are automatically spaced.</a:t>
            </a:r>
          </a:p>
          <a:p>
            <a:r>
              <a:rPr lang="en-IN" b="0" i="0" dirty="0">
                <a:effectLst/>
                <a:latin typeface="Google Sans"/>
              </a:rPr>
              <a:t>name = "Alice"</a:t>
            </a:r>
          </a:p>
          <a:p>
            <a:r>
              <a:rPr lang="en-IN" b="0" i="0" dirty="0">
                <a:effectLst/>
                <a:latin typeface="Google Sans"/>
              </a:rPr>
              <a:t>age = 25</a:t>
            </a:r>
          </a:p>
          <a:p>
            <a:r>
              <a:rPr lang="en-IN" b="0" i="0" dirty="0">
                <a:effectLst/>
                <a:latin typeface="Google Sans"/>
              </a:rPr>
              <a:t>print("Hello, my name is", name, "and I am", age, "years old.")</a:t>
            </a:r>
          </a:p>
          <a:p>
            <a:r>
              <a:rPr lang="en-IN" b="0" i="0" dirty="0">
                <a:effectLst/>
                <a:latin typeface="Google Sans"/>
              </a:rPr>
              <a:t># Output: Hello, my name is Alice and I am 25 years old.</a:t>
            </a:r>
          </a:p>
          <a:p>
            <a:endParaRPr lang="en-IN" b="0" i="0" dirty="0">
              <a:effectLst/>
              <a:latin typeface="Google Sans"/>
            </a:endParaRPr>
          </a:p>
          <a:p>
            <a:r>
              <a:rPr lang="en-IN" b="1" i="0" dirty="0">
                <a:effectLst/>
                <a:latin typeface="Google Sans"/>
              </a:rPr>
              <a:t>Using </a:t>
            </a:r>
            <a:r>
              <a:rPr lang="en-IN" b="1" i="0" dirty="0" err="1">
                <a:effectLst/>
                <a:latin typeface="Google Sans"/>
              </a:rPr>
              <a:t>sep</a:t>
            </a:r>
            <a:r>
              <a:rPr lang="en-IN" b="1" i="0" dirty="0">
                <a:effectLst/>
                <a:latin typeface="Google Sans"/>
              </a:rPr>
              <a:t> parameter</a:t>
            </a:r>
            <a:r>
              <a:rPr lang="en-IN" b="0" i="0" dirty="0">
                <a:effectLst/>
                <a:latin typeface="Google Sans"/>
              </a:rPr>
              <a:t>: Changing the separator between items.</a:t>
            </a:r>
            <a:endParaRPr lang="en-IN" dirty="0">
              <a:latin typeface="Google Sans"/>
            </a:endParaRPr>
          </a:p>
          <a:p>
            <a:r>
              <a:rPr lang="en-IN" b="0" i="0" dirty="0">
                <a:effectLst/>
                <a:latin typeface="Google Sans"/>
              </a:rPr>
              <a:t>print("Python", "is", "fun", </a:t>
            </a:r>
            <a:r>
              <a:rPr lang="en-IN" b="0" i="0" dirty="0" err="1">
                <a:effectLst/>
                <a:latin typeface="Google Sans"/>
              </a:rPr>
              <a:t>sep</a:t>
            </a:r>
            <a:r>
              <a:rPr lang="en-IN" b="0" i="0" dirty="0">
                <a:effectLst/>
                <a:latin typeface="Google Sans"/>
              </a:rPr>
              <a:t>="-")</a:t>
            </a:r>
          </a:p>
          <a:p>
            <a:r>
              <a:rPr lang="en-IN" b="0" i="0" dirty="0">
                <a:effectLst/>
                <a:latin typeface="Google Sans"/>
              </a:rPr>
              <a:t># Output: Python-is-fun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945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F23C-1068-A598-ADC0-21583A64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E61-FE21-3ECB-6D16-78C5361B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print()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D729-0EDC-0E90-6225-1295B916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b="1" i="0" dirty="0">
                <a:effectLst/>
                <a:latin typeface="Google Sans"/>
              </a:rPr>
              <a:t>Using end parameter</a:t>
            </a:r>
            <a:r>
              <a:rPr lang="en-IN" sz="1400" b="0" i="0" dirty="0">
                <a:effectLst/>
                <a:latin typeface="Google Sans"/>
              </a:rPr>
              <a:t>: Preventing a newline at the end of the line.</a:t>
            </a:r>
          </a:p>
          <a:p>
            <a:r>
              <a:rPr lang="en-IN" sz="1400" b="0" i="0" dirty="0">
                <a:effectLst/>
                <a:latin typeface="Google Sans"/>
              </a:rPr>
              <a:t>print("This is on one line...", end="")</a:t>
            </a:r>
          </a:p>
          <a:p>
            <a:r>
              <a:rPr lang="en-IN" sz="1400" b="0" i="0" dirty="0">
                <a:effectLst/>
                <a:latin typeface="Google Sans"/>
              </a:rPr>
              <a:t>print(" and this is on the same line.")</a:t>
            </a:r>
          </a:p>
          <a:p>
            <a:r>
              <a:rPr lang="en-IN" sz="1400" b="0" i="0" dirty="0">
                <a:effectLst/>
                <a:latin typeface="Google Sans"/>
              </a:rPr>
              <a:t># Output: This is on one line... and this is on the same line.</a:t>
            </a:r>
          </a:p>
          <a:p>
            <a:endParaRPr lang="en-IN" sz="1400" dirty="0">
              <a:latin typeface="Google Sans"/>
            </a:endParaRPr>
          </a:p>
          <a:p>
            <a:r>
              <a:rPr lang="en-IN" sz="1400" b="1" i="0" dirty="0">
                <a:effectLst/>
                <a:latin typeface="Google Sans"/>
              </a:rPr>
              <a:t>Printing to a file</a:t>
            </a:r>
            <a:r>
              <a:rPr lang="en-IN" sz="1400" b="0" i="0" dirty="0">
                <a:effectLst/>
                <a:latin typeface="Google Sans"/>
              </a:rPr>
              <a:t>: Redirecting the output to a text file.</a:t>
            </a:r>
          </a:p>
          <a:p>
            <a:r>
              <a:rPr lang="en-IN" sz="1400" b="0" i="0" dirty="0">
                <a:effectLst/>
                <a:latin typeface="Google Sans"/>
              </a:rPr>
              <a:t>with open("</a:t>
            </a:r>
            <a:r>
              <a:rPr lang="en-IN" sz="1400" b="0" i="0" dirty="0" err="1">
                <a:effectLst/>
                <a:latin typeface="Google Sans"/>
              </a:rPr>
              <a:t>output.txt</a:t>
            </a:r>
            <a:r>
              <a:rPr lang="en-IN" sz="1400" b="0" i="0" dirty="0">
                <a:effectLst/>
                <a:latin typeface="Google Sans"/>
              </a:rPr>
              <a:t>", "w") as f:</a:t>
            </a:r>
          </a:p>
          <a:p>
            <a:r>
              <a:rPr lang="en-IN" sz="1400" b="0" i="0" dirty="0">
                <a:effectLst/>
                <a:latin typeface="Google Sans"/>
              </a:rPr>
              <a:t>    print("Welcome to </a:t>
            </a:r>
            <a:r>
              <a:rPr lang="en-IN" sz="1400" b="0" i="0" dirty="0" err="1">
                <a:effectLst/>
                <a:latin typeface="Google Sans"/>
              </a:rPr>
              <a:t>WsCube</a:t>
            </a:r>
            <a:r>
              <a:rPr lang="en-IN" sz="1400" b="0" i="0" dirty="0">
                <a:effectLst/>
                <a:latin typeface="Google Sans"/>
              </a:rPr>
              <a:t> Tech!", file=f)</a:t>
            </a:r>
          </a:p>
          <a:p>
            <a:r>
              <a:rPr lang="en-IN" sz="1400" b="0" i="0" dirty="0">
                <a:effectLst/>
                <a:latin typeface="Google Sans"/>
              </a:rPr>
              <a:t># The text "Welcome to </a:t>
            </a:r>
            <a:r>
              <a:rPr lang="en-IN" sz="1400" b="0" i="0" dirty="0" err="1">
                <a:effectLst/>
                <a:latin typeface="Google Sans"/>
              </a:rPr>
              <a:t>WsCube</a:t>
            </a:r>
            <a:r>
              <a:rPr lang="en-IN" sz="1400" b="0" i="0" dirty="0">
                <a:effectLst/>
                <a:latin typeface="Google Sans"/>
              </a:rPr>
              <a:t> Tech!" is written to </a:t>
            </a:r>
            <a:r>
              <a:rPr lang="en-IN" sz="1400" b="0" i="0" dirty="0" err="1">
                <a:effectLst/>
                <a:latin typeface="Google Sans"/>
              </a:rPr>
              <a:t>output.txt</a:t>
            </a:r>
            <a:endParaRPr lang="en-IN" sz="1400" b="0" i="0" dirty="0">
              <a:effectLst/>
              <a:latin typeface="Google Sans"/>
            </a:endParaRPr>
          </a:p>
          <a:p>
            <a:endParaRPr lang="en-IN" sz="1400" b="0" i="0" dirty="0">
              <a:effectLst/>
              <a:latin typeface="Google Sans"/>
            </a:endParaRPr>
          </a:p>
          <a:p>
            <a:r>
              <a:rPr lang="en-IN" sz="1400" b="1" i="0" dirty="0">
                <a:effectLst/>
                <a:latin typeface="Google Sans"/>
              </a:rPr>
              <a:t>Using f-strings for formatting</a:t>
            </a:r>
            <a:r>
              <a:rPr lang="en-IN" sz="1400" b="0" i="0" dirty="0">
                <a:effectLst/>
                <a:latin typeface="Google Sans"/>
              </a:rPr>
              <a:t>: A modern and preferred way to embed expressions within strings.</a:t>
            </a:r>
          </a:p>
          <a:p>
            <a:r>
              <a:rPr lang="en-IN" sz="1400" b="0" i="0" dirty="0" err="1">
                <a:effectLst/>
                <a:latin typeface="Google Sans"/>
              </a:rPr>
              <a:t>OrgName</a:t>
            </a:r>
            <a:r>
              <a:rPr lang="en-IN" sz="1400" b="0" i="0" dirty="0">
                <a:effectLst/>
                <a:latin typeface="Google Sans"/>
              </a:rPr>
              <a:t> = "Tutorials Point"</a:t>
            </a:r>
          </a:p>
          <a:p>
            <a:r>
              <a:rPr lang="en-IN" sz="1400" b="0" i="0" dirty="0">
                <a:effectLst/>
                <a:latin typeface="Google Sans"/>
              </a:rPr>
              <a:t>location = "India"</a:t>
            </a:r>
          </a:p>
          <a:p>
            <a:r>
              <a:rPr lang="en-IN" sz="1400" b="0" i="0" dirty="0">
                <a:effectLst/>
                <a:latin typeface="Google Sans"/>
              </a:rPr>
              <a:t>print(f"{</a:t>
            </a:r>
            <a:r>
              <a:rPr lang="en-IN" sz="1400" b="0" i="0" dirty="0" err="1">
                <a:effectLst/>
                <a:latin typeface="Google Sans"/>
              </a:rPr>
              <a:t>OrgName</a:t>
            </a:r>
            <a:r>
              <a:rPr lang="en-IN" sz="1400" b="0" i="0" dirty="0">
                <a:effectLst/>
                <a:latin typeface="Google Sans"/>
              </a:rPr>
              <a:t>} is located in {location}.")</a:t>
            </a:r>
          </a:p>
          <a:p>
            <a:r>
              <a:rPr lang="en-IN" sz="1400" b="0" i="0" dirty="0">
                <a:effectLst/>
                <a:latin typeface="Google Sans"/>
              </a:rPr>
              <a:t># Output: Tutorials Point is located in India.</a:t>
            </a:r>
          </a:p>
        </p:txBody>
      </p:sp>
    </p:spTree>
    <p:extLst>
      <p:ext uri="{BB962C8B-B14F-4D97-AF65-F5344CB8AC3E}">
        <p14:creationId xmlns:p14="http://schemas.microsoft.com/office/powerpoint/2010/main" val="1648629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73FA-1F41-1A09-FF13-7902C952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input() function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7D2D-A3E7-1537-0DD0-53F457F3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 input() function in Python is a built-in method used to get data from a user via the keyboard during program execution. </a:t>
            </a:r>
          </a:p>
          <a:p>
            <a:r>
              <a:rPr lang="en-IN" dirty="0"/>
              <a:t>The program pauses until the user types something and presses the </a:t>
            </a:r>
            <a:r>
              <a:rPr lang="en-IN" b="1" dirty="0">
                <a:effectLst/>
              </a:rPr>
              <a:t>Enter</a:t>
            </a:r>
            <a:r>
              <a:rPr lang="en-IN" dirty="0"/>
              <a:t> key. </a:t>
            </a:r>
          </a:p>
          <a:p>
            <a:r>
              <a:rPr lang="en-IN" dirty="0"/>
              <a:t>The function then reads the line of input and </a:t>
            </a:r>
            <a:r>
              <a:rPr lang="en-IN" b="1" dirty="0">
                <a:effectLst/>
              </a:rPr>
              <a:t>always returns it as a string</a:t>
            </a:r>
            <a:r>
              <a:rPr lang="en-IN" dirty="0"/>
              <a:t>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Syntax: </a:t>
            </a:r>
            <a:r>
              <a:rPr lang="en-IN" dirty="0" err="1">
                <a:effectLst/>
              </a:rPr>
              <a:t>variable_name</a:t>
            </a:r>
            <a:r>
              <a:rPr lang="en-IN" dirty="0">
                <a:effectLst/>
              </a:rPr>
              <a:t> = input("Optional prompt message")</a:t>
            </a:r>
          </a:p>
          <a:p>
            <a:endParaRPr lang="en-IN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"Optional prompt message" is a string displayed to the user to guide them on what input is expected.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The entered value is stored in </a:t>
            </a:r>
            <a:r>
              <a:rPr lang="en-IN" b="0" i="0" dirty="0" err="1">
                <a:effectLst/>
                <a:latin typeface="Google Sans"/>
              </a:rPr>
              <a:t>variable_name</a:t>
            </a:r>
            <a:r>
              <a:rPr lang="en-IN" b="0" i="0" dirty="0">
                <a:effectLst/>
                <a:latin typeface="Google Sans"/>
              </a:rPr>
              <a:t> as a string.</a:t>
            </a:r>
            <a:endParaRPr lang="en-US" b="0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541804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F824-3123-7C16-FC05-75C7852C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Features and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74B85-BF2D-1BCC-C029-7B64B9D0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effectLst/>
                <a:latin typeface="Google Sans"/>
              </a:rPr>
              <a:t>1. Basic Input: </a:t>
            </a:r>
            <a:r>
              <a:rPr lang="en-IN" b="0" i="0" dirty="0">
                <a:effectLst/>
                <a:latin typeface="Google Sans"/>
              </a:rPr>
              <a:t>The simplest use case is capturing a single string value. </a:t>
            </a:r>
          </a:p>
          <a:p>
            <a:r>
              <a:rPr lang="en-US" dirty="0"/>
              <a:t>name = input("Enter your name: ")</a:t>
            </a:r>
          </a:p>
          <a:p>
            <a:r>
              <a:rPr lang="en-US" dirty="0"/>
              <a:t>print("Hello, " + name + "!")</a:t>
            </a:r>
          </a:p>
          <a:p>
            <a:endParaRPr lang="en-US" dirty="0"/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”Amity", the output will be:</a:t>
            </a:r>
          </a:p>
          <a:p>
            <a:pPr algn="l" rtl="0"/>
            <a:r>
              <a:rPr lang="en-IN" dirty="0"/>
              <a:t>Enter your name: </a:t>
            </a:r>
            <a:r>
              <a:rPr lang="en-IN" b="0" i="0" dirty="0">
                <a:effectLst/>
                <a:latin typeface="Google Sans"/>
              </a:rPr>
              <a:t>Amity</a:t>
            </a:r>
            <a:r>
              <a:rPr lang="en-IN" dirty="0"/>
              <a:t> </a:t>
            </a:r>
          </a:p>
          <a:p>
            <a:pPr algn="l" rtl="0"/>
            <a:r>
              <a:rPr lang="en-IN" dirty="0"/>
              <a:t>Hello, </a:t>
            </a:r>
            <a:r>
              <a:rPr lang="en-IN" b="0" i="0" dirty="0">
                <a:effectLst/>
                <a:latin typeface="Google Sans"/>
              </a:rPr>
              <a:t>Amity</a:t>
            </a:r>
            <a:r>
              <a:rPr lang="en-IN" dirty="0"/>
              <a:t>!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56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60B7-66B2-EBF2-4D25-7DE32BEF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9EB8-6FA6-43AA-084B-CA822AFE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2. Taking Numeric Input (Type Conversion)</a:t>
            </a:r>
          </a:p>
          <a:p>
            <a:r>
              <a:rPr lang="en-US" dirty="0"/>
              <a:t>Since input() always returns a string, you must use type casting functions like int() or float() to perform mathematical operations. </a:t>
            </a:r>
          </a:p>
          <a:p>
            <a:r>
              <a:rPr lang="en-US" dirty="0"/>
              <a:t>Integer input:</a:t>
            </a:r>
          </a:p>
          <a:p>
            <a:r>
              <a:rPr lang="en-US" dirty="0"/>
              <a:t>age = int(input("Enter your age: "))</a:t>
            </a:r>
          </a:p>
          <a:p>
            <a:r>
              <a:rPr lang="en-US" dirty="0"/>
              <a:t>print("Next year, you will be", age + 1, "years old.")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"25", the output will be:</a:t>
            </a:r>
          </a:p>
          <a:p>
            <a:pPr algn="l" rtl="0"/>
            <a:r>
              <a:rPr lang="en-IN" dirty="0"/>
              <a:t>Enter your age: 25 </a:t>
            </a:r>
          </a:p>
          <a:p>
            <a:pPr algn="l" rtl="0"/>
            <a:r>
              <a:rPr lang="en-IN" dirty="0"/>
              <a:t>Next year, you will be 26 years old.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32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6A85-6CED-945B-3859-4DA3485A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8DDA-979D-B9BE-A6C9-0E52AA123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IN" b="1" i="0" dirty="0">
                <a:effectLst/>
                <a:latin typeface="Google Sans"/>
              </a:rPr>
              <a:t>Float input:</a:t>
            </a:r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price = float(input("Enter the price: "))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print("Total price with tax:", price * 1.18)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3. Taking Multiple Inputs in One Line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You can accept multiple values separated by a delimiter (like a space or comma) in a single line using the split() method.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x, y = input("Enter two numbers separated by a space: ").split()</a:t>
            </a:r>
          </a:p>
          <a:p>
            <a:pPr algn="l"/>
            <a:r>
              <a:rPr lang="en-IN" b="0" i="0" dirty="0" err="1">
                <a:effectLst/>
                <a:latin typeface="Google Sans"/>
              </a:rPr>
              <a:t>sum_of_numbers</a:t>
            </a:r>
            <a:r>
              <a:rPr lang="en-IN" b="0" i="0" dirty="0">
                <a:effectLst/>
                <a:latin typeface="Google Sans"/>
              </a:rPr>
              <a:t> = int(x) + int(y)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print("The sum is:", </a:t>
            </a:r>
            <a:r>
              <a:rPr lang="en-IN" b="0" i="0" dirty="0" err="1">
                <a:effectLst/>
                <a:latin typeface="Google Sans"/>
              </a:rPr>
              <a:t>sum_of_numbers</a:t>
            </a:r>
            <a:r>
              <a:rPr lang="en-IN" b="0" i="0" dirty="0">
                <a:effectLst/>
                <a:latin typeface="Google Sans"/>
              </a:rPr>
              <a:t>)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"5 10", the output will be: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Enter two numbers separated by a space: 5 10 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The sum is: 15</a:t>
            </a:r>
          </a:p>
        </p:txBody>
      </p:sp>
    </p:spTree>
    <p:extLst>
      <p:ext uri="{BB962C8B-B14F-4D97-AF65-F5344CB8AC3E}">
        <p14:creationId xmlns:p14="http://schemas.microsoft.com/office/powerpoint/2010/main" val="3701161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EC91-657E-110A-065D-C662C460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B9C7-875B-20FE-4CD3-5CFEE8B5F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Alternatively, you can use map() for cleaner conversion of multiple inputs to a specific type: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m, n = map(int, input("Enter two numbers: ").split())</a:t>
            </a:r>
          </a:p>
          <a:p>
            <a:r>
              <a:rPr lang="en-IN" dirty="0">
                <a:effectLst/>
              </a:rPr>
              <a:t>print("Sum:", m + n)</a:t>
            </a:r>
          </a:p>
          <a:p>
            <a:endParaRPr lang="en-IN" dirty="0">
              <a:latin typeface="Google Sans"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4. Handling Input Errors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If a user enters an invalid type (e.g., a string when an integer is expected), a </a:t>
            </a:r>
            <a:r>
              <a:rPr lang="en-IN" b="0" i="0" dirty="0" err="1">
                <a:effectLst/>
                <a:latin typeface="Google Sans"/>
              </a:rPr>
              <a:t>ValueError</a:t>
            </a:r>
            <a:r>
              <a:rPr lang="en-IN" b="0" i="0" dirty="0">
                <a:effectLst/>
                <a:latin typeface="Google Sans"/>
              </a:rPr>
              <a:t> will occur. Using a try-except block can help handle these exceptions gracefully.</a:t>
            </a:r>
          </a:p>
          <a:p>
            <a:r>
              <a:rPr lang="en-IN" dirty="0">
                <a:effectLst/>
              </a:rPr>
              <a:t>while True:</a:t>
            </a:r>
          </a:p>
          <a:p>
            <a:r>
              <a:rPr lang="en-IN" dirty="0">
                <a:effectLst/>
              </a:rPr>
              <a:t>    try:</a:t>
            </a:r>
          </a:p>
          <a:p>
            <a:r>
              <a:rPr lang="en-IN" dirty="0">
                <a:effectLst/>
              </a:rPr>
              <a:t>        number = int(input("Enter an integer: "))</a:t>
            </a:r>
          </a:p>
          <a:p>
            <a:r>
              <a:rPr lang="en-IN" dirty="0">
                <a:effectLst/>
              </a:rPr>
              <a:t>        break # Exit the loop if input is valid</a:t>
            </a:r>
          </a:p>
          <a:p>
            <a:r>
              <a:rPr lang="en-IN" dirty="0">
                <a:effectLst/>
              </a:rPr>
              <a:t>    except </a:t>
            </a:r>
            <a:r>
              <a:rPr lang="en-IN" dirty="0" err="1">
                <a:effectLst/>
              </a:rPr>
              <a:t>ValueError</a:t>
            </a:r>
            <a:r>
              <a:rPr lang="en-IN" dirty="0">
                <a:effectLst/>
              </a:rPr>
              <a:t>:</a:t>
            </a:r>
          </a:p>
          <a:p>
            <a:r>
              <a:rPr lang="en-IN" dirty="0">
                <a:effectLst/>
              </a:rPr>
              <a:t>        print("Invalid input! Please enter a valid integer.")</a:t>
            </a:r>
          </a:p>
          <a:p>
            <a:r>
              <a:rPr lang="en-IN" dirty="0">
                <a:effectLst/>
              </a:rPr>
              <a:t>print("You entered:", number)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87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1BCC-4D92-C0BB-7331-06BC5472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Formatted input and f-string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83BF-4176-CF35-B358-BE5A4FDF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 Python, input is handled with the input() function and output with the print() function. Formatting is primarily achieved using </a:t>
            </a:r>
            <a:r>
              <a:rPr lang="en-IN" b="1" dirty="0">
                <a:effectLst/>
              </a:rPr>
              <a:t>f-strings</a:t>
            </a:r>
            <a:r>
              <a:rPr lang="en-IN" dirty="0"/>
              <a:t> (formatted string literals), the </a:t>
            </a:r>
            <a:r>
              <a:rPr lang="en-IN" dirty="0" err="1"/>
              <a:t>str.format</a:t>
            </a:r>
            <a:r>
              <a:rPr lang="en-IN" dirty="0"/>
              <a:t>() method, or the older % operator.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/>
              <a:t>The built-in input() function reads a line from the user and returns it as a </a:t>
            </a:r>
            <a:r>
              <a:rPr lang="en-IN" b="1" dirty="0">
                <a:effectLst/>
              </a:rPr>
              <a:t>string</a:t>
            </a:r>
            <a:r>
              <a:rPr lang="en-IN" dirty="0"/>
              <a:t>. To use the input as another data type (like an integer or a float), you must perform explicit type conversion (typecasting).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1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Basic Input:</a:t>
            </a:r>
            <a:endParaRPr lang="en-IN" b="0" i="0" dirty="0">
              <a:effectLst/>
              <a:latin typeface="Google San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name = input("Enter your name: ")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print(</a:t>
            </a:r>
            <a:r>
              <a:rPr lang="en-IN" b="0" i="0" dirty="0" err="1">
                <a:effectLst/>
                <a:latin typeface="Google Sans"/>
              </a:rPr>
              <a:t>f"Hello</a:t>
            </a:r>
            <a:r>
              <a:rPr lang="en-IN" b="0" i="0" dirty="0">
                <a:effectLst/>
                <a:latin typeface="Google Sans"/>
              </a:rPr>
              <a:t>, {name}!")</a:t>
            </a:r>
          </a:p>
        </p:txBody>
      </p:sp>
    </p:spTree>
    <p:extLst>
      <p:ext uri="{BB962C8B-B14F-4D97-AF65-F5344CB8AC3E}">
        <p14:creationId xmlns:p14="http://schemas.microsoft.com/office/powerpoint/2010/main" val="4134671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DD9F-5A71-9433-5239-43530C71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32ABE-B679-EABF-8087-1B428179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Integer </a:t>
            </a:r>
            <a:r>
              <a:rPr lang="en-IN" b="1" i="0" dirty="0" err="1">
                <a:effectLst/>
                <a:latin typeface="Google Sans"/>
              </a:rPr>
              <a:t>Input:</a:t>
            </a:r>
            <a:r>
              <a:rPr lang="en-IN" b="0" i="0" dirty="0" err="1">
                <a:effectLst/>
                <a:latin typeface="Google Sans"/>
              </a:rPr>
              <a:t>python</a:t>
            </a:r>
            <a:endParaRPr lang="en-IN" b="0" i="0" dirty="0">
              <a:effectLst/>
              <a:latin typeface="Google San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age = int(input("Enter your age: "))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print(</a:t>
            </a:r>
            <a:r>
              <a:rPr lang="en-IN" b="0" i="0" dirty="0" err="1">
                <a:effectLst/>
                <a:latin typeface="Google Sans"/>
              </a:rPr>
              <a:t>f"You</a:t>
            </a:r>
            <a:r>
              <a:rPr lang="en-IN" b="0" i="0" dirty="0">
                <a:effectLst/>
                <a:latin typeface="Google Sans"/>
              </a:rPr>
              <a:t> are {age} years old.")</a:t>
            </a:r>
          </a:p>
          <a:p>
            <a:endParaRPr lang="en-US" dirty="0"/>
          </a:p>
          <a:p>
            <a:pPr algn="l"/>
            <a:r>
              <a:rPr lang="en-IN" b="1" i="0" dirty="0">
                <a:effectLst/>
                <a:latin typeface="Google Sans"/>
              </a:rPr>
              <a:t>Multiple Inputs in one </a:t>
            </a:r>
            <a:r>
              <a:rPr lang="en-IN" b="1" i="0" dirty="0" err="1">
                <a:effectLst/>
                <a:latin typeface="Google Sans"/>
              </a:rPr>
              <a:t>line:</a:t>
            </a:r>
            <a:r>
              <a:rPr lang="en-IN" b="0" i="0" dirty="0" err="1">
                <a:effectLst/>
                <a:latin typeface="Google Sans"/>
              </a:rPr>
              <a:t>python</a:t>
            </a:r>
            <a:endParaRPr lang="en-IN" b="0" i="0" dirty="0">
              <a:effectLst/>
              <a:latin typeface="Google Sans"/>
            </a:endParaRPr>
          </a:p>
          <a:p>
            <a:pPr algn="l" rtl="0"/>
            <a:r>
              <a:rPr lang="en-IN" b="0" i="1" dirty="0">
                <a:effectLst/>
                <a:latin typeface="Google Sans"/>
              </a:rPr>
              <a:t># Enter numbers separated by spaces, e.g., '10 20'</a:t>
            </a:r>
            <a:r>
              <a:rPr lang="en-IN" b="0" i="0" dirty="0">
                <a:effectLst/>
                <a:latin typeface="Google Sans"/>
              </a:rPr>
              <a:t> x, y = map(int, input("Enter two numbers separated by space: ").split()) print(</a:t>
            </a:r>
            <a:r>
              <a:rPr lang="en-IN" b="0" i="0" dirty="0" err="1">
                <a:effectLst/>
                <a:latin typeface="Google Sans"/>
              </a:rPr>
              <a:t>f"First</a:t>
            </a:r>
            <a:r>
              <a:rPr lang="en-IN" b="0" i="0" dirty="0">
                <a:effectLst/>
                <a:latin typeface="Google Sans"/>
              </a:rPr>
              <a:t> number: {x}, Second number: {y}")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7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5667-47B5-F210-5B6E-DFA60ABC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7D100-71D6-84EF-464C-1214C2874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print() function sends output to the console. It supports formatting via special methods or literal strings. </a:t>
            </a:r>
          </a:p>
          <a:p>
            <a:r>
              <a:rPr lang="en-US" dirty="0"/>
              <a:t>Basic Output:</a:t>
            </a:r>
          </a:p>
          <a:p>
            <a:r>
              <a:rPr lang="en-US" dirty="0"/>
              <a:t>print("Hello, World!")</a:t>
            </a:r>
          </a:p>
          <a:p>
            <a:endParaRPr lang="en-US" dirty="0"/>
          </a:p>
          <a:p>
            <a:r>
              <a:rPr lang="en-IN" b="1" i="0" dirty="0">
                <a:effectLst/>
                <a:latin typeface="Google Sans"/>
              </a:rPr>
              <a:t>Custom Separator/End Characters: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You can use the </a:t>
            </a:r>
            <a:r>
              <a:rPr lang="en-IN" dirty="0" err="1"/>
              <a:t>sep</a:t>
            </a:r>
            <a:r>
              <a:rPr lang="en-IN" b="0" i="0" dirty="0">
                <a:effectLst/>
                <a:latin typeface="Google Sans"/>
              </a:rPr>
              <a:t> argument to change the separator between multiple items and the </a:t>
            </a:r>
            <a:r>
              <a:rPr lang="en-IN" dirty="0"/>
              <a:t>end</a:t>
            </a:r>
            <a:r>
              <a:rPr lang="en-IN" b="0" i="0" dirty="0">
                <a:effectLst/>
                <a:latin typeface="Google Sans"/>
              </a:rPr>
              <a:t> argument to change the character printed at the end of the line (default is a newline </a:t>
            </a:r>
            <a:r>
              <a:rPr lang="en-IN" dirty="0"/>
              <a:t>\n</a:t>
            </a:r>
            <a:r>
              <a:rPr lang="en-IN" b="0" i="0" dirty="0">
                <a:effectLst/>
                <a:latin typeface="Google Sans"/>
              </a:rPr>
              <a:t>).</a:t>
            </a:r>
          </a:p>
          <a:p>
            <a:r>
              <a:rPr lang="en-US" dirty="0"/>
              <a:t>print("My", "Name", "Is", "James", </a:t>
            </a:r>
            <a:r>
              <a:rPr lang="en-US" dirty="0" err="1"/>
              <a:t>sep</a:t>
            </a:r>
            <a:r>
              <a:rPr lang="en-US" dirty="0"/>
              <a:t>="**", end=".")</a:t>
            </a:r>
          </a:p>
          <a:p>
            <a:r>
              <a:rPr lang="en-US" dirty="0"/>
              <a:t># Output: My**Name**Is**James.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5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7BEA-7A38-DF3B-3C09-A057ADA9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CA6C-B841-B8CD-58B8-6607F1AEC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F-Strings (Recommended in modern Python 3):</a:t>
            </a:r>
            <a:br>
              <a:rPr lang="en-IN" b="0" i="0" dirty="0">
                <a:effectLst/>
                <a:latin typeface="Google Sans"/>
              </a:rPr>
            </a:br>
            <a:r>
              <a:rPr lang="en-IN" b="0" i="0" dirty="0">
                <a:effectLst/>
                <a:latin typeface="Google Sans"/>
              </a:rPr>
              <a:t>Prefix the string with f and place variables/expressions inside curly braces {}.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BDABF-1E18-D244-6100-47A44263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682963"/>
            <a:ext cx="6604000" cy="424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45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8108-8869-6D62-A298-11671362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A022-312D-96F4-CF03-F7CB1DAA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The </a:t>
            </a:r>
            <a:r>
              <a:rPr lang="en-IN" b="1" i="0" dirty="0" err="1">
                <a:effectLst/>
                <a:latin typeface="Google Sans"/>
              </a:rPr>
              <a:t>str.format</a:t>
            </a:r>
            <a:r>
              <a:rPr lang="en-IN" b="1" i="0" dirty="0">
                <a:effectLst/>
                <a:latin typeface="Google Sans"/>
              </a:rPr>
              <a:t>() Method: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Uses curly braces as placeholders and the </a:t>
            </a:r>
            <a:r>
              <a:rPr lang="en-IN" dirty="0"/>
              <a:t>.format()</a:t>
            </a:r>
            <a:r>
              <a:rPr lang="en-IN" b="0" i="0" dirty="0">
                <a:effectLst/>
                <a:latin typeface="Google Sans"/>
              </a:rPr>
              <a:t> method to substitute values.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BAAC0-F7E1-A37E-686D-99C6F2B3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1133"/>
            <a:ext cx="12192000" cy="365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82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64AA-BA23-9D9D-5D1C-B5381DF8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7F8A-117C-9C68-D306-6B98B9F3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Alignment and Width with F-strings or </a:t>
            </a:r>
            <a:r>
              <a:rPr lang="en-IN" b="1" i="0" dirty="0" err="1">
                <a:effectLst/>
                <a:latin typeface="Google Sans"/>
              </a:rPr>
              <a:t>str.format</a:t>
            </a:r>
            <a:r>
              <a:rPr lang="en-IN" b="1" i="0" dirty="0">
                <a:effectLst/>
                <a:latin typeface="Google Sans"/>
              </a:rPr>
              <a:t>():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You can control alignment (</a:t>
            </a:r>
            <a:r>
              <a:rPr lang="en-IN" dirty="0"/>
              <a:t>&lt;</a:t>
            </a:r>
            <a:r>
              <a:rPr lang="en-IN" b="0" i="0" dirty="0">
                <a:effectLst/>
                <a:latin typeface="Google Sans"/>
              </a:rPr>
              <a:t> left, </a:t>
            </a:r>
            <a:r>
              <a:rPr lang="en-IN" dirty="0"/>
              <a:t>&gt;</a:t>
            </a:r>
            <a:r>
              <a:rPr lang="en-IN" b="0" i="0" dirty="0">
                <a:effectLst/>
                <a:latin typeface="Google Sans"/>
              </a:rPr>
              <a:t> right, </a:t>
            </a:r>
            <a:r>
              <a:rPr lang="en-IN" dirty="0"/>
              <a:t>^</a:t>
            </a:r>
            <a:r>
              <a:rPr lang="en-IN" b="0" i="0" dirty="0">
                <a:effectLst/>
                <a:latin typeface="Google Sans"/>
              </a:rPr>
              <a:t> </a:t>
            </a:r>
            <a:r>
              <a:rPr lang="en-IN" b="0" i="0" dirty="0" err="1">
                <a:effectLst/>
                <a:latin typeface="Google Sans"/>
              </a:rPr>
              <a:t>center</a:t>
            </a:r>
            <a:r>
              <a:rPr lang="en-IN" b="0" i="0" dirty="0">
                <a:effectLst/>
                <a:latin typeface="Google Sans"/>
              </a:rPr>
              <a:t>) and field width.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8D5A4-FA49-643E-8836-888BBC28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532" y="2823890"/>
            <a:ext cx="7216987" cy="403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1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23C1-C755-8CC0-CEC8-8F9E70EB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String Modulo Operator(%)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949A-56CF-B143-B2E2-4AA15D63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Formatting Output using String Modulo Operator(%) ">
            <a:extLst>
              <a:ext uri="{FF2B5EF4-FFF2-40B4-BE49-F238E27FC236}">
                <a16:creationId xmlns:a16="http://schemas.microsoft.com/office/drawing/2014/main" id="{C5D22496-1764-9F41-4202-71F12B4B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778000"/>
            <a:ext cx="81534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441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3CC0-F539-A278-9D3F-023467AD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The Format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E3F6-FB36-6702-1429-D81C8E2F2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Formatting Output using The Format Method ">
            <a:extLst>
              <a:ext uri="{FF2B5EF4-FFF2-40B4-BE49-F238E27FC236}">
                <a16:creationId xmlns:a16="http://schemas.microsoft.com/office/drawing/2014/main" id="{C1F0EEC7-7764-0901-6698-D00FD2F82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816100"/>
            <a:ext cx="7289800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170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753A-DAD4-E668-AEFD-CB1B4EA6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981F-5BCE-AFE9-A382-CFF795E0E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Formatting Output using The Format Method ">
            <a:extLst>
              <a:ext uri="{FF2B5EF4-FFF2-40B4-BE49-F238E27FC236}">
                <a16:creationId xmlns:a16="http://schemas.microsoft.com/office/drawing/2014/main" id="{5BB18A00-A7D3-4342-5F9B-845774E2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816100"/>
            <a:ext cx="7289800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014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B4B8-6291-4004-799F-8BE29482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Advanced Usage with Positional and Named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6470-3D43-74E4-C740-82892E2C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52411-7266-7C8F-F80F-4F03200D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0688"/>
            <a:ext cx="10515599" cy="51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23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4020-0E0B-B363-AF00-DDB3D99F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String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52BB-66A8-323B-4492-A4DE736B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7A379-599E-E43D-F9E8-534459553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36648"/>
            <a:ext cx="7772400" cy="5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85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559C-DC59-7462-F932-3ED43F94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68A7-25C1-BA62-72B2-EA06E5212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EEC49-4156-44BA-C790-751DAAA6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634894"/>
            <a:ext cx="7772400" cy="473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88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14FF-916A-B8D6-E229-8982937C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 Conversion Rule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7F7644-FC4E-37FD-EC9B-1535B5DFCB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75248"/>
              </p:ext>
            </p:extLst>
          </p:nvPr>
        </p:nvGraphicFramePr>
        <p:xfrm>
          <a:off x="944880" y="1152632"/>
          <a:ext cx="7661556" cy="5705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7584">
                  <a:extLst>
                    <a:ext uri="{9D8B030D-6E8A-4147-A177-3AD203B41FA5}">
                      <a16:colId xmlns:a16="http://schemas.microsoft.com/office/drawing/2014/main" val="3722102643"/>
                    </a:ext>
                  </a:extLst>
                </a:gridCol>
                <a:gridCol w="5393972">
                  <a:extLst>
                    <a:ext uri="{9D8B030D-6E8A-4147-A177-3AD203B41FA5}">
                      <a16:colId xmlns:a16="http://schemas.microsoft.com/office/drawing/2014/main" val="1676842386"/>
                    </a:ext>
                  </a:extLst>
                </a:gridCol>
              </a:tblGrid>
              <a:tr h="39690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 dirty="0">
                          <a:effectLst/>
                        </a:rPr>
                        <a:t>Conversion</a:t>
                      </a:r>
                      <a:endParaRPr lang="en-IN" sz="1800" b="0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70364" marB="703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>
                          <a:effectLst/>
                        </a:rPr>
                        <a:t>Meaning</a:t>
                      </a:r>
                      <a:endParaRPr lang="en-IN" sz="18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70364" marB="70364" anchor="ctr"/>
                </a:tc>
                <a:extLst>
                  <a:ext uri="{0D108BD9-81ED-4DB2-BD59-A6C34878D82A}">
                    <a16:rowId xmlns:a16="http://schemas.microsoft.com/office/drawing/2014/main" val="339901364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d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Decimal integer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5679576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b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Binary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20426030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o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octal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96107727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u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Obsolete and equivalent to 'd'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23542016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x or X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Hexadecimal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22176445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e or E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Exponential notation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250009990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f or F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Floating-point decimal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619694794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g or G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General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94821471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c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Single Character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76961247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String format(using repr())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5154615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String Format(using str()))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111778977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>
                          <a:effectLst/>
                        </a:rPr>
                        <a:t>%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Percentage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19955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2864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B539-DD8D-C0EE-E12F-74A9D193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  <a:t>Python Input Methods for Competitive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5214-6FE7-FA0C-90FB-E77F355F0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Normal Method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Faster Method Using stdin and 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stdout</a:t>
            </a:r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Taking User Input in Separate Variables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Taking User Inputs as a List of Integers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5. Taking String Input Efficiently</a:t>
            </a:r>
          </a:p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95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5AF0-4643-7E21-606F-9AC89BC3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Normal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52B4-BC6C-DC4A-69B8-E5DEE79C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code takes n as the number of inputs, then reads n integers, sums them up and prints the result.</a:t>
            </a:r>
          </a:p>
          <a:p>
            <a:endParaRPr lang="en-US" dirty="0"/>
          </a:p>
          <a:p>
            <a:r>
              <a:rPr lang="en-US" dirty="0"/>
              <a:t>n = int(input())</a:t>
            </a:r>
          </a:p>
          <a:p>
            <a:r>
              <a:rPr lang="en-US" dirty="0" err="1"/>
              <a:t>arr</a:t>
            </a:r>
            <a:r>
              <a:rPr lang="en-US" dirty="0"/>
              <a:t> = [int(x) for x in input().split()]</a:t>
            </a:r>
          </a:p>
          <a:p>
            <a:r>
              <a:rPr lang="en-US" dirty="0"/>
              <a:t>summation = 0</a:t>
            </a:r>
          </a:p>
          <a:p>
            <a:r>
              <a:rPr lang="en-US" dirty="0"/>
              <a:t>for x in </a:t>
            </a:r>
            <a:r>
              <a:rPr lang="en-US" dirty="0" err="1"/>
              <a:t>arr</a:t>
            </a:r>
            <a:r>
              <a:rPr lang="en-US" dirty="0"/>
              <a:t>:</a:t>
            </a:r>
          </a:p>
          <a:p>
            <a:r>
              <a:rPr lang="en-US" dirty="0"/>
              <a:t>    summation += x</a:t>
            </a:r>
          </a:p>
          <a:p>
            <a:r>
              <a:rPr lang="en-US" dirty="0"/>
              <a:t>print(summation)</a:t>
            </a:r>
          </a:p>
        </p:txBody>
      </p:sp>
    </p:spTree>
    <p:extLst>
      <p:ext uri="{BB962C8B-B14F-4D97-AF65-F5344CB8AC3E}">
        <p14:creationId xmlns:p14="http://schemas.microsoft.com/office/powerpoint/2010/main" val="1625913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5CE8-0852-847E-EC1D-34D0EEF0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Faster Method Using stdin and </a:t>
            </a: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stdout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DF3D-EAB4-67A0-2601-3AFAA79C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program reads input using </a:t>
            </a:r>
            <a:r>
              <a:rPr lang="en-IN" b="0" dirty="0" err="1">
                <a:effectLst/>
                <a:latin typeface="Nunito" pitchFamily="2" charset="77"/>
              </a:rPr>
              <a:t>stdin.readline</a:t>
            </a:r>
            <a:r>
              <a:rPr lang="en-IN" b="0" dirty="0">
                <a:effectLst/>
                <a:latin typeface="Nunito" pitchFamily="2" charset="77"/>
              </a:rPr>
              <a:t>(), computes the sum of numbers and prints it using </a:t>
            </a:r>
            <a:r>
              <a:rPr lang="en-IN" b="0" dirty="0" err="1">
                <a:effectLst/>
                <a:latin typeface="Nunito" pitchFamily="2" charset="77"/>
              </a:rPr>
              <a:t>stdout.write</a:t>
            </a:r>
            <a:r>
              <a:rPr lang="en-IN" b="0" dirty="0">
                <a:effectLst/>
                <a:latin typeface="Nunito" pitchFamily="2" charset="77"/>
              </a:rPr>
              <a:t>().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from sys import stdin, </a:t>
            </a:r>
            <a:r>
              <a:rPr lang="en-US" dirty="0" err="1"/>
              <a:t>stdout</a:t>
            </a:r>
            <a:r>
              <a:rPr lang="en-US" dirty="0"/>
              <a:t> 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n = int(</a:t>
            </a:r>
            <a:r>
              <a:rPr lang="en-US" dirty="0" err="1"/>
              <a:t>stdin.readline</a:t>
            </a:r>
            <a:r>
              <a:rPr lang="en-US" dirty="0"/>
              <a:t>())</a:t>
            </a:r>
          </a:p>
          <a:p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 = [int(x) for x in </a:t>
            </a:r>
            <a:r>
              <a:rPr lang="en-US" dirty="0" err="1"/>
              <a:t>stdin.readline</a:t>
            </a:r>
            <a:r>
              <a:rPr lang="en-US" dirty="0"/>
              <a:t>().split()]</a:t>
            </a:r>
          </a:p>
          <a:p>
            <a:r>
              <a:rPr lang="en-US" dirty="0"/>
              <a:t>    summation = sum(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stdout.write</a:t>
            </a:r>
            <a:r>
              <a:rPr lang="en-US" dirty="0"/>
              <a:t>(str(summation))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16890958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2942-669F-EA1E-F3D8-A0D6E2F6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Taking User Input in Separate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BF4E-408E-5345-E403-263F303A3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 </a:t>
            </a:r>
            <a:r>
              <a:rPr lang="en-IN" b="0" dirty="0">
                <a:effectLst/>
                <a:latin typeface="Nunito" pitchFamily="2" charset="77"/>
              </a:rPr>
              <a:t>This function reads a line of space-separated integers and unpacks them into variables.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import sys</a:t>
            </a:r>
          </a:p>
          <a:p>
            <a:r>
              <a:rPr lang="en-US" dirty="0"/>
              <a:t>def </a:t>
            </a:r>
            <a:r>
              <a:rPr lang="en-US" dirty="0" err="1"/>
              <a:t>get_ints</a:t>
            </a:r>
            <a:r>
              <a:rPr lang="en-US" dirty="0"/>
              <a:t>(): </a:t>
            </a:r>
          </a:p>
          <a:p>
            <a:r>
              <a:rPr lang="en-US" dirty="0"/>
              <a:t>    return map(int, </a:t>
            </a:r>
            <a:r>
              <a:rPr lang="en-US" dirty="0" err="1"/>
              <a:t>sys.stdin.readline</a:t>
            </a:r>
            <a:r>
              <a:rPr lang="en-US" dirty="0"/>
              <a:t>().strip().split())</a:t>
            </a:r>
          </a:p>
          <a:p>
            <a:r>
              <a:rPr lang="en-US" dirty="0"/>
              <a:t>a, b, c, d = </a:t>
            </a:r>
            <a:r>
              <a:rPr lang="en-US" dirty="0" err="1"/>
              <a:t>get_ints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89631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C4D9-508D-001E-46A9-522902C8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Taking User Inputs as a List of Integers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B669-68DF-6CBD-FDAC-B3B1C5AB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</a:t>
            </a:r>
            <a:r>
              <a:rPr lang="en-IN" b="0" dirty="0">
                <a:effectLst/>
                <a:latin typeface="Nunito" pitchFamily="2" charset="77"/>
              </a:rPr>
              <a:t> This program reads integers from a single line and stores them in a list.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IN" dirty="0">
                <a:effectLst/>
                <a:latin typeface="Nunito" pitchFamily="2" charset="77"/>
              </a:rPr>
              <a:t>import sys</a:t>
            </a:r>
          </a:p>
          <a:p>
            <a:r>
              <a:rPr lang="en-IN" dirty="0">
                <a:effectLst/>
                <a:latin typeface="Nunito" pitchFamily="2" charset="77"/>
              </a:rPr>
              <a:t>def </a:t>
            </a:r>
            <a:r>
              <a:rPr lang="en-IN" dirty="0" err="1">
                <a:effectLst/>
                <a:latin typeface="Nunito" pitchFamily="2" charset="77"/>
              </a:rPr>
              <a:t>get_list</a:t>
            </a:r>
            <a:r>
              <a:rPr lang="en-IN" dirty="0">
                <a:effectLst/>
                <a:latin typeface="Nunito" pitchFamily="2" charset="77"/>
              </a:rPr>
              <a:t>(): </a:t>
            </a:r>
          </a:p>
          <a:p>
            <a:r>
              <a:rPr lang="en-IN" dirty="0">
                <a:effectLst/>
                <a:latin typeface="Nunito" pitchFamily="2" charset="77"/>
              </a:rPr>
              <a:t>    return list(map(int, </a:t>
            </a:r>
            <a:r>
              <a:rPr lang="en-IN" dirty="0" err="1">
                <a:effectLst/>
                <a:latin typeface="Nunito" pitchFamily="2" charset="77"/>
              </a:rPr>
              <a:t>sys.stdin.readline</a:t>
            </a:r>
            <a:r>
              <a:rPr lang="en-IN" dirty="0">
                <a:effectLst/>
                <a:latin typeface="Nunito" pitchFamily="2" charset="77"/>
              </a:rPr>
              <a:t>().strip().split()))</a:t>
            </a:r>
          </a:p>
          <a:p>
            <a:r>
              <a:rPr lang="en-IN" dirty="0" err="1">
                <a:effectLst/>
                <a:latin typeface="Nunito" pitchFamily="2" charset="77"/>
              </a:rPr>
              <a:t>Arr</a:t>
            </a:r>
            <a:r>
              <a:rPr lang="en-IN" dirty="0">
                <a:effectLst/>
                <a:latin typeface="Nunito" pitchFamily="2" charset="77"/>
              </a:rPr>
              <a:t> = </a:t>
            </a:r>
            <a:r>
              <a:rPr lang="en-IN" dirty="0" err="1">
                <a:effectLst/>
                <a:latin typeface="Nunito" pitchFamily="2" charset="77"/>
              </a:rPr>
              <a:t>get_list</a:t>
            </a:r>
            <a:r>
              <a:rPr lang="en-IN" dirty="0">
                <a:effectLst/>
                <a:latin typeface="Nunito" pitchFamily="2" charset="77"/>
              </a:rPr>
              <a:t>()</a:t>
            </a:r>
            <a:br>
              <a:rPr lang="en-IN" dirty="0">
                <a:effectLst/>
                <a:latin typeface="Nunito" pitchFamily="2" charset="77"/>
              </a:rPr>
            </a:br>
            <a:endParaRPr lang="en-IN" dirty="0"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065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7512-A604-7F83-D6B9-15C7BDFD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5. Taking String Input Efficiently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C5A2-6E1F-E31B-8D7E-42B6923C3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Example: </a:t>
            </a:r>
            <a:r>
              <a:rPr lang="en-IN" b="0" dirty="0">
                <a:effectLst/>
                <a:latin typeface="Nunito" pitchFamily="2" charset="77"/>
              </a:rPr>
              <a:t>This function reads a line of text input as a string.</a:t>
            </a:r>
          </a:p>
          <a:p>
            <a:endParaRPr lang="en-IN" dirty="0">
              <a:effectLst/>
              <a:latin typeface="Nunito" pitchFamily="2" charset="77"/>
            </a:endParaRPr>
          </a:p>
          <a:p>
            <a:r>
              <a:rPr lang="en-US" dirty="0"/>
              <a:t>import sys</a:t>
            </a:r>
          </a:p>
          <a:p>
            <a:r>
              <a:rPr lang="en-US" dirty="0"/>
              <a:t>def </a:t>
            </a:r>
            <a:r>
              <a:rPr lang="en-US" dirty="0" err="1"/>
              <a:t>get_string</a:t>
            </a:r>
            <a:r>
              <a:rPr lang="en-US" dirty="0"/>
              <a:t>(): </a:t>
            </a:r>
          </a:p>
          <a:p>
            <a:r>
              <a:rPr lang="en-US" dirty="0"/>
              <a:t>    return </a:t>
            </a:r>
            <a:r>
              <a:rPr lang="en-US" dirty="0" err="1"/>
              <a:t>sys.stdin.readline</a:t>
            </a:r>
            <a:r>
              <a:rPr lang="en-US" dirty="0"/>
              <a:t>().strip()</a:t>
            </a:r>
          </a:p>
          <a:p>
            <a:r>
              <a:rPr lang="en-US" dirty="0"/>
              <a:t>string = </a:t>
            </a:r>
            <a:r>
              <a:rPr lang="en-US" dirty="0" err="1"/>
              <a:t>get_string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147530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DA03-167F-225B-037C-8E153E9F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D431-CB73-2A23-1A50-5713A3D11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In Python, a </a:t>
            </a:r>
            <a:r>
              <a:rPr lang="en-IN" b="1" dirty="0">
                <a:effectLst/>
              </a:rPr>
              <a:t>set</a:t>
            </a:r>
            <a:r>
              <a:rPr lang="en-IN" dirty="0"/>
              <a:t> is an </a:t>
            </a:r>
            <a:r>
              <a:rPr lang="en-IN" b="1" dirty="0">
                <a:effectLst/>
              </a:rPr>
              <a:t>unordered collection of unique, immutable elements</a:t>
            </a:r>
            <a:r>
              <a:rPr lang="en-IN" dirty="0"/>
              <a:t>. Sets are highly optimized for membership testing and eliminating duplicates from other collections like lists or tuples.</a:t>
            </a:r>
            <a:r>
              <a:rPr lang="en-IN" b="0" i="0" dirty="0"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Key Characteristics of Python 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Unique Elements:</a:t>
            </a:r>
            <a:r>
              <a:rPr lang="en-IN" b="0" i="0" dirty="0">
                <a:effectLst/>
                <a:latin typeface="Google Sans"/>
              </a:rPr>
              <a:t> Duplicates are automatically removed.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Unordered:</a:t>
            </a:r>
            <a:r>
              <a:rPr lang="en-IN" b="0" i="0" dirty="0">
                <a:effectLst/>
                <a:latin typeface="Google Sans"/>
              </a:rPr>
              <a:t> The order of items is not guaranteed and can change.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Unindexed:</a:t>
            </a:r>
            <a:r>
              <a:rPr lang="en-IN" b="0" i="0" dirty="0">
                <a:effectLst/>
                <a:latin typeface="Google Sans"/>
              </a:rPr>
              <a:t> Elements cannot be accessed by index.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Mutable (mostly):</a:t>
            </a:r>
            <a:r>
              <a:rPr lang="en-IN" b="0" i="0" dirty="0">
                <a:effectLst/>
                <a:latin typeface="Google Sans"/>
              </a:rPr>
              <a:t> Elements can be added or removed, but the elements themselves must be of immutable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2326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66BC-B196-DE50-FB0C-94F56CDC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F77F3-6439-5E33-D7C1-76CCC4BE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Sets can be created using curly braces {} or the set() constructor. </a:t>
            </a:r>
          </a:p>
          <a:p>
            <a:r>
              <a:rPr lang="en-US" dirty="0"/>
              <a:t>Use curly braces for non-empty sets: {"apple", "banana"}. Duplicates are removed automatically, e.g., {1, 2, 2} becomes {1, 2}.</a:t>
            </a:r>
          </a:p>
          <a:p>
            <a:r>
              <a:rPr lang="en-US" dirty="0"/>
              <a:t>Use set() to create an empty set, as {} creates an empty dictionary.</a:t>
            </a:r>
          </a:p>
          <a:p>
            <a:r>
              <a:rPr lang="en-US" dirty="0"/>
              <a:t>Convert </a:t>
            </a:r>
            <a:r>
              <a:rPr lang="en-US" dirty="0" err="1"/>
              <a:t>iterables</a:t>
            </a:r>
            <a:r>
              <a:rPr lang="en-US" dirty="0"/>
              <a:t> (like lists) to a set using set(</a:t>
            </a:r>
            <a:r>
              <a:rPr lang="en-US" dirty="0" err="1"/>
              <a:t>iterable</a:t>
            </a:r>
            <a:r>
              <a:rPr lang="en-US" dirty="0"/>
              <a:t>) to remove duplicates.</a:t>
            </a:r>
          </a:p>
        </p:txBody>
      </p:sp>
    </p:spTree>
    <p:extLst>
      <p:ext uri="{BB962C8B-B14F-4D97-AF65-F5344CB8AC3E}">
        <p14:creationId xmlns:p14="http://schemas.microsoft.com/office/powerpoint/2010/main" val="4205231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7A74-E918-3C77-0DD5-1C11633F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Google Sans"/>
              </a:rPr>
              <a:t>Common Set Operations and Methods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425D0F-1E98-BC49-F84E-7A68D8066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068507"/>
              </p:ext>
            </p:extLst>
          </p:nvPr>
        </p:nvGraphicFramePr>
        <p:xfrm>
          <a:off x="838200" y="1825625"/>
          <a:ext cx="10515600" cy="3774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448203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3860302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57491538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4101318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27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A.union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|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all unique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75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A.intersection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&amp;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Finds common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89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A.difference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-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 in A but not in 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246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Symmetric Diff.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A.symmetric_difference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^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 in either set, but not both.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02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A.add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Adds a single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36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A.remove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an element (raises </a:t>
                      </a:r>
                      <a:r>
                        <a:rPr lang="en-US" dirty="0" err="1"/>
                        <a:t>KeyError</a:t>
                      </a:r>
                      <a:r>
                        <a:rPr lang="en-US" dirty="0"/>
                        <a:t> if not found).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A.discard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an element (does nothing if not found).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309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7201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0110-6641-8DAC-B1CB-6456130C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Frozen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5302-3CDC-C0C1-4BB5-8FE078D1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frozenset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is an immutable version of a set. Its elements cannot be changed after creation, but you can perform operations like union, intersection and difference. Use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frozenset()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to create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33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3595-A1EA-1542-BEBC-644641DA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20BCD7-2886-8D64-67F7-310E29EFC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187476"/>
              </p:ext>
            </p:extLst>
          </p:nvPr>
        </p:nvGraphicFramePr>
        <p:xfrm>
          <a:off x="1708962" y="177272"/>
          <a:ext cx="9248598" cy="63759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5836">
                  <a:extLst>
                    <a:ext uri="{9D8B030D-6E8A-4147-A177-3AD203B41FA5}">
                      <a16:colId xmlns:a16="http://schemas.microsoft.com/office/drawing/2014/main" val="369582460"/>
                    </a:ext>
                  </a:extLst>
                </a:gridCol>
                <a:gridCol w="6762762">
                  <a:extLst>
                    <a:ext uri="{9D8B030D-6E8A-4147-A177-3AD203B41FA5}">
                      <a16:colId xmlns:a16="http://schemas.microsoft.com/office/drawing/2014/main" val="2808105819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 dirty="0">
                          <a:effectLst/>
                        </a:rPr>
                        <a:t>Operators</a:t>
                      </a:r>
                      <a:endParaRPr lang="en-IN" sz="1400" b="1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70364" marB="7036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Notes</a:t>
                      </a:r>
                      <a:endParaRPr lang="en-IN" sz="1400" b="1">
                        <a:effectLst/>
                        <a:latin typeface="Nunito" pitchFamily="2" charset="77"/>
                      </a:endParaRPr>
                    </a:p>
                  </a:txBody>
                  <a:tcPr marL="70364" marR="70364" marT="70364" marB="70364" anchor="ctr"/>
                </a:tc>
                <a:extLst>
                  <a:ext uri="{0D108BD9-81ED-4DB2-BD59-A6C34878D82A}">
                    <a16:rowId xmlns:a16="http://schemas.microsoft.com/office/drawing/2014/main" val="210819941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 dirty="0">
                          <a:effectLst/>
                        </a:rPr>
                        <a:t>key in s</a:t>
                      </a:r>
                      <a:endParaRPr lang="en-IN" sz="2000" b="1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containment check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688761925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key not in s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non-containment check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10705671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==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equivalent to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505370575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!=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not equivalent to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506242399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&lt;=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subset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4159121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&lt;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proper subset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6803838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&gt;=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superset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05647639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&gt;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proper superset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2411681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|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union of s1 and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3592164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&amp;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intersection of s1 and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1326222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s1 -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set of elements in s1 but not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516299881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ˆ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set of elements in precisely one of s1 or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98446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820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BAFEA-68F7-A00C-5A21-F5DCA873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9D40-FCCF-4668-D844-F123DF5A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 </a:t>
            </a:r>
            <a:r>
              <a:rPr lang="en-IN" b="1" dirty="0">
                <a:effectLst/>
              </a:rPr>
              <a:t>dictionary</a:t>
            </a:r>
            <a:r>
              <a:rPr lang="en-IN" dirty="0"/>
              <a:t> in Python is a built-in data type that stores data as flexible, changeable key-value pairs. </a:t>
            </a:r>
          </a:p>
          <a:p>
            <a:r>
              <a:rPr lang="en-IN" dirty="0"/>
              <a:t>Keys are unique and must be immutable data types (like strings, numbers, or tuples), while values can be of any data type. </a:t>
            </a:r>
          </a:p>
          <a:p>
            <a:r>
              <a:rPr lang="en-IN" dirty="0"/>
              <a:t>Dictionaries are highly efficient for data retrieval using a key, implemented as a hash map (average O(1) time complexity for lookups).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55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F4C1-6F5D-8938-D182-EDADDDA9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4E0E0-B8FD-3C9F-EF5A-D1ED8D4ED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Ordered</a:t>
            </a:r>
            <a:r>
              <a:rPr lang="en-IN" b="0" i="0" dirty="0">
                <a:effectLst/>
                <a:latin typeface="Google Sans"/>
              </a:rPr>
              <a:t>: As of Python version 3.7, dictionaries are ordered, meaning the insertion order of items is preserved.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Changeable (Mutable)</a:t>
            </a:r>
            <a:r>
              <a:rPr lang="en-IN" b="0" i="0" dirty="0">
                <a:effectLst/>
                <a:latin typeface="Google Sans"/>
              </a:rPr>
              <a:t>: You can add, modify, or remove items after a dictionary has been created.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No Duplicates</a:t>
            </a:r>
            <a:r>
              <a:rPr lang="en-IN" b="0" i="0" dirty="0">
                <a:effectLst/>
                <a:latin typeface="Google Sans"/>
              </a:rPr>
              <a:t>: Dictionary keys must be unique. Assigning a value to an existing key will overwrite the old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Indexed by Keys</a:t>
            </a:r>
            <a:r>
              <a:rPr lang="en-IN" b="0" i="0" dirty="0">
                <a:effectLst/>
                <a:latin typeface="Google Sans"/>
              </a:rPr>
              <a:t>: Data is accessed using its associated key, not an integer index like in a list.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102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D1D1-D6DE-35A5-1FA6-B8E3033E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Basic Operations and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312B-32B6-CC27-BFF8-F4FF0A282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i="0" dirty="0">
                <a:effectLst/>
                <a:latin typeface="Google Sans"/>
              </a:rPr>
              <a:t>1. Creation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2. Accessing Values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3. Adding and Modifying Items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4. Removing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4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B5A-C1DF-7FFD-F954-8DBA568E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1. Creation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B3CE-1C1D-D90A-F635-330FC2DF9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/>
              <a:t>You can create a dictionary using curly braces {} or the </a:t>
            </a:r>
            <a:r>
              <a:rPr lang="en-IN" sz="1800" dirty="0" err="1"/>
              <a:t>dict</a:t>
            </a:r>
            <a:r>
              <a:rPr lang="en-IN" sz="1800" dirty="0"/>
              <a:t>() constructor.</a:t>
            </a:r>
            <a:r>
              <a:rPr lang="en-IN" sz="1800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sz="1800" dirty="0">
                <a:effectLst/>
              </a:rPr>
              <a:t># Using curly braces (dictionary literal)</a:t>
            </a:r>
          </a:p>
          <a:p>
            <a:r>
              <a:rPr lang="en-IN" sz="1800" dirty="0">
                <a:effectLst/>
              </a:rPr>
              <a:t>person = {</a:t>
            </a:r>
          </a:p>
          <a:p>
            <a:r>
              <a:rPr lang="en-IN" sz="1800" dirty="0">
                <a:effectLst/>
              </a:rPr>
              <a:t>    "name": "Alice",</a:t>
            </a:r>
          </a:p>
          <a:p>
            <a:r>
              <a:rPr lang="en-IN" sz="1800" dirty="0">
                <a:effectLst/>
              </a:rPr>
              <a:t>    "age": 30,</a:t>
            </a:r>
          </a:p>
          <a:p>
            <a:r>
              <a:rPr lang="en-IN" sz="1800" dirty="0">
                <a:effectLst/>
              </a:rPr>
              <a:t>    "role": "Engineer"</a:t>
            </a:r>
          </a:p>
          <a:p>
            <a:r>
              <a:rPr lang="en-IN" sz="1800" dirty="0">
                <a:effectLst/>
              </a:rPr>
              <a:t>}</a:t>
            </a:r>
          </a:p>
          <a:p>
            <a:r>
              <a:rPr lang="en-IN" sz="1800" dirty="0">
                <a:effectLst/>
              </a:rPr>
              <a:t>print(person)</a:t>
            </a:r>
          </a:p>
          <a:p>
            <a:r>
              <a:rPr lang="en-IN" sz="1800" dirty="0">
                <a:effectLst/>
              </a:rPr>
              <a:t># Output: {'name': 'Alice', 'age': 30, 'role': 'Engineer'}</a:t>
            </a:r>
          </a:p>
          <a:p>
            <a:r>
              <a:rPr lang="en-IN" sz="1800" dirty="0">
                <a:effectLst/>
              </a:rPr>
              <a:t># Using the </a:t>
            </a:r>
            <a:r>
              <a:rPr lang="en-IN" sz="1800" dirty="0" err="1">
                <a:effectLst/>
              </a:rPr>
              <a:t>dict</a:t>
            </a:r>
            <a:r>
              <a:rPr lang="en-IN" sz="1800" dirty="0">
                <a:effectLst/>
              </a:rPr>
              <a:t>() constructor</a:t>
            </a:r>
          </a:p>
          <a:p>
            <a:r>
              <a:rPr lang="en-IN" sz="1800" dirty="0" err="1">
                <a:effectLst/>
              </a:rPr>
              <a:t>employee_dict</a:t>
            </a:r>
            <a:r>
              <a:rPr lang="en-IN" sz="1800" dirty="0">
                <a:effectLst/>
              </a:rPr>
              <a:t> = </a:t>
            </a:r>
            <a:r>
              <a:rPr lang="en-IN" sz="1800" dirty="0" err="1">
                <a:effectLst/>
              </a:rPr>
              <a:t>dict</a:t>
            </a:r>
            <a:r>
              <a:rPr lang="en-IN" sz="1800" dirty="0">
                <a:effectLst/>
              </a:rPr>
              <a:t>(name="Alice", age=30, role="Engineer")</a:t>
            </a:r>
          </a:p>
          <a:p>
            <a:r>
              <a:rPr lang="en-IN" sz="1800" dirty="0">
                <a:effectLst/>
              </a:rPr>
              <a:t>print(</a:t>
            </a:r>
            <a:r>
              <a:rPr lang="en-IN" sz="1800" dirty="0" err="1">
                <a:effectLst/>
              </a:rPr>
              <a:t>employee_dict</a:t>
            </a:r>
            <a:r>
              <a:rPr lang="en-IN" sz="1800" dirty="0">
                <a:effectLst/>
              </a:rPr>
              <a:t>)</a:t>
            </a:r>
          </a:p>
          <a:p>
            <a:r>
              <a:rPr lang="en-IN" sz="1800" dirty="0">
                <a:effectLst/>
              </a:rPr>
              <a:t># Output: {'name': 'Alice', 'age': 30, 'role': 'Engineer'}</a:t>
            </a:r>
            <a:br>
              <a:rPr lang="en-IN" sz="1800" dirty="0">
                <a:effectLst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2828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EF32-57E3-A3A2-12A5-599CD264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2. Accessing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412C-25B7-DFB6-69C8-EEE66422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Values are accessed using their key within square brackets [] or the .get() method. The .get() method is safer as it avoids a </a:t>
            </a:r>
            <a:r>
              <a:rPr lang="en-IN" dirty="0" err="1"/>
              <a:t>KeyError</a:t>
            </a:r>
            <a:r>
              <a:rPr lang="en-IN" dirty="0"/>
              <a:t> if the key does not exist, returning None or a specified default value instead.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print(person["name"])</a:t>
            </a:r>
          </a:p>
          <a:p>
            <a:r>
              <a:rPr lang="en-IN" dirty="0">
                <a:effectLst/>
              </a:rPr>
              <a:t># Output: Alice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# Using .get() method</a:t>
            </a:r>
          </a:p>
          <a:p>
            <a:r>
              <a:rPr lang="en-IN" dirty="0">
                <a:effectLst/>
              </a:rPr>
              <a:t>print(</a:t>
            </a:r>
            <a:r>
              <a:rPr lang="en-IN" dirty="0" err="1">
                <a:effectLst/>
              </a:rPr>
              <a:t>person.get</a:t>
            </a:r>
            <a:r>
              <a:rPr lang="en-IN" dirty="0">
                <a:effectLst/>
              </a:rPr>
              <a:t>("email", "Not available"))</a:t>
            </a:r>
          </a:p>
          <a:p>
            <a:r>
              <a:rPr lang="en-IN" dirty="0">
                <a:effectLst/>
              </a:rPr>
              <a:t># Output: Not available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561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2939-CC14-EF7D-21BB-374377D8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3. Adding and Modifying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B846-65E8-3171-6090-510F290CB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You can add new key-value pairs or change existing values using the assignment operator =.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person["email"] = "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" # Add a new key-value pair</a:t>
            </a:r>
          </a:p>
          <a:p>
            <a:r>
              <a:rPr lang="en-IN" dirty="0">
                <a:effectLst/>
              </a:rPr>
              <a:t>person["age"] = 31                     # Modify an existing value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31, 'role': 'Engineer', 'email': '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’}</a:t>
            </a:r>
          </a:p>
          <a:p>
            <a:endParaRPr lang="en-IN" dirty="0">
              <a:effectLst/>
            </a:endParaRPr>
          </a:p>
          <a:p>
            <a:r>
              <a:rPr lang="en-IN" dirty="0"/>
              <a:t>The .update() method can be used to add multiple items from another dictionary or </a:t>
            </a:r>
            <a:r>
              <a:rPr lang="en-IN" dirty="0" err="1"/>
              <a:t>iterable</a:t>
            </a:r>
            <a:r>
              <a:rPr lang="en-IN" dirty="0"/>
              <a:t>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15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42E5-5823-A626-850E-88C87DD3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4. Removing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A46B-C851-E3F6-5F59-9370DA976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Items can be removed using the del keyword or dictionary methods like .pop() and .clear().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# Using del</a:t>
            </a:r>
          </a:p>
          <a:p>
            <a:r>
              <a:rPr lang="en-IN" dirty="0">
                <a:effectLst/>
              </a:rPr>
              <a:t>del person["role"]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31, 'email': '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'}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# Using .pop() (removes key and returns value)</a:t>
            </a:r>
          </a:p>
          <a:p>
            <a:r>
              <a:rPr lang="en-IN" dirty="0" err="1">
                <a:effectLst/>
              </a:rPr>
              <a:t>removed_email</a:t>
            </a:r>
            <a:r>
              <a:rPr lang="en-IN" dirty="0">
                <a:effectLst/>
              </a:rPr>
              <a:t> = </a:t>
            </a:r>
            <a:r>
              <a:rPr lang="en-IN" dirty="0" err="1">
                <a:effectLst/>
              </a:rPr>
              <a:t>person.pop</a:t>
            </a:r>
            <a:r>
              <a:rPr lang="en-IN" dirty="0">
                <a:effectLst/>
              </a:rPr>
              <a:t>("email")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31}</a:t>
            </a:r>
          </a:p>
          <a:p>
            <a:r>
              <a:rPr lang="en-IN" dirty="0">
                <a:effectLst/>
              </a:rPr>
              <a:t>print(</a:t>
            </a:r>
            <a:r>
              <a:rPr lang="en-IN" dirty="0" err="1">
                <a:effectLst/>
              </a:rPr>
              <a:t>removed_email</a:t>
            </a:r>
            <a:r>
              <a:rPr lang="en-IN" dirty="0">
                <a:effectLst/>
              </a:rPr>
              <a:t>)</a:t>
            </a:r>
          </a:p>
          <a:p>
            <a:r>
              <a:rPr lang="en-IN" dirty="0">
                <a:effectLst/>
              </a:rPr>
              <a:t># Output: </a:t>
            </a:r>
            <a:r>
              <a:rPr lang="en-IN" dirty="0" err="1">
                <a:effectLst/>
              </a:rPr>
              <a:t>alice@example.com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208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0A38-6FC4-F0D4-0EAB-AD80DE29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Removing Dictionary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C0D1-A0AE-B885-0088-E030D23C8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Dictionary items can be removed using built-in deletion methods that work on keys: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del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an item using its key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pop()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the item with the given key and returns its value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clear()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all items from the dictionary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5"/>
              </a:rPr>
              <a:t>popitem()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and returns the last inserted key–value pair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164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AF0A-C10D-DE6A-4FF3-E13DA7F7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Dictionary </a:t>
            </a:r>
            <a:r>
              <a:rPr lang="en-US" dirty="0" err="1"/>
              <a:t>Methodss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63F5A-2188-99B4-2ED6-3AC6131F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provides several built-in methods for working with dictionaries:</a:t>
            </a:r>
          </a:p>
          <a:p>
            <a:r>
              <a:rPr lang="en-US" dirty="0"/>
              <a:t>.keys(): Returns a view object of all the keys.</a:t>
            </a:r>
          </a:p>
          <a:p>
            <a:r>
              <a:rPr lang="en-US" dirty="0"/>
              <a:t>.values(): Returns a view object of all the values.</a:t>
            </a:r>
          </a:p>
          <a:p>
            <a:r>
              <a:rPr lang="en-US" dirty="0"/>
              <a:t>.items(): Returns a view object of key-value pairs as tuples.</a:t>
            </a:r>
          </a:p>
          <a:p>
            <a:r>
              <a:rPr lang="en-US" dirty="0"/>
              <a:t>.clear(): Removes all elements from the dictionary.</a:t>
            </a:r>
          </a:p>
          <a:p>
            <a:r>
              <a:rPr lang="en-US" dirty="0"/>
              <a:t>.copy(): Returns a shallow copy of the dictionary. </a:t>
            </a:r>
          </a:p>
        </p:txBody>
      </p:sp>
    </p:spTree>
    <p:extLst>
      <p:ext uri="{BB962C8B-B14F-4D97-AF65-F5344CB8AC3E}">
        <p14:creationId xmlns:p14="http://schemas.microsoft.com/office/powerpoint/2010/main" val="27050454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A78B-97C7-5E31-3FBF-56E0E1F2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Iterating Through a Dictionary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DECC9-6EA0-D4D3-5EE5-BA52CC38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 fontAlgn="base"/>
            <a:r>
              <a:rPr lang="en-IN" sz="1600" b="0" dirty="0">
                <a:effectLst/>
                <a:latin typeface="Nunito" pitchFamily="2" charset="77"/>
              </a:rPr>
              <a:t>A dictionary can be traversed using a for loop to access its keys, values or both key-value pairs by using the built-in methods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keys()</a:t>
            </a:r>
            <a:r>
              <a:rPr lang="en-IN" sz="1600" b="0" dirty="0">
                <a:effectLst/>
                <a:latin typeface="Nunito" pitchFamily="2" charset="77"/>
              </a:rPr>
              <a:t>,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values()</a:t>
            </a:r>
            <a:r>
              <a:rPr lang="en-IN" sz="1600" b="0" dirty="0">
                <a:effectLst/>
                <a:latin typeface="Nunito" pitchFamily="2" charset="77"/>
              </a:rPr>
              <a:t> and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items()</a:t>
            </a:r>
            <a:r>
              <a:rPr lang="en-IN" sz="1600" b="0" dirty="0">
                <a:effectLst/>
                <a:latin typeface="Nunito" pitchFamily="2" charset="77"/>
              </a:rPr>
              <a:t>.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d = {1: 'Geeks', 2: 'For', 'age':22}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keys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key in d: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print(key)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values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value in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Nunito" pitchFamily="2" charset="77"/>
              </a:rPr>
              <a:t>d.values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():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print(value)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key-value pairs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key, value in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Nunito" pitchFamily="2" charset="77"/>
              </a:rPr>
              <a:t>d.items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():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print(f"{key}: {value}")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797594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875F-E0C3-4BDF-58D3-17625B36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Nested Dictionaries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6F01-7A63-38F3-FBC6-11ADACCA7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nested dictionary is a dictionary that contains another dictionary as one of its values. Below diagram shows how a nested dictionary works, where key 3 points to another dictionary inside the main dictionary.</a:t>
            </a:r>
          </a:p>
          <a:p>
            <a:endParaRPr lang="en-IN" dirty="0"/>
          </a:p>
          <a:p>
            <a:r>
              <a:rPr lang="en-US" dirty="0"/>
              <a:t>d = {1: 'Geeks', 2: 'For', 3: {'A': 'Welcome', 'B': 'To', 'C': 'Geeks'}}</a:t>
            </a:r>
          </a:p>
          <a:p>
            <a:r>
              <a:rPr lang="en-US" dirty="0"/>
              <a:t>print(d)</a:t>
            </a:r>
          </a:p>
        </p:txBody>
      </p:sp>
    </p:spTree>
    <p:extLst>
      <p:ext uri="{BB962C8B-B14F-4D97-AF65-F5344CB8AC3E}">
        <p14:creationId xmlns:p14="http://schemas.microsoft.com/office/powerpoint/2010/main" val="361262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5370</Words>
  <Application>Microsoft Macintosh PowerPoint</Application>
  <PresentationFormat>Widescreen</PresentationFormat>
  <Paragraphs>540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Google Sans</vt:lpstr>
      <vt:lpstr>Nunito</vt:lpstr>
      <vt:lpstr>Source Sans 3</vt:lpstr>
      <vt:lpstr>Source Sans Pro</vt:lpstr>
      <vt:lpstr>Office Theme</vt:lpstr>
      <vt:lpstr>Python Introduction</vt:lpstr>
      <vt:lpstr>Identifiers in Python</vt:lpstr>
      <vt:lpstr>Rules for Naming Identifiers</vt:lpstr>
      <vt:lpstr>Reserved Keywords in Python</vt:lpstr>
      <vt:lpstr>PowerPoint Presentation</vt:lpstr>
      <vt:lpstr>Basic Datatypes in Python</vt:lpstr>
      <vt:lpstr>PowerPoint Presentation</vt:lpstr>
      <vt:lpstr>Integers in python</vt:lpstr>
      <vt:lpstr>Example </vt:lpstr>
      <vt:lpstr>Converting to a different Systemss</vt:lpstr>
      <vt:lpstr>PowerPoint Presentation</vt:lpstr>
      <vt:lpstr>PowerPoint Presentation</vt:lpstr>
      <vt:lpstr>Creating Complex Number</vt:lpstr>
      <vt:lpstr>PowerPoint Presentation</vt:lpstr>
      <vt:lpstr>PowerPoint Presentation</vt:lpstr>
      <vt:lpstr>type() and id() built-in functions</vt:lpstr>
      <vt:lpstr>PowerPoint Presentation</vt:lpstr>
      <vt:lpstr>PowerPoint Presentation</vt:lpstr>
      <vt:lpstr>PowerPoint Presentation</vt:lpstr>
      <vt:lpstr>String in python</vt:lpstr>
      <vt:lpstr>Key Concepts</vt:lpstr>
      <vt:lpstr>Common Operations and Methods</vt:lpstr>
      <vt:lpstr>PowerPoint Presentation</vt:lpstr>
      <vt:lpstr>Case Modification</vt:lpstr>
      <vt:lpstr>Searching and Finding</vt:lpstr>
      <vt:lpstr>Trimming and Replacing</vt:lpstr>
      <vt:lpstr>Splitting and Joining</vt:lpstr>
      <vt:lpstr>Formatting and Validation</vt:lpstr>
      <vt:lpstr>print() function in python</vt:lpstr>
      <vt:lpstr>Parameters of print() function</vt:lpstr>
      <vt:lpstr>Examples: print()</vt:lpstr>
      <vt:lpstr>Examples: print()</vt:lpstr>
      <vt:lpstr>input() function in python</vt:lpstr>
      <vt:lpstr>Key Features and Examples</vt:lpstr>
      <vt:lpstr>PowerPoint Presentation</vt:lpstr>
      <vt:lpstr>PowerPoint Presentation</vt:lpstr>
      <vt:lpstr>PowerPoint Presentation</vt:lpstr>
      <vt:lpstr>Formatted input and f-string in Python</vt:lpstr>
      <vt:lpstr>PowerPoint Presentation</vt:lpstr>
      <vt:lpstr>Formatted Output</vt:lpstr>
      <vt:lpstr>PowerPoint Presentation</vt:lpstr>
      <vt:lpstr>PowerPoint Presentation</vt:lpstr>
      <vt:lpstr>PowerPoint Presentation</vt:lpstr>
      <vt:lpstr>Formatting Output using String Modulo Operator(%)</vt:lpstr>
      <vt:lpstr>Formatting Output using The Format Method</vt:lpstr>
      <vt:lpstr>PowerPoint Presentation</vt:lpstr>
      <vt:lpstr>Advanced Usage with Positional and Named Parameters</vt:lpstr>
      <vt:lpstr>Formatting Output using String Method</vt:lpstr>
      <vt:lpstr>PowerPoint Presentation</vt:lpstr>
      <vt:lpstr>Format Conversion Rule</vt:lpstr>
      <vt:lpstr>Python Input Methods for Competitive Programming</vt:lpstr>
      <vt:lpstr>1. Normal Method</vt:lpstr>
      <vt:lpstr>2. Faster Method Using stdin and stdout</vt:lpstr>
      <vt:lpstr>3. Taking User Input in Separate Variables</vt:lpstr>
      <vt:lpstr>4. Taking User Inputs as a List of Integers</vt:lpstr>
      <vt:lpstr>5. Taking String Input Efficiently</vt:lpstr>
      <vt:lpstr>Set in Python</vt:lpstr>
      <vt:lpstr>Create a Set</vt:lpstr>
      <vt:lpstr>Common Set Operations and Methods</vt:lpstr>
      <vt:lpstr>Frozen Sets</vt:lpstr>
      <vt:lpstr>PowerPoint Presentation</vt:lpstr>
      <vt:lpstr>Dictionary in Python</vt:lpstr>
      <vt:lpstr>Key Characteristics</vt:lpstr>
      <vt:lpstr>Basic Operations and Examples</vt:lpstr>
      <vt:lpstr>1. Creation</vt:lpstr>
      <vt:lpstr>2. Accessing Values</vt:lpstr>
      <vt:lpstr>3. Adding and Modifying Items</vt:lpstr>
      <vt:lpstr>4. Removing Items</vt:lpstr>
      <vt:lpstr>Removing Dictionary Items</vt:lpstr>
      <vt:lpstr>Common Dictionary Methodss</vt:lpstr>
      <vt:lpstr>Iterating Through a Dictionary</vt:lpstr>
      <vt:lpstr>Nested Dictionaries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230</cp:revision>
  <dcterms:created xsi:type="dcterms:W3CDTF">2026-01-15T04:12:31Z</dcterms:created>
  <dcterms:modified xsi:type="dcterms:W3CDTF">2026-02-19T19:15:13Z</dcterms:modified>
</cp:coreProperties>
</file>