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7" r:id="rId17"/>
    <p:sldId id="278" r:id="rId18"/>
    <p:sldId id="279" r:id="rId19"/>
    <p:sldId id="280" r:id="rId20"/>
    <p:sldId id="281" r:id="rId21"/>
    <p:sldId id="282" r:id="rId22"/>
    <p:sldId id="283" r:id="rId23"/>
    <p:sldId id="284" r:id="rId24"/>
    <p:sldId id="285" r:id="rId25"/>
    <p:sldId id="271" r:id="rId26"/>
    <p:sldId id="272" r:id="rId27"/>
    <p:sldId id="273" r:id="rId28"/>
    <p:sldId id="274" r:id="rId29"/>
    <p:sldId id="275" r:id="rId30"/>
    <p:sldId id="276"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6" r:id="rId60"/>
    <p:sldId id="314" r:id="rId61"/>
    <p:sldId id="315" r:id="rId62"/>
    <p:sldId id="317" r:id="rId63"/>
    <p:sldId id="318" r:id="rId64"/>
    <p:sldId id="319" r:id="rId65"/>
    <p:sldId id="320" r:id="rId66"/>
    <p:sldId id="323" r:id="rId67"/>
    <p:sldId id="324" r:id="rId68"/>
    <p:sldId id="325" r:id="rId69"/>
    <p:sldId id="326" r:id="rId70"/>
    <p:sldId id="327" r:id="rId71"/>
    <p:sldId id="328"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29"/>
    <p:restoredTop sz="94476"/>
  </p:normalViewPr>
  <p:slideViewPr>
    <p:cSldViewPr snapToGrid="0">
      <p:cViewPr varScale="1">
        <p:scale>
          <a:sx n="84" d="100"/>
          <a:sy n="84" d="100"/>
        </p:scale>
        <p:origin x="11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3DA9-E962-4670-597E-4C9CD6E412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8A4FBF-5D81-57BE-89DE-B6FA9BF8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1C1BF3-77AA-DB2E-1DF0-59825E936C91}"/>
              </a:ext>
            </a:extLst>
          </p:cNvPr>
          <p:cNvSpPr>
            <a:spLocks noGrp="1"/>
          </p:cNvSpPr>
          <p:nvPr>
            <p:ph type="dt" sz="half" idx="10"/>
          </p:nvPr>
        </p:nvSpPr>
        <p:spPr/>
        <p:txBody>
          <a:bodyPr/>
          <a:lstStyle/>
          <a:p>
            <a:fld id="{A0723D25-A2BC-274F-A813-3B06A34CD740}" type="datetimeFigureOut">
              <a:rPr lang="en-US" smtClean="0"/>
              <a:t>4/25/26</a:t>
            </a:fld>
            <a:endParaRPr lang="en-US"/>
          </a:p>
        </p:txBody>
      </p:sp>
      <p:sp>
        <p:nvSpPr>
          <p:cNvPr id="5" name="Footer Placeholder 4">
            <a:extLst>
              <a:ext uri="{FF2B5EF4-FFF2-40B4-BE49-F238E27FC236}">
                <a16:creationId xmlns:a16="http://schemas.microsoft.com/office/drawing/2014/main" id="{CE3CE1A2-B778-3FDB-D880-08BE937EC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08238-AAA3-EB3D-2030-44EF2A37997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4514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67AC-4F97-8FBD-F886-632779C39B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2DEEFE-F85E-366F-23C8-D0A0CF0DE75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05F2CC-507C-6795-51B2-16D8369183A2}"/>
              </a:ext>
            </a:extLst>
          </p:cNvPr>
          <p:cNvSpPr>
            <a:spLocks noGrp="1"/>
          </p:cNvSpPr>
          <p:nvPr>
            <p:ph type="dt" sz="half" idx="10"/>
          </p:nvPr>
        </p:nvSpPr>
        <p:spPr/>
        <p:txBody>
          <a:bodyPr/>
          <a:lstStyle/>
          <a:p>
            <a:fld id="{A0723D25-A2BC-274F-A813-3B06A34CD740}" type="datetimeFigureOut">
              <a:rPr lang="en-US" smtClean="0"/>
              <a:t>4/25/26</a:t>
            </a:fld>
            <a:endParaRPr lang="en-US"/>
          </a:p>
        </p:txBody>
      </p:sp>
      <p:sp>
        <p:nvSpPr>
          <p:cNvPr id="5" name="Footer Placeholder 4">
            <a:extLst>
              <a:ext uri="{FF2B5EF4-FFF2-40B4-BE49-F238E27FC236}">
                <a16:creationId xmlns:a16="http://schemas.microsoft.com/office/drawing/2014/main" id="{30FB82C6-AB76-B50D-7079-FDBED2613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78F90-9858-319E-2D9B-7BED7DF7566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558895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A475C-D161-EE28-37F5-01CB65945D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B58EAF-9EA6-FAC9-DA83-5EE92332DB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6AD692-8F1E-78AF-D6FB-97D1B99B1904}"/>
              </a:ext>
            </a:extLst>
          </p:cNvPr>
          <p:cNvSpPr>
            <a:spLocks noGrp="1"/>
          </p:cNvSpPr>
          <p:nvPr>
            <p:ph type="dt" sz="half" idx="10"/>
          </p:nvPr>
        </p:nvSpPr>
        <p:spPr/>
        <p:txBody>
          <a:bodyPr/>
          <a:lstStyle/>
          <a:p>
            <a:fld id="{A0723D25-A2BC-274F-A813-3B06A34CD740}" type="datetimeFigureOut">
              <a:rPr lang="en-US" smtClean="0"/>
              <a:t>4/25/26</a:t>
            </a:fld>
            <a:endParaRPr lang="en-US"/>
          </a:p>
        </p:txBody>
      </p:sp>
      <p:sp>
        <p:nvSpPr>
          <p:cNvPr id="5" name="Footer Placeholder 4">
            <a:extLst>
              <a:ext uri="{FF2B5EF4-FFF2-40B4-BE49-F238E27FC236}">
                <a16:creationId xmlns:a16="http://schemas.microsoft.com/office/drawing/2014/main" id="{3DD4BDEE-322C-86FB-1990-5B383501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36F1F5-8E08-10FB-70B6-3E0EE445BF80}"/>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2937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B37A-3FC4-9E76-E7FD-2835B53B9E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E7647AC-F0F5-A131-8418-3C843D871C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6D75A3F-F688-26A1-0A51-DE674F9FDF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98B083-258B-212A-DEA0-7D0C49DAFA6B}"/>
              </a:ext>
            </a:extLst>
          </p:cNvPr>
          <p:cNvSpPr>
            <a:spLocks noGrp="1"/>
          </p:cNvSpPr>
          <p:nvPr>
            <p:ph type="dt" sz="half" idx="10"/>
          </p:nvPr>
        </p:nvSpPr>
        <p:spPr/>
        <p:txBody>
          <a:bodyPr/>
          <a:lstStyle/>
          <a:p>
            <a:fld id="{A0723D25-A2BC-274F-A813-3B06A34CD740}" type="datetimeFigureOut">
              <a:rPr lang="en-US" smtClean="0"/>
              <a:t>4/25/26</a:t>
            </a:fld>
            <a:endParaRPr lang="en-US"/>
          </a:p>
        </p:txBody>
      </p:sp>
      <p:sp>
        <p:nvSpPr>
          <p:cNvPr id="6" name="Footer Placeholder 5">
            <a:extLst>
              <a:ext uri="{FF2B5EF4-FFF2-40B4-BE49-F238E27FC236}">
                <a16:creationId xmlns:a16="http://schemas.microsoft.com/office/drawing/2014/main" id="{CB592C50-0793-6A57-870E-22B7BD618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D6423-EEDD-EBD2-1637-86B04459E90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37070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1BA5-617B-7CDB-72DD-34B6798B3B1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C80CCF-7651-8CCF-9517-5870109B8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D4BCFD4-2E93-06B8-C482-0D21CC1EBE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660270-A358-7E87-C238-0769FE0FB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E7A0AE-4CFF-347C-E881-82620BD145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7C6E51-FCC1-52F4-C78F-B887C1FA308A}"/>
              </a:ext>
            </a:extLst>
          </p:cNvPr>
          <p:cNvSpPr>
            <a:spLocks noGrp="1"/>
          </p:cNvSpPr>
          <p:nvPr>
            <p:ph type="dt" sz="half" idx="10"/>
          </p:nvPr>
        </p:nvSpPr>
        <p:spPr/>
        <p:txBody>
          <a:bodyPr/>
          <a:lstStyle/>
          <a:p>
            <a:fld id="{A0723D25-A2BC-274F-A813-3B06A34CD740}" type="datetimeFigureOut">
              <a:rPr lang="en-US" smtClean="0"/>
              <a:t>4/25/26</a:t>
            </a:fld>
            <a:endParaRPr lang="en-US"/>
          </a:p>
        </p:txBody>
      </p:sp>
      <p:sp>
        <p:nvSpPr>
          <p:cNvPr id="8" name="Footer Placeholder 7">
            <a:extLst>
              <a:ext uri="{FF2B5EF4-FFF2-40B4-BE49-F238E27FC236}">
                <a16:creationId xmlns:a16="http://schemas.microsoft.com/office/drawing/2014/main" id="{BE576F17-2F94-52B2-6671-B20FA66ACE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1D5A75-636E-B0D0-E178-8EAFE094029B}"/>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882323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FB98-7E1E-0B36-4C0F-D927C13AD6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8F3EE1B-ED62-BEF9-34E2-222A596BDF57}"/>
              </a:ext>
            </a:extLst>
          </p:cNvPr>
          <p:cNvSpPr>
            <a:spLocks noGrp="1"/>
          </p:cNvSpPr>
          <p:nvPr>
            <p:ph type="dt" sz="half" idx="10"/>
          </p:nvPr>
        </p:nvSpPr>
        <p:spPr/>
        <p:txBody>
          <a:bodyPr/>
          <a:lstStyle/>
          <a:p>
            <a:fld id="{A0723D25-A2BC-274F-A813-3B06A34CD740}" type="datetimeFigureOut">
              <a:rPr lang="en-US" smtClean="0"/>
              <a:t>4/25/26</a:t>
            </a:fld>
            <a:endParaRPr lang="en-US"/>
          </a:p>
        </p:txBody>
      </p:sp>
      <p:sp>
        <p:nvSpPr>
          <p:cNvPr id="4" name="Footer Placeholder 3">
            <a:extLst>
              <a:ext uri="{FF2B5EF4-FFF2-40B4-BE49-F238E27FC236}">
                <a16:creationId xmlns:a16="http://schemas.microsoft.com/office/drawing/2014/main" id="{DFF261D6-18DB-9A91-C126-DD2F5E2E45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059ADF-81AA-2B42-2EBB-820240321765}"/>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86510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1D2292-CA5F-4083-1A9A-EB2B58E19240}"/>
              </a:ext>
            </a:extLst>
          </p:cNvPr>
          <p:cNvSpPr>
            <a:spLocks noGrp="1"/>
          </p:cNvSpPr>
          <p:nvPr>
            <p:ph type="dt" sz="half" idx="10"/>
          </p:nvPr>
        </p:nvSpPr>
        <p:spPr/>
        <p:txBody>
          <a:bodyPr/>
          <a:lstStyle/>
          <a:p>
            <a:fld id="{A0723D25-A2BC-274F-A813-3B06A34CD740}" type="datetimeFigureOut">
              <a:rPr lang="en-US" smtClean="0"/>
              <a:t>4/25/26</a:t>
            </a:fld>
            <a:endParaRPr lang="en-US"/>
          </a:p>
        </p:txBody>
      </p:sp>
      <p:sp>
        <p:nvSpPr>
          <p:cNvPr id="3" name="Footer Placeholder 2">
            <a:extLst>
              <a:ext uri="{FF2B5EF4-FFF2-40B4-BE49-F238E27FC236}">
                <a16:creationId xmlns:a16="http://schemas.microsoft.com/office/drawing/2014/main" id="{8F12B3B1-82D6-97E3-D949-FFB7FA90F6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19118-D5E2-7F99-490E-D0B7E1DF8A4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59130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26D8-8282-46D6-DCD3-C429D78063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A29B8B-7B37-8054-3412-78ED6298B2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3CB76E-5538-EFF5-3840-3F95921DE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469B70-8065-08A4-BEA2-BEB45F6659CA}"/>
              </a:ext>
            </a:extLst>
          </p:cNvPr>
          <p:cNvSpPr>
            <a:spLocks noGrp="1"/>
          </p:cNvSpPr>
          <p:nvPr>
            <p:ph type="dt" sz="half" idx="10"/>
          </p:nvPr>
        </p:nvSpPr>
        <p:spPr/>
        <p:txBody>
          <a:bodyPr/>
          <a:lstStyle/>
          <a:p>
            <a:fld id="{A0723D25-A2BC-274F-A813-3B06A34CD740}" type="datetimeFigureOut">
              <a:rPr lang="en-US" smtClean="0"/>
              <a:t>4/25/26</a:t>
            </a:fld>
            <a:endParaRPr lang="en-US"/>
          </a:p>
        </p:txBody>
      </p:sp>
      <p:sp>
        <p:nvSpPr>
          <p:cNvPr id="6" name="Footer Placeholder 5">
            <a:extLst>
              <a:ext uri="{FF2B5EF4-FFF2-40B4-BE49-F238E27FC236}">
                <a16:creationId xmlns:a16="http://schemas.microsoft.com/office/drawing/2014/main" id="{0969013F-2801-2160-2F4C-465578780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1CEC8-65E3-3969-42AC-F0ED6B13F508}"/>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601936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61C37-17AA-33E3-0390-EA606A3581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B43312D-93EC-9C8A-CE05-8F6E26D5B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453B4D-6A39-F2C2-0AC5-90587FC97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2A5798-F966-6273-EF24-8C2072EB6630}"/>
              </a:ext>
            </a:extLst>
          </p:cNvPr>
          <p:cNvSpPr>
            <a:spLocks noGrp="1"/>
          </p:cNvSpPr>
          <p:nvPr>
            <p:ph type="dt" sz="half" idx="10"/>
          </p:nvPr>
        </p:nvSpPr>
        <p:spPr/>
        <p:txBody>
          <a:bodyPr/>
          <a:lstStyle/>
          <a:p>
            <a:fld id="{A0723D25-A2BC-274F-A813-3B06A34CD740}" type="datetimeFigureOut">
              <a:rPr lang="en-US" smtClean="0"/>
              <a:t>4/25/26</a:t>
            </a:fld>
            <a:endParaRPr lang="en-US"/>
          </a:p>
        </p:txBody>
      </p:sp>
      <p:sp>
        <p:nvSpPr>
          <p:cNvPr id="6" name="Footer Placeholder 5">
            <a:extLst>
              <a:ext uri="{FF2B5EF4-FFF2-40B4-BE49-F238E27FC236}">
                <a16:creationId xmlns:a16="http://schemas.microsoft.com/office/drawing/2014/main" id="{8FA438AC-0EF4-6EFF-7122-AA7AF380C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B676E-8BCB-855E-469D-77726A6708B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4725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BF2D-DC52-AB82-D456-A9F7669986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75B52E-7C17-9742-93F2-6FBCC7C9AF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F82469-B56D-D697-74FA-E8852CA9F19B}"/>
              </a:ext>
            </a:extLst>
          </p:cNvPr>
          <p:cNvSpPr>
            <a:spLocks noGrp="1"/>
          </p:cNvSpPr>
          <p:nvPr>
            <p:ph type="dt" sz="half" idx="10"/>
          </p:nvPr>
        </p:nvSpPr>
        <p:spPr/>
        <p:txBody>
          <a:bodyPr/>
          <a:lstStyle/>
          <a:p>
            <a:fld id="{A0723D25-A2BC-274F-A813-3B06A34CD740}" type="datetimeFigureOut">
              <a:rPr lang="en-US" smtClean="0"/>
              <a:t>4/25/26</a:t>
            </a:fld>
            <a:endParaRPr lang="en-US"/>
          </a:p>
        </p:txBody>
      </p:sp>
      <p:sp>
        <p:nvSpPr>
          <p:cNvPr id="5" name="Footer Placeholder 4">
            <a:extLst>
              <a:ext uri="{FF2B5EF4-FFF2-40B4-BE49-F238E27FC236}">
                <a16:creationId xmlns:a16="http://schemas.microsoft.com/office/drawing/2014/main" id="{BA63B3DD-0851-EDC4-7258-094C58713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433DF-7287-31EC-DC3D-5EF75C9DE25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06682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12A4E-DB63-F42E-FEFE-81BF1DF702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05DC2C-31FB-BE5D-E312-3459A2BF67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695E30-A15F-0592-C0C0-D84705897AB9}"/>
              </a:ext>
            </a:extLst>
          </p:cNvPr>
          <p:cNvSpPr>
            <a:spLocks noGrp="1"/>
          </p:cNvSpPr>
          <p:nvPr>
            <p:ph type="dt" sz="half" idx="10"/>
          </p:nvPr>
        </p:nvSpPr>
        <p:spPr/>
        <p:txBody>
          <a:bodyPr/>
          <a:lstStyle/>
          <a:p>
            <a:fld id="{A0723D25-A2BC-274F-A813-3B06A34CD740}" type="datetimeFigureOut">
              <a:rPr lang="en-US" smtClean="0"/>
              <a:t>4/25/26</a:t>
            </a:fld>
            <a:endParaRPr lang="en-US"/>
          </a:p>
        </p:txBody>
      </p:sp>
      <p:sp>
        <p:nvSpPr>
          <p:cNvPr id="5" name="Footer Placeholder 4">
            <a:extLst>
              <a:ext uri="{FF2B5EF4-FFF2-40B4-BE49-F238E27FC236}">
                <a16:creationId xmlns:a16="http://schemas.microsoft.com/office/drawing/2014/main" id="{2923656B-61F3-0BFE-4769-187DCA8F8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27752-34F9-D1E1-FF95-25144EC8A666}"/>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49783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A833E-D2CB-6565-D916-D9A794C0D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EA88AD-984A-6993-4F53-7E5A42031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22DD2F-4490-A570-F314-42C5AE24F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723D25-A2BC-274F-A813-3B06A34CD740}" type="datetimeFigureOut">
              <a:rPr lang="en-US" smtClean="0"/>
              <a:t>4/25/26</a:t>
            </a:fld>
            <a:endParaRPr lang="en-US"/>
          </a:p>
        </p:txBody>
      </p:sp>
      <p:sp>
        <p:nvSpPr>
          <p:cNvPr id="5" name="Footer Placeholder 4">
            <a:extLst>
              <a:ext uri="{FF2B5EF4-FFF2-40B4-BE49-F238E27FC236}">
                <a16:creationId xmlns:a16="http://schemas.microsoft.com/office/drawing/2014/main" id="{20975424-8CF4-072B-CAE3-58BD17272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590F5-3CB3-DFF2-DE46-0A76F551A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5FEBB-C89D-0C42-8AB8-154526A1FE25}" type="slidenum">
              <a:rPr lang="en-US" smtClean="0"/>
              <a:t>‹#›</a:t>
            </a:fld>
            <a:endParaRPr lang="en-US"/>
          </a:p>
        </p:txBody>
      </p:sp>
    </p:spTree>
    <p:extLst>
      <p:ext uri="{BB962C8B-B14F-4D97-AF65-F5344CB8AC3E}">
        <p14:creationId xmlns:p14="http://schemas.microsoft.com/office/powerpoint/2010/main" val="2120847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geeksforgeeks.org/dsa/detect-cycle-in-a-directed-graph-using-bfs/" TargetMode="External"/><Relationship Id="rId2" Type="http://schemas.openxmlformats.org/officeDocument/2006/relationships/hyperlink" Target="https://www.geeksforgeeks.org/dsa/detect-cycle-undirected-graph/" TargetMode="External"/><Relationship Id="rId1" Type="http://schemas.openxmlformats.org/officeDocument/2006/relationships/slideLayout" Target="../slideLayouts/slideLayout2.xml"/><Relationship Id="rId4" Type="http://schemas.openxmlformats.org/officeDocument/2006/relationships/hyperlink" Target="https://www.geeksforgeeks.org/dsa/ford-fulkerson-algorithm-for-maximum-flow-problem/"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geeksforgeeks.org/dsa/prims-minimum-spanning-tree-mst-greedy-algo-5/" TargetMode="External"/><Relationship Id="rId2" Type="http://schemas.openxmlformats.org/officeDocument/2006/relationships/hyperlink" Target="https://www.geeksforgeeks.org/dsa/bipartite-graph/" TargetMode="External"/><Relationship Id="rId1" Type="http://schemas.openxmlformats.org/officeDocument/2006/relationships/slideLayout" Target="../slideLayouts/slideLayout2.xml"/><Relationship Id="rId4" Type="http://schemas.openxmlformats.org/officeDocument/2006/relationships/hyperlink" Target="https://www.geeksforgeeks.org/dsa/dijkstras-shortest-path-algorithm-greedy-algo-7/"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geeksforgeeks.org/dsa/preorder-traversal-of-binary-tree/"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040E-2D3D-6833-C463-92F398723407}"/>
              </a:ext>
            </a:extLst>
          </p:cNvPr>
          <p:cNvSpPr>
            <a:spLocks noGrp="1"/>
          </p:cNvSpPr>
          <p:nvPr>
            <p:ph type="ctrTitle"/>
          </p:nvPr>
        </p:nvSpPr>
        <p:spPr/>
        <p:txBody>
          <a:bodyPr/>
          <a:lstStyle/>
          <a:p>
            <a:r>
              <a:rPr lang="en-US" dirty="0"/>
              <a:t>Graph Data Structure</a:t>
            </a:r>
          </a:p>
        </p:txBody>
      </p:sp>
      <p:sp>
        <p:nvSpPr>
          <p:cNvPr id="3" name="Subtitle 2">
            <a:extLst>
              <a:ext uri="{FF2B5EF4-FFF2-40B4-BE49-F238E27FC236}">
                <a16:creationId xmlns:a16="http://schemas.microsoft.com/office/drawing/2014/main" id="{850E0D38-6295-EB40-A50D-CED5DB05B4BF}"/>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81946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14AD1-D24C-45B8-6B35-C1020BA6EC44}"/>
              </a:ext>
            </a:extLst>
          </p:cNvPr>
          <p:cNvSpPr>
            <a:spLocks noGrp="1"/>
          </p:cNvSpPr>
          <p:nvPr>
            <p:ph type="title"/>
          </p:nvPr>
        </p:nvSpPr>
        <p:spPr/>
        <p:txBody>
          <a:bodyPr>
            <a:normAutofit/>
          </a:bodyPr>
          <a:lstStyle/>
          <a:p>
            <a:pPr fontAlgn="base"/>
            <a:r>
              <a:rPr lang="en-IN" b="1" i="0" dirty="0">
                <a:solidFill>
                  <a:srgbClr val="273239"/>
                </a:solidFill>
                <a:effectLst/>
                <a:latin typeface="Nunito" pitchFamily="2" charset="77"/>
              </a:rPr>
              <a:t>Representations of Graph</a:t>
            </a:r>
            <a:endParaRPr lang="en-US" dirty="0"/>
          </a:p>
        </p:txBody>
      </p:sp>
      <p:sp>
        <p:nvSpPr>
          <p:cNvPr id="3" name="Content Placeholder 2">
            <a:extLst>
              <a:ext uri="{FF2B5EF4-FFF2-40B4-BE49-F238E27FC236}">
                <a16:creationId xmlns:a16="http://schemas.microsoft.com/office/drawing/2014/main" id="{0B395457-0F4F-EE7F-B64C-ADCA38D33626}"/>
              </a:ext>
            </a:extLst>
          </p:cNvPr>
          <p:cNvSpPr>
            <a:spLocks noGrp="1"/>
          </p:cNvSpPr>
          <p:nvPr>
            <p:ph idx="1"/>
          </p:nvPr>
        </p:nvSpPr>
        <p:spPr/>
        <p:txBody>
          <a:bodyPr/>
          <a:lstStyle/>
          <a:p>
            <a:r>
              <a:rPr lang="en-IN" b="0" i="0" dirty="0">
                <a:solidFill>
                  <a:srgbClr val="273239"/>
                </a:solidFill>
                <a:effectLst/>
                <a:latin typeface="Nunito" pitchFamily="2" charset="77"/>
              </a:rPr>
              <a:t>two most common ways to represent a graph</a:t>
            </a:r>
          </a:p>
          <a:p>
            <a:pPr algn="l" fontAlgn="base">
              <a:buFont typeface="+mj-lt"/>
              <a:buAutoNum type="arabicPeriod"/>
            </a:pPr>
            <a:r>
              <a:rPr lang="en-IN" b="0" i="0" dirty="0">
                <a:solidFill>
                  <a:srgbClr val="273239"/>
                </a:solidFill>
                <a:effectLst/>
                <a:latin typeface="Nunito" pitchFamily="2" charset="77"/>
              </a:rPr>
              <a:t>Adjacency Matrix</a:t>
            </a:r>
          </a:p>
          <a:p>
            <a:pPr algn="l" fontAlgn="base">
              <a:buFont typeface="+mj-lt"/>
              <a:buAutoNum type="arabicPeriod" startAt="2"/>
            </a:pPr>
            <a:r>
              <a:rPr lang="en-IN" b="0" i="0" dirty="0">
                <a:solidFill>
                  <a:srgbClr val="273239"/>
                </a:solidFill>
                <a:effectLst/>
                <a:latin typeface="Nunito" pitchFamily="2" charset="77"/>
              </a:rPr>
              <a:t>Adjacency List</a:t>
            </a:r>
          </a:p>
          <a:p>
            <a:endParaRPr lang="en-US" dirty="0"/>
          </a:p>
        </p:txBody>
      </p:sp>
    </p:spTree>
    <p:extLst>
      <p:ext uri="{BB962C8B-B14F-4D97-AF65-F5344CB8AC3E}">
        <p14:creationId xmlns:p14="http://schemas.microsoft.com/office/powerpoint/2010/main" val="3399708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49003-5582-5944-C8D2-87CB751201ED}"/>
              </a:ext>
            </a:extLst>
          </p:cNvPr>
          <p:cNvSpPr>
            <a:spLocks noGrp="1"/>
          </p:cNvSpPr>
          <p:nvPr>
            <p:ph type="title"/>
          </p:nvPr>
        </p:nvSpPr>
        <p:spPr/>
        <p:txBody>
          <a:bodyPr/>
          <a:lstStyle/>
          <a:p>
            <a:r>
              <a:rPr lang="en-IN" b="1" i="0">
                <a:solidFill>
                  <a:srgbClr val="273239"/>
                </a:solidFill>
                <a:effectLst/>
                <a:latin typeface="Nunito" pitchFamily="2" charset="77"/>
              </a:rPr>
              <a:t>Adjacency Matrix Representation</a:t>
            </a:r>
            <a:endParaRPr lang="en-US"/>
          </a:p>
        </p:txBody>
      </p:sp>
      <p:sp>
        <p:nvSpPr>
          <p:cNvPr id="3" name="Content Placeholder 2">
            <a:extLst>
              <a:ext uri="{FF2B5EF4-FFF2-40B4-BE49-F238E27FC236}">
                <a16:creationId xmlns:a16="http://schemas.microsoft.com/office/drawing/2014/main" id="{91EB2FE0-15CA-C043-1BD7-D8C32CF16F86}"/>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An adjacency matrix is a way of representing a graph as a </a:t>
            </a:r>
            <a:r>
              <a:rPr lang="en-IN" b="0" i="0" dirty="0" err="1">
                <a:solidFill>
                  <a:srgbClr val="273239"/>
                </a:solidFill>
                <a:effectLst/>
                <a:latin typeface="Nunito" pitchFamily="2" charset="77"/>
              </a:rPr>
              <a:t>boolean</a:t>
            </a:r>
            <a:r>
              <a:rPr lang="en-IN" b="0" i="0" dirty="0">
                <a:solidFill>
                  <a:srgbClr val="273239"/>
                </a:solidFill>
                <a:effectLst/>
                <a:latin typeface="Nunito" pitchFamily="2" charset="77"/>
              </a:rPr>
              <a:t> matrix of (0's and 1's).</a:t>
            </a:r>
          </a:p>
          <a:p>
            <a:pPr algn="l" rtl="0" fontAlgn="base"/>
            <a:r>
              <a:rPr lang="en-IN" b="0" i="0" dirty="0">
                <a:solidFill>
                  <a:srgbClr val="273239"/>
                </a:solidFill>
                <a:effectLst/>
                <a:latin typeface="Nunito" pitchFamily="2" charset="77"/>
              </a:rPr>
              <a:t>Let's assume there are n vertices in the graph So, create a 2D matrix </a:t>
            </a:r>
            <a:r>
              <a:rPr lang="en-IN" b="0" i="0" dirty="0" err="1">
                <a:solidFill>
                  <a:srgbClr val="273239"/>
                </a:solidFill>
                <a:effectLst/>
                <a:latin typeface="Nunito" pitchFamily="2" charset="77"/>
              </a:rPr>
              <a:t>adjMat</a:t>
            </a:r>
            <a:r>
              <a:rPr lang="en-IN" b="0" i="0" dirty="0">
                <a:solidFill>
                  <a:srgbClr val="273239"/>
                </a:solidFill>
                <a:effectLst/>
                <a:latin typeface="Nunito" pitchFamily="2" charset="77"/>
              </a:rPr>
              <a:t>[n][n] having dimension n x n.</a:t>
            </a:r>
          </a:p>
          <a:p>
            <a:pPr algn="l" fontAlgn="base">
              <a:buFont typeface="Arial" panose="020B0604020202020204" pitchFamily="34" charset="0"/>
              <a:buChar char="•"/>
            </a:pPr>
            <a:r>
              <a:rPr lang="en-IN" dirty="0">
                <a:solidFill>
                  <a:srgbClr val="273239"/>
                </a:solidFill>
                <a:effectLst/>
                <a:latin typeface="Nunito" pitchFamily="2" charset="77"/>
              </a:rPr>
              <a:t>If there is an edge from vertex </a:t>
            </a:r>
            <a:r>
              <a:rPr lang="en-IN" dirty="0" err="1">
                <a:solidFill>
                  <a:srgbClr val="273239"/>
                </a:solidFill>
                <a:effectLst/>
                <a:latin typeface="Nunito" pitchFamily="2" charset="77"/>
              </a:rPr>
              <a:t>i</a:t>
            </a:r>
            <a:r>
              <a:rPr lang="en-IN" dirty="0">
                <a:solidFill>
                  <a:srgbClr val="273239"/>
                </a:solidFill>
                <a:effectLst/>
                <a:latin typeface="Nunito" pitchFamily="2" charset="77"/>
              </a:rPr>
              <a:t> to j, mark </a:t>
            </a:r>
            <a:r>
              <a:rPr lang="en-IN" dirty="0" err="1">
                <a:solidFill>
                  <a:srgbClr val="273239"/>
                </a:solidFill>
                <a:effectLst/>
                <a:latin typeface="Nunito" pitchFamily="2" charset="77"/>
              </a:rPr>
              <a:t>adjMat</a:t>
            </a:r>
            <a:r>
              <a:rPr lang="en-IN" dirty="0">
                <a:solidFill>
                  <a:srgbClr val="273239"/>
                </a:solidFill>
                <a:effectLst/>
                <a:latin typeface="Nunito" pitchFamily="2" charset="77"/>
              </a:rPr>
              <a:t>[</a:t>
            </a:r>
            <a:r>
              <a:rPr lang="en-IN" dirty="0" err="1">
                <a:solidFill>
                  <a:srgbClr val="273239"/>
                </a:solidFill>
                <a:effectLst/>
                <a:latin typeface="Nunito" pitchFamily="2" charset="77"/>
              </a:rPr>
              <a:t>i</a:t>
            </a:r>
            <a:r>
              <a:rPr lang="en-IN" dirty="0">
                <a:solidFill>
                  <a:srgbClr val="273239"/>
                </a:solidFill>
                <a:effectLst/>
                <a:latin typeface="Nunito" pitchFamily="2" charset="77"/>
              </a:rPr>
              <a:t>][j] as 1. </a:t>
            </a:r>
          </a:p>
          <a:p>
            <a:pPr algn="l" fontAlgn="base">
              <a:buFont typeface="Arial" panose="020B0604020202020204" pitchFamily="34" charset="0"/>
              <a:buChar char="•"/>
            </a:pPr>
            <a:r>
              <a:rPr lang="en-IN" dirty="0">
                <a:solidFill>
                  <a:srgbClr val="273239"/>
                </a:solidFill>
                <a:effectLst/>
                <a:latin typeface="Nunito" pitchFamily="2" charset="77"/>
              </a:rPr>
              <a:t>If there is no edge from vertex </a:t>
            </a:r>
            <a:r>
              <a:rPr lang="en-IN" dirty="0" err="1">
                <a:solidFill>
                  <a:srgbClr val="273239"/>
                </a:solidFill>
                <a:effectLst/>
                <a:latin typeface="Nunito" pitchFamily="2" charset="77"/>
              </a:rPr>
              <a:t>i</a:t>
            </a:r>
            <a:r>
              <a:rPr lang="en-IN" dirty="0">
                <a:solidFill>
                  <a:srgbClr val="273239"/>
                </a:solidFill>
                <a:effectLst/>
                <a:latin typeface="Nunito" pitchFamily="2" charset="77"/>
              </a:rPr>
              <a:t> to j, mark </a:t>
            </a:r>
            <a:r>
              <a:rPr lang="en-IN" dirty="0" err="1">
                <a:solidFill>
                  <a:srgbClr val="273239"/>
                </a:solidFill>
                <a:effectLst/>
                <a:latin typeface="Nunito" pitchFamily="2" charset="77"/>
              </a:rPr>
              <a:t>adjMat</a:t>
            </a:r>
            <a:r>
              <a:rPr lang="en-IN" dirty="0">
                <a:solidFill>
                  <a:srgbClr val="273239"/>
                </a:solidFill>
                <a:effectLst/>
                <a:latin typeface="Nunito" pitchFamily="2" charset="77"/>
              </a:rPr>
              <a:t>[</a:t>
            </a:r>
            <a:r>
              <a:rPr lang="en-IN" dirty="0" err="1">
                <a:solidFill>
                  <a:srgbClr val="273239"/>
                </a:solidFill>
                <a:effectLst/>
                <a:latin typeface="Nunito" pitchFamily="2" charset="77"/>
              </a:rPr>
              <a:t>i</a:t>
            </a:r>
            <a:r>
              <a:rPr lang="en-IN" dirty="0">
                <a:solidFill>
                  <a:srgbClr val="273239"/>
                </a:solidFill>
                <a:effectLst/>
                <a:latin typeface="Nunito" pitchFamily="2" charset="77"/>
              </a:rPr>
              <a:t>][j] as 0.</a:t>
            </a:r>
          </a:p>
          <a:p>
            <a:endParaRPr lang="en-US" dirty="0"/>
          </a:p>
        </p:txBody>
      </p:sp>
    </p:spTree>
    <p:extLst>
      <p:ext uri="{BB962C8B-B14F-4D97-AF65-F5344CB8AC3E}">
        <p14:creationId xmlns:p14="http://schemas.microsoft.com/office/powerpoint/2010/main" val="3177682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A7822-7F49-0433-D714-8D7C38A7DF3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949444F-8C44-5AA0-0D72-D897BC308BF1}"/>
              </a:ext>
            </a:extLst>
          </p:cNvPr>
          <p:cNvSpPr>
            <a:spLocks noGrp="1"/>
          </p:cNvSpPr>
          <p:nvPr>
            <p:ph idx="1"/>
          </p:nvPr>
        </p:nvSpPr>
        <p:spPr/>
        <p:txBody>
          <a:bodyPr/>
          <a:lstStyle/>
          <a:p>
            <a:endParaRPr lang="en-US"/>
          </a:p>
        </p:txBody>
      </p:sp>
      <p:pic>
        <p:nvPicPr>
          <p:cNvPr id="1026" name="Picture 2" descr="Null Graph ">
            <a:extLst>
              <a:ext uri="{FF2B5EF4-FFF2-40B4-BE49-F238E27FC236}">
                <a16:creationId xmlns:a16="http://schemas.microsoft.com/office/drawing/2014/main" id="{248B354A-C266-6ECA-8D04-613CD64EB2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8620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ECCEF-1200-BE78-293A-36A1771FE933}"/>
              </a:ext>
            </a:extLst>
          </p:cNvPr>
          <p:cNvSpPr>
            <a:spLocks noGrp="1"/>
          </p:cNvSpPr>
          <p:nvPr>
            <p:ph type="title"/>
          </p:nvPr>
        </p:nvSpPr>
        <p:spPr/>
        <p:txBody>
          <a:bodyPr>
            <a:normAutofit/>
          </a:bodyPr>
          <a:lstStyle/>
          <a:p>
            <a:r>
              <a:rPr lang="en-IN" b="1" i="0" dirty="0">
                <a:solidFill>
                  <a:srgbClr val="000000"/>
                </a:solidFill>
                <a:effectLst/>
                <a:latin typeface="__CircularFontRegular_59a53b"/>
              </a:rPr>
              <a:t>1. Null Graph </a:t>
            </a:r>
            <a:endParaRPr lang="en-US" dirty="0"/>
          </a:p>
        </p:txBody>
      </p:sp>
      <p:sp>
        <p:nvSpPr>
          <p:cNvPr id="3" name="Content Placeholder 2">
            <a:extLst>
              <a:ext uri="{FF2B5EF4-FFF2-40B4-BE49-F238E27FC236}">
                <a16:creationId xmlns:a16="http://schemas.microsoft.com/office/drawing/2014/main" id="{6B67AE88-FC85-3B10-C212-D5D7F5F11912}"/>
              </a:ext>
            </a:extLst>
          </p:cNvPr>
          <p:cNvSpPr>
            <a:spLocks noGrp="1"/>
          </p:cNvSpPr>
          <p:nvPr>
            <p:ph idx="1"/>
          </p:nvPr>
        </p:nvSpPr>
        <p:spPr/>
        <p:txBody>
          <a:bodyPr>
            <a:normAutofit/>
          </a:bodyPr>
          <a:lstStyle/>
          <a:p>
            <a:pPr algn="l"/>
            <a:r>
              <a:rPr lang="en-IN" b="0" i="0" dirty="0">
                <a:solidFill>
                  <a:srgbClr val="000000"/>
                </a:solidFill>
                <a:effectLst/>
                <a:latin typeface="__CircularFontRegular_59a53b"/>
              </a:rPr>
              <a:t>A null graph is a graph that consists only of vertices without any edges connecting them. </a:t>
            </a:r>
            <a:endParaRPr lang="en-IN" b="0" i="0" dirty="0">
              <a:solidFill>
                <a:srgbClr val="333333"/>
              </a:solidFill>
              <a:effectLst/>
              <a:latin typeface="__CircularFontRegular_59a53b"/>
            </a:endParaRPr>
          </a:p>
          <a:p>
            <a:pPr algn="l"/>
            <a:r>
              <a:rPr lang="en-IN" b="1" i="0" dirty="0">
                <a:solidFill>
                  <a:srgbClr val="000000"/>
                </a:solidFill>
                <a:effectLst/>
                <a:latin typeface="__CircularFontRegular_59a53b"/>
              </a:rPr>
              <a:t>Use Case:</a:t>
            </a:r>
            <a:br>
              <a:rPr lang="en-IN" b="0" i="0" dirty="0">
                <a:solidFill>
                  <a:srgbClr val="333333"/>
                </a:solidFill>
                <a:effectLst/>
                <a:latin typeface="__CircularFontRegular_59a53b"/>
              </a:rPr>
            </a:br>
            <a:r>
              <a:rPr lang="en-IN" b="0" i="0" dirty="0">
                <a:solidFill>
                  <a:srgbClr val="000000"/>
                </a:solidFill>
                <a:effectLst/>
                <a:latin typeface="__CircularFontRegular_59a53b"/>
              </a:rPr>
              <a:t>Suppose you're designing a social networking platform and have just fetched a list of newly registered users. At this stage, no one has connected or interacted with anyone else. This is best represented as a null graph. It allows you to account for the users while deferring the connections until they occur naturally in the system.</a:t>
            </a:r>
            <a:endParaRPr lang="en-IN" b="0" i="0" dirty="0">
              <a:solidFill>
                <a:srgbClr val="333333"/>
              </a:solidFill>
              <a:effectLst/>
              <a:latin typeface="__CircularFontRegular_59a53b"/>
            </a:endParaRPr>
          </a:p>
          <a:p>
            <a:endParaRPr lang="en-US" dirty="0"/>
          </a:p>
        </p:txBody>
      </p:sp>
    </p:spTree>
    <p:extLst>
      <p:ext uri="{BB962C8B-B14F-4D97-AF65-F5344CB8AC3E}">
        <p14:creationId xmlns:p14="http://schemas.microsoft.com/office/powerpoint/2010/main" val="2755526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C456C-7A82-0FF1-F1EA-A1EAA4984F55}"/>
              </a:ext>
            </a:extLst>
          </p:cNvPr>
          <p:cNvSpPr>
            <a:spLocks noGrp="1"/>
          </p:cNvSpPr>
          <p:nvPr>
            <p:ph type="title"/>
          </p:nvPr>
        </p:nvSpPr>
        <p:spPr/>
        <p:txBody>
          <a:bodyPr>
            <a:normAutofit/>
          </a:bodyPr>
          <a:lstStyle/>
          <a:p>
            <a:r>
              <a:rPr lang="en-IN" b="1" i="0" dirty="0">
                <a:solidFill>
                  <a:srgbClr val="000000"/>
                </a:solidFill>
                <a:effectLst/>
                <a:latin typeface="__CircularFontRegular_59a53b"/>
              </a:rPr>
              <a:t>2. Trivial Graph</a:t>
            </a:r>
            <a:endParaRPr lang="en-US" dirty="0"/>
          </a:p>
        </p:txBody>
      </p:sp>
      <p:sp>
        <p:nvSpPr>
          <p:cNvPr id="3" name="Content Placeholder 2">
            <a:extLst>
              <a:ext uri="{FF2B5EF4-FFF2-40B4-BE49-F238E27FC236}">
                <a16:creationId xmlns:a16="http://schemas.microsoft.com/office/drawing/2014/main" id="{6DE87919-CE62-BB19-4441-4D9045CF44BE}"/>
              </a:ext>
            </a:extLst>
          </p:cNvPr>
          <p:cNvSpPr>
            <a:spLocks noGrp="1"/>
          </p:cNvSpPr>
          <p:nvPr>
            <p:ph idx="1"/>
          </p:nvPr>
        </p:nvSpPr>
        <p:spPr/>
        <p:txBody>
          <a:bodyPr/>
          <a:lstStyle/>
          <a:p>
            <a:pPr algn="l"/>
            <a:r>
              <a:rPr lang="en-IN" b="0" i="0" dirty="0">
                <a:solidFill>
                  <a:srgbClr val="000000"/>
                </a:solidFill>
                <a:effectLst/>
                <a:latin typeface="__CircularFontRegular_59a53b"/>
              </a:rPr>
              <a:t>A trivial graph contains only a single vertex and no edges. </a:t>
            </a:r>
            <a:endParaRPr lang="en-IN" b="0" i="0" dirty="0">
              <a:solidFill>
                <a:srgbClr val="333333"/>
              </a:solidFill>
              <a:effectLst/>
              <a:latin typeface="__CircularFontRegular_59a53b"/>
            </a:endParaRPr>
          </a:p>
          <a:p>
            <a:pPr algn="l"/>
            <a:r>
              <a:rPr lang="en-IN" b="1" i="0" dirty="0">
                <a:solidFill>
                  <a:srgbClr val="000000"/>
                </a:solidFill>
                <a:effectLst/>
                <a:latin typeface="__CircularFontRegular_59a53b"/>
              </a:rPr>
              <a:t>Use Case:</a:t>
            </a:r>
            <a:br>
              <a:rPr lang="en-IN" b="0" i="0" dirty="0">
                <a:solidFill>
                  <a:srgbClr val="333333"/>
                </a:solidFill>
                <a:effectLst/>
                <a:latin typeface="__CircularFontRegular_59a53b"/>
              </a:rPr>
            </a:br>
            <a:r>
              <a:rPr lang="en-IN" b="0" i="0" dirty="0">
                <a:solidFill>
                  <a:srgbClr val="000000"/>
                </a:solidFill>
                <a:effectLst/>
                <a:latin typeface="__CircularFontRegular_59a53b"/>
              </a:rPr>
              <a:t>Imagine monitoring a lone weather sensor deployed in a remote area. It doesn’t connect to any other device and functions autonomously. </a:t>
            </a:r>
            <a:r>
              <a:rPr lang="en-IN" b="0" i="0" dirty="0" err="1">
                <a:solidFill>
                  <a:srgbClr val="000000"/>
                </a:solidFill>
                <a:effectLst/>
                <a:latin typeface="__CircularFontRegular_59a53b"/>
              </a:rPr>
              <a:t>Modeling</a:t>
            </a:r>
            <a:r>
              <a:rPr lang="en-IN" b="0" i="0" dirty="0">
                <a:solidFill>
                  <a:srgbClr val="000000"/>
                </a:solidFill>
                <a:effectLst/>
                <a:latin typeface="__CircularFontRegular_59a53b"/>
              </a:rPr>
              <a:t> such a setup as a trivial graph simplifies system design and testing for edge cases.</a:t>
            </a:r>
            <a:endParaRPr lang="en-IN" b="0" i="0" dirty="0">
              <a:solidFill>
                <a:srgbClr val="333333"/>
              </a:solidFill>
              <a:effectLst/>
              <a:latin typeface="__CircularFontRegular_59a53b"/>
            </a:endParaRPr>
          </a:p>
          <a:p>
            <a:endParaRPr lang="en-US" dirty="0"/>
          </a:p>
        </p:txBody>
      </p:sp>
    </p:spTree>
    <p:extLst>
      <p:ext uri="{BB962C8B-B14F-4D97-AF65-F5344CB8AC3E}">
        <p14:creationId xmlns:p14="http://schemas.microsoft.com/office/powerpoint/2010/main" val="4163492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E4E9E-39B0-F5F5-ED35-5616B10F2B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C11A9A-6A6F-D36C-EF0C-712595B2B887}"/>
              </a:ext>
            </a:extLst>
          </p:cNvPr>
          <p:cNvSpPr>
            <a:spLocks noGrp="1"/>
          </p:cNvSpPr>
          <p:nvPr>
            <p:ph idx="1"/>
          </p:nvPr>
        </p:nvSpPr>
        <p:spPr/>
        <p:txBody>
          <a:bodyPr/>
          <a:lstStyle/>
          <a:p>
            <a:endParaRPr lang="en-US"/>
          </a:p>
        </p:txBody>
      </p:sp>
      <p:pic>
        <p:nvPicPr>
          <p:cNvPr id="2050" name="Picture 2" descr="Trivial Graph">
            <a:extLst>
              <a:ext uri="{FF2B5EF4-FFF2-40B4-BE49-F238E27FC236}">
                <a16:creationId xmlns:a16="http://schemas.microsoft.com/office/drawing/2014/main" id="{3D0A3CAC-213E-449F-CE13-A52EE14A3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4401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79669-1537-34CE-B7D1-0AA3B047BDD2}"/>
              </a:ext>
            </a:extLst>
          </p:cNvPr>
          <p:cNvSpPr>
            <a:spLocks noGrp="1"/>
          </p:cNvSpPr>
          <p:nvPr>
            <p:ph type="title"/>
          </p:nvPr>
        </p:nvSpPr>
        <p:spPr/>
        <p:txBody>
          <a:bodyPr>
            <a:normAutofit/>
          </a:bodyPr>
          <a:lstStyle/>
          <a:p>
            <a:r>
              <a:rPr lang="en-IN" b="1" i="0" dirty="0">
                <a:solidFill>
                  <a:srgbClr val="000000"/>
                </a:solidFill>
                <a:effectLst/>
                <a:latin typeface="__CircularFontRegular_59a53b"/>
              </a:rPr>
              <a:t>3. Undirected Graph</a:t>
            </a:r>
            <a:endParaRPr lang="en-US" dirty="0"/>
          </a:p>
        </p:txBody>
      </p:sp>
      <p:sp>
        <p:nvSpPr>
          <p:cNvPr id="3" name="Content Placeholder 2">
            <a:extLst>
              <a:ext uri="{FF2B5EF4-FFF2-40B4-BE49-F238E27FC236}">
                <a16:creationId xmlns:a16="http://schemas.microsoft.com/office/drawing/2014/main" id="{5E9086AC-01BB-28B3-29DB-E673C2D2F87B}"/>
              </a:ext>
            </a:extLst>
          </p:cNvPr>
          <p:cNvSpPr>
            <a:spLocks noGrp="1"/>
          </p:cNvSpPr>
          <p:nvPr>
            <p:ph idx="1"/>
          </p:nvPr>
        </p:nvSpPr>
        <p:spPr/>
        <p:txBody>
          <a:bodyPr>
            <a:normAutofit/>
          </a:bodyPr>
          <a:lstStyle/>
          <a:p>
            <a:pPr algn="l"/>
            <a:r>
              <a:rPr lang="en-IN" b="0" i="0" dirty="0">
                <a:solidFill>
                  <a:srgbClr val="000000"/>
                </a:solidFill>
                <a:effectLst/>
                <a:latin typeface="__CircularFontRegular_59a53b"/>
              </a:rPr>
              <a:t>An undirected graph contains edges with no direction; the connection between any two vertices is mutual. If one vertex connects to another, the relationship is inherently bi-directional. </a:t>
            </a:r>
            <a:endParaRPr lang="en-IN" b="0" i="0" dirty="0">
              <a:solidFill>
                <a:srgbClr val="333333"/>
              </a:solidFill>
              <a:effectLst/>
              <a:latin typeface="__CircularFontRegular_59a53b"/>
            </a:endParaRPr>
          </a:p>
          <a:p>
            <a:pPr algn="l"/>
            <a:r>
              <a:rPr lang="en-IN" b="1" i="0" dirty="0">
                <a:solidFill>
                  <a:srgbClr val="000000"/>
                </a:solidFill>
                <a:effectLst/>
                <a:latin typeface="__CircularFontRegular_59a53b"/>
              </a:rPr>
              <a:t>Use Case Example:</a:t>
            </a:r>
            <a:br>
              <a:rPr lang="en-IN" b="0" i="0" dirty="0">
                <a:solidFill>
                  <a:srgbClr val="333333"/>
                </a:solidFill>
                <a:effectLst/>
                <a:latin typeface="__CircularFontRegular_59a53b"/>
              </a:rPr>
            </a:br>
            <a:r>
              <a:rPr lang="en-IN" b="0" i="0" dirty="0">
                <a:solidFill>
                  <a:srgbClr val="000000"/>
                </a:solidFill>
                <a:effectLst/>
                <a:latin typeface="__CircularFontRegular_59a53b"/>
              </a:rPr>
              <a:t>You can use undirected graphs to model friend relationships in social media platforms like Facebook. If Aarav is friends with Priya, then Priya is automatically friends with Aarav. </a:t>
            </a:r>
            <a:endParaRPr lang="en-IN" b="0" i="0" dirty="0">
              <a:solidFill>
                <a:srgbClr val="333333"/>
              </a:solidFill>
              <a:effectLst/>
              <a:latin typeface="__CircularFontRegular_59a53b"/>
            </a:endParaRPr>
          </a:p>
          <a:p>
            <a:endParaRPr lang="en-US" dirty="0"/>
          </a:p>
        </p:txBody>
      </p:sp>
    </p:spTree>
    <p:extLst>
      <p:ext uri="{BB962C8B-B14F-4D97-AF65-F5344CB8AC3E}">
        <p14:creationId xmlns:p14="http://schemas.microsoft.com/office/powerpoint/2010/main" val="4290419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DF2B1-5162-050C-83BD-36BF4E8591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CC85B4-72BF-81AF-42D6-00BDA164C3AE}"/>
              </a:ext>
            </a:extLst>
          </p:cNvPr>
          <p:cNvSpPr>
            <a:spLocks noGrp="1"/>
          </p:cNvSpPr>
          <p:nvPr>
            <p:ph idx="1"/>
          </p:nvPr>
        </p:nvSpPr>
        <p:spPr/>
        <p:txBody>
          <a:bodyPr/>
          <a:lstStyle/>
          <a:p>
            <a:endParaRPr lang="en-US"/>
          </a:p>
        </p:txBody>
      </p:sp>
      <p:pic>
        <p:nvPicPr>
          <p:cNvPr id="3074" name="Picture 2" descr="Undirected Graph">
            <a:extLst>
              <a:ext uri="{FF2B5EF4-FFF2-40B4-BE49-F238E27FC236}">
                <a16:creationId xmlns:a16="http://schemas.microsoft.com/office/drawing/2014/main" id="{ADA61161-4AB2-8A65-9C8B-ABBB822353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1681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1E344-2BC0-099B-CBF9-AE2336262801}"/>
              </a:ext>
            </a:extLst>
          </p:cNvPr>
          <p:cNvSpPr>
            <a:spLocks noGrp="1"/>
          </p:cNvSpPr>
          <p:nvPr>
            <p:ph type="title"/>
          </p:nvPr>
        </p:nvSpPr>
        <p:spPr/>
        <p:txBody>
          <a:bodyPr>
            <a:normAutofit/>
          </a:bodyPr>
          <a:lstStyle/>
          <a:p>
            <a:r>
              <a:rPr lang="en-IN" b="1" i="0" dirty="0">
                <a:solidFill>
                  <a:srgbClr val="000000"/>
                </a:solidFill>
                <a:effectLst/>
                <a:latin typeface="__CircularFontRegular_59a53b"/>
              </a:rPr>
              <a:t>4. Directed Graph (Digraph)</a:t>
            </a:r>
            <a:endParaRPr lang="en-US" dirty="0"/>
          </a:p>
        </p:txBody>
      </p:sp>
      <p:sp>
        <p:nvSpPr>
          <p:cNvPr id="3" name="Content Placeholder 2">
            <a:extLst>
              <a:ext uri="{FF2B5EF4-FFF2-40B4-BE49-F238E27FC236}">
                <a16:creationId xmlns:a16="http://schemas.microsoft.com/office/drawing/2014/main" id="{A0693AA9-2D1E-E42D-4B06-F34FFC834370}"/>
              </a:ext>
            </a:extLst>
          </p:cNvPr>
          <p:cNvSpPr>
            <a:spLocks noGrp="1"/>
          </p:cNvSpPr>
          <p:nvPr>
            <p:ph idx="1"/>
          </p:nvPr>
        </p:nvSpPr>
        <p:spPr/>
        <p:txBody>
          <a:bodyPr>
            <a:normAutofit/>
          </a:bodyPr>
          <a:lstStyle/>
          <a:p>
            <a:pPr algn="l"/>
            <a:r>
              <a:rPr lang="en-IN" b="0" i="0" dirty="0">
                <a:solidFill>
                  <a:srgbClr val="000000"/>
                </a:solidFill>
                <a:effectLst/>
                <a:latin typeface="__CircularFontRegular_59a53b"/>
              </a:rPr>
              <a:t>Each edge has a direction, indicating a one-way relationship between two vertices. This makes it suitable for representing scenarios where direction matters, such as flows, hierarchies, or dependencies. Unlike undirected graphs, A -&gt; B does not imply B -&gt; A.</a:t>
            </a:r>
            <a:endParaRPr lang="en-IN" b="0" i="0" dirty="0">
              <a:solidFill>
                <a:srgbClr val="333333"/>
              </a:solidFill>
              <a:effectLst/>
              <a:latin typeface="__CircularFontRegular_59a53b"/>
            </a:endParaRPr>
          </a:p>
          <a:p>
            <a:pPr algn="l"/>
            <a:r>
              <a:rPr lang="en-IN" b="1" i="0" dirty="0">
                <a:solidFill>
                  <a:srgbClr val="000000"/>
                </a:solidFill>
                <a:effectLst/>
                <a:latin typeface="__CircularFontRegular_59a53b"/>
              </a:rPr>
              <a:t>Use Case:</a:t>
            </a:r>
            <a:br>
              <a:rPr lang="en-IN" b="0" i="0" dirty="0">
                <a:solidFill>
                  <a:srgbClr val="333333"/>
                </a:solidFill>
                <a:effectLst/>
                <a:latin typeface="__CircularFontRegular_59a53b"/>
              </a:rPr>
            </a:br>
            <a:r>
              <a:rPr lang="en-IN" b="0" i="0" dirty="0">
                <a:solidFill>
                  <a:srgbClr val="000000"/>
                </a:solidFill>
                <a:effectLst/>
                <a:latin typeface="__CircularFontRegular_59a53b"/>
              </a:rPr>
              <a:t>Twitter is a classic case where directed graphs are applicable. If you follow someone, it doesn’t mean they follow you back. Directed graphs are also widely used in </a:t>
            </a:r>
            <a:r>
              <a:rPr lang="en-IN" b="0" i="0" dirty="0" err="1">
                <a:solidFill>
                  <a:srgbClr val="000000"/>
                </a:solidFill>
                <a:effectLst/>
                <a:latin typeface="__CircularFontRegular_59a53b"/>
              </a:rPr>
              <a:t>modeling</a:t>
            </a:r>
            <a:r>
              <a:rPr lang="en-IN" b="0" i="0" dirty="0">
                <a:solidFill>
                  <a:srgbClr val="000000"/>
                </a:solidFill>
                <a:effectLst/>
                <a:latin typeface="__CircularFontRegular_59a53b"/>
              </a:rPr>
              <a:t> workflows, task scheduling, and web page linking structures, where navigation flows in a particular direction.</a:t>
            </a:r>
            <a:endParaRPr lang="en-IN" b="0" i="0" dirty="0">
              <a:solidFill>
                <a:srgbClr val="333333"/>
              </a:solidFill>
              <a:effectLst/>
              <a:latin typeface="__CircularFontRegular_59a53b"/>
            </a:endParaRPr>
          </a:p>
          <a:p>
            <a:endParaRPr lang="en-US" dirty="0"/>
          </a:p>
        </p:txBody>
      </p:sp>
    </p:spTree>
    <p:extLst>
      <p:ext uri="{BB962C8B-B14F-4D97-AF65-F5344CB8AC3E}">
        <p14:creationId xmlns:p14="http://schemas.microsoft.com/office/powerpoint/2010/main" val="1752579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12323-9F9C-6C6C-32EC-F3BFF48A63B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57CC30-D2AB-F71E-BC06-8C1E58C3AF83}"/>
              </a:ext>
            </a:extLst>
          </p:cNvPr>
          <p:cNvSpPr>
            <a:spLocks noGrp="1"/>
          </p:cNvSpPr>
          <p:nvPr>
            <p:ph idx="1"/>
          </p:nvPr>
        </p:nvSpPr>
        <p:spPr/>
        <p:txBody>
          <a:bodyPr/>
          <a:lstStyle/>
          <a:p>
            <a:endParaRPr lang="en-US"/>
          </a:p>
        </p:txBody>
      </p:sp>
      <p:pic>
        <p:nvPicPr>
          <p:cNvPr id="4098" name="Picture 2" descr="Directed Graph (Digraph)">
            <a:extLst>
              <a:ext uri="{FF2B5EF4-FFF2-40B4-BE49-F238E27FC236}">
                <a16:creationId xmlns:a16="http://schemas.microsoft.com/office/drawing/2014/main" id="{210AC0DE-1633-023B-AEE6-004AA5C8E1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8972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97AD6-C676-98D3-F060-E1CD78330376}"/>
              </a:ext>
            </a:extLst>
          </p:cNvPr>
          <p:cNvSpPr>
            <a:spLocks noGrp="1"/>
          </p:cNvSpPr>
          <p:nvPr>
            <p:ph type="title"/>
          </p:nvPr>
        </p:nvSpPr>
        <p:spPr/>
        <p:txBody>
          <a:bodyPr>
            <a:normAutofit/>
          </a:bodyPr>
          <a:lstStyle/>
          <a:p>
            <a:r>
              <a:rPr lang="en-IN" b="1" i="0" dirty="0">
                <a:solidFill>
                  <a:srgbClr val="000000"/>
                </a:solidFill>
                <a:effectLst/>
                <a:latin typeface="__CircularFontRegular_59a53b"/>
              </a:rPr>
              <a:t>5. </a:t>
            </a:r>
            <a:r>
              <a:rPr lang="en-IN" b="1" i="0">
                <a:solidFill>
                  <a:srgbClr val="000000"/>
                </a:solidFill>
                <a:effectLst/>
                <a:latin typeface="__CircularFontRegular_59a53b"/>
              </a:rPr>
              <a:t>Connected Graph</a:t>
            </a:r>
            <a:endParaRPr lang="en-US"/>
          </a:p>
        </p:txBody>
      </p:sp>
      <p:sp>
        <p:nvSpPr>
          <p:cNvPr id="3" name="Content Placeholder 2">
            <a:extLst>
              <a:ext uri="{FF2B5EF4-FFF2-40B4-BE49-F238E27FC236}">
                <a16:creationId xmlns:a16="http://schemas.microsoft.com/office/drawing/2014/main" id="{7A25A38B-FC2D-8EE7-6680-D4D27983D3F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29896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15156-C6D1-FBD2-2D56-2482F5C42CA5}"/>
              </a:ext>
            </a:extLst>
          </p:cNvPr>
          <p:cNvSpPr>
            <a:spLocks noGrp="1"/>
          </p:cNvSpPr>
          <p:nvPr>
            <p:ph type="title"/>
          </p:nvPr>
        </p:nvSpPr>
        <p:spPr/>
        <p:txBody>
          <a:bodyPr/>
          <a:lstStyle/>
          <a:p>
            <a:r>
              <a:rPr lang="en-US" dirty="0"/>
              <a:t>Breadth First Search (Graph Traversal)</a:t>
            </a:r>
          </a:p>
        </p:txBody>
      </p:sp>
      <p:sp>
        <p:nvSpPr>
          <p:cNvPr id="3" name="Content Placeholder 2">
            <a:extLst>
              <a:ext uri="{FF2B5EF4-FFF2-40B4-BE49-F238E27FC236}">
                <a16:creationId xmlns:a16="http://schemas.microsoft.com/office/drawing/2014/main" id="{C251F3ED-CE70-6E56-BAE6-E47AE2B4ABAA}"/>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BFS is a graph traversal algorithm that starts from a source node and explores the graph level by level. </a:t>
            </a:r>
          </a:p>
          <a:p>
            <a:pPr algn="l" rtl="0" fontAlgn="base"/>
            <a:r>
              <a:rPr lang="en-IN" b="0" i="0" dirty="0">
                <a:solidFill>
                  <a:srgbClr val="273239"/>
                </a:solidFill>
                <a:effectLst/>
                <a:latin typeface="Nunito" pitchFamily="2" charset="77"/>
              </a:rPr>
              <a:t>First, it visits all nodes directly adjacent to the source. </a:t>
            </a:r>
          </a:p>
          <a:p>
            <a:pPr algn="l" rtl="0" fontAlgn="base"/>
            <a:r>
              <a:rPr lang="en-IN" b="0" i="0" dirty="0">
                <a:solidFill>
                  <a:srgbClr val="273239"/>
                </a:solidFill>
                <a:effectLst/>
                <a:latin typeface="Nunito" pitchFamily="2" charset="77"/>
              </a:rPr>
              <a:t>Then, it moves on to visit the adjacent nodes of those nodes, and this process continues until all reachable nodes are visited.</a:t>
            </a:r>
          </a:p>
          <a:p>
            <a:br>
              <a:rPr lang="en-IN" dirty="0"/>
            </a:br>
            <a:endParaRPr lang="en-US" dirty="0"/>
          </a:p>
        </p:txBody>
      </p:sp>
    </p:spTree>
    <p:extLst>
      <p:ext uri="{BB962C8B-B14F-4D97-AF65-F5344CB8AC3E}">
        <p14:creationId xmlns:p14="http://schemas.microsoft.com/office/powerpoint/2010/main" val="2809776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8BDC3-5DB8-F1DD-CEE3-465DE1B23C1C}"/>
              </a:ext>
            </a:extLst>
          </p:cNvPr>
          <p:cNvSpPr>
            <a:spLocks noGrp="1"/>
          </p:cNvSpPr>
          <p:nvPr>
            <p:ph type="title"/>
          </p:nvPr>
        </p:nvSpPr>
        <p:spPr/>
        <p:txBody>
          <a:bodyPr>
            <a:normAutofit/>
          </a:bodyPr>
          <a:lstStyle/>
          <a:p>
            <a:pPr fontAlgn="base"/>
            <a:r>
              <a:rPr lang="en-IN" b="1" i="0" dirty="0">
                <a:solidFill>
                  <a:srgbClr val="273239"/>
                </a:solidFill>
                <a:effectLst/>
                <a:latin typeface="Nunito" pitchFamily="2" charset="77"/>
              </a:rPr>
              <a:t>BFS from a Given Source in an Undirected Graph</a:t>
            </a:r>
            <a:endParaRPr lang="en-US" dirty="0"/>
          </a:p>
        </p:txBody>
      </p:sp>
      <p:sp>
        <p:nvSpPr>
          <p:cNvPr id="3" name="Content Placeholder 2">
            <a:extLst>
              <a:ext uri="{FF2B5EF4-FFF2-40B4-BE49-F238E27FC236}">
                <a16:creationId xmlns:a16="http://schemas.microsoft.com/office/drawing/2014/main" id="{EC5687B8-5718-B13F-4D10-6F1985DC2C12}"/>
              </a:ext>
            </a:extLst>
          </p:cNvPr>
          <p:cNvSpPr>
            <a:spLocks noGrp="1"/>
          </p:cNvSpPr>
          <p:nvPr>
            <p:ph idx="1"/>
          </p:nvPr>
        </p:nvSpPr>
        <p:spPr/>
        <p:txBody>
          <a:bodyPr/>
          <a:lstStyle/>
          <a:p>
            <a:pPr rtl="0" fontAlgn="base"/>
            <a:r>
              <a:rPr lang="en-IN" b="0" dirty="0">
                <a:effectLst/>
                <a:latin typeface="Nunito" pitchFamily="2" charset="77"/>
              </a:rPr>
              <a:t>The algorithm starts from a given source vertex and explores all vertices reachable from that source, visiting nodes in increasing order of their distance from the source, level by level using a queue. </a:t>
            </a:r>
          </a:p>
          <a:p>
            <a:pPr rtl="0" fontAlgn="base"/>
            <a:r>
              <a:rPr lang="en-IN" b="0" dirty="0">
                <a:effectLst/>
                <a:latin typeface="Nunito" pitchFamily="2" charset="77"/>
              </a:rPr>
              <a:t>Since graphs may contain cycles, a vertex could be visited multiple times. To prevent revisiting a vertex, a visited array is used.</a:t>
            </a:r>
          </a:p>
          <a:p>
            <a:br>
              <a:rPr lang="en-IN" dirty="0"/>
            </a:br>
            <a:endParaRPr lang="en-US" dirty="0"/>
          </a:p>
        </p:txBody>
      </p:sp>
    </p:spTree>
    <p:extLst>
      <p:ext uri="{BB962C8B-B14F-4D97-AF65-F5344CB8AC3E}">
        <p14:creationId xmlns:p14="http://schemas.microsoft.com/office/powerpoint/2010/main" val="1574948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8D3F8-8761-8C41-DDD0-E2137D01B4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4B053F-7615-DEA3-FE48-41F73DFB73AA}"/>
              </a:ext>
            </a:extLst>
          </p:cNvPr>
          <p:cNvSpPr>
            <a:spLocks noGrp="1"/>
          </p:cNvSpPr>
          <p:nvPr>
            <p:ph idx="1"/>
          </p:nvPr>
        </p:nvSpPr>
        <p:spPr/>
        <p:txBody>
          <a:bodyPr/>
          <a:lstStyle/>
          <a:p>
            <a:endParaRPr lang="en-US"/>
          </a:p>
        </p:txBody>
      </p:sp>
      <p:pic>
        <p:nvPicPr>
          <p:cNvPr id="1026" name="Picture 2" descr="bfs_on_graph_9.webp">
            <a:extLst>
              <a:ext uri="{FF2B5EF4-FFF2-40B4-BE49-F238E27FC236}">
                <a16:creationId xmlns:a16="http://schemas.microsoft.com/office/drawing/2014/main" id="{C92720C6-5A02-7451-C162-371D80CB1E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2597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521EE-175E-0DCD-8EC2-AA57C71914F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2090160-B38D-774F-FB7E-F856F28C8D54}"/>
              </a:ext>
            </a:extLst>
          </p:cNvPr>
          <p:cNvSpPr>
            <a:spLocks noGrp="1"/>
          </p:cNvSpPr>
          <p:nvPr>
            <p:ph idx="1"/>
          </p:nvPr>
        </p:nvSpPr>
        <p:spPr/>
        <p:txBody>
          <a:bodyPr/>
          <a:lstStyle/>
          <a:p>
            <a:endParaRPr lang="en-US"/>
          </a:p>
        </p:txBody>
      </p:sp>
      <p:pic>
        <p:nvPicPr>
          <p:cNvPr id="2050" name="Picture 2" descr="bfs_on_graph_10.webp">
            <a:extLst>
              <a:ext uri="{FF2B5EF4-FFF2-40B4-BE49-F238E27FC236}">
                <a16:creationId xmlns:a16="http://schemas.microsoft.com/office/drawing/2014/main" id="{29AA86E2-C8D7-1A50-4C4F-B758B1FF3F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054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CD2C-91D7-F46C-48AE-990051BA6D3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B8ACADE-3050-8343-90C7-56BE8F2075F7}"/>
              </a:ext>
            </a:extLst>
          </p:cNvPr>
          <p:cNvSpPr>
            <a:spLocks noGrp="1"/>
          </p:cNvSpPr>
          <p:nvPr>
            <p:ph idx="1"/>
          </p:nvPr>
        </p:nvSpPr>
        <p:spPr/>
        <p:txBody>
          <a:bodyPr/>
          <a:lstStyle/>
          <a:p>
            <a:endParaRPr lang="en-US"/>
          </a:p>
        </p:txBody>
      </p:sp>
      <p:pic>
        <p:nvPicPr>
          <p:cNvPr id="3074" name="Picture 2" descr="bfs_on_graph_2.webp">
            <a:extLst>
              <a:ext uri="{FF2B5EF4-FFF2-40B4-BE49-F238E27FC236}">
                <a16:creationId xmlns:a16="http://schemas.microsoft.com/office/drawing/2014/main" id="{012B69F7-20D6-63A8-B5E3-15A35312F9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8768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2F4DD-D18B-E2C3-33E8-060DF7A7E7A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8A2E92-3E5B-5363-CC23-926A798525B8}"/>
              </a:ext>
            </a:extLst>
          </p:cNvPr>
          <p:cNvSpPr>
            <a:spLocks noGrp="1"/>
          </p:cNvSpPr>
          <p:nvPr>
            <p:ph idx="1"/>
          </p:nvPr>
        </p:nvSpPr>
        <p:spPr/>
        <p:txBody>
          <a:bodyPr/>
          <a:lstStyle/>
          <a:p>
            <a:endParaRPr lang="en-US"/>
          </a:p>
        </p:txBody>
      </p:sp>
      <p:pic>
        <p:nvPicPr>
          <p:cNvPr id="4098" name="Picture 2" descr="bfs_on_graph_3.webp">
            <a:extLst>
              <a:ext uri="{FF2B5EF4-FFF2-40B4-BE49-F238E27FC236}">
                <a16:creationId xmlns:a16="http://schemas.microsoft.com/office/drawing/2014/main" id="{520F9697-1740-4A5D-4819-34A6E39554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6304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51481-1356-C76F-6C1D-90AF46CFEFD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654551-C9CC-EEC5-A717-52023E12E4D4}"/>
              </a:ext>
            </a:extLst>
          </p:cNvPr>
          <p:cNvSpPr>
            <a:spLocks noGrp="1"/>
          </p:cNvSpPr>
          <p:nvPr>
            <p:ph idx="1"/>
          </p:nvPr>
        </p:nvSpPr>
        <p:spPr/>
        <p:txBody>
          <a:bodyPr/>
          <a:lstStyle/>
          <a:p>
            <a:endParaRPr lang="en-US"/>
          </a:p>
        </p:txBody>
      </p:sp>
      <p:pic>
        <p:nvPicPr>
          <p:cNvPr id="5122" name="Picture 2" descr="bfs_on_graph_4.webp">
            <a:extLst>
              <a:ext uri="{FF2B5EF4-FFF2-40B4-BE49-F238E27FC236}">
                <a16:creationId xmlns:a16="http://schemas.microsoft.com/office/drawing/2014/main" id="{C21F2CB0-99CB-18D2-AFB0-97BBB8584D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3974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E6F49-A29C-7F99-6BA4-1971649E3A1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8B405A-3A7F-CBF0-9BB5-DDEAF4BF4E74}"/>
              </a:ext>
            </a:extLst>
          </p:cNvPr>
          <p:cNvSpPr>
            <a:spLocks noGrp="1"/>
          </p:cNvSpPr>
          <p:nvPr>
            <p:ph idx="1"/>
          </p:nvPr>
        </p:nvSpPr>
        <p:spPr/>
        <p:txBody>
          <a:bodyPr/>
          <a:lstStyle/>
          <a:p>
            <a:endParaRPr lang="en-US"/>
          </a:p>
        </p:txBody>
      </p:sp>
      <p:pic>
        <p:nvPicPr>
          <p:cNvPr id="6146" name="Picture 2" descr="bfs_on_graph_11.webp">
            <a:extLst>
              <a:ext uri="{FF2B5EF4-FFF2-40B4-BE49-F238E27FC236}">
                <a16:creationId xmlns:a16="http://schemas.microsoft.com/office/drawing/2014/main" id="{F5E6211F-5B45-A79C-5112-FBAB0946E2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13413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1E3E4-53AF-0E42-B4E6-6BC716D3665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FCFE37-364E-CFC7-0546-DADF0BC994A6}"/>
              </a:ext>
            </a:extLst>
          </p:cNvPr>
          <p:cNvSpPr>
            <a:spLocks noGrp="1"/>
          </p:cNvSpPr>
          <p:nvPr>
            <p:ph idx="1"/>
          </p:nvPr>
        </p:nvSpPr>
        <p:spPr/>
        <p:txBody>
          <a:bodyPr/>
          <a:lstStyle/>
          <a:p>
            <a:endParaRPr lang="en-US"/>
          </a:p>
        </p:txBody>
      </p:sp>
      <p:pic>
        <p:nvPicPr>
          <p:cNvPr id="7170" name="Picture 2" descr="bfs_on_graph_5.webp">
            <a:extLst>
              <a:ext uri="{FF2B5EF4-FFF2-40B4-BE49-F238E27FC236}">
                <a16:creationId xmlns:a16="http://schemas.microsoft.com/office/drawing/2014/main" id="{79652A69-CB69-6176-5C34-9BCF61409C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653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BD65B-A66A-6D72-BD21-CF195ED02DA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2B32A3A-DAA4-D8F7-43D6-BEE2A0620ACC}"/>
              </a:ext>
            </a:extLst>
          </p:cNvPr>
          <p:cNvSpPr>
            <a:spLocks noGrp="1"/>
          </p:cNvSpPr>
          <p:nvPr>
            <p:ph idx="1"/>
          </p:nvPr>
        </p:nvSpPr>
        <p:spPr/>
        <p:txBody>
          <a:bodyPr/>
          <a:lstStyle/>
          <a:p>
            <a:endParaRPr lang="en-US"/>
          </a:p>
        </p:txBody>
      </p:sp>
      <p:pic>
        <p:nvPicPr>
          <p:cNvPr id="8194" name="Picture 2" descr="bfs_on_graph_6.webp">
            <a:extLst>
              <a:ext uri="{FF2B5EF4-FFF2-40B4-BE49-F238E27FC236}">
                <a16:creationId xmlns:a16="http://schemas.microsoft.com/office/drawing/2014/main" id="{71A1084A-3D4C-AE36-A72C-E7B66FED65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6674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BEA64-7AFA-9B17-D225-BF673EF5EF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760C75-41E9-307C-3225-8E5EEC641013}"/>
              </a:ext>
            </a:extLst>
          </p:cNvPr>
          <p:cNvSpPr>
            <a:spLocks noGrp="1"/>
          </p:cNvSpPr>
          <p:nvPr>
            <p:ph idx="1"/>
          </p:nvPr>
        </p:nvSpPr>
        <p:spPr/>
        <p:txBody>
          <a:bodyPr/>
          <a:lstStyle/>
          <a:p>
            <a:endParaRPr lang="en-US"/>
          </a:p>
        </p:txBody>
      </p:sp>
      <p:pic>
        <p:nvPicPr>
          <p:cNvPr id="9218" name="Picture 2" descr="bfs_on_graph_7.webp">
            <a:extLst>
              <a:ext uri="{FF2B5EF4-FFF2-40B4-BE49-F238E27FC236}">
                <a16:creationId xmlns:a16="http://schemas.microsoft.com/office/drawing/2014/main" id="{4E0497BB-A979-E37C-C6F8-0927F765B0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17767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9ADBAE-B85B-25E2-57DD-2DD10197BAE7}"/>
              </a:ext>
            </a:extLst>
          </p:cNvPr>
          <p:cNvSpPr>
            <a:spLocks noGrp="1"/>
          </p:cNvSpPr>
          <p:nvPr>
            <p:ph idx="1"/>
          </p:nvPr>
        </p:nvSpPr>
        <p:spPr>
          <a:xfrm>
            <a:off x="838200" y="121920"/>
            <a:ext cx="6751320" cy="6055043"/>
          </a:xfrm>
        </p:spPr>
        <p:txBody>
          <a:bodyPr>
            <a:normAutofit/>
          </a:bodyPr>
          <a:lstStyle/>
          <a:p>
            <a:pPr marL="0" indent="0">
              <a:buNone/>
            </a:pPr>
            <a:r>
              <a:rPr lang="en-US" sz="2000" dirty="0" err="1"/>
              <a:t>ArrayList</a:t>
            </a:r>
            <a:r>
              <a:rPr lang="en-US" sz="2000" dirty="0"/>
              <a:t>&lt;Integer&gt; </a:t>
            </a:r>
            <a:r>
              <a:rPr lang="en-US" sz="2000" dirty="0" err="1"/>
              <a:t>bfs</a:t>
            </a:r>
            <a:r>
              <a:rPr lang="en-US" sz="2000" dirty="0"/>
              <a:t>(</a:t>
            </a:r>
            <a:r>
              <a:rPr lang="en-US" sz="2000" dirty="0" err="1"/>
              <a:t>ArrayList</a:t>
            </a:r>
            <a:r>
              <a:rPr lang="en-US" sz="2000" dirty="0"/>
              <a:t>&lt;</a:t>
            </a:r>
            <a:r>
              <a:rPr lang="en-US" sz="2000" dirty="0" err="1"/>
              <a:t>ArrayList</a:t>
            </a:r>
            <a:r>
              <a:rPr lang="en-US" sz="2000" dirty="0"/>
              <a:t>&lt;Integer&gt;&gt; adj) {</a:t>
            </a:r>
          </a:p>
          <a:p>
            <a:pPr marL="0" indent="0">
              <a:buNone/>
            </a:pPr>
            <a:r>
              <a:rPr lang="en-US" sz="2000" dirty="0"/>
              <a:t>        int V = </a:t>
            </a:r>
            <a:r>
              <a:rPr lang="en-US" sz="2000" dirty="0" err="1"/>
              <a:t>adj.size</a:t>
            </a:r>
            <a:r>
              <a:rPr lang="en-US" sz="2000" dirty="0"/>
              <a:t>();</a:t>
            </a:r>
          </a:p>
          <a:p>
            <a:pPr marL="0" indent="0">
              <a:buNone/>
            </a:pPr>
            <a:r>
              <a:rPr lang="en-US" sz="2000" dirty="0"/>
              <a:t>        </a:t>
            </a:r>
            <a:r>
              <a:rPr lang="en-US" sz="2000" dirty="0" err="1"/>
              <a:t>boolean</a:t>
            </a:r>
            <a:r>
              <a:rPr lang="en-US" sz="2000" dirty="0"/>
              <a:t>[] visited = new </a:t>
            </a:r>
            <a:r>
              <a:rPr lang="en-US" sz="2000" dirty="0" err="1"/>
              <a:t>boolean</a:t>
            </a:r>
            <a:r>
              <a:rPr lang="en-US" sz="2000" dirty="0"/>
              <a:t>[V];</a:t>
            </a:r>
          </a:p>
          <a:p>
            <a:pPr marL="0" indent="0">
              <a:buNone/>
            </a:pPr>
            <a:r>
              <a:rPr lang="en-US" sz="2000" dirty="0"/>
              <a:t>        </a:t>
            </a:r>
            <a:r>
              <a:rPr lang="en-US" sz="2000" dirty="0" err="1"/>
              <a:t>ArrayList</a:t>
            </a:r>
            <a:r>
              <a:rPr lang="en-US" sz="2000" dirty="0"/>
              <a:t>&lt;Integer&gt; res = new </a:t>
            </a:r>
            <a:r>
              <a:rPr lang="en-US" sz="2000" dirty="0" err="1"/>
              <a:t>ArrayList</a:t>
            </a:r>
            <a:r>
              <a:rPr lang="en-US" sz="2000" dirty="0"/>
              <a:t>&lt;&gt;();</a:t>
            </a:r>
          </a:p>
          <a:p>
            <a:pPr marL="0" indent="0">
              <a:buNone/>
            </a:pPr>
            <a:r>
              <a:rPr lang="en-US" sz="2000" dirty="0"/>
              <a:t>        </a:t>
            </a:r>
          </a:p>
          <a:p>
            <a:pPr marL="0" indent="0">
              <a:buNone/>
            </a:pPr>
            <a:r>
              <a:rPr lang="en-US" sz="2000" dirty="0"/>
              <a:t>        int </a:t>
            </a:r>
            <a:r>
              <a:rPr lang="en-US" sz="2000" dirty="0" err="1"/>
              <a:t>src</a:t>
            </a:r>
            <a:r>
              <a:rPr lang="en-US" sz="2000" dirty="0"/>
              <a:t> = 0;</a:t>
            </a:r>
          </a:p>
          <a:p>
            <a:pPr marL="0" indent="0">
              <a:buNone/>
            </a:pPr>
            <a:r>
              <a:rPr lang="en-US" sz="2000" dirty="0"/>
              <a:t>        Queue&lt;Integer&gt; q = new LinkedList&lt;&gt;();</a:t>
            </a:r>
          </a:p>
          <a:p>
            <a:pPr marL="0" indent="0">
              <a:buNone/>
            </a:pPr>
            <a:r>
              <a:rPr lang="en-US" sz="2000" dirty="0"/>
              <a:t>        visited[</a:t>
            </a:r>
            <a:r>
              <a:rPr lang="en-US" sz="2000" dirty="0" err="1"/>
              <a:t>src</a:t>
            </a:r>
            <a:r>
              <a:rPr lang="en-US" sz="2000" dirty="0"/>
              <a:t>] = true;</a:t>
            </a:r>
          </a:p>
          <a:p>
            <a:pPr marL="0" indent="0">
              <a:buNone/>
            </a:pPr>
            <a:r>
              <a:rPr lang="en-US" sz="2000" dirty="0"/>
              <a:t>        </a:t>
            </a:r>
            <a:r>
              <a:rPr lang="en-US" sz="2000" dirty="0" err="1"/>
              <a:t>q.add</a:t>
            </a:r>
            <a:r>
              <a:rPr lang="en-US" sz="2000" dirty="0"/>
              <a:t>(</a:t>
            </a:r>
            <a:r>
              <a:rPr lang="en-US" sz="2000" dirty="0" err="1"/>
              <a:t>src</a:t>
            </a:r>
            <a:r>
              <a:rPr lang="en-US" sz="2000" dirty="0"/>
              <a:t>);</a:t>
            </a:r>
          </a:p>
          <a:p>
            <a:pPr marL="0" indent="0">
              <a:buNone/>
            </a:pPr>
            <a:endParaRPr lang="en-US" sz="2000" dirty="0"/>
          </a:p>
          <a:p>
            <a:pPr marL="0" indent="0">
              <a:buNone/>
            </a:pPr>
            <a:r>
              <a:rPr lang="en-US" sz="2000" dirty="0"/>
              <a:t>        while (!</a:t>
            </a:r>
            <a:r>
              <a:rPr lang="en-US" sz="2000" dirty="0" err="1"/>
              <a:t>q.isEmpty</a:t>
            </a:r>
            <a:r>
              <a:rPr lang="en-US" sz="2000" dirty="0"/>
              <a:t>()) {</a:t>
            </a:r>
          </a:p>
          <a:p>
            <a:pPr marL="0" indent="0">
              <a:buNone/>
            </a:pPr>
            <a:r>
              <a:rPr lang="en-US" sz="2000" dirty="0"/>
              <a:t>            int </a:t>
            </a:r>
            <a:r>
              <a:rPr lang="en-US" sz="2000" dirty="0" err="1"/>
              <a:t>curr</a:t>
            </a:r>
            <a:r>
              <a:rPr lang="en-US" sz="2000" dirty="0"/>
              <a:t> = </a:t>
            </a:r>
            <a:r>
              <a:rPr lang="en-US" sz="2000" dirty="0" err="1"/>
              <a:t>q.poll</a:t>
            </a:r>
            <a:r>
              <a:rPr lang="en-US" sz="2000" dirty="0"/>
              <a:t>();</a:t>
            </a:r>
          </a:p>
          <a:p>
            <a:pPr marL="0" indent="0">
              <a:buNone/>
            </a:pPr>
            <a:r>
              <a:rPr lang="en-US" sz="2000" dirty="0"/>
              <a:t>            </a:t>
            </a:r>
            <a:r>
              <a:rPr lang="en-US" sz="2000" dirty="0" err="1"/>
              <a:t>res.add</a:t>
            </a:r>
            <a:r>
              <a:rPr lang="en-US" sz="2000" dirty="0"/>
              <a:t>(</a:t>
            </a:r>
            <a:r>
              <a:rPr lang="en-US" sz="2000" dirty="0" err="1"/>
              <a:t>curr</a:t>
            </a:r>
            <a:r>
              <a:rPr lang="en-US" sz="2000" dirty="0"/>
              <a:t>);</a:t>
            </a:r>
          </a:p>
        </p:txBody>
      </p:sp>
      <p:sp>
        <p:nvSpPr>
          <p:cNvPr id="4" name="Content Placeholder 2">
            <a:extLst>
              <a:ext uri="{FF2B5EF4-FFF2-40B4-BE49-F238E27FC236}">
                <a16:creationId xmlns:a16="http://schemas.microsoft.com/office/drawing/2014/main" id="{566E35B1-2222-D8F5-E582-EB7BEBCEBFA8}"/>
              </a:ext>
            </a:extLst>
          </p:cNvPr>
          <p:cNvSpPr txBox="1">
            <a:spLocks/>
          </p:cNvSpPr>
          <p:nvPr/>
        </p:nvSpPr>
        <p:spPr>
          <a:xfrm>
            <a:off x="6339840" y="681037"/>
            <a:ext cx="5623560" cy="548068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0" indent="0">
              <a:buNone/>
            </a:pPr>
            <a:r>
              <a:rPr lang="en-US" dirty="0"/>
              <a:t>        </a:t>
            </a:r>
          </a:p>
          <a:p>
            <a:pPr marL="0" indent="0">
              <a:buNone/>
            </a:pPr>
            <a:r>
              <a:rPr lang="en-US" dirty="0"/>
              <a:t>            // visit all the unvisited</a:t>
            </a:r>
          </a:p>
          <a:p>
            <a:pPr marL="0" indent="0">
              <a:buNone/>
            </a:pPr>
            <a:r>
              <a:rPr lang="en-US" dirty="0"/>
              <a:t>            // </a:t>
            </a:r>
            <a:r>
              <a:rPr lang="en-US" dirty="0" err="1"/>
              <a:t>neighbours</a:t>
            </a:r>
            <a:r>
              <a:rPr lang="en-US" dirty="0"/>
              <a:t> of current node</a:t>
            </a:r>
          </a:p>
          <a:p>
            <a:pPr marL="0" indent="0">
              <a:buNone/>
            </a:pPr>
            <a:r>
              <a:rPr lang="en-US" dirty="0"/>
              <a:t>            for (int x : </a:t>
            </a:r>
            <a:r>
              <a:rPr lang="en-US" dirty="0" err="1"/>
              <a:t>adj.get</a:t>
            </a:r>
            <a:r>
              <a:rPr lang="en-US" dirty="0"/>
              <a:t>(</a:t>
            </a:r>
            <a:r>
              <a:rPr lang="en-US" dirty="0" err="1"/>
              <a:t>curr</a:t>
            </a:r>
            <a:r>
              <a:rPr lang="en-US" dirty="0"/>
              <a:t>)) {</a:t>
            </a:r>
          </a:p>
          <a:p>
            <a:pPr marL="0" indent="0">
              <a:buNone/>
            </a:pPr>
            <a:r>
              <a:rPr lang="en-US" dirty="0"/>
              <a:t>                if (!visited[x]) {</a:t>
            </a:r>
          </a:p>
          <a:p>
            <a:pPr marL="0" indent="0">
              <a:buNone/>
            </a:pPr>
            <a:r>
              <a:rPr lang="en-US" dirty="0"/>
              <a:t>                    visited[x] = true;</a:t>
            </a:r>
          </a:p>
          <a:p>
            <a:pPr marL="0" indent="0">
              <a:buNone/>
            </a:pPr>
            <a:r>
              <a:rPr lang="en-US" dirty="0"/>
              <a:t>                    </a:t>
            </a:r>
            <a:r>
              <a:rPr lang="en-US" dirty="0" err="1"/>
              <a:t>q.add</a:t>
            </a:r>
            <a:r>
              <a:rPr lang="en-US" dirty="0"/>
              <a:t>(x);</a:t>
            </a:r>
          </a:p>
          <a:p>
            <a:pPr marL="0" indent="0">
              <a:buNone/>
            </a:pPr>
            <a:r>
              <a:rPr lang="en-US" dirty="0"/>
              <a:t>                }</a:t>
            </a:r>
          </a:p>
          <a:p>
            <a:pPr marL="0" indent="0">
              <a:buNone/>
            </a:pPr>
            <a:r>
              <a:rPr lang="en-US" dirty="0"/>
              <a:t>            }</a:t>
            </a:r>
          </a:p>
          <a:p>
            <a:pPr marL="0" indent="0">
              <a:buNone/>
            </a:pPr>
            <a:r>
              <a:rPr lang="en-US" dirty="0"/>
              <a:t>        }</a:t>
            </a:r>
          </a:p>
          <a:p>
            <a:pPr marL="0" indent="0">
              <a:buNone/>
            </a:pPr>
            <a:r>
              <a:rPr lang="en-US" dirty="0"/>
              <a:t>        </a:t>
            </a:r>
          </a:p>
          <a:p>
            <a:pPr marL="0" indent="0">
              <a:buNone/>
            </a:pPr>
            <a:r>
              <a:rPr lang="en-US" dirty="0"/>
              <a:t>        return res;</a:t>
            </a:r>
          </a:p>
          <a:p>
            <a:pPr marL="0" indent="0">
              <a:buNone/>
            </a:pPr>
            <a:r>
              <a:rPr lang="en-US" dirty="0"/>
              <a:t>    }</a:t>
            </a:r>
          </a:p>
        </p:txBody>
      </p:sp>
    </p:spTree>
    <p:extLst>
      <p:ext uri="{BB962C8B-B14F-4D97-AF65-F5344CB8AC3E}">
        <p14:creationId xmlns:p14="http://schemas.microsoft.com/office/powerpoint/2010/main" val="25255040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965C6-85D7-0844-A438-87DC1C246CF5}"/>
              </a:ext>
            </a:extLst>
          </p:cNvPr>
          <p:cNvSpPr>
            <a:spLocks noGrp="1"/>
          </p:cNvSpPr>
          <p:nvPr>
            <p:ph type="title"/>
          </p:nvPr>
        </p:nvSpPr>
        <p:spPr/>
        <p:txBody>
          <a:bodyPr>
            <a:normAutofit/>
          </a:bodyPr>
          <a:lstStyle/>
          <a:p>
            <a:pPr fontAlgn="base"/>
            <a:r>
              <a:rPr lang="en-IN" b="1" i="0" dirty="0">
                <a:solidFill>
                  <a:srgbClr val="273239"/>
                </a:solidFill>
                <a:effectLst/>
                <a:latin typeface="Nunito" pitchFamily="2" charset="77"/>
              </a:rPr>
              <a:t>BFS of a Disconnected Undirected Graph</a:t>
            </a:r>
            <a:endParaRPr lang="en-US" dirty="0"/>
          </a:p>
        </p:txBody>
      </p:sp>
      <p:sp>
        <p:nvSpPr>
          <p:cNvPr id="3" name="Content Placeholder 2">
            <a:extLst>
              <a:ext uri="{FF2B5EF4-FFF2-40B4-BE49-F238E27FC236}">
                <a16:creationId xmlns:a16="http://schemas.microsoft.com/office/drawing/2014/main" id="{A5DCBC27-325E-FA9E-5F8B-CF68E8A21709}"/>
              </a:ext>
            </a:extLst>
          </p:cNvPr>
          <p:cNvSpPr>
            <a:spLocks noGrp="1"/>
          </p:cNvSpPr>
          <p:nvPr>
            <p:ph idx="1"/>
          </p:nvPr>
        </p:nvSpPr>
        <p:spPr/>
        <p:txBody>
          <a:bodyPr/>
          <a:lstStyle/>
          <a:p>
            <a:pPr rtl="0" fontAlgn="base"/>
            <a:r>
              <a:rPr lang="en-IN" b="0" dirty="0">
                <a:effectLst/>
                <a:latin typeface="Nunito" pitchFamily="2" charset="77"/>
              </a:rPr>
              <a:t>In a disconnected graph, some vertices may not be reachable from a single source. </a:t>
            </a:r>
          </a:p>
          <a:p>
            <a:pPr rtl="0" fontAlgn="base"/>
            <a:r>
              <a:rPr lang="en-IN" b="0" dirty="0">
                <a:effectLst/>
                <a:latin typeface="Nunito" pitchFamily="2" charset="77"/>
              </a:rPr>
              <a:t>To ensure all vertices are visited in BFS traversal, we iterate through each vertex, and if any vertex is unvisited, we perform a BFS starting from that vertex being the source. </a:t>
            </a:r>
          </a:p>
          <a:p>
            <a:pPr rtl="0" fontAlgn="base"/>
            <a:r>
              <a:rPr lang="en-IN" b="0" dirty="0">
                <a:effectLst/>
                <a:latin typeface="Nunito" pitchFamily="2" charset="77"/>
              </a:rPr>
              <a:t>This way, BFS explores every connected component of the graph.</a:t>
            </a:r>
          </a:p>
          <a:p>
            <a:br>
              <a:rPr lang="en-IN" dirty="0"/>
            </a:br>
            <a:endParaRPr lang="en-US" dirty="0"/>
          </a:p>
        </p:txBody>
      </p:sp>
    </p:spTree>
    <p:extLst>
      <p:ext uri="{BB962C8B-B14F-4D97-AF65-F5344CB8AC3E}">
        <p14:creationId xmlns:p14="http://schemas.microsoft.com/office/powerpoint/2010/main" val="7811864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CBAB61-B11F-F66C-4976-86180A6BECC1}"/>
              </a:ext>
            </a:extLst>
          </p:cNvPr>
          <p:cNvSpPr>
            <a:spLocks noGrp="1"/>
          </p:cNvSpPr>
          <p:nvPr>
            <p:ph idx="1"/>
          </p:nvPr>
        </p:nvSpPr>
        <p:spPr>
          <a:xfrm>
            <a:off x="365760" y="228600"/>
            <a:ext cx="5486400" cy="6446520"/>
          </a:xfrm>
        </p:spPr>
        <p:txBody>
          <a:bodyPr>
            <a:normAutofit fontScale="55000" lnSpcReduction="20000"/>
          </a:bodyPr>
          <a:lstStyle/>
          <a:p>
            <a:pPr marL="0" indent="0">
              <a:buNone/>
            </a:pPr>
            <a:r>
              <a:rPr lang="en-US" dirty="0"/>
              <a:t>void </a:t>
            </a:r>
            <a:r>
              <a:rPr lang="en-US" dirty="0" err="1"/>
              <a:t>bfsConnected</a:t>
            </a:r>
            <a:r>
              <a:rPr lang="en-US" dirty="0"/>
              <a:t>(</a:t>
            </a:r>
            <a:r>
              <a:rPr lang="en-US" dirty="0" err="1"/>
              <a:t>ArrayList</a:t>
            </a:r>
            <a:r>
              <a:rPr lang="en-US" dirty="0"/>
              <a:t>&lt;</a:t>
            </a:r>
            <a:r>
              <a:rPr lang="en-US" dirty="0" err="1"/>
              <a:t>ArrayList</a:t>
            </a:r>
            <a:r>
              <a:rPr lang="en-US" dirty="0"/>
              <a:t>&lt;Integer&gt;&gt; adj, int </a:t>
            </a:r>
            <a:r>
              <a:rPr lang="en-US" dirty="0" err="1"/>
              <a:t>src</a:t>
            </a:r>
            <a:r>
              <a:rPr lang="en-US" dirty="0"/>
              <a:t>, </a:t>
            </a:r>
            <a:r>
              <a:rPr lang="en-US" dirty="0" err="1"/>
              <a:t>boolean</a:t>
            </a:r>
            <a:r>
              <a:rPr lang="en-US" dirty="0"/>
              <a:t>[] visited, </a:t>
            </a:r>
            <a:r>
              <a:rPr lang="en-US" dirty="0" err="1"/>
              <a:t>ArrayList</a:t>
            </a:r>
            <a:r>
              <a:rPr lang="en-US" dirty="0"/>
              <a:t>&lt;Integer&gt; res) {</a:t>
            </a:r>
          </a:p>
          <a:p>
            <a:pPr marL="0" indent="0">
              <a:buNone/>
            </a:pPr>
            <a:r>
              <a:rPr lang="en-US" dirty="0"/>
              <a:t>        Queue&lt;Integer&gt; q = new LinkedList&lt;&gt;();</a:t>
            </a:r>
          </a:p>
          <a:p>
            <a:pPr marL="0" indent="0">
              <a:buNone/>
            </a:pPr>
            <a:r>
              <a:rPr lang="en-US" dirty="0"/>
              <a:t>        visited[</a:t>
            </a:r>
            <a:r>
              <a:rPr lang="en-US" dirty="0" err="1"/>
              <a:t>src</a:t>
            </a:r>
            <a:r>
              <a:rPr lang="en-US" dirty="0"/>
              <a:t>] = true;</a:t>
            </a:r>
          </a:p>
          <a:p>
            <a:pPr marL="0" indent="0">
              <a:buNone/>
            </a:pPr>
            <a:r>
              <a:rPr lang="en-US" dirty="0"/>
              <a:t>        </a:t>
            </a:r>
            <a:r>
              <a:rPr lang="en-US" dirty="0" err="1"/>
              <a:t>q.add</a:t>
            </a:r>
            <a:r>
              <a:rPr lang="en-US" dirty="0"/>
              <a:t>(</a:t>
            </a:r>
            <a:r>
              <a:rPr lang="en-US" dirty="0" err="1"/>
              <a:t>src</a:t>
            </a:r>
            <a:r>
              <a:rPr lang="en-US" dirty="0"/>
              <a:t>);</a:t>
            </a:r>
          </a:p>
          <a:p>
            <a:pPr marL="0" indent="0">
              <a:buNone/>
            </a:pPr>
            <a:endParaRPr lang="en-US" dirty="0"/>
          </a:p>
          <a:p>
            <a:pPr marL="0" indent="0">
              <a:buNone/>
            </a:pPr>
            <a:r>
              <a:rPr lang="en-US" dirty="0"/>
              <a:t>        while (!</a:t>
            </a:r>
            <a:r>
              <a:rPr lang="en-US" dirty="0" err="1"/>
              <a:t>q.isEmpty</a:t>
            </a:r>
            <a:r>
              <a:rPr lang="en-US" dirty="0"/>
              <a:t>()) {</a:t>
            </a:r>
          </a:p>
          <a:p>
            <a:pPr marL="0" indent="0">
              <a:buNone/>
            </a:pPr>
            <a:r>
              <a:rPr lang="en-US" dirty="0"/>
              <a:t>            int </a:t>
            </a:r>
            <a:r>
              <a:rPr lang="en-US" dirty="0" err="1"/>
              <a:t>curr</a:t>
            </a:r>
            <a:r>
              <a:rPr lang="en-US" dirty="0"/>
              <a:t> = </a:t>
            </a:r>
            <a:r>
              <a:rPr lang="en-US" dirty="0" err="1"/>
              <a:t>q.poll</a:t>
            </a:r>
            <a:r>
              <a:rPr lang="en-US" dirty="0"/>
              <a:t>();</a:t>
            </a:r>
          </a:p>
          <a:p>
            <a:pPr marL="0" indent="0">
              <a:buNone/>
            </a:pPr>
            <a:r>
              <a:rPr lang="en-US" dirty="0"/>
              <a:t>            </a:t>
            </a:r>
            <a:r>
              <a:rPr lang="en-US" dirty="0" err="1"/>
              <a:t>res.add</a:t>
            </a:r>
            <a:r>
              <a:rPr lang="en-US" dirty="0"/>
              <a:t>(</a:t>
            </a:r>
            <a:r>
              <a:rPr lang="en-US" dirty="0" err="1"/>
              <a:t>curr</a:t>
            </a:r>
            <a:r>
              <a:rPr lang="en-US" dirty="0"/>
              <a:t>);</a:t>
            </a:r>
          </a:p>
          <a:p>
            <a:pPr marL="0" indent="0">
              <a:buNone/>
            </a:pPr>
            <a:endParaRPr lang="en-US" dirty="0"/>
          </a:p>
          <a:p>
            <a:pPr marL="0" indent="0">
              <a:buNone/>
            </a:pPr>
            <a:r>
              <a:rPr lang="en-US" dirty="0"/>
              <a:t>            // visit all the unvisited</a:t>
            </a:r>
          </a:p>
          <a:p>
            <a:pPr marL="0" indent="0">
              <a:buNone/>
            </a:pPr>
            <a:r>
              <a:rPr lang="en-US" dirty="0"/>
              <a:t>            // </a:t>
            </a:r>
            <a:r>
              <a:rPr lang="en-US" dirty="0" err="1"/>
              <a:t>neighbours</a:t>
            </a:r>
            <a:r>
              <a:rPr lang="en-US" dirty="0"/>
              <a:t> of current node</a:t>
            </a:r>
          </a:p>
          <a:p>
            <a:pPr marL="0" indent="0">
              <a:buNone/>
            </a:pPr>
            <a:r>
              <a:rPr lang="en-US" dirty="0"/>
              <a:t>            for (int x : </a:t>
            </a:r>
            <a:r>
              <a:rPr lang="en-US" dirty="0" err="1"/>
              <a:t>adj.get</a:t>
            </a:r>
            <a:r>
              <a:rPr lang="en-US" dirty="0"/>
              <a:t>(</a:t>
            </a:r>
            <a:r>
              <a:rPr lang="en-US" dirty="0" err="1"/>
              <a:t>curr</a:t>
            </a:r>
            <a:r>
              <a:rPr lang="en-US" dirty="0"/>
              <a:t>)) {</a:t>
            </a:r>
          </a:p>
          <a:p>
            <a:pPr marL="0" indent="0">
              <a:buNone/>
            </a:pPr>
            <a:r>
              <a:rPr lang="en-US" dirty="0"/>
              <a:t>                if (!visited[x]) {</a:t>
            </a:r>
          </a:p>
          <a:p>
            <a:pPr marL="0" indent="0">
              <a:buNone/>
            </a:pPr>
            <a:r>
              <a:rPr lang="en-US" dirty="0"/>
              <a:t>                    visited[x] = true;</a:t>
            </a:r>
          </a:p>
          <a:p>
            <a:pPr marL="0" indent="0">
              <a:buNone/>
            </a:pPr>
            <a:r>
              <a:rPr lang="en-US" dirty="0"/>
              <a:t>                    </a:t>
            </a:r>
            <a:r>
              <a:rPr lang="en-US" dirty="0" err="1"/>
              <a:t>q.add</a:t>
            </a:r>
            <a:r>
              <a:rPr lang="en-US" dirty="0"/>
              <a:t>(x);</a:t>
            </a:r>
          </a:p>
          <a:p>
            <a:pPr marL="0" indent="0">
              <a:buNone/>
            </a:pPr>
            <a:r>
              <a:rPr lang="en-US" dirty="0"/>
              <a:t>                }</a:t>
            </a:r>
          </a:p>
          <a:p>
            <a:pPr marL="0" indent="0">
              <a:buNone/>
            </a:pPr>
            <a:r>
              <a:rPr lang="en-US" dirty="0"/>
              <a:t>            }</a:t>
            </a:r>
          </a:p>
          <a:p>
            <a:pPr marL="0" indent="0">
              <a:buNone/>
            </a:pPr>
            <a:r>
              <a:rPr lang="en-US" dirty="0"/>
              <a:t>        }</a:t>
            </a:r>
          </a:p>
          <a:p>
            <a:pPr marL="0" indent="0">
              <a:buNone/>
            </a:pPr>
            <a:r>
              <a:rPr lang="en-US" dirty="0"/>
              <a:t>    }</a:t>
            </a:r>
          </a:p>
          <a:p>
            <a:pPr marL="0" indent="0">
              <a:buNone/>
            </a:pPr>
            <a:endParaRPr lang="en-US" dirty="0"/>
          </a:p>
          <a:p>
            <a:pPr marL="0" indent="0">
              <a:buNone/>
            </a:pPr>
            <a:r>
              <a:rPr lang="en-US" dirty="0"/>
              <a:t>   </a:t>
            </a:r>
          </a:p>
        </p:txBody>
      </p:sp>
      <p:sp>
        <p:nvSpPr>
          <p:cNvPr id="4" name="Content Placeholder 2">
            <a:extLst>
              <a:ext uri="{FF2B5EF4-FFF2-40B4-BE49-F238E27FC236}">
                <a16:creationId xmlns:a16="http://schemas.microsoft.com/office/drawing/2014/main" id="{B5EE485B-ACA9-E00C-01B0-1F7D6D72567B}"/>
              </a:ext>
            </a:extLst>
          </p:cNvPr>
          <p:cNvSpPr txBox="1">
            <a:spLocks/>
          </p:cNvSpPr>
          <p:nvPr/>
        </p:nvSpPr>
        <p:spPr>
          <a:xfrm>
            <a:off x="5364480" y="243840"/>
            <a:ext cx="6629400" cy="64465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a:p>
            <a:pPr marL="0" indent="0">
              <a:buNone/>
            </a:pPr>
            <a:endParaRPr lang="en-US" dirty="0"/>
          </a:p>
          <a:p>
            <a:pPr marL="0" indent="0">
              <a:buNone/>
            </a:pPr>
            <a:endParaRPr lang="en-US" dirty="0"/>
          </a:p>
          <a:p>
            <a:pPr marL="0" indent="0">
              <a:lnSpc>
                <a:spcPct val="80000"/>
              </a:lnSpc>
              <a:buNone/>
            </a:pPr>
            <a:r>
              <a:rPr lang="en-US" dirty="0"/>
              <a:t>    </a:t>
            </a:r>
            <a:r>
              <a:rPr lang="en-US" sz="1800" dirty="0"/>
              <a:t>// BFS for all components (handles disconnected graphs)</a:t>
            </a:r>
          </a:p>
          <a:p>
            <a:pPr marL="0" indent="0">
              <a:lnSpc>
                <a:spcPct val="80000"/>
              </a:lnSpc>
              <a:buNone/>
            </a:pPr>
            <a:r>
              <a:rPr lang="en-US" sz="1800" dirty="0" err="1"/>
              <a:t>ArrayList</a:t>
            </a:r>
            <a:r>
              <a:rPr lang="en-US" sz="1800" dirty="0"/>
              <a:t>&lt;Integer&gt; </a:t>
            </a:r>
            <a:r>
              <a:rPr lang="en-US" sz="1800" dirty="0" err="1"/>
              <a:t>bfs</a:t>
            </a:r>
            <a:r>
              <a:rPr lang="en-US" sz="1800" dirty="0"/>
              <a:t>(</a:t>
            </a:r>
            <a:r>
              <a:rPr lang="en-US" sz="1800" dirty="0" err="1"/>
              <a:t>ArrayList</a:t>
            </a:r>
            <a:r>
              <a:rPr lang="en-US" sz="1800" dirty="0"/>
              <a:t>&lt;</a:t>
            </a:r>
            <a:r>
              <a:rPr lang="en-US" sz="1800" dirty="0" err="1"/>
              <a:t>ArrayList</a:t>
            </a:r>
            <a:r>
              <a:rPr lang="en-US" sz="1800" dirty="0"/>
              <a:t>&lt;Integer&gt;&gt; adj) {</a:t>
            </a:r>
          </a:p>
          <a:p>
            <a:pPr marL="0" indent="0">
              <a:lnSpc>
                <a:spcPct val="80000"/>
              </a:lnSpc>
              <a:buNone/>
            </a:pPr>
            <a:r>
              <a:rPr lang="en-US" sz="1800" dirty="0"/>
              <a:t>        int V = </a:t>
            </a:r>
            <a:r>
              <a:rPr lang="en-US" sz="1800" dirty="0" err="1"/>
              <a:t>adj.size</a:t>
            </a:r>
            <a:r>
              <a:rPr lang="en-US" sz="1800" dirty="0"/>
              <a:t>();</a:t>
            </a:r>
          </a:p>
          <a:p>
            <a:pPr marL="0" indent="0">
              <a:lnSpc>
                <a:spcPct val="80000"/>
              </a:lnSpc>
              <a:buNone/>
            </a:pPr>
            <a:r>
              <a:rPr lang="en-US" sz="1800" dirty="0"/>
              <a:t>        </a:t>
            </a:r>
            <a:r>
              <a:rPr lang="en-US" sz="1800" dirty="0" err="1"/>
              <a:t>boolean</a:t>
            </a:r>
            <a:r>
              <a:rPr lang="en-US" sz="1800" dirty="0"/>
              <a:t>[] visited = new </a:t>
            </a:r>
            <a:r>
              <a:rPr lang="en-US" sz="1800" dirty="0" err="1"/>
              <a:t>boolean</a:t>
            </a:r>
            <a:r>
              <a:rPr lang="en-US" sz="1800" dirty="0"/>
              <a:t>[V];</a:t>
            </a:r>
          </a:p>
          <a:p>
            <a:pPr marL="0" indent="0">
              <a:lnSpc>
                <a:spcPct val="80000"/>
              </a:lnSpc>
              <a:buNone/>
            </a:pPr>
            <a:r>
              <a:rPr lang="en-US" sz="1800" dirty="0"/>
              <a:t>        </a:t>
            </a:r>
            <a:r>
              <a:rPr lang="en-US" sz="1800" dirty="0" err="1"/>
              <a:t>ArrayList</a:t>
            </a:r>
            <a:r>
              <a:rPr lang="en-US" sz="1800" dirty="0"/>
              <a:t>&lt;Integer&gt; res = new </a:t>
            </a:r>
            <a:r>
              <a:rPr lang="en-US" sz="1800" dirty="0" err="1"/>
              <a:t>ArrayList</a:t>
            </a:r>
            <a:r>
              <a:rPr lang="en-US" sz="1800" dirty="0"/>
              <a:t>&lt;&gt;();</a:t>
            </a:r>
          </a:p>
          <a:p>
            <a:pPr marL="0" indent="0">
              <a:lnSpc>
                <a:spcPct val="80000"/>
              </a:lnSpc>
              <a:buNone/>
            </a:pPr>
            <a:endParaRPr lang="en-US" sz="1800" dirty="0"/>
          </a:p>
          <a:p>
            <a:pPr marL="0" indent="0">
              <a:lnSpc>
                <a:spcPct val="80000"/>
              </a:lnSpc>
              <a:buNone/>
            </a:pPr>
            <a:r>
              <a:rPr lang="en-US" sz="1800" dirty="0"/>
              <a:t>        for (int </a:t>
            </a:r>
            <a:r>
              <a:rPr lang="en-US" sz="1800" dirty="0" err="1"/>
              <a:t>i</a:t>
            </a:r>
            <a:r>
              <a:rPr lang="en-US" sz="1800" dirty="0"/>
              <a:t> = 0; </a:t>
            </a:r>
            <a:r>
              <a:rPr lang="en-US" sz="1800" dirty="0" err="1"/>
              <a:t>i</a:t>
            </a:r>
            <a:r>
              <a:rPr lang="en-US" sz="1800" dirty="0"/>
              <a:t> &lt; V; </a:t>
            </a:r>
            <a:r>
              <a:rPr lang="en-US" sz="1800" dirty="0" err="1"/>
              <a:t>i</a:t>
            </a:r>
            <a:r>
              <a:rPr lang="en-US" sz="1800" dirty="0"/>
              <a:t>++) {</a:t>
            </a:r>
          </a:p>
          <a:p>
            <a:pPr marL="0" indent="0">
              <a:lnSpc>
                <a:spcPct val="80000"/>
              </a:lnSpc>
              <a:buNone/>
            </a:pPr>
            <a:r>
              <a:rPr lang="en-US" sz="1800" dirty="0"/>
              <a:t>            if (!visited[</a:t>
            </a:r>
            <a:r>
              <a:rPr lang="en-US" sz="1800" dirty="0" err="1"/>
              <a:t>i</a:t>
            </a:r>
            <a:r>
              <a:rPr lang="en-US" sz="1800" dirty="0"/>
              <a:t>])</a:t>
            </a:r>
          </a:p>
          <a:p>
            <a:pPr marL="0" indent="0">
              <a:lnSpc>
                <a:spcPct val="80000"/>
              </a:lnSpc>
              <a:buNone/>
            </a:pPr>
            <a:r>
              <a:rPr lang="en-US" sz="1800" dirty="0"/>
              <a:t>                </a:t>
            </a:r>
            <a:r>
              <a:rPr lang="en-US" sz="1800" dirty="0" err="1"/>
              <a:t>bfsConnected</a:t>
            </a:r>
            <a:r>
              <a:rPr lang="en-US" sz="1800" dirty="0"/>
              <a:t>(adj, </a:t>
            </a:r>
            <a:r>
              <a:rPr lang="en-US" sz="1800" dirty="0" err="1"/>
              <a:t>i</a:t>
            </a:r>
            <a:r>
              <a:rPr lang="en-US" sz="1800" dirty="0"/>
              <a:t>, visited, res);</a:t>
            </a:r>
          </a:p>
          <a:p>
            <a:pPr marL="0" indent="0">
              <a:lnSpc>
                <a:spcPct val="80000"/>
              </a:lnSpc>
              <a:buNone/>
            </a:pPr>
            <a:r>
              <a:rPr lang="en-US" sz="1800" dirty="0"/>
              <a:t>        }</a:t>
            </a:r>
          </a:p>
          <a:p>
            <a:pPr marL="0" indent="0">
              <a:lnSpc>
                <a:spcPct val="80000"/>
              </a:lnSpc>
              <a:buNone/>
            </a:pPr>
            <a:r>
              <a:rPr lang="en-US" sz="1800" dirty="0"/>
              <a:t>        return res;</a:t>
            </a:r>
          </a:p>
          <a:p>
            <a:pPr marL="0" indent="0">
              <a:lnSpc>
                <a:spcPct val="80000"/>
              </a:lnSpc>
              <a:buNone/>
            </a:pPr>
            <a:r>
              <a:rPr lang="en-US" sz="1800" dirty="0"/>
              <a:t>    }</a:t>
            </a:r>
          </a:p>
        </p:txBody>
      </p:sp>
    </p:spTree>
    <p:extLst>
      <p:ext uri="{BB962C8B-B14F-4D97-AF65-F5344CB8AC3E}">
        <p14:creationId xmlns:p14="http://schemas.microsoft.com/office/powerpoint/2010/main" val="21765545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48068-9D45-D0EB-8D61-D2FF0C4057ED}"/>
              </a:ext>
            </a:extLst>
          </p:cNvPr>
          <p:cNvSpPr>
            <a:spLocks noGrp="1"/>
          </p:cNvSpPr>
          <p:nvPr>
            <p:ph type="title"/>
          </p:nvPr>
        </p:nvSpPr>
        <p:spPr/>
        <p:txBody>
          <a:bodyPr/>
          <a:lstStyle/>
          <a:p>
            <a:r>
              <a:rPr lang="en-IN" b="1" i="0" dirty="0">
                <a:solidFill>
                  <a:srgbClr val="273239"/>
                </a:solidFill>
                <a:effectLst/>
                <a:latin typeface="Nunito" pitchFamily="2" charset="77"/>
              </a:rPr>
              <a:t>Applications of BFS in Graphs</a:t>
            </a:r>
            <a:endParaRPr lang="en-US" dirty="0"/>
          </a:p>
        </p:txBody>
      </p:sp>
      <p:sp>
        <p:nvSpPr>
          <p:cNvPr id="3" name="Content Placeholder 2">
            <a:extLst>
              <a:ext uri="{FF2B5EF4-FFF2-40B4-BE49-F238E27FC236}">
                <a16:creationId xmlns:a16="http://schemas.microsoft.com/office/drawing/2014/main" id="{1D00A396-FBD5-B2E8-ED70-7807E9A5C269}"/>
              </a:ext>
            </a:extLst>
          </p:cNvPr>
          <p:cNvSpPr>
            <a:spLocks noGrp="1"/>
          </p:cNvSpPr>
          <p:nvPr>
            <p:ph idx="1"/>
          </p:nvPr>
        </p:nvSpPr>
        <p:spPr/>
        <p:txBody>
          <a:bodyPr>
            <a:normAutofit fontScale="47500" lnSpcReduction="20000"/>
          </a:bodyPr>
          <a:lstStyle/>
          <a:p>
            <a:pPr algn="l" fontAlgn="base"/>
            <a:r>
              <a:rPr lang="en-IN" b="1" i="0" dirty="0">
                <a:solidFill>
                  <a:srgbClr val="273239"/>
                </a:solidFill>
                <a:effectLst/>
                <a:latin typeface="Nunito" pitchFamily="2" charset="77"/>
              </a:rPr>
              <a:t>1. Shortest Path and Minimum Spanning Tree for unweighted graph:</a:t>
            </a:r>
            <a:r>
              <a:rPr lang="en-IN" b="0" i="0" dirty="0">
                <a:solidFill>
                  <a:srgbClr val="273239"/>
                </a:solidFill>
                <a:effectLst/>
                <a:latin typeface="Nunito" pitchFamily="2" charset="77"/>
              </a:rPr>
              <a:t> In an unweighted graph, the shortest path is the path with the least number of edges. With Breadth First, we always reach a vertex from a given source using the minimum number of edges. Also, in the case of unweighted graphs, any spanning tree is Minimum Spanning Tree and we can use either Depth or Breadth first traversal for finding a spanning tree. </a:t>
            </a:r>
          </a:p>
          <a:p>
            <a:pPr algn="l" fontAlgn="base"/>
            <a:r>
              <a:rPr lang="en-IN" b="1" i="0" dirty="0">
                <a:solidFill>
                  <a:srgbClr val="273239"/>
                </a:solidFill>
                <a:effectLst/>
                <a:latin typeface="Nunito" pitchFamily="2" charset="77"/>
              </a:rPr>
              <a:t>2. Minimum Spanning Tree for weighted graphs: </a:t>
            </a:r>
            <a:r>
              <a:rPr lang="en-IN" b="0" i="0" dirty="0">
                <a:solidFill>
                  <a:srgbClr val="273239"/>
                </a:solidFill>
                <a:effectLst/>
                <a:latin typeface="Nunito" pitchFamily="2" charset="77"/>
              </a:rPr>
              <a:t>We can also find Minimum Spanning Tree for weighted graphs using BFT, but the condition is that the weight should be non-negative and the same for each pair of vertices.</a:t>
            </a:r>
          </a:p>
          <a:p>
            <a:pPr algn="l" fontAlgn="base"/>
            <a:r>
              <a:rPr lang="en-IN" b="1" i="0" dirty="0">
                <a:solidFill>
                  <a:srgbClr val="273239"/>
                </a:solidFill>
                <a:effectLst/>
                <a:latin typeface="Nunito" pitchFamily="2" charset="77"/>
              </a:rPr>
              <a:t>3. Peer-to-Peer Networks:</a:t>
            </a:r>
            <a:r>
              <a:rPr lang="en-IN" b="0" i="0" dirty="0">
                <a:solidFill>
                  <a:srgbClr val="273239"/>
                </a:solidFill>
                <a:effectLst/>
                <a:latin typeface="Nunito" pitchFamily="2" charset="77"/>
              </a:rPr>
              <a:t> In Peer-to-Peer Networks like BitTorrent, Breadth First Search is used to find all </a:t>
            </a:r>
            <a:r>
              <a:rPr lang="en-IN" b="0" i="0" dirty="0" err="1">
                <a:solidFill>
                  <a:srgbClr val="273239"/>
                </a:solidFill>
                <a:effectLst/>
                <a:latin typeface="Nunito" pitchFamily="2" charset="77"/>
              </a:rPr>
              <a:t>neighbor</a:t>
            </a:r>
            <a:r>
              <a:rPr lang="en-IN" b="0" i="0" dirty="0">
                <a:solidFill>
                  <a:srgbClr val="273239"/>
                </a:solidFill>
                <a:effectLst/>
                <a:latin typeface="Nunito" pitchFamily="2" charset="77"/>
              </a:rPr>
              <a:t> nodes. </a:t>
            </a:r>
          </a:p>
          <a:p>
            <a:pPr algn="l" fontAlgn="base"/>
            <a:r>
              <a:rPr lang="en-IN" b="1" i="0" dirty="0">
                <a:solidFill>
                  <a:srgbClr val="273239"/>
                </a:solidFill>
                <a:effectLst/>
                <a:latin typeface="Nunito" pitchFamily="2" charset="77"/>
              </a:rPr>
              <a:t>4. Crawlers in Search Engines:</a:t>
            </a:r>
            <a:r>
              <a:rPr lang="en-IN" b="0" i="0" dirty="0">
                <a:solidFill>
                  <a:srgbClr val="273239"/>
                </a:solidFill>
                <a:effectLst/>
                <a:latin typeface="Nunito" pitchFamily="2" charset="77"/>
              </a:rPr>
              <a:t> Crawlers build an index using Breadth First. The idea is to start from the source page and follow all links from the source and keep doing the same. Depth First Traversal can also be used for crawlers, but the advantage of Breadth First Traversal is, the depth or levels of the built tree can be limited.</a:t>
            </a:r>
          </a:p>
          <a:p>
            <a:pPr algn="l" fontAlgn="base"/>
            <a:r>
              <a:rPr lang="en-IN" b="1" i="0" dirty="0">
                <a:solidFill>
                  <a:srgbClr val="273239"/>
                </a:solidFill>
                <a:effectLst/>
                <a:latin typeface="Nunito" pitchFamily="2" charset="77"/>
              </a:rPr>
              <a:t>5. Social Networking Websites: </a:t>
            </a:r>
            <a:r>
              <a:rPr lang="en-IN" b="0" i="0" dirty="0">
                <a:solidFill>
                  <a:srgbClr val="273239"/>
                </a:solidFill>
                <a:effectLst/>
                <a:latin typeface="Nunito" pitchFamily="2" charset="77"/>
              </a:rPr>
              <a:t>In social networks, we can find people within a given distance 'k' from a person using Breadth First Search till 'k' levels.</a:t>
            </a:r>
          </a:p>
          <a:p>
            <a:pPr algn="l" fontAlgn="base"/>
            <a:r>
              <a:rPr lang="en-IN" b="1" i="0" dirty="0">
                <a:solidFill>
                  <a:srgbClr val="273239"/>
                </a:solidFill>
                <a:effectLst/>
                <a:latin typeface="Nunito" pitchFamily="2" charset="77"/>
              </a:rPr>
              <a:t>6. GPS Navigation systems:</a:t>
            </a:r>
            <a:r>
              <a:rPr lang="en-IN" b="0" i="0" dirty="0">
                <a:solidFill>
                  <a:srgbClr val="273239"/>
                </a:solidFill>
                <a:effectLst/>
                <a:latin typeface="Nunito" pitchFamily="2" charset="77"/>
              </a:rPr>
              <a:t> Breadth First Search is used to find all </a:t>
            </a:r>
            <a:r>
              <a:rPr lang="en-IN" b="0" i="0" dirty="0" err="1">
                <a:solidFill>
                  <a:srgbClr val="273239"/>
                </a:solidFill>
                <a:effectLst/>
                <a:latin typeface="Nunito" pitchFamily="2" charset="77"/>
              </a:rPr>
              <a:t>neighboring</a:t>
            </a:r>
            <a:r>
              <a:rPr lang="en-IN" b="0" i="0" dirty="0">
                <a:solidFill>
                  <a:srgbClr val="273239"/>
                </a:solidFill>
                <a:effectLst/>
                <a:latin typeface="Nunito" pitchFamily="2" charset="77"/>
              </a:rPr>
              <a:t> locations.</a:t>
            </a:r>
          </a:p>
          <a:p>
            <a:pPr algn="l" fontAlgn="base"/>
            <a:r>
              <a:rPr lang="en-IN" b="1" i="0" dirty="0">
                <a:solidFill>
                  <a:srgbClr val="273239"/>
                </a:solidFill>
                <a:effectLst/>
                <a:latin typeface="Nunito" pitchFamily="2" charset="77"/>
              </a:rPr>
              <a:t>7. Broadcasting in Network:</a:t>
            </a:r>
            <a:r>
              <a:rPr lang="en-IN" b="0" i="0" dirty="0">
                <a:solidFill>
                  <a:srgbClr val="273239"/>
                </a:solidFill>
                <a:effectLst/>
                <a:latin typeface="Nunito" pitchFamily="2" charset="77"/>
              </a:rPr>
              <a:t> In networks, a broadcasted packet follows Breadth First Search to reach all nodes.</a:t>
            </a:r>
          </a:p>
          <a:p>
            <a:pPr algn="l" fontAlgn="base"/>
            <a:r>
              <a:rPr lang="en-IN" b="1" i="0" dirty="0">
                <a:solidFill>
                  <a:srgbClr val="273239"/>
                </a:solidFill>
                <a:effectLst/>
                <a:latin typeface="Nunito" pitchFamily="2" charset="77"/>
              </a:rPr>
              <a:t>8. In Garbage Collection:</a:t>
            </a:r>
            <a:r>
              <a:rPr lang="en-IN" b="0" i="0" dirty="0">
                <a:solidFill>
                  <a:srgbClr val="273239"/>
                </a:solidFill>
                <a:effectLst/>
                <a:latin typeface="Nunito" pitchFamily="2" charset="77"/>
              </a:rPr>
              <a:t> Breadth First Search is used in copying garbage collection using </a:t>
            </a:r>
            <a:r>
              <a:rPr lang="en-IN" b="1" i="0" dirty="0">
                <a:solidFill>
                  <a:srgbClr val="273239"/>
                </a:solidFill>
                <a:effectLst/>
                <a:latin typeface="Nunito" pitchFamily="2" charset="77"/>
              </a:rPr>
              <a:t>Cheney's algorithm</a:t>
            </a:r>
            <a:r>
              <a:rPr lang="en-IN" b="0" i="0" dirty="0">
                <a:solidFill>
                  <a:srgbClr val="273239"/>
                </a:solidFill>
                <a:effectLst/>
                <a:latin typeface="Nunito" pitchFamily="2" charset="77"/>
              </a:rPr>
              <a:t>. Breadth First Search is preferred over Depth First Search because of a better locality of reference.</a:t>
            </a:r>
          </a:p>
          <a:p>
            <a:pPr algn="l" fontAlgn="base"/>
            <a:r>
              <a:rPr lang="en-IN" b="1" i="0" dirty="0">
                <a:solidFill>
                  <a:srgbClr val="273239"/>
                </a:solidFill>
                <a:effectLst/>
                <a:latin typeface="Nunito" pitchFamily="2" charset="77"/>
              </a:rPr>
              <a:t>9. </a:t>
            </a:r>
            <a:r>
              <a:rPr lang="en-IN" b="1" i="0" u="sng" dirty="0">
                <a:solidFill>
                  <a:srgbClr val="357960"/>
                </a:solidFill>
                <a:effectLst/>
                <a:latin typeface="Nunito" pitchFamily="2" charset="77"/>
                <a:hlinkClick r:id="rId2"/>
              </a:rPr>
              <a:t>Cycle detection in undirected graph:</a:t>
            </a:r>
            <a:r>
              <a:rPr lang="en-IN" b="0" i="0" dirty="0">
                <a:solidFill>
                  <a:srgbClr val="273239"/>
                </a:solidFill>
                <a:effectLst/>
                <a:latin typeface="Nunito" pitchFamily="2" charset="77"/>
              </a:rPr>
              <a:t> In undirected graphs, either Breadth First Search or Depth First Search can be used to detect a cycle. We can use </a:t>
            </a:r>
            <a:r>
              <a:rPr lang="en-IN" b="0" i="0" u="sng" dirty="0">
                <a:solidFill>
                  <a:srgbClr val="357960"/>
                </a:solidFill>
                <a:effectLst/>
                <a:latin typeface="Nunito" pitchFamily="2" charset="77"/>
                <a:hlinkClick r:id="rId3"/>
              </a:rPr>
              <a:t>BFS to detect cycle in a directed graph</a:t>
            </a:r>
            <a:r>
              <a:rPr lang="en-IN" b="0" i="0" dirty="0">
                <a:solidFill>
                  <a:srgbClr val="273239"/>
                </a:solidFill>
                <a:effectLst/>
                <a:latin typeface="Nunito" pitchFamily="2" charset="77"/>
              </a:rPr>
              <a:t> also.</a:t>
            </a:r>
          </a:p>
          <a:p>
            <a:pPr algn="l" fontAlgn="base"/>
            <a:r>
              <a:rPr lang="en-IN" b="1" i="0" dirty="0">
                <a:solidFill>
                  <a:srgbClr val="273239"/>
                </a:solidFill>
                <a:effectLst/>
                <a:latin typeface="Nunito" pitchFamily="2" charset="77"/>
              </a:rPr>
              <a:t>10.</a:t>
            </a:r>
            <a:r>
              <a:rPr lang="en-IN" b="0" i="0" dirty="0">
                <a:solidFill>
                  <a:srgbClr val="273239"/>
                </a:solidFill>
                <a:effectLst/>
                <a:latin typeface="Nunito" pitchFamily="2" charset="77"/>
              </a:rPr>
              <a:t> </a:t>
            </a:r>
            <a:r>
              <a:rPr lang="en-IN" b="1" i="0" u="sng" dirty="0">
                <a:solidFill>
                  <a:srgbClr val="357960"/>
                </a:solidFill>
                <a:effectLst/>
                <a:latin typeface="Nunito" pitchFamily="2" charset="77"/>
                <a:hlinkClick r:id="rId4"/>
              </a:rPr>
              <a:t>Ford–Fulkerson algorithm</a:t>
            </a:r>
            <a:r>
              <a:rPr lang="en-IN" b="0" i="0" u="sng" dirty="0">
                <a:solidFill>
                  <a:srgbClr val="357960"/>
                </a:solidFill>
                <a:effectLst/>
                <a:latin typeface="Nunito" pitchFamily="2" charset="77"/>
                <a:hlinkClick r:id="rId4"/>
              </a:rPr>
              <a:t> </a:t>
            </a:r>
            <a:r>
              <a:rPr lang="en-IN" b="0" i="0" dirty="0">
                <a:solidFill>
                  <a:srgbClr val="273239"/>
                </a:solidFill>
                <a:effectLst/>
                <a:latin typeface="Nunito" pitchFamily="2" charset="77"/>
              </a:rPr>
              <a:t>In Ford - Fulkerson algorithm, we can either use Breadth First or Depth First Traversal to find the maximum flow. Breadth First Traversal is preferred as it reduces the worst-case time complexity to O(VE</a:t>
            </a:r>
            <a:r>
              <a:rPr lang="en-IN" b="0" i="0" baseline="30000" dirty="0">
                <a:solidFill>
                  <a:srgbClr val="273239"/>
                </a:solidFill>
                <a:effectLst/>
                <a:latin typeface="Nunito" pitchFamily="2" charset="77"/>
              </a:rPr>
              <a:t>2</a:t>
            </a:r>
            <a:r>
              <a:rPr lang="en-IN" b="0" i="0" dirty="0">
                <a:solidFill>
                  <a:srgbClr val="273239"/>
                </a:solidFill>
                <a:effectLst/>
                <a:latin typeface="Nunito" pitchFamily="2" charset="77"/>
              </a:rPr>
              <a:t>).</a:t>
            </a:r>
          </a:p>
        </p:txBody>
      </p:sp>
    </p:spTree>
    <p:extLst>
      <p:ext uri="{BB962C8B-B14F-4D97-AF65-F5344CB8AC3E}">
        <p14:creationId xmlns:p14="http://schemas.microsoft.com/office/powerpoint/2010/main" val="509635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CEBD2-B57D-084A-3118-8CDE7F718E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4B1528-C1CA-A416-30BE-1D8BEDC8A8C4}"/>
              </a:ext>
            </a:extLst>
          </p:cNvPr>
          <p:cNvSpPr>
            <a:spLocks noGrp="1"/>
          </p:cNvSpPr>
          <p:nvPr>
            <p:ph type="title"/>
          </p:nvPr>
        </p:nvSpPr>
        <p:spPr/>
        <p:txBody>
          <a:bodyPr/>
          <a:lstStyle/>
          <a:p>
            <a:r>
              <a:rPr lang="en-IN" b="1" i="0" dirty="0">
                <a:solidFill>
                  <a:srgbClr val="273239"/>
                </a:solidFill>
                <a:effectLst/>
                <a:latin typeface="Nunito" pitchFamily="2" charset="77"/>
              </a:rPr>
              <a:t>Applications of BFS in Graphs</a:t>
            </a:r>
            <a:endParaRPr lang="en-US" dirty="0"/>
          </a:p>
        </p:txBody>
      </p:sp>
      <p:sp>
        <p:nvSpPr>
          <p:cNvPr id="3" name="Content Placeholder 2">
            <a:extLst>
              <a:ext uri="{FF2B5EF4-FFF2-40B4-BE49-F238E27FC236}">
                <a16:creationId xmlns:a16="http://schemas.microsoft.com/office/drawing/2014/main" id="{7113ACB0-B6D6-BF5C-3FDB-604494F94C2A}"/>
              </a:ext>
            </a:extLst>
          </p:cNvPr>
          <p:cNvSpPr>
            <a:spLocks noGrp="1"/>
          </p:cNvSpPr>
          <p:nvPr>
            <p:ph idx="1"/>
          </p:nvPr>
        </p:nvSpPr>
        <p:spPr/>
        <p:txBody>
          <a:bodyPr>
            <a:normAutofit fontScale="55000" lnSpcReduction="20000"/>
          </a:bodyPr>
          <a:lstStyle/>
          <a:p>
            <a:pPr algn="l" fontAlgn="base"/>
            <a:r>
              <a:rPr lang="en-IN" b="1" i="0" dirty="0">
                <a:solidFill>
                  <a:srgbClr val="273239"/>
                </a:solidFill>
                <a:effectLst/>
                <a:latin typeface="Nunito" pitchFamily="2" charset="77"/>
              </a:rPr>
              <a:t>11. </a:t>
            </a:r>
            <a:r>
              <a:rPr lang="en-IN" b="1" i="0" u="sng" dirty="0">
                <a:solidFill>
                  <a:srgbClr val="357960"/>
                </a:solidFill>
                <a:effectLst/>
                <a:latin typeface="Nunito" pitchFamily="2" charset="77"/>
                <a:hlinkClick r:id="rId2"/>
              </a:rPr>
              <a:t>To test if a graph is Bipartite</a:t>
            </a:r>
            <a:r>
              <a:rPr lang="en-IN" b="1" i="0" dirty="0">
                <a:solidFill>
                  <a:srgbClr val="273239"/>
                </a:solidFill>
                <a:effectLst/>
                <a:latin typeface="Nunito" pitchFamily="2" charset="77"/>
              </a:rPr>
              <a:t>:</a:t>
            </a:r>
            <a:r>
              <a:rPr lang="en-IN" b="0" i="0" dirty="0">
                <a:solidFill>
                  <a:srgbClr val="273239"/>
                </a:solidFill>
                <a:effectLst/>
                <a:latin typeface="Nunito" pitchFamily="2" charset="77"/>
              </a:rPr>
              <a:t> We can either use Breadth First or Depth First Traversal.</a:t>
            </a:r>
          </a:p>
          <a:p>
            <a:pPr algn="l" fontAlgn="base"/>
            <a:r>
              <a:rPr lang="en-IN" b="1" i="0" dirty="0">
                <a:solidFill>
                  <a:srgbClr val="273239"/>
                </a:solidFill>
                <a:effectLst/>
                <a:latin typeface="Nunito" pitchFamily="2" charset="77"/>
              </a:rPr>
              <a:t>12. Path Finding:</a:t>
            </a:r>
            <a:r>
              <a:rPr lang="en-IN" b="0" i="0" dirty="0">
                <a:solidFill>
                  <a:srgbClr val="273239"/>
                </a:solidFill>
                <a:effectLst/>
                <a:latin typeface="Nunito" pitchFamily="2" charset="77"/>
              </a:rPr>
              <a:t> We can either use Breadth First or Depth First Traversal to find if there is a path between two vertices. </a:t>
            </a:r>
          </a:p>
          <a:p>
            <a:pPr algn="l" fontAlgn="base"/>
            <a:r>
              <a:rPr lang="en-IN" b="1" i="0" dirty="0">
                <a:solidFill>
                  <a:srgbClr val="273239"/>
                </a:solidFill>
                <a:effectLst/>
                <a:latin typeface="Nunito" pitchFamily="2" charset="77"/>
              </a:rPr>
              <a:t>13. Finding all nodes within one connected component:</a:t>
            </a:r>
            <a:r>
              <a:rPr lang="en-IN" b="0" i="0" dirty="0">
                <a:solidFill>
                  <a:srgbClr val="273239"/>
                </a:solidFill>
                <a:effectLst/>
                <a:latin typeface="Nunito" pitchFamily="2" charset="77"/>
              </a:rPr>
              <a:t> We can either use Breadth First or Depth First Traversal to find all nodes reachable from a given node. </a:t>
            </a:r>
          </a:p>
          <a:p>
            <a:pPr algn="l" fontAlgn="base"/>
            <a:r>
              <a:rPr lang="en-IN" b="1" i="0" dirty="0">
                <a:solidFill>
                  <a:srgbClr val="273239"/>
                </a:solidFill>
                <a:effectLst/>
                <a:latin typeface="Nunito" pitchFamily="2" charset="77"/>
              </a:rPr>
              <a:t>14. AI: </a:t>
            </a:r>
            <a:r>
              <a:rPr lang="en-IN" b="0" i="0" dirty="0">
                <a:solidFill>
                  <a:srgbClr val="273239"/>
                </a:solidFill>
                <a:effectLst/>
                <a:latin typeface="Nunito" pitchFamily="2" charset="77"/>
              </a:rPr>
              <a:t>In AI, BFS is used in traversing a game tree to find the best move.</a:t>
            </a:r>
          </a:p>
          <a:p>
            <a:pPr algn="l" fontAlgn="base"/>
            <a:r>
              <a:rPr lang="en-IN" b="1" i="0" dirty="0">
                <a:solidFill>
                  <a:srgbClr val="273239"/>
                </a:solidFill>
                <a:effectLst/>
                <a:latin typeface="Nunito" pitchFamily="2" charset="77"/>
              </a:rPr>
              <a:t>15. Network Security: </a:t>
            </a:r>
            <a:r>
              <a:rPr lang="en-IN" b="0" i="0" dirty="0">
                <a:solidFill>
                  <a:srgbClr val="273239"/>
                </a:solidFill>
                <a:effectLst/>
                <a:latin typeface="Nunito" pitchFamily="2" charset="77"/>
              </a:rPr>
              <a:t>In the field of network security, BFS is used in traversing a network to find all the devices connected to it.</a:t>
            </a:r>
          </a:p>
          <a:p>
            <a:pPr algn="l" fontAlgn="base"/>
            <a:r>
              <a:rPr lang="en-IN" b="1" i="0" dirty="0">
                <a:solidFill>
                  <a:srgbClr val="273239"/>
                </a:solidFill>
                <a:effectLst/>
                <a:latin typeface="Nunito" pitchFamily="2" charset="77"/>
              </a:rPr>
              <a:t>16. Connected Component: </a:t>
            </a:r>
            <a:r>
              <a:rPr lang="en-IN" b="0" i="0" dirty="0">
                <a:solidFill>
                  <a:srgbClr val="273239"/>
                </a:solidFill>
                <a:effectLst/>
                <a:latin typeface="Nunito" pitchFamily="2" charset="77"/>
              </a:rPr>
              <a:t>We can find all connected components in an undirected graph.</a:t>
            </a:r>
          </a:p>
          <a:p>
            <a:pPr algn="l" fontAlgn="base"/>
            <a:r>
              <a:rPr lang="en-IN" b="1" i="0" dirty="0">
                <a:solidFill>
                  <a:srgbClr val="273239"/>
                </a:solidFill>
                <a:effectLst/>
                <a:latin typeface="Nunito" pitchFamily="2" charset="77"/>
              </a:rPr>
              <a:t>17. Topological sorting:</a:t>
            </a:r>
            <a:r>
              <a:rPr lang="en-IN" b="0" i="0" dirty="0">
                <a:solidFill>
                  <a:srgbClr val="273239"/>
                </a:solidFill>
                <a:effectLst/>
                <a:latin typeface="Nunito" pitchFamily="2" charset="77"/>
              </a:rPr>
              <a:t> BFS can be used to find a topological ordering of the nodes in a directed acyclic graph (DAG).</a:t>
            </a:r>
          </a:p>
          <a:p>
            <a:pPr algn="l" fontAlgn="base"/>
            <a:r>
              <a:rPr lang="en-IN" b="1" i="0" dirty="0">
                <a:solidFill>
                  <a:srgbClr val="273239"/>
                </a:solidFill>
                <a:effectLst/>
                <a:latin typeface="Nunito" pitchFamily="2" charset="77"/>
              </a:rPr>
              <a:t>18. Image processing:</a:t>
            </a:r>
            <a:r>
              <a:rPr lang="en-IN" b="0" i="0" dirty="0">
                <a:solidFill>
                  <a:srgbClr val="273239"/>
                </a:solidFill>
                <a:effectLst/>
                <a:latin typeface="Nunito" pitchFamily="2" charset="77"/>
              </a:rPr>
              <a:t> BFS can be used to flood-fill an image with a particular </a:t>
            </a:r>
            <a:r>
              <a:rPr lang="en-IN" b="0" i="0" dirty="0" err="1">
                <a:solidFill>
                  <a:srgbClr val="273239"/>
                </a:solidFill>
                <a:effectLst/>
                <a:latin typeface="Nunito" pitchFamily="2" charset="77"/>
              </a:rPr>
              <a:t>color</a:t>
            </a:r>
            <a:r>
              <a:rPr lang="en-IN" b="0" i="0" dirty="0">
                <a:solidFill>
                  <a:srgbClr val="273239"/>
                </a:solidFill>
                <a:effectLst/>
                <a:latin typeface="Nunito" pitchFamily="2" charset="77"/>
              </a:rPr>
              <a:t> or to find connected components of pixels.</a:t>
            </a:r>
          </a:p>
          <a:p>
            <a:pPr algn="l" fontAlgn="base"/>
            <a:r>
              <a:rPr lang="en-IN" b="1" i="0" dirty="0">
                <a:solidFill>
                  <a:srgbClr val="273239"/>
                </a:solidFill>
                <a:effectLst/>
                <a:latin typeface="Nunito" pitchFamily="2" charset="77"/>
              </a:rPr>
              <a:t>19. Recommender systems:</a:t>
            </a:r>
            <a:r>
              <a:rPr lang="en-IN" b="0" i="0" dirty="0">
                <a:solidFill>
                  <a:srgbClr val="273239"/>
                </a:solidFill>
                <a:effectLst/>
                <a:latin typeface="Nunito" pitchFamily="2" charset="77"/>
              </a:rPr>
              <a:t> BFS can be used to find similar items in a large dataset by traversing the items' connections in a similarity graph.</a:t>
            </a:r>
          </a:p>
          <a:p>
            <a:pPr algn="l" fontAlgn="base"/>
            <a:r>
              <a:rPr lang="en-IN" b="1" i="0" dirty="0">
                <a:solidFill>
                  <a:srgbClr val="273239"/>
                </a:solidFill>
                <a:effectLst/>
                <a:latin typeface="Nunito" pitchFamily="2" charset="77"/>
              </a:rPr>
              <a:t>20. Other usages:</a:t>
            </a:r>
            <a:r>
              <a:rPr lang="en-IN" b="0" i="0" dirty="0">
                <a:solidFill>
                  <a:srgbClr val="273239"/>
                </a:solidFill>
                <a:effectLst/>
                <a:latin typeface="Nunito" pitchFamily="2" charset="77"/>
              </a:rPr>
              <a:t> Many algorithms like </a:t>
            </a:r>
            <a:r>
              <a:rPr lang="en-IN" b="0" i="0" u="sng" dirty="0">
                <a:solidFill>
                  <a:srgbClr val="357960"/>
                </a:solidFill>
                <a:effectLst/>
                <a:latin typeface="Nunito" pitchFamily="2" charset="77"/>
                <a:hlinkClick r:id="rId3"/>
              </a:rPr>
              <a:t>Prim's Minimum Spanning Tree</a:t>
            </a:r>
            <a:r>
              <a:rPr lang="en-IN" b="0" i="0" dirty="0">
                <a:solidFill>
                  <a:srgbClr val="273239"/>
                </a:solidFill>
                <a:effectLst/>
                <a:latin typeface="Nunito" pitchFamily="2" charset="77"/>
              </a:rPr>
              <a:t> and </a:t>
            </a:r>
            <a:r>
              <a:rPr lang="en-IN" b="0" i="0" u="sng" dirty="0">
                <a:solidFill>
                  <a:srgbClr val="357960"/>
                </a:solidFill>
                <a:effectLst/>
                <a:latin typeface="Nunito" pitchFamily="2" charset="77"/>
                <a:hlinkClick r:id="rId4"/>
              </a:rPr>
              <a:t>Dijkstra's Single Source Shortest Path</a:t>
            </a:r>
            <a:r>
              <a:rPr lang="en-IN" b="0" i="0" dirty="0">
                <a:solidFill>
                  <a:srgbClr val="273239"/>
                </a:solidFill>
                <a:effectLst/>
                <a:latin typeface="Nunito" pitchFamily="2" charset="77"/>
              </a:rPr>
              <a:t> use structures similar to Breadth First Search. </a:t>
            </a:r>
          </a:p>
        </p:txBody>
      </p:sp>
    </p:spTree>
    <p:extLst>
      <p:ext uri="{BB962C8B-B14F-4D97-AF65-F5344CB8AC3E}">
        <p14:creationId xmlns:p14="http://schemas.microsoft.com/office/powerpoint/2010/main" val="29961930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603AB-0130-D6D3-BA0D-97D64241CF00}"/>
              </a:ext>
            </a:extLst>
          </p:cNvPr>
          <p:cNvSpPr>
            <a:spLocks noGrp="1"/>
          </p:cNvSpPr>
          <p:nvPr>
            <p:ph type="title"/>
          </p:nvPr>
        </p:nvSpPr>
        <p:spPr/>
        <p:txBody>
          <a:bodyPr/>
          <a:lstStyle/>
          <a:p>
            <a:r>
              <a:rPr lang="en-IN" b="1" i="0" dirty="0">
                <a:solidFill>
                  <a:srgbClr val="273239"/>
                </a:solidFill>
                <a:effectLst/>
                <a:latin typeface="Nunito" pitchFamily="2" charset="77"/>
              </a:rPr>
              <a:t>Advantages of Breadth First Search</a:t>
            </a:r>
            <a:endParaRPr lang="en-US" dirty="0"/>
          </a:p>
        </p:txBody>
      </p:sp>
      <p:sp>
        <p:nvSpPr>
          <p:cNvPr id="3" name="Content Placeholder 2">
            <a:extLst>
              <a:ext uri="{FF2B5EF4-FFF2-40B4-BE49-F238E27FC236}">
                <a16:creationId xmlns:a16="http://schemas.microsoft.com/office/drawing/2014/main" id="{AB57441F-8F7C-68C9-0D55-5DF03BE3C39F}"/>
              </a:ext>
            </a:extLst>
          </p:cNvPr>
          <p:cNvSpPr>
            <a:spLocks noGrp="1"/>
          </p:cNvSpPr>
          <p:nvPr>
            <p:ph idx="1"/>
          </p:nvPr>
        </p:nvSpPr>
        <p:spPr/>
        <p:txBody>
          <a:bodyPr/>
          <a:lstStyle/>
          <a:p>
            <a:pPr algn="l" fontAlgn="base">
              <a:buFont typeface="Arial" panose="020B0604020202020204" pitchFamily="34" charset="0"/>
              <a:buChar char="•"/>
            </a:pPr>
            <a:r>
              <a:rPr lang="en-IN" b="0" i="0" dirty="0">
                <a:solidFill>
                  <a:srgbClr val="273239"/>
                </a:solidFill>
                <a:effectLst/>
                <a:latin typeface="Nunito" pitchFamily="2" charset="77"/>
              </a:rPr>
              <a:t>BFS will never get trapped exploring the useful path forever.</a:t>
            </a:r>
          </a:p>
          <a:p>
            <a:pPr algn="l" fontAlgn="base">
              <a:buFont typeface="Arial" panose="020B0604020202020204" pitchFamily="34" charset="0"/>
              <a:buChar char="•"/>
            </a:pPr>
            <a:r>
              <a:rPr lang="en-IN" b="0" i="0" dirty="0">
                <a:solidFill>
                  <a:srgbClr val="273239"/>
                </a:solidFill>
                <a:effectLst/>
                <a:latin typeface="Nunito" pitchFamily="2" charset="77"/>
              </a:rPr>
              <a:t>If there is a solution, BFS will definitely find it.</a:t>
            </a:r>
          </a:p>
          <a:p>
            <a:pPr algn="l" fontAlgn="base">
              <a:buFont typeface="Arial" panose="020B0604020202020204" pitchFamily="34" charset="0"/>
              <a:buChar char="•"/>
            </a:pPr>
            <a:r>
              <a:rPr lang="en-IN" b="0" i="0" dirty="0">
                <a:solidFill>
                  <a:srgbClr val="273239"/>
                </a:solidFill>
                <a:effectLst/>
                <a:latin typeface="Nunito" pitchFamily="2" charset="77"/>
              </a:rPr>
              <a:t>If there is more than one solution then BFS can find the minimal one that requires less number of steps.</a:t>
            </a:r>
          </a:p>
          <a:p>
            <a:pPr algn="l" fontAlgn="base">
              <a:buFont typeface="Arial" panose="020B0604020202020204" pitchFamily="34" charset="0"/>
              <a:buChar char="•"/>
            </a:pPr>
            <a:r>
              <a:rPr lang="en-IN" b="0" i="0" dirty="0">
                <a:solidFill>
                  <a:srgbClr val="273239"/>
                </a:solidFill>
                <a:effectLst/>
                <a:latin typeface="Nunito" pitchFamily="2" charset="77"/>
              </a:rPr>
              <a:t>Low storage requirement - linear with depth.</a:t>
            </a:r>
          </a:p>
          <a:p>
            <a:pPr algn="l" fontAlgn="base">
              <a:buFont typeface="Arial" panose="020B0604020202020204" pitchFamily="34" charset="0"/>
              <a:buChar char="•"/>
            </a:pPr>
            <a:r>
              <a:rPr lang="en-IN" b="0" i="0" dirty="0">
                <a:solidFill>
                  <a:srgbClr val="273239"/>
                </a:solidFill>
                <a:effectLst/>
                <a:latin typeface="Nunito" pitchFamily="2" charset="77"/>
              </a:rPr>
              <a:t>Easily programmable.</a:t>
            </a:r>
          </a:p>
          <a:p>
            <a:endParaRPr lang="en-US" dirty="0"/>
          </a:p>
        </p:txBody>
      </p:sp>
    </p:spTree>
    <p:extLst>
      <p:ext uri="{BB962C8B-B14F-4D97-AF65-F5344CB8AC3E}">
        <p14:creationId xmlns:p14="http://schemas.microsoft.com/office/powerpoint/2010/main" val="38592954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5D234-DB77-5EBA-D6CF-E39D9DF7C9FB}"/>
              </a:ext>
            </a:extLst>
          </p:cNvPr>
          <p:cNvSpPr>
            <a:spLocks noGrp="1"/>
          </p:cNvSpPr>
          <p:nvPr>
            <p:ph type="title"/>
          </p:nvPr>
        </p:nvSpPr>
        <p:spPr/>
        <p:txBody>
          <a:bodyPr/>
          <a:lstStyle/>
          <a:p>
            <a:r>
              <a:rPr lang="en-IN" b="1" i="0" dirty="0">
                <a:solidFill>
                  <a:srgbClr val="273239"/>
                </a:solidFill>
                <a:effectLst/>
                <a:latin typeface="Nunito" pitchFamily="2" charset="77"/>
              </a:rPr>
              <a:t>Disadvantages of Breadth First Search</a:t>
            </a:r>
            <a:endParaRPr lang="en-US" dirty="0"/>
          </a:p>
        </p:txBody>
      </p:sp>
      <p:sp>
        <p:nvSpPr>
          <p:cNvPr id="3" name="Content Placeholder 2">
            <a:extLst>
              <a:ext uri="{FF2B5EF4-FFF2-40B4-BE49-F238E27FC236}">
                <a16:creationId xmlns:a16="http://schemas.microsoft.com/office/drawing/2014/main" id="{69367FD9-FC0B-BA9F-2E9B-7B4297B59CF4}"/>
              </a:ext>
            </a:extLst>
          </p:cNvPr>
          <p:cNvSpPr>
            <a:spLocks noGrp="1"/>
          </p:cNvSpPr>
          <p:nvPr>
            <p:ph idx="1"/>
          </p:nvPr>
        </p:nvSpPr>
        <p:spPr/>
        <p:txBody>
          <a:bodyPr/>
          <a:lstStyle/>
          <a:p>
            <a:pPr algn="l" fontAlgn="base"/>
            <a:r>
              <a:rPr lang="en-IN" b="0" i="0" dirty="0">
                <a:solidFill>
                  <a:srgbClr val="273239"/>
                </a:solidFill>
                <a:effectLst/>
                <a:latin typeface="Nunito" pitchFamily="2" charset="77"/>
              </a:rPr>
              <a:t>The main drawback of BFS is its memory requirement. </a:t>
            </a:r>
          </a:p>
          <a:p>
            <a:pPr algn="l" fontAlgn="base"/>
            <a:r>
              <a:rPr lang="en-IN" b="0" i="0" dirty="0">
                <a:solidFill>
                  <a:srgbClr val="273239"/>
                </a:solidFill>
                <a:effectLst/>
                <a:latin typeface="Nunito" pitchFamily="2" charset="77"/>
              </a:rPr>
              <a:t>Since each level of the graph must be saved in order to generate the next level and the amount of memory is proportional to the number of nodes stored the space complexity of BFS is </a:t>
            </a:r>
            <a:r>
              <a:rPr lang="en-IN" b="1" i="0" dirty="0">
                <a:solidFill>
                  <a:srgbClr val="273239"/>
                </a:solidFill>
                <a:effectLst/>
                <a:latin typeface="Nunito" pitchFamily="2" charset="77"/>
              </a:rPr>
              <a:t>O(b</a:t>
            </a:r>
            <a:r>
              <a:rPr lang="en-IN" b="1" i="0" baseline="30000" dirty="0">
                <a:solidFill>
                  <a:srgbClr val="273239"/>
                </a:solidFill>
                <a:effectLst/>
                <a:latin typeface="Nunito" pitchFamily="2" charset="77"/>
              </a:rPr>
              <a:t>d </a:t>
            </a:r>
            <a:r>
              <a:rPr lang="en-IN" b="1" i="0" dirty="0">
                <a:solidFill>
                  <a:srgbClr val="273239"/>
                </a:solidFill>
                <a:effectLst/>
                <a:latin typeface="Nunito" pitchFamily="2" charset="77"/>
              </a:rPr>
              <a:t>)</a:t>
            </a:r>
            <a:r>
              <a:rPr lang="en-IN" b="0" i="0" dirty="0">
                <a:solidFill>
                  <a:srgbClr val="273239"/>
                </a:solidFill>
                <a:effectLst/>
                <a:latin typeface="Nunito" pitchFamily="2" charset="77"/>
              </a:rPr>
              <a:t>, where </a:t>
            </a:r>
            <a:r>
              <a:rPr lang="en-IN" b="1" i="0" dirty="0">
                <a:solidFill>
                  <a:srgbClr val="273239"/>
                </a:solidFill>
                <a:effectLst/>
                <a:latin typeface="Nunito" pitchFamily="2" charset="77"/>
              </a:rPr>
              <a:t>b</a:t>
            </a:r>
            <a:r>
              <a:rPr lang="en-IN" b="0" i="0" dirty="0">
                <a:solidFill>
                  <a:srgbClr val="273239"/>
                </a:solidFill>
                <a:effectLst/>
                <a:latin typeface="Nunito" pitchFamily="2" charset="77"/>
              </a:rPr>
              <a:t> is the branching factor(the number of children at each node, the outdegree) and </a:t>
            </a:r>
            <a:r>
              <a:rPr lang="en-IN" b="1" i="0" dirty="0">
                <a:solidFill>
                  <a:srgbClr val="273239"/>
                </a:solidFill>
                <a:effectLst/>
                <a:latin typeface="Nunito" pitchFamily="2" charset="77"/>
              </a:rPr>
              <a:t>d</a:t>
            </a:r>
            <a:r>
              <a:rPr lang="en-IN" b="0" i="0" dirty="0">
                <a:solidFill>
                  <a:srgbClr val="273239"/>
                </a:solidFill>
                <a:effectLst/>
                <a:latin typeface="Nunito" pitchFamily="2" charset="77"/>
              </a:rPr>
              <a:t> is the depth. </a:t>
            </a:r>
          </a:p>
          <a:p>
            <a:pPr algn="l" fontAlgn="base"/>
            <a:r>
              <a:rPr lang="en-IN" b="0" i="0" dirty="0">
                <a:solidFill>
                  <a:srgbClr val="273239"/>
                </a:solidFill>
                <a:effectLst/>
                <a:latin typeface="Nunito" pitchFamily="2" charset="77"/>
              </a:rPr>
              <a:t>As a result, BFS is severely space-bound in practice so will exhaust the memory available on typical computers in a matter of minutes.</a:t>
            </a:r>
          </a:p>
          <a:p>
            <a:endParaRPr lang="en-US" dirty="0"/>
          </a:p>
        </p:txBody>
      </p:sp>
    </p:spTree>
    <p:extLst>
      <p:ext uri="{BB962C8B-B14F-4D97-AF65-F5344CB8AC3E}">
        <p14:creationId xmlns:p14="http://schemas.microsoft.com/office/powerpoint/2010/main" val="38232744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1896D-CBAF-CE1A-8AFC-AC6EF03BB956}"/>
              </a:ext>
            </a:extLst>
          </p:cNvPr>
          <p:cNvSpPr>
            <a:spLocks noGrp="1"/>
          </p:cNvSpPr>
          <p:nvPr>
            <p:ph type="title"/>
          </p:nvPr>
        </p:nvSpPr>
        <p:spPr/>
        <p:txBody>
          <a:bodyPr>
            <a:normAutofit/>
          </a:bodyPr>
          <a:lstStyle/>
          <a:p>
            <a:r>
              <a:rPr lang="en-IN" b="1" i="0" dirty="0">
                <a:solidFill>
                  <a:srgbClr val="273239"/>
                </a:solidFill>
                <a:effectLst/>
                <a:latin typeface="Source Sans 3"/>
              </a:rPr>
              <a:t>Depth First Search or DFS for a Graph</a:t>
            </a:r>
            <a:endParaRPr lang="en-US" dirty="0"/>
          </a:p>
        </p:txBody>
      </p:sp>
      <p:sp>
        <p:nvSpPr>
          <p:cNvPr id="3" name="Content Placeholder 2">
            <a:extLst>
              <a:ext uri="{FF2B5EF4-FFF2-40B4-BE49-F238E27FC236}">
                <a16:creationId xmlns:a16="http://schemas.microsoft.com/office/drawing/2014/main" id="{FDB34092-ACA7-5AC0-76F5-05735EC1DA26}"/>
              </a:ext>
            </a:extLst>
          </p:cNvPr>
          <p:cNvSpPr>
            <a:spLocks noGrp="1"/>
          </p:cNvSpPr>
          <p:nvPr>
            <p:ph idx="1"/>
          </p:nvPr>
        </p:nvSpPr>
        <p:spPr/>
        <p:txBody>
          <a:bodyPr>
            <a:normAutofit fontScale="85000" lnSpcReduction="10000"/>
          </a:bodyPr>
          <a:lstStyle/>
          <a:p>
            <a:pPr algn="l" rtl="0" fontAlgn="base"/>
            <a:r>
              <a:rPr lang="en-IN" b="0" i="0" dirty="0">
                <a:solidFill>
                  <a:srgbClr val="273239"/>
                </a:solidFill>
                <a:effectLst/>
                <a:latin typeface="Nunito" pitchFamily="2" charset="77"/>
              </a:rPr>
              <a:t>In Depth First Search (or DFS), traverse all adjacent vertices one by one. </a:t>
            </a:r>
          </a:p>
          <a:p>
            <a:pPr algn="l" rtl="0" fontAlgn="base"/>
            <a:r>
              <a:rPr lang="en-IN" b="0" i="0" dirty="0">
                <a:solidFill>
                  <a:srgbClr val="273239"/>
                </a:solidFill>
                <a:effectLst/>
                <a:latin typeface="Nunito" pitchFamily="2" charset="77"/>
              </a:rPr>
              <a:t>When we traverse an adjacent vertex, we completely finish the traversal of all vertices reachable through that adjacent vertex. </a:t>
            </a:r>
          </a:p>
          <a:p>
            <a:pPr algn="l" rtl="0" fontAlgn="base"/>
            <a:r>
              <a:rPr lang="en-IN" b="0" i="0" dirty="0">
                <a:solidFill>
                  <a:srgbClr val="273239"/>
                </a:solidFill>
                <a:effectLst/>
                <a:latin typeface="Nunito" pitchFamily="2" charset="77"/>
              </a:rPr>
              <a:t>This is similar to </a:t>
            </a:r>
            <a:r>
              <a:rPr lang="en-IN" b="0" i="0" u="sng" dirty="0">
                <a:solidFill>
                  <a:srgbClr val="357960"/>
                </a:solidFill>
                <a:effectLst/>
                <a:latin typeface="Nunito" pitchFamily="2" charset="77"/>
                <a:hlinkClick r:id="rId2"/>
              </a:rPr>
              <a:t>Preorder Traversal of Binary Tree</a:t>
            </a:r>
            <a:r>
              <a:rPr lang="en-IN" b="0" i="0" dirty="0">
                <a:solidFill>
                  <a:srgbClr val="273239"/>
                </a:solidFill>
                <a:effectLst/>
                <a:latin typeface="Nunito" pitchFamily="2" charset="77"/>
              </a:rPr>
              <a:t>, where we first completely traverse the left subtree and then move to the right subtree. </a:t>
            </a:r>
          </a:p>
          <a:p>
            <a:pPr algn="l" rtl="0" fontAlgn="base"/>
            <a:r>
              <a:rPr lang="en-IN" b="0" i="0" dirty="0">
                <a:solidFill>
                  <a:srgbClr val="273239"/>
                </a:solidFill>
                <a:effectLst/>
                <a:latin typeface="Nunito" pitchFamily="2" charset="77"/>
              </a:rPr>
              <a:t>The key difference is that, unlike trees, graphs may contain cycles (a node may be visited more than once). </a:t>
            </a:r>
          </a:p>
          <a:p>
            <a:pPr algn="l" rtl="0" fontAlgn="base"/>
            <a:r>
              <a:rPr lang="en-IN" b="0" i="0" dirty="0">
                <a:solidFill>
                  <a:srgbClr val="273239"/>
                </a:solidFill>
                <a:effectLst/>
                <a:latin typeface="Nunito" pitchFamily="2" charset="77"/>
              </a:rPr>
              <a:t>To avoid processing a node multiple times, we use a </a:t>
            </a:r>
            <a:r>
              <a:rPr lang="en-IN" b="0" i="0" dirty="0" err="1">
                <a:solidFill>
                  <a:srgbClr val="273239"/>
                </a:solidFill>
                <a:effectLst/>
                <a:latin typeface="Nunito" pitchFamily="2" charset="77"/>
              </a:rPr>
              <a:t>boolean</a:t>
            </a:r>
            <a:r>
              <a:rPr lang="en-IN" b="0" i="0" dirty="0">
                <a:solidFill>
                  <a:srgbClr val="273239"/>
                </a:solidFill>
                <a:effectLst/>
                <a:latin typeface="Nunito" pitchFamily="2" charset="77"/>
              </a:rPr>
              <a:t> visited array.</a:t>
            </a:r>
          </a:p>
          <a:p>
            <a:pPr algn="l" rtl="0" fontAlgn="base"/>
            <a:r>
              <a:rPr lang="en-IN" b="1" i="0" dirty="0">
                <a:solidFill>
                  <a:srgbClr val="273239"/>
                </a:solidFill>
                <a:effectLst/>
                <a:latin typeface="Nunito" pitchFamily="2" charset="77"/>
              </a:rPr>
              <a:t>Note: </a:t>
            </a:r>
            <a:r>
              <a:rPr lang="en-IN" b="0" i="0" dirty="0">
                <a:solidFill>
                  <a:srgbClr val="273239"/>
                </a:solidFill>
                <a:effectLst/>
                <a:latin typeface="Nunito" pitchFamily="2" charset="77"/>
              </a:rPr>
              <a:t>There can be multiple DFS traversals of a graph according to the order in which we pick adjacent vertices. </a:t>
            </a:r>
            <a:br>
              <a:rPr lang="en-IN" dirty="0"/>
            </a:br>
            <a:endParaRPr lang="en-US" dirty="0"/>
          </a:p>
        </p:txBody>
      </p:sp>
    </p:spTree>
    <p:extLst>
      <p:ext uri="{BB962C8B-B14F-4D97-AF65-F5344CB8AC3E}">
        <p14:creationId xmlns:p14="http://schemas.microsoft.com/office/powerpoint/2010/main" val="34281654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553F-AA75-E2CC-988C-5670D5AE6208}"/>
              </a:ext>
            </a:extLst>
          </p:cNvPr>
          <p:cNvSpPr>
            <a:spLocks noGrp="1"/>
          </p:cNvSpPr>
          <p:nvPr>
            <p:ph type="title"/>
          </p:nvPr>
        </p:nvSpPr>
        <p:spPr/>
        <p:txBody>
          <a:bodyPr>
            <a:normAutofit/>
          </a:bodyPr>
          <a:lstStyle/>
          <a:p>
            <a:pPr fontAlgn="base"/>
            <a:r>
              <a:rPr lang="en-IN" b="1" i="0" dirty="0">
                <a:solidFill>
                  <a:srgbClr val="273239"/>
                </a:solidFill>
                <a:effectLst/>
                <a:latin typeface="Nunito" pitchFamily="2" charset="77"/>
              </a:rPr>
              <a:t>DFS from a Given Source of Graph</a:t>
            </a:r>
            <a:endParaRPr lang="en-US" dirty="0"/>
          </a:p>
        </p:txBody>
      </p:sp>
      <p:sp>
        <p:nvSpPr>
          <p:cNvPr id="3" name="Content Placeholder 2">
            <a:extLst>
              <a:ext uri="{FF2B5EF4-FFF2-40B4-BE49-F238E27FC236}">
                <a16:creationId xmlns:a16="http://schemas.microsoft.com/office/drawing/2014/main" id="{BDA2144A-7186-E391-CDB9-A1B17905C006}"/>
              </a:ext>
            </a:extLst>
          </p:cNvPr>
          <p:cNvSpPr>
            <a:spLocks noGrp="1"/>
          </p:cNvSpPr>
          <p:nvPr>
            <p:ph idx="1"/>
          </p:nvPr>
        </p:nvSpPr>
        <p:spPr/>
        <p:txBody>
          <a:bodyPr>
            <a:normAutofit fontScale="92500"/>
          </a:bodyPr>
          <a:lstStyle/>
          <a:p>
            <a:pPr rtl="0" fontAlgn="base"/>
            <a:r>
              <a:rPr lang="en-IN" b="0" dirty="0">
                <a:effectLst/>
                <a:latin typeface="Nunito" pitchFamily="2" charset="77"/>
              </a:rPr>
              <a:t>Depth First Search (DFS) starts from a given source vertex and explores one path as deeply as possible. </a:t>
            </a:r>
          </a:p>
          <a:p>
            <a:pPr rtl="0" fontAlgn="base"/>
            <a:r>
              <a:rPr lang="en-IN" b="0" dirty="0">
                <a:effectLst/>
                <a:latin typeface="Nunito" pitchFamily="2" charset="77"/>
              </a:rPr>
              <a:t>When it reaches a vertex with no unvisited </a:t>
            </a:r>
            <a:r>
              <a:rPr lang="en-IN" b="0" dirty="0" err="1">
                <a:effectLst/>
                <a:latin typeface="Nunito" pitchFamily="2" charset="77"/>
              </a:rPr>
              <a:t>neighbors</a:t>
            </a:r>
            <a:r>
              <a:rPr lang="en-IN" b="0" dirty="0">
                <a:effectLst/>
                <a:latin typeface="Nunito" pitchFamily="2" charset="77"/>
              </a:rPr>
              <a:t>, it backtracks to the previous vertex to explore other unvisited paths. </a:t>
            </a:r>
          </a:p>
          <a:p>
            <a:pPr rtl="0" fontAlgn="base"/>
            <a:r>
              <a:rPr lang="en-IN" b="0" dirty="0">
                <a:effectLst/>
                <a:latin typeface="Nunito" pitchFamily="2" charset="77"/>
              </a:rPr>
              <a:t>This continues until all vertices reachable from the source are visited.</a:t>
            </a:r>
          </a:p>
          <a:p>
            <a:pPr rtl="0" fontAlgn="base"/>
            <a:r>
              <a:rPr lang="en-IN" b="0" dirty="0">
                <a:effectLst/>
                <a:latin typeface="Nunito" pitchFamily="2" charset="77"/>
              </a:rPr>
              <a:t>In a graph, there might be loops. So we use an extra visited array to make sure that we do not process a vertex again.</a:t>
            </a:r>
          </a:p>
          <a:p>
            <a:br>
              <a:rPr lang="en-IN" dirty="0"/>
            </a:br>
            <a:endParaRPr lang="en-US" dirty="0"/>
          </a:p>
        </p:txBody>
      </p:sp>
    </p:spTree>
    <p:extLst>
      <p:ext uri="{BB962C8B-B14F-4D97-AF65-F5344CB8AC3E}">
        <p14:creationId xmlns:p14="http://schemas.microsoft.com/office/powerpoint/2010/main" val="19157864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76599-87AE-5888-A724-5668BD82F4D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491B948-CC2E-22DB-BDCF-76B31DC3996B}"/>
              </a:ext>
            </a:extLst>
          </p:cNvPr>
          <p:cNvSpPr>
            <a:spLocks noGrp="1"/>
          </p:cNvSpPr>
          <p:nvPr>
            <p:ph idx="1"/>
          </p:nvPr>
        </p:nvSpPr>
        <p:spPr/>
        <p:txBody>
          <a:bodyPr/>
          <a:lstStyle/>
          <a:p>
            <a:endParaRPr lang="en-US"/>
          </a:p>
        </p:txBody>
      </p:sp>
      <p:pic>
        <p:nvPicPr>
          <p:cNvPr id="10242" name="Picture 2" descr="dfs_for_a_graph_11.webp">
            <a:extLst>
              <a:ext uri="{FF2B5EF4-FFF2-40B4-BE49-F238E27FC236}">
                <a16:creationId xmlns:a16="http://schemas.microsoft.com/office/drawing/2014/main" id="{23B6B83F-9059-AE3C-3ADC-5B59B2E9E1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2052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5DA55-4FF0-C1CB-7D8F-ACB3ED6595D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0336A2-2D73-0E2A-C079-1437039907E3}"/>
              </a:ext>
            </a:extLst>
          </p:cNvPr>
          <p:cNvSpPr>
            <a:spLocks noGrp="1"/>
          </p:cNvSpPr>
          <p:nvPr>
            <p:ph idx="1"/>
          </p:nvPr>
        </p:nvSpPr>
        <p:spPr/>
        <p:txBody>
          <a:bodyPr/>
          <a:lstStyle/>
          <a:p>
            <a:endParaRPr lang="en-US"/>
          </a:p>
        </p:txBody>
      </p:sp>
      <p:pic>
        <p:nvPicPr>
          <p:cNvPr id="11266" name="Picture 2" descr="dfs_for_a_graph_1.webp">
            <a:extLst>
              <a:ext uri="{FF2B5EF4-FFF2-40B4-BE49-F238E27FC236}">
                <a16:creationId xmlns:a16="http://schemas.microsoft.com/office/drawing/2014/main" id="{8F94DCEC-A459-5FF0-346F-41F92C8452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0556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707EA-7989-89AF-7A9E-6BE84E05A3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E011B16-7CA0-18BD-7715-FD32FCB27307}"/>
              </a:ext>
            </a:extLst>
          </p:cNvPr>
          <p:cNvSpPr>
            <a:spLocks noGrp="1"/>
          </p:cNvSpPr>
          <p:nvPr>
            <p:ph idx="1"/>
          </p:nvPr>
        </p:nvSpPr>
        <p:spPr/>
        <p:txBody>
          <a:bodyPr/>
          <a:lstStyle/>
          <a:p>
            <a:endParaRPr lang="en-US"/>
          </a:p>
        </p:txBody>
      </p:sp>
      <p:pic>
        <p:nvPicPr>
          <p:cNvPr id="12290" name="Picture 2" descr="dfs_for_a_graph_2.webp">
            <a:extLst>
              <a:ext uri="{FF2B5EF4-FFF2-40B4-BE49-F238E27FC236}">
                <a16:creationId xmlns:a16="http://schemas.microsoft.com/office/drawing/2014/main" id="{033C637B-DE7D-1F0C-D5E9-84D67D27D8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22726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DAE78-9898-D4B4-3970-D5576C88A8E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ED13636-DDC9-28EC-70EA-394B07E339F9}"/>
              </a:ext>
            </a:extLst>
          </p:cNvPr>
          <p:cNvSpPr>
            <a:spLocks noGrp="1"/>
          </p:cNvSpPr>
          <p:nvPr>
            <p:ph idx="1"/>
          </p:nvPr>
        </p:nvSpPr>
        <p:spPr/>
        <p:txBody>
          <a:bodyPr/>
          <a:lstStyle/>
          <a:p>
            <a:endParaRPr lang="en-US"/>
          </a:p>
        </p:txBody>
      </p:sp>
      <p:pic>
        <p:nvPicPr>
          <p:cNvPr id="13314" name="Picture 2" descr="dfs_for_a_graph_3.webp">
            <a:extLst>
              <a:ext uri="{FF2B5EF4-FFF2-40B4-BE49-F238E27FC236}">
                <a16:creationId xmlns:a16="http://schemas.microsoft.com/office/drawing/2014/main" id="{440DE2B3-13E4-1CCC-6DE6-9025680869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5286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0DA06-5E64-24A8-2005-56E2503FA2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7B5D44-A3CD-61AD-7B74-6169C1EB153B}"/>
              </a:ext>
            </a:extLst>
          </p:cNvPr>
          <p:cNvSpPr>
            <a:spLocks noGrp="1"/>
          </p:cNvSpPr>
          <p:nvPr>
            <p:ph idx="1"/>
          </p:nvPr>
        </p:nvSpPr>
        <p:spPr/>
        <p:txBody>
          <a:bodyPr/>
          <a:lstStyle/>
          <a:p>
            <a:endParaRPr lang="en-US"/>
          </a:p>
        </p:txBody>
      </p:sp>
      <p:pic>
        <p:nvPicPr>
          <p:cNvPr id="14338" name="Picture 2" descr="dfs_for_a_graph_4.webp">
            <a:extLst>
              <a:ext uri="{FF2B5EF4-FFF2-40B4-BE49-F238E27FC236}">
                <a16:creationId xmlns:a16="http://schemas.microsoft.com/office/drawing/2014/main" id="{BC707B62-6DEA-D823-6BF2-D28355ABCA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56138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DE7CB-9685-70C3-B72F-A7BCE5AAFE6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B96710-AD2F-06DE-ACB6-65E7658A47EE}"/>
              </a:ext>
            </a:extLst>
          </p:cNvPr>
          <p:cNvSpPr>
            <a:spLocks noGrp="1"/>
          </p:cNvSpPr>
          <p:nvPr>
            <p:ph idx="1"/>
          </p:nvPr>
        </p:nvSpPr>
        <p:spPr/>
        <p:txBody>
          <a:bodyPr/>
          <a:lstStyle/>
          <a:p>
            <a:endParaRPr lang="en-US"/>
          </a:p>
        </p:txBody>
      </p:sp>
      <p:pic>
        <p:nvPicPr>
          <p:cNvPr id="15362" name="Picture 2" descr="dfs_for_a_graph_5.webp">
            <a:extLst>
              <a:ext uri="{FF2B5EF4-FFF2-40B4-BE49-F238E27FC236}">
                <a16:creationId xmlns:a16="http://schemas.microsoft.com/office/drawing/2014/main" id="{5898325E-EDE8-4E6C-4578-BA84AC9B3A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1830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58437-03BA-2B5F-AA0C-852B4CDC81A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713E47-D84A-B1F9-4CF2-166253A5F9E5}"/>
              </a:ext>
            </a:extLst>
          </p:cNvPr>
          <p:cNvSpPr>
            <a:spLocks noGrp="1"/>
          </p:cNvSpPr>
          <p:nvPr>
            <p:ph idx="1"/>
          </p:nvPr>
        </p:nvSpPr>
        <p:spPr/>
        <p:txBody>
          <a:bodyPr/>
          <a:lstStyle/>
          <a:p>
            <a:endParaRPr lang="en-US"/>
          </a:p>
        </p:txBody>
      </p:sp>
      <p:pic>
        <p:nvPicPr>
          <p:cNvPr id="16386" name="Picture 2" descr="dfs_for_a_graph_12.webp">
            <a:extLst>
              <a:ext uri="{FF2B5EF4-FFF2-40B4-BE49-F238E27FC236}">
                <a16:creationId xmlns:a16="http://schemas.microsoft.com/office/drawing/2014/main" id="{8D6831A4-A464-7C53-E6EF-AF9D1D86CD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27762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6DA1E-4727-DB27-F6A4-FFB8B305CD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4494A50-7D1F-EFAC-A4C3-6FCA20C6C145}"/>
              </a:ext>
            </a:extLst>
          </p:cNvPr>
          <p:cNvSpPr>
            <a:spLocks noGrp="1"/>
          </p:cNvSpPr>
          <p:nvPr>
            <p:ph idx="1"/>
          </p:nvPr>
        </p:nvSpPr>
        <p:spPr/>
        <p:txBody>
          <a:bodyPr/>
          <a:lstStyle/>
          <a:p>
            <a:endParaRPr lang="en-US"/>
          </a:p>
        </p:txBody>
      </p:sp>
      <p:pic>
        <p:nvPicPr>
          <p:cNvPr id="17410" name="Picture 2" descr="dfs_for_a_graph_6.webp">
            <a:extLst>
              <a:ext uri="{FF2B5EF4-FFF2-40B4-BE49-F238E27FC236}">
                <a16:creationId xmlns:a16="http://schemas.microsoft.com/office/drawing/2014/main" id="{89E5B163-FDA7-1D5A-FB28-4D04B41425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1203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69F6F-E249-04C9-D7F2-1C8A46C32B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948511-93BC-5628-E96E-BD014FF4A524}"/>
              </a:ext>
            </a:extLst>
          </p:cNvPr>
          <p:cNvSpPr>
            <a:spLocks noGrp="1"/>
          </p:cNvSpPr>
          <p:nvPr>
            <p:ph idx="1"/>
          </p:nvPr>
        </p:nvSpPr>
        <p:spPr/>
        <p:txBody>
          <a:bodyPr/>
          <a:lstStyle/>
          <a:p>
            <a:endParaRPr lang="en-US"/>
          </a:p>
        </p:txBody>
      </p:sp>
      <p:pic>
        <p:nvPicPr>
          <p:cNvPr id="18434" name="Picture 2" descr="dfs_for_a_graph_7.webp">
            <a:extLst>
              <a:ext uri="{FF2B5EF4-FFF2-40B4-BE49-F238E27FC236}">
                <a16:creationId xmlns:a16="http://schemas.microsoft.com/office/drawing/2014/main" id="{AF3FC661-D2EC-BC36-7B36-97C8462781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07359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F84C29-681E-4693-773A-716D0AB6D445}"/>
              </a:ext>
            </a:extLst>
          </p:cNvPr>
          <p:cNvSpPr>
            <a:spLocks noGrp="1"/>
          </p:cNvSpPr>
          <p:nvPr>
            <p:ph idx="1"/>
          </p:nvPr>
        </p:nvSpPr>
        <p:spPr>
          <a:xfrm>
            <a:off x="838200" y="213360"/>
            <a:ext cx="10515600" cy="5963603"/>
          </a:xfrm>
        </p:spPr>
        <p:txBody>
          <a:bodyPr>
            <a:noAutofit/>
          </a:bodyPr>
          <a:lstStyle/>
          <a:p>
            <a:r>
              <a:rPr lang="en-US" sz="1400" dirty="0"/>
              <a:t>void </a:t>
            </a:r>
            <a:r>
              <a:rPr lang="en-US" sz="1400" dirty="0" err="1"/>
              <a:t>dfsRec</a:t>
            </a:r>
            <a:r>
              <a:rPr lang="en-US" sz="1400" dirty="0"/>
              <a:t>(</a:t>
            </a:r>
            <a:r>
              <a:rPr lang="en-US" sz="1400" dirty="0" err="1"/>
              <a:t>ArrayList</a:t>
            </a:r>
            <a:r>
              <a:rPr lang="en-US" sz="1400" dirty="0"/>
              <a:t>&lt;</a:t>
            </a:r>
            <a:r>
              <a:rPr lang="en-US" sz="1400" dirty="0" err="1"/>
              <a:t>ArrayList</a:t>
            </a:r>
            <a:r>
              <a:rPr lang="en-US" sz="1400" dirty="0"/>
              <a:t>&lt;Integer&gt;&gt; adj,</a:t>
            </a:r>
          </a:p>
          <a:p>
            <a:r>
              <a:rPr lang="en-US" sz="1400" dirty="0"/>
              <a:t>           </a:t>
            </a:r>
            <a:r>
              <a:rPr lang="en-US" sz="1400" dirty="0" err="1"/>
              <a:t>boolean</a:t>
            </a:r>
            <a:r>
              <a:rPr lang="en-US" sz="1400" dirty="0"/>
              <a:t>[] visited, int s, </a:t>
            </a:r>
            <a:r>
              <a:rPr lang="en-US" sz="1400" dirty="0" err="1"/>
              <a:t>ArrayList</a:t>
            </a:r>
            <a:r>
              <a:rPr lang="en-US" sz="1400" dirty="0"/>
              <a:t>&lt;Integer&gt; res)</a:t>
            </a:r>
          </a:p>
          <a:p>
            <a:r>
              <a:rPr lang="en-US" sz="1400" dirty="0"/>
              <a:t>    {</a:t>
            </a:r>
          </a:p>
          <a:p>
            <a:r>
              <a:rPr lang="en-US" sz="1400" dirty="0"/>
              <a:t>        visited[s] = true;</a:t>
            </a:r>
          </a:p>
          <a:p>
            <a:r>
              <a:rPr lang="en-US" sz="1400" dirty="0"/>
              <a:t>        </a:t>
            </a:r>
            <a:r>
              <a:rPr lang="en-US" sz="1400" dirty="0" err="1"/>
              <a:t>res.add</a:t>
            </a:r>
            <a:r>
              <a:rPr lang="en-US" sz="1400" dirty="0"/>
              <a:t>(s);</a:t>
            </a:r>
          </a:p>
          <a:p>
            <a:endParaRPr lang="en-US" sz="1400" dirty="0"/>
          </a:p>
          <a:p>
            <a:r>
              <a:rPr lang="en-US" sz="1400" dirty="0"/>
              <a:t>        // Recursively visit all adjacent vertices  that are not visited yet</a:t>
            </a:r>
          </a:p>
          <a:p>
            <a:r>
              <a:rPr lang="en-US" sz="1400" dirty="0"/>
              <a:t>        for (int </a:t>
            </a:r>
            <a:r>
              <a:rPr lang="en-US" sz="1400" dirty="0" err="1"/>
              <a:t>i</a:t>
            </a:r>
            <a:r>
              <a:rPr lang="en-US" sz="1400" dirty="0"/>
              <a:t> : </a:t>
            </a:r>
            <a:r>
              <a:rPr lang="en-US" sz="1400" dirty="0" err="1"/>
              <a:t>adj.get</a:t>
            </a:r>
            <a:r>
              <a:rPr lang="en-US" sz="1400" dirty="0"/>
              <a:t>(s)) {</a:t>
            </a:r>
          </a:p>
          <a:p>
            <a:r>
              <a:rPr lang="en-US" sz="1400" dirty="0"/>
              <a:t>            if (!visited[</a:t>
            </a:r>
            <a:r>
              <a:rPr lang="en-US" sz="1400" dirty="0" err="1"/>
              <a:t>i</a:t>
            </a:r>
            <a:r>
              <a:rPr lang="en-US" sz="1400" dirty="0"/>
              <a:t>]) {</a:t>
            </a:r>
          </a:p>
          <a:p>
            <a:r>
              <a:rPr lang="en-US" sz="1400" dirty="0"/>
              <a:t>                </a:t>
            </a:r>
            <a:r>
              <a:rPr lang="en-US" sz="1400" dirty="0" err="1"/>
              <a:t>dfsRec</a:t>
            </a:r>
            <a:r>
              <a:rPr lang="en-US" sz="1400" dirty="0"/>
              <a:t>(adj, visited, </a:t>
            </a:r>
            <a:r>
              <a:rPr lang="en-US" sz="1400" dirty="0" err="1"/>
              <a:t>i</a:t>
            </a:r>
            <a:r>
              <a:rPr lang="en-US" sz="1400" dirty="0"/>
              <a:t>, res);</a:t>
            </a:r>
          </a:p>
          <a:p>
            <a:r>
              <a:rPr lang="en-US" sz="1400" dirty="0"/>
              <a:t>            }</a:t>
            </a:r>
          </a:p>
          <a:p>
            <a:r>
              <a:rPr lang="en-US" sz="1400" dirty="0"/>
              <a:t>        }</a:t>
            </a:r>
          </a:p>
          <a:p>
            <a:r>
              <a:rPr lang="en-US" sz="1400" dirty="0"/>
              <a:t>    }</a:t>
            </a:r>
          </a:p>
          <a:p>
            <a:pPr marL="0" indent="0">
              <a:buNone/>
            </a:pPr>
            <a:endParaRPr lang="en-US" sz="1400" dirty="0"/>
          </a:p>
          <a:p>
            <a:r>
              <a:rPr lang="en-US" sz="1400" dirty="0"/>
              <a:t>    static </a:t>
            </a:r>
            <a:r>
              <a:rPr lang="en-US" sz="1400" dirty="0" err="1"/>
              <a:t>ArrayList</a:t>
            </a:r>
            <a:r>
              <a:rPr lang="en-US" sz="1400" dirty="0"/>
              <a:t>&lt;Integer&gt;</a:t>
            </a:r>
            <a:r>
              <a:rPr lang="en-US" sz="1400" dirty="0" err="1"/>
              <a:t>dfs</a:t>
            </a:r>
            <a:r>
              <a:rPr lang="en-US" sz="1400" dirty="0"/>
              <a:t>(</a:t>
            </a:r>
            <a:r>
              <a:rPr lang="en-US" sz="1400" dirty="0" err="1"/>
              <a:t>ArrayList</a:t>
            </a:r>
            <a:r>
              <a:rPr lang="en-US" sz="1400" dirty="0"/>
              <a:t>&lt;</a:t>
            </a:r>
            <a:r>
              <a:rPr lang="en-US" sz="1400" dirty="0" err="1"/>
              <a:t>ArrayList</a:t>
            </a:r>
            <a:r>
              <a:rPr lang="en-US" sz="1400" dirty="0"/>
              <a:t>&lt;Integer&gt;&gt; adj) {</a:t>
            </a:r>
          </a:p>
          <a:p>
            <a:r>
              <a:rPr lang="en-US" sz="1400" dirty="0"/>
              <a:t>        </a:t>
            </a:r>
            <a:r>
              <a:rPr lang="en-US" sz="1400" dirty="0" err="1"/>
              <a:t>boolean</a:t>
            </a:r>
            <a:r>
              <a:rPr lang="en-US" sz="1400" dirty="0"/>
              <a:t>[] visited = new </a:t>
            </a:r>
            <a:r>
              <a:rPr lang="en-US" sz="1400" dirty="0" err="1"/>
              <a:t>boolean</a:t>
            </a:r>
            <a:r>
              <a:rPr lang="en-US" sz="1400" dirty="0"/>
              <a:t>[</a:t>
            </a:r>
            <a:r>
              <a:rPr lang="en-US" sz="1400" dirty="0" err="1"/>
              <a:t>adj.size</a:t>
            </a:r>
            <a:r>
              <a:rPr lang="en-US" sz="1400" dirty="0"/>
              <a:t>()];</a:t>
            </a:r>
          </a:p>
          <a:p>
            <a:r>
              <a:rPr lang="en-US" sz="1400" dirty="0"/>
              <a:t>        </a:t>
            </a:r>
            <a:r>
              <a:rPr lang="en-US" sz="1400" dirty="0" err="1"/>
              <a:t>ArrayList</a:t>
            </a:r>
            <a:r>
              <a:rPr lang="en-US" sz="1400" dirty="0"/>
              <a:t>&lt;Integer&gt; res = new </a:t>
            </a:r>
            <a:r>
              <a:rPr lang="en-US" sz="1400" dirty="0" err="1"/>
              <a:t>ArrayList</a:t>
            </a:r>
            <a:r>
              <a:rPr lang="en-US" sz="1400" dirty="0"/>
              <a:t>&lt;&gt;();</a:t>
            </a:r>
          </a:p>
          <a:p>
            <a:r>
              <a:rPr lang="en-US" sz="1400" dirty="0"/>
              <a:t>        </a:t>
            </a:r>
            <a:r>
              <a:rPr lang="en-US" sz="1400" dirty="0" err="1"/>
              <a:t>dfsRec</a:t>
            </a:r>
            <a:r>
              <a:rPr lang="en-US" sz="1400" dirty="0"/>
              <a:t>(adj, visited, 0, res);</a:t>
            </a:r>
          </a:p>
          <a:p>
            <a:r>
              <a:rPr lang="en-US" sz="1400" dirty="0"/>
              <a:t>        return res;</a:t>
            </a:r>
          </a:p>
          <a:p>
            <a:r>
              <a:rPr lang="en-US" sz="1400" dirty="0"/>
              <a:t>    }</a:t>
            </a:r>
          </a:p>
        </p:txBody>
      </p:sp>
    </p:spTree>
    <p:extLst>
      <p:ext uri="{BB962C8B-B14F-4D97-AF65-F5344CB8AC3E}">
        <p14:creationId xmlns:p14="http://schemas.microsoft.com/office/powerpoint/2010/main" val="16791246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30F25-59B9-7EAC-EB33-0938107D322D}"/>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71E68613-C761-E419-66F4-D5F0468C9B2D}"/>
              </a:ext>
            </a:extLst>
          </p:cNvPr>
          <p:cNvSpPr>
            <a:spLocks noGrp="1"/>
          </p:cNvSpPr>
          <p:nvPr>
            <p:ph idx="1"/>
          </p:nvPr>
        </p:nvSpPr>
        <p:spPr/>
        <p:txBody>
          <a:bodyPr/>
          <a:lstStyle/>
          <a:p>
            <a:pPr algn="l" rtl="0" fontAlgn="base"/>
            <a:r>
              <a:rPr lang="en-IN" b="1" i="0" dirty="0">
                <a:solidFill>
                  <a:srgbClr val="273239"/>
                </a:solidFill>
                <a:effectLst/>
                <a:latin typeface="Nunito" pitchFamily="2" charset="77"/>
              </a:rPr>
              <a:t>Time complexity:</a:t>
            </a:r>
            <a:r>
              <a:rPr lang="en-IN" b="0" i="0" dirty="0">
                <a:solidFill>
                  <a:srgbClr val="273239"/>
                </a:solidFill>
                <a:effectLst/>
                <a:latin typeface="Nunito" pitchFamily="2" charset="77"/>
              </a:rPr>
              <a:t> O(V + E), where V is the number of vertices and E is the number of edges in the graph.</a:t>
            </a:r>
            <a:br>
              <a:rPr lang="en-IN" b="0" i="0" dirty="0">
                <a:solidFill>
                  <a:srgbClr val="273239"/>
                </a:solidFill>
                <a:effectLst/>
                <a:latin typeface="Nunito" pitchFamily="2" charset="77"/>
              </a:rPr>
            </a:br>
            <a:endParaRPr lang="en-IN" b="0" i="0" dirty="0">
              <a:solidFill>
                <a:srgbClr val="273239"/>
              </a:solidFill>
              <a:effectLst/>
              <a:latin typeface="Nunito" pitchFamily="2" charset="77"/>
            </a:endParaRPr>
          </a:p>
          <a:p>
            <a:pPr algn="l" rtl="0" fontAlgn="base"/>
            <a:r>
              <a:rPr lang="en-IN" b="1" i="0" dirty="0">
                <a:solidFill>
                  <a:srgbClr val="273239"/>
                </a:solidFill>
                <a:effectLst/>
                <a:latin typeface="Nunito" pitchFamily="2" charset="77"/>
              </a:rPr>
              <a:t>Auxiliary Space: </a:t>
            </a:r>
            <a:r>
              <a:rPr lang="en-IN" b="0" i="0" dirty="0">
                <a:solidFill>
                  <a:srgbClr val="273239"/>
                </a:solidFill>
                <a:effectLst/>
                <a:latin typeface="Nunito" pitchFamily="2" charset="77"/>
              </a:rPr>
              <a:t>O(V + E), since an extra visited array of size V is required, And stack size for recursive calls to </a:t>
            </a:r>
            <a:r>
              <a:rPr lang="en-IN" b="0" i="0" dirty="0" err="1">
                <a:solidFill>
                  <a:srgbClr val="273239"/>
                </a:solidFill>
                <a:effectLst/>
                <a:latin typeface="Nunito" pitchFamily="2" charset="77"/>
              </a:rPr>
              <a:t>dfsRec</a:t>
            </a:r>
            <a:r>
              <a:rPr lang="en-IN" b="0" i="0" dirty="0">
                <a:solidFill>
                  <a:srgbClr val="273239"/>
                </a:solidFill>
                <a:effectLst/>
                <a:latin typeface="Nunito" pitchFamily="2" charset="77"/>
              </a:rPr>
              <a:t> function.</a:t>
            </a:r>
          </a:p>
          <a:p>
            <a:br>
              <a:rPr lang="en-IN" dirty="0"/>
            </a:br>
            <a:endParaRPr lang="en-US" dirty="0"/>
          </a:p>
        </p:txBody>
      </p:sp>
    </p:spTree>
    <p:extLst>
      <p:ext uri="{BB962C8B-B14F-4D97-AF65-F5344CB8AC3E}">
        <p14:creationId xmlns:p14="http://schemas.microsoft.com/office/powerpoint/2010/main" val="3253988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9C65-5D6B-F7BA-A36C-784C0A2533A5}"/>
              </a:ext>
            </a:extLst>
          </p:cNvPr>
          <p:cNvSpPr>
            <a:spLocks noGrp="1"/>
          </p:cNvSpPr>
          <p:nvPr>
            <p:ph type="title"/>
          </p:nvPr>
        </p:nvSpPr>
        <p:spPr/>
        <p:txBody>
          <a:bodyPr/>
          <a:lstStyle/>
          <a:p>
            <a:r>
              <a:rPr lang="en-IN" b="1" i="0" dirty="0">
                <a:solidFill>
                  <a:srgbClr val="273239"/>
                </a:solidFill>
                <a:effectLst/>
                <a:latin typeface="Nunito" pitchFamily="2" charset="77"/>
              </a:rPr>
              <a:t>DFS of a Disconnected Graph</a:t>
            </a:r>
            <a:endParaRPr lang="en-US" dirty="0"/>
          </a:p>
        </p:txBody>
      </p:sp>
      <p:sp>
        <p:nvSpPr>
          <p:cNvPr id="3" name="Content Placeholder 2">
            <a:extLst>
              <a:ext uri="{FF2B5EF4-FFF2-40B4-BE49-F238E27FC236}">
                <a16:creationId xmlns:a16="http://schemas.microsoft.com/office/drawing/2014/main" id="{5B107EAE-4A71-33ED-B1C6-62315F6C5B68}"/>
              </a:ext>
            </a:extLst>
          </p:cNvPr>
          <p:cNvSpPr>
            <a:spLocks noGrp="1"/>
          </p:cNvSpPr>
          <p:nvPr>
            <p:ph idx="1"/>
          </p:nvPr>
        </p:nvSpPr>
        <p:spPr/>
        <p:txBody>
          <a:bodyPr/>
          <a:lstStyle/>
          <a:p>
            <a:pPr rtl="0" fontAlgn="base"/>
            <a:r>
              <a:rPr lang="en-IN" b="0" dirty="0">
                <a:effectLst/>
                <a:latin typeface="Nunito" pitchFamily="2" charset="77"/>
              </a:rPr>
              <a:t>In a disconnected graph, some vertices may not be reachable from a single source. </a:t>
            </a:r>
          </a:p>
          <a:p>
            <a:pPr rtl="0" fontAlgn="base"/>
            <a:r>
              <a:rPr lang="en-IN" b="0" dirty="0">
                <a:effectLst/>
                <a:latin typeface="Nunito" pitchFamily="2" charset="77"/>
              </a:rPr>
              <a:t>To ensure all vertices are visited in DFS traversal, </a:t>
            </a:r>
          </a:p>
          <a:p>
            <a:pPr rtl="0" fontAlgn="base"/>
            <a:r>
              <a:rPr lang="en-IN" b="0" dirty="0">
                <a:effectLst/>
                <a:latin typeface="Nunito" pitchFamily="2" charset="77"/>
              </a:rPr>
              <a:t>we iterate through each vertex, and if a vertex is unvisited, </a:t>
            </a:r>
          </a:p>
          <a:p>
            <a:pPr rtl="0" fontAlgn="base"/>
            <a:r>
              <a:rPr lang="en-IN" b="0" dirty="0">
                <a:effectLst/>
                <a:latin typeface="Nunito" pitchFamily="2" charset="77"/>
              </a:rPr>
              <a:t>we perform a DFS starting from that vertex being the source. </a:t>
            </a:r>
          </a:p>
          <a:p>
            <a:pPr rtl="0" fontAlgn="base"/>
            <a:r>
              <a:rPr lang="en-IN" b="0" dirty="0">
                <a:effectLst/>
                <a:latin typeface="Nunito" pitchFamily="2" charset="77"/>
              </a:rPr>
              <a:t>This way, DFS explores every connected component of the graph.</a:t>
            </a:r>
          </a:p>
          <a:p>
            <a:br>
              <a:rPr lang="en-IN" dirty="0"/>
            </a:br>
            <a:endParaRPr lang="en-US" dirty="0"/>
          </a:p>
        </p:txBody>
      </p:sp>
    </p:spTree>
    <p:extLst>
      <p:ext uri="{BB962C8B-B14F-4D97-AF65-F5344CB8AC3E}">
        <p14:creationId xmlns:p14="http://schemas.microsoft.com/office/powerpoint/2010/main" val="15204872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1344F8-D1A5-416F-F54F-F373CE0E9AA7}"/>
              </a:ext>
            </a:extLst>
          </p:cNvPr>
          <p:cNvSpPr>
            <a:spLocks noGrp="1"/>
          </p:cNvSpPr>
          <p:nvPr>
            <p:ph idx="1"/>
          </p:nvPr>
        </p:nvSpPr>
        <p:spPr>
          <a:xfrm>
            <a:off x="243840" y="213360"/>
            <a:ext cx="5852160" cy="5963603"/>
          </a:xfrm>
        </p:spPr>
        <p:txBody>
          <a:bodyPr>
            <a:normAutofit/>
          </a:bodyPr>
          <a:lstStyle/>
          <a:p>
            <a:pPr marL="0" indent="0">
              <a:buNone/>
            </a:pPr>
            <a:r>
              <a:rPr lang="en-US" sz="1800" dirty="0"/>
              <a:t>void </a:t>
            </a:r>
            <a:r>
              <a:rPr lang="en-US" sz="1800" dirty="0" err="1"/>
              <a:t>dfsRec</a:t>
            </a:r>
            <a:r>
              <a:rPr lang="en-US" sz="1800" dirty="0"/>
              <a:t>(</a:t>
            </a:r>
            <a:r>
              <a:rPr lang="en-US" sz="1800" dirty="0" err="1"/>
              <a:t>ArrayList</a:t>
            </a:r>
            <a:r>
              <a:rPr lang="en-US" sz="1800" dirty="0"/>
              <a:t>&lt;</a:t>
            </a:r>
            <a:r>
              <a:rPr lang="en-US" sz="1800" dirty="0" err="1"/>
              <a:t>ArrayList</a:t>
            </a:r>
            <a:r>
              <a:rPr lang="en-US" sz="1800" dirty="0"/>
              <a:t>&lt;Integer&gt; &gt; adj,</a:t>
            </a:r>
          </a:p>
          <a:p>
            <a:pPr marL="0" indent="0">
              <a:buNone/>
            </a:pPr>
            <a:r>
              <a:rPr lang="en-US" sz="1800" dirty="0"/>
              <a:t>           </a:t>
            </a:r>
            <a:r>
              <a:rPr lang="en-US" sz="1800" dirty="0" err="1"/>
              <a:t>boolean</a:t>
            </a:r>
            <a:r>
              <a:rPr lang="en-US" sz="1800" dirty="0"/>
              <a:t>[] visited, int s, </a:t>
            </a:r>
            <a:r>
              <a:rPr lang="en-US" sz="1800" dirty="0" err="1"/>
              <a:t>ArrayList</a:t>
            </a:r>
            <a:r>
              <a:rPr lang="en-US" sz="1800" dirty="0"/>
              <a:t>&lt;Integer&gt; res) {</a:t>
            </a:r>
          </a:p>
          <a:p>
            <a:pPr marL="0" indent="0">
              <a:buNone/>
            </a:pPr>
            <a:r>
              <a:rPr lang="en-US" sz="1800" dirty="0"/>
              <a:t>        visited[s] = true;</a:t>
            </a:r>
          </a:p>
          <a:p>
            <a:pPr marL="0" indent="0">
              <a:buNone/>
            </a:pPr>
            <a:r>
              <a:rPr lang="en-US" sz="1800" dirty="0"/>
              <a:t>        </a:t>
            </a:r>
            <a:r>
              <a:rPr lang="en-US" sz="1800" dirty="0" err="1"/>
              <a:t>res.add</a:t>
            </a:r>
            <a:r>
              <a:rPr lang="en-US" sz="1800" dirty="0"/>
              <a:t>(s);</a:t>
            </a:r>
          </a:p>
          <a:p>
            <a:pPr marL="0" indent="0">
              <a:buNone/>
            </a:pPr>
            <a:endParaRPr lang="en-US" sz="1800" dirty="0"/>
          </a:p>
          <a:p>
            <a:pPr marL="0" indent="0">
              <a:buNone/>
            </a:pPr>
            <a:r>
              <a:rPr lang="en-US" sz="1800" dirty="0"/>
              <a:t>        // Recursively visit all adjacent vertices that are</a:t>
            </a:r>
          </a:p>
          <a:p>
            <a:pPr marL="0" indent="0">
              <a:buNone/>
            </a:pPr>
            <a:r>
              <a:rPr lang="en-US" sz="1800" dirty="0"/>
              <a:t>        // not visited yet</a:t>
            </a:r>
          </a:p>
          <a:p>
            <a:pPr marL="0" indent="0">
              <a:buNone/>
            </a:pPr>
            <a:r>
              <a:rPr lang="en-US" sz="1800" dirty="0"/>
              <a:t>        for (int </a:t>
            </a:r>
            <a:r>
              <a:rPr lang="en-US" sz="1800" dirty="0" err="1"/>
              <a:t>i</a:t>
            </a:r>
            <a:r>
              <a:rPr lang="en-US" sz="1800" dirty="0"/>
              <a:t> : </a:t>
            </a:r>
            <a:r>
              <a:rPr lang="en-US" sz="1800" dirty="0" err="1"/>
              <a:t>adj.get</a:t>
            </a:r>
            <a:r>
              <a:rPr lang="en-US" sz="1800" dirty="0"/>
              <a:t>(s)) {</a:t>
            </a:r>
          </a:p>
          <a:p>
            <a:pPr marL="0" indent="0">
              <a:buNone/>
            </a:pPr>
            <a:r>
              <a:rPr lang="en-US" sz="1800" dirty="0"/>
              <a:t>            if (!visited[</a:t>
            </a:r>
            <a:r>
              <a:rPr lang="en-US" sz="1800" dirty="0" err="1"/>
              <a:t>i</a:t>
            </a:r>
            <a:r>
              <a:rPr lang="en-US" sz="1800" dirty="0"/>
              <a:t>]) {</a:t>
            </a:r>
          </a:p>
          <a:p>
            <a:pPr marL="0" indent="0">
              <a:buNone/>
            </a:pPr>
            <a:r>
              <a:rPr lang="en-US" sz="1800" dirty="0"/>
              <a:t>                </a:t>
            </a:r>
            <a:r>
              <a:rPr lang="en-US" sz="1800" dirty="0" err="1"/>
              <a:t>dfsRec</a:t>
            </a:r>
            <a:r>
              <a:rPr lang="en-US" sz="1800" dirty="0"/>
              <a:t>(adj, visited, </a:t>
            </a:r>
            <a:r>
              <a:rPr lang="en-US" sz="1800" dirty="0" err="1"/>
              <a:t>i</a:t>
            </a:r>
            <a:r>
              <a:rPr lang="en-US" sz="1800" dirty="0"/>
              <a:t>, res);</a:t>
            </a:r>
          </a:p>
          <a:p>
            <a:pPr marL="0" indent="0">
              <a:buNone/>
            </a:pPr>
            <a:r>
              <a:rPr lang="en-US" sz="1800" dirty="0"/>
              <a:t>            }</a:t>
            </a:r>
          </a:p>
          <a:p>
            <a:pPr marL="0" indent="0">
              <a:buNone/>
            </a:pPr>
            <a:r>
              <a:rPr lang="en-US" sz="1800" dirty="0"/>
              <a:t>        }</a:t>
            </a:r>
          </a:p>
          <a:p>
            <a:pPr marL="0" indent="0">
              <a:buNone/>
            </a:pPr>
            <a:r>
              <a:rPr lang="en-US" sz="1800" dirty="0"/>
              <a:t>    }</a:t>
            </a:r>
          </a:p>
          <a:p>
            <a:pPr marL="0" indent="0">
              <a:buNone/>
            </a:pPr>
            <a:endParaRPr lang="en-US" sz="1800" dirty="0"/>
          </a:p>
          <a:p>
            <a:pPr marL="0" indent="0">
              <a:buNone/>
            </a:pPr>
            <a:r>
              <a:rPr lang="en-US" sz="1800" dirty="0"/>
              <a:t>    </a:t>
            </a:r>
          </a:p>
        </p:txBody>
      </p:sp>
      <p:sp>
        <p:nvSpPr>
          <p:cNvPr id="4" name="Content Placeholder 2">
            <a:extLst>
              <a:ext uri="{FF2B5EF4-FFF2-40B4-BE49-F238E27FC236}">
                <a16:creationId xmlns:a16="http://schemas.microsoft.com/office/drawing/2014/main" id="{56A8D5F6-DE3C-5D6E-CE50-771093002F5E}"/>
              </a:ext>
            </a:extLst>
          </p:cNvPr>
          <p:cNvSpPr txBox="1">
            <a:spLocks/>
          </p:cNvSpPr>
          <p:nvPr/>
        </p:nvSpPr>
        <p:spPr>
          <a:xfrm>
            <a:off x="5745480" y="274320"/>
            <a:ext cx="6324600" cy="59636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err="1"/>
              <a:t>ArrayList</a:t>
            </a:r>
            <a:r>
              <a:rPr lang="en-US" sz="1800" dirty="0"/>
              <a:t>&lt;Integer&gt; </a:t>
            </a:r>
            <a:r>
              <a:rPr lang="en-US" sz="1800" dirty="0" err="1"/>
              <a:t>dfs</a:t>
            </a:r>
            <a:r>
              <a:rPr lang="en-US" sz="1800" dirty="0"/>
              <a:t>(</a:t>
            </a:r>
            <a:r>
              <a:rPr lang="en-US" sz="1800" dirty="0" err="1"/>
              <a:t>ArrayList</a:t>
            </a:r>
            <a:r>
              <a:rPr lang="en-US" sz="1800" dirty="0"/>
              <a:t>&lt;</a:t>
            </a:r>
            <a:r>
              <a:rPr lang="en-US" sz="1800" dirty="0" err="1"/>
              <a:t>ArrayList</a:t>
            </a:r>
            <a:r>
              <a:rPr lang="en-US" sz="1800" dirty="0"/>
              <a:t>&lt;Integer&gt; &gt; adj) {</a:t>
            </a:r>
          </a:p>
          <a:p>
            <a:pPr marL="0" indent="0">
              <a:buNone/>
            </a:pPr>
            <a:r>
              <a:rPr lang="en-US" sz="1800" dirty="0"/>
              <a:t>        </a:t>
            </a:r>
            <a:r>
              <a:rPr lang="en-US" sz="1800" dirty="0" err="1"/>
              <a:t>boolean</a:t>
            </a:r>
            <a:r>
              <a:rPr lang="en-US" sz="1800" dirty="0"/>
              <a:t>[] visited = new </a:t>
            </a:r>
            <a:r>
              <a:rPr lang="en-US" sz="1800" dirty="0" err="1"/>
              <a:t>boolean</a:t>
            </a:r>
            <a:r>
              <a:rPr lang="en-US" sz="1800" dirty="0"/>
              <a:t>[</a:t>
            </a:r>
            <a:r>
              <a:rPr lang="en-US" sz="1800" dirty="0" err="1"/>
              <a:t>adj.size</a:t>
            </a:r>
            <a:r>
              <a:rPr lang="en-US" sz="1800" dirty="0"/>
              <a:t>()];</a:t>
            </a:r>
          </a:p>
          <a:p>
            <a:pPr marL="0" indent="0">
              <a:buNone/>
            </a:pPr>
            <a:r>
              <a:rPr lang="en-US" sz="1800" dirty="0"/>
              <a:t>        </a:t>
            </a:r>
            <a:r>
              <a:rPr lang="en-US" sz="1800" dirty="0" err="1"/>
              <a:t>ArrayList</a:t>
            </a:r>
            <a:r>
              <a:rPr lang="en-US" sz="1800" dirty="0"/>
              <a:t>&lt;Integer&gt; res = new </a:t>
            </a:r>
            <a:r>
              <a:rPr lang="en-US" sz="1800" dirty="0" err="1"/>
              <a:t>ArrayList</a:t>
            </a:r>
            <a:r>
              <a:rPr lang="en-US" sz="1800" dirty="0"/>
              <a:t>&lt;&gt;();</a:t>
            </a:r>
          </a:p>
          <a:p>
            <a:pPr marL="0" indent="0">
              <a:buNone/>
            </a:pPr>
            <a:endParaRPr lang="en-US" sz="1800" dirty="0"/>
          </a:p>
          <a:p>
            <a:pPr marL="0" indent="0">
              <a:buNone/>
            </a:pPr>
            <a:r>
              <a:rPr lang="en-US" sz="1800" dirty="0"/>
              <a:t>        // Loop through all vertices to handle disconnected graphs</a:t>
            </a:r>
          </a:p>
          <a:p>
            <a:pPr marL="0" indent="0">
              <a:buNone/>
            </a:pPr>
            <a:r>
              <a:rPr lang="en-US" sz="1800" dirty="0"/>
              <a:t>        for (int </a:t>
            </a:r>
            <a:r>
              <a:rPr lang="en-US" sz="1800" dirty="0" err="1"/>
              <a:t>i</a:t>
            </a:r>
            <a:r>
              <a:rPr lang="en-US" sz="1800" dirty="0"/>
              <a:t> = 0; </a:t>
            </a:r>
            <a:r>
              <a:rPr lang="en-US" sz="1800" dirty="0" err="1"/>
              <a:t>i</a:t>
            </a:r>
            <a:r>
              <a:rPr lang="en-US" sz="1800" dirty="0"/>
              <a:t> &lt; </a:t>
            </a:r>
            <a:r>
              <a:rPr lang="en-US" sz="1800" dirty="0" err="1"/>
              <a:t>adj.size</a:t>
            </a:r>
            <a:r>
              <a:rPr lang="en-US" sz="1800" dirty="0"/>
              <a:t>(); </a:t>
            </a:r>
            <a:r>
              <a:rPr lang="en-US" sz="1800" dirty="0" err="1"/>
              <a:t>i</a:t>
            </a:r>
            <a:r>
              <a:rPr lang="en-US" sz="1800" dirty="0"/>
              <a:t>++) {</a:t>
            </a:r>
          </a:p>
          <a:p>
            <a:pPr marL="0" indent="0">
              <a:buNone/>
            </a:pPr>
            <a:r>
              <a:rPr lang="en-US" sz="1800" dirty="0"/>
              <a:t>            if (!visited[</a:t>
            </a:r>
            <a:r>
              <a:rPr lang="en-US" sz="1800" dirty="0" err="1"/>
              <a:t>i</a:t>
            </a:r>
            <a:r>
              <a:rPr lang="en-US" sz="1800" dirty="0"/>
              <a:t>]) {</a:t>
            </a:r>
          </a:p>
          <a:p>
            <a:pPr marL="0" indent="0">
              <a:buNone/>
            </a:pPr>
            <a:r>
              <a:rPr lang="en-US" sz="1800" dirty="0"/>
              <a:t>                </a:t>
            </a:r>
            <a:r>
              <a:rPr lang="en-US" sz="1800" dirty="0" err="1"/>
              <a:t>dfsRec</a:t>
            </a:r>
            <a:r>
              <a:rPr lang="en-US" sz="1800" dirty="0"/>
              <a:t>(adj, visited, </a:t>
            </a:r>
            <a:r>
              <a:rPr lang="en-US" sz="1800" dirty="0" err="1"/>
              <a:t>i</a:t>
            </a:r>
            <a:r>
              <a:rPr lang="en-US" sz="1800" dirty="0"/>
              <a:t>, res);</a:t>
            </a:r>
          </a:p>
          <a:p>
            <a:pPr marL="0" indent="0">
              <a:buNone/>
            </a:pPr>
            <a:r>
              <a:rPr lang="en-US" sz="1800" dirty="0"/>
              <a:t>            }</a:t>
            </a:r>
          </a:p>
          <a:p>
            <a:pPr marL="0" indent="0">
              <a:buNone/>
            </a:pPr>
            <a:r>
              <a:rPr lang="en-US" sz="1800" dirty="0"/>
              <a:t>        }</a:t>
            </a:r>
          </a:p>
          <a:p>
            <a:pPr marL="0" indent="0">
              <a:buNone/>
            </a:pPr>
            <a:endParaRPr lang="en-US" sz="1800" dirty="0"/>
          </a:p>
          <a:p>
            <a:pPr marL="0" indent="0">
              <a:buNone/>
            </a:pPr>
            <a:r>
              <a:rPr lang="en-US" sz="1800" dirty="0"/>
              <a:t>        return res;</a:t>
            </a:r>
          </a:p>
          <a:p>
            <a:pPr marL="0" indent="0">
              <a:buNone/>
            </a:pPr>
            <a:r>
              <a:rPr lang="en-US" sz="1800" dirty="0"/>
              <a:t>    }</a:t>
            </a:r>
          </a:p>
        </p:txBody>
      </p:sp>
    </p:spTree>
    <p:extLst>
      <p:ext uri="{BB962C8B-B14F-4D97-AF65-F5344CB8AC3E}">
        <p14:creationId xmlns:p14="http://schemas.microsoft.com/office/powerpoint/2010/main" val="13279631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AB273-8D4D-E109-3BAD-505BCF2B9928}"/>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9C54A50C-DA90-AD21-142D-C540093B0CBC}"/>
              </a:ext>
            </a:extLst>
          </p:cNvPr>
          <p:cNvSpPr>
            <a:spLocks noGrp="1"/>
          </p:cNvSpPr>
          <p:nvPr>
            <p:ph idx="1"/>
          </p:nvPr>
        </p:nvSpPr>
        <p:spPr/>
        <p:txBody>
          <a:bodyPr/>
          <a:lstStyle/>
          <a:p>
            <a:r>
              <a:rPr lang="en-IN" b="1" i="0" dirty="0">
                <a:solidFill>
                  <a:srgbClr val="273239"/>
                </a:solidFill>
                <a:effectLst/>
                <a:latin typeface="Nunito" pitchFamily="2" charset="77"/>
              </a:rPr>
              <a:t>Time complexity: </a:t>
            </a:r>
            <a:r>
              <a:rPr lang="en-IN" b="0" i="0" dirty="0">
                <a:solidFill>
                  <a:srgbClr val="273239"/>
                </a:solidFill>
                <a:effectLst/>
                <a:latin typeface="Nunito" pitchFamily="2" charset="77"/>
              </a:rPr>
              <a:t>O(V + E). We visit every vertex at most once and every edge is traversed at most once (in directed) and twice in undirected.</a:t>
            </a:r>
            <a:br>
              <a:rPr lang="en-IN" dirty="0"/>
            </a:br>
            <a:endParaRPr lang="en-IN" dirty="0"/>
          </a:p>
          <a:p>
            <a:r>
              <a:rPr lang="en-IN" b="1" i="0" dirty="0">
                <a:solidFill>
                  <a:srgbClr val="273239"/>
                </a:solidFill>
                <a:effectLst/>
                <a:latin typeface="Nunito" pitchFamily="2" charset="77"/>
              </a:rPr>
              <a:t>Auxiliary Space: </a:t>
            </a:r>
            <a:r>
              <a:rPr lang="en-IN" b="0" i="0" dirty="0">
                <a:solidFill>
                  <a:srgbClr val="273239"/>
                </a:solidFill>
                <a:effectLst/>
                <a:latin typeface="Nunito" pitchFamily="2" charset="77"/>
              </a:rPr>
              <a:t>O(V + E), since an extra visited array of size V is required, and stack size for recursive calls of </a:t>
            </a:r>
            <a:r>
              <a:rPr lang="en-IN" b="0" i="0" dirty="0" err="1">
                <a:solidFill>
                  <a:srgbClr val="273239"/>
                </a:solidFill>
                <a:effectLst/>
                <a:latin typeface="Nunito" pitchFamily="2" charset="77"/>
              </a:rPr>
              <a:t>dfs</a:t>
            </a:r>
            <a:r>
              <a:rPr lang="en-IN" b="0" i="0" dirty="0">
                <a:solidFill>
                  <a:srgbClr val="273239"/>
                </a:solidFill>
                <a:effectLst/>
                <a:latin typeface="Nunito" pitchFamily="2" charset="77"/>
              </a:rPr>
              <a:t> function.</a:t>
            </a:r>
            <a:endParaRPr lang="en-US" dirty="0"/>
          </a:p>
        </p:txBody>
      </p:sp>
    </p:spTree>
    <p:extLst>
      <p:ext uri="{BB962C8B-B14F-4D97-AF65-F5344CB8AC3E}">
        <p14:creationId xmlns:p14="http://schemas.microsoft.com/office/powerpoint/2010/main" val="3121082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0A8F6-E04B-9B53-158D-CAA5FC727195}"/>
              </a:ext>
            </a:extLst>
          </p:cNvPr>
          <p:cNvSpPr>
            <a:spLocks noGrp="1"/>
          </p:cNvSpPr>
          <p:nvPr>
            <p:ph type="title"/>
          </p:nvPr>
        </p:nvSpPr>
        <p:spPr/>
        <p:txBody>
          <a:bodyPr>
            <a:normAutofit/>
          </a:bodyPr>
          <a:lstStyle/>
          <a:p>
            <a:r>
              <a:rPr lang="en-IN" b="1" i="0" dirty="0">
                <a:solidFill>
                  <a:srgbClr val="273239"/>
                </a:solidFill>
                <a:effectLst/>
                <a:latin typeface="Source Sans 3"/>
              </a:rPr>
              <a:t>Depth First Search or DFS on Directed Graph</a:t>
            </a:r>
            <a:endParaRPr lang="en-US" dirty="0"/>
          </a:p>
        </p:txBody>
      </p:sp>
      <p:sp>
        <p:nvSpPr>
          <p:cNvPr id="3" name="Content Placeholder 2">
            <a:extLst>
              <a:ext uri="{FF2B5EF4-FFF2-40B4-BE49-F238E27FC236}">
                <a16:creationId xmlns:a16="http://schemas.microsoft.com/office/drawing/2014/main" id="{B365DE6D-66E9-8484-2D06-4D26C07CC235}"/>
              </a:ext>
            </a:extLst>
          </p:cNvPr>
          <p:cNvSpPr>
            <a:spLocks noGrp="1"/>
          </p:cNvSpPr>
          <p:nvPr>
            <p:ph idx="1"/>
          </p:nvPr>
        </p:nvSpPr>
        <p:spPr/>
        <p:txBody>
          <a:bodyPr>
            <a:normAutofit/>
          </a:bodyPr>
          <a:lstStyle/>
          <a:p>
            <a:pPr algn="l" rtl="0" fontAlgn="base"/>
            <a:r>
              <a:rPr lang="en-IN" b="0" i="0" dirty="0">
                <a:solidFill>
                  <a:srgbClr val="273239"/>
                </a:solidFill>
                <a:effectLst/>
                <a:latin typeface="Nunito" pitchFamily="2" charset="77"/>
              </a:rPr>
              <a:t>In directed graphs, </a:t>
            </a:r>
            <a:r>
              <a:rPr lang="en-IN" b="1" i="0" dirty="0">
                <a:solidFill>
                  <a:srgbClr val="273239"/>
                </a:solidFill>
                <a:effectLst/>
                <a:latin typeface="Nunito" pitchFamily="2" charset="77"/>
              </a:rPr>
              <a:t>DFS</a:t>
            </a:r>
            <a:r>
              <a:rPr lang="en-IN" b="0" i="0" dirty="0">
                <a:solidFill>
                  <a:srgbClr val="273239"/>
                </a:solidFill>
                <a:effectLst/>
                <a:latin typeface="Nunito" pitchFamily="2" charset="77"/>
              </a:rPr>
              <a:t> can </a:t>
            </a:r>
            <a:r>
              <a:rPr lang="en-IN" b="1" i="0" dirty="0">
                <a:solidFill>
                  <a:srgbClr val="273239"/>
                </a:solidFill>
                <a:effectLst/>
                <a:latin typeface="Nunito" pitchFamily="2" charset="77"/>
              </a:rPr>
              <a:t>start from a specific point </a:t>
            </a:r>
            <a:r>
              <a:rPr lang="en-IN" b="0" i="0" dirty="0">
                <a:solidFill>
                  <a:srgbClr val="273239"/>
                </a:solidFill>
                <a:effectLst/>
                <a:latin typeface="Nunito" pitchFamily="2" charset="77"/>
              </a:rPr>
              <a:t>and explore all the connected nodes. </a:t>
            </a:r>
          </a:p>
          <a:p>
            <a:pPr algn="l" rtl="0" fontAlgn="base"/>
            <a:r>
              <a:rPr lang="en-IN" b="0" i="0" dirty="0">
                <a:solidFill>
                  <a:srgbClr val="273239"/>
                </a:solidFill>
                <a:effectLst/>
                <a:latin typeface="Nunito" pitchFamily="2" charset="77"/>
              </a:rPr>
              <a:t>It can also be used to make sure every part of the graph is visited, </a:t>
            </a:r>
          </a:p>
          <a:p>
            <a:pPr algn="l" rtl="0" fontAlgn="base"/>
            <a:r>
              <a:rPr lang="en-IN" b="0" i="0" dirty="0">
                <a:solidFill>
                  <a:srgbClr val="273239"/>
                </a:solidFill>
                <a:effectLst/>
                <a:latin typeface="Nunito" pitchFamily="2" charset="77"/>
              </a:rPr>
              <a:t>even if the graph has disconnected sections. </a:t>
            </a:r>
          </a:p>
          <a:p>
            <a:br>
              <a:rPr lang="en-IN" dirty="0"/>
            </a:br>
            <a:endParaRPr lang="en-US" dirty="0"/>
          </a:p>
        </p:txBody>
      </p:sp>
    </p:spTree>
    <p:extLst>
      <p:ext uri="{BB962C8B-B14F-4D97-AF65-F5344CB8AC3E}">
        <p14:creationId xmlns:p14="http://schemas.microsoft.com/office/powerpoint/2010/main" val="39680957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66362-4AB4-7334-5C13-1C89A1DADE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41301A-7282-2C8F-747D-0E58EBB442A2}"/>
              </a:ext>
            </a:extLst>
          </p:cNvPr>
          <p:cNvSpPr>
            <a:spLocks noGrp="1"/>
          </p:cNvSpPr>
          <p:nvPr>
            <p:ph idx="1"/>
          </p:nvPr>
        </p:nvSpPr>
        <p:spPr/>
        <p:txBody>
          <a:bodyPr/>
          <a:lstStyle/>
          <a:p>
            <a:pPr algn="l" fontAlgn="base">
              <a:buFont typeface="Arial" panose="020B0604020202020204" pitchFamily="34" charset="0"/>
              <a:buChar char="•"/>
            </a:pPr>
            <a:r>
              <a:rPr lang="en-IN" b="0" i="0" dirty="0">
                <a:solidFill>
                  <a:srgbClr val="273239"/>
                </a:solidFill>
                <a:effectLst/>
                <a:latin typeface="Nunito" pitchFamily="2" charset="77"/>
              </a:rPr>
              <a:t>Keep a </a:t>
            </a:r>
            <a:r>
              <a:rPr lang="en-IN" b="0" i="0" dirty="0" err="1">
                <a:solidFill>
                  <a:srgbClr val="273239"/>
                </a:solidFill>
                <a:effectLst/>
                <a:latin typeface="Nunito" pitchFamily="2" charset="77"/>
              </a:rPr>
              <a:t>boolean</a:t>
            </a:r>
            <a:r>
              <a:rPr lang="en-IN" b="0" i="0" dirty="0">
                <a:solidFill>
                  <a:srgbClr val="273239"/>
                </a:solidFill>
                <a:effectLst/>
                <a:latin typeface="Nunito" pitchFamily="2" charset="77"/>
              </a:rPr>
              <a:t> </a:t>
            </a:r>
            <a:r>
              <a:rPr lang="en-IN" b="1" i="0" dirty="0">
                <a:solidFill>
                  <a:srgbClr val="273239"/>
                </a:solidFill>
                <a:effectLst/>
                <a:latin typeface="Nunito" pitchFamily="2" charset="77"/>
              </a:rPr>
              <a:t>visited</a:t>
            </a:r>
            <a:r>
              <a:rPr lang="en-IN" b="0" i="0" dirty="0">
                <a:solidFill>
                  <a:srgbClr val="273239"/>
                </a:solidFill>
                <a:effectLst/>
                <a:latin typeface="Nunito" pitchFamily="2" charset="77"/>
              </a:rPr>
              <a:t> array to keep track of which vertices have already been visited. This ensures avoiding infinite loops when there are cycles in the graph.</a:t>
            </a:r>
          </a:p>
          <a:p>
            <a:pPr algn="l" fontAlgn="base">
              <a:buFont typeface="Arial" panose="020B0604020202020204" pitchFamily="34" charset="0"/>
              <a:buChar char="•"/>
            </a:pPr>
            <a:r>
              <a:rPr lang="en-IN" b="0" i="0" dirty="0">
                <a:solidFill>
                  <a:srgbClr val="273239"/>
                </a:solidFill>
                <a:effectLst/>
                <a:latin typeface="Nunito" pitchFamily="2" charset="77"/>
              </a:rPr>
              <a:t>Use Recursion to visited all unvisited neighbours of source node:</a:t>
            </a:r>
          </a:p>
          <a:p>
            <a:pPr marL="742950" lvl="1" indent="-285750" algn="l" fontAlgn="base">
              <a:buFont typeface="Arial" panose="020B0604020202020204" pitchFamily="34" charset="0"/>
              <a:buChar char="•"/>
            </a:pPr>
            <a:r>
              <a:rPr lang="en-IN" b="0" i="0" dirty="0">
                <a:solidFill>
                  <a:srgbClr val="273239"/>
                </a:solidFill>
                <a:effectLst/>
                <a:latin typeface="Nunito" pitchFamily="2" charset="77"/>
              </a:rPr>
              <a:t>First marks the current vertex as visited and processes the current vertex (for example, by printing its value).</a:t>
            </a:r>
          </a:p>
          <a:p>
            <a:pPr marL="742950" lvl="1" indent="-285750" algn="l" fontAlgn="base">
              <a:buFont typeface="Arial" panose="020B0604020202020204" pitchFamily="34" charset="0"/>
              <a:buChar char="•"/>
            </a:pPr>
            <a:r>
              <a:rPr lang="en-IN" b="0" i="0" dirty="0">
                <a:solidFill>
                  <a:srgbClr val="273239"/>
                </a:solidFill>
                <a:effectLst/>
                <a:latin typeface="Nunito" pitchFamily="2" charset="77"/>
              </a:rPr>
              <a:t>Then, recursively visits each unvisited </a:t>
            </a:r>
            <a:r>
              <a:rPr lang="en-IN" b="0" i="0" dirty="0" err="1">
                <a:solidFill>
                  <a:srgbClr val="273239"/>
                </a:solidFill>
                <a:effectLst/>
                <a:latin typeface="Nunito" pitchFamily="2" charset="77"/>
              </a:rPr>
              <a:t>neighbor</a:t>
            </a:r>
            <a:r>
              <a:rPr lang="en-IN" b="0" i="0" dirty="0">
                <a:solidFill>
                  <a:srgbClr val="273239"/>
                </a:solidFill>
                <a:effectLst/>
                <a:latin typeface="Nunito" pitchFamily="2" charset="77"/>
              </a:rPr>
              <a:t> of the current vertex.</a:t>
            </a:r>
          </a:p>
          <a:p>
            <a:pPr marL="742950" lvl="1" indent="-285750" algn="l" fontAlgn="base">
              <a:buFont typeface="Arial" panose="020B0604020202020204" pitchFamily="34" charset="0"/>
              <a:buChar char="•"/>
            </a:pPr>
            <a:r>
              <a:rPr lang="en-IN" b="0" i="0" dirty="0">
                <a:solidFill>
                  <a:srgbClr val="273239"/>
                </a:solidFill>
                <a:effectLst/>
                <a:latin typeface="Nunito" pitchFamily="2" charset="77"/>
              </a:rPr>
              <a:t>If a vertex has no unvisited </a:t>
            </a:r>
            <a:r>
              <a:rPr lang="en-IN" b="0" i="0" dirty="0" err="1">
                <a:solidFill>
                  <a:srgbClr val="273239"/>
                </a:solidFill>
                <a:effectLst/>
                <a:latin typeface="Nunito" pitchFamily="2" charset="77"/>
              </a:rPr>
              <a:t>neighbors</a:t>
            </a:r>
            <a:r>
              <a:rPr lang="en-IN" b="0" i="0" dirty="0">
                <a:solidFill>
                  <a:srgbClr val="273239"/>
                </a:solidFill>
                <a:effectLst/>
                <a:latin typeface="Nunito" pitchFamily="2" charset="77"/>
              </a:rPr>
              <a:t>, backtracks to the previous vertex to explore other unvisited paths.</a:t>
            </a:r>
          </a:p>
          <a:p>
            <a:endParaRPr lang="en-US" dirty="0"/>
          </a:p>
        </p:txBody>
      </p:sp>
    </p:spTree>
    <p:extLst>
      <p:ext uri="{BB962C8B-B14F-4D97-AF65-F5344CB8AC3E}">
        <p14:creationId xmlns:p14="http://schemas.microsoft.com/office/powerpoint/2010/main" val="16134035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4375D6-11F1-8B5D-1F47-82B499AA69C5}"/>
              </a:ext>
            </a:extLst>
          </p:cNvPr>
          <p:cNvSpPr>
            <a:spLocks noGrp="1"/>
          </p:cNvSpPr>
          <p:nvPr>
            <p:ph idx="1"/>
          </p:nvPr>
        </p:nvSpPr>
        <p:spPr>
          <a:xfrm>
            <a:off x="838200" y="182880"/>
            <a:ext cx="10515600" cy="5994083"/>
          </a:xfrm>
        </p:spPr>
        <p:txBody>
          <a:bodyPr>
            <a:noAutofit/>
          </a:bodyPr>
          <a:lstStyle/>
          <a:p>
            <a:r>
              <a:rPr lang="en-US" sz="1400" dirty="0"/>
              <a:t>void </a:t>
            </a:r>
            <a:r>
              <a:rPr lang="en-US" sz="1400" dirty="0" err="1"/>
              <a:t>DFSRec</a:t>
            </a:r>
            <a:r>
              <a:rPr lang="en-US" sz="1400" dirty="0"/>
              <a:t>(List&lt;List&lt;Integer&gt; &gt; adj,   </a:t>
            </a:r>
            <a:r>
              <a:rPr lang="en-US" sz="1400" dirty="0" err="1"/>
              <a:t>boolean</a:t>
            </a:r>
            <a:r>
              <a:rPr lang="en-US" sz="1400" dirty="0"/>
              <a:t>[] visited, int s){</a:t>
            </a:r>
          </a:p>
          <a:p>
            <a:r>
              <a:rPr lang="en-US" sz="1400" dirty="0"/>
              <a:t>        // Mark the current vertex as visited</a:t>
            </a:r>
          </a:p>
          <a:p>
            <a:r>
              <a:rPr lang="en-US" sz="1400" dirty="0"/>
              <a:t>        visited[s] = true;</a:t>
            </a:r>
          </a:p>
          <a:p>
            <a:endParaRPr lang="en-US" sz="1400" dirty="0"/>
          </a:p>
          <a:p>
            <a:r>
              <a:rPr lang="en-US" sz="1400" dirty="0"/>
              <a:t>        // Print the current vertex</a:t>
            </a:r>
          </a:p>
          <a:p>
            <a:r>
              <a:rPr lang="en-US" sz="1400" dirty="0"/>
              <a:t>        </a:t>
            </a:r>
            <a:r>
              <a:rPr lang="en-US" sz="1400" dirty="0" err="1"/>
              <a:t>System.out.print</a:t>
            </a:r>
            <a:r>
              <a:rPr lang="en-US" sz="1400" dirty="0"/>
              <a:t>(s + " ");</a:t>
            </a:r>
          </a:p>
          <a:p>
            <a:endParaRPr lang="en-US" sz="1400" dirty="0"/>
          </a:p>
          <a:p>
            <a:r>
              <a:rPr lang="en-US" sz="1400" dirty="0"/>
              <a:t>        // Recursively visit all adjacent vertices that are not visited yet</a:t>
            </a:r>
          </a:p>
          <a:p>
            <a:r>
              <a:rPr lang="en-US" sz="1400" dirty="0"/>
              <a:t>        for (int </a:t>
            </a:r>
            <a:r>
              <a:rPr lang="en-US" sz="1400" dirty="0" err="1"/>
              <a:t>i</a:t>
            </a:r>
            <a:r>
              <a:rPr lang="en-US" sz="1400" dirty="0"/>
              <a:t> : </a:t>
            </a:r>
            <a:r>
              <a:rPr lang="en-US" sz="1400" dirty="0" err="1"/>
              <a:t>adj.get</a:t>
            </a:r>
            <a:r>
              <a:rPr lang="en-US" sz="1400" dirty="0"/>
              <a:t>(s)) {</a:t>
            </a:r>
          </a:p>
          <a:p>
            <a:r>
              <a:rPr lang="en-US" sz="1400" dirty="0"/>
              <a:t>            if (!visited[</a:t>
            </a:r>
            <a:r>
              <a:rPr lang="en-US" sz="1400" dirty="0" err="1"/>
              <a:t>i</a:t>
            </a:r>
            <a:r>
              <a:rPr lang="en-US" sz="1400" dirty="0"/>
              <a:t>]) {</a:t>
            </a:r>
          </a:p>
          <a:p>
            <a:r>
              <a:rPr lang="en-US" sz="1400" dirty="0"/>
              <a:t>                </a:t>
            </a:r>
            <a:r>
              <a:rPr lang="en-US" sz="1400" dirty="0" err="1"/>
              <a:t>DFSRec</a:t>
            </a:r>
            <a:r>
              <a:rPr lang="en-US" sz="1400" dirty="0"/>
              <a:t>(adj, visited, </a:t>
            </a:r>
            <a:r>
              <a:rPr lang="en-US" sz="1400" dirty="0" err="1"/>
              <a:t>i</a:t>
            </a:r>
            <a:r>
              <a:rPr lang="en-US" sz="1400" dirty="0"/>
              <a:t>);</a:t>
            </a:r>
          </a:p>
          <a:p>
            <a:r>
              <a:rPr lang="en-US" sz="1400" dirty="0"/>
              <a:t>            }</a:t>
            </a:r>
          </a:p>
          <a:p>
            <a:r>
              <a:rPr lang="en-US" sz="1400" dirty="0"/>
              <a:t>        }</a:t>
            </a:r>
          </a:p>
          <a:p>
            <a:r>
              <a:rPr lang="en-US" sz="1400" dirty="0"/>
              <a:t>    }</a:t>
            </a:r>
          </a:p>
          <a:p>
            <a:endParaRPr lang="en-US" sz="1400" dirty="0"/>
          </a:p>
          <a:p>
            <a:r>
              <a:rPr lang="en-US" sz="1400" dirty="0"/>
              <a:t>    // Main DFS function that initializes the visited array</a:t>
            </a:r>
          </a:p>
          <a:p>
            <a:r>
              <a:rPr lang="en-US" sz="1400" dirty="0"/>
              <a:t>void DFS(List&lt;List&lt;Integer&gt; &gt; adj, int s) {</a:t>
            </a:r>
          </a:p>
          <a:p>
            <a:r>
              <a:rPr lang="en-US" sz="1400" dirty="0"/>
              <a:t>        </a:t>
            </a:r>
            <a:r>
              <a:rPr lang="en-US" sz="1400" dirty="0" err="1"/>
              <a:t>boolean</a:t>
            </a:r>
            <a:r>
              <a:rPr lang="en-US" sz="1400" dirty="0"/>
              <a:t>[] visited = new </a:t>
            </a:r>
            <a:r>
              <a:rPr lang="en-US" sz="1400" dirty="0" err="1"/>
              <a:t>boolean</a:t>
            </a:r>
            <a:r>
              <a:rPr lang="en-US" sz="1400" dirty="0"/>
              <a:t>[</a:t>
            </a:r>
            <a:r>
              <a:rPr lang="en-US" sz="1400" dirty="0" err="1"/>
              <a:t>adj.size</a:t>
            </a:r>
            <a:r>
              <a:rPr lang="en-US" sz="1400" dirty="0"/>
              <a:t>()];</a:t>
            </a:r>
          </a:p>
          <a:p>
            <a:r>
              <a:rPr lang="en-US" sz="1400" dirty="0"/>
              <a:t>        // Call the recursive DFS function</a:t>
            </a:r>
          </a:p>
          <a:p>
            <a:r>
              <a:rPr lang="en-US" sz="1400" dirty="0"/>
              <a:t>        </a:t>
            </a:r>
            <a:r>
              <a:rPr lang="en-US" sz="1400" dirty="0" err="1"/>
              <a:t>DFSRec</a:t>
            </a:r>
            <a:r>
              <a:rPr lang="en-US" sz="1400" dirty="0"/>
              <a:t>(adj, visited, s);</a:t>
            </a:r>
          </a:p>
          <a:p>
            <a:r>
              <a:rPr lang="en-US" sz="1400" dirty="0"/>
              <a:t>    }</a:t>
            </a:r>
          </a:p>
        </p:txBody>
      </p:sp>
    </p:spTree>
    <p:extLst>
      <p:ext uri="{BB962C8B-B14F-4D97-AF65-F5344CB8AC3E}">
        <p14:creationId xmlns:p14="http://schemas.microsoft.com/office/powerpoint/2010/main" val="4361923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EB798-5365-DC9B-006A-4C34F783BA82}"/>
              </a:ext>
            </a:extLst>
          </p:cNvPr>
          <p:cNvSpPr>
            <a:spLocks noGrp="1"/>
          </p:cNvSpPr>
          <p:nvPr>
            <p:ph type="title"/>
          </p:nvPr>
        </p:nvSpPr>
        <p:spPr/>
        <p:txBody>
          <a:bodyPr/>
          <a:lstStyle/>
          <a:p>
            <a:r>
              <a:rPr lang="en-US" dirty="0"/>
              <a:t>Analysis</a:t>
            </a:r>
          </a:p>
        </p:txBody>
      </p:sp>
      <p:sp>
        <p:nvSpPr>
          <p:cNvPr id="3" name="Content Placeholder 2">
            <a:extLst>
              <a:ext uri="{FF2B5EF4-FFF2-40B4-BE49-F238E27FC236}">
                <a16:creationId xmlns:a16="http://schemas.microsoft.com/office/drawing/2014/main" id="{4A5A03D6-5A20-A31D-3450-5AE0F0475251}"/>
              </a:ext>
            </a:extLst>
          </p:cNvPr>
          <p:cNvSpPr>
            <a:spLocks noGrp="1"/>
          </p:cNvSpPr>
          <p:nvPr>
            <p:ph idx="1"/>
          </p:nvPr>
        </p:nvSpPr>
        <p:spPr/>
        <p:txBody>
          <a:bodyPr/>
          <a:lstStyle/>
          <a:p>
            <a:r>
              <a:rPr lang="en-IN" b="1" i="0" dirty="0">
                <a:solidFill>
                  <a:srgbClr val="273239"/>
                </a:solidFill>
                <a:effectLst/>
                <a:latin typeface="Nunito" pitchFamily="2" charset="77"/>
              </a:rPr>
              <a:t>Time complexity: </a:t>
            </a:r>
            <a:r>
              <a:rPr lang="en-IN" b="0" i="0" dirty="0">
                <a:solidFill>
                  <a:srgbClr val="273239"/>
                </a:solidFill>
                <a:effectLst/>
                <a:latin typeface="Nunito" pitchFamily="2" charset="77"/>
              </a:rPr>
              <a:t>O(V + E), where V is the number of vertices and E is the number of edges in the graph.</a:t>
            </a:r>
            <a:br>
              <a:rPr lang="en-IN" dirty="0"/>
            </a:br>
            <a:endParaRPr lang="en-IN" dirty="0"/>
          </a:p>
          <a:p>
            <a:r>
              <a:rPr lang="en-IN" b="1" i="0" dirty="0">
                <a:solidFill>
                  <a:srgbClr val="273239"/>
                </a:solidFill>
                <a:effectLst/>
                <a:latin typeface="Nunito" pitchFamily="2" charset="77"/>
              </a:rPr>
              <a:t>Auxiliary Space: </a:t>
            </a:r>
            <a:r>
              <a:rPr lang="en-IN" b="0" i="0" dirty="0">
                <a:solidFill>
                  <a:srgbClr val="273239"/>
                </a:solidFill>
                <a:effectLst/>
                <a:latin typeface="Nunito" pitchFamily="2" charset="77"/>
              </a:rPr>
              <a:t>O(V + E), since an extra visited array of size V is required, And stack size for recursive calls to </a:t>
            </a:r>
            <a:r>
              <a:rPr lang="en-IN" b="0" i="0" dirty="0" err="1">
                <a:solidFill>
                  <a:srgbClr val="273239"/>
                </a:solidFill>
                <a:effectLst/>
                <a:latin typeface="Nunito" pitchFamily="2" charset="77"/>
              </a:rPr>
              <a:t>DFSRec</a:t>
            </a:r>
            <a:r>
              <a:rPr lang="en-IN" b="0" i="0" dirty="0">
                <a:solidFill>
                  <a:srgbClr val="273239"/>
                </a:solidFill>
                <a:effectLst/>
                <a:latin typeface="Nunito" pitchFamily="2" charset="77"/>
              </a:rPr>
              <a:t> function.</a:t>
            </a:r>
            <a:endParaRPr lang="en-US" dirty="0"/>
          </a:p>
        </p:txBody>
      </p:sp>
    </p:spTree>
    <p:extLst>
      <p:ext uri="{BB962C8B-B14F-4D97-AF65-F5344CB8AC3E}">
        <p14:creationId xmlns:p14="http://schemas.microsoft.com/office/powerpoint/2010/main" val="19387654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D9288-6D00-AB49-B60F-EEB68C610E9A}"/>
              </a:ext>
            </a:extLst>
          </p:cNvPr>
          <p:cNvSpPr>
            <a:spLocks noGrp="1"/>
          </p:cNvSpPr>
          <p:nvPr>
            <p:ph type="title"/>
          </p:nvPr>
        </p:nvSpPr>
        <p:spPr/>
        <p:txBody>
          <a:bodyPr>
            <a:normAutofit/>
          </a:bodyPr>
          <a:lstStyle/>
          <a:p>
            <a:r>
              <a:rPr lang="en-IN" b="1" i="0" dirty="0">
                <a:solidFill>
                  <a:srgbClr val="273239"/>
                </a:solidFill>
                <a:effectLst/>
                <a:latin typeface="Nunito" pitchFamily="2" charset="77"/>
              </a:rPr>
              <a:t>DFS for Complete Traversal of Disconnected Directed Graphs</a:t>
            </a:r>
            <a:endParaRPr lang="en-US" dirty="0"/>
          </a:p>
        </p:txBody>
      </p:sp>
      <p:sp>
        <p:nvSpPr>
          <p:cNvPr id="3" name="Content Placeholder 2">
            <a:extLst>
              <a:ext uri="{FF2B5EF4-FFF2-40B4-BE49-F238E27FC236}">
                <a16:creationId xmlns:a16="http://schemas.microsoft.com/office/drawing/2014/main" id="{4D76775B-8694-EE02-8260-555A591C141D}"/>
              </a:ext>
            </a:extLst>
          </p:cNvPr>
          <p:cNvSpPr>
            <a:spLocks noGrp="1"/>
          </p:cNvSpPr>
          <p:nvPr>
            <p:ph idx="1"/>
          </p:nvPr>
        </p:nvSpPr>
        <p:spPr/>
        <p:txBody>
          <a:bodyPr>
            <a:normAutofit fontScale="92500" lnSpcReduction="20000"/>
          </a:bodyPr>
          <a:lstStyle/>
          <a:p>
            <a:pPr algn="l" rtl="0" fontAlgn="base"/>
            <a:r>
              <a:rPr lang="en-IN" b="0" i="0" dirty="0">
                <a:solidFill>
                  <a:srgbClr val="273239"/>
                </a:solidFill>
                <a:effectLst/>
                <a:latin typeface="Nunito" pitchFamily="2" charset="77"/>
              </a:rPr>
              <a:t>In a directed graph, edges have a specific direction means we can travel from one vertex to another only in the direction the edge points. </a:t>
            </a:r>
          </a:p>
          <a:p>
            <a:pPr algn="l" rtl="0" fontAlgn="base"/>
            <a:r>
              <a:rPr lang="en-IN" b="0" i="0" dirty="0">
                <a:solidFill>
                  <a:srgbClr val="273239"/>
                </a:solidFill>
                <a:effectLst/>
                <a:latin typeface="Nunito" pitchFamily="2" charset="77"/>
              </a:rPr>
              <a:t>A </a:t>
            </a:r>
            <a:r>
              <a:rPr lang="en-IN" b="1" i="0" dirty="0">
                <a:solidFill>
                  <a:srgbClr val="273239"/>
                </a:solidFill>
                <a:effectLst/>
                <a:latin typeface="Nunito" pitchFamily="2" charset="77"/>
              </a:rPr>
              <a:t>disconnected</a:t>
            </a:r>
            <a:r>
              <a:rPr lang="en-IN" b="0" i="0" dirty="0">
                <a:solidFill>
                  <a:srgbClr val="273239"/>
                </a:solidFill>
                <a:effectLst/>
                <a:latin typeface="Nunito" pitchFamily="2" charset="77"/>
              </a:rPr>
              <a:t> </a:t>
            </a:r>
            <a:r>
              <a:rPr lang="en-IN" b="1" i="0" dirty="0">
                <a:solidFill>
                  <a:srgbClr val="273239"/>
                </a:solidFill>
                <a:effectLst/>
                <a:latin typeface="Nunito" pitchFamily="2" charset="77"/>
              </a:rPr>
              <a:t>graph</a:t>
            </a:r>
            <a:r>
              <a:rPr lang="en-IN" b="0" i="0" dirty="0">
                <a:solidFill>
                  <a:srgbClr val="273239"/>
                </a:solidFill>
                <a:effectLst/>
                <a:latin typeface="Nunito" pitchFamily="2" charset="77"/>
              </a:rPr>
              <a:t> is one in which not all vertices are reachable from a single vertex.</a:t>
            </a:r>
          </a:p>
          <a:p>
            <a:pPr algn="l" rtl="0" fontAlgn="base"/>
            <a:r>
              <a:rPr lang="en-IN" b="0" i="0" dirty="0">
                <a:solidFill>
                  <a:srgbClr val="273239"/>
                </a:solidFill>
                <a:effectLst/>
                <a:latin typeface="Nunito" pitchFamily="2" charset="77"/>
              </a:rPr>
              <a:t>The above implementation takes a source as an input and prints only those vertices that are reachable from the source and would not print all vertices in case of disconnected graph. Let us now talk about the algorithm that prints all vertices without any source and the graph maybe disconnected.</a:t>
            </a:r>
          </a:p>
          <a:p>
            <a:pPr algn="l" rtl="0" fontAlgn="base"/>
            <a:r>
              <a:rPr lang="en-IN" b="0" i="0" dirty="0">
                <a:solidFill>
                  <a:srgbClr val="273239"/>
                </a:solidFill>
                <a:effectLst/>
                <a:latin typeface="Nunito" pitchFamily="2" charset="77"/>
              </a:rPr>
              <a:t>To handle such a graph in DFS, we must ensure that the DFS algorithm starts from every unvisited vertex and this results in covering all components of the graph</a:t>
            </a:r>
          </a:p>
          <a:p>
            <a:endParaRPr lang="en-US" dirty="0"/>
          </a:p>
        </p:txBody>
      </p:sp>
    </p:spTree>
    <p:extLst>
      <p:ext uri="{BB962C8B-B14F-4D97-AF65-F5344CB8AC3E}">
        <p14:creationId xmlns:p14="http://schemas.microsoft.com/office/powerpoint/2010/main" val="35629299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EF9469-5398-3DC9-3F76-CEADEB4A118A}"/>
              </a:ext>
            </a:extLst>
          </p:cNvPr>
          <p:cNvSpPr>
            <a:spLocks noGrp="1"/>
          </p:cNvSpPr>
          <p:nvPr>
            <p:ph idx="1"/>
          </p:nvPr>
        </p:nvSpPr>
        <p:spPr>
          <a:xfrm>
            <a:off x="259080" y="259080"/>
            <a:ext cx="5836920" cy="5917883"/>
          </a:xfrm>
        </p:spPr>
        <p:txBody>
          <a:bodyPr>
            <a:normAutofit/>
          </a:bodyPr>
          <a:lstStyle/>
          <a:p>
            <a:pPr marL="0" indent="0">
              <a:buNone/>
            </a:pPr>
            <a:r>
              <a:rPr lang="en-US" sz="1800" dirty="0"/>
              <a:t> // Recursive function for DFS traversal</a:t>
            </a:r>
          </a:p>
          <a:p>
            <a:pPr marL="0" indent="0">
              <a:buNone/>
            </a:pPr>
            <a:r>
              <a:rPr lang="en-US" sz="1800" dirty="0"/>
              <a:t>void </a:t>
            </a:r>
            <a:r>
              <a:rPr lang="en-US" sz="1800" dirty="0" err="1"/>
              <a:t>DFSRec</a:t>
            </a:r>
            <a:r>
              <a:rPr lang="en-US" sz="1800" dirty="0"/>
              <a:t>(List&lt;List&lt;Integer&gt; &gt; adj, </a:t>
            </a:r>
            <a:r>
              <a:rPr lang="en-US" sz="1800" dirty="0" err="1"/>
              <a:t>boolean</a:t>
            </a:r>
            <a:r>
              <a:rPr lang="en-US" sz="1800" dirty="0"/>
              <a:t>[] visited, int s){</a:t>
            </a:r>
          </a:p>
          <a:p>
            <a:pPr marL="0" indent="0">
              <a:buNone/>
            </a:pPr>
            <a:r>
              <a:rPr lang="en-US" sz="1800" dirty="0"/>
              <a:t>        visited[s] = true; </a:t>
            </a:r>
          </a:p>
          <a:p>
            <a:pPr marL="0" indent="0">
              <a:buNone/>
            </a:pPr>
            <a:r>
              <a:rPr lang="en-US" sz="1800" dirty="0"/>
              <a:t>        </a:t>
            </a:r>
            <a:r>
              <a:rPr lang="en-US" sz="1800" dirty="0" err="1"/>
              <a:t>System.out.print</a:t>
            </a:r>
            <a:r>
              <a:rPr lang="en-US" sz="1800" dirty="0"/>
              <a:t>(s + " "); </a:t>
            </a:r>
          </a:p>
          <a:p>
            <a:pPr marL="0" indent="0">
              <a:buNone/>
            </a:pPr>
            <a:endParaRPr lang="en-US" sz="1800" dirty="0"/>
          </a:p>
          <a:p>
            <a:pPr marL="0" indent="0">
              <a:buNone/>
            </a:pPr>
            <a:r>
              <a:rPr lang="en-US" sz="1800" dirty="0"/>
              <a:t>        // Recursively visit all adjacent vertices that are</a:t>
            </a:r>
          </a:p>
          <a:p>
            <a:pPr marL="0" indent="0">
              <a:buNone/>
            </a:pPr>
            <a:r>
              <a:rPr lang="en-US" sz="1800" dirty="0"/>
              <a:t>        // not visited yet</a:t>
            </a:r>
          </a:p>
          <a:p>
            <a:pPr marL="0" indent="0">
              <a:buNone/>
            </a:pPr>
            <a:r>
              <a:rPr lang="en-US" sz="1800" dirty="0"/>
              <a:t>        for (int </a:t>
            </a:r>
            <a:r>
              <a:rPr lang="en-US" sz="1800" dirty="0" err="1"/>
              <a:t>i</a:t>
            </a:r>
            <a:r>
              <a:rPr lang="en-US" sz="1800" dirty="0"/>
              <a:t> : </a:t>
            </a:r>
            <a:r>
              <a:rPr lang="en-US" sz="1800" dirty="0" err="1"/>
              <a:t>adj.get</a:t>
            </a:r>
            <a:r>
              <a:rPr lang="en-US" sz="1800" dirty="0"/>
              <a:t>(s)) {</a:t>
            </a:r>
          </a:p>
          <a:p>
            <a:pPr marL="0" indent="0">
              <a:buNone/>
            </a:pPr>
            <a:r>
              <a:rPr lang="en-US" sz="1800" dirty="0"/>
              <a:t>            if (!visited[</a:t>
            </a:r>
            <a:r>
              <a:rPr lang="en-US" sz="1800" dirty="0" err="1"/>
              <a:t>i</a:t>
            </a:r>
            <a:r>
              <a:rPr lang="en-US" sz="1800" dirty="0"/>
              <a:t>]) {</a:t>
            </a:r>
          </a:p>
          <a:p>
            <a:pPr marL="0" indent="0">
              <a:buNone/>
            </a:pPr>
            <a:r>
              <a:rPr lang="en-US" sz="1800" dirty="0"/>
              <a:t>                </a:t>
            </a:r>
            <a:r>
              <a:rPr lang="en-US" sz="1800" dirty="0" err="1"/>
              <a:t>DFSRec</a:t>
            </a:r>
            <a:r>
              <a:rPr lang="en-US" sz="1800" dirty="0"/>
              <a:t>(adj, visited, </a:t>
            </a:r>
            <a:r>
              <a:rPr lang="en-US" sz="1800" dirty="0" err="1"/>
              <a:t>i</a:t>
            </a:r>
            <a:r>
              <a:rPr lang="en-US" sz="1800" dirty="0"/>
              <a:t>);</a:t>
            </a:r>
          </a:p>
          <a:p>
            <a:pPr marL="0" indent="0">
              <a:buNone/>
            </a:pPr>
            <a:r>
              <a:rPr lang="en-US" sz="1800" dirty="0"/>
              <a:t>            }</a:t>
            </a:r>
          </a:p>
          <a:p>
            <a:pPr marL="0" indent="0">
              <a:buNone/>
            </a:pPr>
            <a:r>
              <a:rPr lang="en-US" sz="1800" dirty="0"/>
              <a:t>        }</a:t>
            </a:r>
          </a:p>
          <a:p>
            <a:pPr marL="0" indent="0">
              <a:buNone/>
            </a:pPr>
            <a:r>
              <a:rPr lang="en-US" sz="1800" dirty="0"/>
              <a:t>    }</a:t>
            </a:r>
          </a:p>
          <a:p>
            <a:pPr marL="0" indent="0">
              <a:buNone/>
            </a:pPr>
            <a:r>
              <a:rPr lang="en-US" sz="1800" dirty="0"/>
              <a:t>  </a:t>
            </a:r>
          </a:p>
        </p:txBody>
      </p:sp>
      <p:sp>
        <p:nvSpPr>
          <p:cNvPr id="4" name="Content Placeholder 2">
            <a:extLst>
              <a:ext uri="{FF2B5EF4-FFF2-40B4-BE49-F238E27FC236}">
                <a16:creationId xmlns:a16="http://schemas.microsoft.com/office/drawing/2014/main" id="{D5D32DDA-16BB-99C5-712E-5341AA8BB453}"/>
              </a:ext>
            </a:extLst>
          </p:cNvPr>
          <p:cNvSpPr txBox="1">
            <a:spLocks/>
          </p:cNvSpPr>
          <p:nvPr/>
        </p:nvSpPr>
        <p:spPr>
          <a:xfrm>
            <a:off x="6096000" y="289560"/>
            <a:ext cx="6096000" cy="59178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 Main DFS function to perform DFS for the entire graph</a:t>
            </a:r>
          </a:p>
          <a:p>
            <a:pPr marL="0" indent="0">
              <a:buNone/>
            </a:pPr>
            <a:r>
              <a:rPr lang="en-US" sz="1800" dirty="0"/>
              <a:t>void DFS(List&lt;List&lt;Integer&gt; &gt; adj, int V){</a:t>
            </a:r>
          </a:p>
          <a:p>
            <a:pPr marL="0" indent="0">
              <a:buNone/>
            </a:pPr>
            <a:r>
              <a:rPr lang="en-US" sz="1800" dirty="0"/>
              <a:t>        </a:t>
            </a:r>
            <a:r>
              <a:rPr lang="en-US" sz="1800" dirty="0" err="1"/>
              <a:t>boolean</a:t>
            </a:r>
            <a:r>
              <a:rPr lang="en-US" sz="1800" dirty="0"/>
              <a:t>[] visited = new </a:t>
            </a:r>
            <a:r>
              <a:rPr lang="en-US" sz="1800" dirty="0" err="1"/>
              <a:t>boolean</a:t>
            </a:r>
            <a:r>
              <a:rPr lang="en-US" sz="1800" dirty="0"/>
              <a:t>[V];</a:t>
            </a:r>
          </a:p>
          <a:p>
            <a:pPr marL="0" indent="0">
              <a:buNone/>
            </a:pPr>
            <a:endParaRPr lang="en-US" sz="1800" dirty="0"/>
          </a:p>
          <a:p>
            <a:pPr marL="0" indent="0">
              <a:buNone/>
            </a:pPr>
            <a:r>
              <a:rPr lang="en-US" sz="1800" dirty="0"/>
              <a:t>// Loop through all vertices to handle disconnected graph</a:t>
            </a:r>
          </a:p>
          <a:p>
            <a:pPr marL="0" indent="0">
              <a:buNone/>
            </a:pPr>
            <a:r>
              <a:rPr lang="en-US" sz="1800" dirty="0"/>
              <a:t>        for (int </a:t>
            </a:r>
            <a:r>
              <a:rPr lang="en-US" sz="1800" dirty="0" err="1"/>
              <a:t>i</a:t>
            </a:r>
            <a:r>
              <a:rPr lang="en-US" sz="1800" dirty="0"/>
              <a:t> = 0; </a:t>
            </a:r>
            <a:r>
              <a:rPr lang="en-US" sz="1800" dirty="0" err="1"/>
              <a:t>i</a:t>
            </a:r>
            <a:r>
              <a:rPr lang="en-US" sz="1800" dirty="0"/>
              <a:t> &lt; V; </a:t>
            </a:r>
            <a:r>
              <a:rPr lang="en-US" sz="1800" dirty="0" err="1"/>
              <a:t>i</a:t>
            </a:r>
            <a:r>
              <a:rPr lang="en-US" sz="1800" dirty="0"/>
              <a:t>++) {</a:t>
            </a:r>
          </a:p>
          <a:p>
            <a:pPr marL="0" indent="0">
              <a:buNone/>
            </a:pPr>
            <a:r>
              <a:rPr lang="en-US" sz="1800" dirty="0"/>
              <a:t>            if (!visited[</a:t>
            </a:r>
            <a:r>
              <a:rPr lang="en-US" sz="1800" dirty="0" err="1"/>
              <a:t>i</a:t>
            </a:r>
            <a:r>
              <a:rPr lang="en-US" sz="1800" dirty="0"/>
              <a:t>]) {</a:t>
            </a:r>
          </a:p>
          <a:p>
            <a:pPr marL="0" indent="0">
              <a:buNone/>
            </a:pPr>
            <a:r>
              <a:rPr lang="en-US" sz="1800" dirty="0"/>
              <a:t>                </a:t>
            </a:r>
            <a:r>
              <a:rPr lang="en-US" sz="1800" dirty="0" err="1"/>
              <a:t>DFSRec</a:t>
            </a:r>
            <a:r>
              <a:rPr lang="en-US" sz="1800" dirty="0"/>
              <a:t>(adj, visited, </a:t>
            </a:r>
            <a:r>
              <a:rPr lang="en-US" sz="1800" dirty="0" err="1"/>
              <a:t>i</a:t>
            </a:r>
            <a:r>
              <a:rPr lang="en-US" sz="1800" dirty="0"/>
              <a:t>);</a:t>
            </a:r>
          </a:p>
          <a:p>
            <a:pPr marL="0" indent="0">
              <a:buNone/>
            </a:pPr>
            <a:r>
              <a:rPr lang="en-US" sz="1800" dirty="0"/>
              <a:t>            }</a:t>
            </a:r>
          </a:p>
          <a:p>
            <a:pPr marL="0" indent="0">
              <a:buNone/>
            </a:pPr>
            <a:r>
              <a:rPr lang="en-US" sz="1800" dirty="0"/>
              <a:t>        }</a:t>
            </a:r>
          </a:p>
          <a:p>
            <a:pPr marL="0" indent="0">
              <a:buNone/>
            </a:pPr>
            <a:r>
              <a:rPr lang="en-US" sz="1800" dirty="0"/>
              <a:t>    }</a:t>
            </a:r>
          </a:p>
        </p:txBody>
      </p:sp>
    </p:spTree>
    <p:extLst>
      <p:ext uri="{BB962C8B-B14F-4D97-AF65-F5344CB8AC3E}">
        <p14:creationId xmlns:p14="http://schemas.microsoft.com/office/powerpoint/2010/main" val="11474890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2E749-5C82-7E41-B3AA-71B833DB3A93}"/>
              </a:ext>
            </a:extLst>
          </p:cNvPr>
          <p:cNvSpPr>
            <a:spLocks noGrp="1"/>
          </p:cNvSpPr>
          <p:nvPr>
            <p:ph type="title"/>
          </p:nvPr>
        </p:nvSpPr>
        <p:spPr/>
        <p:txBody>
          <a:bodyPr/>
          <a:lstStyle/>
          <a:p>
            <a:r>
              <a:rPr lang="en-US" dirty="0"/>
              <a:t>Complexity Analysis</a:t>
            </a:r>
          </a:p>
        </p:txBody>
      </p:sp>
      <p:sp>
        <p:nvSpPr>
          <p:cNvPr id="3" name="Content Placeholder 2">
            <a:extLst>
              <a:ext uri="{FF2B5EF4-FFF2-40B4-BE49-F238E27FC236}">
                <a16:creationId xmlns:a16="http://schemas.microsoft.com/office/drawing/2014/main" id="{6C90D9BB-9DBC-7FA0-15F5-EC30EFE339D2}"/>
              </a:ext>
            </a:extLst>
          </p:cNvPr>
          <p:cNvSpPr>
            <a:spLocks noGrp="1"/>
          </p:cNvSpPr>
          <p:nvPr>
            <p:ph idx="1"/>
          </p:nvPr>
        </p:nvSpPr>
        <p:spPr/>
        <p:txBody>
          <a:bodyPr/>
          <a:lstStyle/>
          <a:p>
            <a:r>
              <a:rPr lang="en-IN" b="1" i="0" dirty="0">
                <a:solidFill>
                  <a:srgbClr val="273239"/>
                </a:solidFill>
                <a:effectLst/>
                <a:latin typeface="Nunito" pitchFamily="2" charset="77"/>
              </a:rPr>
              <a:t>Time Complexity: </a:t>
            </a:r>
            <a:r>
              <a:rPr lang="en-IN" b="0" i="0" dirty="0">
                <a:solidFill>
                  <a:srgbClr val="273239"/>
                </a:solidFill>
                <a:effectLst/>
                <a:latin typeface="Nunito" pitchFamily="2" charset="77"/>
              </a:rPr>
              <a:t>O(V + E). Note that the time complexity is same here because we visit every vertex at most once and every edge is traversed at most once (in directed) and twice in undirected.</a:t>
            </a:r>
            <a:br>
              <a:rPr lang="en-IN" dirty="0"/>
            </a:br>
            <a:endParaRPr lang="en-IN" dirty="0"/>
          </a:p>
          <a:p>
            <a:r>
              <a:rPr lang="en-IN" b="1" i="0" dirty="0">
                <a:solidFill>
                  <a:srgbClr val="273239"/>
                </a:solidFill>
                <a:effectLst/>
                <a:latin typeface="Nunito" pitchFamily="2" charset="77"/>
              </a:rPr>
              <a:t>Auxiliary Space: </a:t>
            </a:r>
            <a:r>
              <a:rPr lang="en-IN" b="0" i="0" dirty="0">
                <a:solidFill>
                  <a:srgbClr val="273239"/>
                </a:solidFill>
                <a:effectLst/>
                <a:latin typeface="Nunito" pitchFamily="2" charset="77"/>
              </a:rPr>
              <a:t>O(V + E), since an extra visited array of size V is required, And stack size for recursive calls to </a:t>
            </a:r>
            <a:r>
              <a:rPr lang="en-IN" b="0" i="0" dirty="0" err="1">
                <a:solidFill>
                  <a:srgbClr val="273239"/>
                </a:solidFill>
                <a:effectLst/>
                <a:latin typeface="Nunito" pitchFamily="2" charset="77"/>
              </a:rPr>
              <a:t>DFSRec</a:t>
            </a:r>
            <a:r>
              <a:rPr lang="en-IN" b="0" i="0" dirty="0">
                <a:solidFill>
                  <a:srgbClr val="273239"/>
                </a:solidFill>
                <a:effectLst/>
                <a:latin typeface="Nunito" pitchFamily="2" charset="77"/>
              </a:rPr>
              <a:t> function.</a:t>
            </a:r>
            <a:endParaRPr lang="en-US" dirty="0"/>
          </a:p>
        </p:txBody>
      </p:sp>
    </p:spTree>
    <p:extLst>
      <p:ext uri="{BB962C8B-B14F-4D97-AF65-F5344CB8AC3E}">
        <p14:creationId xmlns:p14="http://schemas.microsoft.com/office/powerpoint/2010/main" val="26841766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C6D85-8222-8BD0-79DF-B38964D9F21C}"/>
              </a:ext>
            </a:extLst>
          </p:cNvPr>
          <p:cNvSpPr>
            <a:spLocks noGrp="1"/>
          </p:cNvSpPr>
          <p:nvPr>
            <p:ph type="title"/>
          </p:nvPr>
        </p:nvSpPr>
        <p:spPr/>
        <p:txBody>
          <a:bodyPr>
            <a:normAutofit/>
          </a:bodyPr>
          <a:lstStyle/>
          <a:p>
            <a:r>
              <a:rPr lang="en-IN" b="1" i="0" dirty="0">
                <a:solidFill>
                  <a:srgbClr val="273239"/>
                </a:solidFill>
                <a:effectLst/>
                <a:latin typeface="Source Sans 3"/>
              </a:rPr>
              <a:t>BFS vs DFS</a:t>
            </a:r>
            <a:endParaRPr lang="en-US" dirty="0"/>
          </a:p>
        </p:txBody>
      </p:sp>
      <p:sp>
        <p:nvSpPr>
          <p:cNvPr id="3" name="Content Placeholder 2">
            <a:extLst>
              <a:ext uri="{FF2B5EF4-FFF2-40B4-BE49-F238E27FC236}">
                <a16:creationId xmlns:a16="http://schemas.microsoft.com/office/drawing/2014/main" id="{B7C1E97D-7498-034E-5364-C776C2834F87}"/>
              </a:ext>
            </a:extLst>
          </p:cNvPr>
          <p:cNvSpPr>
            <a:spLocks noGrp="1"/>
          </p:cNvSpPr>
          <p:nvPr>
            <p:ph idx="1"/>
          </p:nvPr>
        </p:nvSpPr>
        <p:spPr/>
        <p:txBody>
          <a:bodyPr/>
          <a:lstStyle/>
          <a:p>
            <a:endParaRPr lang="en-US"/>
          </a:p>
        </p:txBody>
      </p:sp>
      <p:pic>
        <p:nvPicPr>
          <p:cNvPr id="19458" name="Picture 2" descr="bfs_vs_dfs">
            <a:extLst>
              <a:ext uri="{FF2B5EF4-FFF2-40B4-BE49-F238E27FC236}">
                <a16:creationId xmlns:a16="http://schemas.microsoft.com/office/drawing/2014/main" id="{BA9545BC-39BD-209D-CFEA-F74262D325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69376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191D18F-1D71-2A6B-415C-459259B51DED}"/>
              </a:ext>
            </a:extLst>
          </p:cNvPr>
          <p:cNvGraphicFramePr>
            <a:graphicFrameLocks noGrp="1"/>
          </p:cNvGraphicFramePr>
          <p:nvPr>
            <p:ph idx="1"/>
            <p:extLst>
              <p:ext uri="{D42A27DB-BD31-4B8C-83A1-F6EECF244321}">
                <p14:modId xmlns:p14="http://schemas.microsoft.com/office/powerpoint/2010/main" val="3079831942"/>
              </p:ext>
            </p:extLst>
          </p:nvPr>
        </p:nvGraphicFramePr>
        <p:xfrm>
          <a:off x="0" y="0"/>
          <a:ext cx="12192000" cy="7012473"/>
        </p:xfrm>
        <a:graphic>
          <a:graphicData uri="http://schemas.openxmlformats.org/drawingml/2006/table">
            <a:tbl>
              <a:tblPr firstRow="1" bandRow="1">
                <a:tableStyleId>{5C22544A-7EE6-4342-B048-85BDC9FD1C3A}</a:tableStyleId>
              </a:tblPr>
              <a:tblGrid>
                <a:gridCol w="2545080">
                  <a:extLst>
                    <a:ext uri="{9D8B030D-6E8A-4147-A177-3AD203B41FA5}">
                      <a16:colId xmlns:a16="http://schemas.microsoft.com/office/drawing/2014/main" val="256500587"/>
                    </a:ext>
                  </a:extLst>
                </a:gridCol>
                <a:gridCol w="4892040">
                  <a:extLst>
                    <a:ext uri="{9D8B030D-6E8A-4147-A177-3AD203B41FA5}">
                      <a16:colId xmlns:a16="http://schemas.microsoft.com/office/drawing/2014/main" val="2378078122"/>
                    </a:ext>
                  </a:extLst>
                </a:gridCol>
                <a:gridCol w="4754880">
                  <a:extLst>
                    <a:ext uri="{9D8B030D-6E8A-4147-A177-3AD203B41FA5}">
                      <a16:colId xmlns:a16="http://schemas.microsoft.com/office/drawing/2014/main" val="876015461"/>
                    </a:ext>
                  </a:extLst>
                </a:gridCol>
              </a:tblGrid>
              <a:tr h="312311">
                <a:tc>
                  <a:txBody>
                    <a:bodyPr/>
                    <a:lstStyle/>
                    <a:p>
                      <a:r>
                        <a:rPr lang="en-IN" sz="1800" b="1" i="0" kern="1200" dirty="0">
                          <a:solidFill>
                            <a:schemeClr val="lt1"/>
                          </a:solidFill>
                          <a:effectLst/>
                          <a:latin typeface="+mn-lt"/>
                          <a:ea typeface="+mn-ea"/>
                          <a:cs typeface="+mn-cs"/>
                        </a:rPr>
                        <a:t>Parameters</a:t>
                      </a:r>
                      <a:endParaRPr lang="en-US" dirty="0"/>
                    </a:p>
                  </a:txBody>
                  <a:tcPr/>
                </a:tc>
                <a:tc>
                  <a:txBody>
                    <a:bodyPr/>
                    <a:lstStyle/>
                    <a:p>
                      <a:r>
                        <a:rPr lang="en-US" dirty="0"/>
                        <a:t>BFS</a:t>
                      </a:r>
                    </a:p>
                  </a:txBody>
                  <a:tcPr/>
                </a:tc>
                <a:tc>
                  <a:txBody>
                    <a:bodyPr/>
                    <a:lstStyle/>
                    <a:p>
                      <a:r>
                        <a:rPr lang="en-US" dirty="0"/>
                        <a:t>DFS</a:t>
                      </a:r>
                    </a:p>
                  </a:txBody>
                  <a:tcPr/>
                </a:tc>
                <a:extLst>
                  <a:ext uri="{0D108BD9-81ED-4DB2-BD59-A6C34878D82A}">
                    <a16:rowId xmlns:a16="http://schemas.microsoft.com/office/drawing/2014/main" val="3133851231"/>
                  </a:ext>
                </a:extLst>
              </a:tr>
              <a:tr h="539057">
                <a:tc>
                  <a:txBody>
                    <a:bodyPr/>
                    <a:lstStyle/>
                    <a:p>
                      <a:r>
                        <a:rPr lang="en-IN" sz="1800" b="1" i="0" kern="1200" dirty="0">
                          <a:solidFill>
                            <a:schemeClr val="dk1"/>
                          </a:solidFill>
                          <a:effectLst/>
                          <a:latin typeface="+mn-lt"/>
                          <a:ea typeface="+mn-ea"/>
                          <a:cs typeface="+mn-cs"/>
                        </a:rPr>
                        <a:t>Stands for</a:t>
                      </a:r>
                      <a:endParaRPr lang="en-US" dirty="0"/>
                    </a:p>
                  </a:txBody>
                  <a:tcPr/>
                </a:tc>
                <a:tc>
                  <a:txBody>
                    <a:bodyPr/>
                    <a:lstStyle/>
                    <a:p>
                      <a:r>
                        <a:rPr lang="en-IN" sz="1800" b="0" i="0" kern="1200" dirty="0">
                          <a:solidFill>
                            <a:schemeClr val="dk1"/>
                          </a:solidFill>
                          <a:effectLst/>
                          <a:latin typeface="+mn-lt"/>
                          <a:ea typeface="+mn-ea"/>
                          <a:cs typeface="+mn-cs"/>
                        </a:rPr>
                        <a:t>BFS stands for Breadth First Search.</a:t>
                      </a:r>
                      <a:endParaRPr lang="en-US" dirty="0"/>
                    </a:p>
                  </a:txBody>
                  <a:tcPr/>
                </a:tc>
                <a:tc>
                  <a:txBody>
                    <a:bodyPr/>
                    <a:lstStyle/>
                    <a:p>
                      <a:r>
                        <a:rPr lang="en-IN" sz="1800" b="0" i="0" kern="1200" dirty="0">
                          <a:solidFill>
                            <a:schemeClr val="dk1"/>
                          </a:solidFill>
                          <a:effectLst/>
                          <a:latin typeface="+mn-lt"/>
                          <a:ea typeface="+mn-ea"/>
                          <a:cs typeface="+mn-cs"/>
                        </a:rPr>
                        <a:t>DFS stands for Depth First Search.</a:t>
                      </a:r>
                      <a:endParaRPr lang="en-US" dirty="0"/>
                    </a:p>
                  </a:txBody>
                  <a:tcPr/>
                </a:tc>
                <a:extLst>
                  <a:ext uri="{0D108BD9-81ED-4DB2-BD59-A6C34878D82A}">
                    <a16:rowId xmlns:a16="http://schemas.microsoft.com/office/drawing/2014/main" val="888527631"/>
                  </a:ext>
                </a:extLst>
              </a:tr>
              <a:tr h="770081">
                <a:tc>
                  <a:txBody>
                    <a:bodyPr/>
                    <a:lstStyle/>
                    <a:p>
                      <a:r>
                        <a:rPr lang="en-IN" sz="1800" b="1" i="0" kern="1200" dirty="0">
                          <a:solidFill>
                            <a:schemeClr val="dk1"/>
                          </a:solidFill>
                          <a:effectLst/>
                          <a:latin typeface="+mn-lt"/>
                          <a:ea typeface="+mn-ea"/>
                          <a:cs typeface="+mn-cs"/>
                        </a:rPr>
                        <a:t>Data Structure</a:t>
                      </a:r>
                      <a:endParaRPr lang="en-US" dirty="0"/>
                    </a:p>
                  </a:txBody>
                  <a:tcPr/>
                </a:tc>
                <a:tc>
                  <a:txBody>
                    <a:bodyPr/>
                    <a:lstStyle/>
                    <a:p>
                      <a:r>
                        <a:rPr lang="en-IN" sz="1800" b="0" i="0" kern="1200" dirty="0">
                          <a:solidFill>
                            <a:schemeClr val="dk1"/>
                          </a:solidFill>
                          <a:effectLst/>
                          <a:latin typeface="+mn-lt"/>
                          <a:ea typeface="+mn-ea"/>
                          <a:cs typeface="+mn-cs"/>
                        </a:rPr>
                        <a:t>BFS(Breadth First Search) uses Queue data structure for finding the shortest path.</a:t>
                      </a:r>
                      <a:endParaRPr lang="en-US" dirty="0"/>
                    </a:p>
                  </a:txBody>
                  <a:tcPr/>
                </a:tc>
                <a:tc>
                  <a:txBody>
                    <a:bodyPr/>
                    <a:lstStyle/>
                    <a:p>
                      <a:r>
                        <a:rPr lang="en-IN" sz="1800" b="0" i="0" kern="1200" dirty="0">
                          <a:solidFill>
                            <a:schemeClr val="dk1"/>
                          </a:solidFill>
                          <a:effectLst/>
                          <a:latin typeface="+mn-lt"/>
                          <a:ea typeface="+mn-ea"/>
                          <a:cs typeface="+mn-cs"/>
                        </a:rPr>
                        <a:t>DFS(Depth First Search) uses Stack data structure.</a:t>
                      </a:r>
                      <a:endParaRPr lang="en-US" dirty="0"/>
                    </a:p>
                  </a:txBody>
                  <a:tcPr/>
                </a:tc>
                <a:extLst>
                  <a:ext uri="{0D108BD9-81ED-4DB2-BD59-A6C34878D82A}">
                    <a16:rowId xmlns:a16="http://schemas.microsoft.com/office/drawing/2014/main" val="874704531"/>
                  </a:ext>
                </a:extLst>
              </a:tr>
              <a:tr h="1463154">
                <a:tc>
                  <a:txBody>
                    <a:bodyPr/>
                    <a:lstStyle/>
                    <a:p>
                      <a:r>
                        <a:rPr lang="en-IN" sz="1800" b="1" i="0" kern="1200" dirty="0">
                          <a:solidFill>
                            <a:schemeClr val="dk1"/>
                          </a:solidFill>
                          <a:effectLst/>
                          <a:latin typeface="+mn-lt"/>
                          <a:ea typeface="+mn-ea"/>
                          <a:cs typeface="+mn-cs"/>
                        </a:rPr>
                        <a:t>Definition</a:t>
                      </a:r>
                      <a:endParaRPr lang="en-US" dirty="0"/>
                    </a:p>
                  </a:txBody>
                  <a:tcPr/>
                </a:tc>
                <a:tc>
                  <a:txBody>
                    <a:bodyPr/>
                    <a:lstStyle/>
                    <a:p>
                      <a:r>
                        <a:rPr lang="en-IN" sz="1800" b="0" i="0" kern="1200" dirty="0">
                          <a:solidFill>
                            <a:schemeClr val="dk1"/>
                          </a:solidFill>
                          <a:effectLst/>
                          <a:latin typeface="+mn-lt"/>
                          <a:ea typeface="+mn-ea"/>
                          <a:cs typeface="+mn-cs"/>
                        </a:rPr>
                        <a:t>BFS is a traversal approach in which we first walk through all nodes on the same level before moving on to the next level.  </a:t>
                      </a:r>
                      <a:endParaRPr lang="en-US" dirty="0"/>
                    </a:p>
                  </a:txBody>
                  <a:tcPr/>
                </a:tc>
                <a:tc>
                  <a:txBody>
                    <a:bodyPr/>
                    <a:lstStyle/>
                    <a:p>
                      <a:r>
                        <a:rPr lang="en-IN" sz="1800" b="0" i="0" kern="1200" dirty="0">
                          <a:solidFill>
                            <a:schemeClr val="dk1"/>
                          </a:solidFill>
                          <a:effectLst/>
                          <a:latin typeface="+mn-lt"/>
                          <a:ea typeface="+mn-ea"/>
                          <a:cs typeface="+mn-cs"/>
                        </a:rPr>
                        <a:t>DFS is also a traversal approach in which the traverse begins at the root node and proceeds through the nodes as far as possible until we reach the node with no unvisited nearby nodes.</a:t>
                      </a:r>
                      <a:endParaRPr lang="en-US" dirty="0"/>
                    </a:p>
                  </a:txBody>
                  <a:tcPr/>
                </a:tc>
                <a:extLst>
                  <a:ext uri="{0D108BD9-81ED-4DB2-BD59-A6C34878D82A}">
                    <a16:rowId xmlns:a16="http://schemas.microsoft.com/office/drawing/2014/main" val="283517627"/>
                  </a:ext>
                </a:extLst>
              </a:tr>
              <a:tr h="539057">
                <a:tc>
                  <a:txBody>
                    <a:bodyPr/>
                    <a:lstStyle/>
                    <a:p>
                      <a:r>
                        <a:rPr lang="en-IN" sz="1800" b="1" i="0" kern="1200" dirty="0">
                          <a:solidFill>
                            <a:schemeClr val="dk1"/>
                          </a:solidFill>
                          <a:effectLst/>
                          <a:latin typeface="+mn-lt"/>
                          <a:ea typeface="+mn-ea"/>
                          <a:cs typeface="+mn-cs"/>
                        </a:rPr>
                        <a:t>Conceptual Difference</a:t>
                      </a:r>
                      <a:endParaRPr lang="en-US" dirty="0"/>
                    </a:p>
                  </a:txBody>
                  <a:tcPr/>
                </a:tc>
                <a:tc>
                  <a:txBody>
                    <a:bodyPr/>
                    <a:lstStyle/>
                    <a:p>
                      <a:r>
                        <a:rPr lang="en-IN" sz="1800" b="0" i="0" kern="1200" dirty="0">
                          <a:solidFill>
                            <a:schemeClr val="dk1"/>
                          </a:solidFill>
                          <a:effectLst/>
                          <a:latin typeface="+mn-lt"/>
                          <a:ea typeface="+mn-ea"/>
                          <a:cs typeface="+mn-cs"/>
                        </a:rPr>
                        <a:t>BFS builds the tree level by level.</a:t>
                      </a:r>
                      <a:endParaRPr lang="en-US" dirty="0"/>
                    </a:p>
                  </a:txBody>
                  <a:tcPr/>
                </a:tc>
                <a:tc>
                  <a:txBody>
                    <a:bodyPr/>
                    <a:lstStyle/>
                    <a:p>
                      <a:r>
                        <a:rPr lang="en-IN" sz="1800" b="0" i="0" kern="1200" dirty="0">
                          <a:solidFill>
                            <a:schemeClr val="dk1"/>
                          </a:solidFill>
                          <a:effectLst/>
                          <a:latin typeface="+mn-lt"/>
                          <a:ea typeface="+mn-ea"/>
                          <a:cs typeface="+mn-cs"/>
                        </a:rPr>
                        <a:t>DFS builds the tree sub-tree by sub-tree.</a:t>
                      </a:r>
                      <a:endParaRPr lang="en-US" dirty="0"/>
                    </a:p>
                  </a:txBody>
                  <a:tcPr/>
                </a:tc>
                <a:extLst>
                  <a:ext uri="{0D108BD9-81ED-4DB2-BD59-A6C34878D82A}">
                    <a16:rowId xmlns:a16="http://schemas.microsoft.com/office/drawing/2014/main" val="3959847542"/>
                  </a:ext>
                </a:extLst>
              </a:tr>
              <a:tr h="539057">
                <a:tc>
                  <a:txBody>
                    <a:bodyPr/>
                    <a:lstStyle/>
                    <a:p>
                      <a:r>
                        <a:rPr lang="en-IN" sz="1800" b="1" i="0" kern="1200" dirty="0">
                          <a:solidFill>
                            <a:schemeClr val="dk1"/>
                          </a:solidFill>
                          <a:effectLst/>
                          <a:latin typeface="+mn-lt"/>
                          <a:ea typeface="+mn-ea"/>
                          <a:cs typeface="+mn-cs"/>
                        </a:rPr>
                        <a:t>Approach used</a:t>
                      </a:r>
                      <a:endParaRPr lang="en-US" dirty="0"/>
                    </a:p>
                  </a:txBody>
                  <a:tcPr/>
                </a:tc>
                <a:tc>
                  <a:txBody>
                    <a:bodyPr/>
                    <a:lstStyle/>
                    <a:p>
                      <a:r>
                        <a:rPr lang="en-IN" sz="1800" b="0" i="0" kern="1200" dirty="0">
                          <a:solidFill>
                            <a:schemeClr val="dk1"/>
                          </a:solidFill>
                          <a:effectLst/>
                          <a:latin typeface="+mn-lt"/>
                          <a:ea typeface="+mn-ea"/>
                          <a:cs typeface="+mn-cs"/>
                        </a:rPr>
                        <a:t>It works on the concept of FIFO (First In First Out). </a:t>
                      </a:r>
                      <a:endParaRPr lang="en-US" dirty="0"/>
                    </a:p>
                  </a:txBody>
                  <a:tcPr/>
                </a:tc>
                <a:tc>
                  <a:txBody>
                    <a:bodyPr/>
                    <a:lstStyle/>
                    <a:p>
                      <a:r>
                        <a:rPr lang="en-IN" sz="1800" b="0" i="0" kern="1200" dirty="0">
                          <a:solidFill>
                            <a:schemeClr val="dk1"/>
                          </a:solidFill>
                          <a:effectLst/>
                          <a:latin typeface="+mn-lt"/>
                          <a:ea typeface="+mn-ea"/>
                          <a:cs typeface="+mn-cs"/>
                        </a:rPr>
                        <a:t>It works on the concept of LIFO (Last In First Out).</a:t>
                      </a:r>
                      <a:endParaRPr lang="en-US" dirty="0"/>
                    </a:p>
                  </a:txBody>
                  <a:tcPr/>
                </a:tc>
                <a:extLst>
                  <a:ext uri="{0D108BD9-81ED-4DB2-BD59-A6C34878D82A}">
                    <a16:rowId xmlns:a16="http://schemas.microsoft.com/office/drawing/2014/main" val="2307045162"/>
                  </a:ext>
                </a:extLst>
              </a:tr>
              <a:tr h="770081">
                <a:tc>
                  <a:txBody>
                    <a:bodyPr/>
                    <a:lstStyle/>
                    <a:p>
                      <a:r>
                        <a:rPr lang="en-IN" sz="1800" b="1" i="0" kern="1200" dirty="0">
                          <a:solidFill>
                            <a:schemeClr val="dk1"/>
                          </a:solidFill>
                          <a:effectLst/>
                          <a:latin typeface="+mn-lt"/>
                          <a:ea typeface="+mn-ea"/>
                          <a:cs typeface="+mn-cs"/>
                        </a:rPr>
                        <a:t>Suitable for</a:t>
                      </a:r>
                      <a:endParaRPr lang="en-US" dirty="0"/>
                    </a:p>
                  </a:txBody>
                  <a:tcPr/>
                </a:tc>
                <a:tc>
                  <a:txBody>
                    <a:bodyPr/>
                    <a:lstStyle/>
                    <a:p>
                      <a:r>
                        <a:rPr lang="en-IN" sz="1800" b="0" i="0" kern="1200" dirty="0">
                          <a:solidFill>
                            <a:schemeClr val="dk1"/>
                          </a:solidFill>
                          <a:effectLst/>
                          <a:latin typeface="+mn-lt"/>
                          <a:ea typeface="+mn-ea"/>
                          <a:cs typeface="+mn-cs"/>
                        </a:rPr>
                        <a:t>BFS is more suitable for searching vertices closer to the given source.</a:t>
                      </a:r>
                      <a:endParaRPr lang="en-US" dirty="0"/>
                    </a:p>
                  </a:txBody>
                  <a:tcPr/>
                </a:tc>
                <a:tc>
                  <a:txBody>
                    <a:bodyPr/>
                    <a:lstStyle/>
                    <a:p>
                      <a:r>
                        <a:rPr lang="en-IN" sz="1800" b="0" i="0" kern="1200" dirty="0">
                          <a:solidFill>
                            <a:schemeClr val="dk1"/>
                          </a:solidFill>
                          <a:effectLst/>
                          <a:latin typeface="+mn-lt"/>
                          <a:ea typeface="+mn-ea"/>
                          <a:cs typeface="+mn-cs"/>
                        </a:rPr>
                        <a:t>DFS is more suitable when there are solutions away from source.</a:t>
                      </a:r>
                      <a:endParaRPr lang="en-US" dirty="0"/>
                    </a:p>
                  </a:txBody>
                  <a:tcPr/>
                </a:tc>
                <a:extLst>
                  <a:ext uri="{0D108BD9-81ED-4DB2-BD59-A6C34878D82A}">
                    <a16:rowId xmlns:a16="http://schemas.microsoft.com/office/drawing/2014/main" val="2740884912"/>
                  </a:ext>
                </a:extLst>
              </a:tr>
              <a:tr h="1925203">
                <a:tc>
                  <a:txBody>
                    <a:bodyPr/>
                    <a:lstStyle/>
                    <a:p>
                      <a:r>
                        <a:rPr lang="en-IN" sz="1800" b="1" i="0" kern="1200" dirty="0">
                          <a:solidFill>
                            <a:schemeClr val="dk1"/>
                          </a:solidFill>
                          <a:effectLst/>
                          <a:latin typeface="+mn-lt"/>
                          <a:ea typeface="+mn-ea"/>
                          <a:cs typeface="+mn-cs"/>
                        </a:rPr>
                        <a:t>Applications</a:t>
                      </a:r>
                      <a:endParaRPr lang="en-US" dirty="0"/>
                    </a:p>
                  </a:txBody>
                  <a:tcPr/>
                </a:tc>
                <a:tc>
                  <a:txBody>
                    <a:bodyPr/>
                    <a:lstStyle/>
                    <a:p>
                      <a:r>
                        <a:rPr lang="en-IN" sz="1800" b="0" i="0" kern="1200" dirty="0">
                          <a:solidFill>
                            <a:schemeClr val="dk1"/>
                          </a:solidFill>
                          <a:effectLst/>
                          <a:latin typeface="+mn-lt"/>
                          <a:ea typeface="+mn-ea"/>
                          <a:cs typeface="+mn-cs"/>
                        </a:rPr>
                        <a:t>BFS is used in various applications such as bipartite graphs, shortest paths, etc. If weight of every edge is same, then BFS gives shortest path from source to every other vertex.</a:t>
                      </a:r>
                      <a:endParaRPr lang="en-US" dirty="0"/>
                    </a:p>
                  </a:txBody>
                  <a:tcPr/>
                </a:tc>
                <a:tc>
                  <a:txBody>
                    <a:bodyPr/>
                    <a:lstStyle/>
                    <a:p>
                      <a:r>
                        <a:rPr lang="en-IN" sz="1800" b="0" i="0" kern="1200" dirty="0">
                          <a:solidFill>
                            <a:schemeClr val="dk1"/>
                          </a:solidFill>
                          <a:effectLst/>
                          <a:latin typeface="+mn-lt"/>
                          <a:ea typeface="+mn-ea"/>
                          <a:cs typeface="+mn-cs"/>
                        </a:rPr>
                        <a:t>DFS is used in various applications such as acyclic graphs and finding strongly connected components etc. There are many applications where both BFS and DFS can be used like Topological Sorting, Cycle Detection, etc.</a:t>
                      </a:r>
                      <a:endParaRPr lang="en-US" dirty="0"/>
                    </a:p>
                  </a:txBody>
                  <a:tcPr/>
                </a:tc>
                <a:extLst>
                  <a:ext uri="{0D108BD9-81ED-4DB2-BD59-A6C34878D82A}">
                    <a16:rowId xmlns:a16="http://schemas.microsoft.com/office/drawing/2014/main" val="3857375154"/>
                  </a:ext>
                </a:extLst>
              </a:tr>
            </a:tbl>
          </a:graphicData>
        </a:graphic>
      </p:graphicFrame>
    </p:spTree>
    <p:extLst>
      <p:ext uri="{BB962C8B-B14F-4D97-AF65-F5344CB8AC3E}">
        <p14:creationId xmlns:p14="http://schemas.microsoft.com/office/powerpoint/2010/main" val="221890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783BB-F0C4-9E26-4171-15D36EE2D9E7}"/>
              </a:ext>
            </a:extLst>
          </p:cNvPr>
          <p:cNvSpPr>
            <a:spLocks noGrp="1"/>
          </p:cNvSpPr>
          <p:nvPr>
            <p:ph type="title"/>
          </p:nvPr>
        </p:nvSpPr>
        <p:spPr/>
        <p:txBody>
          <a:bodyPr>
            <a:normAutofit/>
          </a:bodyPr>
          <a:lstStyle/>
          <a:p>
            <a:r>
              <a:rPr lang="en-IN" b="1" i="0" dirty="0">
                <a:solidFill>
                  <a:srgbClr val="273239"/>
                </a:solidFill>
                <a:effectLst/>
                <a:latin typeface="Source Sans 3"/>
              </a:rPr>
              <a:t>Rotten Oranges - Minimum Time to Rot All</a:t>
            </a:r>
            <a:endParaRPr lang="en-US" dirty="0"/>
          </a:p>
        </p:txBody>
      </p:sp>
      <p:sp>
        <p:nvSpPr>
          <p:cNvPr id="3" name="Content Placeholder 2">
            <a:extLst>
              <a:ext uri="{FF2B5EF4-FFF2-40B4-BE49-F238E27FC236}">
                <a16:creationId xmlns:a16="http://schemas.microsoft.com/office/drawing/2014/main" id="{B4FF5A7B-9DE3-EE00-CB31-BF79FE4A1034}"/>
              </a:ext>
            </a:extLst>
          </p:cNvPr>
          <p:cNvSpPr>
            <a:spLocks noGrp="1"/>
          </p:cNvSpPr>
          <p:nvPr>
            <p:ph idx="1"/>
          </p:nvPr>
        </p:nvSpPr>
        <p:spPr/>
        <p:txBody>
          <a:bodyPr>
            <a:normAutofit fontScale="77500" lnSpcReduction="20000"/>
          </a:bodyPr>
          <a:lstStyle/>
          <a:p>
            <a:pPr marL="0" indent="0" algn="l" rtl="0" fontAlgn="base">
              <a:buNone/>
            </a:pPr>
            <a:r>
              <a:rPr lang="en-IN" b="0" i="0" dirty="0">
                <a:solidFill>
                  <a:srgbClr val="273239"/>
                </a:solidFill>
                <a:effectLst/>
                <a:latin typeface="Nunito" pitchFamily="2" charset="77"/>
              </a:rPr>
              <a:t>Given a matrix</a:t>
            </a:r>
            <a:r>
              <a:rPr lang="en-IN" b="1" i="0" dirty="0">
                <a:solidFill>
                  <a:srgbClr val="273239"/>
                </a:solidFill>
                <a:effectLst/>
                <a:latin typeface="Nunito" pitchFamily="2" charset="77"/>
              </a:rPr>
              <a:t> mat[][]</a:t>
            </a:r>
            <a:r>
              <a:rPr lang="en-IN" b="0" i="0" dirty="0">
                <a:solidFill>
                  <a:srgbClr val="273239"/>
                </a:solidFill>
                <a:effectLst/>
                <a:latin typeface="Nunito" pitchFamily="2" charset="77"/>
              </a:rPr>
              <a:t>, where each cell in the matrix can have values </a:t>
            </a:r>
            <a:r>
              <a:rPr lang="en-IN" b="1" i="0" dirty="0">
                <a:solidFill>
                  <a:srgbClr val="273239"/>
                </a:solidFill>
                <a:effectLst/>
                <a:latin typeface="Nunito" pitchFamily="2" charset="77"/>
              </a:rPr>
              <a:t>0, 1 or 2 </a:t>
            </a:r>
            <a:r>
              <a:rPr lang="en-IN" b="0" i="0" dirty="0">
                <a:solidFill>
                  <a:srgbClr val="273239"/>
                </a:solidFill>
                <a:effectLst/>
                <a:latin typeface="Nunito" pitchFamily="2" charset="77"/>
              </a:rPr>
              <a:t>which has the following meaning:  </a:t>
            </a:r>
          </a:p>
          <a:p>
            <a:pPr marL="457200" lvl="1" indent="0" fontAlgn="base">
              <a:buNone/>
            </a:pPr>
            <a:r>
              <a:rPr lang="en-IN" b="0" i="0" dirty="0">
                <a:solidFill>
                  <a:srgbClr val="273239"/>
                </a:solidFill>
                <a:effectLst/>
                <a:latin typeface="Nunito" pitchFamily="2" charset="77"/>
              </a:rPr>
              <a:t>0: Empty cell</a:t>
            </a:r>
          </a:p>
          <a:p>
            <a:pPr marL="457200" lvl="1" indent="0" fontAlgn="base">
              <a:buNone/>
            </a:pPr>
            <a:r>
              <a:rPr lang="en-IN" b="0" i="0" dirty="0">
                <a:solidFill>
                  <a:srgbClr val="273239"/>
                </a:solidFill>
                <a:effectLst/>
                <a:latin typeface="Nunito" pitchFamily="2" charset="77"/>
              </a:rPr>
              <a:t>1: Cells have fresh oranges</a:t>
            </a:r>
          </a:p>
          <a:p>
            <a:pPr marL="457200" lvl="1" indent="0" fontAlgn="base">
              <a:buNone/>
            </a:pPr>
            <a:r>
              <a:rPr lang="en-IN" b="0" i="0" dirty="0">
                <a:solidFill>
                  <a:srgbClr val="273239"/>
                </a:solidFill>
                <a:effectLst/>
                <a:latin typeface="Nunito" pitchFamily="2" charset="77"/>
              </a:rPr>
              <a:t>2: Cells have rotten oranges</a:t>
            </a:r>
          </a:p>
          <a:p>
            <a:pPr marL="0" indent="0" algn="l" rtl="0" fontAlgn="base">
              <a:buNone/>
            </a:pPr>
            <a:r>
              <a:rPr lang="en-IN" b="0" i="0" dirty="0">
                <a:solidFill>
                  <a:srgbClr val="273239"/>
                </a:solidFill>
                <a:effectLst/>
                <a:latin typeface="Nunito" pitchFamily="2" charset="77"/>
              </a:rPr>
              <a:t>Find the </a:t>
            </a:r>
            <a:r>
              <a:rPr lang="en-IN" b="1" i="0" dirty="0">
                <a:solidFill>
                  <a:srgbClr val="273239"/>
                </a:solidFill>
                <a:effectLst/>
                <a:latin typeface="Nunito" pitchFamily="2" charset="77"/>
              </a:rPr>
              <a:t>minimum time</a:t>
            </a:r>
            <a:r>
              <a:rPr lang="en-IN" b="0" i="0" dirty="0">
                <a:solidFill>
                  <a:srgbClr val="273239"/>
                </a:solidFill>
                <a:effectLst/>
                <a:latin typeface="Nunito" pitchFamily="2" charset="77"/>
              </a:rPr>
              <a:t> required so that all the oranges become rotten. A rotten orange at index (</a:t>
            </a:r>
            <a:r>
              <a:rPr lang="en-IN" b="0" i="0" dirty="0" err="1">
                <a:solidFill>
                  <a:srgbClr val="273239"/>
                </a:solidFill>
                <a:effectLst/>
                <a:latin typeface="Nunito" pitchFamily="2" charset="77"/>
              </a:rPr>
              <a:t>i,j</a:t>
            </a:r>
            <a:r>
              <a:rPr lang="en-IN" b="0" i="0" dirty="0">
                <a:solidFill>
                  <a:srgbClr val="273239"/>
                </a:solidFill>
                <a:effectLst/>
                <a:latin typeface="Nunito" pitchFamily="2" charset="77"/>
              </a:rPr>
              <a:t>) can rot other fresh oranges which are its neighbours (up, down, left, and right). Each rotten orange takes 1 unit of time to rot all its adjacent fresh oranges.</a:t>
            </a:r>
          </a:p>
          <a:p>
            <a:pPr marL="0" indent="0" algn="l" rtl="0" fontAlgn="base">
              <a:buNone/>
            </a:pPr>
            <a:r>
              <a:rPr lang="en-IN" b="1" i="0" dirty="0">
                <a:solidFill>
                  <a:srgbClr val="273239"/>
                </a:solidFill>
                <a:effectLst/>
                <a:latin typeface="Nunito" pitchFamily="2" charset="77"/>
              </a:rPr>
              <a:t>Note :</a:t>
            </a:r>
            <a:r>
              <a:rPr lang="en-IN" b="0" i="0" dirty="0">
                <a:solidFill>
                  <a:srgbClr val="273239"/>
                </a:solidFill>
                <a:effectLst/>
                <a:latin typeface="Nunito" pitchFamily="2" charset="77"/>
              </a:rPr>
              <a:t> If it is impossible to rot every orange then simply return </a:t>
            </a:r>
            <a:r>
              <a:rPr lang="en-IN" b="1" i="0" dirty="0">
                <a:solidFill>
                  <a:srgbClr val="273239"/>
                </a:solidFill>
                <a:effectLst/>
                <a:latin typeface="Nunito" pitchFamily="2" charset="77"/>
              </a:rPr>
              <a:t>-1</a:t>
            </a:r>
            <a:r>
              <a:rPr lang="en-IN" b="0" i="0" dirty="0">
                <a:solidFill>
                  <a:srgbClr val="273239"/>
                </a:solidFill>
                <a:effectLst/>
                <a:latin typeface="Nunito" pitchFamily="2" charset="77"/>
              </a:rPr>
              <a:t>.</a:t>
            </a:r>
          </a:p>
          <a:p>
            <a:pPr marL="0" indent="0" algn="l" rtl="0" fontAlgn="base">
              <a:buNone/>
            </a:pPr>
            <a:r>
              <a:rPr lang="en-IN" b="1" i="0" dirty="0">
                <a:solidFill>
                  <a:srgbClr val="273239"/>
                </a:solidFill>
                <a:effectLst/>
                <a:latin typeface="Nunito" pitchFamily="2" charset="77"/>
              </a:rPr>
              <a:t>Examples:</a:t>
            </a:r>
            <a:r>
              <a:rPr lang="en-IN" b="0" i="0" dirty="0">
                <a:solidFill>
                  <a:srgbClr val="273239"/>
                </a:solidFill>
                <a:effectLst/>
                <a:latin typeface="Nunito" pitchFamily="2" charset="77"/>
              </a:rPr>
              <a:t> </a:t>
            </a:r>
          </a:p>
          <a:p>
            <a:pPr marL="0" indent="0" rtl="0" fontAlgn="base">
              <a:buNone/>
            </a:pPr>
            <a:r>
              <a:rPr lang="en-IN" b="1" dirty="0">
                <a:effectLst/>
                <a:latin typeface="Nunito" pitchFamily="2" charset="77"/>
              </a:rPr>
              <a:t>Input:</a:t>
            </a:r>
            <a:r>
              <a:rPr lang="en-IN" b="0" dirty="0">
                <a:effectLst/>
                <a:latin typeface="Nunito" pitchFamily="2" charset="77"/>
              </a:rPr>
              <a:t>  mat[][] = [[2, 1, 0, 2, 1], </a:t>
            </a:r>
            <a:br>
              <a:rPr lang="en-IN" b="0" dirty="0">
                <a:effectLst/>
                <a:latin typeface="Nunito" pitchFamily="2" charset="77"/>
              </a:rPr>
            </a:br>
            <a:r>
              <a:rPr lang="en-IN" b="0" dirty="0">
                <a:effectLst/>
                <a:latin typeface="Nunito" pitchFamily="2" charset="77"/>
              </a:rPr>
              <a:t>		</a:t>
            </a:r>
            <a:r>
              <a:rPr lang="en-IN" dirty="0">
                <a:latin typeface="Nunito" pitchFamily="2" charset="77"/>
              </a:rPr>
              <a:t>      </a:t>
            </a:r>
            <a:r>
              <a:rPr lang="en-IN" b="0" dirty="0">
                <a:effectLst/>
                <a:latin typeface="Nunito" pitchFamily="2" charset="77"/>
              </a:rPr>
              <a:t>[1, 0, 1, 2, 1], </a:t>
            </a:r>
            <a:br>
              <a:rPr lang="en-IN" b="0" dirty="0">
                <a:effectLst/>
                <a:latin typeface="Nunito" pitchFamily="2" charset="77"/>
              </a:rPr>
            </a:br>
            <a:r>
              <a:rPr lang="en-IN" b="0" dirty="0">
                <a:effectLst/>
                <a:latin typeface="Nunito" pitchFamily="2" charset="77"/>
              </a:rPr>
              <a:t>		      [1, 0, 0, 2, 1]]</a:t>
            </a:r>
          </a:p>
          <a:p>
            <a:pPr marL="0" indent="0" rtl="0" fontAlgn="base">
              <a:buNone/>
            </a:pPr>
            <a:r>
              <a:rPr lang="en-IN" b="1" i="1" dirty="0">
                <a:solidFill>
                  <a:srgbClr val="273239"/>
                </a:solidFill>
                <a:effectLst/>
                <a:latin typeface="Nunito" pitchFamily="2" charset="77"/>
              </a:rPr>
              <a:t>Output:</a:t>
            </a:r>
            <a:r>
              <a:rPr lang="en-IN" b="0" i="1" dirty="0">
                <a:solidFill>
                  <a:srgbClr val="273239"/>
                </a:solidFill>
                <a:effectLst/>
                <a:latin typeface="Nunito" pitchFamily="2" charset="77"/>
              </a:rPr>
              <a:t> 2</a:t>
            </a:r>
          </a:p>
          <a:p>
            <a:pPr marL="0" indent="0">
              <a:buNone/>
            </a:pPr>
            <a:endParaRPr lang="en-US" dirty="0"/>
          </a:p>
        </p:txBody>
      </p:sp>
    </p:spTree>
    <p:extLst>
      <p:ext uri="{BB962C8B-B14F-4D97-AF65-F5344CB8AC3E}">
        <p14:creationId xmlns:p14="http://schemas.microsoft.com/office/powerpoint/2010/main" val="258680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10FE0-9605-5A32-6C2C-38ABB42B99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AA7F6B-4E1B-87AC-B735-948FC1B9D5CC}"/>
              </a:ext>
            </a:extLst>
          </p:cNvPr>
          <p:cNvSpPr>
            <a:spLocks noGrp="1"/>
          </p:cNvSpPr>
          <p:nvPr>
            <p:ph idx="1"/>
          </p:nvPr>
        </p:nvSpPr>
        <p:spPr/>
        <p:txBody>
          <a:bodyPr/>
          <a:lstStyle/>
          <a:p>
            <a:endParaRPr lang="en-US"/>
          </a:p>
        </p:txBody>
      </p:sp>
      <p:pic>
        <p:nvPicPr>
          <p:cNvPr id="20482" name="Picture 2" descr="2345">
            <a:extLst>
              <a:ext uri="{FF2B5EF4-FFF2-40B4-BE49-F238E27FC236}">
                <a16:creationId xmlns:a16="http://schemas.microsoft.com/office/drawing/2014/main" id="{1323E366-B34F-AE30-60BE-4BE67392EF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1219200"/>
            <a:ext cx="10160000"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68802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886BB-3C0B-1D6E-3734-BBC5F56A52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8D946DD-49CD-53C4-2ED3-51D49F5DE8B7}"/>
              </a:ext>
            </a:extLst>
          </p:cNvPr>
          <p:cNvSpPr>
            <a:spLocks noGrp="1"/>
          </p:cNvSpPr>
          <p:nvPr>
            <p:ph idx="1"/>
          </p:nvPr>
        </p:nvSpPr>
        <p:spPr/>
        <p:txBody>
          <a:bodyPr/>
          <a:lstStyle/>
          <a:p>
            <a:endParaRPr lang="en-US"/>
          </a:p>
        </p:txBody>
      </p:sp>
      <p:pic>
        <p:nvPicPr>
          <p:cNvPr id="21506" name="Picture 2" descr="12345">
            <a:extLst>
              <a:ext uri="{FF2B5EF4-FFF2-40B4-BE49-F238E27FC236}">
                <a16:creationId xmlns:a16="http://schemas.microsoft.com/office/drawing/2014/main" id="{3830BD1E-A67C-6D0C-1DE8-6F632EED33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1219200"/>
            <a:ext cx="10160000"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15940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7855C-A124-25BE-9049-1A65BF028F8F}"/>
              </a:ext>
            </a:extLst>
          </p:cNvPr>
          <p:cNvSpPr>
            <a:spLocks noGrp="1"/>
          </p:cNvSpPr>
          <p:nvPr>
            <p:ph type="title"/>
          </p:nvPr>
        </p:nvSpPr>
        <p:spPr/>
        <p:txBody>
          <a:bodyPr>
            <a:normAutofit/>
          </a:bodyPr>
          <a:lstStyle/>
          <a:p>
            <a:r>
              <a:rPr lang="en-IN" b="1" i="0" dirty="0">
                <a:solidFill>
                  <a:srgbClr val="273239"/>
                </a:solidFill>
                <a:effectLst/>
                <a:latin typeface="Nunito" pitchFamily="2" charset="77"/>
              </a:rPr>
              <a:t>Using Iteration - O((n x m) ^ 2) Time and O(1) Space</a:t>
            </a:r>
            <a:endParaRPr lang="en-US" dirty="0"/>
          </a:p>
        </p:txBody>
      </p:sp>
      <p:sp>
        <p:nvSpPr>
          <p:cNvPr id="3" name="Content Placeholder 2">
            <a:extLst>
              <a:ext uri="{FF2B5EF4-FFF2-40B4-BE49-F238E27FC236}">
                <a16:creationId xmlns:a16="http://schemas.microsoft.com/office/drawing/2014/main" id="{A58FD6E4-3975-B058-83E7-FC2659A9372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922186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4D6CB2-52E4-9053-A00C-F8ACE6E24A44}"/>
              </a:ext>
            </a:extLst>
          </p:cNvPr>
          <p:cNvSpPr>
            <a:spLocks noGrp="1"/>
          </p:cNvSpPr>
          <p:nvPr>
            <p:ph idx="1"/>
          </p:nvPr>
        </p:nvSpPr>
        <p:spPr>
          <a:xfrm>
            <a:off x="152400" y="167640"/>
            <a:ext cx="5943600" cy="6009323"/>
          </a:xfrm>
        </p:spPr>
        <p:txBody>
          <a:bodyPr>
            <a:normAutofit fontScale="55000" lnSpcReduction="20000"/>
          </a:bodyPr>
          <a:lstStyle/>
          <a:p>
            <a:r>
              <a:rPr lang="en-US" dirty="0" err="1"/>
              <a:t>boolean</a:t>
            </a:r>
            <a:r>
              <a:rPr lang="en-US" dirty="0"/>
              <a:t> </a:t>
            </a:r>
            <a:r>
              <a:rPr lang="en-US" dirty="0" err="1"/>
              <a:t>isSafe</a:t>
            </a:r>
            <a:r>
              <a:rPr lang="en-US" dirty="0"/>
              <a:t>(int </a:t>
            </a:r>
            <a:r>
              <a:rPr lang="en-US" dirty="0" err="1"/>
              <a:t>i</a:t>
            </a:r>
            <a:r>
              <a:rPr lang="en-US" dirty="0"/>
              <a:t>, int j, int n, int m) {              </a:t>
            </a:r>
          </a:p>
          <a:p>
            <a:r>
              <a:rPr lang="en-US" dirty="0"/>
              <a:t> return 0 &lt;= </a:t>
            </a:r>
            <a:r>
              <a:rPr lang="en-US" dirty="0" err="1"/>
              <a:t>i</a:t>
            </a:r>
            <a:r>
              <a:rPr lang="en-US" dirty="0"/>
              <a:t> &amp;&amp; </a:t>
            </a:r>
            <a:r>
              <a:rPr lang="en-US" dirty="0" err="1"/>
              <a:t>i</a:t>
            </a:r>
            <a:r>
              <a:rPr lang="en-US" dirty="0"/>
              <a:t> &lt; n &amp;&amp; 0 &lt;= j &amp;&amp; j &lt; m;          </a:t>
            </a:r>
          </a:p>
          <a:p>
            <a:r>
              <a:rPr lang="en-US" dirty="0"/>
              <a:t>   }</a:t>
            </a:r>
          </a:p>
          <a:p>
            <a:endParaRPr lang="en-US" dirty="0"/>
          </a:p>
          <a:p>
            <a:r>
              <a:rPr lang="en-US" dirty="0"/>
              <a:t>    public int </a:t>
            </a:r>
            <a:r>
              <a:rPr lang="en-US" dirty="0" err="1"/>
              <a:t>orangesRot</a:t>
            </a:r>
            <a:r>
              <a:rPr lang="en-US" dirty="0"/>
              <a:t>(int[][] mat) {</a:t>
            </a:r>
          </a:p>
          <a:p>
            <a:r>
              <a:rPr lang="en-US" dirty="0"/>
              <a:t>        int n = </a:t>
            </a:r>
            <a:r>
              <a:rPr lang="en-US" dirty="0" err="1"/>
              <a:t>mat.length</a:t>
            </a:r>
            <a:r>
              <a:rPr lang="en-US" dirty="0"/>
              <a:t>;</a:t>
            </a:r>
          </a:p>
          <a:p>
            <a:r>
              <a:rPr lang="en-US" dirty="0"/>
              <a:t>        int m = mat[0].length;</a:t>
            </a:r>
          </a:p>
          <a:p>
            <a:endParaRPr lang="en-US" dirty="0"/>
          </a:p>
          <a:p>
            <a:r>
              <a:rPr lang="en-US" dirty="0" err="1"/>
              <a:t>boolean</a:t>
            </a:r>
            <a:r>
              <a:rPr lang="en-US" dirty="0"/>
              <a:t> changed; // to check if any changes are made</a:t>
            </a:r>
          </a:p>
          <a:p>
            <a:r>
              <a:rPr lang="en-US" dirty="0"/>
              <a:t>int </a:t>
            </a:r>
            <a:r>
              <a:rPr lang="en-US" dirty="0" err="1"/>
              <a:t>elapsedTime</a:t>
            </a:r>
            <a:r>
              <a:rPr lang="en-US" dirty="0"/>
              <a:t> = 0; // counter of elapsed time</a:t>
            </a:r>
          </a:p>
          <a:p>
            <a:endParaRPr lang="en-US" dirty="0"/>
          </a:p>
          <a:p>
            <a:r>
              <a:rPr lang="en-US" dirty="0"/>
              <a:t>        // all four directions</a:t>
            </a:r>
          </a:p>
          <a:p>
            <a:r>
              <a:rPr lang="en-US" dirty="0"/>
              <a:t>        int[][] directions = {{1, 0}, {0, 1}, {-1, 0}, {0, -1}};</a:t>
            </a:r>
          </a:p>
          <a:p>
            <a:endParaRPr lang="en-US" dirty="0"/>
          </a:p>
          <a:p>
            <a:r>
              <a:rPr lang="en-US" dirty="0"/>
              <a:t>        // iterate until changes are there</a:t>
            </a:r>
          </a:p>
          <a:p>
            <a:r>
              <a:rPr lang="en-US" dirty="0"/>
              <a:t>        while (true) {</a:t>
            </a:r>
          </a:p>
          <a:p>
            <a:r>
              <a:rPr lang="en-US" dirty="0"/>
              <a:t>            changed = false;</a:t>
            </a:r>
          </a:p>
          <a:p>
            <a:r>
              <a:rPr lang="en-US" dirty="0"/>
              <a:t>            for (int </a:t>
            </a:r>
            <a:r>
              <a:rPr lang="en-US" dirty="0" err="1"/>
              <a:t>i</a:t>
            </a:r>
            <a:r>
              <a:rPr lang="en-US" dirty="0"/>
              <a:t> = 0; </a:t>
            </a:r>
            <a:r>
              <a:rPr lang="en-US" dirty="0" err="1"/>
              <a:t>i</a:t>
            </a:r>
            <a:r>
              <a:rPr lang="en-US" dirty="0"/>
              <a:t> &lt; n; </a:t>
            </a:r>
            <a:r>
              <a:rPr lang="en-US" dirty="0" err="1"/>
              <a:t>i</a:t>
            </a:r>
            <a:r>
              <a:rPr lang="en-US" dirty="0"/>
              <a:t>++) {</a:t>
            </a:r>
          </a:p>
          <a:p>
            <a:r>
              <a:rPr lang="en-US" dirty="0"/>
              <a:t>                for (int j = 0; j &lt; m; </a:t>
            </a:r>
            <a:r>
              <a:rPr lang="en-US" dirty="0" err="1"/>
              <a:t>j++</a:t>
            </a:r>
            <a:r>
              <a:rPr lang="en-US" dirty="0"/>
              <a:t>) {</a:t>
            </a:r>
          </a:p>
          <a:p>
            <a:r>
              <a:rPr lang="en-US" dirty="0"/>
              <a:t>                    </a:t>
            </a:r>
          </a:p>
          <a:p>
            <a:r>
              <a:rPr lang="en-US" dirty="0"/>
              <a:t>                  </a:t>
            </a:r>
          </a:p>
        </p:txBody>
      </p:sp>
      <p:sp>
        <p:nvSpPr>
          <p:cNvPr id="4" name="Content Placeholder 2">
            <a:extLst>
              <a:ext uri="{FF2B5EF4-FFF2-40B4-BE49-F238E27FC236}">
                <a16:creationId xmlns:a16="http://schemas.microsoft.com/office/drawing/2014/main" id="{D85E2AB0-F3C2-21F8-42A5-B5C7B2E25528}"/>
              </a:ext>
            </a:extLst>
          </p:cNvPr>
          <p:cNvSpPr txBox="1">
            <a:spLocks/>
          </p:cNvSpPr>
          <p:nvPr/>
        </p:nvSpPr>
        <p:spPr>
          <a:xfrm>
            <a:off x="6416040" y="167639"/>
            <a:ext cx="5943600" cy="60093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800" dirty="0"/>
          </a:p>
        </p:txBody>
      </p:sp>
      <p:sp>
        <p:nvSpPr>
          <p:cNvPr id="5" name="Content Placeholder 2">
            <a:extLst>
              <a:ext uri="{FF2B5EF4-FFF2-40B4-BE49-F238E27FC236}">
                <a16:creationId xmlns:a16="http://schemas.microsoft.com/office/drawing/2014/main" id="{AF7748CF-657E-3253-D2B8-C3F4597BF819}"/>
              </a:ext>
            </a:extLst>
          </p:cNvPr>
          <p:cNvSpPr txBox="1">
            <a:spLocks/>
          </p:cNvSpPr>
          <p:nvPr/>
        </p:nvSpPr>
        <p:spPr>
          <a:xfrm>
            <a:off x="6416040" y="167639"/>
            <a:ext cx="5943600" cy="6009323"/>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                  // check if the cell was marked in last iteration</a:t>
            </a:r>
          </a:p>
          <a:p>
            <a:r>
              <a:rPr lang="en-US" dirty="0"/>
              <a:t>                    if (mat[</a:t>
            </a:r>
            <a:r>
              <a:rPr lang="en-US" dirty="0" err="1"/>
              <a:t>i</a:t>
            </a:r>
            <a:r>
              <a:rPr lang="en-US" dirty="0"/>
              <a:t>][j] == </a:t>
            </a:r>
            <a:r>
              <a:rPr lang="en-US" dirty="0" err="1"/>
              <a:t>elapsedTime</a:t>
            </a:r>
            <a:r>
              <a:rPr lang="en-US" dirty="0"/>
              <a:t> + 2) {</a:t>
            </a:r>
          </a:p>
          <a:p>
            <a:r>
              <a:rPr lang="en-US" dirty="0"/>
              <a:t>                        </a:t>
            </a:r>
          </a:p>
          <a:p>
            <a:r>
              <a:rPr lang="en-US" dirty="0"/>
              <a:t>                        // change 4-directionally connected cells</a:t>
            </a:r>
          </a:p>
          <a:p>
            <a:r>
              <a:rPr lang="en-US" dirty="0"/>
              <a:t>                        for (int[] </a:t>
            </a:r>
            <a:r>
              <a:rPr lang="en-US" dirty="0" err="1"/>
              <a:t>dir</a:t>
            </a:r>
            <a:r>
              <a:rPr lang="en-US" dirty="0"/>
              <a:t> : directions) {</a:t>
            </a:r>
          </a:p>
          <a:p>
            <a:r>
              <a:rPr lang="en-US" dirty="0"/>
              <a:t>                            int x = </a:t>
            </a:r>
            <a:r>
              <a:rPr lang="en-US" dirty="0" err="1"/>
              <a:t>i</a:t>
            </a:r>
            <a:r>
              <a:rPr lang="en-US" dirty="0"/>
              <a:t> + </a:t>
            </a:r>
            <a:r>
              <a:rPr lang="en-US" dirty="0" err="1"/>
              <a:t>dir</a:t>
            </a:r>
            <a:r>
              <a:rPr lang="en-US" dirty="0"/>
              <a:t>[0];</a:t>
            </a:r>
          </a:p>
          <a:p>
            <a:r>
              <a:rPr lang="en-US" dirty="0"/>
              <a:t>                            int y = j + </a:t>
            </a:r>
            <a:r>
              <a:rPr lang="en-US" dirty="0" err="1"/>
              <a:t>dir</a:t>
            </a:r>
            <a:r>
              <a:rPr lang="en-US" dirty="0"/>
              <a:t>[1];</a:t>
            </a:r>
          </a:p>
          <a:p>
            <a:endParaRPr lang="en-US" dirty="0"/>
          </a:p>
          <a:p>
            <a:r>
              <a:rPr lang="en-US" sz="2800" dirty="0"/>
              <a:t> </a:t>
            </a:r>
          </a:p>
          <a:p>
            <a:r>
              <a:rPr lang="en-US" sz="2800" dirty="0"/>
              <a:t>                            // if cell is in the matrix and the</a:t>
            </a:r>
          </a:p>
          <a:p>
            <a:r>
              <a:rPr lang="en-US" sz="2800" dirty="0"/>
              <a:t>                            //orange is fresh</a:t>
            </a:r>
          </a:p>
          <a:p>
            <a:r>
              <a:rPr lang="en-US" sz="2800" dirty="0"/>
              <a:t>                            if (</a:t>
            </a:r>
            <a:r>
              <a:rPr lang="en-US" sz="2800" dirty="0" err="1"/>
              <a:t>isSafe</a:t>
            </a:r>
            <a:r>
              <a:rPr lang="en-US" sz="2800" dirty="0"/>
              <a:t>(x, y, n, m) &amp;&amp; mat[x][y] == 1) {</a:t>
            </a:r>
          </a:p>
          <a:p>
            <a:r>
              <a:rPr lang="en-US" sz="2800" dirty="0"/>
              <a:t>                                mat[x][y] = mat[</a:t>
            </a:r>
            <a:r>
              <a:rPr lang="en-US" sz="2800" dirty="0" err="1"/>
              <a:t>i</a:t>
            </a:r>
            <a:r>
              <a:rPr lang="en-US" sz="2800" dirty="0"/>
              <a:t>][j] + 1;</a:t>
            </a:r>
          </a:p>
          <a:p>
            <a:r>
              <a:rPr lang="en-US" sz="2800" dirty="0"/>
              <a:t>                                changed = true;</a:t>
            </a:r>
          </a:p>
          <a:p>
            <a:r>
              <a:rPr lang="en-US" sz="2800" dirty="0"/>
              <a:t>                            }</a:t>
            </a:r>
          </a:p>
          <a:p>
            <a:r>
              <a:rPr lang="en-US" sz="2800" dirty="0"/>
              <a:t>                        }</a:t>
            </a:r>
          </a:p>
          <a:p>
            <a:r>
              <a:rPr lang="en-US" sz="2800" dirty="0"/>
              <a:t>                    }</a:t>
            </a:r>
          </a:p>
          <a:p>
            <a:r>
              <a:rPr lang="en-US" sz="2800" dirty="0"/>
              <a:t>                }</a:t>
            </a:r>
          </a:p>
          <a:p>
            <a:r>
              <a:rPr lang="en-US" sz="2800" dirty="0"/>
              <a:t>            } </a:t>
            </a:r>
            <a:endParaRPr lang="en-US" dirty="0"/>
          </a:p>
        </p:txBody>
      </p:sp>
    </p:spTree>
    <p:extLst>
      <p:ext uri="{BB962C8B-B14F-4D97-AF65-F5344CB8AC3E}">
        <p14:creationId xmlns:p14="http://schemas.microsoft.com/office/powerpoint/2010/main" val="16407850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4D2E3-CEB6-E6F9-3C48-2643D920C69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922D1C-BD0E-CE91-E641-BA0663624D66}"/>
              </a:ext>
            </a:extLst>
          </p:cNvPr>
          <p:cNvSpPr>
            <a:spLocks noGrp="1"/>
          </p:cNvSpPr>
          <p:nvPr>
            <p:ph idx="1"/>
          </p:nvPr>
        </p:nvSpPr>
        <p:spPr>
          <a:xfrm>
            <a:off x="152400" y="167640"/>
            <a:ext cx="5943600" cy="6009323"/>
          </a:xfrm>
        </p:spPr>
        <p:txBody>
          <a:bodyPr>
            <a:normAutofit fontScale="55000" lnSpcReduction="20000"/>
          </a:bodyPr>
          <a:lstStyle/>
          <a:p>
            <a:r>
              <a:rPr lang="en-US" sz="2800" dirty="0"/>
              <a:t> </a:t>
            </a:r>
          </a:p>
          <a:p>
            <a:r>
              <a:rPr lang="en-US" sz="2800" dirty="0"/>
              <a:t>            // if no changes are done</a:t>
            </a:r>
          </a:p>
          <a:p>
            <a:r>
              <a:rPr lang="en-US" sz="2800" dirty="0"/>
              <a:t>            if (!changed) {</a:t>
            </a:r>
          </a:p>
          <a:p>
            <a:r>
              <a:rPr lang="en-US" sz="2800" dirty="0"/>
              <a:t>                break;</a:t>
            </a:r>
          </a:p>
          <a:p>
            <a:r>
              <a:rPr lang="en-US" sz="2800" dirty="0"/>
              <a:t>            }</a:t>
            </a:r>
          </a:p>
          <a:p>
            <a:r>
              <a:rPr lang="en-US" sz="2800" dirty="0"/>
              <a:t>            </a:t>
            </a:r>
            <a:r>
              <a:rPr lang="en-US" sz="2800" dirty="0" err="1"/>
              <a:t>elapsedTime</a:t>
            </a:r>
            <a:r>
              <a:rPr lang="en-US" sz="2800" dirty="0"/>
              <a:t>++;</a:t>
            </a:r>
          </a:p>
          <a:p>
            <a:r>
              <a:rPr lang="en-US" sz="2800" dirty="0"/>
              <a:t>        }</a:t>
            </a:r>
          </a:p>
          <a:p>
            <a:endParaRPr lang="en-US" sz="2800" dirty="0"/>
          </a:p>
          <a:p>
            <a:r>
              <a:rPr lang="en-US" sz="2800" dirty="0"/>
              <a:t>        for (int </a:t>
            </a:r>
            <a:r>
              <a:rPr lang="en-US" sz="2800" dirty="0" err="1"/>
              <a:t>i</a:t>
            </a:r>
            <a:r>
              <a:rPr lang="en-US" sz="2800" dirty="0"/>
              <a:t> = 0; </a:t>
            </a:r>
            <a:r>
              <a:rPr lang="en-US" sz="2800" dirty="0" err="1"/>
              <a:t>i</a:t>
            </a:r>
            <a:r>
              <a:rPr lang="en-US" sz="2800" dirty="0"/>
              <a:t> &lt; n; </a:t>
            </a:r>
            <a:r>
              <a:rPr lang="en-US" sz="2800" dirty="0" err="1"/>
              <a:t>i</a:t>
            </a:r>
            <a:r>
              <a:rPr lang="en-US" sz="2800" dirty="0"/>
              <a:t>++) {</a:t>
            </a:r>
          </a:p>
          <a:p>
            <a:r>
              <a:rPr lang="en-US" sz="2800" dirty="0"/>
              <a:t>            for (int j = 0; j &lt; m; </a:t>
            </a:r>
            <a:r>
              <a:rPr lang="en-US" sz="2800" dirty="0" err="1"/>
              <a:t>j++</a:t>
            </a:r>
            <a:r>
              <a:rPr lang="en-US" sz="2800" dirty="0"/>
              <a:t>) {</a:t>
            </a:r>
          </a:p>
          <a:p>
            <a:r>
              <a:rPr lang="en-US" sz="2800" dirty="0"/>
              <a:t>                </a:t>
            </a:r>
          </a:p>
          <a:p>
            <a:r>
              <a:rPr lang="en-US" sz="2800" dirty="0"/>
              <a:t>                // if any orange is found not rotten, return -1</a:t>
            </a:r>
          </a:p>
          <a:p>
            <a:r>
              <a:rPr lang="en-US" sz="2800" dirty="0"/>
              <a:t>                if (mat[</a:t>
            </a:r>
            <a:r>
              <a:rPr lang="en-US" sz="2800" dirty="0" err="1"/>
              <a:t>i</a:t>
            </a:r>
            <a:r>
              <a:rPr lang="en-US" sz="2800" dirty="0"/>
              <a:t>][j] == 1) {</a:t>
            </a:r>
          </a:p>
          <a:p>
            <a:r>
              <a:rPr lang="en-US" sz="2800" dirty="0"/>
              <a:t>                    return -1;</a:t>
            </a:r>
          </a:p>
          <a:p>
            <a:r>
              <a:rPr lang="en-US" sz="2800" dirty="0"/>
              <a:t>                }</a:t>
            </a:r>
          </a:p>
          <a:p>
            <a:r>
              <a:rPr lang="en-US" sz="2800" dirty="0"/>
              <a:t>            }</a:t>
            </a:r>
          </a:p>
          <a:p>
            <a:r>
              <a:rPr lang="en-US" sz="2800" dirty="0"/>
              <a:t>        }</a:t>
            </a:r>
          </a:p>
          <a:p>
            <a:endParaRPr lang="en-US" sz="2800" dirty="0"/>
          </a:p>
          <a:p>
            <a:r>
              <a:rPr lang="en-US" sz="2800" dirty="0"/>
              <a:t>        return </a:t>
            </a:r>
            <a:r>
              <a:rPr lang="en-US" sz="2800" dirty="0" err="1"/>
              <a:t>elapsedTime</a:t>
            </a:r>
            <a:r>
              <a:rPr lang="en-US" sz="2800" dirty="0"/>
              <a:t>;</a:t>
            </a:r>
          </a:p>
          <a:p>
            <a:r>
              <a:rPr lang="en-US" sz="2800" dirty="0"/>
              <a:t>    }</a:t>
            </a:r>
            <a:endParaRPr lang="en-US" dirty="0"/>
          </a:p>
        </p:txBody>
      </p:sp>
    </p:spTree>
    <p:extLst>
      <p:ext uri="{BB962C8B-B14F-4D97-AF65-F5344CB8AC3E}">
        <p14:creationId xmlns:p14="http://schemas.microsoft.com/office/powerpoint/2010/main" val="424869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71C08-E91C-879E-73B3-99D74B1F8F79}"/>
              </a:ext>
            </a:extLst>
          </p:cNvPr>
          <p:cNvSpPr>
            <a:spLocks noGrp="1"/>
          </p:cNvSpPr>
          <p:nvPr>
            <p:ph type="title"/>
          </p:nvPr>
        </p:nvSpPr>
        <p:spPr/>
        <p:txBody>
          <a:bodyPr>
            <a:normAutofit/>
          </a:bodyPr>
          <a:lstStyle/>
          <a:p>
            <a:r>
              <a:rPr lang="en-IN" b="1" i="0" dirty="0">
                <a:solidFill>
                  <a:srgbClr val="273239"/>
                </a:solidFill>
                <a:effectLst/>
                <a:latin typeface="Nunito" pitchFamily="2" charset="77"/>
              </a:rPr>
              <a:t>Using Depth First Search - O(n x m) Time and O(1) Space</a:t>
            </a:r>
            <a:endParaRPr lang="en-US" dirty="0"/>
          </a:p>
        </p:txBody>
      </p:sp>
      <p:sp>
        <p:nvSpPr>
          <p:cNvPr id="3" name="Content Placeholder 2">
            <a:extLst>
              <a:ext uri="{FF2B5EF4-FFF2-40B4-BE49-F238E27FC236}">
                <a16:creationId xmlns:a16="http://schemas.microsoft.com/office/drawing/2014/main" id="{C45F4BBA-E9BA-48A7-C57D-F61E81CB31F9}"/>
              </a:ext>
            </a:extLst>
          </p:cNvPr>
          <p:cNvSpPr>
            <a:spLocks noGrp="1"/>
          </p:cNvSpPr>
          <p:nvPr>
            <p:ph idx="1"/>
          </p:nvPr>
        </p:nvSpPr>
        <p:spPr/>
        <p:txBody>
          <a:bodyPr>
            <a:normAutofit fontScale="77500" lnSpcReduction="20000"/>
          </a:bodyPr>
          <a:lstStyle/>
          <a:p>
            <a:pPr rtl="0" fontAlgn="base"/>
            <a:r>
              <a:rPr lang="en-IN" b="0" dirty="0">
                <a:effectLst/>
                <a:latin typeface="Nunito" pitchFamily="2" charset="77"/>
              </a:rPr>
              <a:t>Start by iterating through the entire matrix, and whenever we find a rotten orange (2), begin a DFS from that cell. </a:t>
            </a:r>
          </a:p>
          <a:p>
            <a:pPr rtl="0" fontAlgn="base"/>
            <a:r>
              <a:rPr lang="en-IN" b="0" dirty="0">
                <a:effectLst/>
                <a:latin typeface="Nunito" pitchFamily="2" charset="77"/>
              </a:rPr>
              <a:t>During the DFS, go to all its adjacent cells and record the time when each orange becomes rotten.</a:t>
            </a:r>
            <a:br>
              <a:rPr lang="en-IN" b="0" dirty="0">
                <a:effectLst/>
                <a:latin typeface="Nunito" pitchFamily="2" charset="77"/>
              </a:rPr>
            </a:br>
            <a:r>
              <a:rPr lang="en-IN" b="0" dirty="0">
                <a:effectLst/>
                <a:latin typeface="Nunito" pitchFamily="2" charset="77"/>
              </a:rPr>
              <a:t>If a </a:t>
            </a:r>
            <a:r>
              <a:rPr lang="en-IN" b="0" dirty="0" err="1">
                <a:effectLst/>
                <a:latin typeface="Nunito" pitchFamily="2" charset="77"/>
              </a:rPr>
              <a:t>neighboring</a:t>
            </a:r>
            <a:r>
              <a:rPr lang="en-IN" b="0" dirty="0">
                <a:effectLst/>
                <a:latin typeface="Nunito" pitchFamily="2" charset="77"/>
              </a:rPr>
              <a:t> cell contains a fresh orange (1), that means it can now become rotten, so we recursively call DFS for that cell with the time </a:t>
            </a:r>
            <a:r>
              <a:rPr lang="en-IN" b="0" dirty="0" err="1">
                <a:effectLst/>
                <a:latin typeface="Nunito" pitchFamily="2" charset="77"/>
              </a:rPr>
              <a:t>current_time</a:t>
            </a:r>
            <a:r>
              <a:rPr lang="en-IN" b="0" dirty="0">
                <a:effectLst/>
                <a:latin typeface="Nunito" pitchFamily="2" charset="77"/>
              </a:rPr>
              <a:t> + 1.</a:t>
            </a:r>
          </a:p>
          <a:p>
            <a:pPr rtl="0" fontAlgn="base"/>
            <a:r>
              <a:rPr lang="en-IN" b="0" dirty="0">
                <a:effectLst/>
                <a:latin typeface="Nunito" pitchFamily="2" charset="77"/>
              </a:rPr>
              <a:t>If a cell was already rotten earlier but now can rot in less time, update its time and continue DFS from that cell again.</a:t>
            </a:r>
          </a:p>
          <a:p>
            <a:pPr algn="l" rtl="0" fontAlgn="base"/>
            <a:r>
              <a:rPr lang="en-IN" b="0" i="0" dirty="0">
                <a:solidFill>
                  <a:srgbClr val="273239"/>
                </a:solidFill>
                <a:effectLst/>
                <a:latin typeface="Nunito" pitchFamily="2" charset="77"/>
              </a:rPr>
              <a:t>In this way, DFS helps spread the rot recursively throughout the grid while keeping track of the minimum time taken for each orange to rot. </a:t>
            </a:r>
          </a:p>
          <a:p>
            <a:pPr algn="l" rtl="0" fontAlgn="base"/>
            <a:r>
              <a:rPr lang="en-IN" b="0" i="0" dirty="0">
                <a:solidFill>
                  <a:srgbClr val="273239"/>
                </a:solidFill>
                <a:effectLst/>
                <a:latin typeface="Nunito" pitchFamily="2" charset="77"/>
              </a:rPr>
              <a:t>After all DFS calls are complete, iterate through the entire matrix once again.</a:t>
            </a:r>
          </a:p>
          <a:p>
            <a:pPr algn="l" rtl="0" fontAlgn="base"/>
            <a:r>
              <a:rPr lang="en-IN" b="0" i="0" dirty="0">
                <a:solidFill>
                  <a:srgbClr val="273239"/>
                </a:solidFill>
                <a:effectLst/>
                <a:latin typeface="Nunito" pitchFamily="2" charset="77"/>
              </a:rPr>
              <a:t>If any fresh orange still left, it means it was unreachable, so we return -1.</a:t>
            </a:r>
          </a:p>
          <a:p>
            <a:pPr algn="l" rtl="0" fontAlgn="base"/>
            <a:r>
              <a:rPr lang="en-IN" b="0" i="0" dirty="0">
                <a:solidFill>
                  <a:srgbClr val="273239"/>
                </a:solidFill>
                <a:effectLst/>
                <a:latin typeface="Nunito" pitchFamily="2" charset="77"/>
              </a:rPr>
              <a:t>Otherwise, take the maximum recorded time — which represents the minimum time required to rot all the oranges.</a:t>
            </a:r>
          </a:p>
          <a:p>
            <a:endParaRPr lang="en-US" dirty="0"/>
          </a:p>
        </p:txBody>
      </p:sp>
    </p:spTree>
    <p:extLst>
      <p:ext uri="{BB962C8B-B14F-4D97-AF65-F5344CB8AC3E}">
        <p14:creationId xmlns:p14="http://schemas.microsoft.com/office/powerpoint/2010/main" val="41451507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5A52BF-F8A3-4BAF-F982-34241076DD73}"/>
              </a:ext>
            </a:extLst>
          </p:cNvPr>
          <p:cNvSpPr>
            <a:spLocks noGrp="1"/>
          </p:cNvSpPr>
          <p:nvPr>
            <p:ph idx="1"/>
          </p:nvPr>
        </p:nvSpPr>
        <p:spPr>
          <a:xfrm>
            <a:off x="320040" y="228600"/>
            <a:ext cx="5775960" cy="5948363"/>
          </a:xfrm>
        </p:spPr>
        <p:txBody>
          <a:bodyPr>
            <a:noAutofit/>
          </a:bodyPr>
          <a:lstStyle/>
          <a:p>
            <a:r>
              <a:rPr lang="en-US" sz="2000" dirty="0" err="1"/>
              <a:t>boolean</a:t>
            </a:r>
            <a:r>
              <a:rPr lang="en-US" sz="2000" dirty="0"/>
              <a:t> </a:t>
            </a:r>
            <a:r>
              <a:rPr lang="en-US" sz="2000" dirty="0" err="1"/>
              <a:t>isSafe</a:t>
            </a:r>
            <a:r>
              <a:rPr lang="en-US" sz="2000" dirty="0"/>
              <a:t>(int </a:t>
            </a:r>
            <a:r>
              <a:rPr lang="en-US" sz="2000" dirty="0" err="1"/>
              <a:t>i</a:t>
            </a:r>
            <a:r>
              <a:rPr lang="en-US" sz="2000" dirty="0"/>
              <a:t>, int j, int n, int m) {</a:t>
            </a:r>
          </a:p>
          <a:p>
            <a:r>
              <a:rPr lang="en-US" sz="2000" dirty="0"/>
              <a:t>        return (</a:t>
            </a:r>
            <a:r>
              <a:rPr lang="en-US" sz="2000" dirty="0" err="1"/>
              <a:t>i</a:t>
            </a:r>
            <a:r>
              <a:rPr lang="en-US" sz="2000" dirty="0"/>
              <a:t> &gt;= 0 &amp;&amp; </a:t>
            </a:r>
            <a:r>
              <a:rPr lang="en-US" sz="2000" dirty="0" err="1"/>
              <a:t>i</a:t>
            </a:r>
            <a:r>
              <a:rPr lang="en-US" sz="2000" dirty="0"/>
              <a:t> &lt; n &amp;&amp; j &gt;= 0 &amp;&amp; j &lt; m);</a:t>
            </a:r>
          </a:p>
          <a:p>
            <a:r>
              <a:rPr lang="en-US" sz="2000" dirty="0"/>
              <a:t>    }</a:t>
            </a:r>
          </a:p>
          <a:p>
            <a:endParaRPr lang="en-US" sz="2000" dirty="0"/>
          </a:p>
          <a:p>
            <a:r>
              <a:rPr lang="en-US" sz="2000" dirty="0"/>
              <a:t>    // function to perform </a:t>
            </a:r>
            <a:r>
              <a:rPr lang="en-US" sz="2000" dirty="0" err="1"/>
              <a:t>dfs</a:t>
            </a:r>
            <a:r>
              <a:rPr lang="en-US" sz="2000" dirty="0"/>
              <a:t> and find fresh orange</a:t>
            </a:r>
          </a:p>
          <a:p>
            <a:r>
              <a:rPr lang="en-US" sz="2000" dirty="0"/>
              <a:t>void </a:t>
            </a:r>
            <a:r>
              <a:rPr lang="en-US" sz="2000" dirty="0" err="1"/>
              <a:t>dfs</a:t>
            </a:r>
            <a:r>
              <a:rPr lang="en-US" sz="2000" dirty="0"/>
              <a:t>(int[][] mat, int </a:t>
            </a:r>
            <a:r>
              <a:rPr lang="en-US" sz="2000" dirty="0" err="1"/>
              <a:t>i</a:t>
            </a:r>
            <a:r>
              <a:rPr lang="en-US" sz="2000" dirty="0"/>
              <a:t>, int j, int time) {</a:t>
            </a:r>
          </a:p>
          <a:p>
            <a:r>
              <a:rPr lang="en-US" sz="2000" dirty="0"/>
              <a:t>        int n = </a:t>
            </a:r>
            <a:r>
              <a:rPr lang="en-US" sz="2000" dirty="0" err="1"/>
              <a:t>mat.length</a:t>
            </a:r>
            <a:r>
              <a:rPr lang="en-US" sz="2000" dirty="0"/>
              <a:t>;</a:t>
            </a:r>
          </a:p>
          <a:p>
            <a:r>
              <a:rPr lang="en-US" sz="2000" dirty="0"/>
              <a:t>        int m = mat[0].length;</a:t>
            </a:r>
          </a:p>
          <a:p>
            <a:endParaRPr lang="en-US" sz="2000" dirty="0"/>
          </a:p>
          <a:p>
            <a:r>
              <a:rPr lang="en-US" sz="2000" dirty="0"/>
              <a:t>        // update minimum time</a:t>
            </a:r>
          </a:p>
          <a:p>
            <a:r>
              <a:rPr lang="en-US" sz="2000" dirty="0"/>
              <a:t>        mat[</a:t>
            </a:r>
            <a:r>
              <a:rPr lang="en-US" sz="2000" dirty="0" err="1"/>
              <a:t>i</a:t>
            </a:r>
            <a:r>
              <a:rPr lang="en-US" sz="2000" dirty="0"/>
              <a:t>][j] = time;</a:t>
            </a:r>
          </a:p>
          <a:p>
            <a:endParaRPr lang="en-US" sz="2000" dirty="0"/>
          </a:p>
          <a:p>
            <a:r>
              <a:rPr lang="en-US" sz="2000" dirty="0"/>
              <a:t>        // all four directions</a:t>
            </a:r>
          </a:p>
          <a:p>
            <a:r>
              <a:rPr lang="en-US" sz="2000" dirty="0"/>
              <a:t>        int[][] directions</a:t>
            </a:r>
          </a:p>
          <a:p>
            <a:r>
              <a:rPr lang="en-US" sz="2000" dirty="0"/>
              <a:t>            = {{1, 0},{0, 1}, {-1, 0},{0, -1}};</a:t>
            </a:r>
          </a:p>
          <a:p>
            <a:endParaRPr lang="en-US" sz="2000" dirty="0"/>
          </a:p>
          <a:p>
            <a:r>
              <a:rPr lang="en-US" sz="2000" dirty="0"/>
              <a:t>    </a:t>
            </a:r>
          </a:p>
        </p:txBody>
      </p:sp>
      <p:sp>
        <p:nvSpPr>
          <p:cNvPr id="4" name="Content Placeholder 2">
            <a:extLst>
              <a:ext uri="{FF2B5EF4-FFF2-40B4-BE49-F238E27FC236}">
                <a16:creationId xmlns:a16="http://schemas.microsoft.com/office/drawing/2014/main" id="{6D8BC928-EDDD-3070-3775-CF070DC852F1}"/>
              </a:ext>
            </a:extLst>
          </p:cNvPr>
          <p:cNvSpPr txBox="1">
            <a:spLocks/>
          </p:cNvSpPr>
          <p:nvPr/>
        </p:nvSpPr>
        <p:spPr>
          <a:xfrm>
            <a:off x="6096000" y="213360"/>
            <a:ext cx="5775960" cy="59483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 change 4-directionally connected cells</a:t>
            </a:r>
          </a:p>
          <a:p>
            <a:r>
              <a:rPr lang="en-US" sz="2000" dirty="0"/>
              <a:t>        for (int[] </a:t>
            </a:r>
            <a:r>
              <a:rPr lang="en-US" sz="2000" dirty="0" err="1"/>
              <a:t>dir</a:t>
            </a:r>
            <a:r>
              <a:rPr lang="en-US" sz="2000" dirty="0"/>
              <a:t> : directions) {</a:t>
            </a:r>
          </a:p>
          <a:p>
            <a:r>
              <a:rPr lang="en-US" sz="2000" dirty="0"/>
              <a:t>            int x = </a:t>
            </a:r>
            <a:r>
              <a:rPr lang="en-US" sz="2000" dirty="0" err="1"/>
              <a:t>i</a:t>
            </a:r>
            <a:r>
              <a:rPr lang="en-US" sz="2000" dirty="0"/>
              <a:t> + </a:t>
            </a:r>
            <a:r>
              <a:rPr lang="en-US" sz="2000" dirty="0" err="1"/>
              <a:t>dir</a:t>
            </a:r>
            <a:r>
              <a:rPr lang="en-US" sz="2000" dirty="0"/>
              <a:t>[0];</a:t>
            </a:r>
          </a:p>
          <a:p>
            <a:r>
              <a:rPr lang="en-US" sz="2000" dirty="0"/>
              <a:t>            int y = j + </a:t>
            </a:r>
            <a:r>
              <a:rPr lang="en-US" sz="2000" dirty="0" err="1"/>
              <a:t>dir</a:t>
            </a:r>
            <a:r>
              <a:rPr lang="en-US" sz="2000" dirty="0"/>
              <a:t>[1];</a:t>
            </a:r>
          </a:p>
          <a:p>
            <a:endParaRPr lang="en-US" sz="2000" dirty="0"/>
          </a:p>
          <a:p>
            <a:r>
              <a:rPr lang="en-US" sz="2000" dirty="0"/>
              <a:t>            // if cell is in the matrix and</a:t>
            </a:r>
          </a:p>
          <a:p>
            <a:r>
              <a:rPr lang="en-US" sz="2000" dirty="0"/>
              <a:t>            // the orange is fresh</a:t>
            </a:r>
          </a:p>
          <a:p>
            <a:r>
              <a:rPr lang="en-US" sz="2000" dirty="0"/>
              <a:t>            if (</a:t>
            </a:r>
            <a:r>
              <a:rPr lang="en-US" sz="2000" dirty="0" err="1"/>
              <a:t>isSafe</a:t>
            </a:r>
            <a:r>
              <a:rPr lang="en-US" sz="2000" dirty="0"/>
              <a:t>(x, y, n, m)</a:t>
            </a:r>
          </a:p>
          <a:p>
            <a:r>
              <a:rPr lang="en-US" sz="2000" dirty="0"/>
              <a:t>                &amp;&amp; (mat[x][y] == 1</a:t>
            </a:r>
          </a:p>
          <a:p>
            <a:r>
              <a:rPr lang="en-US" sz="2000" dirty="0"/>
              <a:t>                    || mat[x][y] &gt; time + 1)) {</a:t>
            </a:r>
          </a:p>
          <a:p>
            <a:r>
              <a:rPr lang="en-US" sz="2000" dirty="0"/>
              <a:t>                </a:t>
            </a:r>
            <a:r>
              <a:rPr lang="en-US" sz="2000" dirty="0" err="1"/>
              <a:t>dfs</a:t>
            </a:r>
            <a:r>
              <a:rPr lang="en-US" sz="2000" dirty="0"/>
              <a:t>(mat, x, y, time + 1);</a:t>
            </a:r>
          </a:p>
          <a:p>
            <a:r>
              <a:rPr lang="en-US" sz="2000" dirty="0"/>
              <a:t>            }</a:t>
            </a:r>
          </a:p>
          <a:p>
            <a:r>
              <a:rPr lang="en-US" sz="2000" dirty="0"/>
              <a:t>        }</a:t>
            </a:r>
          </a:p>
          <a:p>
            <a:r>
              <a:rPr lang="en-US" sz="2000" dirty="0"/>
              <a:t>    }</a:t>
            </a:r>
          </a:p>
          <a:p>
            <a:endParaRPr lang="en-US" sz="2000" dirty="0"/>
          </a:p>
          <a:p>
            <a:r>
              <a:rPr lang="en-US" sz="2000" dirty="0"/>
              <a:t>   </a:t>
            </a:r>
          </a:p>
        </p:txBody>
      </p:sp>
    </p:spTree>
    <p:extLst>
      <p:ext uri="{BB962C8B-B14F-4D97-AF65-F5344CB8AC3E}">
        <p14:creationId xmlns:p14="http://schemas.microsoft.com/office/powerpoint/2010/main" val="17985133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E6FDB-486E-D9EA-0B0F-ED8D50AE7C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E41EDA-A493-E95B-4777-FFE92AC0CB66}"/>
              </a:ext>
            </a:extLst>
          </p:cNvPr>
          <p:cNvSpPr>
            <a:spLocks noGrp="1"/>
          </p:cNvSpPr>
          <p:nvPr>
            <p:ph idx="1"/>
          </p:nvPr>
        </p:nvSpPr>
        <p:spPr>
          <a:xfrm>
            <a:off x="320040" y="228600"/>
            <a:ext cx="5775960" cy="5948363"/>
          </a:xfrm>
        </p:spPr>
        <p:txBody>
          <a:bodyPr>
            <a:noAutofit/>
          </a:bodyPr>
          <a:lstStyle/>
          <a:p>
            <a:r>
              <a:rPr lang="en-US" sz="2000" dirty="0"/>
              <a:t>int </a:t>
            </a:r>
            <a:r>
              <a:rPr lang="en-US" sz="2000" dirty="0" err="1"/>
              <a:t>orangesRot</a:t>
            </a:r>
            <a:r>
              <a:rPr lang="en-US" sz="2000" dirty="0"/>
              <a:t>(int[][] mat) {</a:t>
            </a:r>
          </a:p>
          <a:p>
            <a:r>
              <a:rPr lang="en-US" sz="2000" dirty="0"/>
              <a:t>        int n = </a:t>
            </a:r>
            <a:r>
              <a:rPr lang="en-US" sz="2000" dirty="0" err="1"/>
              <a:t>mat.length</a:t>
            </a:r>
            <a:r>
              <a:rPr lang="en-US" sz="2000" dirty="0"/>
              <a:t>;</a:t>
            </a:r>
          </a:p>
          <a:p>
            <a:r>
              <a:rPr lang="en-US" sz="2000" dirty="0"/>
              <a:t>        int m = mat[0].length;</a:t>
            </a:r>
          </a:p>
          <a:p>
            <a:r>
              <a:rPr lang="en-US" sz="2000" dirty="0"/>
              <a:t>        int </a:t>
            </a:r>
            <a:r>
              <a:rPr lang="en-US" sz="2000" dirty="0" err="1"/>
              <a:t>elapsedTime</a:t>
            </a:r>
            <a:r>
              <a:rPr lang="en-US" sz="2000" dirty="0"/>
              <a:t> = 0; // counter of elapsed time</a:t>
            </a:r>
          </a:p>
          <a:p>
            <a:endParaRPr lang="en-US" sz="2000" dirty="0"/>
          </a:p>
          <a:p>
            <a:r>
              <a:rPr lang="en-US" sz="2000" dirty="0"/>
              <a:t>        // iterate through all the cells</a:t>
            </a:r>
          </a:p>
          <a:p>
            <a:r>
              <a:rPr lang="en-US" sz="2000" dirty="0"/>
              <a:t>        for (int </a:t>
            </a:r>
            <a:r>
              <a:rPr lang="en-US" sz="2000" dirty="0" err="1"/>
              <a:t>i</a:t>
            </a:r>
            <a:r>
              <a:rPr lang="en-US" sz="2000" dirty="0"/>
              <a:t> = 0; </a:t>
            </a:r>
            <a:r>
              <a:rPr lang="en-US" sz="2000" dirty="0" err="1"/>
              <a:t>i</a:t>
            </a:r>
            <a:r>
              <a:rPr lang="en-US" sz="2000" dirty="0"/>
              <a:t> &lt; n; </a:t>
            </a:r>
            <a:r>
              <a:rPr lang="en-US" sz="2000" dirty="0" err="1"/>
              <a:t>i</a:t>
            </a:r>
            <a:r>
              <a:rPr lang="en-US" sz="2000" dirty="0"/>
              <a:t>++) {</a:t>
            </a:r>
          </a:p>
          <a:p>
            <a:r>
              <a:rPr lang="en-US" sz="2000" dirty="0"/>
              <a:t>            for (int j = 0; j &lt; m; </a:t>
            </a:r>
            <a:r>
              <a:rPr lang="en-US" sz="2000" dirty="0" err="1"/>
              <a:t>j++</a:t>
            </a:r>
            <a:r>
              <a:rPr lang="en-US" sz="2000" dirty="0"/>
              <a:t>) {</a:t>
            </a:r>
          </a:p>
          <a:p>
            <a:endParaRPr lang="en-US" sz="2000" dirty="0"/>
          </a:p>
          <a:p>
            <a:r>
              <a:rPr lang="en-US" sz="2000" dirty="0"/>
              <a:t>                // if orange is initially rotten</a:t>
            </a:r>
          </a:p>
          <a:p>
            <a:r>
              <a:rPr lang="en-US" sz="2000" dirty="0"/>
              <a:t>                if (mat[</a:t>
            </a:r>
            <a:r>
              <a:rPr lang="en-US" sz="2000" dirty="0" err="1"/>
              <a:t>i</a:t>
            </a:r>
            <a:r>
              <a:rPr lang="en-US" sz="2000" dirty="0"/>
              <a:t>][j] == 2) {</a:t>
            </a:r>
          </a:p>
          <a:p>
            <a:r>
              <a:rPr lang="en-US" sz="2000" dirty="0"/>
              <a:t>                    </a:t>
            </a:r>
            <a:r>
              <a:rPr lang="en-US" sz="2000" dirty="0" err="1"/>
              <a:t>dfs</a:t>
            </a:r>
            <a:r>
              <a:rPr lang="en-US" sz="2000" dirty="0"/>
              <a:t>(mat, </a:t>
            </a:r>
            <a:r>
              <a:rPr lang="en-US" sz="2000" dirty="0" err="1"/>
              <a:t>i</a:t>
            </a:r>
            <a:r>
              <a:rPr lang="en-US" sz="2000" dirty="0"/>
              <a:t>, j, 2);</a:t>
            </a:r>
          </a:p>
          <a:p>
            <a:r>
              <a:rPr lang="en-US" sz="2000" dirty="0"/>
              <a:t>                }</a:t>
            </a:r>
          </a:p>
          <a:p>
            <a:r>
              <a:rPr lang="en-US" sz="2000" dirty="0"/>
              <a:t>            }</a:t>
            </a:r>
          </a:p>
          <a:p>
            <a:r>
              <a:rPr lang="en-US" sz="2000" dirty="0"/>
              <a:t>        }</a:t>
            </a:r>
          </a:p>
        </p:txBody>
      </p:sp>
      <p:sp>
        <p:nvSpPr>
          <p:cNvPr id="4" name="Content Placeholder 2">
            <a:extLst>
              <a:ext uri="{FF2B5EF4-FFF2-40B4-BE49-F238E27FC236}">
                <a16:creationId xmlns:a16="http://schemas.microsoft.com/office/drawing/2014/main" id="{B8980546-01E4-C240-D774-A8893A447EE1}"/>
              </a:ext>
            </a:extLst>
          </p:cNvPr>
          <p:cNvSpPr txBox="1">
            <a:spLocks/>
          </p:cNvSpPr>
          <p:nvPr/>
        </p:nvSpPr>
        <p:spPr>
          <a:xfrm>
            <a:off x="6096000" y="213360"/>
            <a:ext cx="5775960" cy="5948363"/>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        // iterate through all the cells</a:t>
            </a:r>
          </a:p>
          <a:p>
            <a:r>
              <a:rPr lang="en-US" dirty="0"/>
              <a:t>        for (int </a:t>
            </a:r>
            <a:r>
              <a:rPr lang="en-US" dirty="0" err="1"/>
              <a:t>i</a:t>
            </a:r>
            <a:r>
              <a:rPr lang="en-US" dirty="0"/>
              <a:t> = 0; </a:t>
            </a:r>
            <a:r>
              <a:rPr lang="en-US" dirty="0" err="1"/>
              <a:t>i</a:t>
            </a:r>
            <a:r>
              <a:rPr lang="en-US" dirty="0"/>
              <a:t> &lt; n; </a:t>
            </a:r>
            <a:r>
              <a:rPr lang="en-US" dirty="0" err="1"/>
              <a:t>i</a:t>
            </a:r>
            <a:r>
              <a:rPr lang="en-US" dirty="0"/>
              <a:t>++) {</a:t>
            </a:r>
          </a:p>
          <a:p>
            <a:r>
              <a:rPr lang="en-US" dirty="0"/>
              <a:t>            for (int j = 0; j &lt; m; </a:t>
            </a:r>
            <a:r>
              <a:rPr lang="en-US" dirty="0" err="1"/>
              <a:t>j++</a:t>
            </a:r>
            <a:r>
              <a:rPr lang="en-US" dirty="0"/>
              <a:t>) {</a:t>
            </a:r>
          </a:p>
          <a:p>
            <a:endParaRPr lang="en-US" dirty="0"/>
          </a:p>
          <a:p>
            <a:r>
              <a:rPr lang="en-US" dirty="0"/>
              <a:t>                // if orange is fresh</a:t>
            </a:r>
          </a:p>
          <a:p>
            <a:r>
              <a:rPr lang="en-US" dirty="0"/>
              <a:t>                if (mat[</a:t>
            </a:r>
            <a:r>
              <a:rPr lang="en-US" dirty="0" err="1"/>
              <a:t>i</a:t>
            </a:r>
            <a:r>
              <a:rPr lang="en-US" dirty="0"/>
              <a:t>][j] == 1)</a:t>
            </a:r>
          </a:p>
          <a:p>
            <a:r>
              <a:rPr lang="en-US" dirty="0"/>
              <a:t>                    return -1;</a:t>
            </a:r>
          </a:p>
          <a:p>
            <a:endParaRPr lang="en-US" dirty="0"/>
          </a:p>
          <a:p>
            <a:r>
              <a:rPr lang="en-US" dirty="0"/>
              <a:t>                // update the maximum time</a:t>
            </a:r>
          </a:p>
          <a:p>
            <a:r>
              <a:rPr lang="en-US" dirty="0"/>
              <a:t>                </a:t>
            </a:r>
            <a:r>
              <a:rPr lang="en-US" dirty="0" err="1"/>
              <a:t>elapsedTime</a:t>
            </a:r>
            <a:endParaRPr lang="en-US" dirty="0"/>
          </a:p>
          <a:p>
            <a:r>
              <a:rPr lang="en-US" dirty="0"/>
              <a:t>                    = </a:t>
            </a:r>
            <a:r>
              <a:rPr lang="en-US" dirty="0" err="1"/>
              <a:t>Math.max</a:t>
            </a:r>
            <a:r>
              <a:rPr lang="en-US" dirty="0"/>
              <a:t>(</a:t>
            </a:r>
            <a:r>
              <a:rPr lang="en-US" dirty="0" err="1"/>
              <a:t>elapsedTime</a:t>
            </a:r>
            <a:r>
              <a:rPr lang="en-US" dirty="0"/>
              <a:t>, mat[</a:t>
            </a:r>
            <a:r>
              <a:rPr lang="en-US" dirty="0" err="1"/>
              <a:t>i</a:t>
            </a:r>
            <a:r>
              <a:rPr lang="en-US" dirty="0"/>
              <a:t>][j] - 2);</a:t>
            </a:r>
          </a:p>
          <a:p>
            <a:r>
              <a:rPr lang="en-US" dirty="0"/>
              <a:t>            }</a:t>
            </a:r>
          </a:p>
          <a:p>
            <a:r>
              <a:rPr lang="en-US" dirty="0"/>
              <a:t>        }</a:t>
            </a:r>
          </a:p>
          <a:p>
            <a:r>
              <a:rPr lang="en-US" dirty="0"/>
              <a:t>        return </a:t>
            </a:r>
            <a:r>
              <a:rPr lang="en-US" dirty="0" err="1"/>
              <a:t>elapsedTime</a:t>
            </a:r>
            <a:r>
              <a:rPr lang="en-US" dirty="0"/>
              <a:t>;</a:t>
            </a:r>
          </a:p>
          <a:p>
            <a:r>
              <a:rPr lang="en-US" dirty="0"/>
              <a:t>    }</a:t>
            </a:r>
          </a:p>
        </p:txBody>
      </p:sp>
    </p:spTree>
    <p:extLst>
      <p:ext uri="{BB962C8B-B14F-4D97-AF65-F5344CB8AC3E}">
        <p14:creationId xmlns:p14="http://schemas.microsoft.com/office/powerpoint/2010/main" val="33082922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95828-0989-776F-9BF5-C33E67BC9784}"/>
              </a:ext>
            </a:extLst>
          </p:cNvPr>
          <p:cNvSpPr>
            <a:spLocks noGrp="1"/>
          </p:cNvSpPr>
          <p:nvPr>
            <p:ph type="title"/>
          </p:nvPr>
        </p:nvSpPr>
        <p:spPr/>
        <p:txBody>
          <a:bodyPr>
            <a:normAutofit/>
          </a:bodyPr>
          <a:lstStyle/>
          <a:p>
            <a:pPr fontAlgn="base"/>
            <a:r>
              <a:rPr lang="en-IN" b="1" i="0" dirty="0">
                <a:solidFill>
                  <a:srgbClr val="273239"/>
                </a:solidFill>
                <a:effectLst/>
                <a:latin typeface="Nunito" pitchFamily="2" charset="77"/>
              </a:rPr>
              <a:t>Using Breadth First Search - O(n x m) Time and O(n x m) Space</a:t>
            </a:r>
            <a:endParaRPr lang="en-US" dirty="0"/>
          </a:p>
        </p:txBody>
      </p:sp>
      <p:sp>
        <p:nvSpPr>
          <p:cNvPr id="3" name="Content Placeholder 2">
            <a:extLst>
              <a:ext uri="{FF2B5EF4-FFF2-40B4-BE49-F238E27FC236}">
                <a16:creationId xmlns:a16="http://schemas.microsoft.com/office/drawing/2014/main" id="{94F51AFE-26E6-BC54-D74C-36535258DCD2}"/>
              </a:ext>
            </a:extLst>
          </p:cNvPr>
          <p:cNvSpPr>
            <a:spLocks noGrp="1"/>
          </p:cNvSpPr>
          <p:nvPr>
            <p:ph idx="1"/>
          </p:nvPr>
        </p:nvSpPr>
        <p:spPr/>
        <p:txBody>
          <a:bodyPr>
            <a:normAutofit fontScale="85000" lnSpcReduction="20000"/>
          </a:bodyPr>
          <a:lstStyle/>
          <a:p>
            <a:r>
              <a:rPr lang="en-IN" b="0" i="1" dirty="0">
                <a:solidFill>
                  <a:srgbClr val="273239"/>
                </a:solidFill>
                <a:effectLst/>
                <a:latin typeface="Nunito" pitchFamily="2" charset="77"/>
              </a:rPr>
              <a:t>first add all the initially rotten oranges to a queue. </a:t>
            </a:r>
          </a:p>
          <a:p>
            <a:r>
              <a:rPr lang="en-IN" b="0" i="1" dirty="0">
                <a:solidFill>
                  <a:srgbClr val="273239"/>
                </a:solidFill>
                <a:effectLst/>
                <a:latin typeface="Nunito" pitchFamily="2" charset="77"/>
              </a:rPr>
              <a:t>Then, process them one by one from the queue. </a:t>
            </a:r>
          </a:p>
          <a:p>
            <a:r>
              <a:rPr lang="en-IN" b="0" i="1" dirty="0">
                <a:solidFill>
                  <a:srgbClr val="273239"/>
                </a:solidFill>
                <a:effectLst/>
                <a:latin typeface="Nunito" pitchFamily="2" charset="77"/>
              </a:rPr>
              <a:t>For each rotten orange, check its four </a:t>
            </a:r>
            <a:r>
              <a:rPr lang="en-IN" b="0" i="1" dirty="0" err="1">
                <a:solidFill>
                  <a:srgbClr val="273239"/>
                </a:solidFill>
                <a:effectLst/>
                <a:latin typeface="Nunito" pitchFamily="2" charset="77"/>
              </a:rPr>
              <a:t>neighboring</a:t>
            </a:r>
            <a:r>
              <a:rPr lang="en-IN" b="0" i="1" dirty="0">
                <a:solidFill>
                  <a:srgbClr val="273239"/>
                </a:solidFill>
                <a:effectLst/>
                <a:latin typeface="Nunito" pitchFamily="2" charset="77"/>
              </a:rPr>
              <a:t> cells. </a:t>
            </a:r>
          </a:p>
          <a:p>
            <a:r>
              <a:rPr lang="en-IN" b="0" i="1" dirty="0">
                <a:solidFill>
                  <a:srgbClr val="273239"/>
                </a:solidFill>
                <a:effectLst/>
                <a:latin typeface="Nunito" pitchFamily="2" charset="77"/>
              </a:rPr>
              <a:t>If a </a:t>
            </a:r>
            <a:r>
              <a:rPr lang="en-IN" b="0" i="1" dirty="0" err="1">
                <a:solidFill>
                  <a:srgbClr val="273239"/>
                </a:solidFill>
                <a:effectLst/>
                <a:latin typeface="Nunito" pitchFamily="2" charset="77"/>
              </a:rPr>
              <a:t>neighbor</a:t>
            </a:r>
            <a:r>
              <a:rPr lang="en-IN" b="0" i="1" dirty="0">
                <a:solidFill>
                  <a:srgbClr val="273239"/>
                </a:solidFill>
                <a:effectLst/>
                <a:latin typeface="Nunito" pitchFamily="2" charset="77"/>
              </a:rPr>
              <a:t> is a fresh orange (1), it becomes rotten, and enqueue it into the queue, </a:t>
            </a:r>
            <a:r>
              <a:rPr lang="en-IN" i="1" dirty="0">
                <a:solidFill>
                  <a:srgbClr val="273239"/>
                </a:solidFill>
                <a:latin typeface="Nunito" pitchFamily="2" charset="77"/>
              </a:rPr>
              <a:t>a</a:t>
            </a:r>
            <a:r>
              <a:rPr lang="en-IN" b="0" i="1" dirty="0">
                <a:solidFill>
                  <a:srgbClr val="273239"/>
                </a:solidFill>
                <a:effectLst/>
                <a:latin typeface="Nunito" pitchFamily="2" charset="77"/>
              </a:rPr>
              <a:t>s BFS moves level by level, </a:t>
            </a:r>
          </a:p>
          <a:p>
            <a:r>
              <a:rPr lang="en-IN" b="0" i="1" dirty="0">
                <a:solidFill>
                  <a:srgbClr val="273239"/>
                </a:solidFill>
                <a:effectLst/>
                <a:latin typeface="Nunito" pitchFamily="2" charset="77"/>
              </a:rPr>
              <a:t>Also keep track of a variable to record the time taken — this value increases with each level processed.</a:t>
            </a:r>
            <a:endParaRPr lang="en-IN" dirty="0"/>
          </a:p>
          <a:p>
            <a:r>
              <a:rPr lang="en-IN" b="0" i="1" dirty="0">
                <a:solidFill>
                  <a:srgbClr val="273239"/>
                </a:solidFill>
                <a:effectLst/>
                <a:latin typeface="Nunito" pitchFamily="2" charset="77"/>
              </a:rPr>
              <a:t>Once the queue becomes empty, it means all possible oranges have been processed. </a:t>
            </a:r>
          </a:p>
          <a:p>
            <a:r>
              <a:rPr lang="en-IN" b="0" i="1" dirty="0">
                <a:solidFill>
                  <a:srgbClr val="273239"/>
                </a:solidFill>
                <a:effectLst/>
                <a:latin typeface="Nunito" pitchFamily="2" charset="77"/>
              </a:rPr>
              <a:t>Finally, check the grid again — if any fresh orange is still left, it means it couldn’t be reached, so return -1. </a:t>
            </a:r>
          </a:p>
          <a:p>
            <a:r>
              <a:rPr lang="en-IN" b="0" i="1" dirty="0">
                <a:solidFill>
                  <a:srgbClr val="273239"/>
                </a:solidFill>
                <a:effectLst/>
                <a:latin typeface="Nunito" pitchFamily="2" charset="77"/>
              </a:rPr>
              <a:t>Otherwise, the maximum time recorded gives the minimum time required to rot all the oranges.</a:t>
            </a:r>
            <a:endParaRPr lang="en-US" dirty="0"/>
          </a:p>
        </p:txBody>
      </p:sp>
    </p:spTree>
    <p:extLst>
      <p:ext uri="{BB962C8B-B14F-4D97-AF65-F5344CB8AC3E}">
        <p14:creationId xmlns:p14="http://schemas.microsoft.com/office/powerpoint/2010/main" val="4162391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241F-2189-F9F5-D4B4-527FC7A02A5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23CE5A-DB6E-A68A-9145-F1489E626723}"/>
              </a:ext>
            </a:extLst>
          </p:cNvPr>
          <p:cNvSpPr>
            <a:spLocks noGrp="1"/>
          </p:cNvSpPr>
          <p:nvPr>
            <p:ph idx="1"/>
          </p:nvPr>
        </p:nvSpPr>
        <p:spPr>
          <a:xfrm>
            <a:off x="320040" y="228600"/>
            <a:ext cx="5775960" cy="5948363"/>
          </a:xfrm>
        </p:spPr>
        <p:txBody>
          <a:bodyPr>
            <a:noAutofit/>
          </a:bodyPr>
          <a:lstStyle/>
          <a:p>
            <a:r>
              <a:rPr lang="en-US" sz="2000" dirty="0" err="1"/>
              <a:t>boolean</a:t>
            </a:r>
            <a:r>
              <a:rPr lang="en-US" sz="2000" dirty="0"/>
              <a:t> </a:t>
            </a:r>
            <a:r>
              <a:rPr lang="en-US" sz="2000" dirty="0" err="1"/>
              <a:t>isSafe</a:t>
            </a:r>
            <a:r>
              <a:rPr lang="en-US" sz="2000" dirty="0"/>
              <a:t>(int </a:t>
            </a:r>
            <a:r>
              <a:rPr lang="en-US" sz="2000" dirty="0" err="1"/>
              <a:t>i</a:t>
            </a:r>
            <a:r>
              <a:rPr lang="en-US" sz="2000" dirty="0"/>
              <a:t>, int j, int n, int m) {</a:t>
            </a:r>
          </a:p>
          <a:p>
            <a:r>
              <a:rPr lang="en-US" sz="2000" dirty="0"/>
              <a:t>        return (</a:t>
            </a:r>
            <a:r>
              <a:rPr lang="en-US" sz="2000" dirty="0" err="1"/>
              <a:t>i</a:t>
            </a:r>
            <a:r>
              <a:rPr lang="en-US" sz="2000" dirty="0"/>
              <a:t> &gt;= 0 &amp;&amp; </a:t>
            </a:r>
            <a:r>
              <a:rPr lang="en-US" sz="2000" dirty="0" err="1"/>
              <a:t>i</a:t>
            </a:r>
            <a:r>
              <a:rPr lang="en-US" sz="2000" dirty="0"/>
              <a:t> &lt; n &amp;&amp; j &gt;= 0 &amp;&amp; j &lt; m);</a:t>
            </a:r>
          </a:p>
          <a:p>
            <a:r>
              <a:rPr lang="en-US" sz="2000" dirty="0"/>
              <a:t>    }</a:t>
            </a:r>
          </a:p>
          <a:p>
            <a:endParaRPr lang="en-US" sz="2000" dirty="0"/>
          </a:p>
          <a:p>
            <a:r>
              <a:rPr lang="en-US" sz="2000" dirty="0"/>
              <a:t>// function to perform </a:t>
            </a:r>
            <a:r>
              <a:rPr lang="en-US" sz="2000" dirty="0" err="1"/>
              <a:t>bfs</a:t>
            </a:r>
            <a:r>
              <a:rPr lang="en-US" sz="2000" dirty="0"/>
              <a:t> and find minimum time</a:t>
            </a:r>
          </a:p>
          <a:p>
            <a:r>
              <a:rPr lang="en-US" sz="2000" dirty="0"/>
              <a:t>    static int </a:t>
            </a:r>
            <a:r>
              <a:rPr lang="en-US" sz="2000" dirty="0" err="1"/>
              <a:t>orangesRot</a:t>
            </a:r>
            <a:r>
              <a:rPr lang="en-US" sz="2000" dirty="0"/>
              <a:t>(int[][] mat) {</a:t>
            </a:r>
          </a:p>
          <a:p>
            <a:r>
              <a:rPr lang="en-US" sz="2000" dirty="0"/>
              <a:t>        int n = </a:t>
            </a:r>
            <a:r>
              <a:rPr lang="en-US" sz="2000" dirty="0" err="1"/>
              <a:t>mat.length</a:t>
            </a:r>
            <a:r>
              <a:rPr lang="en-US" sz="2000" dirty="0"/>
              <a:t>;</a:t>
            </a:r>
          </a:p>
          <a:p>
            <a:r>
              <a:rPr lang="en-US" sz="2000" dirty="0"/>
              <a:t>        int m = mat[0].length;</a:t>
            </a:r>
          </a:p>
          <a:p>
            <a:endParaRPr lang="en-US" sz="2000" dirty="0"/>
          </a:p>
          <a:p>
            <a:r>
              <a:rPr lang="en-US" sz="2000" dirty="0"/>
              <a:t>     // queue to store coordinates of rotten oranges</a:t>
            </a:r>
          </a:p>
          <a:p>
            <a:r>
              <a:rPr lang="en-US" sz="2000" dirty="0"/>
              <a:t>        Queue&lt;int[]&gt; q = new LinkedList&lt;&gt;();</a:t>
            </a:r>
          </a:p>
          <a:p>
            <a:endParaRPr lang="en-US" sz="2000" dirty="0"/>
          </a:p>
          <a:p>
            <a:r>
              <a:rPr lang="en-US" sz="2000" dirty="0"/>
              <a:t>        // counter of elapsed time</a:t>
            </a:r>
          </a:p>
          <a:p>
            <a:r>
              <a:rPr lang="en-US" sz="2000" dirty="0"/>
              <a:t>        int </a:t>
            </a:r>
            <a:r>
              <a:rPr lang="en-US" sz="2000" dirty="0" err="1"/>
              <a:t>elapsedTime</a:t>
            </a:r>
            <a:r>
              <a:rPr lang="en-US" sz="2000" dirty="0"/>
              <a:t> = 0;</a:t>
            </a:r>
          </a:p>
        </p:txBody>
      </p:sp>
      <p:sp>
        <p:nvSpPr>
          <p:cNvPr id="4" name="Content Placeholder 2">
            <a:extLst>
              <a:ext uri="{FF2B5EF4-FFF2-40B4-BE49-F238E27FC236}">
                <a16:creationId xmlns:a16="http://schemas.microsoft.com/office/drawing/2014/main" id="{AB617CD8-E5CF-C8C7-601E-900B570BC20A}"/>
              </a:ext>
            </a:extLst>
          </p:cNvPr>
          <p:cNvSpPr txBox="1">
            <a:spLocks/>
          </p:cNvSpPr>
          <p:nvPr/>
        </p:nvSpPr>
        <p:spPr>
          <a:xfrm>
            <a:off x="6096000" y="213360"/>
            <a:ext cx="5775960" cy="59483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 push all initially rotten oranges into queue</a:t>
            </a:r>
          </a:p>
          <a:p>
            <a:r>
              <a:rPr lang="en-US" sz="2000" dirty="0"/>
              <a:t>        for (int </a:t>
            </a:r>
            <a:r>
              <a:rPr lang="en-US" sz="2000" dirty="0" err="1"/>
              <a:t>i</a:t>
            </a:r>
            <a:r>
              <a:rPr lang="en-US" sz="2000" dirty="0"/>
              <a:t> = 0; </a:t>
            </a:r>
            <a:r>
              <a:rPr lang="en-US" sz="2000" dirty="0" err="1"/>
              <a:t>i</a:t>
            </a:r>
            <a:r>
              <a:rPr lang="en-US" sz="2000" dirty="0"/>
              <a:t> &lt; n; </a:t>
            </a:r>
            <a:r>
              <a:rPr lang="en-US" sz="2000" dirty="0" err="1"/>
              <a:t>i</a:t>
            </a:r>
            <a:r>
              <a:rPr lang="en-US" sz="2000" dirty="0"/>
              <a:t>++) {</a:t>
            </a:r>
          </a:p>
          <a:p>
            <a:r>
              <a:rPr lang="en-US" sz="2000" dirty="0"/>
              <a:t>            for (int j = 0; j &lt; m; </a:t>
            </a:r>
            <a:r>
              <a:rPr lang="en-US" sz="2000" dirty="0" err="1"/>
              <a:t>j++</a:t>
            </a:r>
            <a:r>
              <a:rPr lang="en-US" sz="2000" dirty="0"/>
              <a:t>) {</a:t>
            </a:r>
          </a:p>
          <a:p>
            <a:r>
              <a:rPr lang="en-US" sz="2000" dirty="0"/>
              <a:t>                if (mat[</a:t>
            </a:r>
            <a:r>
              <a:rPr lang="en-US" sz="2000" dirty="0" err="1"/>
              <a:t>i</a:t>
            </a:r>
            <a:r>
              <a:rPr lang="en-US" sz="2000" dirty="0"/>
              <a:t>][j] == 2) {</a:t>
            </a:r>
          </a:p>
          <a:p>
            <a:r>
              <a:rPr lang="en-US" sz="2000" dirty="0"/>
              <a:t>                    </a:t>
            </a:r>
            <a:r>
              <a:rPr lang="en-US" sz="2000" dirty="0" err="1"/>
              <a:t>q.add</a:t>
            </a:r>
            <a:r>
              <a:rPr lang="en-US" sz="2000" dirty="0"/>
              <a:t>(new int[]{</a:t>
            </a:r>
            <a:r>
              <a:rPr lang="en-US" sz="2000" dirty="0" err="1"/>
              <a:t>i</a:t>
            </a:r>
            <a:r>
              <a:rPr lang="en-US" sz="2000" dirty="0"/>
              <a:t>, j});</a:t>
            </a:r>
          </a:p>
          <a:p>
            <a:r>
              <a:rPr lang="en-US" sz="2000" dirty="0"/>
              <a:t>                }</a:t>
            </a:r>
          </a:p>
          <a:p>
            <a:r>
              <a:rPr lang="en-US" sz="2000" dirty="0"/>
              <a:t>            }</a:t>
            </a:r>
          </a:p>
          <a:p>
            <a:r>
              <a:rPr lang="en-US" sz="2000" dirty="0"/>
              <a:t>        }</a:t>
            </a:r>
          </a:p>
          <a:p>
            <a:endParaRPr lang="en-US" sz="2000" dirty="0"/>
          </a:p>
          <a:p>
            <a:r>
              <a:rPr lang="en-US" sz="2000" dirty="0"/>
              <a:t>        // directions for all four adjacent cells</a:t>
            </a:r>
          </a:p>
          <a:p>
            <a:r>
              <a:rPr lang="en-US" sz="2000" dirty="0"/>
              <a:t>        int[][] directions = {{1, 0}, {0, 1}, {-1, 0}, {0, -1}};</a:t>
            </a:r>
          </a:p>
          <a:p>
            <a:endParaRPr lang="en-US" sz="2000" dirty="0"/>
          </a:p>
          <a:p>
            <a:r>
              <a:rPr lang="en-US" sz="2000" dirty="0"/>
              <a:t>        // perform BFS</a:t>
            </a:r>
          </a:p>
          <a:p>
            <a:r>
              <a:rPr lang="en-US" sz="2000" dirty="0"/>
              <a:t>        while (!</a:t>
            </a:r>
            <a:r>
              <a:rPr lang="en-US" sz="2000" dirty="0" err="1"/>
              <a:t>q.isEmpty</a:t>
            </a:r>
            <a:r>
              <a:rPr lang="en-US" sz="2000" dirty="0"/>
              <a:t>()) {</a:t>
            </a:r>
          </a:p>
          <a:p>
            <a:r>
              <a:rPr lang="en-US" sz="2000" dirty="0"/>
              <a:t>            int size = </a:t>
            </a:r>
            <a:r>
              <a:rPr lang="en-US" sz="2000" dirty="0" err="1"/>
              <a:t>q.size</a:t>
            </a:r>
            <a:r>
              <a:rPr lang="en-US" sz="2000" dirty="0"/>
              <a:t>();</a:t>
            </a:r>
          </a:p>
          <a:p>
            <a:r>
              <a:rPr lang="en-US" sz="2000" dirty="0"/>
              <a:t>            </a:t>
            </a:r>
            <a:r>
              <a:rPr lang="en-US" sz="2000" dirty="0" err="1"/>
              <a:t>boolean</a:t>
            </a:r>
            <a:r>
              <a:rPr lang="en-US" sz="2000" dirty="0"/>
              <a:t> flag = false; </a:t>
            </a:r>
          </a:p>
        </p:txBody>
      </p:sp>
    </p:spTree>
    <p:extLst>
      <p:ext uri="{BB962C8B-B14F-4D97-AF65-F5344CB8AC3E}">
        <p14:creationId xmlns:p14="http://schemas.microsoft.com/office/powerpoint/2010/main" val="1452076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D7894-9B51-2CC2-D8EA-0D3D83C4CD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69AD81-3209-C273-95C9-6FF836C94970}"/>
              </a:ext>
            </a:extLst>
          </p:cNvPr>
          <p:cNvSpPr>
            <a:spLocks noGrp="1"/>
          </p:cNvSpPr>
          <p:nvPr>
            <p:ph idx="1"/>
          </p:nvPr>
        </p:nvSpPr>
        <p:spPr>
          <a:xfrm>
            <a:off x="0" y="228600"/>
            <a:ext cx="6492240" cy="5948363"/>
          </a:xfrm>
        </p:spPr>
        <p:txBody>
          <a:bodyPr>
            <a:noAutofit/>
          </a:bodyPr>
          <a:lstStyle/>
          <a:p>
            <a:r>
              <a:rPr lang="en-US" sz="2000" dirty="0"/>
              <a:t>            // process all oranges at current time level</a:t>
            </a:r>
          </a:p>
          <a:p>
            <a:r>
              <a:rPr lang="en-US" sz="2000" dirty="0"/>
              <a:t>            for (int </a:t>
            </a:r>
            <a:r>
              <a:rPr lang="en-US" sz="2000" dirty="0" err="1"/>
              <a:t>i</a:t>
            </a:r>
            <a:r>
              <a:rPr lang="en-US" sz="2000" dirty="0"/>
              <a:t> = 0; </a:t>
            </a:r>
            <a:r>
              <a:rPr lang="en-US" sz="2000" dirty="0" err="1"/>
              <a:t>i</a:t>
            </a:r>
            <a:r>
              <a:rPr lang="en-US" sz="2000" dirty="0"/>
              <a:t> &lt; size; </a:t>
            </a:r>
            <a:r>
              <a:rPr lang="en-US" sz="2000" dirty="0" err="1"/>
              <a:t>i</a:t>
            </a:r>
            <a:r>
              <a:rPr lang="en-US" sz="2000" dirty="0"/>
              <a:t>++) {</a:t>
            </a:r>
          </a:p>
          <a:p>
            <a:r>
              <a:rPr lang="en-US" sz="2000" dirty="0"/>
              <a:t>                int[] cell = </a:t>
            </a:r>
            <a:r>
              <a:rPr lang="en-US" sz="2000" dirty="0" err="1"/>
              <a:t>q.poll</a:t>
            </a:r>
            <a:r>
              <a:rPr lang="en-US" sz="2000" dirty="0"/>
              <a:t>();</a:t>
            </a:r>
          </a:p>
          <a:p>
            <a:r>
              <a:rPr lang="en-US" sz="2000" dirty="0"/>
              <a:t>                int x = cell[0];</a:t>
            </a:r>
          </a:p>
          <a:p>
            <a:r>
              <a:rPr lang="en-US" sz="2000" dirty="0"/>
              <a:t>                int y = cell[1];</a:t>
            </a:r>
          </a:p>
          <a:p>
            <a:r>
              <a:rPr lang="en-US" sz="2000" dirty="0"/>
              <a:t>               // check all four directions</a:t>
            </a:r>
          </a:p>
          <a:p>
            <a:r>
              <a:rPr lang="en-US" sz="2000" dirty="0"/>
              <a:t>                for (int[] </a:t>
            </a:r>
            <a:r>
              <a:rPr lang="en-US" sz="2000" dirty="0" err="1"/>
              <a:t>dir</a:t>
            </a:r>
            <a:r>
              <a:rPr lang="en-US" sz="2000" dirty="0"/>
              <a:t> : directions) {</a:t>
            </a:r>
          </a:p>
          <a:p>
            <a:r>
              <a:rPr lang="en-US" sz="2000" dirty="0"/>
              <a:t>                    int </a:t>
            </a:r>
            <a:r>
              <a:rPr lang="en-US" sz="2000" dirty="0" err="1"/>
              <a:t>nx</a:t>
            </a:r>
            <a:r>
              <a:rPr lang="en-US" sz="2000" dirty="0"/>
              <a:t> = x + </a:t>
            </a:r>
            <a:r>
              <a:rPr lang="en-US" sz="2000" dirty="0" err="1"/>
              <a:t>dir</a:t>
            </a:r>
            <a:r>
              <a:rPr lang="en-US" sz="2000" dirty="0"/>
              <a:t>[0];</a:t>
            </a:r>
          </a:p>
          <a:p>
            <a:r>
              <a:rPr lang="en-US" sz="2000" dirty="0"/>
              <a:t>                    int </a:t>
            </a:r>
            <a:r>
              <a:rPr lang="en-US" sz="2000" dirty="0" err="1"/>
              <a:t>ny</a:t>
            </a:r>
            <a:r>
              <a:rPr lang="en-US" sz="2000" dirty="0"/>
              <a:t> = y + </a:t>
            </a:r>
            <a:r>
              <a:rPr lang="en-US" sz="2000" dirty="0" err="1"/>
              <a:t>dir</a:t>
            </a:r>
            <a:r>
              <a:rPr lang="en-US" sz="2000" dirty="0"/>
              <a:t>[1];</a:t>
            </a:r>
          </a:p>
          <a:p>
            <a:endParaRPr lang="en-US" sz="2000" dirty="0"/>
          </a:p>
          <a:p>
            <a:r>
              <a:rPr lang="en-US" sz="2000" dirty="0"/>
              <a:t>                    // if cell is safe and has fresh orange</a:t>
            </a:r>
          </a:p>
          <a:p>
            <a:r>
              <a:rPr lang="en-US" sz="2000" dirty="0"/>
              <a:t>                    if (</a:t>
            </a:r>
            <a:r>
              <a:rPr lang="en-US" sz="2000" dirty="0" err="1"/>
              <a:t>isSafe</a:t>
            </a:r>
            <a:r>
              <a:rPr lang="en-US" sz="2000" dirty="0"/>
              <a:t>(</a:t>
            </a:r>
            <a:r>
              <a:rPr lang="en-US" sz="2000" dirty="0" err="1"/>
              <a:t>nx</a:t>
            </a:r>
            <a:r>
              <a:rPr lang="en-US" sz="2000" dirty="0"/>
              <a:t>, </a:t>
            </a:r>
            <a:r>
              <a:rPr lang="en-US" sz="2000" dirty="0" err="1"/>
              <a:t>ny</a:t>
            </a:r>
            <a:r>
              <a:rPr lang="en-US" sz="2000" dirty="0"/>
              <a:t>, n, m) &amp;&amp; mat[</a:t>
            </a:r>
            <a:r>
              <a:rPr lang="en-US" sz="2000" dirty="0" err="1"/>
              <a:t>nx</a:t>
            </a:r>
            <a:r>
              <a:rPr lang="en-US" sz="2000" dirty="0"/>
              <a:t>][</a:t>
            </a:r>
            <a:r>
              <a:rPr lang="en-US" sz="2000" dirty="0" err="1"/>
              <a:t>ny</a:t>
            </a:r>
            <a:r>
              <a:rPr lang="en-US" sz="2000" dirty="0"/>
              <a:t>] == 1) {</a:t>
            </a:r>
          </a:p>
          <a:p>
            <a:r>
              <a:rPr lang="en-US" sz="2000" dirty="0"/>
              <a:t>                        // rot the orange</a:t>
            </a:r>
          </a:p>
          <a:p>
            <a:r>
              <a:rPr lang="en-US" sz="2000" dirty="0"/>
              <a:t>                        mat[</a:t>
            </a:r>
            <a:r>
              <a:rPr lang="en-US" sz="2000" dirty="0" err="1"/>
              <a:t>nx</a:t>
            </a:r>
            <a:r>
              <a:rPr lang="en-US" sz="2000" dirty="0"/>
              <a:t>][</a:t>
            </a:r>
            <a:r>
              <a:rPr lang="en-US" sz="2000" dirty="0" err="1"/>
              <a:t>ny</a:t>
            </a:r>
            <a:r>
              <a:rPr lang="en-US" sz="2000" dirty="0"/>
              <a:t>] = 2;</a:t>
            </a:r>
          </a:p>
          <a:p>
            <a:r>
              <a:rPr lang="en-US" sz="2000" dirty="0"/>
              <a:t>                        </a:t>
            </a:r>
            <a:r>
              <a:rPr lang="en-US" sz="2000" dirty="0" err="1"/>
              <a:t>q.add</a:t>
            </a:r>
            <a:r>
              <a:rPr lang="en-US" sz="2000" dirty="0"/>
              <a:t>(new int[]{</a:t>
            </a:r>
            <a:r>
              <a:rPr lang="en-US" sz="2000" dirty="0" err="1"/>
              <a:t>nx</a:t>
            </a:r>
            <a:r>
              <a:rPr lang="en-US" sz="2000" dirty="0"/>
              <a:t>, </a:t>
            </a:r>
            <a:r>
              <a:rPr lang="en-US" sz="2000" dirty="0" err="1"/>
              <a:t>ny</a:t>
            </a:r>
            <a:r>
              <a:rPr lang="en-US" sz="2000" dirty="0"/>
              <a:t>});</a:t>
            </a:r>
          </a:p>
          <a:p>
            <a:r>
              <a:rPr lang="en-US" sz="2000" dirty="0"/>
              <a:t>                        flag = true;</a:t>
            </a:r>
          </a:p>
          <a:p>
            <a:r>
              <a:rPr lang="en-US" sz="2000" dirty="0"/>
              <a:t>                    }</a:t>
            </a:r>
          </a:p>
          <a:p>
            <a:r>
              <a:rPr lang="en-US" sz="2000" dirty="0"/>
              <a:t>                }</a:t>
            </a:r>
          </a:p>
          <a:p>
            <a:r>
              <a:rPr lang="en-US" sz="2000" dirty="0"/>
              <a:t>            }</a:t>
            </a:r>
          </a:p>
          <a:p>
            <a:endParaRPr lang="en-US" sz="2000" dirty="0"/>
          </a:p>
          <a:p>
            <a:r>
              <a:rPr lang="en-US" sz="2000" dirty="0"/>
              <a:t>            // if at least one orange got rotten, increase the time</a:t>
            </a:r>
          </a:p>
          <a:p>
            <a:r>
              <a:rPr lang="en-US" sz="2000" dirty="0"/>
              <a:t>            if (flag)</a:t>
            </a:r>
          </a:p>
          <a:p>
            <a:r>
              <a:rPr lang="en-US" sz="2000" dirty="0"/>
              <a:t>                </a:t>
            </a:r>
            <a:r>
              <a:rPr lang="en-US" sz="2000" dirty="0" err="1"/>
              <a:t>elapsedTime</a:t>
            </a:r>
            <a:r>
              <a:rPr lang="en-US" sz="2000" dirty="0"/>
              <a:t>++;</a:t>
            </a:r>
          </a:p>
          <a:p>
            <a:r>
              <a:rPr lang="en-US" sz="2000" dirty="0"/>
              <a:t>        }</a:t>
            </a:r>
          </a:p>
          <a:p>
            <a:endParaRPr lang="en-US" sz="2000" dirty="0"/>
          </a:p>
          <a:p>
            <a:r>
              <a:rPr lang="en-US" sz="2000" dirty="0"/>
              <a:t>        // check if any fresh orange still remains</a:t>
            </a:r>
          </a:p>
          <a:p>
            <a:r>
              <a:rPr lang="en-US" sz="2000" dirty="0"/>
              <a:t>        for (int </a:t>
            </a:r>
            <a:r>
              <a:rPr lang="en-US" sz="2000" dirty="0" err="1"/>
              <a:t>i</a:t>
            </a:r>
            <a:r>
              <a:rPr lang="en-US" sz="2000" dirty="0"/>
              <a:t> = 0; </a:t>
            </a:r>
            <a:r>
              <a:rPr lang="en-US" sz="2000" dirty="0" err="1"/>
              <a:t>i</a:t>
            </a:r>
            <a:r>
              <a:rPr lang="en-US" sz="2000" dirty="0"/>
              <a:t> &lt; n; </a:t>
            </a:r>
            <a:r>
              <a:rPr lang="en-US" sz="2000" dirty="0" err="1"/>
              <a:t>i</a:t>
            </a:r>
            <a:r>
              <a:rPr lang="en-US" sz="2000" dirty="0"/>
              <a:t>++) {</a:t>
            </a:r>
          </a:p>
          <a:p>
            <a:r>
              <a:rPr lang="en-US" sz="2000" dirty="0"/>
              <a:t>            for (int j = 0; j &lt; m; </a:t>
            </a:r>
            <a:r>
              <a:rPr lang="en-US" sz="2000" dirty="0" err="1"/>
              <a:t>j++</a:t>
            </a:r>
            <a:r>
              <a:rPr lang="en-US" sz="2000" dirty="0"/>
              <a:t>) {</a:t>
            </a:r>
          </a:p>
          <a:p>
            <a:r>
              <a:rPr lang="en-US" sz="2000" dirty="0"/>
              <a:t>                if (mat[</a:t>
            </a:r>
            <a:r>
              <a:rPr lang="en-US" sz="2000" dirty="0" err="1"/>
              <a:t>i</a:t>
            </a:r>
            <a:r>
              <a:rPr lang="en-US" sz="2000" dirty="0"/>
              <a:t>][j] == 1)</a:t>
            </a:r>
          </a:p>
          <a:p>
            <a:r>
              <a:rPr lang="en-US" sz="2000" dirty="0"/>
              <a:t>                    return -1;</a:t>
            </a:r>
          </a:p>
          <a:p>
            <a:r>
              <a:rPr lang="en-US" sz="2000" dirty="0"/>
              <a:t>            }</a:t>
            </a:r>
          </a:p>
          <a:p>
            <a:r>
              <a:rPr lang="en-US" sz="2000" dirty="0"/>
              <a:t>        }</a:t>
            </a:r>
          </a:p>
          <a:p>
            <a:endParaRPr lang="en-US" sz="2000" dirty="0"/>
          </a:p>
          <a:p>
            <a:r>
              <a:rPr lang="en-US" sz="2000" dirty="0"/>
              <a:t>        return </a:t>
            </a:r>
            <a:r>
              <a:rPr lang="en-US" sz="2000" dirty="0" err="1"/>
              <a:t>elapsedTime</a:t>
            </a:r>
            <a:r>
              <a:rPr lang="en-US" sz="2000" dirty="0"/>
              <a:t>;</a:t>
            </a:r>
          </a:p>
          <a:p>
            <a:r>
              <a:rPr lang="en-US" sz="2000" dirty="0"/>
              <a:t>    }</a:t>
            </a:r>
          </a:p>
        </p:txBody>
      </p:sp>
      <p:sp>
        <p:nvSpPr>
          <p:cNvPr id="4" name="Content Placeholder 2">
            <a:extLst>
              <a:ext uri="{FF2B5EF4-FFF2-40B4-BE49-F238E27FC236}">
                <a16:creationId xmlns:a16="http://schemas.microsoft.com/office/drawing/2014/main" id="{72A4DA99-DF96-F9BB-18CC-2BF339B23CDF}"/>
              </a:ext>
            </a:extLst>
          </p:cNvPr>
          <p:cNvSpPr txBox="1">
            <a:spLocks/>
          </p:cNvSpPr>
          <p:nvPr/>
        </p:nvSpPr>
        <p:spPr>
          <a:xfrm>
            <a:off x="6096000" y="213360"/>
            <a:ext cx="6096000" cy="59483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                     }</a:t>
            </a:r>
          </a:p>
          <a:p>
            <a:r>
              <a:rPr lang="en-US" sz="2000" dirty="0"/>
              <a:t>                }</a:t>
            </a:r>
          </a:p>
          <a:p>
            <a:r>
              <a:rPr lang="en-US" sz="2000" dirty="0"/>
              <a:t>            }</a:t>
            </a:r>
          </a:p>
          <a:p>
            <a:r>
              <a:rPr lang="en-US" sz="2000" dirty="0"/>
              <a:t>// if at least one orange got rotten, increase the time</a:t>
            </a:r>
          </a:p>
          <a:p>
            <a:r>
              <a:rPr lang="en-US" sz="2000" dirty="0"/>
              <a:t>            if (flag)</a:t>
            </a:r>
          </a:p>
          <a:p>
            <a:r>
              <a:rPr lang="en-US" sz="2000" dirty="0"/>
              <a:t>                </a:t>
            </a:r>
            <a:r>
              <a:rPr lang="en-US" sz="2000" dirty="0" err="1"/>
              <a:t>elapsedTime</a:t>
            </a:r>
            <a:r>
              <a:rPr lang="en-US" sz="2000" dirty="0"/>
              <a:t>++;</a:t>
            </a:r>
          </a:p>
          <a:p>
            <a:r>
              <a:rPr lang="en-US" sz="2000" dirty="0"/>
              <a:t>        }</a:t>
            </a:r>
          </a:p>
          <a:p>
            <a:r>
              <a:rPr lang="en-US" sz="2000" dirty="0"/>
              <a:t>       // check if any fresh orange still remains</a:t>
            </a:r>
          </a:p>
          <a:p>
            <a:r>
              <a:rPr lang="en-US" sz="2000" dirty="0"/>
              <a:t>        for (int </a:t>
            </a:r>
            <a:r>
              <a:rPr lang="en-US" sz="2000" dirty="0" err="1"/>
              <a:t>i</a:t>
            </a:r>
            <a:r>
              <a:rPr lang="en-US" sz="2000" dirty="0"/>
              <a:t> = 0; </a:t>
            </a:r>
            <a:r>
              <a:rPr lang="en-US" sz="2000" dirty="0" err="1"/>
              <a:t>i</a:t>
            </a:r>
            <a:r>
              <a:rPr lang="en-US" sz="2000" dirty="0"/>
              <a:t> &lt; n; </a:t>
            </a:r>
            <a:r>
              <a:rPr lang="en-US" sz="2000" dirty="0" err="1"/>
              <a:t>i</a:t>
            </a:r>
            <a:r>
              <a:rPr lang="en-US" sz="2000" dirty="0"/>
              <a:t>++) {</a:t>
            </a:r>
          </a:p>
          <a:p>
            <a:r>
              <a:rPr lang="en-US" sz="2000" dirty="0"/>
              <a:t>            for (int j = 0; j &lt; m; </a:t>
            </a:r>
            <a:r>
              <a:rPr lang="en-US" sz="2000" dirty="0" err="1"/>
              <a:t>j++</a:t>
            </a:r>
            <a:r>
              <a:rPr lang="en-US" sz="2000" dirty="0"/>
              <a:t>) {</a:t>
            </a:r>
          </a:p>
          <a:p>
            <a:r>
              <a:rPr lang="en-US" sz="2000" dirty="0"/>
              <a:t>                if (mat[</a:t>
            </a:r>
            <a:r>
              <a:rPr lang="en-US" sz="2000" dirty="0" err="1"/>
              <a:t>i</a:t>
            </a:r>
            <a:r>
              <a:rPr lang="en-US" sz="2000" dirty="0"/>
              <a:t>][j] == 1)</a:t>
            </a:r>
          </a:p>
          <a:p>
            <a:r>
              <a:rPr lang="en-US" sz="2000" dirty="0"/>
              <a:t>                    return -1;</a:t>
            </a:r>
          </a:p>
          <a:p>
            <a:r>
              <a:rPr lang="en-US" sz="2000" dirty="0"/>
              <a:t>            }</a:t>
            </a:r>
          </a:p>
          <a:p>
            <a:r>
              <a:rPr lang="en-US" sz="2000" dirty="0"/>
              <a:t>        }</a:t>
            </a:r>
          </a:p>
          <a:p>
            <a:r>
              <a:rPr lang="en-US" sz="2000" dirty="0"/>
              <a:t>  return </a:t>
            </a:r>
            <a:r>
              <a:rPr lang="en-US" sz="2000" dirty="0" err="1"/>
              <a:t>elapsedTime</a:t>
            </a:r>
            <a:r>
              <a:rPr lang="en-US" sz="2000" dirty="0"/>
              <a:t>;</a:t>
            </a:r>
          </a:p>
          <a:p>
            <a:r>
              <a:rPr lang="en-US" sz="2000" dirty="0"/>
              <a:t>    }</a:t>
            </a:r>
          </a:p>
        </p:txBody>
      </p:sp>
    </p:spTree>
    <p:extLst>
      <p:ext uri="{BB962C8B-B14F-4D97-AF65-F5344CB8AC3E}">
        <p14:creationId xmlns:p14="http://schemas.microsoft.com/office/powerpoint/2010/main" val="36927120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E87DDD-F5E0-F88C-A5AD-03CDBAA152BA}"/>
              </a:ext>
            </a:extLst>
          </p:cNvPr>
          <p:cNvSpPr>
            <a:spLocks noGrp="1"/>
          </p:cNvSpPr>
          <p:nvPr>
            <p:ph idx="1"/>
          </p:nvPr>
        </p:nvSpPr>
        <p:spPr>
          <a:xfrm>
            <a:off x="838200" y="244929"/>
            <a:ext cx="5257800" cy="5932034"/>
          </a:xfrm>
        </p:spPr>
        <p:txBody>
          <a:bodyPr>
            <a:normAutofit fontScale="70000" lnSpcReduction="20000"/>
          </a:bodyPr>
          <a:lstStyle/>
          <a:p>
            <a:r>
              <a:rPr lang="en-US" dirty="0"/>
              <a:t>class Graph {</a:t>
            </a:r>
          </a:p>
          <a:p>
            <a:r>
              <a:rPr lang="en-US" dirty="0"/>
              <a:t>    private int V; // Number of vertices</a:t>
            </a:r>
          </a:p>
          <a:p>
            <a:r>
              <a:rPr lang="en-US" dirty="0"/>
              <a:t>    private LinkedList&lt;Integer&gt;[] adj; // Adjacency List</a:t>
            </a:r>
          </a:p>
          <a:p>
            <a:endParaRPr lang="en-US" dirty="0"/>
          </a:p>
          <a:p>
            <a:r>
              <a:rPr lang="en-US" dirty="0"/>
              <a:t>Graph(int v) {</a:t>
            </a:r>
          </a:p>
          <a:p>
            <a:r>
              <a:rPr lang="en-US" dirty="0"/>
              <a:t>        V = v;</a:t>
            </a:r>
          </a:p>
          <a:p>
            <a:r>
              <a:rPr lang="en-US" dirty="0"/>
              <a:t>        adj = new LinkedList[v];</a:t>
            </a:r>
          </a:p>
          <a:p>
            <a:r>
              <a:rPr lang="en-US" dirty="0"/>
              <a:t>        for (int </a:t>
            </a:r>
            <a:r>
              <a:rPr lang="en-US" dirty="0" err="1"/>
              <a:t>i</a:t>
            </a:r>
            <a:r>
              <a:rPr lang="en-US" dirty="0"/>
              <a:t> = 0; </a:t>
            </a:r>
            <a:r>
              <a:rPr lang="en-US" dirty="0" err="1"/>
              <a:t>i</a:t>
            </a:r>
            <a:r>
              <a:rPr lang="en-US" dirty="0"/>
              <a:t> &lt; v; ++</a:t>
            </a:r>
            <a:r>
              <a:rPr lang="en-US" dirty="0" err="1"/>
              <a:t>i</a:t>
            </a:r>
            <a:r>
              <a:rPr lang="en-US" dirty="0"/>
              <a:t>)</a:t>
            </a:r>
          </a:p>
          <a:p>
            <a:r>
              <a:rPr lang="en-US" dirty="0"/>
              <a:t>            adj[</a:t>
            </a:r>
            <a:r>
              <a:rPr lang="en-US" dirty="0" err="1"/>
              <a:t>i</a:t>
            </a:r>
            <a:r>
              <a:rPr lang="en-US" dirty="0"/>
              <a:t>] = new LinkedList();</a:t>
            </a:r>
          </a:p>
          <a:p>
            <a:r>
              <a:rPr lang="en-US" dirty="0"/>
              <a:t>    }</a:t>
            </a:r>
          </a:p>
          <a:p>
            <a:endParaRPr lang="en-US" dirty="0"/>
          </a:p>
          <a:p>
            <a:r>
              <a:rPr lang="en-US" dirty="0"/>
              <a:t>    void </a:t>
            </a:r>
            <a:r>
              <a:rPr lang="en-US" dirty="0" err="1"/>
              <a:t>addEdge</a:t>
            </a:r>
            <a:r>
              <a:rPr lang="en-US" dirty="0"/>
              <a:t>(int v, int w) {</a:t>
            </a:r>
          </a:p>
          <a:p>
            <a:r>
              <a:rPr lang="en-US" dirty="0"/>
              <a:t>        adj[v].add(w); // Add w to v's list</a:t>
            </a:r>
          </a:p>
          <a:p>
            <a:r>
              <a:rPr lang="en-US" dirty="0"/>
              <a:t>    }</a:t>
            </a:r>
          </a:p>
          <a:p>
            <a:endParaRPr lang="en-US" dirty="0"/>
          </a:p>
          <a:p>
            <a:r>
              <a:rPr lang="en-US" dirty="0"/>
              <a:t>   </a:t>
            </a:r>
          </a:p>
        </p:txBody>
      </p:sp>
      <p:sp>
        <p:nvSpPr>
          <p:cNvPr id="4" name="Content Placeholder 2">
            <a:extLst>
              <a:ext uri="{FF2B5EF4-FFF2-40B4-BE49-F238E27FC236}">
                <a16:creationId xmlns:a16="http://schemas.microsoft.com/office/drawing/2014/main" id="{7F507B63-E925-FB05-B2A3-F5CFE1E41D45}"/>
              </a:ext>
            </a:extLst>
          </p:cNvPr>
          <p:cNvSpPr txBox="1">
            <a:spLocks/>
          </p:cNvSpPr>
          <p:nvPr/>
        </p:nvSpPr>
        <p:spPr>
          <a:xfrm>
            <a:off x="6096000" y="299358"/>
            <a:ext cx="6291532" cy="59320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 Helper function for recursion</a:t>
            </a:r>
          </a:p>
          <a:p>
            <a:r>
              <a:rPr lang="en-US" sz="2000" dirty="0"/>
              <a:t>    private void </a:t>
            </a:r>
            <a:r>
              <a:rPr lang="en-US" sz="2000" dirty="0" err="1"/>
              <a:t>DFSUtil</a:t>
            </a:r>
            <a:r>
              <a:rPr lang="en-US" sz="2000" dirty="0"/>
              <a:t>(int v, </a:t>
            </a:r>
            <a:r>
              <a:rPr lang="en-US" sz="2000" dirty="0" err="1"/>
              <a:t>boolean</a:t>
            </a:r>
            <a:r>
              <a:rPr lang="en-US" sz="2000" dirty="0"/>
              <a:t>[] visited) {</a:t>
            </a:r>
          </a:p>
          <a:p>
            <a:r>
              <a:rPr lang="en-US" sz="2000" dirty="0"/>
              <a:t>        visited[v] = true; // Mark current node as visited</a:t>
            </a:r>
          </a:p>
          <a:p>
            <a:r>
              <a:rPr lang="en-US" sz="2000" dirty="0"/>
              <a:t>        </a:t>
            </a:r>
            <a:r>
              <a:rPr lang="en-US" sz="2000" dirty="0" err="1"/>
              <a:t>System.out.print</a:t>
            </a:r>
            <a:r>
              <a:rPr lang="en-US" sz="2000" dirty="0"/>
              <a:t>(v + " ");</a:t>
            </a:r>
          </a:p>
          <a:p>
            <a:endParaRPr lang="en-US" sz="2000" dirty="0"/>
          </a:p>
          <a:p>
            <a:r>
              <a:rPr lang="en-US" sz="2000" dirty="0"/>
              <a:t>        // Recur for all the vertices adjacent to this vertex</a:t>
            </a:r>
          </a:p>
          <a:p>
            <a:r>
              <a:rPr lang="en-US" sz="2000" dirty="0"/>
              <a:t>        for (int neighbor : adj[v]) {</a:t>
            </a:r>
          </a:p>
          <a:p>
            <a:r>
              <a:rPr lang="en-US" sz="2000" dirty="0"/>
              <a:t>            if (!visited[neighbor]) {</a:t>
            </a:r>
          </a:p>
          <a:p>
            <a:r>
              <a:rPr lang="en-US" sz="2000" dirty="0"/>
              <a:t>                </a:t>
            </a:r>
            <a:r>
              <a:rPr lang="en-US" sz="2000" dirty="0" err="1"/>
              <a:t>DFSUtil</a:t>
            </a:r>
            <a:r>
              <a:rPr lang="en-US" sz="2000" dirty="0"/>
              <a:t>(neighbor, visited);  }</a:t>
            </a:r>
          </a:p>
          <a:p>
            <a:r>
              <a:rPr lang="en-US" sz="2000" dirty="0"/>
              <a:t>        }</a:t>
            </a:r>
          </a:p>
          <a:p>
            <a:r>
              <a:rPr lang="en-US" sz="2000" dirty="0"/>
              <a:t>    }</a:t>
            </a:r>
          </a:p>
          <a:p>
            <a:r>
              <a:rPr lang="en-US" sz="2000" dirty="0"/>
              <a:t>void </a:t>
            </a:r>
            <a:r>
              <a:rPr lang="en-US" sz="2000" dirty="0" err="1"/>
              <a:t>recursiveDFS</a:t>
            </a:r>
            <a:r>
              <a:rPr lang="en-US" sz="2000" dirty="0"/>
              <a:t>(int v) {</a:t>
            </a:r>
          </a:p>
          <a:p>
            <a:r>
              <a:rPr lang="en-US" sz="2000" dirty="0"/>
              <a:t>        </a:t>
            </a:r>
            <a:r>
              <a:rPr lang="en-US" sz="2000" dirty="0" err="1"/>
              <a:t>boolean</a:t>
            </a:r>
            <a:r>
              <a:rPr lang="en-US" sz="2000" dirty="0"/>
              <a:t>[] visited = new </a:t>
            </a:r>
            <a:r>
              <a:rPr lang="en-US" sz="2000" dirty="0" err="1"/>
              <a:t>boolean</a:t>
            </a:r>
            <a:r>
              <a:rPr lang="en-US" sz="2000" dirty="0"/>
              <a:t>[V];</a:t>
            </a:r>
          </a:p>
          <a:p>
            <a:r>
              <a:rPr lang="en-US" sz="2000" dirty="0"/>
              <a:t>        </a:t>
            </a:r>
            <a:r>
              <a:rPr lang="en-US" sz="2000" dirty="0" err="1"/>
              <a:t>DFSUtil</a:t>
            </a:r>
            <a:r>
              <a:rPr lang="en-US" sz="2000" dirty="0"/>
              <a:t>(v, visited);</a:t>
            </a:r>
          </a:p>
          <a:p>
            <a:r>
              <a:rPr lang="en-US" sz="2000" dirty="0"/>
              <a:t>    }</a:t>
            </a:r>
          </a:p>
          <a:p>
            <a:r>
              <a:rPr lang="en-US" sz="2000" dirty="0"/>
              <a:t>}</a:t>
            </a:r>
          </a:p>
        </p:txBody>
      </p:sp>
    </p:spTree>
    <p:extLst>
      <p:ext uri="{BB962C8B-B14F-4D97-AF65-F5344CB8AC3E}">
        <p14:creationId xmlns:p14="http://schemas.microsoft.com/office/powerpoint/2010/main" val="36650787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DF69AB-A446-FA56-68EA-8F4CCEC0769F}"/>
              </a:ext>
            </a:extLst>
          </p:cNvPr>
          <p:cNvSpPr>
            <a:spLocks noGrp="1"/>
          </p:cNvSpPr>
          <p:nvPr>
            <p:ph idx="1"/>
          </p:nvPr>
        </p:nvSpPr>
        <p:spPr>
          <a:xfrm>
            <a:off x="120769" y="189781"/>
            <a:ext cx="6383547" cy="5987182"/>
          </a:xfrm>
        </p:spPr>
        <p:txBody>
          <a:bodyPr>
            <a:noAutofit/>
          </a:bodyPr>
          <a:lstStyle/>
          <a:p>
            <a:r>
              <a:rPr lang="en-US" sz="2000" dirty="0"/>
              <a:t>void </a:t>
            </a:r>
            <a:r>
              <a:rPr lang="en-US" sz="2000" dirty="0" err="1"/>
              <a:t>iterativeDFS</a:t>
            </a:r>
            <a:r>
              <a:rPr lang="en-US" sz="2000" dirty="0"/>
              <a:t>(int </a:t>
            </a:r>
            <a:r>
              <a:rPr lang="en-US" sz="2000" dirty="0" err="1"/>
              <a:t>startNode</a:t>
            </a:r>
            <a:r>
              <a:rPr lang="en-US" sz="2000" dirty="0"/>
              <a:t>) {</a:t>
            </a:r>
          </a:p>
          <a:p>
            <a:r>
              <a:rPr lang="en-US" sz="2000" dirty="0"/>
              <a:t>    </a:t>
            </a:r>
            <a:r>
              <a:rPr lang="en-US" sz="2000" dirty="0" err="1"/>
              <a:t>boolean</a:t>
            </a:r>
            <a:r>
              <a:rPr lang="en-US" sz="2000" dirty="0"/>
              <a:t>[] visited = new </a:t>
            </a:r>
            <a:r>
              <a:rPr lang="en-US" sz="2000" dirty="0" err="1"/>
              <a:t>boolean</a:t>
            </a:r>
            <a:r>
              <a:rPr lang="en-US" sz="2000" dirty="0"/>
              <a:t>[V];</a:t>
            </a:r>
          </a:p>
          <a:p>
            <a:r>
              <a:rPr lang="en-US" sz="2000" dirty="0"/>
              <a:t>    Stack&lt;Integer&gt; stack = new Stack&lt;&gt;();</a:t>
            </a:r>
          </a:p>
          <a:p>
            <a:endParaRPr lang="en-US" sz="2000" dirty="0"/>
          </a:p>
          <a:p>
            <a:r>
              <a:rPr lang="en-US" sz="2000" dirty="0"/>
              <a:t>    // Push the current source node</a:t>
            </a:r>
          </a:p>
          <a:p>
            <a:r>
              <a:rPr lang="en-US" sz="2000" dirty="0"/>
              <a:t>    </a:t>
            </a:r>
            <a:r>
              <a:rPr lang="en-US" sz="2000" dirty="0" err="1"/>
              <a:t>stack.push</a:t>
            </a:r>
            <a:r>
              <a:rPr lang="en-US" sz="2000" dirty="0"/>
              <a:t>(</a:t>
            </a:r>
            <a:r>
              <a:rPr lang="en-US" sz="2000" dirty="0" err="1"/>
              <a:t>startNode</a:t>
            </a:r>
            <a:r>
              <a:rPr lang="en-US" sz="2000" dirty="0"/>
              <a:t>);</a:t>
            </a:r>
          </a:p>
          <a:p>
            <a:endParaRPr lang="en-US" sz="2000" dirty="0"/>
          </a:p>
          <a:p>
            <a:r>
              <a:rPr lang="en-US" sz="2000" dirty="0"/>
              <a:t>    while (!</a:t>
            </a:r>
            <a:r>
              <a:rPr lang="en-US" sz="2000" dirty="0" err="1"/>
              <a:t>stack.isEmpty</a:t>
            </a:r>
            <a:r>
              <a:rPr lang="en-US" sz="2000" dirty="0"/>
              <a:t>()) {</a:t>
            </a:r>
          </a:p>
          <a:p>
            <a:r>
              <a:rPr lang="en-US" sz="2000" dirty="0"/>
              <a:t>        int v = </a:t>
            </a:r>
            <a:r>
              <a:rPr lang="en-US" sz="2000" dirty="0" err="1"/>
              <a:t>stack.pop</a:t>
            </a:r>
            <a:r>
              <a:rPr lang="en-US" sz="2000" dirty="0"/>
              <a:t>();</a:t>
            </a:r>
          </a:p>
          <a:p>
            <a:endParaRPr lang="en-US" sz="2000" dirty="0"/>
          </a:p>
          <a:p>
            <a:r>
              <a:rPr lang="en-US" sz="2000" dirty="0"/>
              <a:t>        // Stack may contain same vertex multiple times. </a:t>
            </a:r>
          </a:p>
          <a:p>
            <a:r>
              <a:rPr lang="en-US" sz="2000" dirty="0"/>
              <a:t>        // Only process if it hasn't been visited.</a:t>
            </a:r>
          </a:p>
          <a:p>
            <a:r>
              <a:rPr lang="en-US" sz="2000" dirty="0"/>
              <a:t>        if (!visited[v]) {</a:t>
            </a:r>
          </a:p>
          <a:p>
            <a:r>
              <a:rPr lang="en-US" sz="2000" dirty="0"/>
              <a:t>            </a:t>
            </a:r>
            <a:r>
              <a:rPr lang="en-US" sz="2000" dirty="0" err="1"/>
              <a:t>System.out.print</a:t>
            </a:r>
            <a:r>
              <a:rPr lang="en-US" sz="2000" dirty="0"/>
              <a:t>(v + " ");</a:t>
            </a:r>
          </a:p>
          <a:p>
            <a:r>
              <a:rPr lang="en-US" sz="2000" dirty="0"/>
              <a:t>            visited[v] = true;</a:t>
            </a:r>
          </a:p>
          <a:p>
            <a:r>
              <a:rPr lang="en-US" sz="2000" dirty="0"/>
              <a:t>        }</a:t>
            </a:r>
          </a:p>
        </p:txBody>
      </p:sp>
      <p:sp>
        <p:nvSpPr>
          <p:cNvPr id="4" name="Content Placeholder 2">
            <a:extLst>
              <a:ext uri="{FF2B5EF4-FFF2-40B4-BE49-F238E27FC236}">
                <a16:creationId xmlns:a16="http://schemas.microsoft.com/office/drawing/2014/main" id="{2673C108-588C-19F7-740E-EE78CF1FDC1C}"/>
              </a:ext>
            </a:extLst>
          </p:cNvPr>
          <p:cNvSpPr txBox="1">
            <a:spLocks/>
          </p:cNvSpPr>
          <p:nvPr/>
        </p:nvSpPr>
        <p:spPr>
          <a:xfrm>
            <a:off x="6096000" y="204158"/>
            <a:ext cx="5555412" cy="59871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 Get all adjacent vertices of the popped vertex.</a:t>
            </a:r>
          </a:p>
          <a:p>
            <a:r>
              <a:rPr lang="en-US" sz="2000" dirty="0"/>
              <a:t>        // Push unvisited neighbors onto stack.</a:t>
            </a:r>
          </a:p>
          <a:p>
            <a:r>
              <a:rPr lang="en-US" sz="2000" dirty="0"/>
              <a:t>        for (int neighbor : adj[v]) {</a:t>
            </a:r>
          </a:p>
          <a:p>
            <a:r>
              <a:rPr lang="en-US" sz="2000" dirty="0"/>
              <a:t>            if (!visited[neighbor]) {</a:t>
            </a:r>
          </a:p>
          <a:p>
            <a:r>
              <a:rPr lang="en-US" sz="2000" dirty="0"/>
              <a:t>                </a:t>
            </a:r>
            <a:r>
              <a:rPr lang="en-US" sz="2000" dirty="0" err="1"/>
              <a:t>stack.push</a:t>
            </a:r>
            <a:r>
              <a:rPr lang="en-US" sz="2000" dirty="0"/>
              <a:t>(neighbor);</a:t>
            </a:r>
          </a:p>
          <a:p>
            <a:r>
              <a:rPr lang="en-US" sz="2000" dirty="0"/>
              <a:t>            }</a:t>
            </a:r>
          </a:p>
          <a:p>
            <a:r>
              <a:rPr lang="en-US" sz="2000" dirty="0"/>
              <a:t>        }</a:t>
            </a:r>
          </a:p>
          <a:p>
            <a:r>
              <a:rPr lang="en-US" sz="2000" dirty="0"/>
              <a:t>    }</a:t>
            </a:r>
          </a:p>
          <a:p>
            <a:r>
              <a:rPr lang="en-US" sz="2000" dirty="0"/>
              <a:t>}</a:t>
            </a:r>
          </a:p>
        </p:txBody>
      </p:sp>
    </p:spTree>
    <p:extLst>
      <p:ext uri="{BB962C8B-B14F-4D97-AF65-F5344CB8AC3E}">
        <p14:creationId xmlns:p14="http://schemas.microsoft.com/office/powerpoint/2010/main" val="35340044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60400-5D40-1914-4EB4-32158BE08E52}"/>
              </a:ext>
            </a:extLst>
          </p:cNvPr>
          <p:cNvSpPr>
            <a:spLocks noGrp="1"/>
          </p:cNvSpPr>
          <p:nvPr>
            <p:ph type="title"/>
          </p:nvPr>
        </p:nvSpPr>
        <p:spPr/>
        <p:txBody>
          <a:bodyPr/>
          <a:lstStyle/>
          <a:p>
            <a:r>
              <a:rPr lang="en-US" dirty="0"/>
              <a:t>Priority Queue</a:t>
            </a:r>
          </a:p>
        </p:txBody>
      </p:sp>
      <p:sp>
        <p:nvSpPr>
          <p:cNvPr id="3" name="Content Placeholder 2">
            <a:extLst>
              <a:ext uri="{FF2B5EF4-FFF2-40B4-BE49-F238E27FC236}">
                <a16:creationId xmlns:a16="http://schemas.microsoft.com/office/drawing/2014/main" id="{30A0A350-2B48-5F71-E8B9-069E89476382}"/>
              </a:ext>
            </a:extLst>
          </p:cNvPr>
          <p:cNvSpPr>
            <a:spLocks noGrp="1"/>
          </p:cNvSpPr>
          <p:nvPr>
            <p:ph idx="1"/>
          </p:nvPr>
        </p:nvSpPr>
        <p:spPr/>
        <p:txBody>
          <a:bodyPr/>
          <a:lstStyle/>
          <a:p>
            <a:r>
              <a:rPr lang="en-IN" b="0" i="0" dirty="0">
                <a:effectLst/>
                <a:latin typeface="Google Sans"/>
              </a:rPr>
              <a:t>A priority queue is </a:t>
            </a:r>
            <a:r>
              <a:rPr lang="en-IN" dirty="0"/>
              <a:t>a special type of queue where elements are served based on their priority value rather than just their insertion order, with higher-priority elements removed first</a:t>
            </a:r>
            <a:r>
              <a:rPr lang="en-IN" b="0" i="0" dirty="0">
                <a:effectLst/>
                <a:latin typeface="Google Sans"/>
              </a:rPr>
              <a:t>. </a:t>
            </a:r>
          </a:p>
          <a:p>
            <a:r>
              <a:rPr lang="en-IN" b="0" i="0" dirty="0">
                <a:effectLst/>
                <a:latin typeface="Google Sans"/>
              </a:rPr>
              <a:t>It operates as an abstract data type commonly implemented using binary heaps, ensuring efficient insertion O(</a:t>
            </a:r>
            <a:r>
              <a:rPr lang="en-IN" b="0" i="0" dirty="0" err="1">
                <a:effectLst/>
                <a:latin typeface="Google Sans"/>
              </a:rPr>
              <a:t>logn</a:t>
            </a:r>
            <a:r>
              <a:rPr lang="en-IN" b="0" i="0" dirty="0">
                <a:effectLst/>
                <a:latin typeface="Google Sans"/>
              </a:rPr>
              <a:t>) and extraction of the highest-priority element O(</a:t>
            </a:r>
            <a:r>
              <a:rPr lang="en-IN" b="0" i="0" dirty="0" err="1">
                <a:effectLst/>
                <a:latin typeface="Google Sans"/>
              </a:rPr>
              <a:t>logn</a:t>
            </a:r>
            <a:r>
              <a:rPr lang="en-IN" b="0" i="0" dirty="0">
                <a:effectLst/>
                <a:latin typeface="Google Sans"/>
              </a:rPr>
              <a:t>) or O(1). </a:t>
            </a:r>
          </a:p>
          <a:p>
            <a:r>
              <a:rPr lang="en-IN" b="1" i="0" dirty="0">
                <a:effectLst/>
                <a:latin typeface="Google Sans"/>
              </a:rPr>
              <a:t>Order of Service:</a:t>
            </a:r>
            <a:r>
              <a:rPr lang="en-IN" b="0" i="0" dirty="0">
                <a:effectLst/>
                <a:latin typeface="Google Sans"/>
              </a:rPr>
              <a:t> Elements with higher priority are dequeued before lower-priority ones, regardless of when they arrived.</a:t>
            </a:r>
          </a:p>
          <a:p>
            <a:endParaRPr lang="en-US" dirty="0"/>
          </a:p>
        </p:txBody>
      </p:sp>
    </p:spTree>
    <p:extLst>
      <p:ext uri="{BB962C8B-B14F-4D97-AF65-F5344CB8AC3E}">
        <p14:creationId xmlns:p14="http://schemas.microsoft.com/office/powerpoint/2010/main" val="20991790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A85DD-7596-6A1F-51C4-E631F9378864}"/>
              </a:ext>
            </a:extLst>
          </p:cNvPr>
          <p:cNvSpPr>
            <a:spLocks noGrp="1"/>
          </p:cNvSpPr>
          <p:nvPr>
            <p:ph type="title"/>
          </p:nvPr>
        </p:nvSpPr>
        <p:spPr/>
        <p:txBody>
          <a:bodyPr/>
          <a:lstStyle/>
          <a:p>
            <a:r>
              <a:rPr lang="en-IN" b="1" i="0">
                <a:effectLst/>
                <a:latin typeface="Google Sans"/>
              </a:rPr>
              <a:t>Types</a:t>
            </a:r>
            <a:endParaRPr lang="en-US"/>
          </a:p>
        </p:txBody>
      </p:sp>
      <p:sp>
        <p:nvSpPr>
          <p:cNvPr id="3" name="Content Placeholder 2">
            <a:extLst>
              <a:ext uri="{FF2B5EF4-FFF2-40B4-BE49-F238E27FC236}">
                <a16:creationId xmlns:a16="http://schemas.microsoft.com/office/drawing/2014/main" id="{824F52E5-E5CC-81B7-4EC4-3275C134A236}"/>
              </a:ext>
            </a:extLst>
          </p:cNvPr>
          <p:cNvSpPr>
            <a:spLocks noGrp="1"/>
          </p:cNvSpPr>
          <p:nvPr>
            <p:ph idx="1"/>
          </p:nvPr>
        </p:nvSpPr>
        <p:spPr/>
        <p:txBody>
          <a:bodyPr/>
          <a:lstStyle/>
          <a:p>
            <a:pPr marL="285750" indent="-285750"/>
            <a:r>
              <a:rPr lang="en-IN" b="1" i="0" dirty="0">
                <a:effectLst/>
                <a:latin typeface="Google Sans"/>
              </a:rPr>
              <a:t>Max-Heap:</a:t>
            </a:r>
            <a:r>
              <a:rPr lang="en-IN" b="0" i="0" dirty="0">
                <a:effectLst/>
                <a:latin typeface="Google Sans"/>
              </a:rPr>
              <a:t> The element with the highest value has the highest priority.</a:t>
            </a:r>
          </a:p>
          <a:p>
            <a:pPr algn="l">
              <a:buFont typeface="Arial" panose="020B0604020202020204" pitchFamily="34" charset="0"/>
              <a:buChar char="•"/>
            </a:pPr>
            <a:r>
              <a:rPr lang="en-IN" b="1" i="0" dirty="0">
                <a:effectLst/>
                <a:latin typeface="Google Sans"/>
              </a:rPr>
              <a:t>Min-Heap:</a:t>
            </a:r>
            <a:r>
              <a:rPr lang="en-IN" b="0" i="0" dirty="0">
                <a:effectLst/>
                <a:latin typeface="Google Sans"/>
              </a:rPr>
              <a:t> The element with the lowest value has the highest priority.</a:t>
            </a:r>
          </a:p>
          <a:p>
            <a:endParaRPr lang="en-US" dirty="0"/>
          </a:p>
        </p:txBody>
      </p:sp>
    </p:spTree>
    <p:extLst>
      <p:ext uri="{BB962C8B-B14F-4D97-AF65-F5344CB8AC3E}">
        <p14:creationId xmlns:p14="http://schemas.microsoft.com/office/powerpoint/2010/main" val="2564729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2336</TotalTime>
  <Words>6087</Words>
  <Application>Microsoft Macintosh PowerPoint</Application>
  <PresentationFormat>Widescreen</PresentationFormat>
  <Paragraphs>600</Paragraphs>
  <Slides>71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71</vt:i4>
      </vt:variant>
    </vt:vector>
  </HeadingPairs>
  <TitlesOfParts>
    <vt:vector size="79" baseType="lpstr">
      <vt:lpstr>__CircularFontRegular_59a53b</vt:lpstr>
      <vt:lpstr>Aptos</vt:lpstr>
      <vt:lpstr>Aptos Display</vt:lpstr>
      <vt:lpstr>Arial</vt:lpstr>
      <vt:lpstr>Google Sans</vt:lpstr>
      <vt:lpstr>Nunito</vt:lpstr>
      <vt:lpstr>Source Sans 3</vt:lpstr>
      <vt:lpstr>Office Theme</vt:lpstr>
      <vt:lpstr>Graph Data Structure</vt:lpstr>
      <vt:lpstr>Representations of Graph</vt:lpstr>
      <vt:lpstr>Adjacency Matrix Representation</vt:lpstr>
      <vt:lpstr>PowerPoint Presentation</vt:lpstr>
      <vt:lpstr>1. Null Graph </vt:lpstr>
      <vt:lpstr>2. Trivial Graph</vt:lpstr>
      <vt:lpstr>PowerPoint Presentation</vt:lpstr>
      <vt:lpstr>3. Undirected Graph</vt:lpstr>
      <vt:lpstr>PowerPoint Presentation</vt:lpstr>
      <vt:lpstr>4. Directed Graph (Digraph)</vt:lpstr>
      <vt:lpstr>PowerPoint Presentation</vt:lpstr>
      <vt:lpstr>5. Connected Graph</vt:lpstr>
      <vt:lpstr>Breadth First Search (Graph Traversal)</vt:lpstr>
      <vt:lpstr>BFS from a Given Source in an Undirected Graph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BFS of a Disconnected Undirected Graph</vt:lpstr>
      <vt:lpstr>PowerPoint Presentation</vt:lpstr>
      <vt:lpstr>Applications of BFS in Graphs</vt:lpstr>
      <vt:lpstr>Applications of BFS in Graphs</vt:lpstr>
      <vt:lpstr>Advantages of Breadth First Search</vt:lpstr>
      <vt:lpstr>Disadvantages of Breadth First Search</vt:lpstr>
      <vt:lpstr>Depth First Search or DFS for a Graph</vt:lpstr>
      <vt:lpstr>DFS from a Given Source of Graph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vt:lpstr>
      <vt:lpstr>DFS of a Disconnected Graph</vt:lpstr>
      <vt:lpstr>PowerPoint Presentation</vt:lpstr>
      <vt:lpstr>Analysis</vt:lpstr>
      <vt:lpstr>Depth First Search or DFS on Directed Graph</vt:lpstr>
      <vt:lpstr>PowerPoint Presentation</vt:lpstr>
      <vt:lpstr>PowerPoint Presentation</vt:lpstr>
      <vt:lpstr>Analysis</vt:lpstr>
      <vt:lpstr>DFS for Complete Traversal of Disconnected Directed Graphs</vt:lpstr>
      <vt:lpstr>PowerPoint Presentation</vt:lpstr>
      <vt:lpstr>Complexity Analysis</vt:lpstr>
      <vt:lpstr>BFS vs DFS</vt:lpstr>
      <vt:lpstr>PowerPoint Presentation</vt:lpstr>
      <vt:lpstr>Rotten Oranges - Minimum Time to Rot All</vt:lpstr>
      <vt:lpstr>PowerPoint Presentation</vt:lpstr>
      <vt:lpstr>PowerPoint Presentation</vt:lpstr>
      <vt:lpstr>Using Iteration - O((n x m) ^ 2) Time and O(1) Space</vt:lpstr>
      <vt:lpstr>PowerPoint Presentation</vt:lpstr>
      <vt:lpstr>PowerPoint Presentation</vt:lpstr>
      <vt:lpstr>Using Depth First Search - O(n x m) Time and O(1) Space</vt:lpstr>
      <vt:lpstr>PowerPoint Presentation</vt:lpstr>
      <vt:lpstr>PowerPoint Presentation</vt:lpstr>
      <vt:lpstr>Using Breadth First Search - O(n x m) Time and O(n x m) Space</vt:lpstr>
      <vt:lpstr>PowerPoint Presentation</vt:lpstr>
      <vt:lpstr>PowerPoint Presentation</vt:lpstr>
      <vt:lpstr>PowerPoint Presentation</vt:lpstr>
      <vt:lpstr>PowerPoint Presentation</vt:lpstr>
      <vt:lpstr>Priority Queue</vt:lpstr>
      <vt:lpstr>Types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162</cp:revision>
  <dcterms:created xsi:type="dcterms:W3CDTF">2026-01-15T04:12:31Z</dcterms:created>
  <dcterms:modified xsi:type="dcterms:W3CDTF">2026-04-25T05:11:38Z</dcterms:modified>
</cp:coreProperties>
</file>