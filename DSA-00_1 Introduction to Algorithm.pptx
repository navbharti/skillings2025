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5" r:id="rId34"/>
    <p:sldId id="296" r:id="rId35"/>
    <p:sldId id="294" r:id="rId36"/>
    <p:sldId id="297" r:id="rId37"/>
    <p:sldId id="298" r:id="rId38"/>
    <p:sldId id="299" r:id="rId39"/>
    <p:sldId id="300" r:id="rId40"/>
    <p:sldId id="301" r:id="rId41"/>
    <p:sldId id="302" r:id="rId42"/>
    <p:sldId id="30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Array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4100-E6B2-E3CC-22A1-BDB17267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9A8A-517D-64FA-9710-4D9CCDF64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algorithm is a Step-by-step procedure to solve a specific problem.</a:t>
            </a:r>
          </a:p>
          <a:p>
            <a:r>
              <a:rPr lang="en-US" dirty="0"/>
              <a:t>A program is also a step-by-step procedure to solve a specific problem.</a:t>
            </a:r>
          </a:p>
          <a:p>
            <a:r>
              <a:rPr lang="en-US" dirty="0"/>
              <a:t>An algorithm is an abstract concept. Whereas a program is a concrete implementation of the algorithm.</a:t>
            </a:r>
          </a:p>
          <a:p>
            <a:r>
              <a:rPr lang="en-US" dirty="0"/>
              <a:t>An algorithm can be written in any language, while a program must be written using a programming language only.</a:t>
            </a:r>
          </a:p>
          <a:p>
            <a:r>
              <a:rPr lang="en-US" dirty="0"/>
              <a:t>An Algorithm is developed during the design phase, and a program is developed during the development phase.</a:t>
            </a:r>
          </a:p>
          <a:p>
            <a:r>
              <a:rPr lang="en-US" dirty="0"/>
              <a:t>An Algorithm does not depend on the hardware and operating system, while a program depends upon them.</a:t>
            </a:r>
          </a:p>
          <a:p>
            <a:r>
              <a:rPr lang="en-US" dirty="0"/>
              <a:t>An algorithm is always analyzed, while a program is tested.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26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51E0-F015-09F2-000D-004FE3F4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DABFD-8DA3-1C0C-1EE4-8DD6AE0DA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Asymptotic Notations</a:t>
            </a:r>
          </a:p>
          <a:p>
            <a:r>
              <a:rPr lang="en-US" dirty="0"/>
              <a:t>Time Complexity</a:t>
            </a:r>
          </a:p>
          <a:p>
            <a:r>
              <a:rPr lang="en-US" dirty="0"/>
              <a:t>Time and Space Complexity of Recursive Algorithm</a:t>
            </a:r>
          </a:p>
          <a:p>
            <a:r>
              <a:rPr lang="en-US" dirty="0"/>
              <a:t>Methods to Solve Recurrence Relations</a:t>
            </a:r>
          </a:p>
          <a:p>
            <a:r>
              <a:rPr lang="en-US" dirty="0"/>
              <a:t>Divide and Conquer Algorithms</a:t>
            </a:r>
          </a:p>
          <a:p>
            <a:r>
              <a:rPr lang="en-US" dirty="0"/>
              <a:t>Greedy Algorithm</a:t>
            </a:r>
          </a:p>
          <a:p>
            <a:r>
              <a:rPr lang="en-US" dirty="0"/>
              <a:t>Dynamic Programming</a:t>
            </a:r>
          </a:p>
          <a:p>
            <a:r>
              <a:rPr lang="en-US" dirty="0"/>
              <a:t>Graph Representation and Traversal</a:t>
            </a:r>
          </a:p>
          <a:p>
            <a:r>
              <a:rPr lang="en-US" dirty="0"/>
              <a:t>Sorting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68294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58A3-9791-2BB1-1693-49E4D17D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vs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85BA-6882-65A5-CA56-87D76A925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Initialize a variable ‘result’ to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the input number ’n’.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the following until n become 0: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Multiply result by 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Decrement n by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Print the value of result as the factorial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471BEB-7E66-6FF1-CF79-ECA3297EC8B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fact(int n){</a:t>
            </a:r>
          </a:p>
          <a:p>
            <a:pPr marL="0" indent="0">
              <a:buNone/>
            </a:pPr>
            <a:r>
              <a:rPr lang="en-US" dirty="0"/>
              <a:t>    int result = 1;</a:t>
            </a:r>
          </a:p>
          <a:p>
            <a:pPr marL="0" indent="0">
              <a:buNone/>
            </a:pPr>
            <a:r>
              <a:rPr lang="en-US" dirty="0"/>
              <a:t>    while(n&gt;0){</a:t>
            </a:r>
          </a:p>
          <a:p>
            <a:pPr marL="0" indent="0">
              <a:buNone/>
            </a:pPr>
            <a:r>
              <a:rPr lang="en-US" dirty="0"/>
              <a:t>        result *= n;</a:t>
            </a:r>
          </a:p>
          <a:p>
            <a:pPr marL="0" indent="0">
              <a:buNone/>
            </a:pPr>
            <a:r>
              <a:rPr lang="en-US" dirty="0"/>
              <a:t>        n--;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result;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343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ECD4-C415-CE32-4BA1-BB17404E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6DC8B-12AE-8AF6-DBFC-894949CB1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An algorithm can take 0 or more inputs.</a:t>
            </a:r>
          </a:p>
          <a:p>
            <a:r>
              <a:rPr lang="en-US" dirty="0"/>
              <a:t>Output: An algorithm must produce at least 1 output.</a:t>
            </a:r>
          </a:p>
          <a:p>
            <a:r>
              <a:rPr lang="en-US" dirty="0"/>
              <a:t>Finiteness: An algorithm must terminate in finite time.</a:t>
            </a:r>
          </a:p>
          <a:p>
            <a:r>
              <a:rPr lang="en-US" dirty="0"/>
              <a:t>Definiteness: An algorithm must be clear and unambiguous.</a:t>
            </a:r>
          </a:p>
          <a:p>
            <a:r>
              <a:rPr lang="en-US" dirty="0"/>
              <a:t>Effectiveness: An algorithm should take less time and space to execute.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1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95AC-668C-BC22-9E6B-B6995862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7FCD-8F90-87F2-6202-8FB987F9F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bad algorithm can lead to longer execution time.</a:t>
            </a:r>
          </a:p>
          <a:p>
            <a:r>
              <a:rPr lang="en-US" dirty="0"/>
              <a:t>A good algorithm will lead to shorter execution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9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AB0D-48FE-C617-7510-A6141E47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2EDAB-0FE5-FB88-0747-47AEC545C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for which efficient algorithm exists.</a:t>
            </a:r>
          </a:p>
          <a:p>
            <a:r>
              <a:rPr lang="en-US" dirty="0"/>
              <a:t>Take polynomial time or less to execute.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E2A3E-1D75-61A2-DAD2-86AF5F44D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2" y="3763433"/>
            <a:ext cx="11885835" cy="15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5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A794-0756-C21C-70AC-4E5C0A65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Undecidable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337D9-DCB8-A6C2-4F23-594930AE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for which no efficient algorithm exists.</a:t>
            </a:r>
          </a:p>
          <a:p>
            <a:r>
              <a:rPr lang="en-US" dirty="0"/>
              <a:t>Takes exponential time to execute.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417E89-87B3-D5EB-9EE3-25CE02130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9788488" cy="114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FF4E-726F-4C36-B1E0-3FEE9ECB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vs Exponential Time</a:t>
            </a:r>
          </a:p>
        </p:txBody>
      </p:sp>
      <p:pic>
        <p:nvPicPr>
          <p:cNvPr id="5" name="Content Placeholder 4" descr="A graph of exponential growth&#10;&#10;Description automatically generated">
            <a:extLst>
              <a:ext uri="{FF2B5EF4-FFF2-40B4-BE49-F238E27FC236}">
                <a16:creationId xmlns:a16="http://schemas.microsoft.com/office/drawing/2014/main" id="{5C5AE239-6D83-5A85-9F20-F492BBC38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2566194"/>
            <a:ext cx="6299200" cy="2870200"/>
          </a:xfrm>
        </p:spPr>
      </p:pic>
    </p:spTree>
    <p:extLst>
      <p:ext uri="{BB962C8B-B14F-4D97-AF65-F5344CB8AC3E}">
        <p14:creationId xmlns:p14="http://schemas.microsoft.com/office/powerpoint/2010/main" val="346169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A5C0-0C86-37D2-03E6-0E03A9DC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E029E-EB59-15CA-3728-361C1FF54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Study of an algorithm’s performance based on time and memory space consumption.</a:t>
            </a:r>
          </a:p>
          <a:p>
            <a:r>
              <a:rPr lang="en-US" dirty="0"/>
              <a:t>The algorithm taking least time and memory space is preferred.</a:t>
            </a:r>
          </a:p>
          <a:p>
            <a:endParaRPr lang="en-US" dirty="0"/>
          </a:p>
          <a:p>
            <a:r>
              <a:rPr lang="en-US" dirty="0"/>
              <a:t>Two ways to analyze an algorithm:</a:t>
            </a:r>
          </a:p>
          <a:p>
            <a:pPr lvl="1"/>
            <a:r>
              <a:rPr lang="en-US" dirty="0"/>
              <a:t>Priori Analysis</a:t>
            </a:r>
          </a:p>
          <a:p>
            <a:pPr lvl="1"/>
            <a:r>
              <a:rPr lang="en-US" dirty="0"/>
              <a:t>Posteriori Analysis</a:t>
            </a:r>
          </a:p>
        </p:txBody>
      </p:sp>
    </p:spTree>
    <p:extLst>
      <p:ext uri="{BB962C8B-B14F-4D97-AF65-F5344CB8AC3E}">
        <p14:creationId xmlns:p14="http://schemas.microsoft.com/office/powerpoint/2010/main" val="166023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EF7B-44EB-4DA2-537A-8938405D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 Analysis vs Posteriori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C630-7F8D-1B01-3E59-32D3A29F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Priori Analysis</a:t>
            </a:r>
          </a:p>
          <a:p>
            <a:r>
              <a:rPr lang="en-US" dirty="0"/>
              <a:t>Estimation of time and memory space required by an algorithm before executing it on the system.</a:t>
            </a:r>
          </a:p>
          <a:p>
            <a:endParaRPr lang="en-US" dirty="0"/>
          </a:p>
          <a:p>
            <a:r>
              <a:rPr lang="en-US" dirty="0"/>
              <a:t>Independent of the programming language.</a:t>
            </a:r>
          </a:p>
          <a:p>
            <a:endParaRPr lang="en-US" dirty="0"/>
          </a:p>
          <a:p>
            <a:r>
              <a:rPr lang="en-US" dirty="0"/>
              <a:t>Independent of the hardware.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9902D5-0A5D-EAAC-83D1-34A05AF62F2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Posteriori Analysis</a:t>
            </a:r>
          </a:p>
          <a:p>
            <a:r>
              <a:rPr lang="en-US" dirty="0"/>
              <a:t>Calculation of time and memory space required by an algorithm after executing it on the system.</a:t>
            </a:r>
          </a:p>
          <a:p>
            <a:endParaRPr lang="en-US" dirty="0"/>
          </a:p>
          <a:p>
            <a:r>
              <a:rPr lang="en-US" dirty="0"/>
              <a:t>Dependent on the programming language.</a:t>
            </a:r>
          </a:p>
          <a:p>
            <a:endParaRPr lang="en-US" dirty="0"/>
          </a:p>
          <a:p>
            <a:r>
              <a:rPr lang="en-US" dirty="0"/>
              <a:t>Dependent on the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0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F89E7-C96A-AC18-4D86-1BB33DD9E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Algorithm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9F10-44DA-1337-6BD5-721F950FC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</a:t>
            </a:r>
            <a:r>
              <a:rPr lang="en-US" b="1" i="1" dirty="0"/>
              <a:t>many algorithms</a:t>
            </a:r>
            <a:r>
              <a:rPr lang="en-US" dirty="0"/>
              <a:t> to solve a problem</a:t>
            </a:r>
          </a:p>
          <a:p>
            <a:r>
              <a:rPr lang="en-US" dirty="0"/>
              <a:t>The requirement is to find the </a:t>
            </a:r>
            <a:r>
              <a:rPr lang="en-US" b="1" i="1" dirty="0"/>
              <a:t>most efficient algorithm</a:t>
            </a:r>
            <a:r>
              <a:rPr lang="en-US" dirty="0"/>
              <a:t> to solve the problem.</a:t>
            </a:r>
          </a:p>
          <a:p>
            <a:r>
              <a:rPr lang="en-US" dirty="0"/>
              <a:t>Efficiency in terms of time and memory space consumption.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Key: 90</a:t>
            </a:r>
          </a:p>
          <a:p>
            <a:r>
              <a:rPr lang="en-US" dirty="0"/>
              <a:t>Total comparison: 7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B3BD1-921C-0037-6F20-E787718A2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49" y="4001294"/>
            <a:ext cx="7637085" cy="64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67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5C1E-1A5C-BD32-D367-70F3E809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Growth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73A6-F01F-1483-6BC4-069D7B2F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Linear Search vs Binary Search</a:t>
            </a:r>
          </a:p>
          <a:p>
            <a:r>
              <a:rPr lang="en-US" dirty="0"/>
              <a:t>100 items					100 items</a:t>
            </a:r>
          </a:p>
          <a:p>
            <a:r>
              <a:rPr lang="en-US" dirty="0"/>
              <a:t>100 comparison				7 comparison</a:t>
            </a:r>
          </a:p>
          <a:p>
            <a:r>
              <a:rPr lang="en-US" dirty="0"/>
              <a:t>I billion items				1 billion items</a:t>
            </a:r>
          </a:p>
          <a:p>
            <a:r>
              <a:rPr lang="en-US" dirty="0"/>
              <a:t>1 billion comparisons 			30 comparisons</a:t>
            </a:r>
          </a:p>
          <a:p>
            <a:endParaRPr lang="en-US" dirty="0"/>
          </a:p>
          <a:p>
            <a:r>
              <a:rPr lang="en-US" dirty="0"/>
              <a:t>As the size of the input grows, the speed of the binary search grows drastically.</a:t>
            </a:r>
          </a:p>
          <a:p>
            <a:r>
              <a:rPr lang="en-US" dirty="0"/>
              <a:t>One example is not enough to </a:t>
            </a:r>
            <a:r>
              <a:rPr lang="en-US" dirty="0" err="1"/>
              <a:t>analyse</a:t>
            </a:r>
            <a:r>
              <a:rPr lang="en-US" dirty="0"/>
              <a:t> algorithms.</a:t>
            </a:r>
          </a:p>
          <a:p>
            <a:r>
              <a:rPr lang="en-US" dirty="0"/>
              <a:t>Importance to know how fast an algorithm grows </a:t>
            </a:r>
            <a:r>
              <a:rPr lang="en-US" dirty="0" err="1"/>
              <a:t>w.r.t.</a:t>
            </a:r>
            <a:r>
              <a:rPr lang="en-US" dirty="0"/>
              <a:t> the input size.</a:t>
            </a:r>
          </a:p>
          <a:p>
            <a:endParaRPr lang="en-US" dirty="0"/>
          </a:p>
          <a:p>
            <a:r>
              <a:rPr lang="en-US" dirty="0"/>
              <a:t>Definition: Rate at which the running time increases as a function of input is called the growth rate (can be measured using the Big O Notation). </a:t>
            </a:r>
          </a:p>
        </p:txBody>
      </p:sp>
    </p:spTree>
    <p:extLst>
      <p:ext uri="{BB962C8B-B14F-4D97-AF65-F5344CB8AC3E}">
        <p14:creationId xmlns:p14="http://schemas.microsoft.com/office/powerpoint/2010/main" val="613288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341C-F2E0-0464-7995-E60E7159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FDB4C-83EC-2BA1-EA88-0A65DEC0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Way to describe the performance of an algorithm </a:t>
            </a:r>
            <a:r>
              <a:rPr lang="en-US" dirty="0" err="1"/>
              <a:t>w.r.t.</a:t>
            </a:r>
            <a:r>
              <a:rPr lang="en-US" dirty="0"/>
              <a:t> to the input size.</a:t>
            </a:r>
          </a:p>
          <a:p>
            <a:r>
              <a:rPr lang="en-US" dirty="0"/>
              <a:t>In linear search, the number of comparisons is directly proportional to the input size.</a:t>
            </a:r>
          </a:p>
          <a:p>
            <a:r>
              <a:rPr lang="en-US" dirty="0"/>
              <a:t>Linear Search</a:t>
            </a:r>
          </a:p>
          <a:p>
            <a:r>
              <a:rPr lang="en-US" dirty="0"/>
              <a:t>Number of Items			Number of Comparisons</a:t>
            </a:r>
          </a:p>
          <a:p>
            <a:r>
              <a:rPr lang="en-US" dirty="0"/>
              <a:t>10						10</a:t>
            </a:r>
          </a:p>
          <a:p>
            <a:r>
              <a:rPr lang="en-US" dirty="0"/>
              <a:t>100						100</a:t>
            </a:r>
          </a:p>
          <a:p>
            <a:r>
              <a:rPr lang="en-US" dirty="0"/>
              <a:t>I million					I million</a:t>
            </a:r>
          </a:p>
          <a:p>
            <a:r>
              <a:rPr lang="en-US" dirty="0"/>
              <a:t>N						N </a:t>
            </a:r>
          </a:p>
          <a:p>
            <a:r>
              <a:rPr lang="en-US" b="1" dirty="0"/>
              <a:t>Running Time: O(N)</a:t>
            </a:r>
          </a:p>
        </p:txBody>
      </p:sp>
    </p:spTree>
    <p:extLst>
      <p:ext uri="{BB962C8B-B14F-4D97-AF65-F5344CB8AC3E}">
        <p14:creationId xmlns:p14="http://schemas.microsoft.com/office/powerpoint/2010/main" val="52505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2C01-F056-E054-8E66-11240A70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37C9-EBC7-2D73-BC4A-3974C513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O notation does not tell speed in seconds.</a:t>
            </a:r>
          </a:p>
          <a:p>
            <a:r>
              <a:rPr lang="en-US" dirty="0"/>
              <a:t>It helps in comparing the number of operations.</a:t>
            </a:r>
          </a:p>
          <a:p>
            <a:r>
              <a:rPr lang="en-US" dirty="0"/>
              <a:t>O(n): number of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232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AD05-29BD-27F4-55DE-1B22353F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notation and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4A257-F132-8544-5705-3CB235F39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binary search, every time half of the list is eliminated.</a:t>
            </a:r>
          </a:p>
          <a:p>
            <a:r>
              <a:rPr lang="en-US" dirty="0"/>
              <a:t>Binary Search</a:t>
            </a:r>
          </a:p>
          <a:p>
            <a:r>
              <a:rPr lang="en-US" dirty="0"/>
              <a:t>Number of Items			Number of Comparisons</a:t>
            </a:r>
          </a:p>
          <a:p>
            <a:r>
              <a:rPr lang="en-US" dirty="0"/>
              <a:t>10						4</a:t>
            </a:r>
          </a:p>
          <a:p>
            <a:r>
              <a:rPr lang="en-US" dirty="0"/>
              <a:t>100						7</a:t>
            </a:r>
          </a:p>
          <a:p>
            <a:r>
              <a:rPr lang="en-US" dirty="0"/>
              <a:t>1 billion					30</a:t>
            </a:r>
          </a:p>
          <a:p>
            <a:r>
              <a:rPr lang="en-US" dirty="0"/>
              <a:t>N						?</a:t>
            </a:r>
          </a:p>
          <a:p>
            <a:r>
              <a:rPr lang="en-US" dirty="0"/>
              <a:t>O(</a:t>
            </a:r>
            <a:r>
              <a:rPr lang="en-US" dirty="0" err="1"/>
              <a:t>logn</a:t>
            </a:r>
            <a:r>
              <a:rPr lang="en-US" dirty="0"/>
              <a:t>): n, n/2, n/4, …, n/2</a:t>
            </a:r>
            <a:r>
              <a:rPr lang="en-US" baseline="30000" dirty="0"/>
              <a:t>k  </a:t>
            </a:r>
            <a:r>
              <a:rPr lang="en-US" dirty="0"/>
              <a:t> ; n/2</a:t>
            </a:r>
            <a:r>
              <a:rPr lang="en-US" baseline="30000" dirty="0"/>
              <a:t>k</a:t>
            </a:r>
            <a:r>
              <a:rPr lang="en-US" dirty="0"/>
              <a:t>=1; 2</a:t>
            </a:r>
            <a:r>
              <a:rPr lang="en-US" baseline="30000" dirty="0"/>
              <a:t>k</a:t>
            </a:r>
            <a:r>
              <a:rPr lang="en-US" dirty="0"/>
              <a:t> = n; log</a:t>
            </a:r>
            <a:r>
              <a:rPr lang="en-US" baseline="-25000" dirty="0"/>
              <a:t>2</a:t>
            </a:r>
            <a:r>
              <a:rPr lang="en-US" dirty="0"/>
              <a:t>2</a:t>
            </a:r>
            <a:r>
              <a:rPr lang="en-US" baseline="30000" dirty="0"/>
              <a:t>k</a:t>
            </a:r>
            <a:r>
              <a:rPr lang="en-US" dirty="0"/>
              <a:t> = log2n ; k = </a:t>
            </a:r>
            <a:r>
              <a:rPr lang="en-US" dirty="0" err="1"/>
              <a:t>logn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793838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C381-F9AA-75B6-4C28-47FE9B6F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3EF4D-6F47-B8A6-2177-307F02EDE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Mastering Time Complexity to Build Fast and Scalable Algorithms">
            <a:extLst>
              <a:ext uri="{FF2B5EF4-FFF2-40B4-BE49-F238E27FC236}">
                <a16:creationId xmlns:a16="http://schemas.microsoft.com/office/drawing/2014/main" id="{F7C01682-41EA-9B52-E3FD-39028567F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7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BE39-5B42-FCE6-1155-453EBAC7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5FC6B-C5F4-DD98-398F-6BD88D3BA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Big O: Analysis of Algorithm Efficiency | common_curriculum">
            <a:extLst>
              <a:ext uri="{FF2B5EF4-FFF2-40B4-BE49-F238E27FC236}">
                <a16:creationId xmlns:a16="http://schemas.microsoft.com/office/drawing/2014/main" id="{DA4F4286-D8DE-7EF2-80B6-76924CA2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65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9FAA-307C-CA88-3946-2CC1D160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Definition: Growth Rate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18CDF-D633-67E7-D5B2-A3C54F26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g(n) is asymptotically bigger</a:t>
            </a:r>
          </a:p>
          <a:p>
            <a:r>
              <a:rPr lang="en-US" dirty="0"/>
              <a:t>bigger than f(n)</a:t>
            </a:r>
          </a:p>
        </p:txBody>
      </p:sp>
      <p:pic>
        <p:nvPicPr>
          <p:cNvPr id="4098" name="Picture 2" descr="Big O vs Theta Θ vs Big Omega Ω Notations - GeeksforGeeks">
            <a:extLst>
              <a:ext uri="{FF2B5EF4-FFF2-40B4-BE49-F238E27FC236}">
                <a16:creationId xmlns:a16="http://schemas.microsoft.com/office/drawing/2014/main" id="{ECE458B4-1F1F-5538-D740-41FDDCB4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599" y="1771937"/>
            <a:ext cx="6629401" cy="361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082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0126-16DD-ED98-694D-D444333E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Big-Oh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50496-E992-310C-5E1C-53DFB40DC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Assuming f(n) and g(n) are non-negative functions.</a:t>
            </a:r>
          </a:p>
          <a:p>
            <a:r>
              <a:rPr lang="en-US" dirty="0"/>
              <a:t>f(n)=O(g(n)) </a:t>
            </a:r>
            <a:r>
              <a:rPr lang="en-US" dirty="0" err="1"/>
              <a:t>iff</a:t>
            </a:r>
            <a:r>
              <a:rPr lang="en-US" dirty="0"/>
              <a:t> f(n) &lt;= </a:t>
            </a:r>
            <a:r>
              <a:rPr lang="en-US" dirty="0" err="1"/>
              <a:t>c.g</a:t>
            </a:r>
            <a:r>
              <a:rPr lang="en-US" dirty="0"/>
              <a:t>(n) for all values of n where n&gt;= n</a:t>
            </a:r>
            <a:r>
              <a:rPr lang="en-US" baseline="-25000" dirty="0"/>
              <a:t>0</a:t>
            </a:r>
            <a:r>
              <a:rPr lang="en-US" dirty="0"/>
              <a:t> and c and n</a:t>
            </a:r>
            <a:r>
              <a:rPr lang="en-US" baseline="-25000" dirty="0"/>
              <a:t>0</a:t>
            </a:r>
            <a:r>
              <a:rPr lang="en-US" dirty="0"/>
              <a:t> are constants.</a:t>
            </a:r>
          </a:p>
          <a:p>
            <a:endParaRPr lang="en-US" dirty="0"/>
          </a:p>
          <a:p>
            <a:r>
              <a:rPr lang="en-US" dirty="0"/>
              <a:t>g(n) is the tightly upper bound of f(n).</a:t>
            </a:r>
          </a:p>
          <a:p>
            <a:r>
              <a:rPr lang="en-US" dirty="0"/>
              <a:t>g(n) is tightly greater than f(n).</a:t>
            </a:r>
          </a:p>
        </p:txBody>
      </p:sp>
    </p:spTree>
    <p:extLst>
      <p:ext uri="{BB962C8B-B14F-4D97-AF65-F5344CB8AC3E}">
        <p14:creationId xmlns:p14="http://schemas.microsoft.com/office/powerpoint/2010/main" val="23329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7924-24A9-9167-4A3F-0E686535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CF4B-E256-314A-BC78-274D3E101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Assume that f(n) = 5n+50 and g(n) = n. Is f(n) = O(g(n))?</a:t>
            </a:r>
          </a:p>
          <a:p>
            <a:endParaRPr lang="en-US" dirty="0"/>
          </a:p>
          <a:p>
            <a:r>
              <a:rPr lang="en-US" dirty="0"/>
              <a:t>Assume c = 6</a:t>
            </a:r>
          </a:p>
          <a:p>
            <a:r>
              <a:rPr lang="en-US" dirty="0"/>
              <a:t>5n + 50				6n</a:t>
            </a:r>
          </a:p>
          <a:p>
            <a:r>
              <a:rPr lang="en-US" dirty="0"/>
              <a:t>n=10; 100				60</a:t>
            </a:r>
          </a:p>
          <a:p>
            <a:r>
              <a:rPr lang="en-US" dirty="0"/>
              <a:t>n=20;	150			120</a:t>
            </a:r>
          </a:p>
          <a:p>
            <a:r>
              <a:rPr lang="en-US" dirty="0"/>
              <a:t>n=50;	300			300</a:t>
            </a:r>
          </a:p>
          <a:p>
            <a:r>
              <a:rPr lang="en-US" dirty="0"/>
              <a:t>n=51;	305			306</a:t>
            </a:r>
          </a:p>
          <a:p>
            <a:r>
              <a:rPr lang="en-US" dirty="0"/>
              <a:t>5n+50=O(n) for c=6 and n</a:t>
            </a:r>
            <a:r>
              <a:rPr lang="en-US" baseline="-25000" dirty="0"/>
              <a:t>0</a:t>
            </a:r>
            <a:r>
              <a:rPr lang="en-US" dirty="0"/>
              <a:t>&gt;=50</a:t>
            </a:r>
          </a:p>
        </p:txBody>
      </p:sp>
    </p:spTree>
    <p:extLst>
      <p:ext uri="{BB962C8B-B14F-4D97-AF65-F5344CB8AC3E}">
        <p14:creationId xmlns:p14="http://schemas.microsoft.com/office/powerpoint/2010/main" val="3777077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2ADD-6B38-A3D4-E31B-B627CEBB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97F1-6117-2FBE-8F4C-D5CEC64B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2. Assume that f(n) = 5n + 50 and g(n) = log</a:t>
            </a:r>
            <a:r>
              <a:rPr lang="en-US" baseline="-25000" dirty="0"/>
              <a:t>10</a:t>
            </a:r>
            <a:r>
              <a:rPr lang="en-US" dirty="0"/>
              <a:t>n. Is g(n) upper bound of f(n).</a:t>
            </a:r>
          </a:p>
          <a:p>
            <a:r>
              <a:rPr lang="en-US" dirty="0"/>
              <a:t>Assume c = 1000</a:t>
            </a:r>
          </a:p>
          <a:p>
            <a:r>
              <a:rPr lang="en-US" dirty="0"/>
              <a:t>5n + 50				1000log10n</a:t>
            </a:r>
          </a:p>
          <a:p>
            <a:r>
              <a:rPr lang="en-US" dirty="0"/>
              <a:t>n=10; 	100			1000</a:t>
            </a:r>
          </a:p>
          <a:p>
            <a:r>
              <a:rPr lang="en-US" dirty="0"/>
              <a:t>n=100;	550			2000</a:t>
            </a:r>
          </a:p>
          <a:p>
            <a:r>
              <a:rPr lang="en-US" dirty="0"/>
              <a:t>n=1000;	5050			3000</a:t>
            </a:r>
          </a:p>
          <a:p>
            <a:r>
              <a:rPr lang="en-US" dirty="0"/>
              <a:t>n=10000;	50050		4000</a:t>
            </a:r>
          </a:p>
          <a:p>
            <a:r>
              <a:rPr lang="en-US" dirty="0"/>
              <a:t>g(n) is not an upper bound of f(n)</a:t>
            </a:r>
          </a:p>
        </p:txBody>
      </p:sp>
    </p:spTree>
    <p:extLst>
      <p:ext uri="{BB962C8B-B14F-4D97-AF65-F5344CB8AC3E}">
        <p14:creationId xmlns:p14="http://schemas.microsoft.com/office/powerpoint/2010/main" val="2094292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563A-9E85-71FD-A1E8-08E8AF2C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2AAD-0F88-084F-0003-2A44244F7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Find upper bound for f(n) = 3n + 8</a:t>
            </a:r>
          </a:p>
          <a:p>
            <a:r>
              <a:rPr lang="en-US" dirty="0"/>
              <a:t>1: Identify the dominant term. </a:t>
            </a:r>
            <a:r>
              <a:rPr lang="en-US" dirty="0" err="1"/>
              <a:t>Ie</a:t>
            </a:r>
            <a:r>
              <a:rPr lang="en-US" dirty="0"/>
              <a:t>. 3n</a:t>
            </a:r>
          </a:p>
          <a:p>
            <a:r>
              <a:rPr lang="en-US" dirty="0"/>
              <a:t>2: Choose g(n) according to the dominant term.</a:t>
            </a:r>
          </a:p>
          <a:p>
            <a:r>
              <a:rPr lang="en-US" dirty="0"/>
              <a:t>N, </a:t>
            </a:r>
            <a:r>
              <a:rPr lang="en-US" dirty="0" err="1"/>
              <a:t>nlogn</a:t>
            </a:r>
            <a:r>
              <a:rPr lang="en-US" dirty="0"/>
              <a:t>, n</a:t>
            </a:r>
            <a:r>
              <a:rPr lang="en-US" baseline="30000" dirty="0"/>
              <a:t>2</a:t>
            </a:r>
            <a:r>
              <a:rPr lang="en-US" dirty="0"/>
              <a:t>, n</a:t>
            </a:r>
            <a:r>
              <a:rPr lang="en-US" baseline="30000" dirty="0"/>
              <a:t>3</a:t>
            </a:r>
            <a:r>
              <a:rPr lang="en-US" dirty="0"/>
              <a:t>, 2</a:t>
            </a:r>
            <a:r>
              <a:rPr lang="en-US" baseline="30000" dirty="0"/>
              <a:t>n</a:t>
            </a:r>
            <a:r>
              <a:rPr lang="en-US" dirty="0"/>
              <a:t>, n! etc.</a:t>
            </a:r>
          </a:p>
          <a:p>
            <a:r>
              <a:rPr lang="en-US" dirty="0"/>
              <a:t>Apply the Big O definition</a:t>
            </a:r>
          </a:p>
          <a:p>
            <a:r>
              <a:rPr lang="en-US" dirty="0"/>
              <a:t>According to the definition of Big O notation: f(n) = O(g(n)) </a:t>
            </a:r>
            <a:r>
              <a:rPr lang="en-US" dirty="0" err="1"/>
              <a:t>iff</a:t>
            </a:r>
            <a:r>
              <a:rPr lang="en-US" dirty="0"/>
              <a:t> f(n) &lt;= </a:t>
            </a:r>
            <a:r>
              <a:rPr lang="en-US" dirty="0" err="1"/>
              <a:t>c.g</a:t>
            </a:r>
            <a:r>
              <a:rPr lang="en-US" dirty="0"/>
              <a:t>(n) for all values of n where n&gt;=n</a:t>
            </a:r>
            <a:r>
              <a:rPr lang="en-US" baseline="-25000" dirty="0"/>
              <a:t>0</a:t>
            </a:r>
            <a:r>
              <a:rPr lang="en-US" dirty="0"/>
              <a:t> and c and n</a:t>
            </a:r>
            <a:r>
              <a:rPr lang="en-US" baseline="-25000" dirty="0"/>
              <a:t>0</a:t>
            </a:r>
            <a:r>
              <a:rPr lang="en-US" dirty="0"/>
              <a:t> are constant.</a:t>
            </a:r>
          </a:p>
        </p:txBody>
      </p:sp>
    </p:spTree>
    <p:extLst>
      <p:ext uri="{BB962C8B-B14F-4D97-AF65-F5344CB8AC3E}">
        <p14:creationId xmlns:p14="http://schemas.microsoft.com/office/powerpoint/2010/main" val="3127892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5EF2-986F-D3AC-FF75-51F40C23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0FA0-A5D6-117A-6BBA-AF4642DB1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4. Find the upper bound for f(n) = 3n + 8.</a:t>
            </a:r>
          </a:p>
          <a:p>
            <a:r>
              <a:rPr lang="en-US" dirty="0"/>
              <a:t>1: Identify the dominant term.</a:t>
            </a:r>
          </a:p>
          <a:p>
            <a:r>
              <a:rPr lang="en-US" dirty="0"/>
              <a:t>2: Choose g(n) according to the dominant term.</a:t>
            </a:r>
          </a:p>
          <a:p>
            <a:r>
              <a:rPr lang="en-US" dirty="0" err="1"/>
              <a:t>Ie</a:t>
            </a:r>
            <a:r>
              <a:rPr lang="en-US" dirty="0"/>
              <a:t>. n, </a:t>
            </a:r>
            <a:r>
              <a:rPr lang="en-US" dirty="0" err="1"/>
              <a:t>nlogn</a:t>
            </a:r>
            <a:r>
              <a:rPr lang="en-US" dirty="0"/>
              <a:t>, n</a:t>
            </a:r>
            <a:r>
              <a:rPr lang="en-US" baseline="30000" dirty="0"/>
              <a:t>2</a:t>
            </a:r>
            <a:r>
              <a:rPr lang="en-US" dirty="0"/>
              <a:t>, n</a:t>
            </a:r>
            <a:r>
              <a:rPr lang="en-US" baseline="30000" dirty="0"/>
              <a:t>3</a:t>
            </a:r>
            <a:r>
              <a:rPr lang="en-US" dirty="0"/>
              <a:t>, …..				 3n is the dominant term.</a:t>
            </a:r>
          </a:p>
          <a:p>
            <a:pPr marL="0" indent="0">
              <a:buNone/>
            </a:pPr>
            <a:r>
              <a:rPr lang="en-US" dirty="0"/>
              <a:t>3: Apply the Big O definition. According to the definition of Big O notation: f(n) = O(g(n)) </a:t>
            </a:r>
            <a:r>
              <a:rPr lang="en-US" dirty="0" err="1"/>
              <a:t>iff</a:t>
            </a:r>
            <a:r>
              <a:rPr lang="en-US" dirty="0"/>
              <a:t> f(n) &lt;= </a:t>
            </a:r>
            <a:r>
              <a:rPr lang="en-US" dirty="0" err="1"/>
              <a:t>c.g</a:t>
            </a:r>
            <a:r>
              <a:rPr lang="en-US" dirty="0"/>
              <a:t>(n) for all values of n where n&gt;=n</a:t>
            </a:r>
            <a:r>
              <a:rPr lang="en-US" baseline="-25000" dirty="0"/>
              <a:t>0</a:t>
            </a:r>
            <a:r>
              <a:rPr lang="en-US" dirty="0"/>
              <a:t> and c and n</a:t>
            </a:r>
            <a:r>
              <a:rPr lang="en-US" baseline="-25000" dirty="0"/>
              <a:t>0</a:t>
            </a:r>
            <a:r>
              <a:rPr lang="en-US" dirty="0"/>
              <a:t> are constants.</a:t>
            </a:r>
          </a:p>
          <a:p>
            <a:pPr marL="0" indent="0">
              <a:buNone/>
            </a:pPr>
            <a:r>
              <a:rPr lang="en-US" dirty="0"/>
              <a:t>Assuming c = 4</a:t>
            </a:r>
          </a:p>
          <a:p>
            <a:pPr marL="0" indent="0">
              <a:buNone/>
            </a:pPr>
            <a:r>
              <a:rPr lang="en-US" dirty="0"/>
              <a:t>3n + 8 &lt;= 4n is true</a:t>
            </a:r>
          </a:p>
          <a:p>
            <a:pPr marL="0" indent="0">
              <a:buNone/>
            </a:pPr>
            <a:r>
              <a:rPr lang="en-US" dirty="0"/>
              <a:t>3n + 8 = O9n) for c = 4 and n</a:t>
            </a:r>
            <a:r>
              <a:rPr lang="en-US" baseline="-25000" dirty="0"/>
              <a:t>0</a:t>
            </a:r>
            <a:r>
              <a:rPr lang="en-US" dirty="0"/>
              <a:t> = 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D1316-D7F6-F835-4E0B-1B000AC6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65124"/>
            <a:ext cx="3409539" cy="2700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469EF2-5276-E343-6D33-E7BAF6CA6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4622800"/>
            <a:ext cx="22606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95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3EB3-A874-FCF9-F8FD-64F77EE6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5C0C6-8ADB-7FE8-DEE7-CF19E5731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upper bound for f(n) = n</a:t>
            </a:r>
            <a:r>
              <a:rPr lang="en-US" baseline="30000" dirty="0"/>
              <a:t>2</a:t>
            </a:r>
            <a:r>
              <a:rPr lang="en-US" dirty="0"/>
              <a:t> + 10</a:t>
            </a:r>
          </a:p>
          <a:p>
            <a:r>
              <a:rPr lang="en-US" dirty="0"/>
              <a:t>Find the upper bound for f(n) = 2n</a:t>
            </a:r>
            <a:r>
              <a:rPr lang="en-US" baseline="30000" dirty="0"/>
              <a:t>3</a:t>
            </a:r>
            <a:r>
              <a:rPr lang="en-US" dirty="0"/>
              <a:t> – 2n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r>
              <a:rPr lang="en-US" dirty="0"/>
              <a:t>Find the upper bound for f(n) = n</a:t>
            </a:r>
            <a:r>
              <a:rPr lang="en-US" baseline="30000" dirty="0"/>
              <a:t>4</a:t>
            </a:r>
            <a:r>
              <a:rPr lang="en-US" dirty="0"/>
              <a:t> + 100n</a:t>
            </a:r>
            <a:r>
              <a:rPr lang="en-US" baseline="30000" dirty="0"/>
              <a:t>2</a:t>
            </a:r>
            <a:r>
              <a:rPr lang="en-US" dirty="0"/>
              <a:t> +35.</a:t>
            </a:r>
          </a:p>
          <a:p>
            <a:r>
              <a:rPr lang="en-US" dirty="0"/>
              <a:t>Find the upper bound for f(n) = 2</a:t>
            </a:r>
            <a:r>
              <a:rPr lang="en-US" baseline="30000" dirty="0"/>
              <a:t>n</a:t>
            </a:r>
            <a:r>
              <a:rPr lang="en-US" dirty="0"/>
              <a:t> + 2n</a:t>
            </a:r>
            <a:r>
              <a:rPr lang="en-US" baseline="30000" dirty="0"/>
              <a:t>3</a:t>
            </a:r>
          </a:p>
          <a:p>
            <a:r>
              <a:rPr lang="en-US" dirty="0"/>
              <a:t>Find the upper bound for f(n) = 300.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920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BB9B-BC95-DF25-B0ED-AF79AED2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Big O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901D-5286-426E-79FD-0C6FF99A5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logn</a:t>
            </a:r>
            <a:r>
              <a:rPr lang="en-US" dirty="0"/>
              <a:t>), also known as log time. (Binary Search)</a:t>
            </a:r>
          </a:p>
          <a:p>
            <a:r>
              <a:rPr lang="en-US" dirty="0"/>
              <a:t>O(n), also known as linear time. Linear search</a:t>
            </a:r>
          </a:p>
          <a:p>
            <a:r>
              <a:rPr lang="en-US" dirty="0"/>
              <a:t>O(</a:t>
            </a:r>
            <a:r>
              <a:rPr lang="en-US" dirty="0" err="1"/>
              <a:t>nlogn</a:t>
            </a:r>
            <a:r>
              <a:rPr lang="en-US" dirty="0"/>
              <a:t>). Quicksort</a:t>
            </a:r>
          </a:p>
          <a:p>
            <a:r>
              <a:rPr lang="en-US" dirty="0"/>
              <a:t>O(n2), also known as polynomial time. Selection sort</a:t>
            </a:r>
          </a:p>
          <a:p>
            <a:r>
              <a:rPr lang="en-US" dirty="0"/>
              <a:t>O(n!), also known as exponential time. Traveling salesman Problem.</a:t>
            </a:r>
          </a:p>
        </p:txBody>
      </p:sp>
    </p:spTree>
    <p:extLst>
      <p:ext uri="{BB962C8B-B14F-4D97-AF65-F5344CB8AC3E}">
        <p14:creationId xmlns:p14="http://schemas.microsoft.com/office/powerpoint/2010/main" val="3279027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33D7-20A5-5EDB-3E24-53BC4965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Decrement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C3ADB-B7DD-6BBC-EB03-04FBEB54E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Definition: A function in which the denominator is bigger than the numerator.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 ….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Arrange the following functions in the order of decrease from slowest to fastest.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C3ADB-B7DD-6BBC-EB03-04FBEB54E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347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AAC2-9DBE-BF38-8FC5-D9EBC55D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E9E4D-34EE-B840-935C-2E8F38300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parallel to x-axis</a:t>
            </a:r>
          </a:p>
          <a:p>
            <a:r>
              <a:rPr lang="en-US" dirty="0"/>
              <a:t>Examples: 100, 500392, 1 billion, etc.</a:t>
            </a:r>
          </a:p>
          <a:p>
            <a:endParaRPr lang="en-US" dirty="0"/>
          </a:p>
          <a:p>
            <a:r>
              <a:rPr lang="en-US" dirty="0"/>
              <a:t>Constant function is asymptotically bigger than the decrement function.</a:t>
            </a:r>
          </a:p>
          <a:p>
            <a:endParaRPr lang="en-US" dirty="0"/>
          </a:p>
          <a:p>
            <a:r>
              <a:rPr lang="en-US" dirty="0"/>
              <a:t>Problem: f(n): 100/n and g(n) = 10000. Is f(n) = O(g(n))?</a:t>
            </a:r>
          </a:p>
        </p:txBody>
      </p:sp>
    </p:spTree>
    <p:extLst>
      <p:ext uri="{BB962C8B-B14F-4D97-AF65-F5344CB8AC3E}">
        <p14:creationId xmlns:p14="http://schemas.microsoft.com/office/powerpoint/2010/main" val="3674320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59661-05D5-F83C-B09A-5C7211BB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2D80-1E21-27B6-BC95-D93C8646C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that grows positively, but with slower growth rate.</a:t>
            </a:r>
          </a:p>
          <a:p>
            <a:r>
              <a:rPr lang="en-US" dirty="0"/>
              <a:t>Examples: </a:t>
            </a:r>
            <a:r>
              <a:rPr lang="en-US" dirty="0" err="1"/>
              <a:t>logn</a:t>
            </a:r>
            <a:r>
              <a:rPr lang="en-US" dirty="0"/>
              <a:t>, (</a:t>
            </a:r>
            <a:r>
              <a:rPr lang="en-US" dirty="0" err="1"/>
              <a:t>logn</a:t>
            </a:r>
            <a:r>
              <a:rPr lang="en-US" dirty="0"/>
              <a:t>)</a:t>
            </a:r>
            <a:r>
              <a:rPr lang="en-US" baseline="30000" dirty="0"/>
              <a:t>10</a:t>
            </a:r>
            <a:r>
              <a:rPr lang="en-US" dirty="0"/>
              <a:t>, </a:t>
            </a:r>
            <a:r>
              <a:rPr lang="en-US" dirty="0" err="1"/>
              <a:t>loglogn</a:t>
            </a:r>
            <a:r>
              <a:rPr lang="en-US" dirty="0"/>
              <a:t>, </a:t>
            </a:r>
            <a:r>
              <a:rPr lang="en-US" dirty="0" err="1"/>
              <a:t>loglogn.logloglogn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Comparison with Constant Function</a:t>
            </a:r>
          </a:p>
          <a:p>
            <a:r>
              <a:rPr lang="en-US" dirty="0"/>
              <a:t>The logarithmic function is asymptotically bigger than the constant function.</a:t>
            </a:r>
          </a:p>
          <a:p>
            <a:endParaRPr lang="en-US" dirty="0"/>
          </a:p>
          <a:p>
            <a:r>
              <a:rPr lang="en-US" dirty="0"/>
              <a:t>Problem: f(n): 100 and g(n) = log</a:t>
            </a:r>
            <a:r>
              <a:rPr lang="en-US" baseline="-25000" dirty="0"/>
              <a:t>10</a:t>
            </a:r>
            <a:r>
              <a:rPr lang="en-US" dirty="0"/>
              <a:t>n. Is f(n) = O(g(n))?</a:t>
            </a:r>
          </a:p>
        </p:txBody>
      </p:sp>
    </p:spTree>
    <p:extLst>
      <p:ext uri="{BB962C8B-B14F-4D97-AF65-F5344CB8AC3E}">
        <p14:creationId xmlns:p14="http://schemas.microsoft.com/office/powerpoint/2010/main" val="2441944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A13B-B628-EC65-5406-972A2B99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9A14-A893-5D09-3290-5319929C7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whose growth rate increases </a:t>
            </a:r>
            <a:r>
              <a:rPr lang="en-US" dirty="0" err="1"/>
              <a:t>polynomically</a:t>
            </a:r>
            <a:r>
              <a:rPr lang="en-US" dirty="0"/>
              <a:t>.</a:t>
            </a:r>
          </a:p>
          <a:p>
            <a:r>
              <a:rPr lang="en-US" dirty="0"/>
              <a:t>Example: n</a:t>
            </a:r>
            <a:r>
              <a:rPr lang="en-US" baseline="30000" dirty="0"/>
              <a:t>0.1</a:t>
            </a:r>
            <a:r>
              <a:rPr lang="en-US" dirty="0"/>
              <a:t>, sqrt(n), </a:t>
            </a:r>
            <a:r>
              <a:rPr lang="en-US" dirty="0" err="1"/>
              <a:t>nlogn</a:t>
            </a:r>
            <a:r>
              <a:rPr lang="en-US" dirty="0"/>
              <a:t>, 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, etc.</a:t>
            </a:r>
          </a:p>
          <a:p>
            <a:endParaRPr lang="en-US" dirty="0"/>
          </a:p>
          <a:p>
            <a:r>
              <a:rPr lang="en-US" dirty="0"/>
              <a:t>Comparison with logarithmic Functions</a:t>
            </a:r>
          </a:p>
          <a:p>
            <a:r>
              <a:rPr lang="en-US" dirty="0"/>
              <a:t>Problem: f(n) = log10n and g(n) = sqrt(n) = O(g(n))?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28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6BA2-FD6D-E9C2-3E2F-2F3FB0CF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EDB7-2FDC-2843-9F50-F9294B16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function whose growth rate increases rapidly.</a:t>
            </a:r>
          </a:p>
          <a:p>
            <a:r>
              <a:rPr lang="en-US" dirty="0"/>
              <a:t>Example: 2n, 3</a:t>
            </a:r>
            <a:r>
              <a:rPr lang="en-US" baseline="30000" dirty="0"/>
              <a:t>n</a:t>
            </a:r>
            <a:r>
              <a:rPr lang="en-US" dirty="0"/>
              <a:t>, n!, </a:t>
            </a:r>
            <a:r>
              <a:rPr lang="en-US" dirty="0" err="1"/>
              <a:t>n</a:t>
            </a:r>
            <a:r>
              <a:rPr lang="en-US" baseline="30000" dirty="0" err="1"/>
              <a:t>n</a:t>
            </a:r>
            <a:r>
              <a:rPr lang="en-US" dirty="0"/>
              <a:t>, a</a:t>
            </a:r>
            <a:r>
              <a:rPr lang="en-US" baseline="30000" dirty="0"/>
              <a:t>n</a:t>
            </a:r>
            <a:r>
              <a:rPr lang="en-US" dirty="0"/>
              <a:t>, etc.</a:t>
            </a:r>
          </a:p>
          <a:p>
            <a:endParaRPr lang="en-US" dirty="0"/>
          </a:p>
          <a:p>
            <a:r>
              <a:rPr lang="en-US" dirty="0"/>
              <a:t>The exponential function is asymptotically bigger than the polynomial function.</a:t>
            </a:r>
          </a:p>
          <a:p>
            <a:endParaRPr lang="en-US" dirty="0"/>
          </a:p>
          <a:p>
            <a:r>
              <a:rPr lang="en-US" dirty="0"/>
              <a:t>Problem: f(n) = n</a:t>
            </a:r>
            <a:r>
              <a:rPr lang="en-US" baseline="30000" dirty="0"/>
              <a:t>2</a:t>
            </a:r>
            <a:r>
              <a:rPr lang="en-US" dirty="0"/>
              <a:t> and g(n) = 2</a:t>
            </a:r>
            <a:r>
              <a:rPr lang="en-US" baseline="30000" dirty="0"/>
              <a:t>n</a:t>
            </a:r>
            <a:r>
              <a:rPr lang="en-US" dirty="0"/>
              <a:t>. Is f(n) = O(g(n))?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Conclusion: Decreasing functions &lt; Constant functions &lt; Log Functions &lt; Polynomial Functions &lt; Exponential Functions.</a:t>
            </a:r>
          </a:p>
        </p:txBody>
      </p:sp>
    </p:spTree>
    <p:extLst>
      <p:ext uri="{BB962C8B-B14F-4D97-AF65-F5344CB8AC3E}">
        <p14:creationId xmlns:p14="http://schemas.microsoft.com/office/powerpoint/2010/main" val="3080051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48D9-D69C-F3B4-5BC0-8FD74023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BCDF-91D3-1495-7A38-E46AFC6CF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following functions in asymptotically increasing order: n2, n</a:t>
            </a:r>
            <a:r>
              <a:rPr lang="en-US" baseline="30000" dirty="0"/>
              <a:t>3.1</a:t>
            </a:r>
            <a:r>
              <a:rPr lang="en-US" dirty="0"/>
              <a:t>, n</a:t>
            </a:r>
            <a:r>
              <a:rPr lang="en-US" baseline="30000" dirty="0"/>
              <a:t>2</a:t>
            </a:r>
            <a:r>
              <a:rPr lang="en-US" dirty="0"/>
              <a:t>logn, </a:t>
            </a:r>
            <a:r>
              <a:rPr lang="en-US" dirty="0" err="1"/>
              <a:t>logn</a:t>
            </a:r>
            <a:r>
              <a:rPr lang="en-US" dirty="0"/>
              <a:t>, (</a:t>
            </a:r>
            <a:r>
              <a:rPr lang="en-US" dirty="0" err="1"/>
              <a:t>logn</a:t>
            </a:r>
            <a:r>
              <a:rPr lang="en-US" dirty="0"/>
              <a:t>)</a:t>
            </a:r>
            <a:r>
              <a:rPr lang="en-US" baseline="30000" dirty="0"/>
              <a:t>10</a:t>
            </a:r>
            <a:r>
              <a:rPr lang="en-US" dirty="0"/>
              <a:t>, 100, 1 billion, (0.3)</a:t>
            </a:r>
            <a:r>
              <a:rPr lang="en-US" baseline="30000" dirty="0"/>
              <a:t>n</a:t>
            </a:r>
            <a:r>
              <a:rPr lang="en-US" dirty="0"/>
              <a:t> and (1.5)</a:t>
            </a:r>
            <a:r>
              <a:rPr lang="en-US" baseline="30000" dirty="0"/>
              <a:t>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4151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A3AD-FC89-FEEB-563B-A6501416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75CD-1241-D48C-1DDE-C94445C4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0C860-B96A-08B9-659B-2DBC3A696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following functions is asymptotically bigger?</a:t>
            </a:r>
          </a:p>
          <a:p>
            <a:r>
              <a:rPr lang="en-US" dirty="0"/>
              <a:t>f(n) = log</a:t>
            </a:r>
            <a:r>
              <a:rPr lang="en-US" baseline="-25000" dirty="0"/>
              <a:t>10</a:t>
            </a:r>
            <a:r>
              <a:rPr lang="en-US" dirty="0"/>
              <a:t>n and g(n) = log</a:t>
            </a:r>
            <a:r>
              <a:rPr lang="en-US" baseline="-25000" dirty="0"/>
              <a:t>10</a:t>
            </a:r>
            <a:r>
              <a:rPr lang="en-US" dirty="0"/>
              <a:t>log</a:t>
            </a:r>
            <a:r>
              <a:rPr lang="en-US" baseline="-25000" dirty="0"/>
              <a:t>10</a:t>
            </a:r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02880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3A1E-2319-84D4-188F-4F0C06F2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36D9-4044-E247-0D22-43D7D518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AC7A6-4FC9-DF80-CE9E-CE513AE8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following functions is asymptotically bigger?</a:t>
            </a:r>
          </a:p>
          <a:p>
            <a:r>
              <a:rPr lang="en-US" dirty="0"/>
              <a:t>F(n) = log</a:t>
            </a:r>
            <a:r>
              <a:rPr lang="en-US" baseline="-25000" dirty="0"/>
              <a:t>10</a:t>
            </a:r>
            <a:r>
              <a:rPr lang="en-US" dirty="0"/>
              <a:t>n and g(n) = (log</a:t>
            </a:r>
            <a:r>
              <a:rPr lang="en-US" baseline="-25000" dirty="0"/>
              <a:t>10</a:t>
            </a:r>
            <a:r>
              <a:rPr lang="en-US" dirty="0"/>
              <a:t>log</a:t>
            </a:r>
            <a:r>
              <a:rPr lang="en-US" baseline="-25000" dirty="0"/>
              <a:t>10</a:t>
            </a:r>
            <a:r>
              <a:rPr lang="en-US" dirty="0"/>
              <a:t>n)</a:t>
            </a:r>
            <a:r>
              <a:rPr lang="en-US" baseline="30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4642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60E9-A4B2-22AD-10C0-10BD2256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Omega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EE31-1399-C475-FDD9-A6A575EEF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lower bound of an algorithm.</a:t>
            </a:r>
          </a:p>
          <a:p>
            <a:r>
              <a:rPr lang="en-US" dirty="0"/>
              <a:t>Used to express the best case running time of an algorithm.</a:t>
            </a:r>
          </a:p>
          <a:p>
            <a:r>
              <a:rPr lang="en-US" b="1" dirty="0"/>
              <a:t>Definition</a:t>
            </a:r>
            <a:r>
              <a:rPr lang="en-US" dirty="0"/>
              <a:t>: Assuming f(n) and g(n) are non-negative functions. f(n) = </a:t>
            </a:r>
            <a:r>
              <a:rPr lang="en-US" dirty="0" err="1"/>
              <a:t>Ω</a:t>
            </a:r>
            <a:r>
              <a:rPr lang="en-US" dirty="0"/>
              <a:t>(g(n)) </a:t>
            </a:r>
            <a:r>
              <a:rPr lang="en-US" dirty="0" err="1"/>
              <a:t>iff</a:t>
            </a:r>
            <a:r>
              <a:rPr lang="en-US" dirty="0"/>
              <a:t> f(n) &gt;= </a:t>
            </a:r>
            <a:r>
              <a:rPr lang="en-US" dirty="0" err="1"/>
              <a:t>c.g</a:t>
            </a:r>
            <a:r>
              <a:rPr lang="en-US" dirty="0"/>
              <a:t>(n) for some c &gt; 0 and for all values of n where n&gt;= n</a:t>
            </a:r>
            <a:r>
              <a:rPr lang="en-US" baseline="-25000" dirty="0"/>
              <a:t>0</a:t>
            </a:r>
            <a:r>
              <a:rPr lang="en-US" dirty="0"/>
              <a:t> and c and n</a:t>
            </a:r>
            <a:r>
              <a:rPr lang="en-US" baseline="-25000" dirty="0"/>
              <a:t>0</a:t>
            </a:r>
            <a:r>
              <a:rPr lang="en-US" dirty="0"/>
              <a:t> are constants.</a:t>
            </a:r>
          </a:p>
          <a:p>
            <a:r>
              <a:rPr lang="en-US" dirty="0"/>
              <a:t>g(n) is the asymptotically tight lower bound </a:t>
            </a:r>
          </a:p>
          <a:p>
            <a:pPr marL="0" indent="0">
              <a:buNone/>
            </a:pPr>
            <a:r>
              <a:rPr lang="en-US" dirty="0"/>
              <a:t>of f(n).</a:t>
            </a:r>
          </a:p>
        </p:txBody>
      </p:sp>
      <p:pic>
        <p:nvPicPr>
          <p:cNvPr id="4098" name="Picture 2" descr="Big O vs Theta Θ vs Big Omega Ω Notations - GeeksforGeeks">
            <a:extLst>
              <a:ext uri="{FF2B5EF4-FFF2-40B4-BE49-F238E27FC236}">
                <a16:creationId xmlns:a16="http://schemas.microsoft.com/office/drawing/2014/main" id="{15B8858D-1EDF-CC17-D746-876FE70D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467" y="3729423"/>
            <a:ext cx="4436533" cy="312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592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5CE1-39D8-04A2-5400-FA9961E2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Theta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3E23-87A9-8ABD-3FB3-F7A9D349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Assuming f(n) and g(n) are non-negative functions. f(n) = </a:t>
            </a:r>
            <a:r>
              <a:rPr lang="en-US" dirty="0" err="1"/>
              <a:t>θ</a:t>
            </a:r>
            <a:r>
              <a:rPr lang="en-US" dirty="0"/>
              <a:t>(g(n)) </a:t>
            </a:r>
            <a:r>
              <a:rPr lang="en-US" dirty="0" err="1"/>
              <a:t>iff</a:t>
            </a:r>
            <a:r>
              <a:rPr lang="en-US" dirty="0"/>
              <a:t> c1.g(n) &lt;= f(n) &lt;= c2.g(n) for all values of n where n &gt;= n0 and c1, c2, and n0 are constants.</a:t>
            </a:r>
          </a:p>
          <a:p>
            <a:endParaRPr lang="en-US" dirty="0"/>
          </a:p>
          <a:p>
            <a:r>
              <a:rPr lang="en-US" dirty="0"/>
              <a:t>g(n) is the asymptotically tight bound of f(n).</a:t>
            </a:r>
          </a:p>
        </p:txBody>
      </p:sp>
      <p:pic>
        <p:nvPicPr>
          <p:cNvPr id="5122" name="Picture 2" descr="Big O vs Theta Θ vs Big Omega Ω Notations - GeeksforGeeks">
            <a:extLst>
              <a:ext uri="{FF2B5EF4-FFF2-40B4-BE49-F238E27FC236}">
                <a16:creationId xmlns:a16="http://schemas.microsoft.com/office/drawing/2014/main" id="{78123229-CBB4-D42D-88D8-924C6307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814" y="3759200"/>
            <a:ext cx="4316186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32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150D-5FC7-B027-5C60-83B2B607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omega notation -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2D48-C3AF-FF9B-3660-243E1850E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lower bound for f(n) = 10n</a:t>
            </a:r>
            <a:r>
              <a:rPr lang="en-US" baseline="30000" dirty="0"/>
              <a:t>2</a:t>
            </a:r>
            <a:r>
              <a:rPr lang="en-US" dirty="0"/>
              <a:t> + 5?</a:t>
            </a:r>
          </a:p>
          <a:p>
            <a:r>
              <a:rPr lang="en-US" dirty="0"/>
              <a:t>Show that f(n) = n</a:t>
            </a:r>
            <a:r>
              <a:rPr lang="en-US" baseline="30000" dirty="0"/>
              <a:t>3</a:t>
            </a:r>
            <a:r>
              <a:rPr lang="en-US" dirty="0"/>
              <a:t> + 3n</a:t>
            </a:r>
            <a:r>
              <a:rPr lang="en-US" baseline="30000" dirty="0"/>
              <a:t>2</a:t>
            </a:r>
            <a:r>
              <a:rPr lang="en-US" dirty="0"/>
              <a:t> = 𝜃(n</a:t>
            </a:r>
            <a:r>
              <a:rPr lang="en-US" baseline="30000" dirty="0"/>
              <a:t>3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29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6019-4C24-3D77-D104-E3584365D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89CB-F61D-56F4-1983-3FF3414C6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Priori Analysis</a:t>
            </a:r>
          </a:p>
          <a:p>
            <a:r>
              <a:rPr lang="en-US" b="1" dirty="0"/>
              <a:t>Estimation</a:t>
            </a:r>
            <a:r>
              <a:rPr lang="en-US" dirty="0"/>
              <a:t> of time and memory space required by an algorithm before executing it on the system.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C220E6-1B6A-1900-125C-DE0A4177E2E9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dirty="0"/>
              <a:t>Posteriori Analysis</a:t>
            </a:r>
          </a:p>
          <a:p>
            <a:r>
              <a:rPr lang="en-US" b="1" dirty="0"/>
              <a:t>Calculation</a:t>
            </a:r>
            <a:r>
              <a:rPr lang="en-US" dirty="0"/>
              <a:t> of time and memory space required by an algorithm after executing it on the system.</a:t>
            </a:r>
          </a:p>
        </p:txBody>
      </p:sp>
    </p:spTree>
    <p:extLst>
      <p:ext uri="{BB962C8B-B14F-4D97-AF65-F5344CB8AC3E}">
        <p14:creationId xmlns:p14="http://schemas.microsoft.com/office/powerpoint/2010/main" val="2434528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F6E0-167B-E3E7-A504-233E525D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Consumption and Main Memory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B92B-5201-78E2-8CE6-9C9CC45FE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CPU consumption refers to a task performed by the CPU or an instruction executed by the CPU.</a:t>
            </a:r>
          </a:p>
          <a:p>
            <a:endParaRPr lang="en-US" dirty="0"/>
          </a:p>
          <a:p>
            <a:r>
              <a:rPr lang="en-US" dirty="0"/>
              <a:t>Main Memory Space is used to temporarily store data and instructions that CPU needs for quick access during program execution.</a:t>
            </a:r>
          </a:p>
          <a:p>
            <a:endParaRPr lang="en-US" dirty="0"/>
          </a:p>
          <a:p>
            <a:r>
              <a:rPr lang="en-US" dirty="0"/>
              <a:t>Estimation of total CPU computations required to execute an algorithm.</a:t>
            </a:r>
          </a:p>
          <a:p>
            <a:r>
              <a:rPr lang="en-US" dirty="0"/>
              <a:t>Time Complexity of an algorithm = Total No. of CPU Computations = Sum of frequency count of each instruction of an algorithm.</a:t>
            </a:r>
          </a:p>
          <a:p>
            <a:r>
              <a:rPr lang="en-US" dirty="0"/>
              <a:t>Frequency count means number of time an instruction is executed.</a:t>
            </a:r>
          </a:p>
        </p:txBody>
      </p:sp>
    </p:spTree>
    <p:extLst>
      <p:ext uri="{BB962C8B-B14F-4D97-AF65-F5344CB8AC3E}">
        <p14:creationId xmlns:p14="http://schemas.microsoft.com/office/powerpoint/2010/main" val="1156579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2551-6D72-6F50-D46D-9EA355C8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498A1-85D6-2251-7B9C-538F0AA49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Algo sum(a, n){</a:t>
            </a:r>
          </a:p>
          <a:p>
            <a:pPr marL="0" indent="0">
              <a:buNone/>
            </a:pPr>
            <a:r>
              <a:rPr lang="en-US" dirty="0"/>
              <a:t>    sum = 0</a:t>
            </a:r>
          </a:p>
          <a:p>
            <a:pPr marL="0" indent="0">
              <a:buNone/>
            </a:pPr>
            <a:r>
              <a:rPr lang="en-US" dirty="0"/>
              <a:t>    for(</a:t>
            </a:r>
            <a:r>
              <a:rPr lang="en-US" dirty="0" err="1"/>
              <a:t>i</a:t>
            </a:r>
            <a:r>
              <a:rPr lang="en-US" dirty="0"/>
              <a:t>=1;  </a:t>
            </a:r>
            <a:r>
              <a:rPr lang="en-US" dirty="0" err="1"/>
              <a:t>i</a:t>
            </a:r>
            <a:r>
              <a:rPr lang="en-US" dirty="0"/>
              <a:t>&lt;=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  sum = sum + 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return sum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26363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BB04-C9DB-272E-F5A2-293A36859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A6CB-8506-93FD-353D-C9292365D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Estimation of main memory space required to execute an algorithm.</a:t>
            </a:r>
          </a:p>
          <a:p>
            <a:endParaRPr lang="en-US" dirty="0"/>
          </a:p>
          <a:p>
            <a:r>
              <a:rPr lang="en-US" dirty="0"/>
              <a:t>Space Complexity of an algorithm = </a:t>
            </a:r>
          </a:p>
          <a:p>
            <a:pPr lvl="1"/>
            <a:r>
              <a:rPr lang="en-US" dirty="0"/>
              <a:t>Space required to store the source code + </a:t>
            </a:r>
          </a:p>
          <a:p>
            <a:pPr lvl="1"/>
            <a:r>
              <a:rPr lang="en-US" dirty="0"/>
              <a:t>Space required for simple variables +</a:t>
            </a:r>
          </a:p>
          <a:p>
            <a:pPr lvl="1"/>
            <a:r>
              <a:rPr lang="en-US" dirty="0"/>
              <a:t>Space for the data structures used + </a:t>
            </a:r>
          </a:p>
          <a:p>
            <a:pPr lvl="1"/>
            <a:r>
              <a:rPr lang="en-US" dirty="0"/>
              <a:t>Space required for stack for recursive algorithms</a:t>
            </a:r>
          </a:p>
        </p:txBody>
      </p:sp>
    </p:spTree>
    <p:extLst>
      <p:ext uri="{BB962C8B-B14F-4D97-AF65-F5344CB8AC3E}">
        <p14:creationId xmlns:p14="http://schemas.microsoft.com/office/powerpoint/2010/main" val="2928127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C52C-7965-BAED-11E3-5F7E61FC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9155-AB70-7188-C5B7-AF88FFD7A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for( </a:t>
            </a:r>
            <a:r>
              <a:rPr lang="en-US" dirty="0" err="1"/>
              <a:t>i</a:t>
            </a:r>
            <a:r>
              <a:rPr lang="en-US" dirty="0"/>
              <a:t> =1;  </a:t>
            </a:r>
          </a:p>
        </p:txBody>
      </p:sp>
    </p:spTree>
    <p:extLst>
      <p:ext uri="{BB962C8B-B14F-4D97-AF65-F5344CB8AC3E}">
        <p14:creationId xmlns:p14="http://schemas.microsoft.com/office/powerpoint/2010/main" val="4861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2971</TotalTime>
  <Words>2344</Words>
  <Application>Microsoft Macintosh PowerPoint</Application>
  <PresentationFormat>Widescreen</PresentationFormat>
  <Paragraphs>255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Understanding Array in Java</vt:lpstr>
      <vt:lpstr>Algorithm</vt:lpstr>
      <vt:lpstr>PowerPoint Presentation</vt:lpstr>
      <vt:lpstr>Algorithm vs Program</vt:lpstr>
      <vt:lpstr>Characteristics of Algorithm</vt:lpstr>
      <vt:lpstr>Significance of Algorithms</vt:lpstr>
      <vt:lpstr>Decidable Problems</vt:lpstr>
      <vt:lpstr>Undecidable Problems</vt:lpstr>
      <vt:lpstr>Polynomial vs Exponential Time</vt:lpstr>
      <vt:lpstr>PowerPoint Presentation</vt:lpstr>
      <vt:lpstr>Priori Analysis vs Posteriori Analysis</vt:lpstr>
      <vt:lpstr>Importance of Algorithm Analysis</vt:lpstr>
      <vt:lpstr>Importance of Growth Rate</vt:lpstr>
      <vt:lpstr>Big O Notation</vt:lpstr>
      <vt:lpstr>PowerPoint Presentation</vt:lpstr>
      <vt:lpstr>Big O notation and Binary Search</vt:lpstr>
      <vt:lpstr>PowerPoint Presentation</vt:lpstr>
      <vt:lpstr>PowerPoint Presentation</vt:lpstr>
      <vt:lpstr>Formal Definition: Growth Rate Comparison</vt:lpstr>
      <vt:lpstr>Big-Oh 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Big O Notations</vt:lpstr>
      <vt:lpstr>Decrement Functions</vt:lpstr>
      <vt:lpstr>Constant Functions</vt:lpstr>
      <vt:lpstr>Logarithmic Functions</vt:lpstr>
      <vt:lpstr>Polynomial Functions</vt:lpstr>
      <vt:lpstr>Exponential Functions</vt:lpstr>
      <vt:lpstr>Functions in Asymptotic Notations</vt:lpstr>
      <vt:lpstr>Functions in Asymptotic Notations</vt:lpstr>
      <vt:lpstr>Functions in Asymptotic Notations</vt:lpstr>
      <vt:lpstr>Big Omega Notation</vt:lpstr>
      <vt:lpstr>Big Theta</vt:lpstr>
      <vt:lpstr>Big omega notation - problems</vt:lpstr>
      <vt:lpstr>Understanding Time Complexity</vt:lpstr>
      <vt:lpstr>CPU Consumption and Main Memory Space</vt:lpstr>
      <vt:lpstr>PowerPoint Presentation</vt:lpstr>
      <vt:lpstr>Understanding Space Complexity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146</cp:revision>
  <dcterms:created xsi:type="dcterms:W3CDTF">2026-01-15T04:12:31Z</dcterms:created>
  <dcterms:modified xsi:type="dcterms:W3CDTF">2026-02-19T01:57:29Z</dcterms:modified>
</cp:coreProperties>
</file>