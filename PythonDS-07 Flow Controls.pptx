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5" r:id="rId14"/>
    <p:sldId id="276" r:id="rId15"/>
    <p:sldId id="277" r:id="rId16"/>
    <p:sldId id="278" r:id="rId17"/>
    <p:sldId id="279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8"/>
    <p:restoredTop sz="94476"/>
  </p:normalViewPr>
  <p:slideViewPr>
    <p:cSldViewPr snapToGrid="0">
      <p:cViewPr varScale="1">
        <p:scale>
          <a:sx n="84" d="100"/>
          <a:sy n="84" d="100"/>
        </p:scale>
        <p:origin x="110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AC3DA9-E962-4670-597E-4C9CD6E412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8A4FBF-5D81-57BE-89DE-B6FA9BF84A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1C1BF3-77AA-DB2E-1DF0-59825E936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8/17/26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3CE1A2-B778-3FDB-D880-08BE937EC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408238-AAA3-EB3D-2030-44EF2A3799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14215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E67AC-4F97-8FBD-F886-632779C39B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2DEEFE-F85E-366F-23C8-D0A0CF0DE7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05F2CC-507C-6795-51B2-16D8369183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8/17/26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FB82C6-AB76-B50D-7079-FDBED2613A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178F90-9858-319E-2D9B-7BED7DF756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88952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0A475C-D161-EE28-37F5-01CB65945D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B58EAF-9EA6-FAC9-DA83-5EE92332DB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6AD692-8F1E-78AF-D6FB-97D1B99B19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8/17/26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D4BDEE-322C-86FB-1990-5B38350155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36F1F5-8E08-10FB-70B6-3E0EE445B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37718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9AB37A-3FC4-9E76-E7FD-2835B53B9E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7647AC-F0F5-A131-8418-3C843D871C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D75A3F-F688-26A1-0A51-DE674F9FDF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98B083-258B-212A-DEA0-7D0C49DAFA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8/17/26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592C50-0793-6A57-870E-22B7BD618C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9D6423-EEDD-EBD2-1637-86B04459E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07065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CB1BA5-617B-7CDB-72DD-34B6798B3B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C80CCF-7651-8CCF-9517-5870109B82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4BCFD4-2E93-06B8-C482-0D21CC1EBE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7660270-A358-7E87-C238-0769FE0FBF9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8E7A0AE-4CFF-347C-E881-82620BD145B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B7C6E51-FCC1-52F4-C78F-B887C1FA30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8/17/26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E576F17-2F94-52B2-6671-B20FA66ACE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1D5A75-636E-B0D0-E178-8EAFE09402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23236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BEFB98-7E1E-0B36-4C0F-D927C13AD6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8F3EE1B-ED62-BEF9-34E2-222A596BDF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8/17/26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F261D6-18DB-9A91-C126-DD2F5E2E45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059ADF-81AA-2B42-2EBB-8202403217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51066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21D2292-CA5F-4083-1A9A-EB2B58E192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8/17/26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F12B3B1-82D6-97E3-D949-FFB7FA90F6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C19118-D5E2-7F99-490E-D0B7E1DF8A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13092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4426D8-8282-46D6-DCD3-C429D78063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A29B8B-7B37-8054-3412-78ED6298B2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3CB76E-5538-EFF5-3840-3F95921DE9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469B70-8065-08A4-BEA2-BEB45F665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8/17/26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69013F-2801-2160-2F4C-4655787809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81CEC8-65E3-3969-42AC-F0ED6B13F5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19369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F61C37-17AA-33E3-0390-EA606A3581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B43312D-93EC-9C8A-CE05-8F6E26D5B7A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453B4D-6A39-F2C2-0AC5-90587FC973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2A5798-F966-6273-EF24-8C2072EB66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8/17/26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A438AC-0EF4-6EFF-7122-AA7AF380C6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B676E-8BCB-855E-469D-77726A6708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25731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79BF2D-DC52-AB82-D456-A9F7669986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75B52E-7C17-9742-93F2-6FBCC7C9AF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F82469-B56D-D697-74FA-E8852CA9F1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8/17/26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63B3DD-0851-EDC4-7258-094C58713E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7433DF-7287-31EC-DC3D-5EF75C9DE2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68286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F312A4E-DB63-F42E-FEFE-81BF1DF702B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05DC2C-31FB-BE5D-E312-3459A2BF67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695E30-A15F-0592-C0C0-D84705897A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8/17/26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23656B-61F3-0BFE-4769-187DCA8F8D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A27752-34F9-D1E1-FF95-25144EC8A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78388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8CA833E-D2CB-6565-D916-D9A794C0DF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EA88AD-984A-6993-4F53-7E5A420313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22DD2F-4490-A570-F314-42C5AE24F8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0723D25-A2BC-274F-A813-3B06A34CD740}" type="datetimeFigureOut">
              <a:rPr lang="en-US" smtClean="0"/>
              <a:t>8/17/26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975424-8CF4-072B-CAE3-58BD172728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E590F5-3CB3-DFF2-DE46-0A76F551A0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08478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pol6efOHwoY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geeksforgeeks.org/python/iterate-over-a-list-in-python/" TargetMode="Externa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hyperlink" Target="https://favtutor.com/blogs/python-iterate-through-list" TargetMode="Externa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35040E-2D3D-6833-C463-92F39872340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/>
              <a:t>PythonDS-07 Flow Controls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0E0D38-6295-EB40-A50D-CED5DB05B4B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Dr. Naveen Kumar</a:t>
            </a:r>
          </a:p>
          <a:p>
            <a:r>
              <a:rPr lang="en-US" dirty="0"/>
              <a:t>Associate Professor</a:t>
            </a:r>
          </a:p>
          <a:p>
            <a:r>
              <a:rPr lang="en-US" dirty="0"/>
              <a:t>Amity Institute of Information Technology</a:t>
            </a:r>
          </a:p>
          <a:p>
            <a:r>
              <a:rPr lang="en-US" dirty="0"/>
              <a:t>Amity University Patna</a:t>
            </a:r>
          </a:p>
        </p:txBody>
      </p:sp>
    </p:spTree>
    <p:extLst>
      <p:ext uri="{BB962C8B-B14F-4D97-AF65-F5344CB8AC3E}">
        <p14:creationId xmlns:p14="http://schemas.microsoft.com/office/powerpoint/2010/main" val="38194693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CED8F7-296A-5B4D-070C-0730DB22C7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Control Flow in Python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78B789-936F-9672-4410-69DE392924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u="none" strike="noStrike" dirty="0">
                <a:effectLst/>
                <a:latin typeface="Google Sans"/>
              </a:rPr>
              <a:t>Control flow</a:t>
            </a:r>
            <a:r>
              <a:rPr lang="en-IN" dirty="0"/>
              <a:t> is the order in which individual statements or instructions are executed in a program. By default, Python code runs sequentially from top to bottom, but you can alter this execution path using conditional branching, loops, and pattern matching. </a:t>
            </a:r>
          </a:p>
          <a:p>
            <a:endParaRPr lang="en-IN" dirty="0"/>
          </a:p>
          <a:p>
            <a:r>
              <a:rPr lang="en-IN" dirty="0"/>
              <a:t>Python uses strict </a:t>
            </a:r>
            <a:r>
              <a:rPr lang="en-IN" b="1" u="none" strike="noStrike" dirty="0">
                <a:effectLst/>
                <a:latin typeface="Google Sans"/>
              </a:rPr>
              <a:t>whitespace indentation</a:t>
            </a:r>
            <a:r>
              <a:rPr lang="en-IN" dirty="0"/>
              <a:t> (usually four spaces) rather than curly braces to define blocks of code within control flow structures.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9643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3B0004-03DA-7D0B-4418-61C23DAC40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u="none" strike="noStrike" dirty="0">
                <a:effectLst/>
                <a:latin typeface="Google Sans"/>
              </a:rPr>
              <a:t>1. Conditional Statements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7DF337-1D04-A64D-A36D-DBF7299E85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b="0" u="none" strike="noStrike" dirty="0">
                <a:effectLst/>
                <a:latin typeface="Google Sans"/>
              </a:rPr>
              <a:t>Conditional statements allow your program to make decisions and execute different paths of code based on whether a </a:t>
            </a:r>
            <a:r>
              <a:rPr lang="en-IN" b="0" u="none" strike="noStrike" dirty="0" err="1">
                <a:effectLst/>
                <a:latin typeface="Google Sans"/>
              </a:rPr>
              <a:t>boolean</a:t>
            </a:r>
            <a:r>
              <a:rPr lang="en-IN" b="0" u="none" strike="noStrike" dirty="0">
                <a:effectLst/>
                <a:latin typeface="Google Sans"/>
              </a:rPr>
              <a:t> expression evaluates to True or False. </a:t>
            </a:r>
          </a:p>
          <a:p>
            <a:r>
              <a:rPr lang="en-IN" b="1" u="none" strike="noStrike" dirty="0">
                <a:effectLst/>
                <a:latin typeface="Google Sans"/>
              </a:rPr>
              <a:t>if</a:t>
            </a:r>
            <a:r>
              <a:rPr lang="en-IN" b="0" u="none" strike="noStrike" dirty="0">
                <a:effectLst/>
                <a:latin typeface="Google Sans"/>
              </a:rPr>
              <a:t>: Evaluates a condition. Executes the indented block if the condition is true.</a:t>
            </a:r>
          </a:p>
          <a:p>
            <a:r>
              <a:rPr lang="en-IN" b="1" u="none" strike="noStrike" dirty="0" err="1">
                <a:effectLst/>
                <a:latin typeface="Google Sans"/>
              </a:rPr>
              <a:t>elif</a:t>
            </a:r>
            <a:r>
              <a:rPr lang="en-IN" b="0" u="none" strike="noStrike" dirty="0">
                <a:effectLst/>
                <a:latin typeface="Google Sans"/>
              </a:rPr>
              <a:t>: Short for "else if". Checks another condition only if the preceding if condition was false.</a:t>
            </a:r>
          </a:p>
          <a:p>
            <a:r>
              <a:rPr lang="en-IN" b="1" u="none" strike="noStrike" dirty="0">
                <a:effectLst/>
                <a:latin typeface="Google Sans"/>
              </a:rPr>
              <a:t>else</a:t>
            </a:r>
            <a:r>
              <a:rPr lang="en-IN" b="0" u="none" strike="noStrike" dirty="0">
                <a:effectLst/>
                <a:latin typeface="Google Sans"/>
              </a:rPr>
              <a:t>: Defines a fallback block of code that executes if all previous conditions are false.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96162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0495FA-57FD-8BD7-629D-77355D7C09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0DA271-CB37-4D38-FD4F-CA628A2E9B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57C9B58-1621-F70F-01E8-9E84ABB3D2CF}"/>
              </a:ext>
            </a:extLst>
          </p:cNvPr>
          <p:cNvSpPr txBox="1"/>
          <p:nvPr/>
        </p:nvSpPr>
        <p:spPr>
          <a:xfrm>
            <a:off x="3048000" y="2274838"/>
            <a:ext cx="609600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score = 85</a:t>
            </a:r>
          </a:p>
          <a:p>
            <a:endParaRPr lang="en-US" sz="2400" dirty="0"/>
          </a:p>
          <a:p>
            <a:r>
              <a:rPr lang="en-US" sz="2400" dirty="0"/>
              <a:t>if score &gt;= 90:</a:t>
            </a:r>
          </a:p>
          <a:p>
            <a:r>
              <a:rPr lang="en-US" sz="2400" dirty="0"/>
              <a:t>    print("Grade: A")</a:t>
            </a:r>
          </a:p>
          <a:p>
            <a:r>
              <a:rPr lang="en-US" sz="2400" dirty="0" err="1"/>
              <a:t>elif</a:t>
            </a:r>
            <a:r>
              <a:rPr lang="en-US" sz="2400" dirty="0"/>
              <a:t> score &gt;= 80:</a:t>
            </a:r>
          </a:p>
          <a:p>
            <a:r>
              <a:rPr lang="en-US" sz="2400" dirty="0"/>
              <a:t>    print("Grade: B")  # This block will execute</a:t>
            </a:r>
          </a:p>
          <a:p>
            <a:r>
              <a:rPr lang="en-US" sz="2400" dirty="0"/>
              <a:t>else:</a:t>
            </a:r>
          </a:p>
          <a:p>
            <a:r>
              <a:rPr lang="en-US" sz="2400" dirty="0"/>
              <a:t>    print("Grade: C")</a:t>
            </a:r>
          </a:p>
        </p:txBody>
      </p:sp>
    </p:spTree>
    <p:extLst>
      <p:ext uri="{BB962C8B-B14F-4D97-AF65-F5344CB8AC3E}">
        <p14:creationId xmlns:p14="http://schemas.microsoft.com/office/powerpoint/2010/main" val="41096792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55AE0B-A548-C15C-8095-3DF2993E8D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u="none" strike="noStrike" dirty="0">
                <a:effectLst/>
                <a:latin typeface="Google Sans"/>
              </a:rPr>
              <a:t>2. Looping and Iteration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CC8AEB-90AC-F67A-CC88-5E96660148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0" u="none" strike="noStrike" dirty="0">
                <a:effectLst/>
                <a:latin typeface="Google Sans"/>
              </a:rPr>
              <a:t>Loops let you repeat a specific block of code multiple times. Python offers two primary types of loops: </a:t>
            </a:r>
          </a:p>
          <a:p>
            <a:endParaRPr lang="en-IN" b="0" u="none" strike="noStrike" dirty="0">
              <a:effectLst/>
              <a:latin typeface="Google Sans"/>
            </a:endParaRPr>
          </a:p>
          <a:p>
            <a:r>
              <a:rPr lang="en-IN" b="1" u="none" strike="noStrike" dirty="0">
                <a:effectLst/>
                <a:latin typeface="Courier New" panose="02070309020205020404" pitchFamily="49" charset="0"/>
              </a:rPr>
              <a:t>for</a:t>
            </a:r>
            <a:r>
              <a:rPr lang="en-IN" b="0" u="none" strike="noStrike" dirty="0">
                <a:effectLst/>
                <a:latin typeface="Google Sans"/>
              </a:rPr>
              <a:t>: Iterates over the items of a sequence (like a list, dictionary, or string) or a </a:t>
            </a:r>
            <a:r>
              <a:rPr lang="en-IN" b="0" u="none" strike="noStrike" dirty="0">
                <a:effectLst/>
                <a:latin typeface="Courier New" panose="02070309020205020404" pitchFamily="49" charset="0"/>
              </a:rPr>
              <a:t>range()</a:t>
            </a:r>
            <a:r>
              <a:rPr lang="en-IN" b="0" u="none" strike="noStrike" dirty="0">
                <a:effectLst/>
                <a:latin typeface="Google Sans"/>
              </a:rPr>
              <a:t> generator in sequential order.</a:t>
            </a:r>
          </a:p>
          <a:p>
            <a:r>
              <a:rPr lang="en-IN" b="1" u="none" strike="noStrike" dirty="0">
                <a:effectLst/>
                <a:latin typeface="Courier New" panose="02070309020205020404" pitchFamily="49" charset="0"/>
              </a:rPr>
              <a:t>while</a:t>
            </a:r>
            <a:r>
              <a:rPr lang="en-IN" b="0" u="none" strike="noStrike" dirty="0">
                <a:effectLst/>
                <a:latin typeface="Google Sans"/>
              </a:rPr>
              <a:t>: Repeats a block of code continually as long as its target condition remains true. []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883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9549B0-FD0C-793E-A44A-0E15717FF0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C579B7-A255-0F48-27DC-9CDA45195C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B0BB44A-5764-A53C-050B-3161E10EA48B}"/>
              </a:ext>
            </a:extLst>
          </p:cNvPr>
          <p:cNvSpPr txBox="1"/>
          <p:nvPr/>
        </p:nvSpPr>
        <p:spPr>
          <a:xfrm>
            <a:off x="1371600" y="2136339"/>
            <a:ext cx="77724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# For Loop iterating over a sequence</a:t>
            </a:r>
          </a:p>
          <a:p>
            <a:r>
              <a:rPr lang="en-US" sz="2400" dirty="0"/>
              <a:t>for item in ["apple", "banana", "cherry"]:</a:t>
            </a:r>
          </a:p>
          <a:p>
            <a:r>
              <a:rPr lang="en-US" sz="2400" dirty="0"/>
              <a:t>    print(item)</a:t>
            </a:r>
          </a:p>
          <a:p>
            <a:endParaRPr lang="en-US" sz="2400" dirty="0"/>
          </a:p>
          <a:p>
            <a:r>
              <a:rPr lang="en-US" sz="2400" dirty="0"/>
              <a:t># While Loop iterating based on a condition</a:t>
            </a:r>
          </a:p>
          <a:p>
            <a:r>
              <a:rPr lang="en-US" sz="2400" dirty="0"/>
              <a:t>count = 0</a:t>
            </a:r>
          </a:p>
          <a:p>
            <a:r>
              <a:rPr lang="en-US" sz="2400" dirty="0"/>
              <a:t>while count &lt; 3:</a:t>
            </a:r>
          </a:p>
          <a:p>
            <a:r>
              <a:rPr lang="en-US" sz="2400" dirty="0"/>
              <a:t>    print(count)</a:t>
            </a:r>
          </a:p>
          <a:p>
            <a:r>
              <a:rPr lang="en-US" sz="2400" dirty="0"/>
              <a:t>    count += 1</a:t>
            </a:r>
          </a:p>
        </p:txBody>
      </p:sp>
    </p:spTree>
    <p:extLst>
      <p:ext uri="{BB962C8B-B14F-4D97-AF65-F5344CB8AC3E}">
        <p14:creationId xmlns:p14="http://schemas.microsoft.com/office/powerpoint/2010/main" val="13751578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2859F5-7818-F98E-323C-430F555F1D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u="none" strike="noStrike" dirty="0">
                <a:effectLst/>
                <a:latin typeface="Google Sans"/>
              </a:rPr>
              <a:t>3. Loop Control Statements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8A1A9D-743F-E1AB-7B2B-A4B13E2A7C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0" u="none" strike="noStrike" dirty="0">
                <a:effectLst/>
                <a:latin typeface="Google Sans"/>
              </a:rPr>
              <a:t>You can alter the </a:t>
            </a:r>
            <a:r>
              <a:rPr lang="en-IN" b="0" u="none" strike="noStrike" dirty="0" err="1">
                <a:effectLst/>
                <a:latin typeface="Google Sans"/>
              </a:rPr>
              <a:t>behavior</a:t>
            </a:r>
            <a:r>
              <a:rPr lang="en-IN" b="0" u="none" strike="noStrike" dirty="0">
                <a:effectLst/>
                <a:latin typeface="Google Sans"/>
              </a:rPr>
              <a:t> of standard loop iterations using three specific keywords: </a:t>
            </a:r>
          </a:p>
          <a:p>
            <a:r>
              <a:rPr lang="en-IN" b="1" u="none" strike="noStrike" dirty="0">
                <a:effectLst/>
                <a:latin typeface="Courier New" panose="02070309020205020404" pitchFamily="49" charset="0"/>
              </a:rPr>
              <a:t>break</a:t>
            </a:r>
            <a:r>
              <a:rPr lang="en-IN" b="0" u="none" strike="noStrike" dirty="0">
                <a:effectLst/>
                <a:latin typeface="Google Sans"/>
              </a:rPr>
              <a:t>: Exits the loop entirely, shifting execution to the next statement outside the loop.</a:t>
            </a:r>
          </a:p>
          <a:p>
            <a:r>
              <a:rPr lang="en-IN" b="1" u="none" strike="noStrike" dirty="0">
                <a:effectLst/>
                <a:latin typeface="Courier New" panose="02070309020205020404" pitchFamily="49" charset="0"/>
              </a:rPr>
              <a:t>continue</a:t>
            </a:r>
            <a:r>
              <a:rPr lang="en-IN" b="0" u="none" strike="noStrike" dirty="0">
                <a:effectLst/>
                <a:latin typeface="Google Sans"/>
              </a:rPr>
              <a:t>: Skips the rest of the current loop iteration and moves directly to the next cycle.</a:t>
            </a:r>
          </a:p>
          <a:p>
            <a:r>
              <a:rPr lang="en-IN" b="1" u="none" strike="noStrike" dirty="0">
                <a:effectLst/>
                <a:latin typeface="Courier New" panose="02070309020205020404" pitchFamily="49" charset="0"/>
              </a:rPr>
              <a:t>pass</a:t>
            </a:r>
            <a:r>
              <a:rPr lang="en-IN" b="0" u="none" strike="noStrike" dirty="0">
                <a:effectLst/>
                <a:latin typeface="Google Sans"/>
              </a:rPr>
              <a:t>: A null operation placeholder used when syntax requires a statement, but no action is needed. []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63039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F731D5-1B68-4BCA-A10C-E4F011643F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16B558-C732-09AA-1793-C0E3993925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5E636E-BCD7-13E7-CD0F-579B107188E5}"/>
              </a:ext>
            </a:extLst>
          </p:cNvPr>
          <p:cNvSpPr txBox="1"/>
          <p:nvPr/>
        </p:nvSpPr>
        <p:spPr>
          <a:xfrm>
            <a:off x="1463040" y="2551837"/>
            <a:ext cx="768096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for num in range(1, 6):</a:t>
            </a:r>
          </a:p>
          <a:p>
            <a:r>
              <a:rPr lang="en-US" sz="2800" dirty="0"/>
              <a:t>    if num == 3:</a:t>
            </a:r>
          </a:p>
          <a:p>
            <a:r>
              <a:rPr lang="en-US" sz="2800" dirty="0"/>
              <a:t>        continue  # Skips the number 3</a:t>
            </a:r>
          </a:p>
          <a:p>
            <a:r>
              <a:rPr lang="en-US" sz="2800" dirty="0"/>
              <a:t>    if num == 5:</a:t>
            </a:r>
          </a:p>
          <a:p>
            <a:r>
              <a:rPr lang="en-US" sz="2800" dirty="0"/>
              <a:t>        break     # Stops the loop at 5</a:t>
            </a:r>
          </a:p>
          <a:p>
            <a:r>
              <a:rPr lang="en-US" sz="2800" dirty="0"/>
              <a:t>    print(num)    # Outputs: 1, 2, 4</a:t>
            </a:r>
          </a:p>
        </p:txBody>
      </p:sp>
    </p:spTree>
    <p:extLst>
      <p:ext uri="{BB962C8B-B14F-4D97-AF65-F5344CB8AC3E}">
        <p14:creationId xmlns:p14="http://schemas.microsoft.com/office/powerpoint/2010/main" val="7047580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A4DE40-5BAA-4F6A-387D-5DB61FD60E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u="none" strike="noStrike" dirty="0">
                <a:effectLst/>
                <a:latin typeface="Google Sans"/>
              </a:rPr>
              <a:t>4. Structural Pattern Matching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C10CF9-8B52-DF3A-21D4-2E4EC347D7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0" u="none" strike="noStrike" dirty="0">
                <a:effectLst/>
                <a:latin typeface="Google Sans"/>
              </a:rPr>
              <a:t>Introduced in Python 3.10, the </a:t>
            </a:r>
            <a:r>
              <a:rPr lang="en-IN" b="0" u="none" strike="noStrike" dirty="0">
                <a:effectLst/>
                <a:latin typeface="Courier New" panose="02070309020205020404" pitchFamily="49" charset="0"/>
              </a:rPr>
              <a:t>match</a:t>
            </a:r>
            <a:r>
              <a:rPr lang="en-IN" b="0" u="none" strike="noStrike" dirty="0">
                <a:effectLst/>
                <a:latin typeface="Google Sans"/>
              </a:rPr>
              <a:t> and </a:t>
            </a:r>
            <a:r>
              <a:rPr lang="en-IN" b="0" u="none" strike="noStrike" dirty="0">
                <a:effectLst/>
                <a:latin typeface="Courier New" panose="02070309020205020404" pitchFamily="49" charset="0"/>
              </a:rPr>
              <a:t>case</a:t>
            </a:r>
            <a:r>
              <a:rPr lang="en-IN" b="0" u="none" strike="noStrike" dirty="0">
                <a:effectLst/>
                <a:latin typeface="Google Sans"/>
              </a:rPr>
              <a:t> syntax offers a cleaner alternative to multi-line </a:t>
            </a:r>
            <a:r>
              <a:rPr lang="en-IN" b="0" u="none" strike="noStrike" dirty="0">
                <a:effectLst/>
                <a:latin typeface="Courier New" panose="02070309020205020404" pitchFamily="49" charset="0"/>
              </a:rPr>
              <a:t>if-</a:t>
            </a:r>
            <a:r>
              <a:rPr lang="en-IN" b="0" u="none" strike="noStrike" dirty="0" err="1">
                <a:effectLst/>
                <a:latin typeface="Courier New" panose="02070309020205020404" pitchFamily="49" charset="0"/>
              </a:rPr>
              <a:t>elif</a:t>
            </a:r>
            <a:r>
              <a:rPr lang="en-IN" b="0" u="none" strike="noStrike" dirty="0">
                <a:effectLst/>
                <a:latin typeface="Google Sans"/>
              </a:rPr>
              <a:t> statements when checking variables against distinct patterns or literal values. 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1ED0270-4428-F077-7EDC-D1F2E36B8083}"/>
              </a:ext>
            </a:extLst>
          </p:cNvPr>
          <p:cNvSpPr txBox="1"/>
          <p:nvPr/>
        </p:nvSpPr>
        <p:spPr>
          <a:xfrm>
            <a:off x="1493520" y="3429000"/>
            <a:ext cx="871728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 err="1"/>
              <a:t>status_code</a:t>
            </a:r>
            <a:r>
              <a:rPr lang="en-US" sz="2400" dirty="0"/>
              <a:t> = 404</a:t>
            </a:r>
          </a:p>
          <a:p>
            <a:endParaRPr lang="en-US" sz="2400" dirty="0"/>
          </a:p>
          <a:p>
            <a:r>
              <a:rPr lang="en-US" sz="2400" dirty="0"/>
              <a:t>match </a:t>
            </a:r>
            <a:r>
              <a:rPr lang="en-US" sz="2400" dirty="0" err="1"/>
              <a:t>status_code</a:t>
            </a:r>
            <a:r>
              <a:rPr lang="en-US" sz="2400" dirty="0"/>
              <a:t>:</a:t>
            </a:r>
          </a:p>
          <a:p>
            <a:r>
              <a:rPr lang="en-US" sz="2400" dirty="0"/>
              <a:t>    case 200:</a:t>
            </a:r>
          </a:p>
          <a:p>
            <a:r>
              <a:rPr lang="en-US" sz="2400" dirty="0"/>
              <a:t>        print("Success")</a:t>
            </a:r>
          </a:p>
          <a:p>
            <a:r>
              <a:rPr lang="en-US" sz="2400" dirty="0"/>
              <a:t>    case 404:</a:t>
            </a:r>
          </a:p>
          <a:p>
            <a:r>
              <a:rPr lang="en-US" sz="2400" dirty="0"/>
              <a:t>        print("Not Found")  # This block will execute</a:t>
            </a:r>
          </a:p>
          <a:p>
            <a:r>
              <a:rPr lang="en-US" sz="2400" dirty="0"/>
              <a:t>    case _:</a:t>
            </a:r>
          </a:p>
          <a:p>
            <a:r>
              <a:rPr lang="en-US" sz="2400" dirty="0"/>
              <a:t>        print("Unknown Status")  # '_' acts as a default fallback</a:t>
            </a:r>
          </a:p>
        </p:txBody>
      </p:sp>
    </p:spTree>
    <p:extLst>
      <p:ext uri="{BB962C8B-B14F-4D97-AF65-F5344CB8AC3E}">
        <p14:creationId xmlns:p14="http://schemas.microsoft.com/office/powerpoint/2010/main" val="13238759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F096E6-711B-FD84-1463-1FDE86F2F1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4DF1E6-BD87-FCB8-1F6A-3BD9740B3C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b="1" u="none" strike="noStrike" dirty="0">
                <a:effectLst/>
                <a:latin typeface="Google Sans"/>
              </a:rPr>
              <a:t>positive, Negative, or Zero</a:t>
            </a:r>
            <a:r>
              <a:rPr lang="en-IN" b="0" u="none" strike="noStrike" dirty="0">
                <a:effectLst/>
                <a:latin typeface="Google Sans"/>
              </a:rPr>
              <a:t>: Accept an integer from the user. Print "Positive" if greater than 0, "Negative" if less than 0, and "Zero" if equal to 0.</a:t>
            </a:r>
          </a:p>
          <a:p>
            <a:r>
              <a:rPr lang="en-IN" b="1" u="none" strike="noStrike" dirty="0">
                <a:effectLst/>
                <a:latin typeface="Google Sans"/>
              </a:rPr>
              <a:t>Even or Odd</a:t>
            </a:r>
            <a:r>
              <a:rPr lang="en-IN" b="0" u="none" strike="noStrike" dirty="0">
                <a:effectLst/>
                <a:latin typeface="Google Sans"/>
              </a:rPr>
              <a:t>: Take a number input. Use the modulo operator (%) to check if it is divisible by 2. Print "Even" or "Odd".</a:t>
            </a:r>
            <a:r>
              <a:rPr lang="en-IN" dirty="0"/>
              <a:t> </a:t>
            </a:r>
          </a:p>
          <a:p>
            <a:r>
              <a:rPr lang="en-IN" b="1" u="none" strike="noStrike" dirty="0">
                <a:effectLst/>
                <a:latin typeface="Google Sans"/>
              </a:rPr>
              <a:t>Leap Year Checker</a:t>
            </a:r>
            <a:r>
              <a:rPr lang="en-IN" b="0" u="none" strike="noStrike" dirty="0">
                <a:effectLst/>
                <a:latin typeface="Google Sans"/>
              </a:rPr>
              <a:t>: Write a program that inputs a year and checks whether it is a leap year (divisible by 4, but not by 100 unless also divisible by 400). </a:t>
            </a:r>
            <a:endParaRPr lang="en-IN" dirty="0">
              <a:latin typeface="Google Sans"/>
            </a:endParaRPr>
          </a:p>
          <a:p>
            <a:r>
              <a:rPr lang="en-IN" b="1" u="none" strike="noStrike" dirty="0">
                <a:effectLst/>
                <a:latin typeface="Google Sans"/>
              </a:rPr>
              <a:t>Traffic Light Simulator</a:t>
            </a:r>
            <a:r>
              <a:rPr lang="en-IN" b="0" u="none" strike="noStrike" dirty="0">
                <a:effectLst/>
                <a:latin typeface="Google Sans"/>
              </a:rPr>
              <a:t>: Use a switch statement (or match-case) to accept a </a:t>
            </a:r>
            <a:r>
              <a:rPr lang="en-IN" b="0" u="none" strike="noStrike" dirty="0" err="1">
                <a:effectLst/>
                <a:latin typeface="Google Sans"/>
              </a:rPr>
              <a:t>color</a:t>
            </a:r>
            <a:r>
              <a:rPr lang="en-IN" b="0" u="none" strike="noStrike" dirty="0">
                <a:effectLst/>
                <a:latin typeface="Google Sans"/>
              </a:rPr>
              <a:t> ("Red", "Yellow", "Green") and output the driving action ("Stop", "Slow Down", "Go").</a:t>
            </a:r>
            <a:r>
              <a:rPr lang="en-IN" dirty="0"/>
              <a:t> </a:t>
            </a:r>
          </a:p>
          <a:p>
            <a:r>
              <a:rPr lang="en-IN" b="1" u="none" strike="noStrike" dirty="0">
                <a:effectLst/>
                <a:latin typeface="Google Sans"/>
              </a:rPr>
              <a:t>Valid Triangle</a:t>
            </a:r>
            <a:r>
              <a:rPr lang="en-IN" b="0" u="none" strike="noStrike" dirty="0">
                <a:effectLst/>
                <a:latin typeface="Google Sans"/>
              </a:rPr>
              <a:t>: Input three angles from a user. Check if their sum equals exactly 180 degrees to determine if they form a valid triangle.</a:t>
            </a:r>
            <a:r>
              <a:rPr lang="en-IN" dirty="0"/>
              <a:t> </a:t>
            </a:r>
            <a:endParaRPr lang="en-IN" b="0" u="none" strike="noStrike" dirty="0">
              <a:effectLst/>
              <a:latin typeface="Google Sans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54924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B66249-D67B-FC32-917C-DF6A87198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58B290-E055-87FD-EEB6-04BEACFBCF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IN" b="1" u="none" strike="noStrike" dirty="0">
                <a:effectLst/>
                <a:latin typeface="Google Sans"/>
              </a:rPr>
              <a:t>Number Range Printer</a:t>
            </a:r>
            <a:r>
              <a:rPr lang="en-IN" b="0" u="none" strike="noStrike" dirty="0">
                <a:effectLst/>
                <a:latin typeface="Google Sans"/>
              </a:rPr>
              <a:t>: Print all integers between 100 and 125 (inclusive) first using a for loop, then rewrite the exact same logic using a while loop.</a:t>
            </a:r>
          </a:p>
          <a:p>
            <a:r>
              <a:rPr lang="en-IN" b="1" u="none" strike="noStrike" dirty="0">
                <a:effectLst/>
                <a:latin typeface="Google Sans"/>
              </a:rPr>
              <a:t>Multiplication Table</a:t>
            </a:r>
            <a:r>
              <a:rPr lang="en-IN" b="0" u="none" strike="noStrike" dirty="0">
                <a:effectLst/>
                <a:latin typeface="Google Sans"/>
              </a:rPr>
              <a:t>: Ask the user for a number N. Print its multiplication table from 1 to 10.</a:t>
            </a:r>
          </a:p>
          <a:p>
            <a:r>
              <a:rPr lang="en-IN" b="1" u="none" strike="noStrike" dirty="0">
                <a:effectLst/>
                <a:latin typeface="Google Sans"/>
              </a:rPr>
              <a:t>Factorial Calculator</a:t>
            </a:r>
            <a:r>
              <a:rPr lang="en-IN" dirty="0"/>
              <a:t>: Calculate the factorial of a given number N (\(N! = N \times (N-1) \times \dots \times 1\)) using a loop structure.</a:t>
            </a:r>
          </a:p>
          <a:p>
            <a:r>
              <a:rPr lang="en-IN" b="1" u="none" strike="noStrike" dirty="0">
                <a:effectLst/>
                <a:latin typeface="Google Sans"/>
              </a:rPr>
              <a:t>Sum of Evens</a:t>
            </a:r>
            <a:r>
              <a:rPr lang="en-IN" b="0" u="none" strike="noStrike" dirty="0">
                <a:effectLst/>
                <a:latin typeface="Google Sans"/>
              </a:rPr>
              <a:t>: Iterate through numbers from 1 to 50. Accumulate and print the sum of only the even numbers.</a:t>
            </a:r>
          </a:p>
          <a:p>
            <a:r>
              <a:rPr lang="en-IN" b="1" u="none" strike="noStrike" dirty="0">
                <a:effectLst/>
                <a:latin typeface="Google Sans"/>
              </a:rPr>
              <a:t>Digit Counter</a:t>
            </a:r>
            <a:r>
              <a:rPr lang="en-IN" b="0" u="none" strike="noStrike" dirty="0">
                <a:effectLst/>
                <a:latin typeface="Google Sans"/>
              </a:rPr>
              <a:t>: Accept a large integer from the user. Continually divide it by 10 inside a while loop to count how many digits it contains.</a:t>
            </a:r>
            <a:r>
              <a:rPr lang="en-IN" dirty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70881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D439D-E5A7-6964-278F-6E240A5A4D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24042C-73C0-098B-44C9-4D2CB56C49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b="1" u="none" strike="noStrike" dirty="0">
                <a:effectLst/>
                <a:latin typeface="Google Sans"/>
              </a:rPr>
              <a:t>Interactive Mean Finder</a:t>
            </a:r>
            <a:r>
              <a:rPr lang="en-IN" b="0" u="none" strike="noStrike" dirty="0">
                <a:effectLst/>
                <a:latin typeface="Google Sans"/>
              </a:rPr>
              <a:t>: Continually prompt the user to input numbers. If they type "stop", use a break statement to exit the loop, compute, and print the average.</a:t>
            </a:r>
            <a:r>
              <a:rPr lang="en-IN" dirty="0"/>
              <a:t> </a:t>
            </a:r>
          </a:p>
          <a:p>
            <a:r>
              <a:rPr lang="en-IN" b="1" u="none" strike="noStrike" dirty="0">
                <a:effectLst/>
                <a:latin typeface="Google Sans"/>
              </a:rPr>
              <a:t>Skip Multiples of Three</a:t>
            </a:r>
            <a:r>
              <a:rPr lang="en-IN" b="0" u="none" strike="noStrike" dirty="0">
                <a:effectLst/>
                <a:latin typeface="Google Sans"/>
              </a:rPr>
              <a:t>: Write a loop that counts from 1 to 30 but uses a continue statement to skip printing any number that is a multiple of 3.</a:t>
            </a:r>
            <a:r>
              <a:rPr lang="en-IN" dirty="0"/>
              <a:t> </a:t>
            </a:r>
          </a:p>
          <a:p>
            <a:r>
              <a:rPr lang="en-IN" b="1" u="none" strike="noStrike" dirty="0">
                <a:effectLst/>
                <a:latin typeface="Google Sans"/>
              </a:rPr>
              <a:t>Prime Number Checker</a:t>
            </a:r>
            <a:r>
              <a:rPr lang="en-IN" b="0" u="none" strike="noStrike" dirty="0">
                <a:effectLst/>
                <a:latin typeface="Google Sans"/>
              </a:rPr>
              <a:t>: Loop from 2 up to the square root of a given number N. If N is divisible by any of these, print "Not Prime" and break immediately.</a:t>
            </a:r>
            <a:r>
              <a:rPr lang="en-IN" dirty="0"/>
              <a:t> </a:t>
            </a:r>
          </a:p>
          <a:p>
            <a:r>
              <a:rPr lang="en-IN" b="1" u="none" strike="noStrike" dirty="0">
                <a:effectLst/>
                <a:latin typeface="Google Sans"/>
              </a:rPr>
              <a:t>Fibonacci Sequence</a:t>
            </a:r>
            <a:r>
              <a:rPr lang="en-IN" b="0" u="none" strike="noStrike" dirty="0">
                <a:effectLst/>
                <a:latin typeface="Google Sans"/>
              </a:rPr>
              <a:t>: Generate and display the first N numbers of the Fibonacci sequence, where each number is the sum of the preceding two 0, 1, 1, 2, 3, 5, 8.</a:t>
            </a:r>
          </a:p>
          <a:p>
            <a:r>
              <a:rPr lang="en-IN" b="1" u="none" strike="noStrike" dirty="0">
                <a:effectLst/>
                <a:latin typeface="Google Sans"/>
              </a:rPr>
              <a:t>Pattern Printing</a:t>
            </a:r>
            <a:r>
              <a:rPr lang="en-IN" b="0" u="none" strike="noStrike" dirty="0">
                <a:effectLst/>
                <a:latin typeface="Google Sans"/>
              </a:rPr>
              <a:t>: Create a nested loop system to print a right-angled triangle pattern of asterisks based on user-defined height: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41294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83C2D0-5218-9F69-A5B1-F537C9FABE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u="none" strike="noStrike" dirty="0">
                <a:effectLst/>
                <a:latin typeface="Google Sans"/>
              </a:rPr>
              <a:t>Direct Character Iteration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AF2053-50D0-77C8-EA9C-DD22542984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0" u="none" strike="noStrike" dirty="0">
                <a:effectLst/>
                <a:latin typeface="Google Sans"/>
              </a:rPr>
              <a:t>This method retrieves each character one by one without tracking the index position. 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10332ED-53A4-59B9-5E55-E171A4CE84E3}"/>
              </a:ext>
            </a:extLst>
          </p:cNvPr>
          <p:cNvSpPr txBox="1"/>
          <p:nvPr/>
        </p:nvSpPr>
        <p:spPr>
          <a:xfrm>
            <a:off x="3048000" y="2967335"/>
            <a:ext cx="609600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text = "Python"</a:t>
            </a:r>
          </a:p>
          <a:p>
            <a:r>
              <a:rPr lang="en-US" sz="2800" dirty="0"/>
              <a:t>for char in text:</a:t>
            </a:r>
          </a:p>
          <a:p>
            <a:r>
              <a:rPr lang="en-US" sz="2800" dirty="0"/>
              <a:t>    print(char)</a:t>
            </a:r>
          </a:p>
        </p:txBody>
      </p:sp>
    </p:spTree>
    <p:extLst>
      <p:ext uri="{BB962C8B-B14F-4D97-AF65-F5344CB8AC3E}">
        <p14:creationId xmlns:p14="http://schemas.microsoft.com/office/powerpoint/2010/main" val="9174361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C0730C-3A2B-89A8-3008-4C45ABEB46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u="none" strike="noStrike" dirty="0">
                <a:effectLst/>
                <a:latin typeface="Google Sans"/>
              </a:rPr>
              <a:t>Methods for Iterating Strings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B9A3BA-5722-C8FD-15F7-F3A31019E4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b="0" u="none" strike="noStrike" dirty="0">
                <a:effectLst/>
                <a:latin typeface="Google Sans"/>
              </a:rPr>
              <a:t>Depending on your project's specific requirements, you can approach string iteration in several ways:</a:t>
            </a:r>
          </a:p>
          <a:p>
            <a:r>
              <a:rPr lang="en-IN" b="1" u="none" strike="noStrike" dirty="0">
                <a:effectLst/>
                <a:latin typeface="Google Sans"/>
              </a:rPr>
              <a:t>Direct for loop</a:t>
            </a:r>
            <a:r>
              <a:rPr lang="en-IN" b="0" u="none" strike="noStrike" dirty="0">
                <a:effectLst/>
                <a:latin typeface="Google Sans"/>
              </a:rPr>
              <a:t>: Best for simple text processing when index positions are not required.</a:t>
            </a:r>
          </a:p>
          <a:p>
            <a:r>
              <a:rPr lang="en-IN" b="1" u="none" strike="noStrike" dirty="0">
                <a:effectLst/>
                <a:latin typeface="Google Sans"/>
              </a:rPr>
              <a:t>enumerate() function</a:t>
            </a:r>
            <a:r>
              <a:rPr lang="en-IN" b="0" u="none" strike="noStrike" dirty="0">
                <a:effectLst/>
                <a:latin typeface="Google Sans"/>
              </a:rPr>
              <a:t>: Ideal when you need to access both the character and its index simultaneously.</a:t>
            </a:r>
          </a:p>
          <a:p>
            <a:r>
              <a:rPr lang="en-IN" b="1" u="none" strike="noStrike" dirty="0">
                <a:effectLst/>
                <a:latin typeface="Google Sans"/>
              </a:rPr>
              <a:t>range(</a:t>
            </a:r>
            <a:r>
              <a:rPr lang="en-IN" b="1" u="none" strike="noStrike" dirty="0" err="1">
                <a:effectLst/>
                <a:latin typeface="Google Sans"/>
              </a:rPr>
              <a:t>len</a:t>
            </a:r>
            <a:r>
              <a:rPr lang="en-IN" b="1" u="none" strike="noStrike" dirty="0">
                <a:effectLst/>
                <a:latin typeface="Google Sans"/>
              </a:rPr>
              <a:t>()) structure</a:t>
            </a:r>
            <a:r>
              <a:rPr lang="en-IN" b="0" u="none" strike="noStrike" dirty="0">
                <a:effectLst/>
                <a:latin typeface="Google Sans"/>
              </a:rPr>
              <a:t>: Loops through numeric indices to allow manual position-based access.</a:t>
            </a:r>
          </a:p>
          <a:p>
            <a:r>
              <a:rPr lang="en-IN" b="1" u="none" strike="noStrike" dirty="0">
                <a:effectLst/>
                <a:latin typeface="Google Sans"/>
              </a:rPr>
              <a:t>reversed() function</a:t>
            </a:r>
            <a:r>
              <a:rPr lang="en-IN" b="0" u="none" strike="noStrike" dirty="0">
                <a:effectLst/>
                <a:latin typeface="Google Sans"/>
              </a:rPr>
              <a:t>: Processes characters backwards from the last position to the first.</a:t>
            </a:r>
          </a:p>
          <a:p>
            <a:r>
              <a:rPr lang="en-IN" b="1" u="none" strike="noStrike" dirty="0">
                <a:effectLst/>
                <a:latin typeface="Google Sans"/>
              </a:rPr>
              <a:t>split() method</a:t>
            </a:r>
            <a:r>
              <a:rPr lang="en-IN" b="0" u="none" strike="noStrike" dirty="0">
                <a:effectLst/>
                <a:latin typeface="Google Sans"/>
              </a:rPr>
              <a:t>: Separates text by spaces to iterate over whole words instead of single letters.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28122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533DA6-01A3-06E7-4F58-B668394DF1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u="none" strike="noStrike" dirty="0">
                <a:effectLst/>
                <a:latin typeface="Google Sans"/>
              </a:rPr>
              <a:t>Get Index and Character Simultaneously [</a:t>
            </a:r>
            <a:r>
              <a:rPr lang="en-IN" b="1" u="none" strike="noStrike" dirty="0">
                <a:effectLst/>
                <a:latin typeface="Google Sans"/>
                <a:hlinkClick r:id="rId2"/>
              </a:rPr>
              <a:t>1</a:t>
            </a:r>
            <a:r>
              <a:rPr lang="en-IN" b="1" u="none" strike="noStrike" dirty="0">
                <a:effectLst/>
                <a:latin typeface="Google Sans"/>
              </a:rPr>
              <a:t>]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A28660-5B97-3A4E-9325-3223CEA28D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0" u="none" strike="noStrike" dirty="0">
                <a:effectLst/>
                <a:latin typeface="Google Sans"/>
              </a:rPr>
              <a:t>Use enumerate() to keep track of where the character sits in the string.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B20D755-F3FA-4F54-0B20-776AD025CE99}"/>
              </a:ext>
            </a:extLst>
          </p:cNvPr>
          <p:cNvSpPr txBox="1"/>
          <p:nvPr/>
        </p:nvSpPr>
        <p:spPr>
          <a:xfrm>
            <a:off x="3048000" y="2967335"/>
            <a:ext cx="60960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/>
              <a:t>text = "Code"</a:t>
            </a:r>
          </a:p>
          <a:p>
            <a:r>
              <a:rPr lang="en-US" sz="3200" dirty="0"/>
              <a:t>for index, char in enumerate(text):</a:t>
            </a:r>
          </a:p>
          <a:p>
            <a:r>
              <a:rPr lang="en-US" sz="3200" dirty="0"/>
              <a:t>    print(</a:t>
            </a:r>
            <a:r>
              <a:rPr lang="en-US" sz="3200" dirty="0" err="1"/>
              <a:t>f"Index</a:t>
            </a:r>
            <a:r>
              <a:rPr lang="en-US" sz="3200" dirty="0"/>
              <a:t> {index}: {char}")</a:t>
            </a:r>
          </a:p>
        </p:txBody>
      </p:sp>
    </p:spTree>
    <p:extLst>
      <p:ext uri="{BB962C8B-B14F-4D97-AF65-F5344CB8AC3E}">
        <p14:creationId xmlns:p14="http://schemas.microsoft.com/office/powerpoint/2010/main" val="25241827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6451AA-037E-5A86-365A-ECEE4D9042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u="none" strike="noStrike" dirty="0">
                <a:effectLst/>
                <a:latin typeface="Google Sans"/>
              </a:rPr>
              <a:t>Iterate in Reverse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DBE5B8-8891-EDD7-9833-64B7039277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0" u="none" strike="noStrike" dirty="0">
                <a:effectLst/>
                <a:latin typeface="Google Sans"/>
              </a:rPr>
              <a:t>Wrap the string in reversed() to step backward through the characters.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942DD6F-C217-2C2D-C287-2390B08E6665}"/>
              </a:ext>
            </a:extLst>
          </p:cNvPr>
          <p:cNvSpPr txBox="1"/>
          <p:nvPr/>
        </p:nvSpPr>
        <p:spPr>
          <a:xfrm>
            <a:off x="3048000" y="2967335"/>
            <a:ext cx="60960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/>
              <a:t>text = "Python"</a:t>
            </a:r>
          </a:p>
          <a:p>
            <a:r>
              <a:rPr lang="en-US" sz="3200" dirty="0"/>
              <a:t>for char in reversed(text):</a:t>
            </a:r>
          </a:p>
          <a:p>
            <a:r>
              <a:rPr lang="en-US" sz="3200" dirty="0"/>
              <a:t>    print(char)</a:t>
            </a:r>
          </a:p>
        </p:txBody>
      </p:sp>
    </p:spTree>
    <p:extLst>
      <p:ext uri="{BB962C8B-B14F-4D97-AF65-F5344CB8AC3E}">
        <p14:creationId xmlns:p14="http://schemas.microsoft.com/office/powerpoint/2010/main" val="38111851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3F76A4-3001-1EFF-4801-1E49A814C0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u="none" strike="noStrike" dirty="0">
                <a:effectLst/>
                <a:latin typeface="Google Sans"/>
              </a:rPr>
              <a:t>Iterate Over Words Instead of Characters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451E6D-071A-EAE3-CEEC-2605647363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0" u="none" strike="noStrike" dirty="0">
                <a:effectLst/>
                <a:latin typeface="Google Sans"/>
              </a:rPr>
              <a:t>Use </a:t>
            </a:r>
            <a:r>
              <a:rPr lang="en-IN" b="0" u="none" strike="noStrike" dirty="0">
                <a:effectLst/>
                <a:latin typeface="Courier New" panose="02070309020205020404" pitchFamily="49" charset="0"/>
              </a:rPr>
              <a:t>.split()</a:t>
            </a:r>
            <a:r>
              <a:rPr lang="en-IN" b="0" u="none" strike="noStrike" dirty="0">
                <a:effectLst/>
                <a:latin typeface="Google Sans"/>
              </a:rPr>
              <a:t> to break a sentence into a list of words. []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A3E9944-72A4-62A7-786D-CCC643B54E16}"/>
              </a:ext>
            </a:extLst>
          </p:cNvPr>
          <p:cNvSpPr txBox="1"/>
          <p:nvPr/>
        </p:nvSpPr>
        <p:spPr>
          <a:xfrm>
            <a:off x="3048000" y="2967335"/>
            <a:ext cx="60960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/>
              <a:t>sentence = "Python is fun"</a:t>
            </a:r>
          </a:p>
          <a:p>
            <a:r>
              <a:rPr lang="en-US" sz="3200" dirty="0"/>
              <a:t>for word in </a:t>
            </a:r>
            <a:r>
              <a:rPr lang="en-US" sz="3200" dirty="0" err="1"/>
              <a:t>sentence.split</a:t>
            </a:r>
            <a:r>
              <a:rPr lang="en-US" sz="3200" dirty="0"/>
              <a:t>():</a:t>
            </a:r>
          </a:p>
          <a:p>
            <a:r>
              <a:rPr lang="en-US" sz="3200" dirty="0"/>
              <a:t>    print(word)</a:t>
            </a:r>
          </a:p>
        </p:txBody>
      </p:sp>
    </p:spTree>
    <p:extLst>
      <p:ext uri="{BB962C8B-B14F-4D97-AF65-F5344CB8AC3E}">
        <p14:creationId xmlns:p14="http://schemas.microsoft.com/office/powerpoint/2010/main" val="38528158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245E2E-85AC-E54F-8426-4B6C01B185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Iteration to Collection Datatypes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0789A4-A3F8-7CE4-361E-5F4D79A88A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b="0" u="none" strike="noStrike" dirty="0">
                <a:effectLst/>
                <a:latin typeface="Google Sans"/>
              </a:rPr>
              <a:t>The most efficient and Pythonic way to iterate over a list is </a:t>
            </a:r>
            <a:r>
              <a:rPr lang="en-IN" dirty="0"/>
              <a:t>using a standard </a:t>
            </a:r>
            <a:r>
              <a:rPr lang="en-IN" b="1" u="none" strike="noStrike" dirty="0">
                <a:effectLst/>
                <a:latin typeface="Google Sans"/>
              </a:rPr>
              <a:t>for loop</a:t>
            </a:r>
            <a:r>
              <a:rPr lang="en-IN" dirty="0"/>
              <a:t>, which directly accesses each item without needing an index tracking variable. 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Depending on your specific goals, Python provides several other tailored built-in approaches to loop through a list. 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BC8B560-C647-EA87-1DA0-248981200351}"/>
              </a:ext>
            </a:extLst>
          </p:cNvPr>
          <p:cNvSpPr txBox="1"/>
          <p:nvPr/>
        </p:nvSpPr>
        <p:spPr>
          <a:xfrm>
            <a:off x="1813560" y="3093353"/>
            <a:ext cx="609600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fruits = ["apple", "banana", "cherry"]</a:t>
            </a:r>
          </a:p>
          <a:p>
            <a:endParaRPr lang="en-US" sz="2800" dirty="0"/>
          </a:p>
          <a:p>
            <a:r>
              <a:rPr lang="en-US" sz="2800" dirty="0"/>
              <a:t>for fruit in fruits:</a:t>
            </a:r>
          </a:p>
          <a:p>
            <a:r>
              <a:rPr lang="en-US" sz="2800" dirty="0"/>
              <a:t>    print(fruit)</a:t>
            </a:r>
          </a:p>
        </p:txBody>
      </p:sp>
    </p:spTree>
    <p:extLst>
      <p:ext uri="{BB962C8B-B14F-4D97-AF65-F5344CB8AC3E}">
        <p14:creationId xmlns:p14="http://schemas.microsoft.com/office/powerpoint/2010/main" val="340098267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51DC42-1B5C-3A96-FE0E-AC531CB11B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u="none" strike="noStrike" dirty="0">
                <a:effectLst/>
                <a:latin typeface="Google Sans"/>
              </a:rPr>
              <a:t>1. Get Elements with their Index (enumerate)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908B08-40CB-D219-E6A5-86B7E7656A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0" u="none" strike="noStrike" dirty="0">
                <a:effectLst/>
                <a:latin typeface="Google Sans"/>
              </a:rPr>
              <a:t>When you need to know the </a:t>
            </a:r>
            <a:r>
              <a:rPr lang="en-IN" b="1" u="none" strike="noStrike" dirty="0">
                <a:effectLst/>
                <a:latin typeface="Google Sans"/>
              </a:rPr>
              <a:t>numerical index</a:t>
            </a:r>
            <a:r>
              <a:rPr lang="en-IN" b="0" u="none" strike="noStrike" dirty="0">
                <a:effectLst/>
                <a:latin typeface="Google Sans"/>
              </a:rPr>
              <a:t> of each item while looping, use the built-in </a:t>
            </a:r>
            <a:r>
              <a:rPr lang="en-IN" b="0" u="none" strike="noStrike" dirty="0">
                <a:effectLst/>
                <a:latin typeface="Google Sans"/>
                <a:hlinkClick r:id="rId2"/>
              </a:rPr>
              <a:t>enumerate() function</a:t>
            </a:r>
            <a:r>
              <a:rPr lang="en-IN" b="0" u="none" strike="noStrike" dirty="0">
                <a:effectLst/>
                <a:latin typeface="Google Sans"/>
              </a:rPr>
              <a:t>. This is much cleaner than manually managing a counter variable. 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20F614-2451-8AA4-6F2A-9E01AEE2AE44}"/>
              </a:ext>
            </a:extLst>
          </p:cNvPr>
          <p:cNvSpPr txBox="1"/>
          <p:nvPr/>
        </p:nvSpPr>
        <p:spPr>
          <a:xfrm>
            <a:off x="2727960" y="3743236"/>
            <a:ext cx="609600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fruits = ["apple", "banana", "cherry"]</a:t>
            </a:r>
          </a:p>
          <a:p>
            <a:endParaRPr lang="en-US" sz="2800" dirty="0"/>
          </a:p>
          <a:p>
            <a:r>
              <a:rPr lang="en-US" sz="2800" dirty="0"/>
              <a:t>for index, fruit in enumerate(fruits):</a:t>
            </a:r>
          </a:p>
          <a:p>
            <a:r>
              <a:rPr lang="en-US" sz="2800" dirty="0"/>
              <a:t>    print(</a:t>
            </a:r>
            <a:r>
              <a:rPr lang="en-US" sz="2800" dirty="0" err="1"/>
              <a:t>f"Index</a:t>
            </a:r>
            <a:r>
              <a:rPr lang="en-US" sz="2800" dirty="0"/>
              <a:t> {index}: {fruit}")</a:t>
            </a:r>
          </a:p>
        </p:txBody>
      </p:sp>
    </p:spTree>
    <p:extLst>
      <p:ext uri="{BB962C8B-B14F-4D97-AF65-F5344CB8AC3E}">
        <p14:creationId xmlns:p14="http://schemas.microsoft.com/office/powerpoint/2010/main" val="24946787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E5D9A7-0B9C-42DC-E274-A3CFCF99B7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u="none" strike="noStrike" dirty="0">
                <a:effectLst/>
                <a:latin typeface="Google Sans"/>
              </a:rPr>
              <a:t>2. Generate a Transformed List (List Comprehension)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698CC9-7E7E-4BD6-773C-238FED20A3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0" u="none" strike="noStrike" dirty="0">
                <a:effectLst/>
                <a:latin typeface="Google Sans"/>
              </a:rPr>
              <a:t>If your goal is to apply an operation to every item and </a:t>
            </a:r>
            <a:r>
              <a:rPr lang="en-IN" b="1" u="none" strike="noStrike" dirty="0">
                <a:effectLst/>
                <a:latin typeface="Google Sans"/>
              </a:rPr>
              <a:t>save the results into a new list</a:t>
            </a:r>
            <a:r>
              <a:rPr lang="en-IN" b="0" u="none" strike="noStrike" dirty="0">
                <a:effectLst/>
                <a:latin typeface="Google Sans"/>
              </a:rPr>
              <a:t>, </a:t>
            </a:r>
            <a:r>
              <a:rPr lang="en-IN" b="0" u="none" strike="noStrike" dirty="0">
                <a:effectLst/>
                <a:latin typeface="Google Sans"/>
                <a:hlinkClick r:id="rId2"/>
              </a:rPr>
              <a:t>list comprehension</a:t>
            </a:r>
            <a:r>
              <a:rPr lang="en-IN" b="0" u="none" strike="noStrike" dirty="0">
                <a:effectLst/>
                <a:latin typeface="Google Sans"/>
              </a:rPr>
              <a:t> provides a fast, one-line syntax. 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185A883-CE70-29C2-7A53-531D94D21B4C}"/>
              </a:ext>
            </a:extLst>
          </p:cNvPr>
          <p:cNvSpPr txBox="1"/>
          <p:nvPr/>
        </p:nvSpPr>
        <p:spPr>
          <a:xfrm>
            <a:off x="1325880" y="3429000"/>
            <a:ext cx="877824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numbers = [1, 2, 3, 4]</a:t>
            </a:r>
          </a:p>
          <a:p>
            <a:endParaRPr lang="en-US" sz="2800" dirty="0"/>
          </a:p>
          <a:p>
            <a:r>
              <a:rPr lang="en-US" sz="2800" dirty="0"/>
              <a:t># Doubles every number in the list</a:t>
            </a:r>
          </a:p>
          <a:p>
            <a:r>
              <a:rPr lang="en-US" sz="2800" dirty="0"/>
              <a:t>doubled = [x * 2 for x in numbers] </a:t>
            </a:r>
          </a:p>
          <a:p>
            <a:r>
              <a:rPr lang="en-US" sz="2800" dirty="0"/>
              <a:t>print(doubled)  # Output: [2, 4, 6, 8]</a:t>
            </a:r>
          </a:p>
        </p:txBody>
      </p:sp>
    </p:spTree>
    <p:extLst>
      <p:ext uri="{BB962C8B-B14F-4D97-AF65-F5344CB8AC3E}">
        <p14:creationId xmlns:p14="http://schemas.microsoft.com/office/powerpoint/2010/main" val="241268490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6C9DA2-1E5D-D6D1-EE4C-188CBAB3FE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u="none" strike="noStrike" dirty="0">
                <a:effectLst/>
                <a:latin typeface="Google Sans"/>
              </a:rPr>
              <a:t>3. Loop by Index Range (range &amp; </a:t>
            </a:r>
            <a:r>
              <a:rPr lang="en-IN" b="1" u="none" strike="noStrike" dirty="0" err="1">
                <a:effectLst/>
                <a:latin typeface="Google Sans"/>
              </a:rPr>
              <a:t>len</a:t>
            </a:r>
            <a:r>
              <a:rPr lang="en-IN" b="1" u="none" strike="noStrike" dirty="0">
                <a:effectLst/>
                <a:latin typeface="Google Sans"/>
              </a:rPr>
              <a:t>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36EA5B-7282-B10F-6FB4-C59A3C0B1C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0" u="none" strike="noStrike" dirty="0">
                <a:effectLst/>
                <a:latin typeface="Google Sans"/>
              </a:rPr>
              <a:t>If you specifically want to step through the list using traditional indices, or need to overwrite elements in the original list by their position, combine for with range(</a:t>
            </a:r>
            <a:r>
              <a:rPr lang="en-IN" b="0" u="none" strike="noStrike" dirty="0" err="1">
                <a:effectLst/>
                <a:latin typeface="Google Sans"/>
              </a:rPr>
              <a:t>len</a:t>
            </a:r>
            <a:r>
              <a:rPr lang="en-IN" b="0" u="none" strike="noStrike" dirty="0">
                <a:effectLst/>
                <a:latin typeface="Google Sans"/>
              </a:rPr>
              <a:t>()).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1C4290E-074E-A559-19E0-C2B9A53BB9A5}"/>
              </a:ext>
            </a:extLst>
          </p:cNvPr>
          <p:cNvSpPr txBox="1"/>
          <p:nvPr/>
        </p:nvSpPr>
        <p:spPr>
          <a:xfrm>
            <a:off x="838200" y="4114860"/>
            <a:ext cx="10027920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/>
              <a:t>items = ["a", "b", "c"]</a:t>
            </a:r>
          </a:p>
          <a:p>
            <a:endParaRPr lang="en-US" sz="3200" dirty="0"/>
          </a:p>
          <a:p>
            <a:r>
              <a:rPr lang="en-US" sz="3200" dirty="0"/>
              <a:t>for </a:t>
            </a:r>
            <a:r>
              <a:rPr lang="en-US" sz="3200" dirty="0" err="1"/>
              <a:t>i</a:t>
            </a:r>
            <a:r>
              <a:rPr lang="en-US" sz="3200" dirty="0"/>
              <a:t> in range(</a:t>
            </a:r>
            <a:r>
              <a:rPr lang="en-US" sz="3200" dirty="0" err="1"/>
              <a:t>len</a:t>
            </a:r>
            <a:r>
              <a:rPr lang="en-US" sz="3200" dirty="0"/>
              <a:t>(items)):</a:t>
            </a:r>
          </a:p>
          <a:p>
            <a:r>
              <a:rPr lang="en-US" sz="3200" dirty="0"/>
              <a:t>    print(</a:t>
            </a:r>
            <a:r>
              <a:rPr lang="en-US" sz="3200" dirty="0" err="1"/>
              <a:t>f"Position</a:t>
            </a:r>
            <a:r>
              <a:rPr lang="en-US" sz="3200" dirty="0"/>
              <a:t> {</a:t>
            </a:r>
            <a:r>
              <a:rPr lang="en-US" sz="3200" dirty="0" err="1"/>
              <a:t>i</a:t>
            </a:r>
            <a:r>
              <a:rPr lang="en-US" sz="3200" dirty="0"/>
              <a:t>} holds {items[</a:t>
            </a:r>
            <a:r>
              <a:rPr lang="en-US" sz="3200" dirty="0" err="1"/>
              <a:t>i</a:t>
            </a:r>
            <a:r>
              <a:rPr lang="en-US" sz="3200" dirty="0"/>
              <a:t>]}")</a:t>
            </a:r>
          </a:p>
        </p:txBody>
      </p:sp>
    </p:spTree>
    <p:extLst>
      <p:ext uri="{BB962C8B-B14F-4D97-AF65-F5344CB8AC3E}">
        <p14:creationId xmlns:p14="http://schemas.microsoft.com/office/powerpoint/2010/main" val="328461177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5CD98-0FF9-1501-2D5E-0BE6E13E3A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u="none" strike="noStrike" dirty="0">
                <a:effectLst/>
                <a:latin typeface="Google Sans"/>
              </a:rPr>
              <a:t>4. Loop Through Multiple Lists Together (zip)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708D56-AAEE-C0DC-A889-88796DF83B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0" u="none" strike="noStrike" dirty="0">
                <a:effectLst/>
                <a:latin typeface="Google Sans"/>
              </a:rPr>
              <a:t>To iterate across </a:t>
            </a:r>
            <a:r>
              <a:rPr lang="en-IN" b="1" u="none" strike="noStrike" dirty="0">
                <a:effectLst/>
                <a:latin typeface="Google Sans"/>
              </a:rPr>
              <a:t>two or more lists of the same length</a:t>
            </a:r>
            <a:r>
              <a:rPr lang="en-IN" b="0" u="none" strike="noStrike" dirty="0">
                <a:effectLst/>
                <a:latin typeface="Google Sans"/>
              </a:rPr>
              <a:t> at the exact same time, use the </a:t>
            </a:r>
            <a:r>
              <a:rPr lang="en-IN" b="0" u="none" strike="noStrike" dirty="0">
                <a:effectLst/>
                <a:latin typeface="Courier New" panose="02070309020205020404" pitchFamily="49" charset="0"/>
              </a:rPr>
              <a:t>zip()</a:t>
            </a:r>
            <a:r>
              <a:rPr lang="en-IN" b="0" u="none" strike="noStrike" dirty="0">
                <a:effectLst/>
                <a:latin typeface="Google Sans"/>
              </a:rPr>
              <a:t> utility. []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A16B03F-264A-1814-C94F-FA3C5BC8FF65}"/>
              </a:ext>
            </a:extLst>
          </p:cNvPr>
          <p:cNvSpPr txBox="1"/>
          <p:nvPr/>
        </p:nvSpPr>
        <p:spPr>
          <a:xfrm>
            <a:off x="1188720" y="3665696"/>
            <a:ext cx="830580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names = ["Alice", "Bob"]</a:t>
            </a:r>
          </a:p>
          <a:p>
            <a:r>
              <a:rPr lang="en-US" sz="2800" dirty="0"/>
              <a:t>scores = [85, 92]</a:t>
            </a:r>
          </a:p>
          <a:p>
            <a:endParaRPr lang="en-US" sz="2800" dirty="0"/>
          </a:p>
          <a:p>
            <a:r>
              <a:rPr lang="en-US" sz="2800" dirty="0"/>
              <a:t>for name, score in zip(names, scores):</a:t>
            </a:r>
          </a:p>
          <a:p>
            <a:r>
              <a:rPr lang="en-US" sz="2800" dirty="0"/>
              <a:t>    print(f"{name} scored {score}")</a:t>
            </a:r>
          </a:p>
        </p:txBody>
      </p:sp>
    </p:spTree>
    <p:extLst>
      <p:ext uri="{BB962C8B-B14F-4D97-AF65-F5344CB8AC3E}">
        <p14:creationId xmlns:p14="http://schemas.microsoft.com/office/powerpoint/2010/main" val="258583018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90B419-5805-BA1C-973A-FEC08C9F3D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u="none" strike="noStrike" dirty="0">
                <a:effectLst/>
                <a:latin typeface="Google Sans"/>
              </a:rPr>
              <a:t>5. Conditional Iteration (while loop)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E5121D-64C0-63E9-077F-A9B17D78BA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0" u="none" strike="noStrike" dirty="0">
                <a:effectLst/>
                <a:latin typeface="Google Sans"/>
              </a:rPr>
              <a:t>If you require complex control flow, such as skipping ahead unpredictably or changing the loop termination mid-way, use a standard while loop.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AB93FA7-06FC-BDE9-A34D-03DDA2C32169}"/>
              </a:ext>
            </a:extLst>
          </p:cNvPr>
          <p:cNvSpPr txBox="1"/>
          <p:nvPr/>
        </p:nvSpPr>
        <p:spPr>
          <a:xfrm>
            <a:off x="670560" y="3634244"/>
            <a:ext cx="1068324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numbers = [10, 20, 30]</a:t>
            </a:r>
          </a:p>
          <a:p>
            <a:r>
              <a:rPr lang="en-US" sz="2800" dirty="0" err="1"/>
              <a:t>i</a:t>
            </a:r>
            <a:r>
              <a:rPr lang="en-US" sz="2800" dirty="0"/>
              <a:t> = 0</a:t>
            </a:r>
          </a:p>
          <a:p>
            <a:endParaRPr lang="en-US" sz="2800" dirty="0"/>
          </a:p>
          <a:p>
            <a:r>
              <a:rPr lang="en-US" sz="2800" dirty="0"/>
              <a:t>while </a:t>
            </a:r>
            <a:r>
              <a:rPr lang="en-US" sz="2800" dirty="0" err="1"/>
              <a:t>i</a:t>
            </a:r>
            <a:r>
              <a:rPr lang="en-US" sz="2800" dirty="0"/>
              <a:t> &lt; </a:t>
            </a:r>
            <a:r>
              <a:rPr lang="en-US" sz="2800" dirty="0" err="1"/>
              <a:t>len</a:t>
            </a:r>
            <a:r>
              <a:rPr lang="en-US" sz="2800" dirty="0"/>
              <a:t>(numbers):</a:t>
            </a:r>
          </a:p>
          <a:p>
            <a:r>
              <a:rPr lang="en-US" sz="2800" dirty="0"/>
              <a:t>    print(numbers[</a:t>
            </a:r>
            <a:r>
              <a:rPr lang="en-US" sz="2800" dirty="0" err="1"/>
              <a:t>i</a:t>
            </a:r>
            <a:r>
              <a:rPr lang="en-US" sz="2800" dirty="0"/>
              <a:t>])</a:t>
            </a:r>
          </a:p>
          <a:p>
            <a:r>
              <a:rPr lang="en-US" sz="2800" dirty="0"/>
              <a:t>    </a:t>
            </a:r>
            <a:r>
              <a:rPr lang="en-US" sz="2800" dirty="0" err="1"/>
              <a:t>i</a:t>
            </a:r>
            <a:r>
              <a:rPr lang="en-US" sz="2800" dirty="0"/>
              <a:t> += 1</a:t>
            </a:r>
          </a:p>
        </p:txBody>
      </p:sp>
    </p:spTree>
    <p:extLst>
      <p:ext uri="{BB962C8B-B14F-4D97-AF65-F5344CB8AC3E}">
        <p14:creationId xmlns:p14="http://schemas.microsoft.com/office/powerpoint/2010/main" val="404307381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0E7395-E80B-18D3-B22D-223423B280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u="none" strike="noStrike" dirty="0">
                <a:effectLst/>
                <a:latin typeface="Google Sans"/>
              </a:rPr>
              <a:t>Best Practices &amp; Warnings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D46AD1-9456-D485-60BC-5DC497E343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u="none" strike="noStrike" dirty="0">
                <a:effectLst/>
                <a:latin typeface="Google Sans"/>
              </a:rPr>
              <a:t>Avoid modifying during iteration</a:t>
            </a:r>
            <a:r>
              <a:rPr lang="en-IN" b="0" u="none" strike="noStrike" dirty="0">
                <a:effectLst/>
                <a:latin typeface="Google Sans"/>
              </a:rPr>
              <a:t>: Never add or remove items from a list while looping over it using a standard </a:t>
            </a:r>
            <a:r>
              <a:rPr lang="en-IN" b="0" u="none" strike="noStrike" dirty="0">
                <a:effectLst/>
                <a:latin typeface="Courier New" panose="02070309020205020404" pitchFamily="49" charset="0"/>
              </a:rPr>
              <a:t>for</a:t>
            </a:r>
            <a:r>
              <a:rPr lang="en-IN" b="0" u="none" strike="noStrike" dirty="0">
                <a:effectLst/>
                <a:latin typeface="Google Sans"/>
              </a:rPr>
              <a:t> loop. This disrupts the iteration tracking and causes bugs. Instead, iterate over a shallow copy (</a:t>
            </a:r>
            <a:r>
              <a:rPr lang="en-IN" b="0" u="none" strike="noStrike" dirty="0">
                <a:effectLst/>
                <a:latin typeface="Courier New" panose="02070309020205020404" pitchFamily="49" charset="0"/>
              </a:rPr>
              <a:t>for item in </a:t>
            </a:r>
            <a:r>
              <a:rPr lang="en-IN" b="0" u="none" strike="noStrike" dirty="0" err="1">
                <a:effectLst/>
                <a:latin typeface="Courier New" panose="02070309020205020404" pitchFamily="49" charset="0"/>
              </a:rPr>
              <a:t>my_list</a:t>
            </a:r>
            <a:r>
              <a:rPr lang="en-IN" b="0" u="none" strike="noStrike" dirty="0">
                <a:effectLst/>
                <a:latin typeface="Courier New" panose="02070309020205020404" pitchFamily="49" charset="0"/>
              </a:rPr>
              <a:t>[:]</a:t>
            </a:r>
            <a:r>
              <a:rPr lang="en-IN" b="0" u="none" strike="noStrike" dirty="0">
                <a:effectLst/>
                <a:latin typeface="Google Sans"/>
              </a:rPr>
              <a:t>) or write a list comprehension.</a:t>
            </a:r>
          </a:p>
          <a:p>
            <a:endParaRPr lang="en-IN" b="0" u="none" strike="noStrike" dirty="0">
              <a:effectLst/>
              <a:latin typeface="Google Sans"/>
            </a:endParaRPr>
          </a:p>
          <a:p>
            <a:r>
              <a:rPr lang="en-IN" b="1" u="none" strike="noStrike" dirty="0">
                <a:effectLst/>
                <a:latin typeface="Google Sans"/>
              </a:rPr>
              <a:t>Avoid unnecessary index tracking</a:t>
            </a:r>
            <a:r>
              <a:rPr lang="en-IN" b="0" u="none" strike="noStrike" dirty="0">
                <a:effectLst/>
                <a:latin typeface="Google Sans"/>
              </a:rPr>
              <a:t>: Do not use </a:t>
            </a:r>
            <a:r>
              <a:rPr lang="en-IN" b="0" u="none" strike="noStrike" dirty="0">
                <a:effectLst/>
                <a:latin typeface="Courier New" panose="02070309020205020404" pitchFamily="49" charset="0"/>
              </a:rPr>
              <a:t>range(</a:t>
            </a:r>
            <a:r>
              <a:rPr lang="en-IN" b="0" u="none" strike="noStrike" dirty="0" err="1">
                <a:effectLst/>
                <a:latin typeface="Courier New" panose="02070309020205020404" pitchFamily="49" charset="0"/>
              </a:rPr>
              <a:t>len</a:t>
            </a:r>
            <a:r>
              <a:rPr lang="en-IN" b="0" u="none" strike="noStrike" dirty="0">
                <a:effectLst/>
                <a:latin typeface="Courier New" panose="02070309020205020404" pitchFamily="49" charset="0"/>
              </a:rPr>
              <a:t>(</a:t>
            </a:r>
            <a:r>
              <a:rPr lang="en-IN" b="0" u="none" strike="noStrike" dirty="0" err="1">
                <a:effectLst/>
                <a:latin typeface="Courier New" panose="02070309020205020404" pitchFamily="49" charset="0"/>
              </a:rPr>
              <a:t>my_list</a:t>
            </a:r>
            <a:r>
              <a:rPr lang="en-IN" b="0" u="none" strike="noStrike" dirty="0">
                <a:effectLst/>
                <a:latin typeface="Courier New" panose="02070309020205020404" pitchFamily="49" charset="0"/>
              </a:rPr>
              <a:t>))</a:t>
            </a:r>
            <a:r>
              <a:rPr lang="en-IN" b="0" u="none" strike="noStrike" dirty="0">
                <a:effectLst/>
                <a:latin typeface="Google Sans"/>
              </a:rPr>
              <a:t> if you only need the items themselves. Standard </a:t>
            </a:r>
            <a:r>
              <a:rPr lang="en-IN" b="0" u="none" strike="noStrike" dirty="0">
                <a:effectLst/>
                <a:latin typeface="Courier New" panose="02070309020205020404" pitchFamily="49" charset="0"/>
              </a:rPr>
              <a:t>for item in </a:t>
            </a:r>
            <a:r>
              <a:rPr lang="en-IN" b="0" u="none" strike="noStrike" dirty="0" err="1">
                <a:effectLst/>
                <a:latin typeface="Courier New" panose="02070309020205020404" pitchFamily="49" charset="0"/>
              </a:rPr>
              <a:t>my_list</a:t>
            </a:r>
            <a:r>
              <a:rPr lang="en-IN" b="0" u="none" strike="noStrike" dirty="0">
                <a:effectLst/>
                <a:latin typeface="Google Sans"/>
              </a:rPr>
              <a:t> is cleaner and runs faster.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651137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4BC40C-3D19-BAC8-BFCF-7C73849449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u="none" strike="noStrike" dirty="0">
                <a:effectLst/>
                <a:latin typeface="Google Sans"/>
              </a:rPr>
              <a:t>1. Direct Iteration (Most Common)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1EB63E-A41C-B1E2-A6E8-A81642EE5C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0" u="none" strike="noStrike" dirty="0">
                <a:effectLst/>
                <a:latin typeface="Google Sans"/>
              </a:rPr>
              <a:t>This is the standard, "Pythonic" approach. It extracts each item automatically in order.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C6D0659-B680-0BB4-6FAC-A83DF848CA8F}"/>
              </a:ext>
            </a:extLst>
          </p:cNvPr>
          <p:cNvSpPr txBox="1"/>
          <p:nvPr/>
        </p:nvSpPr>
        <p:spPr>
          <a:xfrm>
            <a:off x="3048000" y="2828836"/>
            <a:ext cx="9144000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/>
              <a:t>fruits = ("apple", "banana", "cherry")</a:t>
            </a:r>
          </a:p>
          <a:p>
            <a:endParaRPr lang="en-US" sz="3200" dirty="0"/>
          </a:p>
          <a:p>
            <a:r>
              <a:rPr lang="en-US" sz="3200" dirty="0"/>
              <a:t>for fruit in fruits:</a:t>
            </a:r>
          </a:p>
          <a:p>
            <a:r>
              <a:rPr lang="en-US" sz="3200" dirty="0"/>
              <a:t>    print(fruit)</a:t>
            </a:r>
          </a:p>
        </p:txBody>
      </p:sp>
    </p:spTree>
    <p:extLst>
      <p:ext uri="{BB962C8B-B14F-4D97-AF65-F5344CB8AC3E}">
        <p14:creationId xmlns:p14="http://schemas.microsoft.com/office/powerpoint/2010/main" val="426995217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FBD548-A748-4180-DDDA-9B366294D7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u="none" strike="noStrike" dirty="0">
                <a:effectLst/>
                <a:latin typeface="Google Sans"/>
              </a:rPr>
              <a:t>2. Using enumerate() (To Get Item &amp; Index)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9AB75D-8AC3-A44E-4005-D3C3362F83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0" u="none" strike="noStrike" dirty="0">
                <a:effectLst/>
                <a:latin typeface="Google Sans"/>
              </a:rPr>
              <a:t>If you need both the </a:t>
            </a:r>
            <a:r>
              <a:rPr lang="en-IN" b="1" u="none" strike="noStrike" dirty="0">
                <a:effectLst/>
                <a:latin typeface="Google Sans"/>
              </a:rPr>
              <a:t>index</a:t>
            </a:r>
            <a:r>
              <a:rPr lang="en-IN" b="0" u="none" strike="noStrike" dirty="0">
                <a:effectLst/>
                <a:latin typeface="Google Sans"/>
              </a:rPr>
              <a:t> and the </a:t>
            </a:r>
            <a:r>
              <a:rPr lang="en-IN" b="1" u="none" strike="noStrike" dirty="0">
                <a:effectLst/>
                <a:latin typeface="Google Sans"/>
              </a:rPr>
              <a:t>value</a:t>
            </a:r>
            <a:r>
              <a:rPr lang="en-IN" b="0" u="none" strike="noStrike" dirty="0">
                <a:effectLst/>
                <a:latin typeface="Google Sans"/>
              </a:rPr>
              <a:t> of the item simultaneously, wrap your tuple in the built-in Python </a:t>
            </a:r>
            <a:r>
              <a:rPr lang="en-IN" b="0" u="none" strike="noStrike" dirty="0">
                <a:effectLst/>
                <a:latin typeface="Courier New" panose="02070309020205020404" pitchFamily="49" charset="0"/>
              </a:rPr>
              <a:t>enumerate()</a:t>
            </a:r>
            <a:r>
              <a:rPr lang="en-IN" b="0" u="none" strike="noStrike" dirty="0">
                <a:effectLst/>
                <a:latin typeface="Google Sans"/>
              </a:rPr>
              <a:t> function.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54ABDDD-530A-FC6E-AB2D-8DB7E236497C}"/>
              </a:ext>
            </a:extLst>
          </p:cNvPr>
          <p:cNvSpPr txBox="1"/>
          <p:nvPr/>
        </p:nvSpPr>
        <p:spPr>
          <a:xfrm>
            <a:off x="1051560" y="2828836"/>
            <a:ext cx="9387840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/>
              <a:t>fruits = ("apple", "banana", "cherry")</a:t>
            </a:r>
          </a:p>
          <a:p>
            <a:endParaRPr lang="en-US" sz="3200" dirty="0"/>
          </a:p>
          <a:p>
            <a:r>
              <a:rPr lang="en-US" sz="3200" dirty="0"/>
              <a:t>for index, fruit in enumerate(fruits):</a:t>
            </a:r>
          </a:p>
          <a:p>
            <a:r>
              <a:rPr lang="en-US" sz="3200" dirty="0"/>
              <a:t>    print(</a:t>
            </a:r>
            <a:r>
              <a:rPr lang="en-US" sz="3200" dirty="0" err="1"/>
              <a:t>f"Index</a:t>
            </a:r>
            <a:r>
              <a:rPr lang="en-US" sz="3200" dirty="0"/>
              <a:t> {index}: {fruit}")</a:t>
            </a:r>
          </a:p>
        </p:txBody>
      </p:sp>
    </p:spTree>
    <p:extLst>
      <p:ext uri="{BB962C8B-B14F-4D97-AF65-F5344CB8AC3E}">
        <p14:creationId xmlns:p14="http://schemas.microsoft.com/office/powerpoint/2010/main" val="274748648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EB9270-6390-7DAE-2439-5D1D3D6440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u="none" strike="noStrike" dirty="0">
                <a:effectLst/>
                <a:latin typeface="Google Sans"/>
              </a:rPr>
              <a:t>3. Iterating by Index (Using range() and </a:t>
            </a:r>
            <a:r>
              <a:rPr lang="en-IN" b="1" u="none" strike="noStrike" dirty="0" err="1">
                <a:effectLst/>
                <a:latin typeface="Google Sans"/>
              </a:rPr>
              <a:t>len</a:t>
            </a:r>
            <a:r>
              <a:rPr lang="en-IN" b="1" u="none" strike="noStrike" dirty="0">
                <a:effectLst/>
                <a:latin typeface="Google Sans"/>
              </a:rPr>
              <a:t>())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B15DD3-C4F6-7007-98F8-CE33C97182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0" u="none" strike="noStrike" dirty="0">
                <a:effectLst/>
                <a:latin typeface="Google Sans"/>
              </a:rPr>
              <a:t>You can use the index to track position explicitly by combining </a:t>
            </a:r>
            <a:r>
              <a:rPr lang="en-IN" b="0" u="none" strike="noStrike" dirty="0">
                <a:effectLst/>
                <a:latin typeface="Courier New" panose="02070309020205020404" pitchFamily="49" charset="0"/>
              </a:rPr>
              <a:t>range()</a:t>
            </a:r>
            <a:r>
              <a:rPr lang="en-IN" b="0" u="none" strike="noStrike" dirty="0">
                <a:effectLst/>
                <a:latin typeface="Google Sans"/>
              </a:rPr>
              <a:t> and </a:t>
            </a:r>
            <a:r>
              <a:rPr lang="en-IN" b="0" u="none" strike="noStrike" dirty="0" err="1">
                <a:effectLst/>
                <a:latin typeface="Courier New" panose="02070309020205020404" pitchFamily="49" charset="0"/>
              </a:rPr>
              <a:t>len</a:t>
            </a:r>
            <a:r>
              <a:rPr lang="en-IN" b="0" u="none" strike="noStrike" dirty="0">
                <a:effectLst/>
                <a:latin typeface="Courier New" panose="02070309020205020404" pitchFamily="49" charset="0"/>
              </a:rPr>
              <a:t>()</a:t>
            </a:r>
            <a:r>
              <a:rPr lang="en-IN" b="0" u="none" strike="noStrike" dirty="0">
                <a:effectLst/>
                <a:latin typeface="Google Sans"/>
              </a:rPr>
              <a:t>. This technique is useful if you need to manipulate or reference index positions during execution. 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7555B7-B009-1C81-B780-6D515CA77470}"/>
              </a:ext>
            </a:extLst>
          </p:cNvPr>
          <p:cNvSpPr txBox="1"/>
          <p:nvPr/>
        </p:nvSpPr>
        <p:spPr>
          <a:xfrm>
            <a:off x="1173480" y="3667036"/>
            <a:ext cx="10180320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/>
              <a:t>fruits = ("apple", "banana", "cherry")</a:t>
            </a:r>
          </a:p>
          <a:p>
            <a:endParaRPr lang="en-US" sz="3200" dirty="0"/>
          </a:p>
          <a:p>
            <a:r>
              <a:rPr lang="en-US" sz="3200" dirty="0"/>
              <a:t>for </a:t>
            </a:r>
            <a:r>
              <a:rPr lang="en-US" sz="3200" dirty="0" err="1"/>
              <a:t>i</a:t>
            </a:r>
            <a:r>
              <a:rPr lang="en-US" sz="3200" dirty="0"/>
              <a:t> in range(</a:t>
            </a:r>
            <a:r>
              <a:rPr lang="en-US" sz="3200" dirty="0" err="1"/>
              <a:t>len</a:t>
            </a:r>
            <a:r>
              <a:rPr lang="en-US" sz="3200" dirty="0"/>
              <a:t>(fruits)):</a:t>
            </a:r>
          </a:p>
          <a:p>
            <a:r>
              <a:rPr lang="en-US" sz="3200" dirty="0"/>
              <a:t>    print(fruits[</a:t>
            </a:r>
            <a:r>
              <a:rPr lang="en-US" sz="3200" dirty="0" err="1"/>
              <a:t>i</a:t>
            </a:r>
            <a:r>
              <a:rPr lang="en-US" sz="3200" dirty="0"/>
              <a:t>])</a:t>
            </a:r>
          </a:p>
        </p:txBody>
      </p:sp>
    </p:spTree>
    <p:extLst>
      <p:ext uri="{BB962C8B-B14F-4D97-AF65-F5344CB8AC3E}">
        <p14:creationId xmlns:p14="http://schemas.microsoft.com/office/powerpoint/2010/main" val="16137234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966E97-2553-ECBA-41A8-CE6880B8A8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u="none" strike="noStrike" dirty="0">
                <a:effectLst/>
                <a:latin typeface="Google Sans"/>
              </a:rPr>
              <a:t>4. Tuple Unpacking in a Loop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443392-1E57-CA9A-F68C-B456D734B0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0" u="none" strike="noStrike" dirty="0">
                <a:effectLst/>
                <a:latin typeface="Google Sans"/>
              </a:rPr>
              <a:t>When you have a collection of tuples (like a list of tuples) and want to parse the interior data neatly, you can unpack the items directly inside the </a:t>
            </a:r>
            <a:r>
              <a:rPr lang="en-IN" b="0" u="none" strike="noStrike" dirty="0">
                <a:effectLst/>
                <a:latin typeface="Courier New" panose="02070309020205020404" pitchFamily="49" charset="0"/>
              </a:rPr>
              <a:t>for</a:t>
            </a:r>
            <a:r>
              <a:rPr lang="en-IN" b="0" u="none" strike="noStrike" dirty="0">
                <a:effectLst/>
                <a:latin typeface="Google Sans"/>
              </a:rPr>
              <a:t> statement. 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EBA6397-D81E-F497-781B-A132E5D56C56}"/>
              </a:ext>
            </a:extLst>
          </p:cNvPr>
          <p:cNvSpPr txBox="1"/>
          <p:nvPr/>
        </p:nvSpPr>
        <p:spPr>
          <a:xfrm>
            <a:off x="579120" y="3264912"/>
            <a:ext cx="1103376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/>
              <a:t># A list containing data structured inside tuples</a:t>
            </a:r>
          </a:p>
          <a:p>
            <a:r>
              <a:rPr lang="en-US" sz="3200" dirty="0" err="1"/>
              <a:t>user_data</a:t>
            </a:r>
            <a:r>
              <a:rPr lang="en-US" sz="3200" dirty="0"/>
              <a:t> = [("Alice", 25), ("Bob", 30), ("Charlie", 22)]</a:t>
            </a:r>
          </a:p>
          <a:p>
            <a:endParaRPr lang="en-US" sz="3200" dirty="0"/>
          </a:p>
          <a:p>
            <a:r>
              <a:rPr lang="en-US" sz="3200" dirty="0"/>
              <a:t># Unpacking elements straight into descriptive variables</a:t>
            </a:r>
          </a:p>
          <a:p>
            <a:r>
              <a:rPr lang="en-US" sz="3200" dirty="0"/>
              <a:t>for name, age in </a:t>
            </a:r>
            <a:r>
              <a:rPr lang="en-US" sz="3200" dirty="0" err="1"/>
              <a:t>user_data</a:t>
            </a:r>
            <a:r>
              <a:rPr lang="en-US" sz="3200" dirty="0"/>
              <a:t>:</a:t>
            </a:r>
          </a:p>
          <a:p>
            <a:r>
              <a:rPr lang="en-US" sz="3200" dirty="0"/>
              <a:t>    print(</a:t>
            </a:r>
            <a:r>
              <a:rPr lang="en-US" sz="3200" dirty="0" err="1"/>
              <a:t>f"Name</a:t>
            </a:r>
            <a:r>
              <a:rPr lang="en-US" sz="3200" dirty="0"/>
              <a:t>: {name}, Age: {age}")</a:t>
            </a:r>
          </a:p>
        </p:txBody>
      </p:sp>
    </p:spTree>
    <p:extLst>
      <p:ext uri="{BB962C8B-B14F-4D97-AF65-F5344CB8AC3E}">
        <p14:creationId xmlns:p14="http://schemas.microsoft.com/office/powerpoint/2010/main" val="202627933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6F230C-0AC2-7461-2A5C-D7FF8D3549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u="none" strike="noStrike" dirty="0">
                <a:effectLst/>
                <a:latin typeface="Google Sans"/>
              </a:rPr>
              <a:t>5. Using a while Loop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76115B-14CF-7F07-C4D4-2A503EB117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0" u="none" strike="noStrike" dirty="0">
                <a:effectLst/>
                <a:latin typeface="Google Sans"/>
              </a:rPr>
              <a:t>Though less common than </a:t>
            </a:r>
            <a:r>
              <a:rPr lang="en-IN" b="0" u="none" strike="noStrike" dirty="0">
                <a:effectLst/>
                <a:latin typeface="Courier New" panose="02070309020205020404" pitchFamily="49" charset="0"/>
              </a:rPr>
              <a:t>for</a:t>
            </a:r>
            <a:r>
              <a:rPr lang="en-IN" b="0" u="none" strike="noStrike" dirty="0">
                <a:effectLst/>
                <a:latin typeface="Google Sans"/>
              </a:rPr>
              <a:t> loops, you can employ a </a:t>
            </a:r>
            <a:r>
              <a:rPr lang="en-IN" b="0" u="none" strike="noStrike" dirty="0">
                <a:effectLst/>
                <a:latin typeface="Courier New" panose="02070309020205020404" pitchFamily="49" charset="0"/>
              </a:rPr>
              <a:t>while</a:t>
            </a:r>
            <a:r>
              <a:rPr lang="en-IN" b="0" u="none" strike="noStrike" dirty="0">
                <a:effectLst/>
                <a:latin typeface="Google Sans"/>
              </a:rPr>
              <a:t> loop. It requires manual setup and incrementing of a counter variable. 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CC12A3B-76F0-5811-E87C-7BD7F957EF79}"/>
              </a:ext>
            </a:extLst>
          </p:cNvPr>
          <p:cNvSpPr txBox="1"/>
          <p:nvPr/>
        </p:nvSpPr>
        <p:spPr>
          <a:xfrm>
            <a:off x="975360" y="3445887"/>
            <a:ext cx="1024128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/>
              <a:t>fruits = ("apple", "banana", "cherry")</a:t>
            </a:r>
          </a:p>
          <a:p>
            <a:r>
              <a:rPr lang="en-US" sz="3200" dirty="0"/>
              <a:t>index = 0</a:t>
            </a:r>
          </a:p>
          <a:p>
            <a:endParaRPr lang="en-US" sz="3200" dirty="0"/>
          </a:p>
          <a:p>
            <a:r>
              <a:rPr lang="en-US" sz="3200" dirty="0"/>
              <a:t>while index &lt; </a:t>
            </a:r>
            <a:r>
              <a:rPr lang="en-US" sz="3200" dirty="0" err="1"/>
              <a:t>len</a:t>
            </a:r>
            <a:r>
              <a:rPr lang="en-US" sz="3200" dirty="0"/>
              <a:t>(fruits):</a:t>
            </a:r>
          </a:p>
          <a:p>
            <a:r>
              <a:rPr lang="en-US" sz="3200" dirty="0"/>
              <a:t>    print(fruits[index])</a:t>
            </a:r>
          </a:p>
          <a:p>
            <a:r>
              <a:rPr lang="en-US" sz="3200" dirty="0"/>
              <a:t>    index += 1</a:t>
            </a:r>
          </a:p>
        </p:txBody>
      </p:sp>
    </p:spTree>
    <p:extLst>
      <p:ext uri="{BB962C8B-B14F-4D97-AF65-F5344CB8AC3E}">
        <p14:creationId xmlns:p14="http://schemas.microsoft.com/office/powerpoint/2010/main" val="442196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385F37-C3D8-1FB0-F168-60F143D86A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 iteration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2CA23B-9802-3D15-F625-0994E9FE1F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tags = {"python", "coding", "data"}</a:t>
            </a:r>
          </a:p>
          <a:p>
            <a:pPr marL="0" indent="0">
              <a:buNone/>
            </a:pPr>
            <a:r>
              <a:rPr lang="en-US" dirty="0"/>
              <a:t>for tag in tags:</a:t>
            </a:r>
          </a:p>
          <a:p>
            <a:pPr marL="0" indent="0">
              <a:buNone/>
            </a:pPr>
            <a:r>
              <a:rPr lang="en-US" dirty="0"/>
              <a:t>    print(tag)</a:t>
            </a:r>
          </a:p>
          <a:p>
            <a:endParaRPr lang="en-US" dirty="0"/>
          </a:p>
          <a:p>
            <a:pPr marL="0" indent="0">
              <a:buNone/>
            </a:pPr>
            <a:r>
              <a:rPr lang="en-IN" b="1" u="none" strike="noStrike" dirty="0">
                <a:effectLst/>
                <a:latin typeface="Google Sans"/>
              </a:rPr>
              <a:t>4 Common Ways to Iterate a Set</a:t>
            </a:r>
          </a:p>
          <a:p>
            <a:r>
              <a:rPr lang="en-IN" b="1" u="none" strike="noStrike" dirty="0">
                <a:effectLst/>
                <a:latin typeface="Google Sans"/>
              </a:rPr>
              <a:t>Standard Loop</a:t>
            </a:r>
            <a:r>
              <a:rPr lang="en-IN" b="0" u="none" strike="noStrike" dirty="0">
                <a:effectLst/>
                <a:latin typeface="Google Sans"/>
              </a:rPr>
              <a:t>: Traverses each item directly.</a:t>
            </a:r>
          </a:p>
          <a:p>
            <a:r>
              <a:rPr lang="en-IN" b="1" u="none" strike="noStrike" dirty="0">
                <a:effectLst/>
                <a:latin typeface="Google Sans"/>
              </a:rPr>
              <a:t>Enumerated Loop</a:t>
            </a:r>
            <a:r>
              <a:rPr lang="en-IN" b="0" u="none" strike="noStrike" dirty="0">
                <a:effectLst/>
                <a:latin typeface="Google Sans"/>
              </a:rPr>
              <a:t>: Generates a temporary index counter alongside each item using enumerate().</a:t>
            </a:r>
          </a:p>
          <a:p>
            <a:r>
              <a:rPr lang="en-IN" b="1" u="none" strike="noStrike" dirty="0">
                <a:effectLst/>
                <a:latin typeface="Google Sans"/>
              </a:rPr>
              <a:t>Set Comprehension</a:t>
            </a:r>
            <a:r>
              <a:rPr lang="en-IN" b="0" u="none" strike="noStrike" dirty="0">
                <a:effectLst/>
                <a:latin typeface="Google Sans"/>
              </a:rPr>
              <a:t>: Modifies and filters items into a brand-new set inline.</a:t>
            </a:r>
          </a:p>
          <a:p>
            <a:r>
              <a:rPr lang="en-IN" b="1" u="none" strike="noStrike" dirty="0">
                <a:effectLst/>
                <a:latin typeface="Google Sans"/>
              </a:rPr>
              <a:t>Sorted Iteration</a:t>
            </a:r>
            <a:r>
              <a:rPr lang="en-IN" b="0" u="none" strike="noStrike" dirty="0">
                <a:effectLst/>
                <a:latin typeface="Google Sans"/>
              </a:rPr>
              <a:t>: Orders the elements dynamically during the loop using sorted().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74841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65348D-DEEE-E2C8-0E7E-21F24D69B3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u="none" strike="noStrike" dirty="0">
                <a:effectLst/>
                <a:latin typeface="Google Sans"/>
              </a:rPr>
              <a:t>1. Tracking Index with enumerate()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111B86-0009-53AA-1A6D-3337D76E35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0" u="none" strike="noStrike" dirty="0">
                <a:effectLst/>
                <a:latin typeface="Google Sans"/>
              </a:rPr>
              <a:t>Since sets lack index numbering, use </a:t>
            </a:r>
            <a:r>
              <a:rPr lang="en-IN" b="0" u="none" strike="noStrike" dirty="0">
                <a:effectLst/>
                <a:latin typeface="Courier New" panose="02070309020205020404" pitchFamily="49" charset="0"/>
              </a:rPr>
              <a:t>enumerate()</a:t>
            </a:r>
            <a:r>
              <a:rPr lang="en-IN" b="0" u="none" strike="noStrike" dirty="0">
                <a:effectLst/>
                <a:latin typeface="Google Sans"/>
              </a:rPr>
              <a:t> if you need a running counter. 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8CA1925-600C-1CE3-1FC1-055F44A9ADC1}"/>
              </a:ext>
            </a:extLst>
          </p:cNvPr>
          <p:cNvSpPr txBox="1"/>
          <p:nvPr/>
        </p:nvSpPr>
        <p:spPr>
          <a:xfrm>
            <a:off x="3048000" y="2828836"/>
            <a:ext cx="8305800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/>
              <a:t>fruits = {"apple", "banana", "cherry"}</a:t>
            </a:r>
          </a:p>
          <a:p>
            <a:endParaRPr lang="en-US" sz="3200" dirty="0"/>
          </a:p>
          <a:p>
            <a:r>
              <a:rPr lang="en-US" sz="3200" dirty="0"/>
              <a:t>for index, fruit in enumerate(fruits):</a:t>
            </a:r>
          </a:p>
          <a:p>
            <a:r>
              <a:rPr lang="en-US" sz="3200" dirty="0"/>
              <a:t>    print(f"{index}: {fruit}")</a:t>
            </a:r>
          </a:p>
        </p:txBody>
      </p:sp>
    </p:spTree>
    <p:extLst>
      <p:ext uri="{BB962C8B-B14F-4D97-AF65-F5344CB8AC3E}">
        <p14:creationId xmlns:p14="http://schemas.microsoft.com/office/powerpoint/2010/main" val="86059492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EC2548-DB5F-78B5-F9AF-ADAF3A1FE5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u="none" strike="noStrike" dirty="0">
                <a:effectLst/>
                <a:latin typeface="Google Sans"/>
              </a:rPr>
              <a:t>2. Sorting During Iteration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2A5656-4318-0677-83FD-EA45ADC1EC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0" u="none" strike="noStrike" dirty="0">
                <a:effectLst/>
                <a:latin typeface="Google Sans"/>
              </a:rPr>
              <a:t>To loop through a set in a reliable, alphabetical, or numerical sequence, pass the set into </a:t>
            </a:r>
            <a:r>
              <a:rPr lang="en-IN" b="0" u="none" strike="noStrike" dirty="0">
                <a:effectLst/>
                <a:latin typeface="Courier New" panose="02070309020205020404" pitchFamily="49" charset="0"/>
              </a:rPr>
              <a:t>sorted()</a:t>
            </a:r>
            <a:r>
              <a:rPr lang="en-IN" b="0" u="none" strike="noStrike" dirty="0">
                <a:effectLst/>
                <a:latin typeface="Google Sans"/>
              </a:rPr>
              <a:t>. This temporary transformation does not alter the original unordered set. 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BDD87E5-69E6-0758-A851-7D3924434140}"/>
              </a:ext>
            </a:extLst>
          </p:cNvPr>
          <p:cNvSpPr txBox="1"/>
          <p:nvPr/>
        </p:nvSpPr>
        <p:spPr>
          <a:xfrm>
            <a:off x="1280160" y="4001294"/>
            <a:ext cx="786384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numbers = {42, 7, 19, 100}</a:t>
            </a:r>
          </a:p>
          <a:p>
            <a:endParaRPr lang="en-US" sz="2800" dirty="0"/>
          </a:p>
          <a:p>
            <a:r>
              <a:rPr lang="en-US" sz="2800" dirty="0"/>
              <a:t>for num in sorted(numbers):</a:t>
            </a:r>
          </a:p>
          <a:p>
            <a:r>
              <a:rPr lang="en-US" sz="2800" dirty="0"/>
              <a:t>    print(num)</a:t>
            </a:r>
          </a:p>
        </p:txBody>
      </p:sp>
    </p:spTree>
    <p:extLst>
      <p:ext uri="{BB962C8B-B14F-4D97-AF65-F5344CB8AC3E}">
        <p14:creationId xmlns:p14="http://schemas.microsoft.com/office/powerpoint/2010/main" val="214574321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94331B-4251-B3EC-5FBF-D76EAB43DD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u="none" strike="noStrike" dirty="0">
                <a:effectLst/>
                <a:latin typeface="Google Sans"/>
              </a:rPr>
              <a:t>3. Inline Set Comprehension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CD3548-E9FE-8C7E-04E3-B47C7CBBCB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0" u="none" strike="noStrike" dirty="0">
                <a:effectLst/>
                <a:latin typeface="Google Sans"/>
              </a:rPr>
              <a:t>Transform your set values into a new set using an inline comprehension block.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0F2C21-B00A-979F-685C-6C02D27F3625}"/>
              </a:ext>
            </a:extLst>
          </p:cNvPr>
          <p:cNvSpPr txBox="1"/>
          <p:nvPr/>
        </p:nvSpPr>
        <p:spPr>
          <a:xfrm>
            <a:off x="1158240" y="2828836"/>
            <a:ext cx="9448800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/>
              <a:t>numbers = {1, 2, 3, 4}</a:t>
            </a:r>
          </a:p>
          <a:p>
            <a:endParaRPr lang="en-US" sz="3200" dirty="0"/>
          </a:p>
          <a:p>
            <a:r>
              <a:rPr lang="en-US" sz="3200" dirty="0"/>
              <a:t># Squares each number to output {1, 4, 9, 16}</a:t>
            </a:r>
          </a:p>
          <a:p>
            <a:r>
              <a:rPr lang="en-US" sz="3200" dirty="0"/>
              <a:t>squared = {x**2 for x in numbers} </a:t>
            </a:r>
          </a:p>
        </p:txBody>
      </p:sp>
    </p:spTree>
    <p:extLst>
      <p:ext uri="{BB962C8B-B14F-4D97-AF65-F5344CB8AC3E}">
        <p14:creationId xmlns:p14="http://schemas.microsoft.com/office/powerpoint/2010/main" val="3321624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688E2D-E234-E1EE-5B85-C5622F90A5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u="none" strike="noStrike" dirty="0">
                <a:effectLst/>
                <a:latin typeface="Google Sans"/>
              </a:rPr>
              <a:t>Important Safety Rule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5A6B18-6272-FFEB-0D88-89CD678703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0" u="none" strike="noStrike" dirty="0">
                <a:effectLst/>
                <a:latin typeface="Google Sans"/>
              </a:rPr>
              <a:t>⚠️ </a:t>
            </a:r>
            <a:r>
              <a:rPr lang="en-IN" b="1" u="none" strike="noStrike" dirty="0">
                <a:effectLst/>
                <a:latin typeface="Google Sans"/>
              </a:rPr>
              <a:t>Never add or remove items from a set while looping directly over it.</a:t>
            </a:r>
            <a:r>
              <a:rPr lang="en-IN" b="0" u="none" strike="noStrike" dirty="0">
                <a:effectLst/>
                <a:latin typeface="Google Sans"/>
              </a:rPr>
              <a:t> Modifying a set during its own iteration triggers a </a:t>
            </a:r>
            <a:r>
              <a:rPr lang="en-IN" b="0" u="none" strike="noStrike" dirty="0" err="1">
                <a:effectLst/>
                <a:latin typeface="Google Sans"/>
              </a:rPr>
              <a:t>RuntimeError</a:t>
            </a:r>
            <a:r>
              <a:rPr lang="en-IN" b="0" u="none" strike="noStrike" dirty="0">
                <a:effectLst/>
                <a:latin typeface="Google Sans"/>
              </a:rPr>
              <a:t>: Set size changed during iteration. </a:t>
            </a:r>
          </a:p>
          <a:p>
            <a:r>
              <a:rPr lang="en-IN" b="0" u="none" strike="noStrike" dirty="0">
                <a:effectLst/>
                <a:latin typeface="Google Sans"/>
              </a:rPr>
              <a:t>If you must remove items based on a condition, iterate over a temporary copy instead: 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B585721-0E4B-43A8-9637-F9FFA8C28967}"/>
              </a:ext>
            </a:extLst>
          </p:cNvPr>
          <p:cNvSpPr txBox="1"/>
          <p:nvPr/>
        </p:nvSpPr>
        <p:spPr>
          <a:xfrm>
            <a:off x="1203960" y="4001294"/>
            <a:ext cx="1014984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items = {"clean", "dirty", "old", "dirty"}</a:t>
            </a:r>
          </a:p>
          <a:p>
            <a:endParaRPr lang="en-US" sz="2800" dirty="0"/>
          </a:p>
          <a:p>
            <a:r>
              <a:rPr lang="en-US" sz="2800" dirty="0"/>
              <a:t># Loop over a copy to safely mutate the original set</a:t>
            </a:r>
          </a:p>
          <a:p>
            <a:r>
              <a:rPr lang="en-US" sz="2800" dirty="0"/>
              <a:t>for item in </a:t>
            </a:r>
            <a:r>
              <a:rPr lang="en-US" sz="2800" dirty="0" err="1"/>
              <a:t>items.copy</a:t>
            </a:r>
            <a:r>
              <a:rPr lang="en-US" sz="2800" dirty="0"/>
              <a:t>():</a:t>
            </a:r>
          </a:p>
          <a:p>
            <a:r>
              <a:rPr lang="en-US" sz="2800" dirty="0"/>
              <a:t>    if item == "dirty":</a:t>
            </a:r>
          </a:p>
          <a:p>
            <a:r>
              <a:rPr lang="en-US" sz="2800" dirty="0"/>
              <a:t>        </a:t>
            </a:r>
            <a:r>
              <a:rPr lang="en-US" sz="2800" dirty="0" err="1"/>
              <a:t>items.remove</a:t>
            </a:r>
            <a:r>
              <a:rPr lang="en-US" sz="2800" dirty="0"/>
              <a:t>(item)</a:t>
            </a:r>
          </a:p>
        </p:txBody>
      </p:sp>
    </p:spTree>
    <p:extLst>
      <p:ext uri="{BB962C8B-B14F-4D97-AF65-F5344CB8AC3E}">
        <p14:creationId xmlns:p14="http://schemas.microsoft.com/office/powerpoint/2010/main" val="228559319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996A5D-12B8-9CC9-7F86-875ED5E3B0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Dictionary iteration in python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AA906A-E565-6F2E-A287-8853B0A45F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u="none" strike="noStrike" dirty="0">
                <a:effectLst/>
                <a:latin typeface="Google Sans"/>
              </a:rPr>
              <a:t>1. Both Keys and Values (Recommended)</a:t>
            </a:r>
          </a:p>
          <a:p>
            <a:r>
              <a:rPr lang="en-IN" b="0" u="none" strike="noStrike" dirty="0">
                <a:effectLst/>
                <a:latin typeface="Google Sans"/>
              </a:rPr>
              <a:t>Use </a:t>
            </a:r>
            <a:r>
              <a:rPr lang="en-IN" b="0" u="none" strike="noStrike" dirty="0">
                <a:effectLst/>
                <a:latin typeface="Courier New" panose="02070309020205020404" pitchFamily="49" charset="0"/>
              </a:rPr>
              <a:t>.items()</a:t>
            </a:r>
            <a:r>
              <a:rPr lang="en-IN" b="0" u="none" strike="noStrike" dirty="0">
                <a:effectLst/>
                <a:latin typeface="Google Sans"/>
              </a:rPr>
              <a:t> to fetch the key and value together in every loop cycle. 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17BB7AE-DF2A-88CF-DAE1-0D3A66E95268}"/>
              </a:ext>
            </a:extLst>
          </p:cNvPr>
          <p:cNvSpPr txBox="1"/>
          <p:nvPr/>
        </p:nvSpPr>
        <p:spPr>
          <a:xfrm>
            <a:off x="975360" y="4001294"/>
            <a:ext cx="963168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 err="1"/>
              <a:t>user_scores</a:t>
            </a:r>
            <a:r>
              <a:rPr lang="en-US" sz="2800" dirty="0"/>
              <a:t> = {"Alice": 95, "Bob": 88, "Charlie": 92}</a:t>
            </a:r>
          </a:p>
          <a:p>
            <a:endParaRPr lang="en-US" sz="2800" dirty="0"/>
          </a:p>
          <a:p>
            <a:r>
              <a:rPr lang="en-US" sz="2800" dirty="0"/>
              <a:t>for name, score in </a:t>
            </a:r>
            <a:r>
              <a:rPr lang="en-US" sz="2800" dirty="0" err="1"/>
              <a:t>user_scores.items</a:t>
            </a:r>
            <a:r>
              <a:rPr lang="en-US" sz="2800" dirty="0"/>
              <a:t>():</a:t>
            </a:r>
          </a:p>
          <a:p>
            <a:r>
              <a:rPr lang="en-US" sz="2800" dirty="0"/>
              <a:t>    print(f"{name} scored {score}")</a:t>
            </a:r>
          </a:p>
        </p:txBody>
      </p:sp>
    </p:spTree>
    <p:extLst>
      <p:ext uri="{BB962C8B-B14F-4D97-AF65-F5344CB8AC3E}">
        <p14:creationId xmlns:p14="http://schemas.microsoft.com/office/powerpoint/2010/main" val="168646645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D355E4-7ED0-03AA-2A26-A8E05604B9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u="none" strike="noStrike" dirty="0">
                <a:effectLst/>
                <a:latin typeface="Google Sans"/>
              </a:rPr>
              <a:t>2. Keys Only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83E390-E55C-D196-2396-E95D064B83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0" u="none" strike="noStrike" dirty="0">
                <a:effectLst/>
                <a:latin typeface="Google Sans"/>
              </a:rPr>
              <a:t>Iterating directly over the dictionary name yields its keys automatically. This is faster and cleaner than calling .keys()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1DDC6C-F333-19E3-7F18-19542921DE3A}"/>
              </a:ext>
            </a:extLst>
          </p:cNvPr>
          <p:cNvSpPr txBox="1"/>
          <p:nvPr/>
        </p:nvSpPr>
        <p:spPr>
          <a:xfrm>
            <a:off x="1097280" y="3190578"/>
            <a:ext cx="10363200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/>
              <a:t># Direct iteration (Preferred)</a:t>
            </a:r>
          </a:p>
          <a:p>
            <a:r>
              <a:rPr lang="en-US" sz="3200" dirty="0"/>
              <a:t>for name in </a:t>
            </a:r>
            <a:r>
              <a:rPr lang="en-US" sz="3200" dirty="0" err="1"/>
              <a:t>user_scores</a:t>
            </a:r>
            <a:r>
              <a:rPr lang="en-US" sz="3200" dirty="0"/>
              <a:t>:</a:t>
            </a:r>
          </a:p>
          <a:p>
            <a:r>
              <a:rPr lang="en-US" sz="3200" dirty="0"/>
              <a:t>    print(name)</a:t>
            </a:r>
          </a:p>
          <a:p>
            <a:endParaRPr lang="en-US" sz="3200" dirty="0"/>
          </a:p>
          <a:p>
            <a:r>
              <a:rPr lang="en-US" sz="3200" dirty="0"/>
              <a:t># Explicit iteration using .keys()</a:t>
            </a:r>
          </a:p>
          <a:p>
            <a:r>
              <a:rPr lang="en-US" sz="3200" dirty="0"/>
              <a:t>for name in </a:t>
            </a:r>
            <a:r>
              <a:rPr lang="en-US" sz="3200" dirty="0" err="1"/>
              <a:t>user_scores.keys</a:t>
            </a:r>
            <a:r>
              <a:rPr lang="en-US" sz="3200" dirty="0"/>
              <a:t>():</a:t>
            </a:r>
          </a:p>
          <a:p>
            <a:r>
              <a:rPr lang="en-US" sz="3200" dirty="0"/>
              <a:t>    print(name)</a:t>
            </a:r>
          </a:p>
        </p:txBody>
      </p:sp>
    </p:spTree>
    <p:extLst>
      <p:ext uri="{BB962C8B-B14F-4D97-AF65-F5344CB8AC3E}">
        <p14:creationId xmlns:p14="http://schemas.microsoft.com/office/powerpoint/2010/main" val="377925095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0049E4-6A2A-7EFE-D759-23AA1D21C5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u="none" strike="noStrike" dirty="0">
                <a:effectLst/>
                <a:latin typeface="Google Sans"/>
              </a:rPr>
              <a:t>3. Values Only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BCEB22-6F79-AFE8-387F-36D8ECA896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0" u="none" strike="noStrike" dirty="0">
                <a:effectLst/>
                <a:latin typeface="Google Sans"/>
              </a:rPr>
              <a:t>Use </a:t>
            </a:r>
            <a:r>
              <a:rPr lang="en-IN" b="0" u="none" strike="noStrike" dirty="0">
                <a:effectLst/>
                <a:latin typeface="Courier New" panose="02070309020205020404" pitchFamily="49" charset="0"/>
              </a:rPr>
              <a:t>.values()</a:t>
            </a:r>
            <a:r>
              <a:rPr lang="en-IN" b="0" u="none" strike="noStrike" dirty="0">
                <a:effectLst/>
                <a:latin typeface="Google Sans"/>
              </a:rPr>
              <a:t> if you only need the data and do not care about the associated keys. []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85388FD-7F40-5536-6F1A-0A7F38EFD42D}"/>
              </a:ext>
            </a:extLst>
          </p:cNvPr>
          <p:cNvSpPr txBox="1"/>
          <p:nvPr/>
        </p:nvSpPr>
        <p:spPr>
          <a:xfrm>
            <a:off x="1005840" y="3105835"/>
            <a:ext cx="813816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/>
              <a:t>for score in </a:t>
            </a:r>
            <a:r>
              <a:rPr lang="en-US" sz="3200" dirty="0" err="1"/>
              <a:t>user_scores.values</a:t>
            </a:r>
            <a:r>
              <a:rPr lang="en-US" sz="3200" dirty="0"/>
              <a:t>():</a:t>
            </a:r>
          </a:p>
          <a:p>
            <a:r>
              <a:rPr lang="en-US" sz="3200" dirty="0"/>
              <a:t>    print(score)</a:t>
            </a:r>
          </a:p>
        </p:txBody>
      </p:sp>
    </p:spTree>
    <p:extLst>
      <p:ext uri="{BB962C8B-B14F-4D97-AF65-F5344CB8AC3E}">
        <p14:creationId xmlns:p14="http://schemas.microsoft.com/office/powerpoint/2010/main" val="346163075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E7AA32-7771-48DA-CBA6-5C697EC27E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u="none" strike="noStrike" dirty="0">
                <a:effectLst/>
                <a:latin typeface="Google Sans"/>
              </a:rPr>
              <a:t>4. Getting an Index Counter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E375DD-2547-005B-0AF2-7138CBE1BE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0" u="none" strike="noStrike" dirty="0">
                <a:effectLst/>
                <a:latin typeface="Google Sans"/>
              </a:rPr>
              <a:t>If you need a numerical loop index along with your data, wrap .items() inside Python's built-in enumerate() function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6B9332F-D20D-34AD-CCFE-037BDD9D9E7D}"/>
              </a:ext>
            </a:extLst>
          </p:cNvPr>
          <p:cNvSpPr txBox="1"/>
          <p:nvPr/>
        </p:nvSpPr>
        <p:spPr>
          <a:xfrm>
            <a:off x="838200" y="2967335"/>
            <a:ext cx="947928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/>
              <a:t>for index, (name, score) in enumerate(</a:t>
            </a:r>
            <a:r>
              <a:rPr lang="en-US" sz="3200" dirty="0" err="1"/>
              <a:t>user_scores.items</a:t>
            </a:r>
            <a:r>
              <a:rPr lang="en-US" sz="3200" dirty="0"/>
              <a:t>(), start=1):</a:t>
            </a:r>
          </a:p>
          <a:p>
            <a:r>
              <a:rPr lang="en-US" sz="3200" dirty="0"/>
              <a:t>    print(</a:t>
            </a:r>
            <a:r>
              <a:rPr lang="en-US" sz="3200" dirty="0" err="1"/>
              <a:t>f"Rank</a:t>
            </a:r>
            <a:r>
              <a:rPr lang="en-US" sz="3200" dirty="0"/>
              <a:t> {index}: {name} has {score} points")</a:t>
            </a:r>
          </a:p>
        </p:txBody>
      </p:sp>
    </p:spTree>
    <p:extLst>
      <p:ext uri="{BB962C8B-B14F-4D97-AF65-F5344CB8AC3E}">
        <p14:creationId xmlns:p14="http://schemas.microsoft.com/office/powerpoint/2010/main" val="137314314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92B590-97C8-1CB3-01A7-218914F506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u="none" strike="noStrike" dirty="0">
                <a:effectLst/>
                <a:latin typeface="Google Sans"/>
              </a:rPr>
              <a:t>Performance &amp; </a:t>
            </a:r>
            <a:r>
              <a:rPr lang="en-IN" b="1" u="none" strike="noStrike" dirty="0" err="1">
                <a:effectLst/>
                <a:latin typeface="Google Sans"/>
              </a:rPr>
              <a:t>Behavior</a:t>
            </a:r>
            <a:r>
              <a:rPr lang="en-IN" b="1" u="none" strike="noStrike" dirty="0">
                <a:effectLst/>
                <a:latin typeface="Google Sans"/>
              </a:rPr>
              <a:t> Notes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A4DA50-6972-60A0-FCD9-33F5E896AF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u="none" strike="noStrike" dirty="0">
                <a:effectLst/>
                <a:latin typeface="Google Sans"/>
              </a:rPr>
              <a:t>Insertion Order</a:t>
            </a:r>
            <a:r>
              <a:rPr lang="en-IN" b="0" u="none" strike="noStrike" dirty="0">
                <a:effectLst/>
                <a:latin typeface="Google Sans"/>
              </a:rPr>
              <a:t>: Since Python 3.7, dictionaries preserve the exact order in which items are inserted. Your loops will always run chronological to </a:t>
            </a:r>
            <a:r>
              <a:rPr lang="en-IN" b="0" u="none" strike="noStrike">
                <a:effectLst/>
                <a:latin typeface="Google Sans"/>
              </a:rPr>
              <a:t>insertion.</a:t>
            </a:r>
          </a:p>
          <a:p>
            <a:endParaRPr lang="en-IN" b="0" u="none" strike="noStrike" dirty="0">
              <a:effectLst/>
              <a:latin typeface="Google Sans"/>
            </a:endParaRPr>
          </a:p>
          <a:p>
            <a:r>
              <a:rPr lang="en-IN" b="1" u="none" strike="noStrike" dirty="0">
                <a:effectLst/>
                <a:latin typeface="Google Sans"/>
              </a:rPr>
              <a:t>Modifications</a:t>
            </a:r>
            <a:r>
              <a:rPr lang="en-IN" b="0" u="none" strike="noStrike" dirty="0">
                <a:effectLst/>
                <a:latin typeface="Google Sans"/>
              </a:rPr>
              <a:t>: Never add or remove keys from a dictionary while iterating over it, or Python will raise a </a:t>
            </a:r>
            <a:r>
              <a:rPr lang="en-IN" b="0" u="none" strike="noStrike" dirty="0" err="1">
                <a:effectLst/>
                <a:latin typeface="Courier New" panose="02070309020205020404" pitchFamily="49" charset="0"/>
              </a:rPr>
              <a:t>RuntimeError</a:t>
            </a:r>
            <a:r>
              <a:rPr lang="en-IN" b="0" u="none" strike="noStrike" dirty="0">
                <a:effectLst/>
                <a:latin typeface="Google Sans"/>
              </a:rPr>
              <a:t>. If you must alter the size of the dictionary, iterate over a copy instead (e.g., </a:t>
            </a:r>
            <a:r>
              <a:rPr lang="en-IN" b="0" u="none" strike="noStrike" dirty="0">
                <a:effectLst/>
                <a:latin typeface="Courier New" panose="02070309020205020404" pitchFamily="49" charset="0"/>
              </a:rPr>
              <a:t>for key in list(</a:t>
            </a:r>
            <a:r>
              <a:rPr lang="en-IN" b="0" u="none" strike="noStrike" dirty="0" err="1">
                <a:effectLst/>
                <a:latin typeface="Courier New" panose="02070309020205020404" pitchFamily="49" charset="0"/>
              </a:rPr>
              <a:t>user_scores</a:t>
            </a:r>
            <a:r>
              <a:rPr lang="en-IN" b="0" u="none" strike="noStrike" dirty="0">
                <a:effectLst/>
                <a:latin typeface="Courier New" panose="02070309020205020404" pitchFamily="49" charset="0"/>
              </a:rPr>
              <a:t>):</a:t>
            </a:r>
            <a:r>
              <a:rPr lang="en-IN" b="0" u="none" strike="noStrike" dirty="0">
                <a:effectLst/>
                <a:latin typeface="Google Sans"/>
              </a:rPr>
              <a:t>).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58141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2369</TotalTime>
  <Words>2821</Words>
  <Application>Microsoft Macintosh PowerPoint</Application>
  <PresentationFormat>Widescreen</PresentationFormat>
  <Paragraphs>250</Paragraphs>
  <Slides>39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5" baseType="lpstr">
      <vt:lpstr>Aptos</vt:lpstr>
      <vt:lpstr>Aptos Display</vt:lpstr>
      <vt:lpstr>Arial</vt:lpstr>
      <vt:lpstr>Courier New</vt:lpstr>
      <vt:lpstr>Google Sans</vt:lpstr>
      <vt:lpstr>Office Theme</vt:lpstr>
      <vt:lpstr>PythonDS-07 Flow Controls</vt:lpstr>
      <vt:lpstr>Control Flow in Python</vt:lpstr>
      <vt:lpstr>1. Conditional Statements</vt:lpstr>
      <vt:lpstr>PowerPoint Presentation</vt:lpstr>
      <vt:lpstr>2. Looping and Iteration</vt:lpstr>
      <vt:lpstr>PowerPoint Presentation</vt:lpstr>
      <vt:lpstr>3. Loop Control Statements</vt:lpstr>
      <vt:lpstr>PowerPoint Presentation</vt:lpstr>
      <vt:lpstr>4. Structural Pattern Matching</vt:lpstr>
      <vt:lpstr>PowerPoint Presentation</vt:lpstr>
      <vt:lpstr>PowerPoint Presentation</vt:lpstr>
      <vt:lpstr>PowerPoint Presentation</vt:lpstr>
      <vt:lpstr>Direct Character Iteration</vt:lpstr>
      <vt:lpstr>Methods for Iterating Strings</vt:lpstr>
      <vt:lpstr>Get Index and Character Simultaneously [1]</vt:lpstr>
      <vt:lpstr>Iterate in Reverse</vt:lpstr>
      <vt:lpstr>Iterate Over Words Instead of Characters </vt:lpstr>
      <vt:lpstr>Iteration to Collection Datatypes</vt:lpstr>
      <vt:lpstr>1. Get Elements with their Index (enumerate)</vt:lpstr>
      <vt:lpstr>2. Generate a Transformed List (List Comprehension)</vt:lpstr>
      <vt:lpstr>3. Loop by Index Range (range &amp; len)</vt:lpstr>
      <vt:lpstr>4. Loop Through Multiple Lists Together (zip)</vt:lpstr>
      <vt:lpstr>5. Conditional Iteration (while loop)</vt:lpstr>
      <vt:lpstr>Best Practices &amp; Warnings</vt:lpstr>
      <vt:lpstr>1. Direct Iteration (Most Common)</vt:lpstr>
      <vt:lpstr>2. Using enumerate() (To Get Item &amp; Index)</vt:lpstr>
      <vt:lpstr>3. Iterating by Index (Using range() and len())</vt:lpstr>
      <vt:lpstr>4. Tuple Unpacking in a Loop</vt:lpstr>
      <vt:lpstr>5. Using a while Loop</vt:lpstr>
      <vt:lpstr>Set iteration</vt:lpstr>
      <vt:lpstr>1. Tracking Index with enumerate()</vt:lpstr>
      <vt:lpstr>2. Sorting During Iteration</vt:lpstr>
      <vt:lpstr>3. Inline Set Comprehension</vt:lpstr>
      <vt:lpstr>Important Safety Rule</vt:lpstr>
      <vt:lpstr>Dictionary iteration in python</vt:lpstr>
      <vt:lpstr>2. Keys Only</vt:lpstr>
      <vt:lpstr>3. Values Only</vt:lpstr>
      <vt:lpstr>4. Getting an Index Counter</vt:lpstr>
      <vt:lpstr>Performance &amp; Behavior Notes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NAVEEN KUMAR</dc:creator>
  <cp:lastModifiedBy>NAVEEN KUMAR</cp:lastModifiedBy>
  <cp:revision>170</cp:revision>
  <dcterms:created xsi:type="dcterms:W3CDTF">2026-01-15T04:12:31Z</dcterms:created>
  <dcterms:modified xsi:type="dcterms:W3CDTF">2026-08-17T06:48:00Z</dcterms:modified>
</cp:coreProperties>
</file>