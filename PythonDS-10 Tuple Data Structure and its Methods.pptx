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0" r:id="rId8"/>
    <p:sldId id="261" r:id="rId9"/>
    <p:sldId id="276" r:id="rId10"/>
    <p:sldId id="262" r:id="rId11"/>
    <p:sldId id="263" r:id="rId12"/>
    <p:sldId id="264" r:id="rId13"/>
    <p:sldId id="265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269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python-lists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sum-function-python/" TargetMode="External"/><Relationship Id="rId3" Type="http://schemas.openxmlformats.org/officeDocument/2006/relationships/hyperlink" Target="https://www.geeksforgeeks.org/python/python-any-function/" TargetMode="External"/><Relationship Id="rId7" Type="http://schemas.openxmlformats.org/officeDocument/2006/relationships/hyperlink" Target="https://www.geeksforgeeks.org/python/python-min-function/" TargetMode="External"/><Relationship Id="rId2" Type="http://schemas.openxmlformats.org/officeDocument/2006/relationships/hyperlink" Target="https://www.geeksforgeeks.org/python/python-all-func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python/python-max-function/" TargetMode="External"/><Relationship Id="rId5" Type="http://schemas.openxmlformats.org/officeDocument/2006/relationships/hyperlink" Target="https://www.geeksforgeeks.org/python/enumerate-in-python/" TargetMode="External"/><Relationship Id="rId10" Type="http://schemas.openxmlformats.org/officeDocument/2006/relationships/hyperlink" Target="https://www.geeksforgeeks.org/python/python-tuple-function/" TargetMode="External"/><Relationship Id="rId4" Type="http://schemas.openxmlformats.org/officeDocument/2006/relationships/hyperlink" Target="https://www.geeksforgeeks.org/python/python-string-length-len/" TargetMode="External"/><Relationship Id="rId9" Type="http://schemas.openxmlformats.org/officeDocument/2006/relationships/hyperlink" Target="https://www.geeksforgeeks.org/python/python-sorted-function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python-programming-language-tutorial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geeksforgeeks.org/python/python-lambda-anonymous-functions-filter-map-reduce/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geeksforgeeks.org/python/python-tuples/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www.geeksforgeeks.org/python/python-string-lower/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PythonDS-10 Tuple Data Structure and its Methods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7997-29DE-12F1-55E6-B66300EB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72D84-2E4F-49BD-F3CE-4138706DA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Google Sans"/>
              </a:rPr>
              <a:t>A Python tuple is an </a:t>
            </a:r>
            <a:r>
              <a:rPr lang="en-IN" b="1" i="0" dirty="0">
                <a:effectLst/>
                <a:latin typeface="Google Sans"/>
              </a:rPr>
              <a:t>ordered</a:t>
            </a:r>
            <a:r>
              <a:rPr lang="en-IN" b="0" i="0" dirty="0">
                <a:effectLst/>
                <a:latin typeface="Google Sans"/>
              </a:rPr>
              <a:t>, </a:t>
            </a:r>
            <a:r>
              <a:rPr lang="en-IN" b="1" i="0" dirty="0">
                <a:effectLst/>
                <a:latin typeface="Google Sans"/>
              </a:rPr>
              <a:t>immutable</a:t>
            </a:r>
            <a:r>
              <a:rPr lang="en-IN" b="0" i="0" dirty="0">
                <a:effectLst/>
                <a:latin typeface="Google Sans"/>
              </a:rPr>
              <a:t> collection of elements, defined by enclosing items in parentheses () and separating them with commas. </a:t>
            </a:r>
          </a:p>
          <a:p>
            <a:pPr algn="l"/>
            <a:r>
              <a:rPr lang="en-IN" b="0" i="0" dirty="0">
                <a:effectLst/>
                <a:latin typeface="Google Sans"/>
              </a:rPr>
              <a:t>Tuples are faster and more memory-efficient than lists for fixed data, and are commonly used for data that should not be changed, such as coordinates or database records. 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92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E36A6-F8CD-941A-7E87-F3F45230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BB996-2D87-5968-6B3F-ED3989B01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A37B6-9C86-1F89-738A-EB1BBB176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570" y="0"/>
            <a:ext cx="5010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7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DD0A-D332-D959-4DF8-F24587D8C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Key Characteristics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DA12-C6FE-ED7C-6723-6E5305377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Ordered:</a:t>
            </a:r>
            <a:r>
              <a:rPr lang="en-IN" b="0" i="0" dirty="0">
                <a:effectLst/>
                <a:latin typeface="Google Sans"/>
              </a:rPr>
              <a:t> Items have a defined, unchangeable order, allowing access by index.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Immutable (Unchangeable):</a:t>
            </a:r>
            <a:r>
              <a:rPr lang="en-IN" b="0" i="0" dirty="0">
                <a:effectLst/>
                <a:latin typeface="Google Sans"/>
              </a:rPr>
              <a:t> Once a tuple is created, you cannot change, add, or remove elements. Attempting to modify a tuple will raise a </a:t>
            </a:r>
            <a:r>
              <a:rPr lang="en-IN" b="0" i="0" dirty="0" err="1">
                <a:effectLst/>
                <a:latin typeface="Google Sans"/>
              </a:rPr>
              <a:t>TypeError</a:t>
            </a:r>
            <a:r>
              <a:rPr lang="en-IN" b="0" i="0" dirty="0">
                <a:effectLst/>
                <a:latin typeface="Google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Allow Duplicates:</a:t>
            </a:r>
            <a:r>
              <a:rPr lang="en-IN" b="0" i="0" dirty="0">
                <a:effectLst/>
                <a:latin typeface="Google Sans"/>
              </a:rPr>
              <a:t> Because tuples are indexed, they can contain multiple items with the same value.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Heterogeneous:</a:t>
            </a:r>
            <a:r>
              <a:rPr lang="en-IN" b="0" i="0" dirty="0">
                <a:effectLst/>
                <a:latin typeface="Google Sans"/>
              </a:rPr>
              <a:t> A single tuple can store elements of different data types (strings, integers, floats, lists, etc.).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Iterable</a:t>
            </a:r>
            <a:r>
              <a:rPr lang="en-IN" b="1" i="0" dirty="0">
                <a:effectLst/>
                <a:latin typeface="Google Sans"/>
              </a:rPr>
              <a:t>:</a:t>
            </a:r>
            <a:r>
              <a:rPr lang="en-IN" b="0" i="0" dirty="0">
                <a:effectLst/>
                <a:latin typeface="Google Sans"/>
              </a:rPr>
              <a:t> You can loop through the elements of a tuple.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effectLst/>
                <a:latin typeface="Google Sans"/>
              </a:rPr>
              <a:t>Hashable</a:t>
            </a:r>
            <a:r>
              <a:rPr lang="en-IN" b="1" i="0" dirty="0">
                <a:effectLst/>
                <a:latin typeface="Google Sans"/>
              </a:rPr>
              <a:t>:</a:t>
            </a:r>
            <a:r>
              <a:rPr lang="en-IN" b="0" i="0" dirty="0">
                <a:effectLst/>
                <a:latin typeface="Google Sans"/>
              </a:rPr>
              <a:t> If all elements within a tuple are immutable, the tuple itself is </a:t>
            </a:r>
            <a:r>
              <a:rPr lang="en-IN" b="0" i="0" dirty="0" err="1">
                <a:effectLst/>
                <a:latin typeface="Google Sans"/>
              </a:rPr>
              <a:t>hashable</a:t>
            </a:r>
            <a:r>
              <a:rPr lang="en-IN" b="0" i="0" dirty="0">
                <a:effectLst/>
                <a:latin typeface="Google Sans"/>
              </a:rPr>
              <a:t> and can be used as a key in a dictionary. 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89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CB86A-564D-DFD4-1C13-0B130EE6A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is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48CF-1A93-7C50-46DC-3EF5375B3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Unlike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Python lists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tuples are immutable. Some Characteristics of Tuples in Python.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Like Lists, tuples are ordered and we can access their elements using their index values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We cannot update items to a tuple once it is created.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Tuples cannot be appended or extended.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We cannot remove items from a tuple once it is created.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975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DB7-4BC3-D551-D171-4B48CF67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Google Sans"/>
              </a:rPr>
              <a:t>Creating Tuples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6B825-8890-BC73-49A7-94DC432F6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0" dirty="0">
                <a:effectLst/>
                <a:latin typeface="Google Sans"/>
              </a:rPr>
              <a:t>Tuples can be created in several ways: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Using parentheses:</a:t>
            </a:r>
            <a:r>
              <a:rPr lang="en-IN" b="0" i="0" dirty="0">
                <a:effectLst/>
                <a:latin typeface="Google Sans"/>
              </a:rPr>
              <a:t> The most common way.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r>
              <a:rPr lang="en-US" dirty="0" err="1"/>
              <a:t>my_tuple</a:t>
            </a:r>
            <a:r>
              <a:rPr lang="en-US" dirty="0"/>
              <a:t> = ("apple", "banana", "cherry")</a:t>
            </a:r>
          </a:p>
          <a:p>
            <a:r>
              <a:rPr lang="en-IN" b="1" i="0" dirty="0">
                <a:effectLst/>
                <a:latin typeface="Google Sans"/>
              </a:rPr>
              <a:t>Without parentheses (Tuple Packing):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r>
              <a:rPr lang="en-US" dirty="0" err="1"/>
              <a:t>my_tuple</a:t>
            </a:r>
            <a:r>
              <a:rPr lang="en-US" dirty="0"/>
              <a:t> = 1, 2, 3</a:t>
            </a:r>
          </a:p>
          <a:p>
            <a:r>
              <a:rPr lang="en-IN" b="1" i="0" dirty="0">
                <a:effectLst/>
                <a:latin typeface="Google Sans"/>
              </a:rPr>
              <a:t>Single-element tuple:</a:t>
            </a:r>
            <a:r>
              <a:rPr lang="en-IN" b="0" i="0" dirty="0">
                <a:effectLst/>
                <a:latin typeface="Google Sans"/>
              </a:rPr>
              <a:t> A trailing comma is required to differentiate it from a single value in parentheses.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r>
              <a:rPr lang="en-US" dirty="0" err="1"/>
              <a:t>single_item_tuple</a:t>
            </a:r>
            <a:r>
              <a:rPr lang="en-US" dirty="0"/>
              <a:t> = ("apple",) # a tuple</a:t>
            </a:r>
          </a:p>
          <a:p>
            <a:r>
              <a:rPr lang="en-US" dirty="0" err="1"/>
              <a:t>not_a_tuple</a:t>
            </a:r>
            <a:r>
              <a:rPr lang="en-US" dirty="0"/>
              <a:t> = ("apple")     # a string</a:t>
            </a:r>
          </a:p>
          <a:p>
            <a:r>
              <a:rPr lang="en-IN" b="1" i="0" dirty="0">
                <a:effectLst/>
                <a:latin typeface="Google Sans"/>
              </a:rPr>
              <a:t>Using the tuple() constructor:</a:t>
            </a:r>
            <a:r>
              <a:rPr lang="en-IN" b="0" i="0" dirty="0">
                <a:effectLst/>
                <a:latin typeface="Google Sans"/>
              </a:rPr>
              <a:t> Converts an </a:t>
            </a:r>
            <a:r>
              <a:rPr lang="en-IN" b="0" i="0" dirty="0" err="1">
                <a:effectLst/>
                <a:latin typeface="Google Sans"/>
              </a:rPr>
              <a:t>iterable</a:t>
            </a:r>
            <a:r>
              <a:rPr lang="en-IN" b="0" i="0" dirty="0">
                <a:effectLst/>
                <a:latin typeface="Google Sans"/>
              </a:rPr>
              <a:t> (like a list or string) into a tuple.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r>
              <a:rPr lang="en-US" dirty="0" err="1"/>
              <a:t>list_to_tuple</a:t>
            </a:r>
            <a:r>
              <a:rPr lang="en-US" dirty="0"/>
              <a:t> = tuple(["apple", "banana"])</a:t>
            </a:r>
          </a:p>
          <a:p>
            <a:r>
              <a:rPr lang="en-US" dirty="0" err="1"/>
              <a:t>string_to_tuple</a:t>
            </a:r>
            <a:r>
              <a:rPr lang="en-US" dirty="0"/>
              <a:t> = tuple("hello")</a:t>
            </a:r>
          </a:p>
        </p:txBody>
      </p:sp>
    </p:spTree>
    <p:extLst>
      <p:ext uri="{BB962C8B-B14F-4D97-AF65-F5344CB8AC3E}">
        <p14:creationId xmlns:p14="http://schemas.microsoft.com/office/powerpoint/2010/main" val="133371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F47A-510E-64C3-22AB-2DE815EC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Operations and Methods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2B431-8A6A-396A-188C-D66ECA025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effectLst/>
                <a:latin typeface="Google Sans"/>
              </a:rPr>
              <a:t>Tuples support standard sequence operations: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Indexing:</a:t>
            </a:r>
            <a:r>
              <a:rPr lang="en-IN" b="0" i="0" dirty="0">
                <a:effectLst/>
                <a:latin typeface="Google Sans"/>
              </a:rPr>
              <a:t> Access individual elements using square brackets [] and a zero-based index. Negative indexing is also supported to access elements from the end.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b="0" i="0" dirty="0">
              <a:effectLst/>
              <a:latin typeface="Google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FFA2C-E75F-D075-F26C-F1219422D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3703274"/>
            <a:ext cx="7772400" cy="29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75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CF011-3842-1768-2B98-BB56F80D0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36137-FBF6-48A9-B349-8950D10C8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Slicing:</a:t>
            </a:r>
            <a:r>
              <a:rPr lang="en-IN" b="0" i="0" dirty="0">
                <a:effectLst/>
                <a:latin typeface="Google Sans"/>
              </a:rPr>
              <a:t> Extract a range of elements to create a new tuple.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E48F9-F501-450A-2E8A-29C275E85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899" y="2764997"/>
            <a:ext cx="7772400" cy="29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80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9B3D0-6CA7-EE2A-1FCE-472CE630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94F95-669A-C060-F0F6-2B2B00FE6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19D344D-29CC-D18F-D199-D1A27DA4F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806450"/>
            <a:ext cx="6172200" cy="524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25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0631-44FD-5AA9-678F-2504D946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CAEC6-11F4-D489-06F5-32C69FCBD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Concatenation:</a:t>
            </a:r>
            <a:r>
              <a:rPr lang="en-IN" b="0" i="0" dirty="0">
                <a:effectLst/>
                <a:latin typeface="Google Sans"/>
              </a:rPr>
              <a:t> Join two or more tuples using the + operator to create a new tuple.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12077F-6971-F788-9F89-3843FA617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53290"/>
            <a:ext cx="7772400" cy="258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68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35CF-4284-C0EA-7E5C-D8D9F1E2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766D-EBB2-1C30-4D74-26A0F90E5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Repetition:</a:t>
            </a:r>
            <a:r>
              <a:rPr lang="en-IN" b="0" i="0" dirty="0">
                <a:effectLst/>
                <a:latin typeface="Google Sans"/>
              </a:rPr>
              <a:t> Use the * operator to repeat a tuple's contents.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6E23F0-C9F8-B75D-727F-C429A7437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503714"/>
            <a:ext cx="7772400" cy="1850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43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CE5D-278A-891C-04D2-F8C4535E6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DAD94-0BD1-56B7-2BC2-DAD68BF28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0" dirty="0">
                <a:effectLst/>
                <a:latin typeface="Google Sans"/>
              </a:rPr>
              <a:t>Unpacking:</a:t>
            </a:r>
            <a:r>
              <a:rPr lang="en-IN" b="0" i="0" dirty="0">
                <a:effectLst/>
                <a:latin typeface="Google Sans"/>
              </a:rPr>
              <a:t> Assign elements of a tuple to multiple variables in a single line.</a:t>
            </a:r>
            <a:br>
              <a:rPr lang="en-IN" b="0" i="0" dirty="0">
                <a:effectLst/>
                <a:latin typeface="Google Sans"/>
              </a:rPr>
            </a:br>
            <a:endParaRPr lang="en-IN" b="0" i="0" dirty="0">
              <a:effectLst/>
              <a:latin typeface="Google Sans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0C412-6572-4340-B34F-CFC22F005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2644775"/>
            <a:ext cx="6908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06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F9E3D-4011-573D-8B33-F3FC5C08C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Only two built-in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416F4-64F0-2C58-2DBF-1DD85FBCE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IN" b="0" i="0" dirty="0">
                <a:effectLst/>
                <a:latin typeface="Google Sans"/>
              </a:rPr>
              <a:t>Tuples have only two built-in methods due to their immutability: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count(value):</a:t>
            </a:r>
            <a:r>
              <a:rPr lang="en-IN" b="0" i="0" dirty="0">
                <a:effectLst/>
                <a:latin typeface="Google Sans"/>
              </a:rPr>
              <a:t> Returns the number of times a specified value appears.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index(value):</a:t>
            </a:r>
            <a:r>
              <a:rPr lang="en-IN" b="0" i="0" dirty="0">
                <a:effectLst/>
                <a:latin typeface="Google Sans"/>
              </a:rPr>
              <a:t> Returns the index of the first occurrence of a specified value, raising an error if not found. </a:t>
            </a:r>
          </a:p>
          <a:p>
            <a:pPr algn="l"/>
            <a:r>
              <a:rPr lang="en-IN" b="1" i="0" dirty="0">
                <a:effectLst/>
                <a:latin typeface="Google Sans"/>
              </a:rPr>
              <a:t>When to Use Tuples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Fixed Data:</a:t>
            </a:r>
            <a:r>
              <a:rPr lang="en-IN" b="0" i="0" dirty="0">
                <a:effectLst/>
                <a:latin typeface="Google Sans"/>
              </a:rPr>
              <a:t> Ideal for data that should remain constant throughout the program, like configuration settings, calendar days, or geographic coordinates.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Function Returns:</a:t>
            </a:r>
            <a:r>
              <a:rPr lang="en-IN" b="0" i="0" dirty="0">
                <a:effectLst/>
                <a:latin typeface="Google Sans"/>
              </a:rPr>
              <a:t> Functions often return multiple values as a tuple, which can then be easily unpacked.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Dictionary Keys:</a:t>
            </a:r>
            <a:r>
              <a:rPr lang="en-IN" b="0" i="0" dirty="0">
                <a:effectLst/>
                <a:latin typeface="Google Sans"/>
              </a:rPr>
              <a:t> Usable as dictionary keys (provided all their elements are immutable), unlike lists.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Google Sans"/>
              </a:rPr>
              <a:t>Performance:</a:t>
            </a:r>
            <a:r>
              <a:rPr lang="en-IN" b="0" i="0" dirty="0">
                <a:effectLst/>
                <a:latin typeface="Google Sans"/>
              </a:rPr>
              <a:t> Slightly faster and more memory-efficient than lists for large, fixed data sets.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093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83A6-1ED9-0BFC-57D1-B7A7CF21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8D9C84-D19C-54CE-C4D1-70916BD996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32892" y="1825626"/>
          <a:ext cx="10126216" cy="4351335"/>
        </p:xfrm>
        <a:graphic>
          <a:graphicData uri="http://schemas.openxmlformats.org/drawingml/2006/table">
            <a:tbl>
              <a:tblPr/>
              <a:tblGrid>
                <a:gridCol w="3240389">
                  <a:extLst>
                    <a:ext uri="{9D8B030D-6E8A-4147-A177-3AD203B41FA5}">
                      <a16:colId xmlns:a16="http://schemas.microsoft.com/office/drawing/2014/main" val="484660200"/>
                    </a:ext>
                  </a:extLst>
                </a:gridCol>
                <a:gridCol w="6885827">
                  <a:extLst>
                    <a:ext uri="{9D8B030D-6E8A-4147-A177-3AD203B41FA5}">
                      <a16:colId xmlns:a16="http://schemas.microsoft.com/office/drawing/2014/main" val="3404190756"/>
                    </a:ext>
                  </a:extLst>
                </a:gridCol>
              </a:tblGrid>
              <a:tr h="388905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300" b="1">
                          <a:effectLst/>
                          <a:latin typeface="Nunito" pitchFamily="2" charset="77"/>
                        </a:rPr>
                        <a:t>Built-in Function</a:t>
                      </a:r>
                    </a:p>
                  </a:txBody>
                  <a:tcPr marL="36689" marR="36689" marT="91723" marB="9172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300" b="1">
                          <a:effectLst/>
                          <a:latin typeface="Nunito" pitchFamily="2" charset="77"/>
                        </a:rPr>
                        <a:t>Description</a:t>
                      </a:r>
                    </a:p>
                  </a:txBody>
                  <a:tcPr marL="91723" marR="91723" marT="91723" marB="91723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743242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2"/>
                        </a:rPr>
                        <a:t>all()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Returns true if all element are true or if tuple is empty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975867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3"/>
                        </a:rPr>
                        <a:t>any()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return true if any element of the tuple is true. if tuple is empty, return false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059547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4"/>
                        </a:rPr>
                        <a:t>len()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Returns length of the tuple or size of the tuple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373091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5"/>
                        </a:rPr>
                        <a:t>enumerate()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Returns enumerate object of tuple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864833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6"/>
                        </a:rPr>
                        <a:t>max()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return maximum element of given tuple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555954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7"/>
                        </a:rPr>
                        <a:t>min()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return minimum element of given tuple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351003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8"/>
                        </a:rPr>
                        <a:t>sum()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Sums up the numbers in the tuple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825949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9"/>
                        </a:rPr>
                        <a:t>sorted()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>
                          <a:effectLst/>
                          <a:latin typeface="Nunito" pitchFamily="2" charset="77"/>
                        </a:rPr>
                        <a:t>input elements in the tuple and return a new sorted list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959497"/>
                  </a:ext>
                </a:extLst>
              </a:tr>
              <a:tr h="440270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700" b="1" u="sng">
                          <a:solidFill>
                            <a:srgbClr val="357960"/>
                          </a:solidFill>
                          <a:effectLst/>
                          <a:latin typeface="Nunito" pitchFamily="2" charset="77"/>
                          <a:hlinkClick r:id="rId10"/>
                        </a:rPr>
                        <a:t>tuple()</a:t>
                      </a:r>
                      <a:endParaRPr lang="en-IN" sz="1700" b="1">
                        <a:effectLst/>
                        <a:latin typeface="Nunito" pitchFamily="2" charset="77"/>
                      </a:endParaRPr>
                    </a:p>
                  </a:txBody>
                  <a:tcPr marL="36689" marR="36689" marT="67829" marB="67829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Convert an </a:t>
                      </a:r>
                      <a:r>
                        <a:rPr lang="en-IN" sz="1200" b="0" dirty="0" err="1">
                          <a:effectLst/>
                          <a:latin typeface="Nunito" pitchFamily="2" charset="77"/>
                        </a:rPr>
                        <a:t>iterable</a:t>
                      </a:r>
                      <a:r>
                        <a:rPr lang="en-IN" sz="1200" b="0" dirty="0">
                          <a:effectLst/>
                          <a:latin typeface="Nunito" pitchFamily="2" charset="77"/>
                        </a:rPr>
                        <a:t> to a tuple.</a:t>
                      </a:r>
                    </a:p>
                  </a:txBody>
                  <a:tcPr marL="91723" marR="91723" marT="128412" marB="128412" anchor="ctr">
                    <a:lnL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8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973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340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4C381-2AC0-40D9-02E6-282AA7DEC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67927-6569-E941-5BD7-3BBACA245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all() function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returns true if all the elements of a given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(List, Dictionary, Tuple, set, etc.) are True otherwise it returns False. </a:t>
            </a:r>
          </a:p>
          <a:p>
            <a:pPr algn="l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It also returns True if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object is empty. </a:t>
            </a:r>
          </a:p>
          <a:p>
            <a:pPr algn="l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Sometimes while working on some code if we want to ensure that user has not entered a False value then we use the all() function.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print(all([True, True, False]))</a:t>
            </a:r>
          </a:p>
        </p:txBody>
      </p:sp>
    </p:spTree>
    <p:extLst>
      <p:ext uri="{BB962C8B-B14F-4D97-AF65-F5344CB8AC3E}">
        <p14:creationId xmlns:p14="http://schemas.microsoft.com/office/powerpoint/2010/main" val="3090638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A7046-820C-15A1-DD43-8492A2DA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all() with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24202-B14E-F74B-69A3-E78725D4E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E301BE-D546-D935-F5B0-B10CDA169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123155"/>
            <a:ext cx="7772400" cy="580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69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707FC-6056-0A28-ECE7-691B8C07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all() with tuple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C975A-9553-ADAA-4D98-8F30DE81E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975CF-EAB8-ED39-B96C-EA99FAE9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35531"/>
            <a:ext cx="7772400" cy="672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47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9CBD-0E76-AB9E-5B32-D6FD2A89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all() with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6001-C807-C913-0178-5BD31EEC8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715A3-A6BD-1AC1-9E4F-366CD2D6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612" y="1690688"/>
            <a:ext cx="7772400" cy="49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88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D0E8-92B0-935D-F37A-01CD42D9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with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CB4ED-D040-F5F7-2EA8-3A31734D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134F93-5D7C-B95C-396C-17283E389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420859"/>
            <a:ext cx="7772400" cy="543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672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26AC4-4DC8-4471-D0A3-C5DB0703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all() with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6D6CF-5790-1057-1226-DF92B7EEB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2B8D12-0D2C-B64D-CB3C-1F64CE39E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448" y="0"/>
            <a:ext cx="4587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034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1EF4-2A2E-0C7D-5B50-C728C3FED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9AC8-2E6A-DA65-16C2-62D45DA4F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Python any() function returns True if any of the elements of a given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( List, Dictionary, Tuple, set, etc) are True else it returns False.</a:t>
            </a: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A3022-576F-1E0D-869E-28B3AD38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764553"/>
            <a:ext cx="7772400" cy="386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82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1373-FD27-7025-A9BA-5280384E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8032-3CFF-78FF-88D5-F3B604356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6B819-3249-0A55-39B1-5AC381E2F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606" y="0"/>
            <a:ext cx="5578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78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6803-ECCB-CAD1-1EB4-DC45D273B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FD436-6BCC-9E94-6213-D40191D66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14F51-6100-2405-EE5A-57579C4DA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484" y="0"/>
            <a:ext cx="6627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40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7BA4-8187-B270-B36A-FAA12018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09978-B006-9BA8-7602-4C4253590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7E1395-7C0A-2E04-B660-8B1058E07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377" y="0"/>
            <a:ext cx="52892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94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9525F-8E68-F654-7BBB-7609D990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12A7C-5B2D-372A-2A1C-C70138D9E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C9FEBA-5D90-AC81-5D62-A378B25A4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02" y="0"/>
            <a:ext cx="6324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AE22-A398-CE82-CB10-700C91A7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D4C80-7891-481B-1BEF-9EDD88E63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18306-CC6A-41F1-4721-8947203BE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98" y="0"/>
            <a:ext cx="45876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886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9F5DF-1A10-6072-0ACA-07C0EC00D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AA076-1F1C-5B27-BD27-39B15C025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8DD5D-C485-9876-4D4C-5127EE12E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48591"/>
            <a:ext cx="7772400" cy="496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858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F890-62ED-91CE-7CA0-19962C81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0BB40-A6C9-8378-0DCC-934E24C37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E35108-8EE6-1F7B-5C9A-11F9F1D91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20150"/>
            <a:ext cx="7772400" cy="361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330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061CD-4B98-510E-24AA-DCCE74B5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enumerate() function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C6833-8707-4384-4B85-3A54335B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enumerate() function adds a counter to each item in a list or any other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and returns a list of tuples containing the index position and the element for each element of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It turns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into something we can loop through using indexes, where each item comes with its number (starting from 0 by default).</a:t>
            </a:r>
          </a:p>
          <a:p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467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539D6-CFCB-C8D2-6EEA-B71222DE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23F3F-2C4F-A9D7-D430-B3310B47C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172BD6-8AC5-7FE5-60E8-1DFEFE1E3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986713" cy="46483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A5D402-F0AA-DFF2-047E-15EEB1C1F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420" y="2757488"/>
            <a:ext cx="7152579" cy="41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1120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62350-19C2-54B5-8227-240CFAF7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16937-4C65-409E-DA22-8A820ED4E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87100-7872-D707-60B8-BD3B383B9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75840"/>
            <a:ext cx="7772400" cy="530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12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273D-0C0A-E532-B657-C6541E2CF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Enumerating a Dictionary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F0501-5E0B-9BF1-63B5-33E4083D1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ACA26D-67AE-450E-5866-AB740D4F6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62403"/>
            <a:ext cx="7772400" cy="313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967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79DC-362D-1FCF-2588-54AB6D3F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Enumerating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4905E-C53F-BE4C-A263-AF038B175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41118-5659-2A0F-DBBA-9604169AB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00" y="1600200"/>
            <a:ext cx="7340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56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2EF4-AB65-D54A-6580-B3FCBA1E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Enumerating 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420A1-4242-60BD-5448-8D53BAA61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2E470-013A-B8D9-0BEC-44A4AFC7B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91072"/>
            <a:ext cx="7772400" cy="347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22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A7AD-029F-F537-2727-205EC8E6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Python max() function With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15CCB-8D85-8639-ED40-D6704BB9D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Unlike the max() function of C/C++, the max() function in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Python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can take any type of object and return the largest among them. In the case of strings, it returns the lexicographically largest value.</a:t>
            </a:r>
          </a:p>
          <a:p>
            <a:pPr algn="just" rtl="0" fontAlgn="base"/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Syntax :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max(arg1, arg2, *</a:t>
            </a:r>
            <a:r>
              <a:rPr lang="en-IN" b="0" i="1" dirty="0" err="1">
                <a:solidFill>
                  <a:srgbClr val="273239"/>
                </a:solidFill>
                <a:effectLst/>
                <a:latin typeface="Nunito" pitchFamily="2" charset="77"/>
              </a:rPr>
              <a:t>args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[, key]) </a:t>
            </a:r>
          </a:p>
          <a:p>
            <a:pPr algn="just" rtl="0" fontAlgn="base"/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Parameters : </a:t>
            </a:r>
            <a:endParaRPr lang="en-IN" b="0" i="1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arg1, arg2 :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 objects of the same datatype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*</a:t>
            </a:r>
            <a:r>
              <a:rPr lang="en-IN" b="1" i="1" dirty="0" err="1">
                <a:solidFill>
                  <a:srgbClr val="273239"/>
                </a:solidFill>
                <a:effectLst/>
                <a:latin typeface="Nunito" pitchFamily="2" charset="77"/>
              </a:rPr>
              <a:t>args</a:t>
            </a: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 :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multiple objects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key :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function where comparison of </a:t>
            </a:r>
            <a:r>
              <a:rPr lang="en-IN" b="0" i="1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 is performed based on its return value</a:t>
            </a:r>
          </a:p>
          <a:p>
            <a:pPr algn="just" rtl="0" fontAlgn="base"/>
            <a:r>
              <a:rPr lang="en-IN" b="1" i="1" dirty="0">
                <a:solidFill>
                  <a:srgbClr val="273239"/>
                </a:solidFill>
                <a:effectLst/>
                <a:latin typeface="Nunito" pitchFamily="2" charset="77"/>
              </a:rPr>
              <a:t>Returns : </a:t>
            </a:r>
            <a:r>
              <a:rPr lang="en-IN" b="0" i="1" dirty="0">
                <a:solidFill>
                  <a:srgbClr val="273239"/>
                </a:solidFill>
                <a:effectLst/>
                <a:latin typeface="Nunito" pitchFamily="2" charset="77"/>
              </a:rPr>
              <a:t>The maximum value </a:t>
            </a:r>
          </a:p>
          <a:p>
            <a:pPr marL="0" indent="0">
              <a:buNone/>
            </a:pPr>
            <a:br>
              <a:rPr lang="en-I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106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27A5-7D35-918B-ABAC-3BBFB4590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2911D-5A1B-1689-37E6-3081D5E0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3BB2EC-3BCC-161C-9CA8-C8B72F7BE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889000"/>
            <a:ext cx="77470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251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8736-4DFE-4DEC-AFE0-FF6B77DB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B388-98D7-4AD4-755D-070B6652C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55AEB-8FE4-470B-0E5E-00FE35501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0" y="419100"/>
            <a:ext cx="77470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890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ABA7-89E3-21EA-C5B9-65EE24393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9DE8F-0C85-9B9A-6E0E-A2227F888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3466F-BA1C-ECB0-5BDB-9FB9B1B73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26067"/>
            <a:ext cx="7772400" cy="460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180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383CB-0D02-2AE5-82A2-92C7D2C3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18416-54C3-CCAD-761E-9B5F0ADF6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584291-D230-A4C7-F089-114BEE0F6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037881"/>
            <a:ext cx="7772400" cy="278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28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0143-ACC4-C2E8-E90D-D3F5F42E2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62CB7-2E1D-2866-66C0-F4DF64BDB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rtl="0" fontAlgn="base"/>
            <a:r>
              <a:rPr lang="en-IN" b="1" dirty="0">
                <a:effectLst/>
                <a:latin typeface="Nunito" pitchFamily="2" charset="77"/>
              </a:rPr>
              <a:t>Python min() function</a:t>
            </a:r>
            <a:r>
              <a:rPr lang="en-IN" b="0" dirty="0">
                <a:effectLst/>
                <a:latin typeface="Nunito" pitchFamily="2" charset="77"/>
              </a:rPr>
              <a:t> returns the smallest value from a set of values or the smallest item in an </a:t>
            </a:r>
            <a:r>
              <a:rPr lang="en-IN" b="0" dirty="0" err="1">
                <a:effectLst/>
                <a:latin typeface="Nunito" pitchFamily="2" charset="77"/>
              </a:rPr>
              <a:t>iterable</a:t>
            </a:r>
            <a:r>
              <a:rPr lang="en-IN" b="0" dirty="0">
                <a:effectLst/>
                <a:latin typeface="Nunito" pitchFamily="2" charset="77"/>
              </a:rPr>
              <a:t> passed as its parameter. It's useful when you need to quickly determine the minimum value from a group of numbers or objects. </a:t>
            </a:r>
            <a:r>
              <a:rPr lang="en-IN" b="1" dirty="0">
                <a:effectLst/>
                <a:latin typeface="Nunito" pitchFamily="2" charset="77"/>
              </a:rPr>
              <a:t>For example:</a:t>
            </a:r>
            <a:endParaRPr lang="en-IN" b="0" dirty="0">
              <a:effectLst/>
              <a:latin typeface="Nunito" pitchFamily="2" charset="77"/>
            </a:endParaRPr>
          </a:p>
          <a:p>
            <a:pPr algn="l" fontAlgn="base"/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Python min() function syntax</a:t>
            </a:r>
          </a:p>
          <a:p>
            <a:pPr rtl="0" fontAlgn="base"/>
            <a:r>
              <a:rPr lang="en-IN" b="0" dirty="0">
                <a:effectLst/>
                <a:latin typeface="Nunito" pitchFamily="2" charset="77"/>
              </a:rPr>
              <a:t>min(</a:t>
            </a:r>
            <a:r>
              <a:rPr lang="en-IN" b="0" dirty="0" err="1">
                <a:effectLst/>
                <a:latin typeface="Nunito" pitchFamily="2" charset="77"/>
              </a:rPr>
              <a:t>iterable</a:t>
            </a:r>
            <a:r>
              <a:rPr lang="en-IN" b="0" dirty="0">
                <a:effectLst/>
                <a:latin typeface="Nunito" pitchFamily="2" charset="77"/>
              </a:rPr>
              <a:t>, *[, key, default])</a:t>
            </a:r>
          </a:p>
          <a:p>
            <a:pPr algn="l" rtl="0" fontAlgn="base"/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Parameters: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 sequence like a list, tuple or string.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key (optional):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function to determine how elements are compared.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default (optional):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Value to return if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is empty.</a:t>
            </a: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Return Value: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It returns the smallest item from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 If key is used, it returns the smallest based on that function. If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is empty and default is provided, it returns the default value.</a:t>
            </a:r>
          </a:p>
        </p:txBody>
      </p:sp>
    </p:spTree>
    <p:extLst>
      <p:ext uri="{BB962C8B-B14F-4D97-AF65-F5344CB8AC3E}">
        <p14:creationId xmlns:p14="http://schemas.microsoft.com/office/powerpoint/2010/main" val="2061810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839AD-38C7-BCBE-EFD7-551E9202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E6F00-E562-7D11-9830-E9745B775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5E100-DC78-E0BC-5298-80E6A7ED9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312" y="1986913"/>
            <a:ext cx="5991225" cy="342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051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2A3C-08CF-A71C-49F8-A92D49149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B8B55-214E-E044-CA06-54CDD058B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BF5C55-9F68-EC32-CB3A-21ADD5141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766400"/>
            <a:ext cx="7772400" cy="332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734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3774C-6B9A-1110-492B-BF3DAAFAB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78A8E-3D88-3A35-0BB6-EA2FD4834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Explanation: key=lambda x: x[1]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compares the tuples based on their second item. In the tuples (2, 3), (1, 5) and (4, 1), the second items are 3, 5 and 1, respectively. Since 1 is the smallest, the tuple (4, 1) is returned.</a:t>
            </a: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1D89DF-CCCB-E4F2-8A37-6DE3900A4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4" y="2459513"/>
            <a:ext cx="6905625" cy="439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530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5AD9-ADF6-EBC7-3C8C-137499453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0555A-22E9-E9B4-1EBC-AC03E5956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4D8C78-F5E3-A95D-1824-0006B8349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81946"/>
            <a:ext cx="7772400" cy="309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9338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06D46-46B5-B6BE-D92D-E56C1F75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B2972-9449-F1D9-6335-BF3A6F6AC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309D9-1F2D-ACAF-7011-AC7BCD3DB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994541"/>
            <a:ext cx="7772400" cy="486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68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6DD6B-C442-9ECB-A233-77CC36487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sorted()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78118-2DC2-C2E6-7341-F3EE660DE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sorted() function in Python returns a new sorted list from the elements of any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such as a list, tuple, set, or string. It does not modify the original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, unlike the sort() method for lists.</a:t>
            </a:r>
          </a:p>
          <a:p>
            <a:br>
              <a:rPr lang="en-IN" dirty="0"/>
            </a:b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B4249-7CB9-00C1-AD2A-C26613FFE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936" y="3071813"/>
            <a:ext cx="3744351" cy="378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979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E069-F2B6-8D0A-5308-825DDEF3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Syntax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34C07-FDD8-F353-30C9-2C98ACBE4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 fontAlgn="base"/>
            <a:r>
              <a:rPr lang="en-IN" b="0" dirty="0">
                <a:effectLst/>
                <a:latin typeface="Nunito" pitchFamily="2" charset="77"/>
              </a:rPr>
              <a:t>sorted(</a:t>
            </a:r>
            <a:r>
              <a:rPr lang="en-IN" b="0" dirty="0" err="1">
                <a:effectLst/>
                <a:latin typeface="Nunito" pitchFamily="2" charset="77"/>
              </a:rPr>
              <a:t>iterable</a:t>
            </a:r>
            <a:r>
              <a:rPr lang="en-IN" b="0" dirty="0">
                <a:effectLst/>
                <a:latin typeface="Nunito" pitchFamily="2" charset="77"/>
              </a:rPr>
              <a:t>, key=None, reverse=False)</a:t>
            </a:r>
          </a:p>
          <a:p>
            <a:pPr algn="l" rtl="0" fontAlgn="base"/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Parameters: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sequence to be sorted (list, tuple, set, string, etc.)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key (Optional):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 function to customize the sort order. Default is None.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reverse (Optional):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If True, sorts in descending order. Default is False.</a:t>
            </a: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Return Type: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Returns a new sorted list containing all elements from the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according to the given criteria.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9542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3555-D1E1-96AE-B7C1-B958C5B4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Sorting in Descending 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F540E-E7EB-0BF0-1343-E9BD68D2F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To sort an 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iterable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in descending order, set the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reverse 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argument to </a:t>
            </a: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True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E96F5-AD4B-4F8E-A0FD-CCC085901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762" y="2638168"/>
            <a:ext cx="6737741" cy="421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42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7239-4FBF-421E-FF37-34447C3A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AA07-3FE8-1180-DFD2-F857EF8A9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6213C-DBE6-8CA6-8966-5B0BE2948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88866"/>
            <a:ext cx="7772400" cy="44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283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406D-C647-84C2-1990-A009D46D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D603F-0FA0-A03D-5BF3-F17E5A27D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20218-CDB5-AD7F-FCA5-9A63E9223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1130300"/>
            <a:ext cx="45466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859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E40E8-721F-57A7-C612-30627945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latin typeface="Nunito" pitchFamily="2" charset="77"/>
              </a:rPr>
              <a:t>Sorting using key Parameter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F6117-4D98-54CD-CFF3-70E9FFFC2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0" dirty="0">
                <a:effectLst/>
                <a:latin typeface="Nunito" pitchFamily="2" charset="77"/>
              </a:rPr>
              <a:t>The key</a:t>
            </a:r>
            <a:r>
              <a:rPr lang="en-IN" b="1" dirty="0">
                <a:effectLst/>
                <a:latin typeface="Nunito" pitchFamily="2" charset="77"/>
              </a:rPr>
              <a:t> </a:t>
            </a:r>
            <a:r>
              <a:rPr lang="en-IN" b="0" dirty="0">
                <a:effectLst/>
                <a:latin typeface="Nunito" pitchFamily="2" charset="77"/>
              </a:rPr>
              <a:t>parameter is an optional argument that allows us to customize the sort order.</a:t>
            </a:r>
          </a:p>
          <a:p>
            <a:pPr algn="l" rtl="0" fontAlgn="base"/>
            <a:r>
              <a:rPr lang="en-IN" b="1" dirty="0">
                <a:effectLst/>
                <a:latin typeface="Nunito" pitchFamily="2" charset="77"/>
              </a:rPr>
              <a:t>1. Sorting Strings by Length</a:t>
            </a:r>
            <a:r>
              <a:rPr lang="en-IN" b="0" dirty="0">
                <a:effectLst/>
                <a:latin typeface="Nunito" pitchFamily="2" charset="77"/>
              </a:rPr>
              <a:t>: You can sort a list of strings by their length using the key=</a:t>
            </a:r>
            <a:r>
              <a:rPr lang="en-IN" b="0" dirty="0" err="1">
                <a:effectLst/>
                <a:latin typeface="Nunito" pitchFamily="2" charset="77"/>
              </a:rPr>
              <a:t>len</a:t>
            </a:r>
            <a:r>
              <a:rPr lang="en-IN" b="0" dirty="0">
                <a:effectLst/>
                <a:latin typeface="Nunito" pitchFamily="2" charset="77"/>
              </a:rPr>
              <a:t> parameter in sorted().</a:t>
            </a:r>
          </a:p>
          <a:p>
            <a:pPr rtl="0"/>
            <a:br>
              <a:rPr lang="en-IN" dirty="0">
                <a:solidFill>
                  <a:srgbClr val="000000"/>
                </a:solidFill>
                <a:effectLst/>
                <a:latin typeface="Nunito" pitchFamily="2" charset="77"/>
              </a:rPr>
            </a:br>
            <a:endParaRPr lang="en-IN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4165A-DA49-0836-49C4-77B0A0029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762" y="3551046"/>
            <a:ext cx="7125483" cy="330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C49C-BE36-1873-643D-F7602B62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1A120-554E-E9E5-0B51-90E18D614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1" dirty="0">
                <a:effectLst/>
                <a:latin typeface="Nunito" pitchFamily="2" charset="77"/>
              </a:rPr>
              <a:t>2. Sorting a List of Dictionaries: </a:t>
            </a:r>
            <a:r>
              <a:rPr lang="en-IN" b="0" dirty="0">
                <a:effectLst/>
                <a:latin typeface="Nunito" pitchFamily="2" charset="77"/>
              </a:rPr>
              <a:t>You can sort a list of dictionaries based on a specific key using sorted() with a lambda function.</a:t>
            </a:r>
          </a:p>
          <a:p>
            <a:pPr algn="l" rtl="0"/>
            <a:b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</a:br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4E450-F92D-49CA-6C9B-2CC8311A8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4567"/>
            <a:ext cx="12192000" cy="373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259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89CA-4507-DD1D-AAA4-41ADEBAE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sort() vs sorted()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1DB9-8179-3B23-5D06-6EBA1C07B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The sort() method is used to arrange the elements of a list in a specific order, either ascending or descending. It changes the original list directly, so no new list is created. This method works well for sorting numbers or strings.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D89DD-29F5-AAE8-F586-ADF425227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188" y="2981352"/>
            <a:ext cx="3833812" cy="387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002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3BA9-0906-CFAE-5E39-2FD571598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Syntax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70252-6779-86FA-63EF-FE59B2C66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0" dirty="0" err="1">
                <a:effectLst/>
                <a:latin typeface="Nunito" pitchFamily="2" charset="77"/>
              </a:rPr>
              <a:t>lst.sort</a:t>
            </a:r>
            <a:r>
              <a:rPr lang="en-IN" b="0" dirty="0">
                <a:effectLst/>
                <a:latin typeface="Nunito" pitchFamily="2" charset="77"/>
              </a:rPr>
              <a:t>(key=None, reverse=False)</a:t>
            </a:r>
          </a:p>
          <a:p>
            <a:pPr algn="l" rtl="0" fontAlgn="base"/>
            <a:endParaRPr lang="en-IN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rtl="0" fontAlgn="base"/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Parameters:</a:t>
            </a:r>
            <a:endParaRPr lang="en-IN" b="0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key (optional):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A function used to decide how elements are compared (for example, key=</a:t>
            </a:r>
            <a:r>
              <a:rPr lang="en-IN" b="0" i="0" dirty="0" err="1">
                <a:solidFill>
                  <a:srgbClr val="273239"/>
                </a:solidFill>
                <a:effectLst/>
                <a:latin typeface="Nunito" pitchFamily="2" charset="77"/>
              </a:rPr>
              <a:t>len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 sorts strings by length).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reverse (optional):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Controls the sorting order. False (default) sorts in ascending order, True sorts in descending order.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7470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B699-9F6E-1DE3-A901-C6E940897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5F1CB-08A2-7B20-D806-14866669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0" dirty="0">
                <a:effectLst/>
                <a:latin typeface="Nunito" pitchFamily="2" charset="77"/>
              </a:rPr>
              <a:t>You can also define custom rules using a </a:t>
            </a:r>
            <a:r>
              <a:rPr lang="en-IN" b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lambda </a:t>
            </a:r>
            <a:r>
              <a:rPr lang="en-IN" b="0" dirty="0">
                <a:effectLst/>
                <a:latin typeface="Nunito" pitchFamily="2" charset="77"/>
              </a:rPr>
              <a:t>function, such as sorting words by their last character.</a:t>
            </a:r>
          </a:p>
          <a:p>
            <a:pPr marL="0" indent="0" algn="l" rtl="0">
              <a:buNone/>
            </a:pPr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3466AB-F209-3AC1-A930-1B6725C4C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250810"/>
            <a:ext cx="7772400" cy="360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739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3BFA-3405-8A08-60E9-7158A5D6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07B46-2F39-DB1D-00A9-EA05B0429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 fontAlgn="base"/>
            <a:r>
              <a:rPr lang="en-IN" b="0" dirty="0">
                <a:effectLst/>
                <a:latin typeface="Nunito" pitchFamily="2" charset="77"/>
              </a:rPr>
              <a:t>When sorting tuples, you can sort based on a specific element inside each </a:t>
            </a:r>
            <a:r>
              <a:rPr lang="en-IN" b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tuple</a:t>
            </a:r>
            <a:r>
              <a:rPr lang="en-IN" b="0" dirty="0">
                <a:effectLst/>
                <a:latin typeface="Nunito" pitchFamily="2" charset="77"/>
              </a:rPr>
              <a:t>.</a:t>
            </a:r>
          </a:p>
          <a:p>
            <a:pPr algn="l" rtl="0"/>
            <a:br>
              <a:rPr lang="en-IN" b="0" i="0" dirty="0">
                <a:solidFill>
                  <a:srgbClr val="000000"/>
                </a:solidFill>
                <a:effectLst/>
                <a:latin typeface="Nunito" pitchFamily="2" charset="77"/>
              </a:rPr>
            </a:br>
            <a:endParaRPr lang="en-IN" b="0" i="0" dirty="0">
              <a:solidFill>
                <a:srgbClr val="000000"/>
              </a:solidFill>
              <a:effectLst/>
              <a:latin typeface="Nunito" pitchFamily="2" charset="77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62493-B5E4-ADB0-EB07-2633267E7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2260600"/>
            <a:ext cx="71120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498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7B262-3829-A08D-C89D-2C1492EC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273239"/>
                </a:solidFill>
                <a:effectLst/>
                <a:latin typeface="Nunito" pitchFamily="2" charset="77"/>
              </a:rPr>
              <a:t>Case-Insensitive Sorting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01DAF-41F7-605F-C376-E1F866234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By default, the sort() method is case sensitive, resulting in all capital letters being sorted before lowercase letters. To perform a case insensitive sort, we can use the </a:t>
            </a:r>
            <a:r>
              <a:rPr lang="en-IN" b="0" i="0" u="sng" dirty="0">
                <a:solidFill>
                  <a:srgbClr val="357960"/>
                </a:solidFill>
                <a:effectLst/>
                <a:latin typeface="Nunito" pitchFamily="2" charset="77"/>
                <a:hlinkClick r:id="rId2"/>
              </a:rPr>
              <a:t>str.lower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77"/>
              </a:rPr>
              <a:t> function as the key.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5E9B0-B768-0BBD-AE74-142A3B84B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308" y="3422472"/>
            <a:ext cx="7231692" cy="34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0822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9E8C-6C02-DB93-02C2-F3CFD700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 vs List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E39005-E3E7-BC21-58C4-C3D3CFD832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4645298"/>
              </p:ext>
            </p:extLst>
          </p:nvPr>
        </p:nvGraphicFramePr>
        <p:xfrm>
          <a:off x="838200" y="1690688"/>
          <a:ext cx="10515600" cy="41567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130574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18402128"/>
                    </a:ext>
                  </a:extLst>
                </a:gridCol>
              </a:tblGrid>
              <a:tr h="488056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Similarities</a:t>
                      </a:r>
                      <a:endParaRPr lang="en-IN" sz="1800" b="1" dirty="0">
                        <a:effectLst/>
                        <a:latin typeface="Nunito" pitchFamily="2" charset="77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800" b="1" dirty="0">
                          <a:effectLst/>
                        </a:rPr>
                        <a:t>Differences</a:t>
                      </a:r>
                      <a:endParaRPr lang="en-IN" sz="1800" b="1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916625841"/>
                  </a:ext>
                </a:extLst>
              </a:tr>
              <a:tr h="782732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600" b="0">
                          <a:effectLst/>
                        </a:rPr>
                        <a:t>Functions that can be used for both lists and tuples:</a:t>
                      </a:r>
                    </a:p>
                    <a:p>
                      <a:pPr algn="l" rtl="0" fontAlgn="base"/>
                      <a:r>
                        <a:rPr lang="en-IN" sz="1600" b="0">
                          <a:effectLst/>
                        </a:rPr>
                        <a:t>len(), max(), min(), sum(), any(), all(), sorted()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600" b="0">
                          <a:effectLst/>
                        </a:rPr>
                        <a:t>Methods that cannot be used for tuples:</a:t>
                      </a:r>
                    </a:p>
                    <a:p>
                      <a:pPr algn="l" rtl="0" fontAlgn="base"/>
                      <a:r>
                        <a:rPr lang="en-IN" sz="1600" b="0">
                          <a:effectLst/>
                        </a:rPr>
                        <a:t>append(), insert(), remove(), pop(), clear(), sort(), reverse()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4073064065"/>
                  </a:ext>
                </a:extLst>
              </a:tr>
              <a:tr h="782732">
                <a:tc>
                  <a:txBody>
                    <a:bodyPr/>
                    <a:lstStyle/>
                    <a:p>
                      <a:pPr algn="l" rtl="0" fontAlgn="base"/>
                      <a:r>
                        <a:rPr lang="en-IN" sz="1600" b="0" dirty="0">
                          <a:effectLst/>
                        </a:rPr>
                        <a:t>Methods that can be used for both lists and tuples:</a:t>
                      </a:r>
                    </a:p>
                    <a:p>
                      <a:pPr algn="l" rtl="0" fontAlgn="base"/>
                      <a:r>
                        <a:rPr lang="en-IN" sz="1600" b="0" dirty="0">
                          <a:effectLst/>
                        </a:rPr>
                        <a:t>count(), Index()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dirty="0">
                          <a:effectLst/>
                        </a:rPr>
                        <a:t>we generally use 'tuples' for heterogeneous (different) data types and 'lists' for homogeneous (similar) data types.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024926205"/>
                  </a:ext>
                </a:extLst>
              </a:tr>
              <a:tr h="5525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dirty="0">
                          <a:effectLst/>
                        </a:rPr>
                        <a:t>Tuples can be stored in lists.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>
                          <a:effectLst/>
                        </a:rPr>
                        <a:t>Iterating through a 'tuple' is faster than in a 'list'.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356149178"/>
                  </a:ext>
                </a:extLst>
              </a:tr>
              <a:tr h="5525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>
                          <a:effectLst/>
                        </a:rPr>
                        <a:t>Lists can be stored in tuples.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>
                          <a:effectLst/>
                        </a:rPr>
                        <a:t>'Lists' are mutable whereas 'tuples' are immutable.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846089509"/>
                  </a:ext>
                </a:extLst>
              </a:tr>
              <a:tr h="782732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>
                          <a:effectLst/>
                        </a:rPr>
                        <a:t>Both 'tuples' and 'lists' can be nested.</a:t>
                      </a:r>
                      <a:endParaRPr lang="en-IN" sz="1600" b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dirty="0">
                          <a:effectLst/>
                        </a:rPr>
                        <a:t>Tuples that contain immutable elements can be used as a key for a dictionary.</a:t>
                      </a:r>
                      <a:endParaRPr lang="en-IN" sz="1600" b="0" dirty="0">
                        <a:effectLst/>
                        <a:latin typeface="Nunito" pitchFamily="2" charset="77"/>
                      </a:endParaRPr>
                    </a:p>
                  </a:txBody>
                  <a:tcPr marL="95250" marR="95250" marT="133350" marB="133350" anchor="ctr"/>
                </a:tc>
                <a:extLst>
                  <a:ext uri="{0D108BD9-81ED-4DB2-BD59-A6C34878D82A}">
                    <a16:rowId xmlns:a16="http://schemas.microsoft.com/office/drawing/2014/main" val="1968126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44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2490</TotalTime>
  <Words>1840</Words>
  <Application>Microsoft Macintosh PowerPoint</Application>
  <PresentationFormat>Widescreen</PresentationFormat>
  <Paragraphs>160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Aptos</vt:lpstr>
      <vt:lpstr>Aptos Display</vt:lpstr>
      <vt:lpstr>Arial</vt:lpstr>
      <vt:lpstr>Google Sans</vt:lpstr>
      <vt:lpstr>Nunito</vt:lpstr>
      <vt:lpstr>Office Theme</vt:lpstr>
      <vt:lpstr>PythonDS-10 Tuple Data Structure and its Methods</vt:lpstr>
      <vt:lpstr>Python Tuple</vt:lpstr>
      <vt:lpstr>PowerPoint Presentation</vt:lpstr>
      <vt:lpstr>Key Characteristics</vt:lpstr>
      <vt:lpstr>Tuple is Immutable</vt:lpstr>
      <vt:lpstr>Creating Tuples</vt:lpstr>
      <vt:lpstr>Operations and Methods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Only two built-in Methods</vt:lpstr>
      <vt:lpstr>PowerPoint Presentation</vt:lpstr>
      <vt:lpstr>PowerPoint Presentation</vt:lpstr>
      <vt:lpstr>all() with list</vt:lpstr>
      <vt:lpstr>all() with tuple</vt:lpstr>
      <vt:lpstr>all() with Set</vt:lpstr>
      <vt:lpstr>all with Dictionary</vt:lpstr>
      <vt:lpstr>all() with string</vt:lpstr>
      <vt:lpstr>any()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enumerate() function</vt:lpstr>
      <vt:lpstr>PowerPoint Presentation</vt:lpstr>
      <vt:lpstr>PowerPoint Presentation</vt:lpstr>
      <vt:lpstr>Enumerating a Dictionary</vt:lpstr>
      <vt:lpstr>Enumerating a String</vt:lpstr>
      <vt:lpstr>Enumerating a Sets</vt:lpstr>
      <vt:lpstr>Python max() function With Objects</vt:lpstr>
      <vt:lpstr>PowerPoint Presentation</vt:lpstr>
      <vt:lpstr>PowerPoint Presentation</vt:lpstr>
      <vt:lpstr>PowerPoint Presentation</vt:lpstr>
      <vt:lpstr>PowerPoint Presentation</vt:lpstr>
      <vt:lpstr>min()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sorted() function</vt:lpstr>
      <vt:lpstr>Syntax</vt:lpstr>
      <vt:lpstr>Sorting in Descending Order</vt:lpstr>
      <vt:lpstr>PowerPoint Presentation</vt:lpstr>
      <vt:lpstr>PowerPoint Presentation</vt:lpstr>
      <vt:lpstr>Sorting using key Parameter</vt:lpstr>
      <vt:lpstr>PowerPoint Presentation</vt:lpstr>
      <vt:lpstr>sort() vs sorted()</vt:lpstr>
      <vt:lpstr>Syntax</vt:lpstr>
      <vt:lpstr>PowerPoint Presentation</vt:lpstr>
      <vt:lpstr>PowerPoint Presentation</vt:lpstr>
      <vt:lpstr>Case-Insensitive Sorting</vt:lpstr>
      <vt:lpstr>Tuple vs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174</cp:revision>
  <dcterms:created xsi:type="dcterms:W3CDTF">2026-01-15T04:12:31Z</dcterms:created>
  <dcterms:modified xsi:type="dcterms:W3CDTF">2026-02-12T16:34:29Z</dcterms:modified>
</cp:coreProperties>
</file>