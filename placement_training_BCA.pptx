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1"/>
  </p:notesMasterIdLst>
  <p:sldIdLst>
    <p:sldId id="256" r:id="rId2"/>
    <p:sldId id="257" r:id="rId3"/>
    <p:sldId id="259" r:id="rId4"/>
    <p:sldId id="346" r:id="rId5"/>
    <p:sldId id="347" r:id="rId6"/>
    <p:sldId id="348" r:id="rId7"/>
    <p:sldId id="349" r:id="rId8"/>
    <p:sldId id="350" r:id="rId9"/>
    <p:sldId id="258" r:id="rId10"/>
    <p:sldId id="260" r:id="rId11"/>
    <p:sldId id="261" r:id="rId12"/>
    <p:sldId id="262" r:id="rId13"/>
    <p:sldId id="263" r:id="rId14"/>
    <p:sldId id="264" r:id="rId15"/>
    <p:sldId id="265" r:id="rId16"/>
    <p:sldId id="266" r:id="rId17"/>
    <p:sldId id="351" r:id="rId18"/>
    <p:sldId id="352" r:id="rId19"/>
    <p:sldId id="353"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 id="312" r:id="rId66"/>
    <p:sldId id="313" r:id="rId67"/>
    <p:sldId id="314" r:id="rId68"/>
    <p:sldId id="315" r:id="rId69"/>
    <p:sldId id="316" r:id="rId70"/>
    <p:sldId id="317" r:id="rId71"/>
    <p:sldId id="318" r:id="rId72"/>
    <p:sldId id="319" r:id="rId73"/>
    <p:sldId id="320" r:id="rId74"/>
    <p:sldId id="321" r:id="rId75"/>
    <p:sldId id="322" r:id="rId76"/>
    <p:sldId id="323" r:id="rId77"/>
    <p:sldId id="324" r:id="rId78"/>
    <p:sldId id="325" r:id="rId79"/>
    <p:sldId id="326" r:id="rId80"/>
    <p:sldId id="327" r:id="rId81"/>
    <p:sldId id="328" r:id="rId82"/>
    <p:sldId id="329" r:id="rId83"/>
    <p:sldId id="330" r:id="rId84"/>
    <p:sldId id="331" r:id="rId85"/>
    <p:sldId id="332" r:id="rId86"/>
    <p:sldId id="333" r:id="rId87"/>
    <p:sldId id="334" r:id="rId88"/>
    <p:sldId id="335" r:id="rId89"/>
    <p:sldId id="336" r:id="rId90"/>
    <p:sldId id="337" r:id="rId91"/>
    <p:sldId id="338" r:id="rId92"/>
    <p:sldId id="339" r:id="rId93"/>
    <p:sldId id="340" r:id="rId94"/>
    <p:sldId id="341" r:id="rId95"/>
    <p:sldId id="342" r:id="rId96"/>
    <p:sldId id="343" r:id="rId97"/>
    <p:sldId id="344" r:id="rId98"/>
    <p:sldId id="345" r:id="rId99"/>
    <p:sldId id="584" r:id="rId100"/>
    <p:sldId id="586" r:id="rId101"/>
    <p:sldId id="587" r:id="rId102"/>
    <p:sldId id="588" r:id="rId103"/>
    <p:sldId id="589" r:id="rId104"/>
    <p:sldId id="590" r:id="rId105"/>
    <p:sldId id="591" r:id="rId106"/>
    <p:sldId id="592" r:id="rId107"/>
    <p:sldId id="593" r:id="rId108"/>
    <p:sldId id="594" r:id="rId109"/>
    <p:sldId id="595" r:id="rId110"/>
    <p:sldId id="596" r:id="rId111"/>
    <p:sldId id="597" r:id="rId112"/>
    <p:sldId id="598" r:id="rId113"/>
    <p:sldId id="599" r:id="rId114"/>
    <p:sldId id="600" r:id="rId115"/>
    <p:sldId id="601" r:id="rId116"/>
    <p:sldId id="602" r:id="rId117"/>
    <p:sldId id="603" r:id="rId118"/>
    <p:sldId id="604" r:id="rId119"/>
    <p:sldId id="605" r:id="rId120"/>
    <p:sldId id="606" r:id="rId121"/>
    <p:sldId id="607" r:id="rId122"/>
    <p:sldId id="608" r:id="rId123"/>
    <p:sldId id="609" r:id="rId124"/>
    <p:sldId id="610" r:id="rId125"/>
    <p:sldId id="611" r:id="rId126"/>
    <p:sldId id="612" r:id="rId127"/>
    <p:sldId id="613" r:id="rId128"/>
    <p:sldId id="614" r:id="rId129"/>
    <p:sldId id="354" r:id="rId130"/>
    <p:sldId id="355" r:id="rId131"/>
    <p:sldId id="356" r:id="rId132"/>
    <p:sldId id="357" r:id="rId133"/>
    <p:sldId id="358" r:id="rId134"/>
    <p:sldId id="359" r:id="rId135"/>
    <p:sldId id="360" r:id="rId136"/>
    <p:sldId id="361" r:id="rId137"/>
    <p:sldId id="362" r:id="rId138"/>
    <p:sldId id="363" r:id="rId139"/>
    <p:sldId id="364" r:id="rId140"/>
    <p:sldId id="365" r:id="rId141"/>
    <p:sldId id="366" r:id="rId142"/>
    <p:sldId id="367" r:id="rId143"/>
    <p:sldId id="368" r:id="rId144"/>
    <p:sldId id="369" r:id="rId145"/>
    <p:sldId id="370" r:id="rId146"/>
    <p:sldId id="371" r:id="rId147"/>
    <p:sldId id="372" r:id="rId148"/>
    <p:sldId id="373" r:id="rId149"/>
    <p:sldId id="374" r:id="rId150"/>
    <p:sldId id="375" r:id="rId151"/>
    <p:sldId id="376" r:id="rId152"/>
    <p:sldId id="377" r:id="rId153"/>
    <p:sldId id="378" r:id="rId154"/>
    <p:sldId id="379" r:id="rId155"/>
    <p:sldId id="380" r:id="rId156"/>
    <p:sldId id="381" r:id="rId157"/>
    <p:sldId id="382" r:id="rId158"/>
    <p:sldId id="383" r:id="rId159"/>
    <p:sldId id="384" r:id="rId160"/>
    <p:sldId id="385" r:id="rId161"/>
    <p:sldId id="386" r:id="rId162"/>
    <p:sldId id="387" r:id="rId163"/>
    <p:sldId id="388" r:id="rId164"/>
    <p:sldId id="389" r:id="rId165"/>
    <p:sldId id="390" r:id="rId166"/>
    <p:sldId id="391" r:id="rId167"/>
    <p:sldId id="392" r:id="rId168"/>
    <p:sldId id="393" r:id="rId169"/>
    <p:sldId id="394" r:id="rId170"/>
    <p:sldId id="395" r:id="rId171"/>
    <p:sldId id="396" r:id="rId172"/>
    <p:sldId id="397" r:id="rId173"/>
    <p:sldId id="398" r:id="rId174"/>
    <p:sldId id="399" r:id="rId175"/>
    <p:sldId id="400" r:id="rId176"/>
    <p:sldId id="401" r:id="rId177"/>
    <p:sldId id="402" r:id="rId178"/>
    <p:sldId id="403" r:id="rId179"/>
    <p:sldId id="404" r:id="rId180"/>
    <p:sldId id="405" r:id="rId181"/>
    <p:sldId id="406" r:id="rId182"/>
    <p:sldId id="407" r:id="rId183"/>
    <p:sldId id="408" r:id="rId184"/>
    <p:sldId id="409" r:id="rId185"/>
    <p:sldId id="410" r:id="rId186"/>
    <p:sldId id="411" r:id="rId187"/>
    <p:sldId id="412" r:id="rId188"/>
    <p:sldId id="413" r:id="rId189"/>
    <p:sldId id="414" r:id="rId190"/>
    <p:sldId id="415" r:id="rId191"/>
    <p:sldId id="416" r:id="rId192"/>
    <p:sldId id="417" r:id="rId193"/>
    <p:sldId id="418" r:id="rId194"/>
    <p:sldId id="419" r:id="rId195"/>
    <p:sldId id="420" r:id="rId196"/>
    <p:sldId id="421" r:id="rId197"/>
    <p:sldId id="424" r:id="rId198"/>
    <p:sldId id="425" r:id="rId199"/>
    <p:sldId id="426" r:id="rId200"/>
    <p:sldId id="422" r:id="rId201"/>
    <p:sldId id="423" r:id="rId202"/>
    <p:sldId id="427" r:id="rId203"/>
    <p:sldId id="428" r:id="rId204"/>
    <p:sldId id="429" r:id="rId205"/>
    <p:sldId id="430" r:id="rId206"/>
    <p:sldId id="431" r:id="rId207"/>
    <p:sldId id="432" r:id="rId208"/>
    <p:sldId id="433" r:id="rId209"/>
    <p:sldId id="434" r:id="rId210"/>
    <p:sldId id="435" r:id="rId211"/>
    <p:sldId id="436" r:id="rId212"/>
    <p:sldId id="437" r:id="rId213"/>
    <p:sldId id="438" r:id="rId214"/>
    <p:sldId id="439" r:id="rId215"/>
    <p:sldId id="440" r:id="rId216"/>
    <p:sldId id="441" r:id="rId217"/>
    <p:sldId id="442" r:id="rId218"/>
    <p:sldId id="443" r:id="rId219"/>
    <p:sldId id="444" r:id="rId220"/>
    <p:sldId id="445" r:id="rId221"/>
    <p:sldId id="446" r:id="rId222"/>
    <p:sldId id="447" r:id="rId223"/>
    <p:sldId id="448" r:id="rId224"/>
    <p:sldId id="449" r:id="rId225"/>
    <p:sldId id="450" r:id="rId226"/>
    <p:sldId id="451" r:id="rId227"/>
    <p:sldId id="452" r:id="rId228"/>
    <p:sldId id="453" r:id="rId229"/>
    <p:sldId id="454" r:id="rId230"/>
    <p:sldId id="455" r:id="rId231"/>
    <p:sldId id="456" r:id="rId232"/>
    <p:sldId id="457" r:id="rId233"/>
    <p:sldId id="458" r:id="rId234"/>
    <p:sldId id="459" r:id="rId235"/>
    <p:sldId id="460" r:id="rId236"/>
    <p:sldId id="461" r:id="rId237"/>
    <p:sldId id="462" r:id="rId238"/>
    <p:sldId id="463" r:id="rId239"/>
    <p:sldId id="464" r:id="rId240"/>
    <p:sldId id="465" r:id="rId241"/>
    <p:sldId id="466" r:id="rId242"/>
    <p:sldId id="467" r:id="rId243"/>
    <p:sldId id="468" r:id="rId244"/>
    <p:sldId id="469" r:id="rId245"/>
    <p:sldId id="470" r:id="rId246"/>
    <p:sldId id="471" r:id="rId247"/>
    <p:sldId id="472" r:id="rId248"/>
    <p:sldId id="473" r:id="rId249"/>
    <p:sldId id="476" r:id="rId250"/>
    <p:sldId id="477" r:id="rId251"/>
    <p:sldId id="478" r:id="rId252"/>
    <p:sldId id="479" r:id="rId253"/>
    <p:sldId id="480" r:id="rId254"/>
    <p:sldId id="481" r:id="rId255"/>
    <p:sldId id="482" r:id="rId256"/>
    <p:sldId id="483" r:id="rId257"/>
    <p:sldId id="484" r:id="rId258"/>
    <p:sldId id="485" r:id="rId259"/>
    <p:sldId id="486" r:id="rId260"/>
    <p:sldId id="487" r:id="rId261"/>
    <p:sldId id="488" r:id="rId262"/>
    <p:sldId id="489" r:id="rId263"/>
    <p:sldId id="491" r:id="rId264"/>
    <p:sldId id="490" r:id="rId265"/>
    <p:sldId id="492" r:id="rId266"/>
    <p:sldId id="493" r:id="rId267"/>
    <p:sldId id="494" r:id="rId268"/>
    <p:sldId id="495" r:id="rId269"/>
    <p:sldId id="496" r:id="rId270"/>
    <p:sldId id="497" r:id="rId271"/>
    <p:sldId id="498" r:id="rId272"/>
    <p:sldId id="499" r:id="rId273"/>
    <p:sldId id="500" r:id="rId274"/>
    <p:sldId id="501" r:id="rId275"/>
    <p:sldId id="502" r:id="rId276"/>
    <p:sldId id="503" r:id="rId277"/>
    <p:sldId id="504" r:id="rId278"/>
    <p:sldId id="505" r:id="rId279"/>
    <p:sldId id="506" r:id="rId280"/>
    <p:sldId id="507" r:id="rId281"/>
    <p:sldId id="508" r:id="rId282"/>
    <p:sldId id="509" r:id="rId283"/>
    <p:sldId id="510" r:id="rId284"/>
    <p:sldId id="511" r:id="rId285"/>
    <p:sldId id="512" r:id="rId286"/>
    <p:sldId id="513" r:id="rId287"/>
    <p:sldId id="514" r:id="rId288"/>
    <p:sldId id="515" r:id="rId289"/>
    <p:sldId id="516" r:id="rId290"/>
    <p:sldId id="517" r:id="rId291"/>
    <p:sldId id="518" r:id="rId292"/>
    <p:sldId id="519" r:id="rId293"/>
    <p:sldId id="520" r:id="rId294"/>
    <p:sldId id="521" r:id="rId295"/>
    <p:sldId id="522" r:id="rId296"/>
    <p:sldId id="523" r:id="rId297"/>
    <p:sldId id="524" r:id="rId298"/>
    <p:sldId id="525" r:id="rId299"/>
    <p:sldId id="526" r:id="rId300"/>
    <p:sldId id="527" r:id="rId301"/>
    <p:sldId id="528" r:id="rId302"/>
    <p:sldId id="529" r:id="rId303"/>
    <p:sldId id="530" r:id="rId304"/>
    <p:sldId id="531" r:id="rId305"/>
    <p:sldId id="532" r:id="rId306"/>
    <p:sldId id="533" r:id="rId307"/>
    <p:sldId id="534" r:id="rId308"/>
    <p:sldId id="535" r:id="rId309"/>
    <p:sldId id="536" r:id="rId310"/>
    <p:sldId id="537" r:id="rId311"/>
    <p:sldId id="538" r:id="rId312"/>
    <p:sldId id="539" r:id="rId313"/>
    <p:sldId id="540" r:id="rId314"/>
    <p:sldId id="541" r:id="rId315"/>
    <p:sldId id="542" r:id="rId316"/>
    <p:sldId id="543" r:id="rId317"/>
    <p:sldId id="544" r:id="rId318"/>
    <p:sldId id="545" r:id="rId319"/>
    <p:sldId id="546" r:id="rId320"/>
    <p:sldId id="547" r:id="rId321"/>
    <p:sldId id="548" r:id="rId322"/>
    <p:sldId id="550" r:id="rId323"/>
    <p:sldId id="549" r:id="rId324"/>
    <p:sldId id="551" r:id="rId325"/>
    <p:sldId id="552" r:id="rId326"/>
    <p:sldId id="553" r:id="rId327"/>
    <p:sldId id="554" r:id="rId328"/>
    <p:sldId id="555" r:id="rId329"/>
    <p:sldId id="556" r:id="rId330"/>
    <p:sldId id="557" r:id="rId331"/>
    <p:sldId id="558" r:id="rId332"/>
    <p:sldId id="559" r:id="rId333"/>
    <p:sldId id="560" r:id="rId334"/>
    <p:sldId id="561" r:id="rId335"/>
    <p:sldId id="562" r:id="rId336"/>
    <p:sldId id="563" r:id="rId337"/>
    <p:sldId id="564" r:id="rId338"/>
    <p:sldId id="565" r:id="rId339"/>
    <p:sldId id="566" r:id="rId340"/>
    <p:sldId id="567" r:id="rId341"/>
    <p:sldId id="568" r:id="rId342"/>
    <p:sldId id="569" r:id="rId343"/>
    <p:sldId id="570" r:id="rId344"/>
    <p:sldId id="571" r:id="rId345"/>
    <p:sldId id="572" r:id="rId346"/>
    <p:sldId id="573" r:id="rId347"/>
    <p:sldId id="574" r:id="rId348"/>
    <p:sldId id="575" r:id="rId349"/>
    <p:sldId id="576" r:id="rId350"/>
    <p:sldId id="577" r:id="rId351"/>
    <p:sldId id="578" r:id="rId352"/>
    <p:sldId id="579" r:id="rId353"/>
    <p:sldId id="580" r:id="rId354"/>
    <p:sldId id="581" r:id="rId355"/>
    <p:sldId id="582" r:id="rId356"/>
    <p:sldId id="583" r:id="rId357"/>
    <p:sldId id="615" r:id="rId358"/>
    <p:sldId id="616" r:id="rId359"/>
    <p:sldId id="619" r:id="rId360"/>
    <p:sldId id="617" r:id="rId361"/>
    <p:sldId id="620" r:id="rId362"/>
    <p:sldId id="618" r:id="rId363"/>
    <p:sldId id="621" r:id="rId364"/>
    <p:sldId id="622" r:id="rId365"/>
    <p:sldId id="623" r:id="rId366"/>
    <p:sldId id="624" r:id="rId367"/>
    <p:sldId id="625" r:id="rId368"/>
    <p:sldId id="626" r:id="rId369"/>
    <p:sldId id="627" r:id="rId370"/>
    <p:sldId id="629" r:id="rId371"/>
    <p:sldId id="630" r:id="rId372"/>
    <p:sldId id="631" r:id="rId373"/>
    <p:sldId id="632" r:id="rId374"/>
    <p:sldId id="633" r:id="rId375"/>
    <p:sldId id="634" r:id="rId376"/>
    <p:sldId id="635" r:id="rId377"/>
    <p:sldId id="636" r:id="rId378"/>
    <p:sldId id="637" r:id="rId379"/>
    <p:sldId id="638" r:id="rId380"/>
    <p:sldId id="639" r:id="rId381"/>
    <p:sldId id="640" r:id="rId382"/>
    <p:sldId id="641" r:id="rId383"/>
    <p:sldId id="642" r:id="rId384"/>
    <p:sldId id="643" r:id="rId385"/>
    <p:sldId id="644" r:id="rId386"/>
    <p:sldId id="645" r:id="rId387"/>
    <p:sldId id="646" r:id="rId388"/>
    <p:sldId id="647" r:id="rId389"/>
    <p:sldId id="648" r:id="rId39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720"/>
  </p:normalViewPr>
  <p:slideViewPr>
    <p:cSldViewPr snapToGrid="0">
      <p:cViewPr varScale="1">
        <p:scale>
          <a:sx n="102" d="100"/>
          <a:sy n="102" d="100"/>
        </p:scale>
        <p:origin x="95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324" Type="http://schemas.openxmlformats.org/officeDocument/2006/relationships/slide" Target="slides/slide323.xml"/><Relationship Id="rId366" Type="http://schemas.openxmlformats.org/officeDocument/2006/relationships/slide" Target="slides/slide365.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335" Type="http://schemas.openxmlformats.org/officeDocument/2006/relationships/slide" Target="slides/slide334.xml"/><Relationship Id="rId377" Type="http://schemas.openxmlformats.org/officeDocument/2006/relationships/slide" Target="slides/slide376.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346" Type="http://schemas.openxmlformats.org/officeDocument/2006/relationships/slide" Target="slides/slide345.xml"/><Relationship Id="rId388" Type="http://schemas.openxmlformats.org/officeDocument/2006/relationships/slide" Target="slides/slide387.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248" Type="http://schemas.openxmlformats.org/officeDocument/2006/relationships/slide" Target="slides/slide247.xml"/><Relationship Id="rId12" Type="http://schemas.openxmlformats.org/officeDocument/2006/relationships/slide" Target="slides/slide11.xml"/><Relationship Id="rId108" Type="http://schemas.openxmlformats.org/officeDocument/2006/relationships/slide" Target="slides/slide107.xml"/><Relationship Id="rId315" Type="http://schemas.openxmlformats.org/officeDocument/2006/relationships/slide" Target="slides/slide314.xml"/><Relationship Id="rId357" Type="http://schemas.openxmlformats.org/officeDocument/2006/relationships/slide" Target="slides/slide356.xml"/><Relationship Id="rId54" Type="http://schemas.openxmlformats.org/officeDocument/2006/relationships/slide" Target="slides/slide53.xml"/><Relationship Id="rId96" Type="http://schemas.openxmlformats.org/officeDocument/2006/relationships/slide" Target="slides/slide95.xml"/><Relationship Id="rId161" Type="http://schemas.openxmlformats.org/officeDocument/2006/relationships/slide" Target="slides/slide160.xml"/><Relationship Id="rId217" Type="http://schemas.openxmlformats.org/officeDocument/2006/relationships/slide" Target="slides/slide216.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326" Type="http://schemas.openxmlformats.org/officeDocument/2006/relationships/slide" Target="slides/slide325.xml"/><Relationship Id="rId65" Type="http://schemas.openxmlformats.org/officeDocument/2006/relationships/slide" Target="slides/slide64.xml"/><Relationship Id="rId130" Type="http://schemas.openxmlformats.org/officeDocument/2006/relationships/slide" Target="slides/slide129.xml"/><Relationship Id="rId368" Type="http://schemas.openxmlformats.org/officeDocument/2006/relationships/slide" Target="slides/slide367.xml"/><Relationship Id="rId172" Type="http://schemas.openxmlformats.org/officeDocument/2006/relationships/slide" Target="slides/slide171.xml"/><Relationship Id="rId228" Type="http://schemas.openxmlformats.org/officeDocument/2006/relationships/slide" Target="slides/slide227.xml"/><Relationship Id="rId281" Type="http://schemas.openxmlformats.org/officeDocument/2006/relationships/slide" Target="slides/slide280.xml"/><Relationship Id="rId337" Type="http://schemas.openxmlformats.org/officeDocument/2006/relationships/slide" Target="slides/slide336.xml"/><Relationship Id="rId34" Type="http://schemas.openxmlformats.org/officeDocument/2006/relationships/slide" Target="slides/slide33.xml"/><Relationship Id="rId76" Type="http://schemas.openxmlformats.org/officeDocument/2006/relationships/slide" Target="slides/slide75.xml"/><Relationship Id="rId141" Type="http://schemas.openxmlformats.org/officeDocument/2006/relationships/slide" Target="slides/slide140.xml"/><Relationship Id="rId379" Type="http://schemas.openxmlformats.org/officeDocument/2006/relationships/slide" Target="slides/slide378.xml"/><Relationship Id="rId7" Type="http://schemas.openxmlformats.org/officeDocument/2006/relationships/slide" Target="slides/slide6.xml"/><Relationship Id="rId183" Type="http://schemas.openxmlformats.org/officeDocument/2006/relationships/slide" Target="slides/slide182.xml"/><Relationship Id="rId239" Type="http://schemas.openxmlformats.org/officeDocument/2006/relationships/slide" Target="slides/slide238.xml"/><Relationship Id="rId390" Type="http://schemas.openxmlformats.org/officeDocument/2006/relationships/slide" Target="slides/slide389.xml"/><Relationship Id="rId250" Type="http://schemas.openxmlformats.org/officeDocument/2006/relationships/slide" Target="slides/slide249.xml"/><Relationship Id="rId292" Type="http://schemas.openxmlformats.org/officeDocument/2006/relationships/slide" Target="slides/slide291.xml"/><Relationship Id="rId306" Type="http://schemas.openxmlformats.org/officeDocument/2006/relationships/slide" Target="slides/slide305.xml"/><Relationship Id="rId45" Type="http://schemas.openxmlformats.org/officeDocument/2006/relationships/slide" Target="slides/slide44.xml"/><Relationship Id="rId87" Type="http://schemas.openxmlformats.org/officeDocument/2006/relationships/slide" Target="slides/slide86.xml"/><Relationship Id="rId110" Type="http://schemas.openxmlformats.org/officeDocument/2006/relationships/slide" Target="slides/slide109.xml"/><Relationship Id="rId348" Type="http://schemas.openxmlformats.org/officeDocument/2006/relationships/slide" Target="slides/slide347.xml"/><Relationship Id="rId152" Type="http://schemas.openxmlformats.org/officeDocument/2006/relationships/slide" Target="slides/slide151.xml"/><Relationship Id="rId194" Type="http://schemas.openxmlformats.org/officeDocument/2006/relationships/slide" Target="slides/slide193.xml"/><Relationship Id="rId208" Type="http://schemas.openxmlformats.org/officeDocument/2006/relationships/slide" Target="slides/slide207.xml"/><Relationship Id="rId261" Type="http://schemas.openxmlformats.org/officeDocument/2006/relationships/slide" Target="slides/slide260.xml"/><Relationship Id="rId14" Type="http://schemas.openxmlformats.org/officeDocument/2006/relationships/slide" Target="slides/slide13.xml"/><Relationship Id="rId56" Type="http://schemas.openxmlformats.org/officeDocument/2006/relationships/slide" Target="slides/slide55.xml"/><Relationship Id="rId317" Type="http://schemas.openxmlformats.org/officeDocument/2006/relationships/slide" Target="slides/slide316.xml"/><Relationship Id="rId359" Type="http://schemas.openxmlformats.org/officeDocument/2006/relationships/slide" Target="slides/slide358.xml"/><Relationship Id="rId98" Type="http://schemas.openxmlformats.org/officeDocument/2006/relationships/slide" Target="slides/slide97.xml"/><Relationship Id="rId121" Type="http://schemas.openxmlformats.org/officeDocument/2006/relationships/slide" Target="slides/slide120.xml"/><Relationship Id="rId163" Type="http://schemas.openxmlformats.org/officeDocument/2006/relationships/slide" Target="slides/slide162.xml"/><Relationship Id="rId219" Type="http://schemas.openxmlformats.org/officeDocument/2006/relationships/slide" Target="slides/slide218.xml"/><Relationship Id="rId370" Type="http://schemas.openxmlformats.org/officeDocument/2006/relationships/slide" Target="slides/slide369.xml"/><Relationship Id="rId230" Type="http://schemas.openxmlformats.org/officeDocument/2006/relationships/slide" Target="slides/slide229.xml"/><Relationship Id="rId25" Type="http://schemas.openxmlformats.org/officeDocument/2006/relationships/slide" Target="slides/slide24.xml"/><Relationship Id="rId67" Type="http://schemas.openxmlformats.org/officeDocument/2006/relationships/slide" Target="slides/slide66.xml"/><Relationship Id="rId272" Type="http://schemas.openxmlformats.org/officeDocument/2006/relationships/slide" Target="slides/slide271.xml"/><Relationship Id="rId328" Type="http://schemas.openxmlformats.org/officeDocument/2006/relationships/slide" Target="slides/slide327.xml"/><Relationship Id="rId132" Type="http://schemas.openxmlformats.org/officeDocument/2006/relationships/slide" Target="slides/slide131.xml"/><Relationship Id="rId174" Type="http://schemas.openxmlformats.org/officeDocument/2006/relationships/slide" Target="slides/slide173.xml"/><Relationship Id="rId381" Type="http://schemas.openxmlformats.org/officeDocument/2006/relationships/slide" Target="slides/slide380.xml"/><Relationship Id="rId241" Type="http://schemas.openxmlformats.org/officeDocument/2006/relationships/slide" Target="slides/slide240.xml"/><Relationship Id="rId36" Type="http://schemas.openxmlformats.org/officeDocument/2006/relationships/slide" Target="slides/slide35.xml"/><Relationship Id="rId283" Type="http://schemas.openxmlformats.org/officeDocument/2006/relationships/slide" Target="slides/slide282.xml"/><Relationship Id="rId339" Type="http://schemas.openxmlformats.org/officeDocument/2006/relationships/slide" Target="slides/slide338.xml"/><Relationship Id="rId78" Type="http://schemas.openxmlformats.org/officeDocument/2006/relationships/slide" Target="slides/slide77.xml"/><Relationship Id="rId101" Type="http://schemas.openxmlformats.org/officeDocument/2006/relationships/slide" Target="slides/slide100.xml"/><Relationship Id="rId143" Type="http://schemas.openxmlformats.org/officeDocument/2006/relationships/slide" Target="slides/slide142.xml"/><Relationship Id="rId185" Type="http://schemas.openxmlformats.org/officeDocument/2006/relationships/slide" Target="slides/slide184.xml"/><Relationship Id="rId350" Type="http://schemas.openxmlformats.org/officeDocument/2006/relationships/slide" Target="slides/slide349.xml"/><Relationship Id="rId9" Type="http://schemas.openxmlformats.org/officeDocument/2006/relationships/slide" Target="slides/slide8.xml"/><Relationship Id="rId210" Type="http://schemas.openxmlformats.org/officeDocument/2006/relationships/slide" Target="slides/slide209.xml"/><Relationship Id="rId392" Type="http://schemas.openxmlformats.org/officeDocument/2006/relationships/presProps" Target="presProps.xml"/><Relationship Id="rId252" Type="http://schemas.openxmlformats.org/officeDocument/2006/relationships/slide" Target="slides/slide251.xml"/><Relationship Id="rId294" Type="http://schemas.openxmlformats.org/officeDocument/2006/relationships/slide" Target="slides/slide293.xml"/><Relationship Id="rId308" Type="http://schemas.openxmlformats.org/officeDocument/2006/relationships/slide" Target="slides/slide307.xml"/><Relationship Id="rId47" Type="http://schemas.openxmlformats.org/officeDocument/2006/relationships/slide" Target="slides/slide46.xml"/><Relationship Id="rId89" Type="http://schemas.openxmlformats.org/officeDocument/2006/relationships/slide" Target="slides/slide88.xml"/><Relationship Id="rId112" Type="http://schemas.openxmlformats.org/officeDocument/2006/relationships/slide" Target="slides/slide111.xml"/><Relationship Id="rId154" Type="http://schemas.openxmlformats.org/officeDocument/2006/relationships/slide" Target="slides/slide153.xml"/><Relationship Id="rId361" Type="http://schemas.openxmlformats.org/officeDocument/2006/relationships/slide" Target="slides/slide360.xml"/><Relationship Id="rId196" Type="http://schemas.openxmlformats.org/officeDocument/2006/relationships/slide" Target="slides/slide195.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19" Type="http://schemas.openxmlformats.org/officeDocument/2006/relationships/slide" Target="slides/slide318.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330" Type="http://schemas.openxmlformats.org/officeDocument/2006/relationships/slide" Target="slides/slide329.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351" Type="http://schemas.openxmlformats.org/officeDocument/2006/relationships/slide" Target="slides/slide350.xml"/><Relationship Id="rId372" Type="http://schemas.openxmlformats.org/officeDocument/2006/relationships/slide" Target="slides/slide371.xml"/><Relationship Id="rId393" Type="http://schemas.openxmlformats.org/officeDocument/2006/relationships/viewProps" Target="viewProps.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309" Type="http://schemas.openxmlformats.org/officeDocument/2006/relationships/slide" Target="slides/slide308.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320" Type="http://schemas.openxmlformats.org/officeDocument/2006/relationships/slide" Target="slides/slide319.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341" Type="http://schemas.openxmlformats.org/officeDocument/2006/relationships/slide" Target="slides/slide340.xml"/><Relationship Id="rId362" Type="http://schemas.openxmlformats.org/officeDocument/2006/relationships/slide" Target="slides/slide361.xml"/><Relationship Id="rId383" Type="http://schemas.openxmlformats.org/officeDocument/2006/relationships/slide" Target="slides/slide382.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310" Type="http://schemas.openxmlformats.org/officeDocument/2006/relationships/slide" Target="slides/slide309.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331" Type="http://schemas.openxmlformats.org/officeDocument/2006/relationships/slide" Target="slides/slide330.xml"/><Relationship Id="rId352" Type="http://schemas.openxmlformats.org/officeDocument/2006/relationships/slide" Target="slides/slide351.xml"/><Relationship Id="rId373" Type="http://schemas.openxmlformats.org/officeDocument/2006/relationships/slide" Target="slides/slide372.xml"/><Relationship Id="rId394" Type="http://schemas.openxmlformats.org/officeDocument/2006/relationships/theme" Target="theme/theme1.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321" Type="http://schemas.openxmlformats.org/officeDocument/2006/relationships/slide" Target="slides/slide320.xml"/><Relationship Id="rId342" Type="http://schemas.openxmlformats.org/officeDocument/2006/relationships/slide" Target="slides/slide341.xml"/><Relationship Id="rId363" Type="http://schemas.openxmlformats.org/officeDocument/2006/relationships/slide" Target="slides/slide362.xml"/><Relationship Id="rId384" Type="http://schemas.openxmlformats.org/officeDocument/2006/relationships/slide" Target="slides/slide383.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slide" Target="slides/slide310.xml"/><Relationship Id="rId332" Type="http://schemas.openxmlformats.org/officeDocument/2006/relationships/slide" Target="slides/slide331.xml"/><Relationship Id="rId353" Type="http://schemas.openxmlformats.org/officeDocument/2006/relationships/slide" Target="slides/slide352.xml"/><Relationship Id="rId374" Type="http://schemas.openxmlformats.org/officeDocument/2006/relationships/slide" Target="slides/slide373.xml"/><Relationship Id="rId395" Type="http://schemas.openxmlformats.org/officeDocument/2006/relationships/tableStyles" Target="tableStyles.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322" Type="http://schemas.openxmlformats.org/officeDocument/2006/relationships/slide" Target="slides/slide321.xml"/><Relationship Id="rId343" Type="http://schemas.openxmlformats.org/officeDocument/2006/relationships/slide" Target="slides/slide342.xml"/><Relationship Id="rId364" Type="http://schemas.openxmlformats.org/officeDocument/2006/relationships/slide" Target="slides/slide363.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385" Type="http://schemas.openxmlformats.org/officeDocument/2006/relationships/slide" Target="slides/slide384.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312" Type="http://schemas.openxmlformats.org/officeDocument/2006/relationships/slide" Target="slides/slide311.xml"/><Relationship Id="rId333" Type="http://schemas.openxmlformats.org/officeDocument/2006/relationships/slide" Target="slides/slide332.xml"/><Relationship Id="rId354" Type="http://schemas.openxmlformats.org/officeDocument/2006/relationships/slide" Target="slides/slide353.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75" Type="http://schemas.openxmlformats.org/officeDocument/2006/relationships/slide" Target="slides/slide374.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323" Type="http://schemas.openxmlformats.org/officeDocument/2006/relationships/slide" Target="slides/slide322.xml"/><Relationship Id="rId344" Type="http://schemas.openxmlformats.org/officeDocument/2006/relationships/slide" Target="slides/slide343.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365" Type="http://schemas.openxmlformats.org/officeDocument/2006/relationships/slide" Target="slides/slide364.xml"/><Relationship Id="rId386" Type="http://schemas.openxmlformats.org/officeDocument/2006/relationships/slide" Target="slides/slide385.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06" Type="http://schemas.openxmlformats.org/officeDocument/2006/relationships/slide" Target="slides/slide105.xml"/><Relationship Id="rId127" Type="http://schemas.openxmlformats.org/officeDocument/2006/relationships/slide" Target="slides/slide126.xml"/><Relationship Id="rId313" Type="http://schemas.openxmlformats.org/officeDocument/2006/relationships/slide" Target="slides/slide312.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334" Type="http://schemas.openxmlformats.org/officeDocument/2006/relationships/slide" Target="slides/slide333.xml"/><Relationship Id="rId355" Type="http://schemas.openxmlformats.org/officeDocument/2006/relationships/slide" Target="slides/slide354.xml"/><Relationship Id="rId376" Type="http://schemas.openxmlformats.org/officeDocument/2006/relationships/slide" Target="slides/slide375.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303" Type="http://schemas.openxmlformats.org/officeDocument/2006/relationships/slide" Target="slides/slide302.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345" Type="http://schemas.openxmlformats.org/officeDocument/2006/relationships/slide" Target="slides/slide344.xml"/><Relationship Id="rId387" Type="http://schemas.openxmlformats.org/officeDocument/2006/relationships/slide" Target="slides/slide386.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289" Type="http://schemas.openxmlformats.org/officeDocument/2006/relationships/slide" Target="slides/slide288.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314" Type="http://schemas.openxmlformats.org/officeDocument/2006/relationships/slide" Target="slides/slide313.xml"/><Relationship Id="rId356" Type="http://schemas.openxmlformats.org/officeDocument/2006/relationships/slide" Target="slides/slide355.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325" Type="http://schemas.openxmlformats.org/officeDocument/2006/relationships/slide" Target="slides/slide324.xml"/><Relationship Id="rId367" Type="http://schemas.openxmlformats.org/officeDocument/2006/relationships/slide" Target="slides/slide366.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336" Type="http://schemas.openxmlformats.org/officeDocument/2006/relationships/slide" Target="slides/slide335.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 Id="rId378" Type="http://schemas.openxmlformats.org/officeDocument/2006/relationships/slide" Target="slides/slide377.xml"/><Relationship Id="rId6" Type="http://schemas.openxmlformats.org/officeDocument/2006/relationships/slide" Target="slides/slide5.xml"/><Relationship Id="rId238" Type="http://schemas.openxmlformats.org/officeDocument/2006/relationships/slide" Target="slides/slide237.xml"/><Relationship Id="rId291" Type="http://schemas.openxmlformats.org/officeDocument/2006/relationships/slide" Target="slides/slide290.xml"/><Relationship Id="rId305" Type="http://schemas.openxmlformats.org/officeDocument/2006/relationships/slide" Target="slides/slide304.xml"/><Relationship Id="rId347" Type="http://schemas.openxmlformats.org/officeDocument/2006/relationships/slide" Target="slides/slide346.xml"/><Relationship Id="rId44" Type="http://schemas.openxmlformats.org/officeDocument/2006/relationships/slide" Target="slides/slide43.xml"/><Relationship Id="rId86" Type="http://schemas.openxmlformats.org/officeDocument/2006/relationships/slide" Target="slides/slide85.xml"/><Relationship Id="rId151" Type="http://schemas.openxmlformats.org/officeDocument/2006/relationships/slide" Target="slides/slide150.xml"/><Relationship Id="rId389" Type="http://schemas.openxmlformats.org/officeDocument/2006/relationships/slide" Target="slides/slide388.xml"/><Relationship Id="rId193" Type="http://schemas.openxmlformats.org/officeDocument/2006/relationships/slide" Target="slides/slide192.xml"/><Relationship Id="rId207" Type="http://schemas.openxmlformats.org/officeDocument/2006/relationships/slide" Target="slides/slide206.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316" Type="http://schemas.openxmlformats.org/officeDocument/2006/relationships/slide" Target="slides/slide315.xml"/><Relationship Id="rId55" Type="http://schemas.openxmlformats.org/officeDocument/2006/relationships/slide" Target="slides/slide54.xml"/><Relationship Id="rId97" Type="http://schemas.openxmlformats.org/officeDocument/2006/relationships/slide" Target="slides/slide96.xml"/><Relationship Id="rId120" Type="http://schemas.openxmlformats.org/officeDocument/2006/relationships/slide" Target="slides/slide119.xml"/><Relationship Id="rId358" Type="http://schemas.openxmlformats.org/officeDocument/2006/relationships/slide" Target="slides/slide357.xml"/><Relationship Id="rId162" Type="http://schemas.openxmlformats.org/officeDocument/2006/relationships/slide" Target="slides/slide161.xml"/><Relationship Id="rId218" Type="http://schemas.openxmlformats.org/officeDocument/2006/relationships/slide" Target="slides/slide217.xml"/><Relationship Id="rId271" Type="http://schemas.openxmlformats.org/officeDocument/2006/relationships/slide" Target="slides/slide270.xml"/><Relationship Id="rId24" Type="http://schemas.openxmlformats.org/officeDocument/2006/relationships/slide" Target="slides/slide23.xml"/><Relationship Id="rId66" Type="http://schemas.openxmlformats.org/officeDocument/2006/relationships/slide" Target="slides/slide65.xml"/><Relationship Id="rId131" Type="http://schemas.openxmlformats.org/officeDocument/2006/relationships/slide" Target="slides/slide130.xml"/><Relationship Id="rId327" Type="http://schemas.openxmlformats.org/officeDocument/2006/relationships/slide" Target="slides/slide326.xml"/><Relationship Id="rId369" Type="http://schemas.openxmlformats.org/officeDocument/2006/relationships/slide" Target="slides/slide368.xml"/><Relationship Id="rId173" Type="http://schemas.openxmlformats.org/officeDocument/2006/relationships/slide" Target="slides/slide172.xml"/><Relationship Id="rId229" Type="http://schemas.openxmlformats.org/officeDocument/2006/relationships/slide" Target="slides/slide228.xml"/><Relationship Id="rId380" Type="http://schemas.openxmlformats.org/officeDocument/2006/relationships/slide" Target="slides/slide379.xml"/><Relationship Id="rId240" Type="http://schemas.openxmlformats.org/officeDocument/2006/relationships/slide" Target="slides/slide239.xml"/><Relationship Id="rId35" Type="http://schemas.openxmlformats.org/officeDocument/2006/relationships/slide" Target="slides/slide34.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338" Type="http://schemas.openxmlformats.org/officeDocument/2006/relationships/slide" Target="slides/slide337.xml"/><Relationship Id="rId8" Type="http://schemas.openxmlformats.org/officeDocument/2006/relationships/slide" Target="slides/slide7.xml"/><Relationship Id="rId142" Type="http://schemas.openxmlformats.org/officeDocument/2006/relationships/slide" Target="slides/slide141.xml"/><Relationship Id="rId184" Type="http://schemas.openxmlformats.org/officeDocument/2006/relationships/slide" Target="slides/slide183.xml"/><Relationship Id="rId391" Type="http://schemas.openxmlformats.org/officeDocument/2006/relationships/notesMaster" Target="notesMasters/notesMaster1.xml"/><Relationship Id="rId251" Type="http://schemas.openxmlformats.org/officeDocument/2006/relationships/slide" Target="slides/slide250.xml"/><Relationship Id="rId46" Type="http://schemas.openxmlformats.org/officeDocument/2006/relationships/slide" Target="slides/slide45.xml"/><Relationship Id="rId293" Type="http://schemas.openxmlformats.org/officeDocument/2006/relationships/slide" Target="slides/slide292.xml"/><Relationship Id="rId307" Type="http://schemas.openxmlformats.org/officeDocument/2006/relationships/slide" Target="slides/slide306.xml"/><Relationship Id="rId349" Type="http://schemas.openxmlformats.org/officeDocument/2006/relationships/slide" Target="slides/slide348.xml"/><Relationship Id="rId88" Type="http://schemas.openxmlformats.org/officeDocument/2006/relationships/slide" Target="slides/slide87.xml"/><Relationship Id="rId111" Type="http://schemas.openxmlformats.org/officeDocument/2006/relationships/slide" Target="slides/slide110.xml"/><Relationship Id="rId153" Type="http://schemas.openxmlformats.org/officeDocument/2006/relationships/slide" Target="slides/slide152.xml"/><Relationship Id="rId195" Type="http://schemas.openxmlformats.org/officeDocument/2006/relationships/slide" Target="slides/slide194.xml"/><Relationship Id="rId209" Type="http://schemas.openxmlformats.org/officeDocument/2006/relationships/slide" Target="slides/slide208.xml"/><Relationship Id="rId360" Type="http://schemas.openxmlformats.org/officeDocument/2006/relationships/slide" Target="slides/slide359.xml"/><Relationship Id="rId220" Type="http://schemas.openxmlformats.org/officeDocument/2006/relationships/slide" Target="slides/slide219.xml"/><Relationship Id="rId15" Type="http://schemas.openxmlformats.org/officeDocument/2006/relationships/slide" Target="slides/slide14.xml"/><Relationship Id="rId57" Type="http://schemas.openxmlformats.org/officeDocument/2006/relationships/slide" Target="slides/slide56.xml"/><Relationship Id="rId262" Type="http://schemas.openxmlformats.org/officeDocument/2006/relationships/slide" Target="slides/slide261.xml"/><Relationship Id="rId318" Type="http://schemas.openxmlformats.org/officeDocument/2006/relationships/slide" Target="slides/slide317.xml"/><Relationship Id="rId99" Type="http://schemas.openxmlformats.org/officeDocument/2006/relationships/slide" Target="slides/slide98.xml"/><Relationship Id="rId122" Type="http://schemas.openxmlformats.org/officeDocument/2006/relationships/slide" Target="slides/slide121.xml"/><Relationship Id="rId164" Type="http://schemas.openxmlformats.org/officeDocument/2006/relationships/slide" Target="slides/slide163.xml"/><Relationship Id="rId371" Type="http://schemas.openxmlformats.org/officeDocument/2006/relationships/slide" Target="slides/slide370.xml"/><Relationship Id="rId26" Type="http://schemas.openxmlformats.org/officeDocument/2006/relationships/slide" Target="slides/slide25.xml"/><Relationship Id="rId231" Type="http://schemas.openxmlformats.org/officeDocument/2006/relationships/slide" Target="slides/slide230.xml"/><Relationship Id="rId273" Type="http://schemas.openxmlformats.org/officeDocument/2006/relationships/slide" Target="slides/slide272.xml"/><Relationship Id="rId329" Type="http://schemas.openxmlformats.org/officeDocument/2006/relationships/slide" Target="slides/slide328.xml"/><Relationship Id="rId68" Type="http://schemas.openxmlformats.org/officeDocument/2006/relationships/slide" Target="slides/slide67.xml"/><Relationship Id="rId133" Type="http://schemas.openxmlformats.org/officeDocument/2006/relationships/slide" Target="slides/slide132.xml"/><Relationship Id="rId175" Type="http://schemas.openxmlformats.org/officeDocument/2006/relationships/slide" Target="slides/slide174.xml"/><Relationship Id="rId340" Type="http://schemas.openxmlformats.org/officeDocument/2006/relationships/slide" Target="slides/slide339.xml"/><Relationship Id="rId200" Type="http://schemas.openxmlformats.org/officeDocument/2006/relationships/slide" Target="slides/slide199.xml"/><Relationship Id="rId382" Type="http://schemas.openxmlformats.org/officeDocument/2006/relationships/slide" Target="slides/slide3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7B258B-7C8E-6F42-AAA5-01A97B25AF69}" type="datetimeFigureOut">
              <a:rPr lang="en-US" smtClean="0"/>
              <a:t>2/5/26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34E2B1-45E3-9C43-997F-884B63A56041}" type="slidenum">
              <a:rPr lang="en-US" smtClean="0"/>
              <a:t>‹#›</a:t>
            </a:fld>
            <a:endParaRPr lang="en-US"/>
          </a:p>
        </p:txBody>
      </p:sp>
    </p:spTree>
    <p:extLst>
      <p:ext uri="{BB962C8B-B14F-4D97-AF65-F5344CB8AC3E}">
        <p14:creationId xmlns:p14="http://schemas.microsoft.com/office/powerpoint/2010/main" val="24628278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34E2B1-45E3-9C43-997F-884B63A56041}" type="slidenum">
              <a:rPr lang="en-US" smtClean="0"/>
              <a:t>353</a:t>
            </a:fld>
            <a:endParaRPr lang="en-US"/>
          </a:p>
        </p:txBody>
      </p:sp>
    </p:spTree>
    <p:extLst>
      <p:ext uri="{BB962C8B-B14F-4D97-AF65-F5344CB8AC3E}">
        <p14:creationId xmlns:p14="http://schemas.microsoft.com/office/powerpoint/2010/main" val="40125003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3B25C-C4B9-C1CB-4ECC-38590AAC36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0DA9B0-3272-51D2-3DDB-6724536210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C3B19D-343D-EB26-EB51-8F84CC0C92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E2C3D7-09A2-B436-5E61-2028AA442D3D}"/>
              </a:ext>
            </a:extLst>
          </p:cNvPr>
          <p:cNvSpPr>
            <a:spLocks noGrp="1"/>
          </p:cNvSpPr>
          <p:nvPr>
            <p:ph type="sldNum" sz="quarter" idx="5"/>
          </p:nvPr>
        </p:nvSpPr>
        <p:spPr/>
        <p:txBody>
          <a:bodyPr/>
          <a:lstStyle/>
          <a:p>
            <a:fld id="{5134E2B1-45E3-9C43-997F-884B63A56041}" type="slidenum">
              <a:rPr lang="en-US" smtClean="0"/>
              <a:t>354</a:t>
            </a:fld>
            <a:endParaRPr lang="en-US"/>
          </a:p>
        </p:txBody>
      </p:sp>
    </p:spTree>
    <p:extLst>
      <p:ext uri="{BB962C8B-B14F-4D97-AF65-F5344CB8AC3E}">
        <p14:creationId xmlns:p14="http://schemas.microsoft.com/office/powerpoint/2010/main" val="39257329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68940-7291-8E9A-4081-D4396F784C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C36EC198-2968-8F62-77B4-AAE01D78C7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1949C19-5603-0050-F663-69C3DC386DE6}"/>
              </a:ext>
            </a:extLst>
          </p:cNvPr>
          <p:cNvSpPr>
            <a:spLocks noGrp="1"/>
          </p:cNvSpPr>
          <p:nvPr>
            <p:ph type="dt" sz="half" idx="10"/>
          </p:nvPr>
        </p:nvSpPr>
        <p:spPr/>
        <p:txBody>
          <a:bodyPr/>
          <a:lstStyle/>
          <a:p>
            <a:fld id="{5C2D3E64-4A84-AF49-93ED-E7159E3088C8}" type="datetimeFigureOut">
              <a:rPr lang="en-US" smtClean="0"/>
              <a:t>2/5/26</a:t>
            </a:fld>
            <a:endParaRPr lang="en-US"/>
          </a:p>
        </p:txBody>
      </p:sp>
      <p:sp>
        <p:nvSpPr>
          <p:cNvPr id="5" name="Footer Placeholder 4">
            <a:extLst>
              <a:ext uri="{FF2B5EF4-FFF2-40B4-BE49-F238E27FC236}">
                <a16:creationId xmlns:a16="http://schemas.microsoft.com/office/drawing/2014/main" id="{B4EA78D5-5729-4005-CA65-F7C4A4BBCB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791138-B171-F572-9E58-A8BD8D9D7BF7}"/>
              </a:ext>
            </a:extLst>
          </p:cNvPr>
          <p:cNvSpPr>
            <a:spLocks noGrp="1"/>
          </p:cNvSpPr>
          <p:nvPr>
            <p:ph type="sldNum" sz="quarter" idx="12"/>
          </p:nvPr>
        </p:nvSpPr>
        <p:spPr/>
        <p:txBody>
          <a:bodyPr/>
          <a:lstStyle/>
          <a:p>
            <a:fld id="{447859CE-FF79-C64B-BC40-B6C0C01335E4}" type="slidenum">
              <a:rPr lang="en-US" smtClean="0"/>
              <a:t>‹#›</a:t>
            </a:fld>
            <a:endParaRPr lang="en-US"/>
          </a:p>
        </p:txBody>
      </p:sp>
    </p:spTree>
    <p:extLst>
      <p:ext uri="{BB962C8B-B14F-4D97-AF65-F5344CB8AC3E}">
        <p14:creationId xmlns:p14="http://schemas.microsoft.com/office/powerpoint/2010/main" val="14204083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15CE7-1780-BB89-1709-860B069F54C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B13CDE5-590D-654B-2F88-B3C462724B8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595042F-17DF-D176-637A-346C42C7C85F}"/>
              </a:ext>
            </a:extLst>
          </p:cNvPr>
          <p:cNvSpPr>
            <a:spLocks noGrp="1"/>
          </p:cNvSpPr>
          <p:nvPr>
            <p:ph type="dt" sz="half" idx="10"/>
          </p:nvPr>
        </p:nvSpPr>
        <p:spPr/>
        <p:txBody>
          <a:bodyPr/>
          <a:lstStyle/>
          <a:p>
            <a:fld id="{5C2D3E64-4A84-AF49-93ED-E7159E3088C8}" type="datetimeFigureOut">
              <a:rPr lang="en-US" smtClean="0"/>
              <a:t>2/5/26</a:t>
            </a:fld>
            <a:endParaRPr lang="en-US"/>
          </a:p>
        </p:txBody>
      </p:sp>
      <p:sp>
        <p:nvSpPr>
          <p:cNvPr id="5" name="Footer Placeholder 4">
            <a:extLst>
              <a:ext uri="{FF2B5EF4-FFF2-40B4-BE49-F238E27FC236}">
                <a16:creationId xmlns:a16="http://schemas.microsoft.com/office/drawing/2014/main" id="{6678738C-060A-0FD8-894B-BECB6D165D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02AE55-95D6-94AF-BAF0-8F35BAA907F2}"/>
              </a:ext>
            </a:extLst>
          </p:cNvPr>
          <p:cNvSpPr>
            <a:spLocks noGrp="1"/>
          </p:cNvSpPr>
          <p:nvPr>
            <p:ph type="sldNum" sz="quarter" idx="12"/>
          </p:nvPr>
        </p:nvSpPr>
        <p:spPr/>
        <p:txBody>
          <a:bodyPr/>
          <a:lstStyle/>
          <a:p>
            <a:fld id="{447859CE-FF79-C64B-BC40-B6C0C01335E4}" type="slidenum">
              <a:rPr lang="en-US" smtClean="0"/>
              <a:t>‹#›</a:t>
            </a:fld>
            <a:endParaRPr lang="en-US"/>
          </a:p>
        </p:txBody>
      </p:sp>
    </p:spTree>
    <p:extLst>
      <p:ext uri="{BB962C8B-B14F-4D97-AF65-F5344CB8AC3E}">
        <p14:creationId xmlns:p14="http://schemas.microsoft.com/office/powerpoint/2010/main" val="14107013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ADCA7-8887-46A1-D8F4-093E380267E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F52D2694-4FC9-C958-3C64-144427E112A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1EB3968-BB64-B6CD-EC21-C21BF0D1A14D}"/>
              </a:ext>
            </a:extLst>
          </p:cNvPr>
          <p:cNvSpPr>
            <a:spLocks noGrp="1"/>
          </p:cNvSpPr>
          <p:nvPr>
            <p:ph type="dt" sz="half" idx="10"/>
          </p:nvPr>
        </p:nvSpPr>
        <p:spPr/>
        <p:txBody>
          <a:bodyPr/>
          <a:lstStyle/>
          <a:p>
            <a:fld id="{5C2D3E64-4A84-AF49-93ED-E7159E3088C8}" type="datetimeFigureOut">
              <a:rPr lang="en-US" smtClean="0"/>
              <a:t>2/5/26</a:t>
            </a:fld>
            <a:endParaRPr lang="en-US"/>
          </a:p>
        </p:txBody>
      </p:sp>
      <p:sp>
        <p:nvSpPr>
          <p:cNvPr id="5" name="Footer Placeholder 4">
            <a:extLst>
              <a:ext uri="{FF2B5EF4-FFF2-40B4-BE49-F238E27FC236}">
                <a16:creationId xmlns:a16="http://schemas.microsoft.com/office/drawing/2014/main" id="{452EC18A-26C7-40AA-BEF8-1B58C45AAD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651382-7541-25EA-A794-45C2A75F2243}"/>
              </a:ext>
            </a:extLst>
          </p:cNvPr>
          <p:cNvSpPr>
            <a:spLocks noGrp="1"/>
          </p:cNvSpPr>
          <p:nvPr>
            <p:ph type="sldNum" sz="quarter" idx="12"/>
          </p:nvPr>
        </p:nvSpPr>
        <p:spPr/>
        <p:txBody>
          <a:bodyPr/>
          <a:lstStyle/>
          <a:p>
            <a:fld id="{447859CE-FF79-C64B-BC40-B6C0C01335E4}" type="slidenum">
              <a:rPr lang="en-US" smtClean="0"/>
              <a:t>‹#›</a:t>
            </a:fld>
            <a:endParaRPr lang="en-US"/>
          </a:p>
        </p:txBody>
      </p:sp>
    </p:spTree>
    <p:extLst>
      <p:ext uri="{BB962C8B-B14F-4D97-AF65-F5344CB8AC3E}">
        <p14:creationId xmlns:p14="http://schemas.microsoft.com/office/powerpoint/2010/main" val="12842475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655ED-024E-B423-631F-44087AE59F5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27B6D26-F5E0-BBA8-7802-C85DEE5F0B9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2DED5AD-38C2-F2DA-5E07-9E2F28762B3D}"/>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48923D81-5807-FBE1-38F7-C6DAB7A53FAD}"/>
              </a:ext>
            </a:extLst>
          </p:cNvPr>
          <p:cNvSpPr>
            <a:spLocks noGrp="1"/>
          </p:cNvSpPr>
          <p:nvPr>
            <p:ph type="dt" sz="half" idx="10"/>
          </p:nvPr>
        </p:nvSpPr>
        <p:spPr/>
        <p:txBody>
          <a:bodyPr/>
          <a:lstStyle/>
          <a:p>
            <a:fld id="{5C2D3E64-4A84-AF49-93ED-E7159E3088C8}" type="datetimeFigureOut">
              <a:rPr lang="en-US" smtClean="0"/>
              <a:t>2/5/26</a:t>
            </a:fld>
            <a:endParaRPr lang="en-US"/>
          </a:p>
        </p:txBody>
      </p:sp>
      <p:sp>
        <p:nvSpPr>
          <p:cNvPr id="6" name="Footer Placeholder 5">
            <a:extLst>
              <a:ext uri="{FF2B5EF4-FFF2-40B4-BE49-F238E27FC236}">
                <a16:creationId xmlns:a16="http://schemas.microsoft.com/office/drawing/2014/main" id="{DE8760BA-C19E-4F1A-1613-6B40077918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283A46-ADF4-0A33-7744-AF4CEBC88F2A}"/>
              </a:ext>
            </a:extLst>
          </p:cNvPr>
          <p:cNvSpPr>
            <a:spLocks noGrp="1"/>
          </p:cNvSpPr>
          <p:nvPr>
            <p:ph type="sldNum" sz="quarter" idx="12"/>
          </p:nvPr>
        </p:nvSpPr>
        <p:spPr/>
        <p:txBody>
          <a:bodyPr/>
          <a:lstStyle/>
          <a:p>
            <a:fld id="{447859CE-FF79-C64B-BC40-B6C0C01335E4}" type="slidenum">
              <a:rPr lang="en-US" smtClean="0"/>
              <a:t>‹#›</a:t>
            </a:fld>
            <a:endParaRPr lang="en-US"/>
          </a:p>
        </p:txBody>
      </p:sp>
    </p:spTree>
    <p:extLst>
      <p:ext uri="{BB962C8B-B14F-4D97-AF65-F5344CB8AC3E}">
        <p14:creationId xmlns:p14="http://schemas.microsoft.com/office/powerpoint/2010/main" val="40265584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013EE-C6EA-709A-848D-BB471B1E7627}"/>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2CF9AE9-F3CE-7D6C-4712-FB9E589C55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D54EBC1-95F8-EB76-93FD-FD7F2EE7E6A1}"/>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A35BFAFC-0E00-0DFD-E147-C2EC67A8ED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1F3F771-051F-915B-812A-A0B1FBCF506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E6CD92EB-EAF0-AF2C-A425-89523DF43E0B}"/>
              </a:ext>
            </a:extLst>
          </p:cNvPr>
          <p:cNvSpPr>
            <a:spLocks noGrp="1"/>
          </p:cNvSpPr>
          <p:nvPr>
            <p:ph type="dt" sz="half" idx="10"/>
          </p:nvPr>
        </p:nvSpPr>
        <p:spPr/>
        <p:txBody>
          <a:bodyPr/>
          <a:lstStyle/>
          <a:p>
            <a:fld id="{5C2D3E64-4A84-AF49-93ED-E7159E3088C8}" type="datetimeFigureOut">
              <a:rPr lang="en-US" smtClean="0"/>
              <a:t>2/5/26</a:t>
            </a:fld>
            <a:endParaRPr lang="en-US"/>
          </a:p>
        </p:txBody>
      </p:sp>
      <p:sp>
        <p:nvSpPr>
          <p:cNvPr id="8" name="Footer Placeholder 7">
            <a:extLst>
              <a:ext uri="{FF2B5EF4-FFF2-40B4-BE49-F238E27FC236}">
                <a16:creationId xmlns:a16="http://schemas.microsoft.com/office/drawing/2014/main" id="{5028E587-4F62-0C86-A63A-17E856C301F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F55C0F0-F10A-84C5-22A1-26D4145CA581}"/>
              </a:ext>
            </a:extLst>
          </p:cNvPr>
          <p:cNvSpPr>
            <a:spLocks noGrp="1"/>
          </p:cNvSpPr>
          <p:nvPr>
            <p:ph type="sldNum" sz="quarter" idx="12"/>
          </p:nvPr>
        </p:nvSpPr>
        <p:spPr/>
        <p:txBody>
          <a:bodyPr/>
          <a:lstStyle/>
          <a:p>
            <a:fld id="{447859CE-FF79-C64B-BC40-B6C0C01335E4}" type="slidenum">
              <a:rPr lang="en-US" smtClean="0"/>
              <a:t>‹#›</a:t>
            </a:fld>
            <a:endParaRPr lang="en-US"/>
          </a:p>
        </p:txBody>
      </p:sp>
    </p:spTree>
    <p:extLst>
      <p:ext uri="{BB962C8B-B14F-4D97-AF65-F5344CB8AC3E}">
        <p14:creationId xmlns:p14="http://schemas.microsoft.com/office/powerpoint/2010/main" val="27843977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B6C1C-63C7-7848-B078-5819A40AE304}"/>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F0774B43-72EB-0C15-1332-346657E9F930}"/>
              </a:ext>
            </a:extLst>
          </p:cNvPr>
          <p:cNvSpPr>
            <a:spLocks noGrp="1"/>
          </p:cNvSpPr>
          <p:nvPr>
            <p:ph type="dt" sz="half" idx="10"/>
          </p:nvPr>
        </p:nvSpPr>
        <p:spPr/>
        <p:txBody>
          <a:bodyPr/>
          <a:lstStyle/>
          <a:p>
            <a:fld id="{5C2D3E64-4A84-AF49-93ED-E7159E3088C8}" type="datetimeFigureOut">
              <a:rPr lang="en-US" smtClean="0"/>
              <a:t>2/5/26</a:t>
            </a:fld>
            <a:endParaRPr lang="en-US"/>
          </a:p>
        </p:txBody>
      </p:sp>
      <p:sp>
        <p:nvSpPr>
          <p:cNvPr id="4" name="Footer Placeholder 3">
            <a:extLst>
              <a:ext uri="{FF2B5EF4-FFF2-40B4-BE49-F238E27FC236}">
                <a16:creationId xmlns:a16="http://schemas.microsoft.com/office/drawing/2014/main" id="{1AA2091A-6519-43D4-F951-AF7CF5473E4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09D48F-B9BD-B32C-AFB1-A6BFE052EC3A}"/>
              </a:ext>
            </a:extLst>
          </p:cNvPr>
          <p:cNvSpPr>
            <a:spLocks noGrp="1"/>
          </p:cNvSpPr>
          <p:nvPr>
            <p:ph type="sldNum" sz="quarter" idx="12"/>
          </p:nvPr>
        </p:nvSpPr>
        <p:spPr/>
        <p:txBody>
          <a:bodyPr/>
          <a:lstStyle/>
          <a:p>
            <a:fld id="{447859CE-FF79-C64B-BC40-B6C0C01335E4}" type="slidenum">
              <a:rPr lang="en-US" smtClean="0"/>
              <a:t>‹#›</a:t>
            </a:fld>
            <a:endParaRPr lang="en-US"/>
          </a:p>
        </p:txBody>
      </p:sp>
    </p:spTree>
    <p:extLst>
      <p:ext uri="{BB962C8B-B14F-4D97-AF65-F5344CB8AC3E}">
        <p14:creationId xmlns:p14="http://schemas.microsoft.com/office/powerpoint/2010/main" val="22121206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53245F1-64FB-E405-151D-047897A1970F}"/>
              </a:ext>
            </a:extLst>
          </p:cNvPr>
          <p:cNvSpPr>
            <a:spLocks noGrp="1"/>
          </p:cNvSpPr>
          <p:nvPr>
            <p:ph type="dt" sz="half" idx="10"/>
          </p:nvPr>
        </p:nvSpPr>
        <p:spPr/>
        <p:txBody>
          <a:bodyPr/>
          <a:lstStyle/>
          <a:p>
            <a:fld id="{5C2D3E64-4A84-AF49-93ED-E7159E3088C8}" type="datetimeFigureOut">
              <a:rPr lang="en-US" smtClean="0"/>
              <a:t>2/5/26</a:t>
            </a:fld>
            <a:endParaRPr lang="en-US"/>
          </a:p>
        </p:txBody>
      </p:sp>
      <p:sp>
        <p:nvSpPr>
          <p:cNvPr id="3" name="Footer Placeholder 2">
            <a:extLst>
              <a:ext uri="{FF2B5EF4-FFF2-40B4-BE49-F238E27FC236}">
                <a16:creationId xmlns:a16="http://schemas.microsoft.com/office/drawing/2014/main" id="{E84F2E79-5818-57A1-96EB-1410C1222AB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0263881-28E7-9AE7-8BE8-62B87A180D46}"/>
              </a:ext>
            </a:extLst>
          </p:cNvPr>
          <p:cNvSpPr>
            <a:spLocks noGrp="1"/>
          </p:cNvSpPr>
          <p:nvPr>
            <p:ph type="sldNum" sz="quarter" idx="12"/>
          </p:nvPr>
        </p:nvSpPr>
        <p:spPr/>
        <p:txBody>
          <a:bodyPr/>
          <a:lstStyle/>
          <a:p>
            <a:fld id="{447859CE-FF79-C64B-BC40-B6C0C01335E4}" type="slidenum">
              <a:rPr lang="en-US" smtClean="0"/>
              <a:t>‹#›</a:t>
            </a:fld>
            <a:endParaRPr lang="en-US"/>
          </a:p>
        </p:txBody>
      </p:sp>
    </p:spTree>
    <p:extLst>
      <p:ext uri="{BB962C8B-B14F-4D97-AF65-F5344CB8AC3E}">
        <p14:creationId xmlns:p14="http://schemas.microsoft.com/office/powerpoint/2010/main" val="10807511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DFCC2-7C6E-E62A-AE96-C15A7FD0631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31AAA19-2AC3-E89D-A375-A46EA8B5E8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3CE2E6EE-9186-9A91-235B-DF9E529646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80BABE2-54AD-DBE9-A467-450A4174B12C}"/>
              </a:ext>
            </a:extLst>
          </p:cNvPr>
          <p:cNvSpPr>
            <a:spLocks noGrp="1"/>
          </p:cNvSpPr>
          <p:nvPr>
            <p:ph type="dt" sz="half" idx="10"/>
          </p:nvPr>
        </p:nvSpPr>
        <p:spPr/>
        <p:txBody>
          <a:bodyPr/>
          <a:lstStyle/>
          <a:p>
            <a:fld id="{5C2D3E64-4A84-AF49-93ED-E7159E3088C8}" type="datetimeFigureOut">
              <a:rPr lang="en-US" smtClean="0"/>
              <a:t>2/5/26</a:t>
            </a:fld>
            <a:endParaRPr lang="en-US"/>
          </a:p>
        </p:txBody>
      </p:sp>
      <p:sp>
        <p:nvSpPr>
          <p:cNvPr id="6" name="Footer Placeholder 5">
            <a:extLst>
              <a:ext uri="{FF2B5EF4-FFF2-40B4-BE49-F238E27FC236}">
                <a16:creationId xmlns:a16="http://schemas.microsoft.com/office/drawing/2014/main" id="{1DA15252-E0BA-63F8-416F-0F73EB4D89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18982B-9B95-A2E5-CD66-A87B9CFBADA0}"/>
              </a:ext>
            </a:extLst>
          </p:cNvPr>
          <p:cNvSpPr>
            <a:spLocks noGrp="1"/>
          </p:cNvSpPr>
          <p:nvPr>
            <p:ph type="sldNum" sz="quarter" idx="12"/>
          </p:nvPr>
        </p:nvSpPr>
        <p:spPr/>
        <p:txBody>
          <a:bodyPr/>
          <a:lstStyle/>
          <a:p>
            <a:fld id="{447859CE-FF79-C64B-BC40-B6C0C01335E4}" type="slidenum">
              <a:rPr lang="en-US" smtClean="0"/>
              <a:t>‹#›</a:t>
            </a:fld>
            <a:endParaRPr lang="en-US"/>
          </a:p>
        </p:txBody>
      </p:sp>
    </p:spTree>
    <p:extLst>
      <p:ext uri="{BB962C8B-B14F-4D97-AF65-F5344CB8AC3E}">
        <p14:creationId xmlns:p14="http://schemas.microsoft.com/office/powerpoint/2010/main" val="15603122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3984A-5BAE-85EB-78D8-EF21E31B2EF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131FB294-3B3E-9BDC-3311-9CE837CA2E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36F2650-D460-A383-10DC-987CCE45F7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6345D91-794D-892D-53A7-FD22D908F898}"/>
              </a:ext>
            </a:extLst>
          </p:cNvPr>
          <p:cNvSpPr>
            <a:spLocks noGrp="1"/>
          </p:cNvSpPr>
          <p:nvPr>
            <p:ph type="dt" sz="half" idx="10"/>
          </p:nvPr>
        </p:nvSpPr>
        <p:spPr/>
        <p:txBody>
          <a:bodyPr/>
          <a:lstStyle/>
          <a:p>
            <a:fld id="{5C2D3E64-4A84-AF49-93ED-E7159E3088C8}" type="datetimeFigureOut">
              <a:rPr lang="en-US" smtClean="0"/>
              <a:t>2/5/26</a:t>
            </a:fld>
            <a:endParaRPr lang="en-US"/>
          </a:p>
        </p:txBody>
      </p:sp>
      <p:sp>
        <p:nvSpPr>
          <p:cNvPr id="6" name="Footer Placeholder 5">
            <a:extLst>
              <a:ext uri="{FF2B5EF4-FFF2-40B4-BE49-F238E27FC236}">
                <a16:creationId xmlns:a16="http://schemas.microsoft.com/office/drawing/2014/main" id="{6818D693-38E3-82C9-A05F-CE7FB26101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A56740-D66D-9C48-F8FB-E517CB137F29}"/>
              </a:ext>
            </a:extLst>
          </p:cNvPr>
          <p:cNvSpPr>
            <a:spLocks noGrp="1"/>
          </p:cNvSpPr>
          <p:nvPr>
            <p:ph type="sldNum" sz="quarter" idx="12"/>
          </p:nvPr>
        </p:nvSpPr>
        <p:spPr/>
        <p:txBody>
          <a:bodyPr/>
          <a:lstStyle/>
          <a:p>
            <a:fld id="{447859CE-FF79-C64B-BC40-B6C0C01335E4}" type="slidenum">
              <a:rPr lang="en-US" smtClean="0"/>
              <a:t>‹#›</a:t>
            </a:fld>
            <a:endParaRPr lang="en-US"/>
          </a:p>
        </p:txBody>
      </p:sp>
    </p:spTree>
    <p:extLst>
      <p:ext uri="{BB962C8B-B14F-4D97-AF65-F5344CB8AC3E}">
        <p14:creationId xmlns:p14="http://schemas.microsoft.com/office/powerpoint/2010/main" val="38291166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1B23D-493C-1FF0-DEB9-58264B593C7A}"/>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CF57B30-C4CA-8D4F-B763-15AB3107A21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E5278DC-0665-9C0B-2F4D-2A325855D2D8}"/>
              </a:ext>
            </a:extLst>
          </p:cNvPr>
          <p:cNvSpPr>
            <a:spLocks noGrp="1"/>
          </p:cNvSpPr>
          <p:nvPr>
            <p:ph type="dt" sz="half" idx="10"/>
          </p:nvPr>
        </p:nvSpPr>
        <p:spPr/>
        <p:txBody>
          <a:bodyPr/>
          <a:lstStyle/>
          <a:p>
            <a:fld id="{5C2D3E64-4A84-AF49-93ED-E7159E3088C8}" type="datetimeFigureOut">
              <a:rPr lang="en-US" smtClean="0"/>
              <a:t>2/5/26</a:t>
            </a:fld>
            <a:endParaRPr lang="en-US"/>
          </a:p>
        </p:txBody>
      </p:sp>
      <p:sp>
        <p:nvSpPr>
          <p:cNvPr id="5" name="Footer Placeholder 4">
            <a:extLst>
              <a:ext uri="{FF2B5EF4-FFF2-40B4-BE49-F238E27FC236}">
                <a16:creationId xmlns:a16="http://schemas.microsoft.com/office/drawing/2014/main" id="{EF4BBDF8-F3B0-E6B7-325D-1183766FE9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43E3C2-8604-2275-AED6-DF6922C6104C}"/>
              </a:ext>
            </a:extLst>
          </p:cNvPr>
          <p:cNvSpPr>
            <a:spLocks noGrp="1"/>
          </p:cNvSpPr>
          <p:nvPr>
            <p:ph type="sldNum" sz="quarter" idx="12"/>
          </p:nvPr>
        </p:nvSpPr>
        <p:spPr/>
        <p:txBody>
          <a:bodyPr/>
          <a:lstStyle/>
          <a:p>
            <a:fld id="{447859CE-FF79-C64B-BC40-B6C0C01335E4}" type="slidenum">
              <a:rPr lang="en-US" smtClean="0"/>
              <a:t>‹#›</a:t>
            </a:fld>
            <a:endParaRPr lang="en-US"/>
          </a:p>
        </p:txBody>
      </p:sp>
    </p:spTree>
    <p:extLst>
      <p:ext uri="{BB962C8B-B14F-4D97-AF65-F5344CB8AC3E}">
        <p14:creationId xmlns:p14="http://schemas.microsoft.com/office/powerpoint/2010/main" val="2709503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00DD678-8E25-3906-2CA2-1D77480417B6}"/>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5DA4290-7111-9A0E-44B5-2A0E0829E4F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AB398DC-A87E-D4FC-2FD2-6436300D7F11}"/>
              </a:ext>
            </a:extLst>
          </p:cNvPr>
          <p:cNvSpPr>
            <a:spLocks noGrp="1"/>
          </p:cNvSpPr>
          <p:nvPr>
            <p:ph type="dt" sz="half" idx="10"/>
          </p:nvPr>
        </p:nvSpPr>
        <p:spPr/>
        <p:txBody>
          <a:bodyPr/>
          <a:lstStyle/>
          <a:p>
            <a:fld id="{5C2D3E64-4A84-AF49-93ED-E7159E3088C8}" type="datetimeFigureOut">
              <a:rPr lang="en-US" smtClean="0"/>
              <a:t>2/5/26</a:t>
            </a:fld>
            <a:endParaRPr lang="en-US"/>
          </a:p>
        </p:txBody>
      </p:sp>
      <p:sp>
        <p:nvSpPr>
          <p:cNvPr id="5" name="Footer Placeholder 4">
            <a:extLst>
              <a:ext uri="{FF2B5EF4-FFF2-40B4-BE49-F238E27FC236}">
                <a16:creationId xmlns:a16="http://schemas.microsoft.com/office/drawing/2014/main" id="{D921880D-2379-6CD4-8272-6973FEAFD8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03962E-3E4D-64C1-62FC-F0580B8DD289}"/>
              </a:ext>
            </a:extLst>
          </p:cNvPr>
          <p:cNvSpPr>
            <a:spLocks noGrp="1"/>
          </p:cNvSpPr>
          <p:nvPr>
            <p:ph type="sldNum" sz="quarter" idx="12"/>
          </p:nvPr>
        </p:nvSpPr>
        <p:spPr/>
        <p:txBody>
          <a:bodyPr/>
          <a:lstStyle/>
          <a:p>
            <a:fld id="{447859CE-FF79-C64B-BC40-B6C0C01335E4}" type="slidenum">
              <a:rPr lang="en-US" smtClean="0"/>
              <a:t>‹#›</a:t>
            </a:fld>
            <a:endParaRPr lang="en-US"/>
          </a:p>
        </p:txBody>
      </p:sp>
    </p:spTree>
    <p:extLst>
      <p:ext uri="{BB962C8B-B14F-4D97-AF65-F5344CB8AC3E}">
        <p14:creationId xmlns:p14="http://schemas.microsoft.com/office/powerpoint/2010/main" val="26488645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589F4A-EE09-8FF2-6275-DFDC0DF0271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A72130E-2B32-22A7-88F9-2159322946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64A1B60-1A12-12E4-BE56-CF8FAA118E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C2D3E64-4A84-AF49-93ED-E7159E3088C8}" type="datetimeFigureOut">
              <a:rPr lang="en-US" smtClean="0"/>
              <a:t>2/5/26</a:t>
            </a:fld>
            <a:endParaRPr lang="en-US"/>
          </a:p>
        </p:txBody>
      </p:sp>
      <p:sp>
        <p:nvSpPr>
          <p:cNvPr id="5" name="Footer Placeholder 4">
            <a:extLst>
              <a:ext uri="{FF2B5EF4-FFF2-40B4-BE49-F238E27FC236}">
                <a16:creationId xmlns:a16="http://schemas.microsoft.com/office/drawing/2014/main" id="{EF3E0EB0-EA2C-977B-1F8B-313C45D4FC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65DBA43-56BF-9675-89B5-0CF29B35A4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47859CE-FF79-C64B-BC40-B6C0C01335E4}" type="slidenum">
              <a:rPr lang="en-US" smtClean="0"/>
              <a:t>‹#›</a:t>
            </a:fld>
            <a:endParaRPr lang="en-US"/>
          </a:p>
        </p:txBody>
      </p:sp>
    </p:spTree>
    <p:extLst>
      <p:ext uri="{BB962C8B-B14F-4D97-AF65-F5344CB8AC3E}">
        <p14:creationId xmlns:p14="http://schemas.microsoft.com/office/powerpoint/2010/main" val="20122982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hyperlink" Target="https://www.geeksforgeeks.org/c/fabs-function-in-c/" TargetMode="Externa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9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0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0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0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1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1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1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1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1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1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1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1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1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1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32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2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2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32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32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32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3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33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335.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3.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344.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345.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346.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347.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348.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349.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5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0.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361.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CC60C-626F-7EF0-319F-1234D55A27F3}"/>
              </a:ext>
            </a:extLst>
          </p:cNvPr>
          <p:cNvSpPr>
            <a:spLocks noGrp="1"/>
          </p:cNvSpPr>
          <p:nvPr>
            <p:ph type="ctrTitle"/>
          </p:nvPr>
        </p:nvSpPr>
        <p:spPr/>
        <p:txBody>
          <a:bodyPr/>
          <a:lstStyle/>
          <a:p>
            <a:r>
              <a:rPr lang="en-US" dirty="0"/>
              <a:t>Programming – Interview Questions</a:t>
            </a:r>
          </a:p>
        </p:txBody>
      </p:sp>
      <p:sp>
        <p:nvSpPr>
          <p:cNvPr id="3" name="Subtitle 2">
            <a:extLst>
              <a:ext uri="{FF2B5EF4-FFF2-40B4-BE49-F238E27FC236}">
                <a16:creationId xmlns:a16="http://schemas.microsoft.com/office/drawing/2014/main" id="{E360E5AF-4C8E-9DED-0089-F04CEBD95B7B}"/>
              </a:ext>
            </a:extLst>
          </p:cNvPr>
          <p:cNvSpPr>
            <a:spLocks noGrp="1"/>
          </p:cNvSpPr>
          <p:nvPr>
            <p:ph type="subTitle" idx="1"/>
          </p:nvPr>
        </p:nvSpPr>
        <p:spPr/>
        <p:txBody>
          <a:bodyPr>
            <a:normAutofit lnSpcReduction="10000"/>
          </a:bodyPr>
          <a:lstStyle/>
          <a:p>
            <a:r>
              <a:rPr lang="en-US" dirty="0"/>
              <a:t>Dr. Naveen Kumar</a:t>
            </a:r>
          </a:p>
          <a:p>
            <a:r>
              <a:rPr lang="en-US" dirty="0"/>
              <a:t>Associate Professor</a:t>
            </a:r>
          </a:p>
          <a:p>
            <a:r>
              <a:rPr lang="en-US" dirty="0"/>
              <a:t>Amity Institute of Information Technology</a:t>
            </a:r>
          </a:p>
          <a:p>
            <a:r>
              <a:rPr lang="en-US" dirty="0"/>
              <a:t>Amity University Patna</a:t>
            </a:r>
          </a:p>
        </p:txBody>
      </p:sp>
    </p:spTree>
    <p:extLst>
      <p:ext uri="{BB962C8B-B14F-4D97-AF65-F5344CB8AC3E}">
        <p14:creationId xmlns:p14="http://schemas.microsoft.com/office/powerpoint/2010/main" val="3430300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8C39B-933E-4061-F7B0-F0BEEDFFE06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EBA6BD8-8FEE-0212-C527-33EDD0D5FEDE}"/>
              </a:ext>
            </a:extLst>
          </p:cNvPr>
          <p:cNvSpPr>
            <a:spLocks noGrp="1"/>
          </p:cNvSpPr>
          <p:nvPr>
            <p:ph idx="1"/>
          </p:nvPr>
        </p:nvSpPr>
        <p:spPr/>
        <p:txBody>
          <a:bodyPr/>
          <a:lstStyle/>
          <a:p>
            <a:pPr algn="l"/>
            <a:r>
              <a:rPr lang="en-IN" b="0" i="0" dirty="0">
                <a:solidFill>
                  <a:srgbClr val="272C37"/>
                </a:solidFill>
                <a:effectLst/>
                <a:latin typeface="Roboto" panose="02000000000000000000" pitchFamily="2" charset="0"/>
              </a:rPr>
              <a:t>Which among the following operators cannot be overloaded?</a:t>
            </a:r>
          </a:p>
          <a:p>
            <a:pPr algn="l">
              <a:buFont typeface="+mj-lt"/>
              <a:buAutoNum type="arabicPeriod"/>
            </a:pPr>
            <a:r>
              <a:rPr lang="en-IN" b="0" i="0" dirty="0">
                <a:solidFill>
                  <a:srgbClr val="51565E"/>
                </a:solidFill>
                <a:effectLst/>
                <a:latin typeface="Roboto" panose="02000000000000000000" pitchFamily="2" charset="0"/>
              </a:rPr>
              <a:t>-</a:t>
            </a:r>
          </a:p>
          <a:p>
            <a:pPr algn="l">
              <a:buFont typeface="+mj-lt"/>
              <a:buAutoNum type="arabicPeriod"/>
            </a:pPr>
            <a:r>
              <a:rPr lang="en-IN" b="0" i="0" dirty="0">
                <a:solidFill>
                  <a:srgbClr val="51565E"/>
                </a:solidFill>
                <a:effectLst/>
                <a:latin typeface="Roboto" panose="02000000000000000000" pitchFamily="2" charset="0"/>
              </a:rPr>
              <a:t>+</a:t>
            </a:r>
          </a:p>
          <a:p>
            <a:pPr algn="l">
              <a:buFont typeface="+mj-lt"/>
              <a:buAutoNum type="arabicPeriod"/>
            </a:pPr>
            <a:r>
              <a:rPr lang="en-IN" b="0" i="0" dirty="0">
                <a:solidFill>
                  <a:srgbClr val="51565E"/>
                </a:solidFill>
                <a:effectLst/>
                <a:latin typeface="Roboto" panose="02000000000000000000" pitchFamily="2" charset="0"/>
              </a:rPr>
              <a:t>?:</a:t>
            </a:r>
          </a:p>
          <a:p>
            <a:pPr algn="l">
              <a:buFont typeface="+mj-lt"/>
              <a:buAutoNum type="arabicPeriod"/>
            </a:pPr>
            <a:r>
              <a:rPr lang="en-IN" b="0" i="0" dirty="0">
                <a:solidFill>
                  <a:srgbClr val="51565E"/>
                </a:solidFill>
                <a:effectLst/>
                <a:latin typeface="Roboto" panose="02000000000000000000" pitchFamily="2" charset="0"/>
              </a:rPr>
              <a:t>%</a:t>
            </a:r>
          </a:p>
        </p:txBody>
      </p:sp>
    </p:spTree>
    <p:extLst>
      <p:ext uri="{BB962C8B-B14F-4D97-AF65-F5344CB8AC3E}">
        <p14:creationId xmlns:p14="http://schemas.microsoft.com/office/powerpoint/2010/main" val="14620212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1EF58-1329-9879-031F-54B60D78F5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4723FE-E0A1-71FA-2B10-B3BDB42D67A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1FA2D68-5CE6-2922-7A99-55C3E5ECA4C2}"/>
              </a:ext>
            </a:extLst>
          </p:cNvPr>
          <p:cNvSpPr>
            <a:spLocks noGrp="1"/>
          </p:cNvSpPr>
          <p:nvPr>
            <p:ph idx="1"/>
          </p:nvPr>
        </p:nvSpPr>
        <p:spPr/>
        <p:txBody>
          <a:bodyPr/>
          <a:lstStyle/>
          <a:p>
            <a:pPr algn="l"/>
            <a:r>
              <a:rPr lang="en-IN" b="0" i="0" dirty="0">
                <a:solidFill>
                  <a:srgbClr val="272C37"/>
                </a:solidFill>
                <a:effectLst/>
                <a:latin typeface="Roboto" panose="02000000000000000000" pitchFamily="2" charset="0"/>
              </a:rPr>
              <a:t>Which among the following operators cannot be overloaded?</a:t>
            </a:r>
          </a:p>
          <a:p>
            <a:pPr algn="l">
              <a:buFont typeface="+mj-lt"/>
              <a:buAutoNum type="arabicPeriod"/>
            </a:pPr>
            <a:r>
              <a:rPr lang="en-IN" b="0" i="0" dirty="0">
                <a:solidFill>
                  <a:srgbClr val="51565E"/>
                </a:solidFill>
                <a:effectLst/>
                <a:latin typeface="Roboto" panose="02000000000000000000" pitchFamily="2" charset="0"/>
              </a:rPr>
              <a:t>-</a:t>
            </a:r>
          </a:p>
          <a:p>
            <a:pPr algn="l">
              <a:buFont typeface="+mj-lt"/>
              <a:buAutoNum type="arabicPeriod"/>
            </a:pPr>
            <a:r>
              <a:rPr lang="en-IN" b="0" i="0" dirty="0">
                <a:solidFill>
                  <a:srgbClr val="51565E"/>
                </a:solidFill>
                <a:effectLst/>
                <a:latin typeface="Roboto" panose="02000000000000000000" pitchFamily="2" charset="0"/>
              </a:rPr>
              <a:t>+</a:t>
            </a:r>
          </a:p>
          <a:p>
            <a:pPr algn="l">
              <a:buFont typeface="+mj-lt"/>
              <a:buAutoNum type="arabicPeriod"/>
            </a:pPr>
            <a:r>
              <a:rPr lang="en-IN" b="0" i="0" dirty="0">
                <a:solidFill>
                  <a:srgbClr val="00B050"/>
                </a:solidFill>
                <a:effectLst/>
                <a:latin typeface="Roboto" panose="02000000000000000000" pitchFamily="2" charset="0"/>
              </a:rPr>
              <a:t>?:</a:t>
            </a:r>
          </a:p>
          <a:p>
            <a:pPr algn="l">
              <a:buFont typeface="+mj-lt"/>
              <a:buAutoNum type="arabicPeriod"/>
            </a:pPr>
            <a:r>
              <a:rPr lang="en-IN" b="0" i="0" dirty="0">
                <a:solidFill>
                  <a:srgbClr val="51565E"/>
                </a:solidFill>
                <a:effectLst/>
                <a:latin typeface="Roboto" panose="02000000000000000000" pitchFamily="2" charset="0"/>
              </a:rPr>
              <a:t>%</a:t>
            </a:r>
          </a:p>
          <a:p>
            <a:pPr algn="l"/>
            <a:r>
              <a:rPr lang="en-IN" b="0" i="0" dirty="0">
                <a:solidFill>
                  <a:srgbClr val="00B050"/>
                </a:solidFill>
                <a:effectLst/>
                <a:latin typeface="Roboto" panose="02000000000000000000" pitchFamily="2" charset="0"/>
              </a:rPr>
              <a:t>3 - ?: operator cannot be overloaded because it is not syntactically possible.</a:t>
            </a:r>
          </a:p>
          <a:p>
            <a:endParaRPr lang="en-US" dirty="0"/>
          </a:p>
        </p:txBody>
      </p:sp>
    </p:spTree>
    <p:extLst>
      <p:ext uri="{BB962C8B-B14F-4D97-AF65-F5344CB8AC3E}">
        <p14:creationId xmlns:p14="http://schemas.microsoft.com/office/powerpoint/2010/main" val="38284090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7D9A3-6D7F-A8C6-FC93-084B3890A1DD}"/>
              </a:ext>
            </a:extLst>
          </p:cNvPr>
          <p:cNvSpPr>
            <a:spLocks noGrp="1"/>
          </p:cNvSpPr>
          <p:nvPr>
            <p:ph type="title"/>
          </p:nvPr>
        </p:nvSpPr>
        <p:spPr/>
        <p:txBody>
          <a:bodyPr/>
          <a:lstStyle/>
          <a:p>
            <a:r>
              <a:rPr lang="en-US" dirty="0"/>
              <a:t>Operator Overloading in C++</a:t>
            </a:r>
          </a:p>
        </p:txBody>
      </p:sp>
      <p:sp>
        <p:nvSpPr>
          <p:cNvPr id="3" name="Content Placeholder 2">
            <a:extLst>
              <a:ext uri="{FF2B5EF4-FFF2-40B4-BE49-F238E27FC236}">
                <a16:creationId xmlns:a16="http://schemas.microsoft.com/office/drawing/2014/main" id="{CB5C9F79-0149-065E-4CA0-D1D419A372EF}"/>
              </a:ext>
            </a:extLst>
          </p:cNvPr>
          <p:cNvSpPr>
            <a:spLocks noGrp="1"/>
          </p:cNvSpPr>
          <p:nvPr>
            <p:ph idx="1"/>
          </p:nvPr>
        </p:nvSpPr>
        <p:spPr/>
        <p:txBody>
          <a:bodyPr/>
          <a:lstStyle/>
          <a:p>
            <a:pPr algn="l"/>
            <a:r>
              <a:rPr lang="en-IN" b="1" i="0" dirty="0">
                <a:effectLst/>
                <a:latin typeface="Google Sans"/>
              </a:rPr>
              <a:t>Operator overloading</a:t>
            </a:r>
            <a:r>
              <a:rPr lang="en-IN" b="0" i="0" dirty="0">
                <a:effectLst/>
                <a:latin typeface="Google Sans"/>
              </a:rPr>
              <a:t> in C++ is a feature that allows you to redefine the way existing operators (like +, -, *, ==, ++, etc.) work for user-defined data types such as classes and structures. This makes the code more intuitive and readable by allowing objects to be manipulated using familiar syntax, similar to built-in data types. </a:t>
            </a:r>
          </a:p>
          <a:p>
            <a:br>
              <a:rPr lang="en-IN" dirty="0"/>
            </a:br>
            <a:endParaRPr lang="en-US" dirty="0"/>
          </a:p>
        </p:txBody>
      </p:sp>
    </p:spTree>
    <p:extLst>
      <p:ext uri="{BB962C8B-B14F-4D97-AF65-F5344CB8AC3E}">
        <p14:creationId xmlns:p14="http://schemas.microsoft.com/office/powerpoint/2010/main" val="196316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8A74A-5FC3-AABA-8183-D861BA7D6F7C}"/>
              </a:ext>
            </a:extLst>
          </p:cNvPr>
          <p:cNvSpPr>
            <a:spLocks noGrp="1"/>
          </p:cNvSpPr>
          <p:nvPr>
            <p:ph type="title"/>
          </p:nvPr>
        </p:nvSpPr>
        <p:spPr/>
        <p:txBody>
          <a:bodyPr/>
          <a:lstStyle/>
          <a:p>
            <a:r>
              <a:rPr lang="en-IN" b="1" i="0" dirty="0">
                <a:effectLst/>
                <a:latin typeface="Google Sans"/>
              </a:rPr>
              <a:t>Key Concepts</a:t>
            </a:r>
            <a:endParaRPr lang="en-US" dirty="0"/>
          </a:p>
        </p:txBody>
      </p:sp>
      <p:sp>
        <p:nvSpPr>
          <p:cNvPr id="3" name="Content Placeholder 2">
            <a:extLst>
              <a:ext uri="{FF2B5EF4-FFF2-40B4-BE49-F238E27FC236}">
                <a16:creationId xmlns:a16="http://schemas.microsoft.com/office/drawing/2014/main" id="{AB273DAE-B692-E050-F05B-E00299C51AA1}"/>
              </a:ext>
            </a:extLst>
          </p:cNvPr>
          <p:cNvSpPr>
            <a:spLocks noGrp="1"/>
          </p:cNvSpPr>
          <p:nvPr>
            <p:ph idx="1"/>
          </p:nvPr>
        </p:nvSpPr>
        <p:spPr/>
        <p:txBody>
          <a:bodyPr>
            <a:normAutofit fontScale="77500" lnSpcReduction="20000"/>
          </a:bodyPr>
          <a:lstStyle/>
          <a:p>
            <a:pPr algn="l">
              <a:buFont typeface="Arial" panose="020B0604020202020204" pitchFamily="34" charset="0"/>
              <a:buChar char="•"/>
            </a:pPr>
            <a:r>
              <a:rPr lang="en-IN" b="1" i="0" dirty="0">
                <a:effectLst/>
                <a:latin typeface="Google Sans"/>
              </a:rPr>
              <a:t>Syntax</a:t>
            </a:r>
            <a:r>
              <a:rPr lang="en-IN" b="0" i="0" dirty="0">
                <a:effectLst/>
                <a:latin typeface="Google Sans"/>
              </a:rPr>
              <a:t>: To overload an operator, you define a special function using the operator keyword followed by the operator symbol (e.g., operator+(), operator==()).</a:t>
            </a:r>
          </a:p>
          <a:p>
            <a:pPr algn="l">
              <a:buFont typeface="Arial" panose="020B0604020202020204" pitchFamily="34" charset="0"/>
              <a:buChar char="•"/>
            </a:pPr>
            <a:endParaRPr lang="en-IN" b="1" i="0" dirty="0">
              <a:effectLst/>
              <a:latin typeface="Google Sans"/>
            </a:endParaRPr>
          </a:p>
          <a:p>
            <a:pPr algn="l">
              <a:buFont typeface="Arial" panose="020B0604020202020204" pitchFamily="34" charset="0"/>
              <a:buChar char="•"/>
            </a:pPr>
            <a:r>
              <a:rPr lang="en-IN" b="1" i="0" dirty="0">
                <a:effectLst/>
                <a:latin typeface="Google Sans"/>
              </a:rPr>
              <a:t>Polymorphism</a:t>
            </a:r>
            <a:r>
              <a:rPr lang="en-IN" b="0" i="0" dirty="0">
                <a:effectLst/>
                <a:latin typeface="Google Sans"/>
              </a:rPr>
              <a:t>: Operator overloading is a form of </a:t>
            </a:r>
            <a:r>
              <a:rPr lang="en-IN" b="1" i="0" dirty="0">
                <a:effectLst/>
                <a:latin typeface="Google Sans"/>
              </a:rPr>
              <a:t>compile-time polymorphism</a:t>
            </a:r>
            <a:r>
              <a:rPr lang="en-IN" b="0" i="0" dirty="0">
                <a:effectLst/>
                <a:latin typeface="Google Sans"/>
              </a:rPr>
              <a:t>.</a:t>
            </a:r>
          </a:p>
          <a:p>
            <a:pPr algn="l">
              <a:buFont typeface="Arial" panose="020B0604020202020204" pitchFamily="34" charset="0"/>
              <a:buChar char="•"/>
            </a:pPr>
            <a:endParaRPr lang="en-IN" b="1" i="0" dirty="0">
              <a:effectLst/>
              <a:latin typeface="Google Sans"/>
            </a:endParaRPr>
          </a:p>
          <a:p>
            <a:pPr algn="l">
              <a:buFont typeface="Arial" panose="020B0604020202020204" pitchFamily="34" charset="0"/>
              <a:buChar char="•"/>
            </a:pPr>
            <a:r>
              <a:rPr lang="en-IN" b="1" i="0" dirty="0">
                <a:effectLst/>
                <a:latin typeface="Google Sans"/>
              </a:rPr>
              <a:t>Operands</a:t>
            </a:r>
            <a:r>
              <a:rPr lang="en-IN" b="0" i="0" dirty="0">
                <a:effectLst/>
                <a:latin typeface="Google Sans"/>
              </a:rPr>
              <a:t>: At least one operand of the overloaded operator must be of a user-defined type. You cannot overload operators for built-in types like int or float only.</a:t>
            </a:r>
          </a:p>
          <a:p>
            <a:pPr algn="l">
              <a:buFont typeface="Arial" panose="020B0604020202020204" pitchFamily="34" charset="0"/>
              <a:buChar char="•"/>
            </a:pPr>
            <a:endParaRPr lang="en-IN" b="1" i="0" dirty="0">
              <a:effectLst/>
              <a:latin typeface="Google Sans"/>
            </a:endParaRPr>
          </a:p>
          <a:p>
            <a:pPr algn="l">
              <a:buFont typeface="Arial" panose="020B0604020202020204" pitchFamily="34" charset="0"/>
              <a:buChar char="•"/>
            </a:pPr>
            <a:r>
              <a:rPr lang="en-IN" b="1" i="0" dirty="0">
                <a:effectLst/>
                <a:latin typeface="Google Sans"/>
              </a:rPr>
              <a:t>Implementation</a:t>
            </a:r>
            <a:r>
              <a:rPr lang="en-IN" b="0" i="0" dirty="0">
                <a:effectLst/>
                <a:latin typeface="Google Sans"/>
              </a:rPr>
              <a:t>: Overloaded operators can be implemented as:</a:t>
            </a:r>
          </a:p>
          <a:p>
            <a:pPr marL="742950" lvl="1" indent="-285750" algn="l">
              <a:buFont typeface="Arial" panose="020B0604020202020204" pitchFamily="34" charset="0"/>
              <a:buChar char="•"/>
            </a:pPr>
            <a:r>
              <a:rPr lang="en-IN" b="1" i="0" dirty="0">
                <a:effectLst/>
                <a:latin typeface="Google Sans"/>
              </a:rPr>
              <a:t>Member functions</a:t>
            </a:r>
            <a:r>
              <a:rPr lang="en-IN" b="0" i="0" dirty="0">
                <a:effectLst/>
                <a:latin typeface="Google Sans"/>
              </a:rPr>
              <a:t>: The left operand is the implicit object (this), and the function takes one less argument than the operator's arity.</a:t>
            </a:r>
          </a:p>
          <a:p>
            <a:pPr marL="742950" lvl="1" indent="-285750" algn="l">
              <a:buFont typeface="Arial" panose="020B0604020202020204" pitchFamily="34" charset="0"/>
              <a:buChar char="•"/>
            </a:pPr>
            <a:r>
              <a:rPr lang="en-IN" b="1" i="0" dirty="0">
                <a:effectLst/>
                <a:latin typeface="Google Sans"/>
              </a:rPr>
              <a:t>Non-member functions</a:t>
            </a:r>
            <a:r>
              <a:rPr lang="en-IN" b="0" i="0" dirty="0">
                <a:effectLst/>
                <a:latin typeface="Google Sans"/>
              </a:rPr>
              <a:t> (often declared as friend functions): This is recommended for binary operators that require symmetry (e.g., enabling 5 * </a:t>
            </a:r>
            <a:r>
              <a:rPr lang="en-IN" b="0" i="0" dirty="0" err="1">
                <a:effectLst/>
                <a:latin typeface="Google Sans"/>
              </a:rPr>
              <a:t>complex_obj</a:t>
            </a:r>
            <a:r>
              <a:rPr lang="en-IN" b="0" i="0" dirty="0">
                <a:effectLst/>
                <a:latin typeface="Google Sans"/>
              </a:rPr>
              <a:t> as well as </a:t>
            </a:r>
            <a:r>
              <a:rPr lang="en-IN" b="0" i="0" dirty="0" err="1">
                <a:effectLst/>
                <a:latin typeface="Google Sans"/>
              </a:rPr>
              <a:t>complex_obj</a:t>
            </a:r>
            <a:r>
              <a:rPr lang="en-IN" b="0" i="0" dirty="0">
                <a:effectLst/>
                <a:latin typeface="Google Sans"/>
              </a:rPr>
              <a:t> * 5). </a:t>
            </a:r>
          </a:p>
        </p:txBody>
      </p:sp>
    </p:spTree>
    <p:extLst>
      <p:ext uri="{BB962C8B-B14F-4D97-AF65-F5344CB8AC3E}">
        <p14:creationId xmlns:p14="http://schemas.microsoft.com/office/powerpoint/2010/main" val="32964966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ACA96-9B53-F8EB-B0D1-4DDD3433823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027464F-A6A1-1EAE-5415-F2A2B24EC28C}"/>
              </a:ext>
            </a:extLst>
          </p:cNvPr>
          <p:cNvSpPr>
            <a:spLocks noGrp="1"/>
          </p:cNvSpPr>
          <p:nvPr>
            <p:ph idx="1"/>
          </p:nvPr>
        </p:nvSpPr>
        <p:spPr/>
        <p:txBody>
          <a:bodyPr/>
          <a:lstStyle/>
          <a:p>
            <a:r>
              <a:rPr lang="en-US" dirty="0" err="1"/>
              <a:t>returnType</a:t>
            </a:r>
            <a:r>
              <a:rPr lang="en-US" dirty="0"/>
              <a:t> operator symbol (arguments) {</a:t>
            </a:r>
          </a:p>
          <a:p>
            <a:r>
              <a:rPr lang="en-US" dirty="0"/>
              <a:t>    // implementation</a:t>
            </a:r>
          </a:p>
          <a:p>
            <a:r>
              <a:rPr lang="en-US" dirty="0"/>
              <a:t>}</a:t>
            </a:r>
          </a:p>
          <a:p>
            <a:endParaRPr lang="en-US" dirty="0"/>
          </a:p>
        </p:txBody>
      </p:sp>
    </p:spTree>
    <p:extLst>
      <p:ext uri="{BB962C8B-B14F-4D97-AF65-F5344CB8AC3E}">
        <p14:creationId xmlns:p14="http://schemas.microsoft.com/office/powerpoint/2010/main" val="35611431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7F390-B562-DA54-F040-3E869985FE4A}"/>
              </a:ext>
            </a:extLst>
          </p:cNvPr>
          <p:cNvSpPr>
            <a:spLocks noGrp="1"/>
          </p:cNvSpPr>
          <p:nvPr>
            <p:ph type="title"/>
          </p:nvPr>
        </p:nvSpPr>
        <p:spPr/>
        <p:txBody>
          <a:bodyPr/>
          <a:lstStyle/>
          <a:p>
            <a:r>
              <a:rPr lang="en-US" dirty="0"/>
              <a:t>Example Program</a:t>
            </a:r>
          </a:p>
        </p:txBody>
      </p:sp>
      <p:sp>
        <p:nvSpPr>
          <p:cNvPr id="3" name="Content Placeholder 2">
            <a:extLst>
              <a:ext uri="{FF2B5EF4-FFF2-40B4-BE49-F238E27FC236}">
                <a16:creationId xmlns:a16="http://schemas.microsoft.com/office/drawing/2014/main" id="{DAF0BC43-E151-8A49-D466-FCE81AA6FA7C}"/>
              </a:ext>
            </a:extLst>
          </p:cNvPr>
          <p:cNvSpPr>
            <a:spLocks noGrp="1"/>
          </p:cNvSpPr>
          <p:nvPr>
            <p:ph idx="1"/>
          </p:nvPr>
        </p:nvSpPr>
        <p:spPr/>
        <p:txBody>
          <a:bodyPr>
            <a:normAutofit fontScale="25000" lnSpcReduction="20000"/>
          </a:bodyPr>
          <a:lstStyle/>
          <a:p>
            <a:r>
              <a:rPr lang="en-US" dirty="0"/>
              <a:t>#include &lt;iostream&gt;</a:t>
            </a:r>
          </a:p>
          <a:p>
            <a:r>
              <a:rPr lang="en-US" dirty="0"/>
              <a:t>using namespace std;</a:t>
            </a:r>
          </a:p>
          <a:p>
            <a:r>
              <a:rPr lang="en-US" dirty="0"/>
              <a:t>class Complex {</a:t>
            </a:r>
          </a:p>
          <a:p>
            <a:r>
              <a:rPr lang="en-US" dirty="0"/>
              <a:t>private:</a:t>
            </a:r>
          </a:p>
          <a:p>
            <a:r>
              <a:rPr lang="en-US" dirty="0"/>
              <a:t>    int real, imaginary;</a:t>
            </a:r>
          </a:p>
          <a:p>
            <a:r>
              <a:rPr lang="en-US" dirty="0"/>
              <a:t>public:</a:t>
            </a:r>
          </a:p>
          <a:p>
            <a:r>
              <a:rPr lang="en-US" dirty="0"/>
              <a:t>    Complex(int r = 0, int </a:t>
            </a:r>
            <a:r>
              <a:rPr lang="en-US" dirty="0" err="1"/>
              <a:t>i</a:t>
            </a:r>
            <a:r>
              <a:rPr lang="en-US" dirty="0"/>
              <a:t> = 0) : real(r), imaginary(</a:t>
            </a:r>
            <a:r>
              <a:rPr lang="en-US" dirty="0" err="1"/>
              <a:t>i</a:t>
            </a:r>
            <a:r>
              <a:rPr lang="en-US" dirty="0"/>
              <a:t>) {}</a:t>
            </a:r>
          </a:p>
          <a:p>
            <a:r>
              <a:rPr lang="en-US" dirty="0"/>
              <a:t>    // Overload the + operator</a:t>
            </a:r>
          </a:p>
          <a:p>
            <a:r>
              <a:rPr lang="en-US" dirty="0"/>
              <a:t>    Complex operator+(Complex const&amp; obj) {</a:t>
            </a:r>
          </a:p>
          <a:p>
            <a:r>
              <a:rPr lang="en-US" dirty="0"/>
              <a:t>        Complex res;</a:t>
            </a:r>
          </a:p>
          <a:p>
            <a:r>
              <a:rPr lang="en-US" dirty="0"/>
              <a:t>        </a:t>
            </a:r>
            <a:r>
              <a:rPr lang="en-US" dirty="0" err="1"/>
              <a:t>res.real</a:t>
            </a:r>
            <a:r>
              <a:rPr lang="en-US" dirty="0"/>
              <a:t> = real + </a:t>
            </a:r>
            <a:r>
              <a:rPr lang="en-US" dirty="0" err="1"/>
              <a:t>obj.real</a:t>
            </a:r>
            <a:r>
              <a:rPr lang="en-US" dirty="0"/>
              <a:t>;</a:t>
            </a:r>
          </a:p>
          <a:p>
            <a:r>
              <a:rPr lang="en-US" dirty="0"/>
              <a:t>        </a:t>
            </a:r>
            <a:r>
              <a:rPr lang="en-US" dirty="0" err="1"/>
              <a:t>res.imaginary</a:t>
            </a:r>
            <a:r>
              <a:rPr lang="en-US" dirty="0"/>
              <a:t> = imaginary + </a:t>
            </a:r>
            <a:r>
              <a:rPr lang="en-US" dirty="0" err="1"/>
              <a:t>obj.imaginary</a:t>
            </a:r>
            <a:r>
              <a:rPr lang="en-US" dirty="0"/>
              <a:t>;</a:t>
            </a:r>
          </a:p>
          <a:p>
            <a:r>
              <a:rPr lang="en-US" dirty="0"/>
              <a:t>        return res;</a:t>
            </a:r>
          </a:p>
          <a:p>
            <a:r>
              <a:rPr lang="en-US" dirty="0"/>
              <a:t>    }</a:t>
            </a:r>
          </a:p>
          <a:p>
            <a:r>
              <a:rPr lang="en-US" dirty="0"/>
              <a:t>    void print() {</a:t>
            </a:r>
          </a:p>
          <a:p>
            <a:r>
              <a:rPr lang="en-US" dirty="0"/>
              <a:t>        </a:t>
            </a:r>
            <a:r>
              <a:rPr lang="en-US" dirty="0" err="1"/>
              <a:t>cout</a:t>
            </a:r>
            <a:r>
              <a:rPr lang="en-US" dirty="0"/>
              <a:t> &lt;&lt; real &lt;&lt; " + </a:t>
            </a:r>
            <a:r>
              <a:rPr lang="en-US" dirty="0" err="1"/>
              <a:t>i</a:t>
            </a:r>
            <a:r>
              <a:rPr lang="en-US" dirty="0"/>
              <a:t>" &lt;&lt; imaginary &lt;&lt; </a:t>
            </a:r>
            <a:r>
              <a:rPr lang="en-US" dirty="0" err="1"/>
              <a:t>endl</a:t>
            </a:r>
            <a:r>
              <a:rPr lang="en-US" dirty="0"/>
              <a:t>;</a:t>
            </a:r>
          </a:p>
          <a:p>
            <a:r>
              <a:rPr lang="en-US" dirty="0"/>
              <a:t>    }</a:t>
            </a:r>
          </a:p>
          <a:p>
            <a:r>
              <a:rPr lang="en-US" dirty="0"/>
              <a:t>};</a:t>
            </a:r>
          </a:p>
          <a:p>
            <a:r>
              <a:rPr lang="en-US" dirty="0"/>
              <a:t>int main() {</a:t>
            </a:r>
          </a:p>
          <a:p>
            <a:r>
              <a:rPr lang="en-US" dirty="0"/>
              <a:t>    Complex c1(10, 5), c2(2, 3);</a:t>
            </a:r>
          </a:p>
          <a:p>
            <a:r>
              <a:rPr lang="en-US" dirty="0"/>
              <a:t>    Complex c3 = c1 + c2; // Calls c1.operator+(c2)</a:t>
            </a:r>
          </a:p>
          <a:p>
            <a:r>
              <a:rPr lang="en-US" dirty="0"/>
              <a:t>    c3.print();</a:t>
            </a:r>
          </a:p>
          <a:p>
            <a:r>
              <a:rPr lang="en-US" dirty="0"/>
              <a:t>    return 0;</a:t>
            </a:r>
          </a:p>
          <a:p>
            <a:r>
              <a:rPr lang="en-US" dirty="0"/>
              <a:t>}</a:t>
            </a:r>
          </a:p>
          <a:p>
            <a:endParaRPr lang="en-US" dirty="0"/>
          </a:p>
        </p:txBody>
      </p:sp>
    </p:spTree>
    <p:extLst>
      <p:ext uri="{BB962C8B-B14F-4D97-AF65-F5344CB8AC3E}">
        <p14:creationId xmlns:p14="http://schemas.microsoft.com/office/powerpoint/2010/main" val="17632922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17000-CE40-F13F-52BF-3A740110EE82}"/>
              </a:ext>
            </a:extLst>
          </p:cNvPr>
          <p:cNvSpPr>
            <a:spLocks noGrp="1"/>
          </p:cNvSpPr>
          <p:nvPr>
            <p:ph type="title"/>
          </p:nvPr>
        </p:nvSpPr>
        <p:spPr/>
        <p:txBody>
          <a:bodyPr/>
          <a:lstStyle/>
          <a:p>
            <a:r>
              <a:rPr lang="en-IN" b="1" i="0" dirty="0">
                <a:effectLst/>
                <a:latin typeface="Google Sans"/>
              </a:rPr>
              <a:t>Rules and Limitations</a:t>
            </a:r>
            <a:endParaRPr lang="en-US" dirty="0"/>
          </a:p>
        </p:txBody>
      </p:sp>
      <p:sp>
        <p:nvSpPr>
          <p:cNvPr id="3" name="Content Placeholder 2">
            <a:extLst>
              <a:ext uri="{FF2B5EF4-FFF2-40B4-BE49-F238E27FC236}">
                <a16:creationId xmlns:a16="http://schemas.microsoft.com/office/drawing/2014/main" id="{3AC4F307-F6FA-E207-948D-81C9C45E95C9}"/>
              </a:ext>
            </a:extLst>
          </p:cNvPr>
          <p:cNvSpPr>
            <a:spLocks noGrp="1"/>
          </p:cNvSpPr>
          <p:nvPr>
            <p:ph idx="1"/>
          </p:nvPr>
        </p:nvSpPr>
        <p:spPr/>
        <p:txBody>
          <a:bodyPr>
            <a:normAutofit fontScale="92500" lnSpcReduction="20000"/>
          </a:bodyPr>
          <a:lstStyle/>
          <a:p>
            <a:pPr algn="l">
              <a:buFont typeface="Arial" panose="020B0604020202020204" pitchFamily="34" charset="0"/>
              <a:buChar char="•"/>
            </a:pPr>
            <a:r>
              <a:rPr lang="en-IN" b="1" i="0" dirty="0">
                <a:effectLst/>
                <a:latin typeface="Google Sans"/>
              </a:rPr>
              <a:t>Only existing operators can be overloaded</a:t>
            </a:r>
            <a:r>
              <a:rPr lang="en-IN" b="0" i="0" dirty="0">
                <a:effectLst/>
                <a:latin typeface="Google Sans"/>
              </a:rPr>
              <a:t>; you cannot create new operator symbols.</a:t>
            </a:r>
          </a:p>
          <a:p>
            <a:pPr algn="l">
              <a:buFont typeface="Arial" panose="020B0604020202020204" pitchFamily="34" charset="0"/>
              <a:buChar char="•"/>
            </a:pPr>
            <a:r>
              <a:rPr lang="en-IN" b="1" i="0" dirty="0">
                <a:effectLst/>
                <a:latin typeface="Google Sans"/>
              </a:rPr>
              <a:t>Precedence and associativity</a:t>
            </a:r>
            <a:r>
              <a:rPr lang="en-IN" b="0" i="0" dirty="0">
                <a:effectLst/>
                <a:latin typeface="Google Sans"/>
              </a:rPr>
              <a:t> of operators cannot be changed.</a:t>
            </a:r>
          </a:p>
          <a:p>
            <a:pPr algn="l">
              <a:buFont typeface="Arial" panose="020B0604020202020204" pitchFamily="34" charset="0"/>
              <a:buChar char="•"/>
            </a:pPr>
            <a:r>
              <a:rPr lang="en-IN" b="1" i="0" dirty="0">
                <a:effectLst/>
                <a:latin typeface="Google Sans"/>
              </a:rPr>
              <a:t>Arity</a:t>
            </a:r>
            <a:r>
              <a:rPr lang="en-IN" b="0" i="0" dirty="0">
                <a:effectLst/>
                <a:latin typeface="Google Sans"/>
              </a:rPr>
              <a:t> (number of operands) of an operator cannot be changed (e.g., you cannot make the binary + operator unary).</a:t>
            </a:r>
          </a:p>
          <a:p>
            <a:pPr algn="l">
              <a:buFont typeface="Arial" panose="020B0604020202020204" pitchFamily="34" charset="0"/>
              <a:buChar char="•"/>
            </a:pPr>
            <a:r>
              <a:rPr lang="en-IN" b="1" i="0" dirty="0">
                <a:effectLst/>
                <a:latin typeface="Google Sans"/>
              </a:rPr>
              <a:t>Certain operators cannot be overloaded</a:t>
            </a:r>
            <a:r>
              <a:rPr lang="en-IN" b="0" i="0" dirty="0">
                <a:effectLst/>
                <a:latin typeface="Google Sans"/>
              </a:rPr>
              <a:t>:</a:t>
            </a:r>
          </a:p>
          <a:p>
            <a:pPr marL="742950" lvl="1" indent="-285750" algn="l">
              <a:buFont typeface="Arial" panose="020B0604020202020204" pitchFamily="34" charset="0"/>
              <a:buChar char="•"/>
            </a:pPr>
            <a:r>
              <a:rPr lang="en-IN" b="0" i="0" dirty="0">
                <a:effectLst/>
                <a:latin typeface="Google Sans"/>
              </a:rPr>
              <a:t>Scope resolution operator (::)</a:t>
            </a:r>
          </a:p>
          <a:p>
            <a:pPr marL="742950" lvl="1" indent="-285750" algn="l">
              <a:buFont typeface="Arial" panose="020B0604020202020204" pitchFamily="34" charset="0"/>
              <a:buChar char="•"/>
            </a:pPr>
            <a:r>
              <a:rPr lang="en-IN" b="0" i="0" dirty="0">
                <a:effectLst/>
                <a:latin typeface="Google Sans"/>
              </a:rPr>
              <a:t>Member selector operator (.)</a:t>
            </a:r>
          </a:p>
          <a:p>
            <a:pPr marL="742950" lvl="1" indent="-285750" algn="l">
              <a:buFont typeface="Arial" panose="020B0604020202020204" pitchFamily="34" charset="0"/>
              <a:buChar char="•"/>
            </a:pPr>
            <a:r>
              <a:rPr lang="en-IN" b="0" i="0" dirty="0">
                <a:effectLst/>
                <a:latin typeface="Google Sans"/>
              </a:rPr>
              <a:t>Member selection through pointer to function operator (.*)</a:t>
            </a:r>
          </a:p>
          <a:p>
            <a:pPr marL="742950" lvl="1" indent="-285750" algn="l">
              <a:buFont typeface="Arial" panose="020B0604020202020204" pitchFamily="34" charset="0"/>
              <a:buChar char="•"/>
            </a:pPr>
            <a:r>
              <a:rPr lang="en-IN" b="0" i="0" dirty="0">
                <a:effectLst/>
                <a:latin typeface="Google Sans"/>
              </a:rPr>
              <a:t>Ternary/conditional operator (?:)</a:t>
            </a:r>
          </a:p>
          <a:p>
            <a:pPr marL="742950" lvl="1" indent="-285750" algn="l">
              <a:buFont typeface="Arial" panose="020B0604020202020204" pitchFamily="34" charset="0"/>
              <a:buChar char="•"/>
            </a:pPr>
            <a:r>
              <a:rPr lang="en-IN" b="0" i="0" dirty="0" err="1">
                <a:effectLst/>
                <a:latin typeface="Google Sans"/>
              </a:rPr>
              <a:t>sizeof</a:t>
            </a:r>
            <a:r>
              <a:rPr lang="en-IN" b="0" i="0" dirty="0">
                <a:effectLst/>
                <a:latin typeface="Google Sans"/>
              </a:rPr>
              <a:t> operator</a:t>
            </a:r>
          </a:p>
          <a:p>
            <a:pPr marL="742950" lvl="1" indent="-285750" algn="l">
              <a:buFont typeface="Arial" panose="020B0604020202020204" pitchFamily="34" charset="0"/>
              <a:buChar char="•"/>
            </a:pPr>
            <a:r>
              <a:rPr lang="en-IN" b="0" i="0" dirty="0" err="1">
                <a:effectLst/>
                <a:latin typeface="Google Sans"/>
              </a:rPr>
              <a:t>typeid</a:t>
            </a:r>
            <a:r>
              <a:rPr lang="en-IN" b="0" i="0" dirty="0">
                <a:effectLst/>
                <a:latin typeface="Google Sans"/>
              </a:rPr>
              <a:t> operator </a:t>
            </a:r>
          </a:p>
          <a:p>
            <a:endParaRPr lang="en-US" dirty="0"/>
          </a:p>
        </p:txBody>
      </p:sp>
    </p:spTree>
    <p:extLst>
      <p:ext uri="{BB962C8B-B14F-4D97-AF65-F5344CB8AC3E}">
        <p14:creationId xmlns:p14="http://schemas.microsoft.com/office/powerpoint/2010/main" val="710503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0AFCE-D747-B3A3-56E6-A3B754E7D59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2FD02B6-DFFF-0734-6D9B-3019F4256B8D}"/>
              </a:ext>
            </a:extLst>
          </p:cNvPr>
          <p:cNvSpPr>
            <a:spLocks noGrp="1"/>
          </p:cNvSpPr>
          <p:nvPr>
            <p:ph idx="1"/>
          </p:nvPr>
        </p:nvSpPr>
        <p:spPr/>
        <p:txBody>
          <a:bodyPr/>
          <a:lstStyle/>
          <a:p>
            <a:pPr algn="l">
              <a:buFont typeface="+mj-lt"/>
              <a:buAutoNum type="arabicPeriod"/>
            </a:pPr>
            <a:r>
              <a:rPr lang="en-IN" b="0" i="0" dirty="0">
                <a:solidFill>
                  <a:srgbClr val="51565E"/>
                </a:solidFill>
                <a:effectLst/>
                <a:latin typeface="Roboto" panose="02000000000000000000" pitchFamily="2" charset="0"/>
              </a:rPr>
              <a:t>0 3</a:t>
            </a:r>
          </a:p>
          <a:p>
            <a:pPr algn="l">
              <a:buFont typeface="+mj-lt"/>
              <a:buAutoNum type="arabicPeriod"/>
            </a:pPr>
            <a:r>
              <a:rPr lang="en-IN" b="0" i="0" dirty="0">
                <a:solidFill>
                  <a:srgbClr val="51565E"/>
                </a:solidFill>
                <a:effectLst/>
                <a:latin typeface="Roboto" panose="02000000000000000000" pitchFamily="2" charset="0"/>
              </a:rPr>
              <a:t>0 8</a:t>
            </a:r>
          </a:p>
          <a:p>
            <a:pPr algn="l">
              <a:buFont typeface="+mj-lt"/>
              <a:buAutoNum type="arabicPeriod"/>
            </a:pPr>
            <a:r>
              <a:rPr lang="en-IN" b="0" i="0" dirty="0">
                <a:solidFill>
                  <a:srgbClr val="51565E"/>
                </a:solidFill>
                <a:effectLst/>
                <a:latin typeface="Roboto" panose="02000000000000000000" pitchFamily="2" charset="0"/>
              </a:rPr>
              <a:t>0 6</a:t>
            </a:r>
          </a:p>
          <a:p>
            <a:pPr algn="l">
              <a:buFont typeface="+mj-lt"/>
              <a:buAutoNum type="arabicPeriod"/>
            </a:pPr>
            <a:r>
              <a:rPr lang="en-IN" b="0" i="0" dirty="0">
                <a:solidFill>
                  <a:srgbClr val="51565E"/>
                </a:solidFill>
                <a:effectLst/>
                <a:latin typeface="Roboto" panose="02000000000000000000" pitchFamily="2" charset="0"/>
              </a:rPr>
              <a:t>0 2</a:t>
            </a:r>
          </a:p>
          <a:p>
            <a:endParaRPr lang="en-US" dirty="0"/>
          </a:p>
        </p:txBody>
      </p:sp>
      <p:pic>
        <p:nvPicPr>
          <p:cNvPr id="1026" name="Picture 2" descr="InterviewQuestions_Example5.">
            <a:extLst>
              <a:ext uri="{FF2B5EF4-FFF2-40B4-BE49-F238E27FC236}">
                <a16:creationId xmlns:a16="http://schemas.microsoft.com/office/drawing/2014/main" id="{3FFC4390-3FC1-C4EB-77E6-59ADD02AFE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14900" y="229201"/>
            <a:ext cx="7004050" cy="37720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95486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47AC6-D0AD-D46D-F683-27A9462AEE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37FED2-1F5E-7FA9-6E07-F37C17B8CC4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E4A592C-3715-3D8A-1F8A-BB0D88E1363C}"/>
              </a:ext>
            </a:extLst>
          </p:cNvPr>
          <p:cNvSpPr>
            <a:spLocks noGrp="1"/>
          </p:cNvSpPr>
          <p:nvPr>
            <p:ph idx="1"/>
          </p:nvPr>
        </p:nvSpPr>
        <p:spPr/>
        <p:txBody>
          <a:bodyPr/>
          <a:lstStyle/>
          <a:p>
            <a:pPr algn="l">
              <a:buFont typeface="+mj-lt"/>
              <a:buAutoNum type="arabicPeriod"/>
            </a:pPr>
            <a:r>
              <a:rPr lang="en-IN" b="0" i="0" dirty="0">
                <a:solidFill>
                  <a:srgbClr val="51565E"/>
                </a:solidFill>
                <a:effectLst/>
                <a:latin typeface="Roboto" panose="02000000000000000000" pitchFamily="2" charset="0"/>
              </a:rPr>
              <a:t>0 3</a:t>
            </a:r>
          </a:p>
          <a:p>
            <a:pPr algn="l">
              <a:buFont typeface="+mj-lt"/>
              <a:buAutoNum type="arabicPeriod"/>
            </a:pPr>
            <a:r>
              <a:rPr lang="en-IN" b="0" i="0" dirty="0">
                <a:solidFill>
                  <a:srgbClr val="51565E"/>
                </a:solidFill>
                <a:effectLst/>
                <a:latin typeface="Roboto" panose="02000000000000000000" pitchFamily="2" charset="0"/>
              </a:rPr>
              <a:t>0 8</a:t>
            </a:r>
          </a:p>
          <a:p>
            <a:pPr algn="l">
              <a:buFont typeface="+mj-lt"/>
              <a:buAutoNum type="arabicPeriod"/>
            </a:pPr>
            <a:r>
              <a:rPr lang="en-IN" b="0" i="0" dirty="0">
                <a:solidFill>
                  <a:srgbClr val="00B050"/>
                </a:solidFill>
                <a:effectLst/>
                <a:latin typeface="Roboto" panose="02000000000000000000" pitchFamily="2" charset="0"/>
              </a:rPr>
              <a:t>0 6</a:t>
            </a:r>
          </a:p>
          <a:p>
            <a:pPr algn="l">
              <a:buFont typeface="+mj-lt"/>
              <a:buAutoNum type="arabicPeriod"/>
            </a:pPr>
            <a:r>
              <a:rPr lang="en-IN" b="0" i="0" dirty="0">
                <a:solidFill>
                  <a:srgbClr val="51565E"/>
                </a:solidFill>
                <a:effectLst/>
                <a:latin typeface="Roboto" panose="02000000000000000000" pitchFamily="2" charset="0"/>
              </a:rPr>
              <a:t>0 2</a:t>
            </a:r>
          </a:p>
          <a:p>
            <a:pPr algn="l"/>
            <a:r>
              <a:rPr lang="en-IN" b="0" i="0" dirty="0">
                <a:solidFill>
                  <a:srgbClr val="00B050"/>
                </a:solidFill>
                <a:effectLst/>
                <a:latin typeface="Roboto" panose="02000000000000000000" pitchFamily="2" charset="0"/>
              </a:rPr>
              <a:t>3 - 0 6. In </a:t>
            </a:r>
            <a:r>
              <a:rPr lang="en-IN" b="0" i="0" dirty="0" err="1">
                <a:solidFill>
                  <a:srgbClr val="00B050"/>
                </a:solidFill>
                <a:effectLst/>
                <a:latin typeface="Roboto" panose="02000000000000000000" pitchFamily="2" charset="0"/>
              </a:rPr>
              <a:t>enum</a:t>
            </a:r>
            <a:r>
              <a:rPr lang="en-IN" b="0" i="0" dirty="0">
                <a:solidFill>
                  <a:srgbClr val="00B050"/>
                </a:solidFill>
                <a:effectLst/>
                <a:latin typeface="Roboto" panose="02000000000000000000" pitchFamily="2" charset="0"/>
              </a:rPr>
              <a:t>, the element's value is one greater than the previous element. The value of blue is 0 by default, and the value of green is five, so the value of GREAT will become six automatically.</a:t>
            </a:r>
          </a:p>
          <a:p>
            <a:endParaRPr lang="en-US" dirty="0"/>
          </a:p>
        </p:txBody>
      </p:sp>
      <p:pic>
        <p:nvPicPr>
          <p:cNvPr id="1026" name="Picture 2" descr="InterviewQuestions_Example5.">
            <a:extLst>
              <a:ext uri="{FF2B5EF4-FFF2-40B4-BE49-F238E27FC236}">
                <a16:creationId xmlns:a16="http://schemas.microsoft.com/office/drawing/2014/main" id="{B32276DD-C51E-3AE1-0270-31198D3C8E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14900" y="229201"/>
            <a:ext cx="7004050" cy="37720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76433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AB77E-67F8-F24B-5D86-212B0567455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6FA20B0-C2A5-086A-9564-B2DD15823B0A}"/>
              </a:ext>
            </a:extLst>
          </p:cNvPr>
          <p:cNvSpPr>
            <a:spLocks noGrp="1"/>
          </p:cNvSpPr>
          <p:nvPr>
            <p:ph idx="1"/>
          </p:nvPr>
        </p:nvSpPr>
        <p:spPr/>
        <p:txBody>
          <a:bodyPr/>
          <a:lstStyle/>
          <a:p>
            <a:pPr algn="l">
              <a:buFont typeface="+mj-lt"/>
              <a:buAutoNum type="arabicPeriod"/>
            </a:pPr>
            <a:r>
              <a:rPr lang="en-IN" b="0" i="0" dirty="0">
                <a:solidFill>
                  <a:srgbClr val="51565E"/>
                </a:solidFill>
                <a:effectLst/>
                <a:latin typeface="Roboto" panose="02000000000000000000" pitchFamily="2" charset="0"/>
              </a:rPr>
              <a:t>The output will be 7</a:t>
            </a:r>
          </a:p>
          <a:p>
            <a:pPr algn="l">
              <a:buFont typeface="+mj-lt"/>
              <a:buAutoNum type="arabicPeriod"/>
            </a:pPr>
            <a:r>
              <a:rPr lang="en-IN" b="0" i="0" dirty="0">
                <a:solidFill>
                  <a:srgbClr val="51565E"/>
                </a:solidFill>
                <a:effectLst/>
                <a:latin typeface="Roboto" panose="02000000000000000000" pitchFamily="2" charset="0"/>
              </a:rPr>
              <a:t>The output will be 14</a:t>
            </a:r>
          </a:p>
          <a:p>
            <a:pPr algn="l">
              <a:buFont typeface="+mj-lt"/>
              <a:buAutoNum type="arabicPeriod"/>
            </a:pPr>
            <a:r>
              <a:rPr lang="en-IN" b="0" i="0" dirty="0">
                <a:solidFill>
                  <a:srgbClr val="51565E"/>
                </a:solidFill>
                <a:effectLst/>
                <a:latin typeface="Roboto" panose="02000000000000000000" pitchFamily="2" charset="0"/>
              </a:rPr>
              <a:t>The output will be 0</a:t>
            </a:r>
          </a:p>
          <a:p>
            <a:pPr algn="l">
              <a:buFont typeface="+mj-lt"/>
              <a:buAutoNum type="arabicPeriod"/>
            </a:pPr>
            <a:r>
              <a:rPr lang="en-IN" b="0" i="0" dirty="0">
                <a:solidFill>
                  <a:srgbClr val="51565E"/>
                </a:solidFill>
                <a:effectLst/>
                <a:latin typeface="Roboto" panose="02000000000000000000" pitchFamily="2" charset="0"/>
              </a:rPr>
              <a:t>The output will be 1</a:t>
            </a:r>
          </a:p>
          <a:p>
            <a:endParaRPr lang="en-US" dirty="0"/>
          </a:p>
        </p:txBody>
      </p:sp>
      <p:pic>
        <p:nvPicPr>
          <p:cNvPr id="3074" name="Picture 2" descr="InterviewQuestions_Example7.">
            <a:extLst>
              <a:ext uri="{FF2B5EF4-FFF2-40B4-BE49-F238E27FC236}">
                <a16:creationId xmlns:a16="http://schemas.microsoft.com/office/drawing/2014/main" id="{636BBB3A-05A6-BD62-7A3A-31F2A4E022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8323" y="277442"/>
            <a:ext cx="6911362" cy="4505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9496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08545-E397-8681-1F77-9F1F757898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45E56B-9717-0239-503B-19B69A7C2ED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99C69EE-8258-4933-A363-D7E18D7E38E3}"/>
              </a:ext>
            </a:extLst>
          </p:cNvPr>
          <p:cNvSpPr>
            <a:spLocks noGrp="1"/>
          </p:cNvSpPr>
          <p:nvPr>
            <p:ph idx="1"/>
          </p:nvPr>
        </p:nvSpPr>
        <p:spPr/>
        <p:txBody>
          <a:bodyPr/>
          <a:lstStyle/>
          <a:p>
            <a:pPr algn="l">
              <a:buFont typeface="+mj-lt"/>
              <a:buAutoNum type="arabicPeriod"/>
            </a:pPr>
            <a:r>
              <a:rPr lang="en-IN" b="0" i="0" dirty="0">
                <a:solidFill>
                  <a:srgbClr val="00B050"/>
                </a:solidFill>
                <a:effectLst/>
                <a:latin typeface="Roboto" panose="02000000000000000000" pitchFamily="2" charset="0"/>
              </a:rPr>
              <a:t>The output will be 7</a:t>
            </a:r>
          </a:p>
          <a:p>
            <a:pPr algn="l">
              <a:buFont typeface="+mj-lt"/>
              <a:buAutoNum type="arabicPeriod"/>
            </a:pPr>
            <a:r>
              <a:rPr lang="en-IN" b="0" i="0" dirty="0">
                <a:solidFill>
                  <a:srgbClr val="51565E"/>
                </a:solidFill>
                <a:effectLst/>
                <a:latin typeface="Roboto" panose="02000000000000000000" pitchFamily="2" charset="0"/>
              </a:rPr>
              <a:t>The output will be 14</a:t>
            </a:r>
          </a:p>
          <a:p>
            <a:pPr algn="l">
              <a:buFont typeface="+mj-lt"/>
              <a:buAutoNum type="arabicPeriod"/>
            </a:pPr>
            <a:r>
              <a:rPr lang="en-IN" b="0" i="0" dirty="0">
                <a:solidFill>
                  <a:srgbClr val="51565E"/>
                </a:solidFill>
                <a:effectLst/>
                <a:latin typeface="Roboto" panose="02000000000000000000" pitchFamily="2" charset="0"/>
              </a:rPr>
              <a:t>The output will be 0</a:t>
            </a:r>
          </a:p>
          <a:p>
            <a:pPr algn="l">
              <a:buFont typeface="+mj-lt"/>
              <a:buAutoNum type="arabicPeriod"/>
            </a:pPr>
            <a:r>
              <a:rPr lang="en-IN" b="0" i="0" dirty="0">
                <a:solidFill>
                  <a:srgbClr val="51565E"/>
                </a:solidFill>
                <a:effectLst/>
                <a:latin typeface="Roboto" panose="02000000000000000000" pitchFamily="2" charset="0"/>
              </a:rPr>
              <a:t>The output will be 1</a:t>
            </a:r>
          </a:p>
          <a:p>
            <a:pPr algn="l"/>
            <a:endParaRPr lang="en-IN" b="0" i="0" dirty="0">
              <a:solidFill>
                <a:srgbClr val="51565E"/>
              </a:solidFill>
              <a:effectLst/>
              <a:latin typeface="Roboto" panose="02000000000000000000" pitchFamily="2" charset="0"/>
            </a:endParaRPr>
          </a:p>
          <a:p>
            <a:pPr algn="l"/>
            <a:endParaRPr lang="en-IN" dirty="0">
              <a:solidFill>
                <a:srgbClr val="51565E"/>
              </a:solidFill>
              <a:latin typeface="Roboto" panose="02000000000000000000" pitchFamily="2" charset="0"/>
            </a:endParaRPr>
          </a:p>
          <a:p>
            <a:pPr algn="l"/>
            <a:r>
              <a:rPr lang="en-IN" b="0" i="0" dirty="0">
                <a:solidFill>
                  <a:srgbClr val="00B050"/>
                </a:solidFill>
                <a:effectLst/>
                <a:latin typeface="Roboto" panose="02000000000000000000" pitchFamily="2" charset="0"/>
              </a:rPr>
              <a:t>1 - Output will be 7.  Pointer p has the memory address of x, and you display the pointer with a dereference operator that will display the value 7.</a:t>
            </a:r>
          </a:p>
          <a:p>
            <a:endParaRPr lang="en-US" dirty="0"/>
          </a:p>
        </p:txBody>
      </p:sp>
      <p:pic>
        <p:nvPicPr>
          <p:cNvPr id="3074" name="Picture 2" descr="InterviewQuestions_Example7.">
            <a:extLst>
              <a:ext uri="{FF2B5EF4-FFF2-40B4-BE49-F238E27FC236}">
                <a16:creationId xmlns:a16="http://schemas.microsoft.com/office/drawing/2014/main" id="{E32A875E-B54C-5E4A-52DD-2DF8ABD93A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65290" y="359361"/>
            <a:ext cx="6911362" cy="4505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37550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0357E-50D6-8CF9-2ADB-C8075B0A936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87C0512-FA6F-9457-5D0A-74B90CB96006}"/>
              </a:ext>
            </a:extLst>
          </p:cNvPr>
          <p:cNvSpPr>
            <a:spLocks noGrp="1"/>
          </p:cNvSpPr>
          <p:nvPr>
            <p:ph idx="1"/>
          </p:nvPr>
        </p:nvSpPr>
        <p:spPr/>
        <p:txBody>
          <a:bodyPr>
            <a:normAutofit/>
          </a:bodyPr>
          <a:lstStyle/>
          <a:p>
            <a:pPr algn="l">
              <a:buFont typeface="+mj-lt"/>
              <a:buAutoNum type="arabicPeriod"/>
            </a:pPr>
            <a:r>
              <a:rPr lang="en-IN" b="0" i="0" dirty="0">
                <a:solidFill>
                  <a:srgbClr val="51565E"/>
                </a:solidFill>
                <a:effectLst/>
                <a:latin typeface="Roboto" panose="02000000000000000000" pitchFamily="2" charset="0"/>
              </a:rPr>
              <a:t>The output will be 245</a:t>
            </a:r>
          </a:p>
          <a:p>
            <a:pPr algn="l">
              <a:buFont typeface="+mj-lt"/>
              <a:buAutoNum type="arabicPeriod"/>
            </a:pPr>
            <a:r>
              <a:rPr lang="en-IN" b="0" i="0" dirty="0">
                <a:solidFill>
                  <a:srgbClr val="51565E"/>
                </a:solidFill>
                <a:effectLst/>
                <a:latin typeface="Roboto" panose="02000000000000000000" pitchFamily="2" charset="0"/>
              </a:rPr>
              <a:t>The output will be 222</a:t>
            </a:r>
          </a:p>
          <a:p>
            <a:pPr algn="l">
              <a:buFont typeface="+mj-lt"/>
              <a:buAutoNum type="arabicPeriod"/>
            </a:pPr>
            <a:r>
              <a:rPr lang="en-IN" b="0" i="0" dirty="0">
                <a:solidFill>
                  <a:srgbClr val="51565E"/>
                </a:solidFill>
                <a:effectLst/>
                <a:latin typeface="Roboto" panose="02000000000000000000" pitchFamily="2" charset="0"/>
              </a:rPr>
              <a:t>The output will be 4810</a:t>
            </a:r>
          </a:p>
          <a:p>
            <a:pPr algn="l">
              <a:buFont typeface="+mj-lt"/>
              <a:buAutoNum type="arabicPeriod"/>
            </a:pPr>
            <a:r>
              <a:rPr lang="en-IN" b="0" i="0" dirty="0">
                <a:solidFill>
                  <a:srgbClr val="51565E"/>
                </a:solidFill>
                <a:effectLst/>
                <a:latin typeface="Roboto" panose="02000000000000000000" pitchFamily="2" charset="0"/>
              </a:rPr>
              <a:t>The output will be 4812</a:t>
            </a:r>
          </a:p>
          <a:p>
            <a:pPr algn="l"/>
            <a:endParaRPr lang="en-IN" b="0" i="0" dirty="0">
              <a:solidFill>
                <a:srgbClr val="51565E"/>
              </a:solidFill>
              <a:effectLst/>
              <a:latin typeface="Roboto" panose="02000000000000000000" pitchFamily="2" charset="0"/>
            </a:endParaRPr>
          </a:p>
          <a:p>
            <a:pPr algn="l"/>
            <a:endParaRPr lang="en-IN" dirty="0">
              <a:solidFill>
                <a:srgbClr val="51565E"/>
              </a:solidFill>
              <a:latin typeface="Roboto" panose="02000000000000000000" pitchFamily="2" charset="0"/>
            </a:endParaRPr>
          </a:p>
          <a:p>
            <a:pPr algn="l"/>
            <a:endParaRPr lang="en-IN" b="0" i="0" dirty="0">
              <a:solidFill>
                <a:srgbClr val="51565E"/>
              </a:solidFill>
              <a:effectLst/>
              <a:latin typeface="Roboto" panose="02000000000000000000" pitchFamily="2" charset="0"/>
            </a:endParaRPr>
          </a:p>
          <a:p>
            <a:endParaRPr lang="en-US" dirty="0"/>
          </a:p>
        </p:txBody>
      </p:sp>
      <p:pic>
        <p:nvPicPr>
          <p:cNvPr id="5122" name="Picture 2" descr="InterviewQuestions_Example8.">
            <a:extLst>
              <a:ext uri="{FF2B5EF4-FFF2-40B4-BE49-F238E27FC236}">
                <a16:creationId xmlns:a16="http://schemas.microsoft.com/office/drawing/2014/main" id="{C400A66F-D060-19E1-A8BD-7825423599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6050" y="1"/>
            <a:ext cx="6965949" cy="49960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41980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EA3D3-1ADD-096A-BDBC-3135D2787B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5871BB-DD94-99B6-A227-F3338BF79EB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D3EF5E4-C7F5-5804-8193-DCB0F6C1AB0A}"/>
              </a:ext>
            </a:extLst>
          </p:cNvPr>
          <p:cNvSpPr>
            <a:spLocks noGrp="1"/>
          </p:cNvSpPr>
          <p:nvPr>
            <p:ph idx="1"/>
          </p:nvPr>
        </p:nvSpPr>
        <p:spPr/>
        <p:txBody>
          <a:bodyPr>
            <a:normAutofit lnSpcReduction="10000"/>
          </a:bodyPr>
          <a:lstStyle/>
          <a:p>
            <a:pPr algn="l">
              <a:buFont typeface="+mj-lt"/>
              <a:buAutoNum type="arabicPeriod"/>
            </a:pPr>
            <a:r>
              <a:rPr lang="en-IN" b="0" i="0" dirty="0">
                <a:solidFill>
                  <a:srgbClr val="51565E"/>
                </a:solidFill>
                <a:effectLst/>
                <a:latin typeface="Roboto" panose="02000000000000000000" pitchFamily="2" charset="0"/>
              </a:rPr>
              <a:t>The output will be 245</a:t>
            </a:r>
          </a:p>
          <a:p>
            <a:pPr algn="l">
              <a:buFont typeface="+mj-lt"/>
              <a:buAutoNum type="arabicPeriod"/>
            </a:pPr>
            <a:r>
              <a:rPr lang="en-IN" b="0" i="0" dirty="0">
                <a:solidFill>
                  <a:srgbClr val="51565E"/>
                </a:solidFill>
                <a:effectLst/>
                <a:latin typeface="Roboto" panose="02000000000000000000" pitchFamily="2" charset="0"/>
              </a:rPr>
              <a:t>The output will be 222</a:t>
            </a:r>
          </a:p>
          <a:p>
            <a:pPr algn="l">
              <a:buFont typeface="+mj-lt"/>
              <a:buAutoNum type="arabicPeriod"/>
            </a:pPr>
            <a:r>
              <a:rPr lang="en-IN" b="0" i="0" dirty="0">
                <a:solidFill>
                  <a:srgbClr val="00B050"/>
                </a:solidFill>
                <a:effectLst/>
                <a:latin typeface="Roboto" panose="02000000000000000000" pitchFamily="2" charset="0"/>
              </a:rPr>
              <a:t>The output will be 4810</a:t>
            </a:r>
          </a:p>
          <a:p>
            <a:pPr algn="l">
              <a:buFont typeface="+mj-lt"/>
              <a:buAutoNum type="arabicPeriod"/>
            </a:pPr>
            <a:r>
              <a:rPr lang="en-IN" b="0" i="0" dirty="0">
                <a:solidFill>
                  <a:srgbClr val="51565E"/>
                </a:solidFill>
                <a:effectLst/>
                <a:latin typeface="Roboto" panose="02000000000000000000" pitchFamily="2" charset="0"/>
              </a:rPr>
              <a:t>The output will be 4812</a:t>
            </a:r>
          </a:p>
          <a:p>
            <a:pPr algn="l"/>
            <a:endParaRPr lang="en-IN" b="0" i="0" dirty="0">
              <a:solidFill>
                <a:srgbClr val="51565E"/>
              </a:solidFill>
              <a:effectLst/>
              <a:latin typeface="Roboto" panose="02000000000000000000" pitchFamily="2" charset="0"/>
            </a:endParaRPr>
          </a:p>
          <a:p>
            <a:pPr algn="l"/>
            <a:endParaRPr lang="en-IN" dirty="0">
              <a:solidFill>
                <a:srgbClr val="51565E"/>
              </a:solidFill>
              <a:latin typeface="Roboto" panose="02000000000000000000" pitchFamily="2" charset="0"/>
            </a:endParaRPr>
          </a:p>
          <a:p>
            <a:pPr algn="l"/>
            <a:endParaRPr lang="en-IN" b="0" i="0" dirty="0">
              <a:solidFill>
                <a:srgbClr val="51565E"/>
              </a:solidFill>
              <a:effectLst/>
              <a:latin typeface="Roboto" panose="02000000000000000000" pitchFamily="2" charset="0"/>
            </a:endParaRPr>
          </a:p>
          <a:p>
            <a:pPr algn="l"/>
            <a:r>
              <a:rPr lang="en-IN" b="0" i="0" dirty="0">
                <a:solidFill>
                  <a:srgbClr val="00B050"/>
                </a:solidFill>
                <a:effectLst/>
                <a:latin typeface="Roboto" panose="02000000000000000000" pitchFamily="2" charset="0"/>
              </a:rPr>
              <a:t>3 - Output will be 4810, because you are passing the references of the function here.</a:t>
            </a:r>
          </a:p>
          <a:p>
            <a:endParaRPr lang="en-US" dirty="0"/>
          </a:p>
        </p:txBody>
      </p:sp>
      <p:pic>
        <p:nvPicPr>
          <p:cNvPr id="5122" name="Picture 2" descr="InterviewQuestions_Example8.">
            <a:extLst>
              <a:ext uri="{FF2B5EF4-FFF2-40B4-BE49-F238E27FC236}">
                <a16:creationId xmlns:a16="http://schemas.microsoft.com/office/drawing/2014/main" id="{8BA93DE8-A510-EA46-95E5-996655A0F3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6050" y="1"/>
            <a:ext cx="6965949" cy="49960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92423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4396F-A7E0-98B3-24F2-8BFD9833229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CC92C96-FFF6-DAC2-BF7E-9FB3C8A44D12}"/>
              </a:ext>
            </a:extLst>
          </p:cNvPr>
          <p:cNvSpPr>
            <a:spLocks noGrp="1"/>
          </p:cNvSpPr>
          <p:nvPr>
            <p:ph idx="1"/>
          </p:nvPr>
        </p:nvSpPr>
        <p:spPr/>
        <p:txBody>
          <a:bodyPr/>
          <a:lstStyle/>
          <a:p>
            <a:pPr algn="l"/>
            <a:r>
              <a:rPr lang="en-IN" b="0" i="0" dirty="0">
                <a:solidFill>
                  <a:srgbClr val="272C37"/>
                </a:solidFill>
                <a:effectLst/>
                <a:latin typeface="Roboto" panose="02000000000000000000" pitchFamily="2" charset="0"/>
              </a:rPr>
              <a:t>Which of the following is not a member of a class?</a:t>
            </a:r>
          </a:p>
          <a:p>
            <a:pPr algn="l">
              <a:buFont typeface="+mj-lt"/>
              <a:buAutoNum type="arabicPeriod"/>
            </a:pPr>
            <a:r>
              <a:rPr lang="en-IN" b="0" i="0" dirty="0">
                <a:solidFill>
                  <a:srgbClr val="51565E"/>
                </a:solidFill>
                <a:effectLst/>
                <a:latin typeface="Roboto" panose="02000000000000000000" pitchFamily="2" charset="0"/>
              </a:rPr>
              <a:t>Static function</a:t>
            </a:r>
          </a:p>
          <a:p>
            <a:pPr algn="l">
              <a:buFont typeface="+mj-lt"/>
              <a:buAutoNum type="arabicPeriod"/>
            </a:pPr>
            <a:r>
              <a:rPr lang="en-IN" b="0" i="0" dirty="0">
                <a:solidFill>
                  <a:srgbClr val="51565E"/>
                </a:solidFill>
                <a:effectLst/>
                <a:latin typeface="Roboto" panose="02000000000000000000" pitchFamily="2" charset="0"/>
              </a:rPr>
              <a:t>Virtual function</a:t>
            </a:r>
          </a:p>
          <a:p>
            <a:pPr algn="l">
              <a:buFont typeface="+mj-lt"/>
              <a:buAutoNum type="arabicPeriod"/>
            </a:pPr>
            <a:r>
              <a:rPr lang="en-IN" b="0" i="0" dirty="0" err="1">
                <a:solidFill>
                  <a:srgbClr val="51565E"/>
                </a:solidFill>
                <a:effectLst/>
                <a:latin typeface="Roboto" panose="02000000000000000000" pitchFamily="2" charset="0"/>
              </a:rPr>
              <a:t>Const</a:t>
            </a:r>
            <a:r>
              <a:rPr lang="en-IN" b="0" i="0" dirty="0">
                <a:solidFill>
                  <a:srgbClr val="51565E"/>
                </a:solidFill>
                <a:effectLst/>
                <a:latin typeface="Roboto" panose="02000000000000000000" pitchFamily="2" charset="0"/>
              </a:rPr>
              <a:t> function</a:t>
            </a:r>
          </a:p>
          <a:p>
            <a:pPr algn="l">
              <a:buFont typeface="+mj-lt"/>
              <a:buAutoNum type="arabicPeriod"/>
            </a:pPr>
            <a:r>
              <a:rPr lang="en-IN" b="0" i="0" dirty="0">
                <a:solidFill>
                  <a:srgbClr val="51565E"/>
                </a:solidFill>
                <a:effectLst/>
                <a:latin typeface="Roboto" panose="02000000000000000000" pitchFamily="2" charset="0"/>
              </a:rPr>
              <a:t>Friend function</a:t>
            </a:r>
          </a:p>
          <a:p>
            <a:endParaRPr lang="en-US" dirty="0"/>
          </a:p>
        </p:txBody>
      </p:sp>
    </p:spTree>
    <p:extLst>
      <p:ext uri="{BB962C8B-B14F-4D97-AF65-F5344CB8AC3E}">
        <p14:creationId xmlns:p14="http://schemas.microsoft.com/office/powerpoint/2010/main" val="7301708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7AE3A-CF91-9F19-F668-0D70CC80FD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206974-AFAC-068A-16E1-4FCF8D66627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F093CDF-68BF-B5E6-D65E-0802C9CD8AD8}"/>
              </a:ext>
            </a:extLst>
          </p:cNvPr>
          <p:cNvSpPr>
            <a:spLocks noGrp="1"/>
          </p:cNvSpPr>
          <p:nvPr>
            <p:ph idx="1"/>
          </p:nvPr>
        </p:nvSpPr>
        <p:spPr/>
        <p:txBody>
          <a:bodyPr/>
          <a:lstStyle/>
          <a:p>
            <a:pPr algn="l"/>
            <a:r>
              <a:rPr lang="en-IN" b="0" i="0" dirty="0">
                <a:solidFill>
                  <a:srgbClr val="272C37"/>
                </a:solidFill>
                <a:effectLst/>
                <a:latin typeface="Roboto" panose="02000000000000000000" pitchFamily="2" charset="0"/>
              </a:rPr>
              <a:t>Which of the following is not a member of a class?</a:t>
            </a:r>
          </a:p>
          <a:p>
            <a:pPr algn="l">
              <a:buFont typeface="+mj-lt"/>
              <a:buAutoNum type="arabicPeriod"/>
            </a:pPr>
            <a:r>
              <a:rPr lang="en-IN" b="0" i="0" dirty="0">
                <a:solidFill>
                  <a:srgbClr val="51565E"/>
                </a:solidFill>
                <a:effectLst/>
                <a:latin typeface="Roboto" panose="02000000000000000000" pitchFamily="2" charset="0"/>
              </a:rPr>
              <a:t>Static function</a:t>
            </a:r>
          </a:p>
          <a:p>
            <a:pPr algn="l">
              <a:buFont typeface="+mj-lt"/>
              <a:buAutoNum type="arabicPeriod"/>
            </a:pPr>
            <a:r>
              <a:rPr lang="en-IN" b="0" i="0" dirty="0">
                <a:solidFill>
                  <a:srgbClr val="51565E"/>
                </a:solidFill>
                <a:effectLst/>
                <a:latin typeface="Roboto" panose="02000000000000000000" pitchFamily="2" charset="0"/>
              </a:rPr>
              <a:t>Virtual function</a:t>
            </a:r>
          </a:p>
          <a:p>
            <a:pPr algn="l">
              <a:buFont typeface="+mj-lt"/>
              <a:buAutoNum type="arabicPeriod"/>
            </a:pPr>
            <a:r>
              <a:rPr lang="en-IN" b="0" i="0" dirty="0" err="1">
                <a:solidFill>
                  <a:srgbClr val="51565E"/>
                </a:solidFill>
                <a:effectLst/>
                <a:latin typeface="Roboto" panose="02000000000000000000" pitchFamily="2" charset="0"/>
              </a:rPr>
              <a:t>Const</a:t>
            </a:r>
            <a:r>
              <a:rPr lang="en-IN" b="0" i="0" dirty="0">
                <a:solidFill>
                  <a:srgbClr val="51565E"/>
                </a:solidFill>
                <a:effectLst/>
                <a:latin typeface="Roboto" panose="02000000000000000000" pitchFamily="2" charset="0"/>
              </a:rPr>
              <a:t> function</a:t>
            </a:r>
          </a:p>
          <a:p>
            <a:pPr algn="l">
              <a:buFont typeface="+mj-lt"/>
              <a:buAutoNum type="arabicPeriod"/>
            </a:pPr>
            <a:r>
              <a:rPr lang="en-IN" b="0" i="0" dirty="0">
                <a:solidFill>
                  <a:srgbClr val="00B050"/>
                </a:solidFill>
                <a:effectLst/>
                <a:latin typeface="Roboto" panose="02000000000000000000" pitchFamily="2" charset="0"/>
              </a:rPr>
              <a:t>Friend function</a:t>
            </a:r>
          </a:p>
          <a:p>
            <a:pPr algn="l"/>
            <a:r>
              <a:rPr lang="en-IN" b="0" i="0" dirty="0">
                <a:solidFill>
                  <a:srgbClr val="00B050"/>
                </a:solidFill>
                <a:effectLst/>
                <a:latin typeface="Roboto" panose="02000000000000000000" pitchFamily="2" charset="0"/>
              </a:rPr>
              <a:t>4 - Among the following, friend function is not a member of the class</a:t>
            </a:r>
          </a:p>
          <a:p>
            <a:endParaRPr lang="en-US" dirty="0"/>
          </a:p>
        </p:txBody>
      </p:sp>
    </p:spTree>
    <p:extLst>
      <p:ext uri="{BB962C8B-B14F-4D97-AF65-F5344CB8AC3E}">
        <p14:creationId xmlns:p14="http://schemas.microsoft.com/office/powerpoint/2010/main" val="37942205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E8928-04F8-5A8F-211F-AB058F642082}"/>
              </a:ext>
            </a:extLst>
          </p:cNvPr>
          <p:cNvSpPr>
            <a:spLocks noGrp="1"/>
          </p:cNvSpPr>
          <p:nvPr>
            <p:ph type="title"/>
          </p:nvPr>
        </p:nvSpPr>
        <p:spPr/>
        <p:txBody>
          <a:bodyPr/>
          <a:lstStyle/>
          <a:p>
            <a:r>
              <a:rPr lang="en-US" dirty="0"/>
              <a:t>Friend Function in C++</a:t>
            </a:r>
          </a:p>
        </p:txBody>
      </p:sp>
      <p:sp>
        <p:nvSpPr>
          <p:cNvPr id="3" name="Content Placeholder 2">
            <a:extLst>
              <a:ext uri="{FF2B5EF4-FFF2-40B4-BE49-F238E27FC236}">
                <a16:creationId xmlns:a16="http://schemas.microsoft.com/office/drawing/2014/main" id="{EFF29E73-FF1A-871F-EAD3-CFA3ED290F4A}"/>
              </a:ext>
            </a:extLst>
          </p:cNvPr>
          <p:cNvSpPr>
            <a:spLocks noGrp="1"/>
          </p:cNvSpPr>
          <p:nvPr>
            <p:ph idx="1"/>
          </p:nvPr>
        </p:nvSpPr>
        <p:spPr/>
        <p:txBody>
          <a:bodyPr/>
          <a:lstStyle/>
          <a:p>
            <a:pPr algn="l"/>
            <a:r>
              <a:rPr lang="en-IN" b="0" i="0" dirty="0">
                <a:effectLst/>
                <a:latin typeface="Google Sans"/>
              </a:rPr>
              <a:t>A </a:t>
            </a:r>
            <a:r>
              <a:rPr lang="en-IN" b="1" i="0" dirty="0">
                <a:effectLst/>
                <a:latin typeface="Google Sans"/>
              </a:rPr>
              <a:t>friend function</a:t>
            </a:r>
            <a:r>
              <a:rPr lang="en-IN" b="0" i="0" dirty="0">
                <a:effectLst/>
                <a:latin typeface="Google Sans"/>
              </a:rPr>
              <a:t> in C++ is a </a:t>
            </a:r>
            <a:r>
              <a:rPr lang="en-IN" b="1" i="0" dirty="0">
                <a:effectLst/>
                <a:latin typeface="Google Sans"/>
              </a:rPr>
              <a:t>non-member function</a:t>
            </a:r>
            <a:r>
              <a:rPr lang="en-IN" b="0" i="0" dirty="0">
                <a:effectLst/>
                <a:latin typeface="Google Sans"/>
              </a:rPr>
              <a:t> that is granted </a:t>
            </a:r>
            <a:r>
              <a:rPr lang="en-IN" b="1" i="0" dirty="0">
                <a:effectLst/>
                <a:latin typeface="Google Sans"/>
              </a:rPr>
              <a:t>special permission to access the private and protected members</a:t>
            </a:r>
            <a:r>
              <a:rPr lang="en-IN" b="0" i="0" dirty="0">
                <a:effectLst/>
                <a:latin typeface="Google Sans"/>
              </a:rPr>
              <a:t> of a class. Although its prototype is declared within the class using the friend keyword, it is defined outside the class's scope and is not considered a member function. </a:t>
            </a:r>
          </a:p>
          <a:p>
            <a:br>
              <a:rPr lang="en-IN" dirty="0"/>
            </a:br>
            <a:endParaRPr lang="en-US" dirty="0"/>
          </a:p>
        </p:txBody>
      </p:sp>
    </p:spTree>
    <p:extLst>
      <p:ext uri="{BB962C8B-B14F-4D97-AF65-F5344CB8AC3E}">
        <p14:creationId xmlns:p14="http://schemas.microsoft.com/office/powerpoint/2010/main" val="13204185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A1D55-D5F0-A24C-DDDC-FB9AE10DB719}"/>
              </a:ext>
            </a:extLst>
          </p:cNvPr>
          <p:cNvSpPr>
            <a:spLocks noGrp="1"/>
          </p:cNvSpPr>
          <p:nvPr>
            <p:ph type="title"/>
          </p:nvPr>
        </p:nvSpPr>
        <p:spPr/>
        <p:txBody>
          <a:bodyPr/>
          <a:lstStyle/>
          <a:p>
            <a:r>
              <a:rPr lang="en-IN" b="1" i="0" dirty="0">
                <a:effectLst/>
                <a:latin typeface="Google Sans"/>
              </a:rPr>
              <a:t>Key Characteristics</a:t>
            </a:r>
            <a:endParaRPr lang="en-US" dirty="0"/>
          </a:p>
        </p:txBody>
      </p:sp>
      <p:sp>
        <p:nvSpPr>
          <p:cNvPr id="3" name="Content Placeholder 2">
            <a:extLst>
              <a:ext uri="{FF2B5EF4-FFF2-40B4-BE49-F238E27FC236}">
                <a16:creationId xmlns:a16="http://schemas.microsoft.com/office/drawing/2014/main" id="{1CD84531-A7B6-4262-75DA-8019AC8F586F}"/>
              </a:ext>
            </a:extLst>
          </p:cNvPr>
          <p:cNvSpPr>
            <a:spLocks noGrp="1"/>
          </p:cNvSpPr>
          <p:nvPr>
            <p:ph idx="1"/>
          </p:nvPr>
        </p:nvSpPr>
        <p:spPr/>
        <p:txBody>
          <a:bodyPr>
            <a:normAutofit fontScale="70000" lnSpcReduction="20000"/>
          </a:bodyPr>
          <a:lstStyle/>
          <a:p>
            <a:pPr algn="l">
              <a:buFont typeface="Arial" panose="020B0604020202020204" pitchFamily="34" charset="0"/>
              <a:buChar char="•"/>
            </a:pPr>
            <a:r>
              <a:rPr lang="en-IN" b="1" i="0" dirty="0">
                <a:effectLst/>
                <a:latin typeface="Google Sans"/>
              </a:rPr>
              <a:t>Non-Member Function</a:t>
            </a:r>
            <a:r>
              <a:rPr lang="en-IN" b="0" i="0" dirty="0">
                <a:effectLst/>
                <a:latin typeface="Google Sans"/>
              </a:rPr>
              <a:t>: A friend function is not a member of the class it befriends, and therefore it is invoked like a normal function without using the dot (.) or arrow (-&gt;) operators on a class object.</a:t>
            </a:r>
          </a:p>
          <a:p>
            <a:pPr algn="l">
              <a:buFont typeface="Arial" panose="020B0604020202020204" pitchFamily="34" charset="0"/>
              <a:buChar char="•"/>
            </a:pPr>
            <a:r>
              <a:rPr lang="en-IN" b="1" i="0" dirty="0">
                <a:effectLst/>
                <a:latin typeface="Google Sans"/>
              </a:rPr>
              <a:t>Access Privileges</a:t>
            </a:r>
            <a:r>
              <a:rPr lang="en-IN" b="0" i="0" dirty="0">
                <a:effectLst/>
                <a:latin typeface="Google Sans"/>
              </a:rPr>
              <a:t>: It can access all private, protected, and public members of the class directly, bypassing normal access control rules.</a:t>
            </a:r>
          </a:p>
          <a:p>
            <a:pPr algn="l">
              <a:buFont typeface="Arial" panose="020B0604020202020204" pitchFamily="34" charset="0"/>
              <a:buChar char="•"/>
            </a:pPr>
            <a:r>
              <a:rPr lang="en-IN" b="1" i="0" dirty="0">
                <a:effectLst/>
                <a:latin typeface="Google Sans"/>
              </a:rPr>
              <a:t>Declaration Location</a:t>
            </a:r>
            <a:r>
              <a:rPr lang="en-IN" b="0" i="0" dirty="0">
                <a:effectLst/>
                <a:latin typeface="Google Sans"/>
              </a:rPr>
              <a:t>: A friend function can be declared anywhere in the class body (in the public, private, or protected section), and the location does not affect its access rights.</a:t>
            </a:r>
          </a:p>
          <a:p>
            <a:pPr algn="l">
              <a:buFont typeface="Arial" panose="020B0604020202020204" pitchFamily="34" charset="0"/>
              <a:buChar char="•"/>
            </a:pPr>
            <a:r>
              <a:rPr lang="en-IN" b="1" i="0" dirty="0">
                <a:effectLst/>
                <a:latin typeface="Google Sans"/>
              </a:rPr>
              <a:t>No this Pointer</a:t>
            </a:r>
            <a:r>
              <a:rPr lang="en-IN" b="0" i="0" dirty="0">
                <a:effectLst/>
                <a:latin typeface="Google Sans"/>
              </a:rPr>
              <a:t>: Since it is not a member function, it does not have an implicit this pointer, so it must use a class object passed as an argument (usually by reference) to access the object's members.</a:t>
            </a:r>
          </a:p>
          <a:p>
            <a:pPr algn="l">
              <a:buFont typeface="Arial" panose="020B0604020202020204" pitchFamily="34" charset="0"/>
              <a:buChar char="•"/>
            </a:pPr>
            <a:r>
              <a:rPr lang="en-IN" b="1" i="0" dirty="0">
                <a:effectLst/>
                <a:latin typeface="Google Sans"/>
              </a:rPr>
              <a:t>Not Inherited or Transitive</a:t>
            </a:r>
            <a:r>
              <a:rPr lang="en-IN" b="0" i="0" dirty="0">
                <a:effectLst/>
                <a:latin typeface="Google Sans"/>
              </a:rPr>
              <a:t>: Friendship is not inherited by derived classes and is not transitive (a friend of a friend is not a friend).</a:t>
            </a:r>
          </a:p>
          <a:p>
            <a:pPr algn="l">
              <a:buFont typeface="Arial" panose="020B0604020202020204" pitchFamily="34" charset="0"/>
              <a:buChar char="•"/>
            </a:pPr>
            <a:r>
              <a:rPr lang="en-IN" b="1" i="0" dirty="0">
                <a:effectLst/>
                <a:latin typeface="Google Sans"/>
              </a:rPr>
              <a:t>Not Mutual</a:t>
            </a:r>
            <a:r>
              <a:rPr lang="en-IN" b="0" i="0" dirty="0">
                <a:effectLst/>
                <a:latin typeface="Google Sans"/>
              </a:rPr>
              <a:t>: Friendship must be explicitly granted by the class; if class A is a friend of class B, B is not automatically a friend of A. </a:t>
            </a:r>
          </a:p>
          <a:p>
            <a:br>
              <a:rPr lang="en-IN" dirty="0"/>
            </a:br>
            <a:endParaRPr lang="en-US" dirty="0"/>
          </a:p>
        </p:txBody>
      </p:sp>
    </p:spTree>
    <p:extLst>
      <p:ext uri="{BB962C8B-B14F-4D97-AF65-F5344CB8AC3E}">
        <p14:creationId xmlns:p14="http://schemas.microsoft.com/office/powerpoint/2010/main" val="20754948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46706-92EA-0FA7-411D-2A7B492C4DB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BAAEE81-845A-C21F-A542-1F8E65498269}"/>
              </a:ext>
            </a:extLst>
          </p:cNvPr>
          <p:cNvSpPr>
            <a:spLocks noGrp="1"/>
          </p:cNvSpPr>
          <p:nvPr>
            <p:ph idx="1"/>
          </p:nvPr>
        </p:nvSpPr>
        <p:spPr>
          <a:xfrm>
            <a:off x="838200" y="150312"/>
            <a:ext cx="10515600" cy="6026651"/>
          </a:xfrm>
        </p:spPr>
        <p:txBody>
          <a:bodyPr>
            <a:normAutofit fontScale="40000" lnSpcReduction="20000"/>
          </a:bodyPr>
          <a:lstStyle/>
          <a:p>
            <a:r>
              <a:rPr lang="en-US" dirty="0"/>
              <a:t>#include &lt;iostream&gt;</a:t>
            </a:r>
          </a:p>
          <a:p>
            <a:r>
              <a:rPr lang="en-US" dirty="0"/>
              <a:t>using namespace std;</a:t>
            </a:r>
          </a:p>
          <a:p>
            <a:r>
              <a:rPr lang="en-US" dirty="0"/>
              <a:t>class Box {</a:t>
            </a:r>
          </a:p>
          <a:p>
            <a:r>
              <a:rPr lang="en-US" dirty="0"/>
              <a:t>private:</a:t>
            </a:r>
          </a:p>
          <a:p>
            <a:r>
              <a:rPr lang="en-US" dirty="0"/>
              <a:t>    int width;</a:t>
            </a:r>
          </a:p>
          <a:p>
            <a:r>
              <a:rPr lang="en-US" dirty="0"/>
              <a:t>public:</a:t>
            </a:r>
          </a:p>
          <a:p>
            <a:r>
              <a:rPr lang="en-US" dirty="0"/>
              <a:t>    Box(int w) : width(w) {}</a:t>
            </a:r>
          </a:p>
          <a:p>
            <a:endParaRPr lang="en-US" dirty="0"/>
          </a:p>
          <a:p>
            <a:r>
              <a:rPr lang="en-US" dirty="0"/>
              <a:t>    // Declaration of the friend function inside the class</a:t>
            </a:r>
          </a:p>
          <a:p>
            <a:r>
              <a:rPr lang="en-US" dirty="0">
                <a:solidFill>
                  <a:srgbClr val="00B050"/>
                </a:solidFill>
              </a:rPr>
              <a:t>    friend void </a:t>
            </a:r>
            <a:r>
              <a:rPr lang="en-US" dirty="0" err="1">
                <a:solidFill>
                  <a:srgbClr val="00B050"/>
                </a:solidFill>
              </a:rPr>
              <a:t>printWidth</a:t>
            </a:r>
            <a:r>
              <a:rPr lang="en-US" dirty="0">
                <a:solidFill>
                  <a:srgbClr val="00B050"/>
                </a:solidFill>
              </a:rPr>
              <a:t>(Box&amp; b);</a:t>
            </a:r>
          </a:p>
          <a:p>
            <a:r>
              <a:rPr lang="en-US" dirty="0"/>
              <a:t>};</a:t>
            </a:r>
          </a:p>
          <a:p>
            <a:endParaRPr lang="en-US" dirty="0"/>
          </a:p>
          <a:p>
            <a:r>
              <a:rPr lang="en-US" dirty="0">
                <a:solidFill>
                  <a:srgbClr val="00B050"/>
                </a:solidFill>
              </a:rPr>
              <a:t>// Definition of the friend function outside the class</a:t>
            </a:r>
          </a:p>
          <a:p>
            <a:r>
              <a:rPr lang="en-US" dirty="0">
                <a:solidFill>
                  <a:srgbClr val="00B050"/>
                </a:solidFill>
              </a:rPr>
              <a:t>void </a:t>
            </a:r>
            <a:r>
              <a:rPr lang="en-US" dirty="0" err="1">
                <a:solidFill>
                  <a:srgbClr val="00B050"/>
                </a:solidFill>
              </a:rPr>
              <a:t>printWidth</a:t>
            </a:r>
            <a:r>
              <a:rPr lang="en-US" dirty="0">
                <a:solidFill>
                  <a:srgbClr val="00B050"/>
                </a:solidFill>
              </a:rPr>
              <a:t>(Box&amp; b) {</a:t>
            </a:r>
          </a:p>
          <a:p>
            <a:r>
              <a:rPr lang="en-US" dirty="0">
                <a:solidFill>
                  <a:srgbClr val="00B050"/>
                </a:solidFill>
              </a:rPr>
              <a:t>    // Can access private member 'width'</a:t>
            </a:r>
          </a:p>
          <a:p>
            <a:r>
              <a:rPr lang="en-US" dirty="0">
                <a:solidFill>
                  <a:srgbClr val="00B050"/>
                </a:solidFill>
              </a:rPr>
              <a:t>    </a:t>
            </a:r>
            <a:r>
              <a:rPr lang="en-US" dirty="0" err="1">
                <a:solidFill>
                  <a:srgbClr val="00B050"/>
                </a:solidFill>
              </a:rPr>
              <a:t>cout</a:t>
            </a:r>
            <a:r>
              <a:rPr lang="en-US" dirty="0">
                <a:solidFill>
                  <a:srgbClr val="00B050"/>
                </a:solidFill>
              </a:rPr>
              <a:t> &lt;&lt; "The width is: " &lt;&lt; </a:t>
            </a:r>
            <a:r>
              <a:rPr lang="en-US" dirty="0" err="1">
                <a:solidFill>
                  <a:srgbClr val="00B050"/>
                </a:solidFill>
              </a:rPr>
              <a:t>b.width</a:t>
            </a:r>
            <a:r>
              <a:rPr lang="en-US" dirty="0">
                <a:solidFill>
                  <a:srgbClr val="00B050"/>
                </a:solidFill>
              </a:rPr>
              <a:t> &lt;&lt; </a:t>
            </a:r>
            <a:r>
              <a:rPr lang="en-US" dirty="0" err="1">
                <a:solidFill>
                  <a:srgbClr val="00B050"/>
                </a:solidFill>
              </a:rPr>
              <a:t>endl</a:t>
            </a:r>
            <a:r>
              <a:rPr lang="en-US" dirty="0">
                <a:solidFill>
                  <a:srgbClr val="00B050"/>
                </a:solidFill>
              </a:rPr>
              <a:t>;</a:t>
            </a:r>
          </a:p>
          <a:p>
            <a:r>
              <a:rPr lang="en-US" dirty="0">
                <a:solidFill>
                  <a:srgbClr val="00B050"/>
                </a:solidFill>
              </a:rPr>
              <a:t>}</a:t>
            </a:r>
          </a:p>
          <a:p>
            <a:endParaRPr lang="en-US" dirty="0"/>
          </a:p>
          <a:p>
            <a:r>
              <a:rPr lang="en-US" dirty="0"/>
              <a:t>int main() {</a:t>
            </a:r>
          </a:p>
          <a:p>
            <a:r>
              <a:rPr lang="en-US" dirty="0"/>
              <a:t>    Box </a:t>
            </a:r>
            <a:r>
              <a:rPr lang="en-US" dirty="0" err="1"/>
              <a:t>boxObj</a:t>
            </a:r>
            <a:r>
              <a:rPr lang="en-US" dirty="0"/>
              <a:t>(10);</a:t>
            </a:r>
          </a:p>
          <a:p>
            <a:r>
              <a:rPr lang="en-US" dirty="0">
                <a:solidFill>
                  <a:srgbClr val="00B050"/>
                </a:solidFill>
              </a:rPr>
              <a:t>    </a:t>
            </a:r>
            <a:r>
              <a:rPr lang="en-US" dirty="0" err="1">
                <a:solidFill>
                  <a:srgbClr val="00B050"/>
                </a:solidFill>
              </a:rPr>
              <a:t>printWidth</a:t>
            </a:r>
            <a:r>
              <a:rPr lang="en-US" dirty="0">
                <a:solidFill>
                  <a:srgbClr val="00B050"/>
                </a:solidFill>
              </a:rPr>
              <a:t>(</a:t>
            </a:r>
            <a:r>
              <a:rPr lang="en-US" dirty="0" err="1">
                <a:solidFill>
                  <a:srgbClr val="00B050"/>
                </a:solidFill>
              </a:rPr>
              <a:t>boxObj</a:t>
            </a:r>
            <a:r>
              <a:rPr lang="en-US" dirty="0">
                <a:solidFill>
                  <a:srgbClr val="00B050"/>
                </a:solidFill>
              </a:rPr>
              <a:t>); // Called like a normal function, passing the object</a:t>
            </a:r>
          </a:p>
          <a:p>
            <a:endParaRPr lang="en-US" dirty="0"/>
          </a:p>
          <a:p>
            <a:r>
              <a:rPr lang="en-US" dirty="0"/>
              <a:t>    return 0;</a:t>
            </a:r>
          </a:p>
          <a:p>
            <a:r>
              <a:rPr lang="en-US" dirty="0"/>
              <a:t>}</a:t>
            </a:r>
          </a:p>
          <a:p>
            <a:endParaRPr lang="en-US" dirty="0"/>
          </a:p>
        </p:txBody>
      </p:sp>
    </p:spTree>
    <p:extLst>
      <p:ext uri="{BB962C8B-B14F-4D97-AF65-F5344CB8AC3E}">
        <p14:creationId xmlns:p14="http://schemas.microsoft.com/office/powerpoint/2010/main" val="31032902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540B3-1C93-85EB-D79D-CBD2F298FDAF}"/>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929D2AEB-826F-A9A0-1AF5-360B3603F7C8}"/>
              </a:ext>
            </a:extLst>
          </p:cNvPr>
          <p:cNvSpPr>
            <a:spLocks noGrp="1"/>
          </p:cNvSpPr>
          <p:nvPr>
            <p:ph idx="1"/>
          </p:nvPr>
        </p:nvSpPr>
        <p:spPr/>
        <p:txBody>
          <a:bodyPr/>
          <a:lstStyle/>
          <a:p>
            <a:r>
              <a:rPr lang="en-US" dirty="0"/>
              <a:t>Sum of digits</a:t>
            </a:r>
          </a:p>
          <a:p>
            <a:r>
              <a:rPr lang="en-US" dirty="0"/>
              <a:t>Frequency of a digit</a:t>
            </a:r>
          </a:p>
          <a:p>
            <a:r>
              <a:rPr lang="en-US" dirty="0"/>
              <a:t>Reverse number</a:t>
            </a:r>
          </a:p>
        </p:txBody>
      </p:sp>
      <p:pic>
        <p:nvPicPr>
          <p:cNvPr id="7170" name="Picture 2" descr="InterviewQuestions_Example6.">
            <a:extLst>
              <a:ext uri="{FF2B5EF4-FFF2-40B4-BE49-F238E27FC236}">
                <a16:creationId xmlns:a16="http://schemas.microsoft.com/office/drawing/2014/main" id="{1872A302-C0E6-5442-F357-ABD5D13CBA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7713" y="0"/>
            <a:ext cx="509428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6252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1EB82-81AF-7244-9632-7ABECEE8321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82F6C62-646F-E0DE-4456-631413395B7D}"/>
              </a:ext>
            </a:extLst>
          </p:cNvPr>
          <p:cNvSpPr>
            <a:spLocks noGrp="1"/>
          </p:cNvSpPr>
          <p:nvPr>
            <p:ph idx="1"/>
          </p:nvPr>
        </p:nvSpPr>
        <p:spPr/>
        <p:txBody>
          <a:bodyPr/>
          <a:lstStyle/>
          <a:p>
            <a:pPr algn="l">
              <a:buFont typeface="+mj-lt"/>
              <a:buAutoNum type="arabicPeriod"/>
            </a:pPr>
            <a:r>
              <a:rPr lang="en-IN" b="0" i="0" dirty="0">
                <a:solidFill>
                  <a:srgbClr val="51565E"/>
                </a:solidFill>
                <a:effectLst/>
                <a:latin typeface="Roboto" panose="02000000000000000000" pitchFamily="2" charset="0"/>
              </a:rPr>
              <a:t>1010</a:t>
            </a:r>
          </a:p>
          <a:p>
            <a:pPr algn="l">
              <a:buFont typeface="+mj-lt"/>
              <a:buAutoNum type="arabicPeriod"/>
            </a:pPr>
            <a:r>
              <a:rPr lang="en-IN" b="0" i="0" dirty="0">
                <a:solidFill>
                  <a:srgbClr val="51565E"/>
                </a:solidFill>
                <a:effectLst/>
                <a:latin typeface="Roboto" panose="02000000000000000000" pitchFamily="2" charset="0"/>
              </a:rPr>
              <a:t>1001</a:t>
            </a:r>
          </a:p>
          <a:p>
            <a:pPr algn="l">
              <a:buFont typeface="+mj-lt"/>
              <a:buAutoNum type="arabicPeriod"/>
            </a:pPr>
            <a:r>
              <a:rPr lang="en-IN" b="0" i="0" dirty="0">
                <a:solidFill>
                  <a:srgbClr val="51565E"/>
                </a:solidFill>
                <a:effectLst/>
                <a:latin typeface="Roboto" panose="02000000000000000000" pitchFamily="2" charset="0"/>
              </a:rPr>
              <a:t>11</a:t>
            </a:r>
          </a:p>
          <a:p>
            <a:pPr algn="l">
              <a:buFont typeface="+mj-lt"/>
              <a:buAutoNum type="arabicPeriod"/>
            </a:pPr>
            <a:r>
              <a:rPr lang="en-IN" b="0" i="0" dirty="0">
                <a:solidFill>
                  <a:srgbClr val="51565E"/>
                </a:solidFill>
                <a:effectLst/>
                <a:latin typeface="Roboto" panose="02000000000000000000" pitchFamily="2" charset="0"/>
              </a:rPr>
              <a:t>1000</a:t>
            </a:r>
          </a:p>
          <a:p>
            <a:pPr algn="l"/>
            <a:endParaRPr lang="en-IN" b="0" i="0" dirty="0">
              <a:solidFill>
                <a:srgbClr val="51565E"/>
              </a:solidFill>
              <a:effectLst/>
              <a:latin typeface="Roboto" panose="02000000000000000000" pitchFamily="2" charset="0"/>
            </a:endParaRPr>
          </a:p>
          <a:p>
            <a:pPr algn="l"/>
            <a:endParaRPr lang="en-IN" dirty="0">
              <a:solidFill>
                <a:srgbClr val="51565E"/>
              </a:solidFill>
              <a:latin typeface="Roboto" panose="02000000000000000000" pitchFamily="2" charset="0"/>
            </a:endParaRPr>
          </a:p>
          <a:p>
            <a:endParaRPr lang="en-US" dirty="0"/>
          </a:p>
        </p:txBody>
      </p:sp>
      <p:pic>
        <p:nvPicPr>
          <p:cNvPr id="8194" name="Picture 2" descr="InterviewQuestions_Example11.">
            <a:extLst>
              <a:ext uri="{FF2B5EF4-FFF2-40B4-BE49-F238E27FC236}">
                <a16:creationId xmlns:a16="http://schemas.microsoft.com/office/drawing/2014/main" id="{7AF1C71B-B205-0903-742B-6C707C4044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6574" y="0"/>
            <a:ext cx="5645425" cy="4812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94213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AF8AD-14CA-77B4-6D9A-1AEEAF1F2C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666EE9-1971-030A-9E6A-1A43E7984E2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628BF15-237C-0E1A-AB5D-DB3B6654FEA7}"/>
              </a:ext>
            </a:extLst>
          </p:cNvPr>
          <p:cNvSpPr>
            <a:spLocks noGrp="1"/>
          </p:cNvSpPr>
          <p:nvPr>
            <p:ph idx="1"/>
          </p:nvPr>
        </p:nvSpPr>
        <p:spPr/>
        <p:txBody>
          <a:bodyPr/>
          <a:lstStyle/>
          <a:p>
            <a:pPr algn="l">
              <a:buFont typeface="+mj-lt"/>
              <a:buAutoNum type="arabicPeriod"/>
            </a:pPr>
            <a:r>
              <a:rPr lang="en-IN" b="0" i="0" dirty="0">
                <a:solidFill>
                  <a:srgbClr val="00B050"/>
                </a:solidFill>
                <a:effectLst/>
                <a:latin typeface="Roboto" panose="02000000000000000000" pitchFamily="2" charset="0"/>
              </a:rPr>
              <a:t>1010</a:t>
            </a:r>
          </a:p>
          <a:p>
            <a:pPr algn="l">
              <a:buFont typeface="+mj-lt"/>
              <a:buAutoNum type="arabicPeriod"/>
            </a:pPr>
            <a:r>
              <a:rPr lang="en-IN" b="0" i="0" dirty="0">
                <a:solidFill>
                  <a:srgbClr val="51565E"/>
                </a:solidFill>
                <a:effectLst/>
                <a:latin typeface="Roboto" panose="02000000000000000000" pitchFamily="2" charset="0"/>
              </a:rPr>
              <a:t>1001</a:t>
            </a:r>
          </a:p>
          <a:p>
            <a:pPr algn="l">
              <a:buFont typeface="+mj-lt"/>
              <a:buAutoNum type="arabicPeriod"/>
            </a:pPr>
            <a:r>
              <a:rPr lang="en-IN" b="0" i="0" dirty="0">
                <a:solidFill>
                  <a:srgbClr val="51565E"/>
                </a:solidFill>
                <a:effectLst/>
                <a:latin typeface="Roboto" panose="02000000000000000000" pitchFamily="2" charset="0"/>
              </a:rPr>
              <a:t>11</a:t>
            </a:r>
          </a:p>
          <a:p>
            <a:pPr algn="l">
              <a:buFont typeface="+mj-lt"/>
              <a:buAutoNum type="arabicPeriod"/>
            </a:pPr>
            <a:r>
              <a:rPr lang="en-IN" b="0" i="0" dirty="0">
                <a:solidFill>
                  <a:srgbClr val="51565E"/>
                </a:solidFill>
                <a:effectLst/>
                <a:latin typeface="Roboto" panose="02000000000000000000" pitchFamily="2" charset="0"/>
              </a:rPr>
              <a:t>1000</a:t>
            </a:r>
          </a:p>
          <a:p>
            <a:pPr algn="l"/>
            <a:endParaRPr lang="en-IN" b="0" i="0" dirty="0">
              <a:solidFill>
                <a:srgbClr val="51565E"/>
              </a:solidFill>
              <a:effectLst/>
              <a:latin typeface="Roboto" panose="02000000000000000000" pitchFamily="2" charset="0"/>
            </a:endParaRPr>
          </a:p>
          <a:p>
            <a:pPr algn="l"/>
            <a:endParaRPr lang="en-IN" dirty="0">
              <a:solidFill>
                <a:srgbClr val="51565E"/>
              </a:solidFill>
              <a:latin typeface="Roboto" panose="02000000000000000000" pitchFamily="2" charset="0"/>
            </a:endParaRPr>
          </a:p>
          <a:p>
            <a:pPr algn="l"/>
            <a:r>
              <a:rPr lang="en-IN" b="0" i="0" dirty="0">
                <a:solidFill>
                  <a:srgbClr val="00B050"/>
                </a:solidFill>
                <a:effectLst/>
                <a:latin typeface="Roboto" panose="02000000000000000000" pitchFamily="2" charset="0"/>
              </a:rPr>
              <a:t>1 - 1010, the value of j is incremented to 11, then j value is added to 100 but not assigned, and at last the value of j </a:t>
            </a:r>
            <a:r>
              <a:rPr lang="en-IN" b="0" i="0" dirty="0" err="1">
                <a:solidFill>
                  <a:srgbClr val="00B050"/>
                </a:solidFill>
                <a:effectLst/>
                <a:latin typeface="Roboto" panose="02000000000000000000" pitchFamily="2" charset="0"/>
              </a:rPr>
              <a:t>i.e</a:t>
            </a:r>
            <a:r>
              <a:rPr lang="en-IN" b="0" i="0" dirty="0">
                <a:solidFill>
                  <a:srgbClr val="00B050"/>
                </a:solidFill>
                <a:effectLst/>
                <a:latin typeface="Roboto" panose="02000000000000000000" pitchFamily="2" charset="0"/>
              </a:rPr>
              <a:t> 11 is added to 999 which gives us 1010.</a:t>
            </a:r>
          </a:p>
          <a:p>
            <a:endParaRPr lang="en-US" dirty="0"/>
          </a:p>
        </p:txBody>
      </p:sp>
      <p:pic>
        <p:nvPicPr>
          <p:cNvPr id="8194" name="Picture 2" descr="InterviewQuestions_Example11.">
            <a:extLst>
              <a:ext uri="{FF2B5EF4-FFF2-40B4-BE49-F238E27FC236}">
                <a16:creationId xmlns:a16="http://schemas.microsoft.com/office/drawing/2014/main" id="{F1F7793E-F215-F9AD-245F-8D94E788A6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6574" y="0"/>
            <a:ext cx="5645425" cy="4812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782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8E9DB-8C41-06EF-DFC7-C7AC6B4CE8E3}"/>
              </a:ext>
            </a:extLst>
          </p:cNvPr>
          <p:cNvSpPr>
            <a:spLocks noGrp="1"/>
          </p:cNvSpPr>
          <p:nvPr>
            <p:ph type="title"/>
          </p:nvPr>
        </p:nvSpPr>
        <p:spPr/>
        <p:txBody>
          <a:bodyPr/>
          <a:lstStyle/>
          <a:p>
            <a:r>
              <a:rPr lang="en-US" dirty="0"/>
              <a:t>Pass by Value</a:t>
            </a:r>
          </a:p>
        </p:txBody>
      </p:sp>
      <p:sp>
        <p:nvSpPr>
          <p:cNvPr id="3" name="Content Placeholder 2">
            <a:extLst>
              <a:ext uri="{FF2B5EF4-FFF2-40B4-BE49-F238E27FC236}">
                <a16:creationId xmlns:a16="http://schemas.microsoft.com/office/drawing/2014/main" id="{5A93D29B-81B3-1ACB-53A8-66A6EBD694ED}"/>
              </a:ext>
            </a:extLst>
          </p:cNvPr>
          <p:cNvSpPr>
            <a:spLocks noGrp="1"/>
          </p:cNvSpPr>
          <p:nvPr>
            <p:ph idx="1"/>
          </p:nvPr>
        </p:nvSpPr>
        <p:spPr>
          <a:xfrm>
            <a:off x="838200" y="1825625"/>
            <a:ext cx="5257800" cy="4351338"/>
          </a:xfrm>
        </p:spPr>
        <p:txBody>
          <a:bodyPr>
            <a:normAutofit fontScale="62500" lnSpcReduction="20000"/>
          </a:bodyPr>
          <a:lstStyle/>
          <a:p>
            <a:r>
              <a:rPr lang="en-US" dirty="0"/>
              <a:t>#include &lt;iostream&gt;</a:t>
            </a:r>
          </a:p>
          <a:p>
            <a:r>
              <a:rPr lang="en-US" dirty="0"/>
              <a:t>using namespace std;</a:t>
            </a:r>
          </a:p>
          <a:p>
            <a:endParaRPr lang="en-US" dirty="0"/>
          </a:p>
          <a:p>
            <a:r>
              <a:rPr lang="en-US" dirty="0"/>
              <a:t>void modify(int x) {</a:t>
            </a:r>
          </a:p>
          <a:p>
            <a:r>
              <a:rPr lang="en-US" dirty="0"/>
              <a:t>    x = x + 10;</a:t>
            </a:r>
          </a:p>
          <a:p>
            <a:r>
              <a:rPr lang="en-US" dirty="0"/>
              <a:t>}</a:t>
            </a:r>
          </a:p>
          <a:p>
            <a:endParaRPr lang="en-US" dirty="0"/>
          </a:p>
          <a:p>
            <a:r>
              <a:rPr lang="en-US" dirty="0"/>
              <a:t>int main() {</a:t>
            </a:r>
          </a:p>
          <a:p>
            <a:r>
              <a:rPr lang="en-US" dirty="0"/>
              <a:t>    int a = 5;</a:t>
            </a:r>
          </a:p>
          <a:p>
            <a:r>
              <a:rPr lang="en-US" dirty="0"/>
              <a:t>    modify(a);</a:t>
            </a:r>
          </a:p>
          <a:p>
            <a:r>
              <a:rPr lang="en-US" dirty="0"/>
              <a:t>    </a:t>
            </a:r>
            <a:r>
              <a:rPr lang="en-US" dirty="0" err="1"/>
              <a:t>cout</a:t>
            </a:r>
            <a:r>
              <a:rPr lang="en-US" dirty="0"/>
              <a:t> &lt;&lt; "Value after call by value: " &lt;&lt; a &lt;&lt; </a:t>
            </a:r>
            <a:r>
              <a:rPr lang="en-US" dirty="0" err="1"/>
              <a:t>endl</a:t>
            </a:r>
            <a:r>
              <a:rPr lang="en-US" dirty="0"/>
              <a:t>;</a:t>
            </a:r>
          </a:p>
          <a:p>
            <a:r>
              <a:rPr lang="en-US" dirty="0"/>
              <a:t>    return 0;</a:t>
            </a:r>
          </a:p>
          <a:p>
            <a:r>
              <a:rPr lang="en-US" dirty="0"/>
              <a:t>}</a:t>
            </a:r>
          </a:p>
        </p:txBody>
      </p:sp>
      <p:sp>
        <p:nvSpPr>
          <p:cNvPr id="4" name="Content Placeholder 2">
            <a:extLst>
              <a:ext uri="{FF2B5EF4-FFF2-40B4-BE49-F238E27FC236}">
                <a16:creationId xmlns:a16="http://schemas.microsoft.com/office/drawing/2014/main" id="{691E4084-4D0D-92B6-BC73-D293ACE8638D}"/>
              </a:ext>
            </a:extLst>
          </p:cNvPr>
          <p:cNvSpPr txBox="1">
            <a:spLocks/>
          </p:cNvSpPr>
          <p:nvPr/>
        </p:nvSpPr>
        <p:spPr>
          <a:xfrm>
            <a:off x="6096000" y="1825625"/>
            <a:ext cx="5257800" cy="4351338"/>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#include &lt;iostream&gt;</a:t>
            </a:r>
          </a:p>
          <a:p>
            <a:r>
              <a:rPr lang="en-US" dirty="0"/>
              <a:t>using namespace std;</a:t>
            </a:r>
          </a:p>
          <a:p>
            <a:endParaRPr lang="en-US" dirty="0"/>
          </a:p>
          <a:p>
            <a:r>
              <a:rPr lang="en-US" dirty="0"/>
              <a:t>void modify(int &amp;x) {</a:t>
            </a:r>
          </a:p>
          <a:p>
            <a:r>
              <a:rPr lang="en-US" dirty="0"/>
              <a:t>    x = x + 10;</a:t>
            </a:r>
          </a:p>
          <a:p>
            <a:r>
              <a:rPr lang="en-US" dirty="0"/>
              <a:t>}</a:t>
            </a:r>
          </a:p>
          <a:p>
            <a:endParaRPr lang="en-US" dirty="0"/>
          </a:p>
          <a:p>
            <a:r>
              <a:rPr lang="en-US" dirty="0"/>
              <a:t>int main() {</a:t>
            </a:r>
          </a:p>
          <a:p>
            <a:r>
              <a:rPr lang="en-US" dirty="0"/>
              <a:t>    int a = 5;</a:t>
            </a:r>
          </a:p>
          <a:p>
            <a:r>
              <a:rPr lang="en-US" dirty="0"/>
              <a:t>    modify(a);</a:t>
            </a:r>
          </a:p>
          <a:p>
            <a:r>
              <a:rPr lang="en-US" dirty="0"/>
              <a:t>    </a:t>
            </a:r>
            <a:r>
              <a:rPr lang="en-US" dirty="0" err="1"/>
              <a:t>cout</a:t>
            </a:r>
            <a:r>
              <a:rPr lang="en-US" dirty="0"/>
              <a:t> &lt;&lt; "Value after call by reference: " &lt;&lt; a &lt;&lt; </a:t>
            </a:r>
            <a:r>
              <a:rPr lang="en-US" dirty="0" err="1"/>
              <a:t>endl</a:t>
            </a:r>
            <a:r>
              <a:rPr lang="en-US" dirty="0"/>
              <a:t>;</a:t>
            </a:r>
          </a:p>
          <a:p>
            <a:r>
              <a:rPr lang="en-US" dirty="0"/>
              <a:t>    return 0;</a:t>
            </a:r>
          </a:p>
          <a:p>
            <a:r>
              <a:rPr lang="en-US" dirty="0"/>
              <a:t>}</a:t>
            </a:r>
          </a:p>
        </p:txBody>
      </p:sp>
    </p:spTree>
    <p:extLst>
      <p:ext uri="{BB962C8B-B14F-4D97-AF65-F5344CB8AC3E}">
        <p14:creationId xmlns:p14="http://schemas.microsoft.com/office/powerpoint/2010/main" val="19332128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1A9FD-2B87-6048-F783-FAD475DAD28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E71ABBA-4B1B-88C0-5F57-52793371B70B}"/>
              </a:ext>
            </a:extLst>
          </p:cNvPr>
          <p:cNvSpPr>
            <a:spLocks noGrp="1"/>
          </p:cNvSpPr>
          <p:nvPr>
            <p:ph idx="1"/>
          </p:nvPr>
        </p:nvSpPr>
        <p:spPr/>
        <p:txBody>
          <a:bodyPr>
            <a:normAutofit lnSpcReduction="10000"/>
          </a:bodyPr>
          <a:lstStyle/>
          <a:p>
            <a:pPr algn="l" rtl="0"/>
            <a:r>
              <a:rPr lang="en-IN" b="0" i="0" dirty="0">
                <a:solidFill>
                  <a:srgbClr val="273239"/>
                </a:solidFill>
                <a:effectLst/>
                <a:latin typeface="Source Sans 3"/>
              </a:rPr>
              <a:t>Which statement checks if a number is negative?</a:t>
            </a:r>
          </a:p>
          <a:p>
            <a:pPr algn="ctr">
              <a:buFont typeface="Arial" panose="020B0604020202020204" pitchFamily="34" charset="0"/>
              <a:buChar char="•"/>
            </a:pPr>
            <a:r>
              <a:rPr lang="en-IN" b="0" i="0" dirty="0">
                <a:solidFill>
                  <a:srgbClr val="9F9F9F"/>
                </a:solidFill>
                <a:effectLst/>
                <a:latin typeface="-apple-system"/>
              </a:rPr>
              <a:t>A</a:t>
            </a:r>
          </a:p>
          <a:p>
            <a:pPr algn="l" rtl="0">
              <a:buFont typeface="Arial" panose="020B0604020202020204" pitchFamily="34" charset="0"/>
              <a:buChar char="•"/>
            </a:pPr>
            <a:r>
              <a:rPr lang="en-IN" b="0" i="0" dirty="0">
                <a:solidFill>
                  <a:srgbClr val="273239"/>
                </a:solidFill>
                <a:effectLst/>
                <a:latin typeface="Source Sans 3"/>
              </a:rPr>
              <a:t>if (x &gt; 0)</a:t>
            </a:r>
          </a:p>
          <a:p>
            <a:pPr algn="ctr">
              <a:buFont typeface="Arial" panose="020B0604020202020204" pitchFamily="34" charset="0"/>
              <a:buChar char="•"/>
            </a:pPr>
            <a:r>
              <a:rPr lang="en-IN" b="0" i="0" dirty="0">
                <a:solidFill>
                  <a:srgbClr val="9F9F9F"/>
                </a:solidFill>
                <a:effectLst/>
                <a:latin typeface="-apple-system"/>
              </a:rPr>
              <a:t>B</a:t>
            </a:r>
          </a:p>
          <a:p>
            <a:pPr algn="l" rtl="0">
              <a:buFont typeface="Arial" panose="020B0604020202020204" pitchFamily="34" charset="0"/>
              <a:buChar char="•"/>
            </a:pPr>
            <a:r>
              <a:rPr lang="en-IN" b="0" i="0" dirty="0">
                <a:solidFill>
                  <a:srgbClr val="273239"/>
                </a:solidFill>
                <a:effectLst/>
                <a:latin typeface="Source Sans 3"/>
              </a:rPr>
              <a:t>if (x &lt; 0)</a:t>
            </a:r>
          </a:p>
          <a:p>
            <a:pPr algn="ctr">
              <a:buFont typeface="Arial" panose="020B0604020202020204" pitchFamily="34" charset="0"/>
              <a:buChar char="•"/>
            </a:pPr>
            <a:r>
              <a:rPr lang="en-IN" b="0" i="0" dirty="0">
                <a:solidFill>
                  <a:srgbClr val="9F9F9F"/>
                </a:solidFill>
                <a:effectLst/>
                <a:latin typeface="-apple-system"/>
              </a:rPr>
              <a:t>C</a:t>
            </a:r>
          </a:p>
          <a:p>
            <a:pPr algn="l" rtl="0">
              <a:buFont typeface="Arial" panose="020B0604020202020204" pitchFamily="34" charset="0"/>
              <a:buChar char="•"/>
            </a:pPr>
            <a:r>
              <a:rPr lang="en-IN" b="0" i="0" dirty="0">
                <a:solidFill>
                  <a:srgbClr val="273239"/>
                </a:solidFill>
                <a:effectLst/>
                <a:latin typeface="Source Sans 3"/>
              </a:rPr>
              <a:t>if (x == 0)</a:t>
            </a:r>
          </a:p>
          <a:p>
            <a:pPr algn="ctr">
              <a:buFont typeface="Arial" panose="020B0604020202020204" pitchFamily="34" charset="0"/>
              <a:buChar char="•"/>
            </a:pPr>
            <a:r>
              <a:rPr lang="en-IN" b="0" i="0" dirty="0">
                <a:solidFill>
                  <a:srgbClr val="9F9F9F"/>
                </a:solidFill>
                <a:effectLst/>
                <a:latin typeface="-apple-system"/>
              </a:rPr>
              <a:t>D</a:t>
            </a:r>
          </a:p>
          <a:p>
            <a:pPr algn="l" rtl="0">
              <a:buFont typeface="Arial" panose="020B0604020202020204" pitchFamily="34" charset="0"/>
              <a:buChar char="•"/>
            </a:pPr>
            <a:r>
              <a:rPr lang="en-IN" b="0" i="0" dirty="0">
                <a:solidFill>
                  <a:srgbClr val="273239"/>
                </a:solidFill>
                <a:effectLst/>
                <a:latin typeface="Source Sans 3"/>
              </a:rPr>
              <a:t>if (x &gt;= 0)</a:t>
            </a:r>
          </a:p>
          <a:p>
            <a:endParaRPr lang="en-US" dirty="0"/>
          </a:p>
        </p:txBody>
      </p:sp>
    </p:spTree>
    <p:extLst>
      <p:ext uri="{BB962C8B-B14F-4D97-AF65-F5344CB8AC3E}">
        <p14:creationId xmlns:p14="http://schemas.microsoft.com/office/powerpoint/2010/main" val="24970945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2922A-7634-0308-ACCA-144E5F2C42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9DD51C-D846-C4CD-C065-BF243D98CE3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9952DFB-0EF2-4586-37FA-75CC94EFE083}"/>
              </a:ext>
            </a:extLst>
          </p:cNvPr>
          <p:cNvSpPr>
            <a:spLocks noGrp="1"/>
          </p:cNvSpPr>
          <p:nvPr>
            <p:ph idx="1"/>
          </p:nvPr>
        </p:nvSpPr>
        <p:spPr/>
        <p:txBody>
          <a:bodyPr>
            <a:normAutofit lnSpcReduction="10000"/>
          </a:bodyPr>
          <a:lstStyle/>
          <a:p>
            <a:pPr algn="l" rtl="0"/>
            <a:r>
              <a:rPr lang="en-IN" b="0" i="0" dirty="0">
                <a:solidFill>
                  <a:srgbClr val="273239"/>
                </a:solidFill>
                <a:effectLst/>
                <a:latin typeface="Source Sans 3"/>
              </a:rPr>
              <a:t>Which statement checks if a number is negative?</a:t>
            </a:r>
          </a:p>
          <a:p>
            <a:pPr algn="ctr">
              <a:buFont typeface="Arial" panose="020B0604020202020204" pitchFamily="34" charset="0"/>
              <a:buChar char="•"/>
            </a:pPr>
            <a:r>
              <a:rPr lang="en-IN" b="0" i="0" dirty="0">
                <a:solidFill>
                  <a:srgbClr val="9F9F9F"/>
                </a:solidFill>
                <a:effectLst/>
                <a:latin typeface="-apple-system"/>
              </a:rPr>
              <a:t>A</a:t>
            </a:r>
          </a:p>
          <a:p>
            <a:pPr algn="l" rtl="0">
              <a:buFont typeface="Arial" panose="020B0604020202020204" pitchFamily="34" charset="0"/>
              <a:buChar char="•"/>
            </a:pPr>
            <a:r>
              <a:rPr lang="en-IN" b="0" i="0" dirty="0">
                <a:solidFill>
                  <a:srgbClr val="273239"/>
                </a:solidFill>
                <a:effectLst/>
                <a:latin typeface="Source Sans 3"/>
              </a:rPr>
              <a:t>if (x &gt; 0)</a:t>
            </a:r>
          </a:p>
          <a:p>
            <a:pPr algn="ctr">
              <a:buFont typeface="Arial" panose="020B0604020202020204" pitchFamily="34" charset="0"/>
              <a:buChar char="•"/>
            </a:pPr>
            <a:r>
              <a:rPr lang="en-IN" b="0" i="0" dirty="0">
                <a:solidFill>
                  <a:srgbClr val="00B050"/>
                </a:solidFill>
                <a:effectLst/>
                <a:latin typeface="-apple-system"/>
              </a:rPr>
              <a:t>B</a:t>
            </a:r>
          </a:p>
          <a:p>
            <a:pPr algn="l" rtl="0">
              <a:buFont typeface="Arial" panose="020B0604020202020204" pitchFamily="34" charset="0"/>
              <a:buChar char="•"/>
            </a:pPr>
            <a:r>
              <a:rPr lang="en-IN" b="0" i="0" dirty="0">
                <a:solidFill>
                  <a:srgbClr val="00B050"/>
                </a:solidFill>
                <a:effectLst/>
                <a:latin typeface="Source Sans 3"/>
              </a:rPr>
              <a:t>if (x &lt; 0)</a:t>
            </a:r>
          </a:p>
          <a:p>
            <a:pPr algn="ctr">
              <a:buFont typeface="Arial" panose="020B0604020202020204" pitchFamily="34" charset="0"/>
              <a:buChar char="•"/>
            </a:pPr>
            <a:r>
              <a:rPr lang="en-IN" b="0" i="0" dirty="0">
                <a:solidFill>
                  <a:srgbClr val="9F9F9F"/>
                </a:solidFill>
                <a:effectLst/>
                <a:latin typeface="-apple-system"/>
              </a:rPr>
              <a:t>C</a:t>
            </a:r>
          </a:p>
          <a:p>
            <a:pPr algn="l" rtl="0">
              <a:buFont typeface="Arial" panose="020B0604020202020204" pitchFamily="34" charset="0"/>
              <a:buChar char="•"/>
            </a:pPr>
            <a:r>
              <a:rPr lang="en-IN" b="0" i="0" dirty="0">
                <a:solidFill>
                  <a:srgbClr val="273239"/>
                </a:solidFill>
                <a:effectLst/>
                <a:latin typeface="Source Sans 3"/>
              </a:rPr>
              <a:t>if (x == 0)</a:t>
            </a:r>
          </a:p>
          <a:p>
            <a:pPr algn="ctr">
              <a:buFont typeface="Arial" panose="020B0604020202020204" pitchFamily="34" charset="0"/>
              <a:buChar char="•"/>
            </a:pPr>
            <a:r>
              <a:rPr lang="en-IN" b="0" i="0" dirty="0">
                <a:solidFill>
                  <a:srgbClr val="9F9F9F"/>
                </a:solidFill>
                <a:effectLst/>
                <a:latin typeface="-apple-system"/>
              </a:rPr>
              <a:t>D</a:t>
            </a:r>
          </a:p>
          <a:p>
            <a:pPr algn="l" rtl="0">
              <a:buFont typeface="Arial" panose="020B0604020202020204" pitchFamily="34" charset="0"/>
              <a:buChar char="•"/>
            </a:pPr>
            <a:r>
              <a:rPr lang="en-IN" b="0" i="0" dirty="0">
                <a:solidFill>
                  <a:srgbClr val="273239"/>
                </a:solidFill>
                <a:effectLst/>
                <a:latin typeface="Source Sans 3"/>
              </a:rPr>
              <a:t>if (x &gt;= 0)</a:t>
            </a:r>
          </a:p>
          <a:p>
            <a:endParaRPr lang="en-US" dirty="0"/>
          </a:p>
        </p:txBody>
      </p:sp>
    </p:spTree>
    <p:extLst>
      <p:ext uri="{BB962C8B-B14F-4D97-AF65-F5344CB8AC3E}">
        <p14:creationId xmlns:p14="http://schemas.microsoft.com/office/powerpoint/2010/main" val="37541031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669EE-06B4-4CA9-7D3E-1B4A6EB04CA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A0B198A-5114-558F-6C89-7FB314FA9C7E}"/>
              </a:ext>
            </a:extLst>
          </p:cNvPr>
          <p:cNvSpPr>
            <a:spLocks noGrp="1"/>
          </p:cNvSpPr>
          <p:nvPr>
            <p:ph idx="1"/>
          </p:nvPr>
        </p:nvSpPr>
        <p:spPr/>
        <p:txBody>
          <a:bodyPr>
            <a:normAutofit fontScale="62500" lnSpcReduction="20000"/>
          </a:bodyPr>
          <a:lstStyle/>
          <a:p>
            <a:pPr algn="l" rtl="0"/>
            <a:r>
              <a:rPr lang="en-IN" b="0" i="0" dirty="0">
                <a:solidFill>
                  <a:srgbClr val="273239"/>
                </a:solidFill>
                <a:effectLst/>
                <a:latin typeface="Source Sans 3"/>
              </a:rPr>
              <a:t>What does the following code output?</a:t>
            </a:r>
          </a:p>
          <a:p>
            <a:pPr algn="l" rtl="0"/>
            <a:r>
              <a:rPr lang="en-IN" b="0" i="0" dirty="0">
                <a:solidFill>
                  <a:srgbClr val="273239"/>
                </a:solidFill>
                <a:effectLst/>
                <a:latin typeface="Source Sans 3"/>
              </a:rPr>
              <a:t>int x = 4;</a:t>
            </a:r>
          </a:p>
          <a:p>
            <a:pPr algn="l" rtl="0"/>
            <a:r>
              <a:rPr lang="en-IN" b="0" i="0" dirty="0">
                <a:solidFill>
                  <a:srgbClr val="273239"/>
                </a:solidFill>
                <a:effectLst/>
                <a:latin typeface="Source Sans 3"/>
              </a:rPr>
              <a:t>x *= 2 + 3;</a:t>
            </a:r>
          </a:p>
          <a:p>
            <a:pPr algn="l" rtl="0"/>
            <a:r>
              <a:rPr lang="en-IN" b="0" i="0" dirty="0" err="1">
                <a:solidFill>
                  <a:srgbClr val="273239"/>
                </a:solidFill>
                <a:effectLst/>
                <a:latin typeface="Source Sans 3"/>
              </a:rPr>
              <a:t>cout</a:t>
            </a:r>
            <a:r>
              <a:rPr lang="en-IN" b="0" i="0" dirty="0">
                <a:solidFill>
                  <a:srgbClr val="273239"/>
                </a:solidFill>
                <a:effectLst/>
                <a:latin typeface="Source Sans 3"/>
              </a:rPr>
              <a:t> &lt;&lt; x;</a:t>
            </a:r>
          </a:p>
          <a:p>
            <a:pPr algn="l" rtl="0"/>
            <a:br>
              <a:rPr lang="en-IN" b="0" i="0" dirty="0">
                <a:solidFill>
                  <a:srgbClr val="273239"/>
                </a:solidFill>
                <a:effectLst/>
                <a:latin typeface="Source Sans 3"/>
              </a:rPr>
            </a:br>
            <a:endParaRPr lang="en-IN" b="0" i="0" dirty="0">
              <a:solidFill>
                <a:srgbClr val="273239"/>
              </a:solidFill>
              <a:effectLst/>
              <a:latin typeface="Source Sans 3"/>
            </a:endParaRPr>
          </a:p>
          <a:p>
            <a:pPr algn="ctr">
              <a:buFont typeface="Arial" panose="020B0604020202020204" pitchFamily="34" charset="0"/>
              <a:buChar char="•"/>
            </a:pPr>
            <a:r>
              <a:rPr lang="en-IN" b="0" i="0" dirty="0">
                <a:solidFill>
                  <a:srgbClr val="9F9F9F"/>
                </a:solidFill>
                <a:effectLst/>
                <a:latin typeface="-apple-system"/>
              </a:rPr>
              <a:t>A</a:t>
            </a:r>
          </a:p>
          <a:p>
            <a:pPr algn="l">
              <a:buFont typeface="Arial" panose="020B0604020202020204" pitchFamily="34" charset="0"/>
              <a:buChar char="•"/>
            </a:pPr>
            <a:r>
              <a:rPr lang="en-IN" b="0" i="0" dirty="0">
                <a:solidFill>
                  <a:srgbClr val="273239"/>
                </a:solidFill>
                <a:effectLst/>
                <a:latin typeface="Source Sans 3"/>
              </a:rPr>
              <a:t>20</a:t>
            </a:r>
          </a:p>
          <a:p>
            <a:pPr algn="ctr">
              <a:buFont typeface="Arial" panose="020B0604020202020204" pitchFamily="34" charset="0"/>
              <a:buChar char="•"/>
            </a:pPr>
            <a:r>
              <a:rPr lang="en-IN" b="0" i="0" dirty="0">
                <a:solidFill>
                  <a:srgbClr val="9F9F9F"/>
                </a:solidFill>
                <a:effectLst/>
                <a:latin typeface="-apple-system"/>
              </a:rPr>
              <a:t>B</a:t>
            </a:r>
          </a:p>
          <a:p>
            <a:pPr algn="l">
              <a:buFont typeface="Arial" panose="020B0604020202020204" pitchFamily="34" charset="0"/>
              <a:buChar char="•"/>
            </a:pPr>
            <a:r>
              <a:rPr lang="en-IN" b="0" i="0" dirty="0">
                <a:solidFill>
                  <a:srgbClr val="273239"/>
                </a:solidFill>
                <a:effectLst/>
                <a:latin typeface="Source Sans 3"/>
              </a:rPr>
              <a:t>14</a:t>
            </a:r>
          </a:p>
          <a:p>
            <a:pPr algn="ctr">
              <a:buFont typeface="Arial" panose="020B0604020202020204" pitchFamily="34" charset="0"/>
              <a:buChar char="•"/>
            </a:pPr>
            <a:r>
              <a:rPr lang="en-IN" b="0" i="0" dirty="0">
                <a:solidFill>
                  <a:srgbClr val="9F9F9F"/>
                </a:solidFill>
                <a:effectLst/>
                <a:latin typeface="-apple-system"/>
              </a:rPr>
              <a:t>C</a:t>
            </a:r>
          </a:p>
          <a:p>
            <a:pPr algn="l">
              <a:buFont typeface="Arial" panose="020B0604020202020204" pitchFamily="34" charset="0"/>
              <a:buChar char="•"/>
            </a:pPr>
            <a:r>
              <a:rPr lang="en-IN" b="0" i="0" dirty="0">
                <a:solidFill>
                  <a:srgbClr val="273239"/>
                </a:solidFill>
                <a:effectLst/>
                <a:latin typeface="Source Sans 3"/>
              </a:rPr>
              <a:t>10</a:t>
            </a:r>
          </a:p>
          <a:p>
            <a:pPr algn="ctr">
              <a:buFont typeface="Arial" panose="020B0604020202020204" pitchFamily="34" charset="0"/>
              <a:buChar char="•"/>
            </a:pPr>
            <a:r>
              <a:rPr lang="en-IN" b="0" i="0" dirty="0">
                <a:solidFill>
                  <a:srgbClr val="9F9F9F"/>
                </a:solidFill>
                <a:effectLst/>
                <a:latin typeface="-apple-system"/>
              </a:rPr>
              <a:t>D</a:t>
            </a:r>
          </a:p>
          <a:p>
            <a:pPr algn="l" rtl="0">
              <a:buFont typeface="Arial" panose="020B0604020202020204" pitchFamily="34" charset="0"/>
              <a:buChar char="•"/>
            </a:pPr>
            <a:r>
              <a:rPr lang="en-IN" b="0" i="0" dirty="0">
                <a:solidFill>
                  <a:srgbClr val="273239"/>
                </a:solidFill>
                <a:effectLst/>
                <a:latin typeface="Source Sans 3"/>
              </a:rPr>
              <a:t>Compilation Error</a:t>
            </a:r>
          </a:p>
          <a:p>
            <a:endParaRPr lang="en-US" dirty="0"/>
          </a:p>
        </p:txBody>
      </p:sp>
    </p:spTree>
    <p:extLst>
      <p:ext uri="{BB962C8B-B14F-4D97-AF65-F5344CB8AC3E}">
        <p14:creationId xmlns:p14="http://schemas.microsoft.com/office/powerpoint/2010/main" val="29664743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A847A-A266-4D08-A987-39AD2BC6E1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533938-A484-F0E3-8FB5-BE4BC49B956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AC68E49-80E5-4C3F-5D68-10D0373C6B41}"/>
              </a:ext>
            </a:extLst>
          </p:cNvPr>
          <p:cNvSpPr>
            <a:spLocks noGrp="1"/>
          </p:cNvSpPr>
          <p:nvPr>
            <p:ph idx="1"/>
          </p:nvPr>
        </p:nvSpPr>
        <p:spPr/>
        <p:txBody>
          <a:bodyPr>
            <a:normAutofit fontScale="62500" lnSpcReduction="20000"/>
          </a:bodyPr>
          <a:lstStyle/>
          <a:p>
            <a:pPr algn="l" rtl="0"/>
            <a:r>
              <a:rPr lang="en-IN" b="0" i="0" dirty="0">
                <a:solidFill>
                  <a:srgbClr val="273239"/>
                </a:solidFill>
                <a:effectLst/>
                <a:latin typeface="Source Sans 3"/>
              </a:rPr>
              <a:t>What does the following code output?</a:t>
            </a:r>
          </a:p>
          <a:p>
            <a:pPr algn="l" rtl="0"/>
            <a:r>
              <a:rPr lang="en-IN" b="0" i="0" dirty="0">
                <a:solidFill>
                  <a:srgbClr val="273239"/>
                </a:solidFill>
                <a:effectLst/>
                <a:latin typeface="Source Sans 3"/>
              </a:rPr>
              <a:t>int x = 4;</a:t>
            </a:r>
          </a:p>
          <a:p>
            <a:pPr algn="l" rtl="0"/>
            <a:r>
              <a:rPr lang="en-IN" b="0" i="0" dirty="0">
                <a:solidFill>
                  <a:srgbClr val="273239"/>
                </a:solidFill>
                <a:effectLst/>
                <a:latin typeface="Source Sans 3"/>
              </a:rPr>
              <a:t>x *= 2 + 3;</a:t>
            </a:r>
          </a:p>
          <a:p>
            <a:pPr algn="l" rtl="0"/>
            <a:r>
              <a:rPr lang="en-IN" b="0" i="0" dirty="0" err="1">
                <a:solidFill>
                  <a:srgbClr val="273239"/>
                </a:solidFill>
                <a:effectLst/>
                <a:latin typeface="Source Sans 3"/>
              </a:rPr>
              <a:t>cout</a:t>
            </a:r>
            <a:r>
              <a:rPr lang="en-IN" b="0" i="0" dirty="0">
                <a:solidFill>
                  <a:srgbClr val="273239"/>
                </a:solidFill>
                <a:effectLst/>
                <a:latin typeface="Source Sans 3"/>
              </a:rPr>
              <a:t> &lt;&lt; x;</a:t>
            </a:r>
          </a:p>
          <a:p>
            <a:pPr algn="l" rtl="0"/>
            <a:br>
              <a:rPr lang="en-IN" b="0" i="0" dirty="0">
                <a:solidFill>
                  <a:srgbClr val="273239"/>
                </a:solidFill>
                <a:effectLst/>
                <a:latin typeface="Source Sans 3"/>
              </a:rPr>
            </a:br>
            <a:endParaRPr lang="en-IN" b="0" i="0" dirty="0">
              <a:solidFill>
                <a:srgbClr val="273239"/>
              </a:solidFill>
              <a:effectLst/>
              <a:latin typeface="Source Sans 3"/>
            </a:endParaRPr>
          </a:p>
          <a:p>
            <a:pPr algn="ctr">
              <a:buFont typeface="Arial" panose="020B0604020202020204" pitchFamily="34" charset="0"/>
              <a:buChar char="•"/>
            </a:pPr>
            <a:r>
              <a:rPr lang="en-IN" b="0" i="0" dirty="0">
                <a:solidFill>
                  <a:srgbClr val="00B050"/>
                </a:solidFill>
                <a:effectLst/>
                <a:latin typeface="-apple-system"/>
              </a:rPr>
              <a:t>A</a:t>
            </a:r>
          </a:p>
          <a:p>
            <a:pPr algn="l">
              <a:buFont typeface="Arial" panose="020B0604020202020204" pitchFamily="34" charset="0"/>
              <a:buChar char="•"/>
            </a:pPr>
            <a:r>
              <a:rPr lang="en-IN" b="0" i="0" dirty="0">
                <a:solidFill>
                  <a:srgbClr val="00B050"/>
                </a:solidFill>
                <a:effectLst/>
                <a:latin typeface="Source Sans 3"/>
              </a:rPr>
              <a:t>20</a:t>
            </a:r>
          </a:p>
          <a:p>
            <a:pPr algn="ctr">
              <a:buFont typeface="Arial" panose="020B0604020202020204" pitchFamily="34" charset="0"/>
              <a:buChar char="•"/>
            </a:pPr>
            <a:r>
              <a:rPr lang="en-IN" b="0" i="0" dirty="0">
                <a:solidFill>
                  <a:srgbClr val="9F9F9F"/>
                </a:solidFill>
                <a:effectLst/>
                <a:latin typeface="-apple-system"/>
              </a:rPr>
              <a:t>B</a:t>
            </a:r>
          </a:p>
          <a:p>
            <a:pPr algn="l">
              <a:buFont typeface="Arial" panose="020B0604020202020204" pitchFamily="34" charset="0"/>
              <a:buChar char="•"/>
            </a:pPr>
            <a:r>
              <a:rPr lang="en-IN" b="0" i="0" dirty="0">
                <a:solidFill>
                  <a:srgbClr val="273239"/>
                </a:solidFill>
                <a:effectLst/>
                <a:latin typeface="Source Sans 3"/>
              </a:rPr>
              <a:t>14</a:t>
            </a:r>
          </a:p>
          <a:p>
            <a:pPr algn="ctr">
              <a:buFont typeface="Arial" panose="020B0604020202020204" pitchFamily="34" charset="0"/>
              <a:buChar char="•"/>
            </a:pPr>
            <a:r>
              <a:rPr lang="en-IN" b="0" i="0" dirty="0">
                <a:solidFill>
                  <a:srgbClr val="9F9F9F"/>
                </a:solidFill>
                <a:effectLst/>
                <a:latin typeface="-apple-system"/>
              </a:rPr>
              <a:t>C</a:t>
            </a:r>
          </a:p>
          <a:p>
            <a:pPr algn="l">
              <a:buFont typeface="Arial" panose="020B0604020202020204" pitchFamily="34" charset="0"/>
              <a:buChar char="•"/>
            </a:pPr>
            <a:r>
              <a:rPr lang="en-IN" b="0" i="0" dirty="0">
                <a:solidFill>
                  <a:srgbClr val="273239"/>
                </a:solidFill>
                <a:effectLst/>
                <a:latin typeface="Source Sans 3"/>
              </a:rPr>
              <a:t>10</a:t>
            </a:r>
          </a:p>
          <a:p>
            <a:pPr algn="ctr">
              <a:buFont typeface="Arial" panose="020B0604020202020204" pitchFamily="34" charset="0"/>
              <a:buChar char="•"/>
            </a:pPr>
            <a:r>
              <a:rPr lang="en-IN" b="0" i="0" dirty="0">
                <a:solidFill>
                  <a:srgbClr val="9F9F9F"/>
                </a:solidFill>
                <a:effectLst/>
                <a:latin typeface="-apple-system"/>
              </a:rPr>
              <a:t>D</a:t>
            </a:r>
          </a:p>
          <a:p>
            <a:pPr algn="l" rtl="0">
              <a:buFont typeface="Arial" panose="020B0604020202020204" pitchFamily="34" charset="0"/>
              <a:buChar char="•"/>
            </a:pPr>
            <a:r>
              <a:rPr lang="en-IN" b="0" i="0" dirty="0">
                <a:solidFill>
                  <a:srgbClr val="273239"/>
                </a:solidFill>
                <a:effectLst/>
                <a:latin typeface="Source Sans 3"/>
              </a:rPr>
              <a:t>Compilation Error</a:t>
            </a:r>
          </a:p>
          <a:p>
            <a:endParaRPr lang="en-US" dirty="0"/>
          </a:p>
        </p:txBody>
      </p:sp>
    </p:spTree>
    <p:extLst>
      <p:ext uri="{BB962C8B-B14F-4D97-AF65-F5344CB8AC3E}">
        <p14:creationId xmlns:p14="http://schemas.microsoft.com/office/powerpoint/2010/main" val="25241507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FCA13-F411-16DE-1EFA-0B77DEE8364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5F363E1-5AA6-6A5D-59E9-A410CD077291}"/>
              </a:ext>
            </a:extLst>
          </p:cNvPr>
          <p:cNvSpPr>
            <a:spLocks noGrp="1"/>
          </p:cNvSpPr>
          <p:nvPr>
            <p:ph idx="1"/>
          </p:nvPr>
        </p:nvSpPr>
        <p:spPr/>
        <p:txBody>
          <a:bodyPr>
            <a:normAutofit lnSpcReduction="10000"/>
          </a:bodyPr>
          <a:lstStyle/>
          <a:p>
            <a:r>
              <a:rPr lang="en-US" dirty="0"/>
              <a:t>What does the switch statement evaluate?</a:t>
            </a:r>
          </a:p>
          <a:p>
            <a:endParaRPr lang="en-US" dirty="0"/>
          </a:p>
          <a:p>
            <a:r>
              <a:rPr lang="en-US" dirty="0"/>
              <a:t>A. A float expression</a:t>
            </a:r>
          </a:p>
          <a:p>
            <a:endParaRPr lang="en-US" dirty="0"/>
          </a:p>
          <a:p>
            <a:r>
              <a:rPr lang="en-US" dirty="0"/>
              <a:t>B. A string expression</a:t>
            </a:r>
          </a:p>
          <a:p>
            <a:endParaRPr lang="en-US" dirty="0"/>
          </a:p>
          <a:p>
            <a:r>
              <a:rPr lang="en-US" dirty="0"/>
              <a:t>C. An integral or enumeration expression</a:t>
            </a:r>
          </a:p>
          <a:p>
            <a:endParaRPr lang="en-US" dirty="0"/>
          </a:p>
          <a:p>
            <a:r>
              <a:rPr lang="en-US" dirty="0"/>
              <a:t>D. A </a:t>
            </a:r>
            <a:r>
              <a:rPr lang="en-US" dirty="0" err="1"/>
              <a:t>boolean</a:t>
            </a:r>
            <a:r>
              <a:rPr lang="en-US" dirty="0"/>
              <a:t> expression</a:t>
            </a:r>
          </a:p>
        </p:txBody>
      </p:sp>
    </p:spTree>
    <p:extLst>
      <p:ext uri="{BB962C8B-B14F-4D97-AF65-F5344CB8AC3E}">
        <p14:creationId xmlns:p14="http://schemas.microsoft.com/office/powerpoint/2010/main" val="21321564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4C107-B9F7-BE8B-BF8B-31E88F11FF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270E13-0EEA-7F0C-5A15-866B5A679C1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77C87DF-4334-5B74-8DD2-B702110BC1C5}"/>
              </a:ext>
            </a:extLst>
          </p:cNvPr>
          <p:cNvSpPr>
            <a:spLocks noGrp="1"/>
          </p:cNvSpPr>
          <p:nvPr>
            <p:ph idx="1"/>
          </p:nvPr>
        </p:nvSpPr>
        <p:spPr/>
        <p:txBody>
          <a:bodyPr>
            <a:normAutofit lnSpcReduction="10000"/>
          </a:bodyPr>
          <a:lstStyle/>
          <a:p>
            <a:r>
              <a:rPr lang="en-US" dirty="0"/>
              <a:t>What does the switch statement evaluate?</a:t>
            </a:r>
          </a:p>
          <a:p>
            <a:endParaRPr lang="en-US" dirty="0"/>
          </a:p>
          <a:p>
            <a:r>
              <a:rPr lang="en-US" dirty="0"/>
              <a:t>A A float expression</a:t>
            </a:r>
          </a:p>
          <a:p>
            <a:endParaRPr lang="en-US" dirty="0"/>
          </a:p>
          <a:p>
            <a:r>
              <a:rPr lang="en-US" dirty="0"/>
              <a:t>B A string expression</a:t>
            </a:r>
          </a:p>
          <a:p>
            <a:endParaRPr lang="en-US" dirty="0"/>
          </a:p>
          <a:p>
            <a:r>
              <a:rPr lang="en-US" dirty="0">
                <a:solidFill>
                  <a:srgbClr val="00B050"/>
                </a:solidFill>
              </a:rPr>
              <a:t>C An integral or enumeration expression</a:t>
            </a:r>
          </a:p>
          <a:p>
            <a:endParaRPr lang="en-US" dirty="0"/>
          </a:p>
          <a:p>
            <a:r>
              <a:rPr lang="en-US" dirty="0"/>
              <a:t>D A </a:t>
            </a:r>
            <a:r>
              <a:rPr lang="en-US" dirty="0" err="1"/>
              <a:t>boolean</a:t>
            </a:r>
            <a:r>
              <a:rPr lang="en-US" dirty="0"/>
              <a:t> expression</a:t>
            </a:r>
          </a:p>
        </p:txBody>
      </p:sp>
    </p:spTree>
    <p:extLst>
      <p:ext uri="{BB962C8B-B14F-4D97-AF65-F5344CB8AC3E}">
        <p14:creationId xmlns:p14="http://schemas.microsoft.com/office/powerpoint/2010/main" val="19977030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C433E-AA8C-D552-CF7B-88D4C83CED4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915236E-CBA8-380E-C6D3-5D69F0297BC8}"/>
              </a:ext>
            </a:extLst>
          </p:cNvPr>
          <p:cNvSpPr>
            <a:spLocks noGrp="1"/>
          </p:cNvSpPr>
          <p:nvPr>
            <p:ph idx="1"/>
          </p:nvPr>
        </p:nvSpPr>
        <p:spPr/>
        <p:txBody>
          <a:bodyPr>
            <a:normAutofit lnSpcReduction="10000"/>
          </a:bodyPr>
          <a:lstStyle/>
          <a:p>
            <a:r>
              <a:rPr lang="en-US" dirty="0"/>
              <a:t>What is the scope of a local variable?</a:t>
            </a:r>
          </a:p>
          <a:p>
            <a:endParaRPr lang="en-US" dirty="0"/>
          </a:p>
          <a:p>
            <a:r>
              <a:rPr lang="en-US" dirty="0"/>
              <a:t>A. Entire program</a:t>
            </a:r>
          </a:p>
          <a:p>
            <a:endParaRPr lang="en-US" dirty="0"/>
          </a:p>
          <a:p>
            <a:r>
              <a:rPr lang="en-US" dirty="0"/>
              <a:t>B. Function or block</a:t>
            </a:r>
          </a:p>
          <a:p>
            <a:endParaRPr lang="en-US" dirty="0"/>
          </a:p>
          <a:p>
            <a:r>
              <a:rPr lang="en-US" dirty="0"/>
              <a:t>C. File</a:t>
            </a:r>
          </a:p>
          <a:p>
            <a:endParaRPr lang="en-US" dirty="0"/>
          </a:p>
          <a:p>
            <a:r>
              <a:rPr lang="en-US" dirty="0"/>
              <a:t>D. Class</a:t>
            </a:r>
          </a:p>
        </p:txBody>
      </p:sp>
    </p:spTree>
    <p:extLst>
      <p:ext uri="{BB962C8B-B14F-4D97-AF65-F5344CB8AC3E}">
        <p14:creationId xmlns:p14="http://schemas.microsoft.com/office/powerpoint/2010/main" val="5926681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EA829-BFAE-3D3A-BE58-50F3ECFC3D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FB1B2D-3FD0-4645-3DA3-9984D20F12F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D9A10FF-A49F-D1AF-0582-C3DDA6410ED7}"/>
              </a:ext>
            </a:extLst>
          </p:cNvPr>
          <p:cNvSpPr>
            <a:spLocks noGrp="1"/>
          </p:cNvSpPr>
          <p:nvPr>
            <p:ph idx="1"/>
          </p:nvPr>
        </p:nvSpPr>
        <p:spPr/>
        <p:txBody>
          <a:bodyPr>
            <a:normAutofit lnSpcReduction="10000"/>
          </a:bodyPr>
          <a:lstStyle/>
          <a:p>
            <a:r>
              <a:rPr lang="en-US" dirty="0"/>
              <a:t>What is the scope of a local variable?</a:t>
            </a:r>
          </a:p>
          <a:p>
            <a:endParaRPr lang="en-US" dirty="0"/>
          </a:p>
          <a:p>
            <a:r>
              <a:rPr lang="en-US" dirty="0"/>
              <a:t>A. Entire program</a:t>
            </a:r>
          </a:p>
          <a:p>
            <a:endParaRPr lang="en-US" dirty="0"/>
          </a:p>
          <a:p>
            <a:r>
              <a:rPr lang="en-US" dirty="0">
                <a:solidFill>
                  <a:srgbClr val="00B050"/>
                </a:solidFill>
              </a:rPr>
              <a:t>B. Function or block</a:t>
            </a:r>
          </a:p>
          <a:p>
            <a:endParaRPr lang="en-US" dirty="0"/>
          </a:p>
          <a:p>
            <a:r>
              <a:rPr lang="en-US" dirty="0"/>
              <a:t>C. File</a:t>
            </a:r>
          </a:p>
          <a:p>
            <a:endParaRPr lang="en-US" dirty="0"/>
          </a:p>
          <a:p>
            <a:r>
              <a:rPr lang="en-US" dirty="0"/>
              <a:t>D. Class</a:t>
            </a:r>
          </a:p>
        </p:txBody>
      </p:sp>
    </p:spTree>
    <p:extLst>
      <p:ext uri="{BB962C8B-B14F-4D97-AF65-F5344CB8AC3E}">
        <p14:creationId xmlns:p14="http://schemas.microsoft.com/office/powerpoint/2010/main" val="14002423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72C08-52D0-EEB2-5980-5C62F9802B8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ED712F2-EA3D-5EE7-ABB8-60B2F1E8265B}"/>
              </a:ext>
            </a:extLst>
          </p:cNvPr>
          <p:cNvSpPr>
            <a:spLocks noGrp="1"/>
          </p:cNvSpPr>
          <p:nvPr>
            <p:ph idx="1"/>
          </p:nvPr>
        </p:nvSpPr>
        <p:spPr/>
        <p:txBody>
          <a:bodyPr>
            <a:normAutofit lnSpcReduction="10000"/>
          </a:bodyPr>
          <a:lstStyle/>
          <a:p>
            <a:r>
              <a:rPr lang="en-US" dirty="0"/>
              <a:t>What does the static keyword do in a function?</a:t>
            </a:r>
          </a:p>
          <a:p>
            <a:endParaRPr lang="en-US" dirty="0"/>
          </a:p>
          <a:p>
            <a:r>
              <a:rPr lang="en-US" dirty="0"/>
              <a:t>A. Makes the variable global</a:t>
            </a:r>
          </a:p>
          <a:p>
            <a:endParaRPr lang="en-US" dirty="0"/>
          </a:p>
          <a:p>
            <a:r>
              <a:rPr lang="en-US" dirty="0"/>
              <a:t>B. Preserves value between calls</a:t>
            </a:r>
          </a:p>
          <a:p>
            <a:endParaRPr lang="en-US" dirty="0"/>
          </a:p>
          <a:p>
            <a:r>
              <a:rPr lang="en-US" dirty="0"/>
              <a:t>C. Allocates dynamic memory</a:t>
            </a:r>
          </a:p>
          <a:p>
            <a:endParaRPr lang="en-US" dirty="0"/>
          </a:p>
          <a:p>
            <a:r>
              <a:rPr lang="en-US" dirty="0"/>
              <a:t>D. Makes it constant</a:t>
            </a:r>
          </a:p>
        </p:txBody>
      </p:sp>
    </p:spTree>
    <p:extLst>
      <p:ext uri="{BB962C8B-B14F-4D97-AF65-F5344CB8AC3E}">
        <p14:creationId xmlns:p14="http://schemas.microsoft.com/office/powerpoint/2010/main" val="6275467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96C0B-DADA-15B9-47CA-FA097EDE57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95F1D-678C-AD98-BCB0-A6ADD38FA61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00CBAB7-561F-252D-61BD-E541EDFCC9B6}"/>
              </a:ext>
            </a:extLst>
          </p:cNvPr>
          <p:cNvSpPr>
            <a:spLocks noGrp="1"/>
          </p:cNvSpPr>
          <p:nvPr>
            <p:ph idx="1"/>
          </p:nvPr>
        </p:nvSpPr>
        <p:spPr/>
        <p:txBody>
          <a:bodyPr>
            <a:normAutofit lnSpcReduction="10000"/>
          </a:bodyPr>
          <a:lstStyle/>
          <a:p>
            <a:r>
              <a:rPr lang="en-US" dirty="0"/>
              <a:t>What does the static keyword do in a function?</a:t>
            </a:r>
          </a:p>
          <a:p>
            <a:endParaRPr lang="en-US" dirty="0"/>
          </a:p>
          <a:p>
            <a:r>
              <a:rPr lang="en-US" dirty="0"/>
              <a:t>A. Makes the variable global</a:t>
            </a:r>
          </a:p>
          <a:p>
            <a:endParaRPr lang="en-US" dirty="0"/>
          </a:p>
          <a:p>
            <a:r>
              <a:rPr lang="en-US" dirty="0">
                <a:solidFill>
                  <a:srgbClr val="00B050"/>
                </a:solidFill>
              </a:rPr>
              <a:t>B. Preserves value between calls</a:t>
            </a:r>
          </a:p>
          <a:p>
            <a:endParaRPr lang="en-US" dirty="0"/>
          </a:p>
          <a:p>
            <a:r>
              <a:rPr lang="en-US" dirty="0"/>
              <a:t>C. Allocates dynamic memory</a:t>
            </a:r>
          </a:p>
          <a:p>
            <a:endParaRPr lang="en-US" dirty="0"/>
          </a:p>
          <a:p>
            <a:r>
              <a:rPr lang="en-US" dirty="0"/>
              <a:t>D. Makes it constant</a:t>
            </a:r>
          </a:p>
        </p:txBody>
      </p:sp>
    </p:spTree>
    <p:extLst>
      <p:ext uri="{BB962C8B-B14F-4D97-AF65-F5344CB8AC3E}">
        <p14:creationId xmlns:p14="http://schemas.microsoft.com/office/powerpoint/2010/main" val="9961357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9D699-25FF-F074-6F60-025A5E17F83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3EE441A-CA99-1AEC-5388-AD414D8F4EF0}"/>
              </a:ext>
            </a:extLst>
          </p:cNvPr>
          <p:cNvSpPr>
            <a:spLocks noGrp="1"/>
          </p:cNvSpPr>
          <p:nvPr>
            <p:ph idx="1"/>
          </p:nvPr>
        </p:nvSpPr>
        <p:spPr/>
        <p:txBody>
          <a:bodyPr>
            <a:normAutofit lnSpcReduction="10000"/>
          </a:bodyPr>
          <a:lstStyle/>
          <a:p>
            <a:r>
              <a:rPr lang="en-US" dirty="0"/>
              <a:t>What is the size of the array char </a:t>
            </a:r>
            <a:r>
              <a:rPr lang="en-US" dirty="0" err="1"/>
              <a:t>arr</a:t>
            </a:r>
            <a:r>
              <a:rPr lang="en-US" dirty="0"/>
              <a:t>[] = "</a:t>
            </a:r>
            <a:r>
              <a:rPr lang="en-US" dirty="0" err="1"/>
              <a:t>geeksforgeeks</a:t>
            </a:r>
            <a:r>
              <a:rPr lang="en-US" dirty="0"/>
              <a:t>";?</a:t>
            </a:r>
          </a:p>
          <a:p>
            <a:endParaRPr lang="en-US" dirty="0"/>
          </a:p>
          <a:p>
            <a:r>
              <a:rPr lang="en-US" dirty="0"/>
              <a:t>A. 12</a:t>
            </a:r>
          </a:p>
          <a:p>
            <a:endParaRPr lang="en-US" dirty="0"/>
          </a:p>
          <a:p>
            <a:r>
              <a:rPr lang="en-US" dirty="0"/>
              <a:t>B. 13</a:t>
            </a:r>
          </a:p>
          <a:p>
            <a:endParaRPr lang="en-US" dirty="0"/>
          </a:p>
          <a:p>
            <a:r>
              <a:rPr lang="en-US" dirty="0"/>
              <a:t>C. 15</a:t>
            </a:r>
          </a:p>
          <a:p>
            <a:endParaRPr lang="en-US" dirty="0"/>
          </a:p>
          <a:p>
            <a:r>
              <a:rPr lang="en-US" dirty="0"/>
              <a:t>D. 14</a:t>
            </a:r>
          </a:p>
        </p:txBody>
      </p:sp>
    </p:spTree>
    <p:extLst>
      <p:ext uri="{BB962C8B-B14F-4D97-AF65-F5344CB8AC3E}">
        <p14:creationId xmlns:p14="http://schemas.microsoft.com/office/powerpoint/2010/main" val="13468296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C5AD6-6E46-9913-9493-91FFA1BF11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B41888-B627-A0F6-3DAC-66DCDD567EB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3B0140E-3A1C-3EDF-17B1-25891C034855}"/>
              </a:ext>
            </a:extLst>
          </p:cNvPr>
          <p:cNvSpPr>
            <a:spLocks noGrp="1"/>
          </p:cNvSpPr>
          <p:nvPr>
            <p:ph idx="1"/>
          </p:nvPr>
        </p:nvSpPr>
        <p:spPr/>
        <p:txBody>
          <a:bodyPr>
            <a:normAutofit lnSpcReduction="10000"/>
          </a:bodyPr>
          <a:lstStyle/>
          <a:p>
            <a:r>
              <a:rPr lang="en-US" dirty="0"/>
              <a:t>What is the size of the array char </a:t>
            </a:r>
            <a:r>
              <a:rPr lang="en-US" dirty="0" err="1"/>
              <a:t>arr</a:t>
            </a:r>
            <a:r>
              <a:rPr lang="en-US" dirty="0"/>
              <a:t>[] = "</a:t>
            </a:r>
            <a:r>
              <a:rPr lang="en-US" dirty="0" err="1"/>
              <a:t>geeksforgeeks</a:t>
            </a:r>
            <a:r>
              <a:rPr lang="en-US" dirty="0"/>
              <a:t>";?</a:t>
            </a:r>
          </a:p>
          <a:p>
            <a:endParaRPr lang="en-US" dirty="0"/>
          </a:p>
          <a:p>
            <a:r>
              <a:rPr lang="en-US" dirty="0"/>
              <a:t>A. 12</a:t>
            </a:r>
          </a:p>
          <a:p>
            <a:endParaRPr lang="en-US" dirty="0"/>
          </a:p>
          <a:p>
            <a:r>
              <a:rPr lang="en-US" dirty="0">
                <a:solidFill>
                  <a:srgbClr val="00B050"/>
                </a:solidFill>
              </a:rPr>
              <a:t>B. 13</a:t>
            </a:r>
          </a:p>
          <a:p>
            <a:endParaRPr lang="en-US" dirty="0"/>
          </a:p>
          <a:p>
            <a:r>
              <a:rPr lang="en-US" dirty="0"/>
              <a:t>C. 15</a:t>
            </a:r>
          </a:p>
          <a:p>
            <a:endParaRPr lang="en-US" dirty="0"/>
          </a:p>
          <a:p>
            <a:r>
              <a:rPr lang="en-US" dirty="0"/>
              <a:t>D. 14</a:t>
            </a:r>
          </a:p>
        </p:txBody>
      </p:sp>
    </p:spTree>
    <p:extLst>
      <p:ext uri="{BB962C8B-B14F-4D97-AF65-F5344CB8AC3E}">
        <p14:creationId xmlns:p14="http://schemas.microsoft.com/office/powerpoint/2010/main" val="27141343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F4B88-8BAE-8AC2-C526-9EACB159AC1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2FC0DFA-97AA-033C-B03D-D0D8A914681E}"/>
              </a:ext>
            </a:extLst>
          </p:cNvPr>
          <p:cNvSpPr>
            <a:spLocks noGrp="1"/>
          </p:cNvSpPr>
          <p:nvPr>
            <p:ph idx="1"/>
          </p:nvPr>
        </p:nvSpPr>
        <p:spPr/>
        <p:txBody>
          <a:bodyPr>
            <a:normAutofit lnSpcReduction="10000"/>
          </a:bodyPr>
          <a:lstStyle/>
          <a:p>
            <a:r>
              <a:rPr lang="en-US" dirty="0"/>
              <a:t>#include &lt;iostream&gt;</a:t>
            </a:r>
          </a:p>
          <a:p>
            <a:r>
              <a:rPr lang="en-US" dirty="0"/>
              <a:t>using namespace std;</a:t>
            </a:r>
          </a:p>
          <a:p>
            <a:endParaRPr lang="en-US" dirty="0"/>
          </a:p>
          <a:p>
            <a:r>
              <a:rPr lang="en-US" dirty="0"/>
              <a:t>int main() {</a:t>
            </a:r>
          </a:p>
          <a:p>
            <a:r>
              <a:rPr lang="en-US" dirty="0"/>
              <a:t>    int </a:t>
            </a:r>
            <a:r>
              <a:rPr lang="en-US" dirty="0" err="1"/>
              <a:t>arr</a:t>
            </a:r>
            <a:r>
              <a:rPr lang="en-US" dirty="0"/>
              <a:t>[3] = {1, 2};</a:t>
            </a:r>
          </a:p>
          <a:p>
            <a:r>
              <a:rPr lang="en-US" dirty="0"/>
              <a:t>    for(int </a:t>
            </a:r>
            <a:r>
              <a:rPr lang="en-US" dirty="0" err="1"/>
              <a:t>i</a:t>
            </a:r>
            <a:r>
              <a:rPr lang="en-US" dirty="0"/>
              <a:t> = 0; </a:t>
            </a:r>
            <a:r>
              <a:rPr lang="en-US" dirty="0" err="1"/>
              <a:t>i</a:t>
            </a:r>
            <a:r>
              <a:rPr lang="en-US" dirty="0"/>
              <a:t> &lt; 3; </a:t>
            </a:r>
            <a:r>
              <a:rPr lang="en-US" dirty="0" err="1"/>
              <a:t>i</a:t>
            </a:r>
            <a:r>
              <a:rPr lang="en-US" dirty="0"/>
              <a:t>++)</a:t>
            </a:r>
          </a:p>
          <a:p>
            <a:r>
              <a:rPr lang="en-US" dirty="0"/>
              <a:t>        </a:t>
            </a:r>
            <a:r>
              <a:rPr lang="en-US" dirty="0" err="1"/>
              <a:t>cout</a:t>
            </a:r>
            <a:r>
              <a:rPr lang="en-US" dirty="0"/>
              <a:t> &lt;&lt; </a:t>
            </a:r>
            <a:r>
              <a:rPr lang="en-US" dirty="0" err="1"/>
              <a:t>arr</a:t>
            </a:r>
            <a:r>
              <a:rPr lang="en-US" dirty="0"/>
              <a:t>[</a:t>
            </a:r>
            <a:r>
              <a:rPr lang="en-US" dirty="0" err="1"/>
              <a:t>i</a:t>
            </a:r>
            <a:r>
              <a:rPr lang="en-US" dirty="0"/>
              <a:t>] &lt;&lt; " ";</a:t>
            </a:r>
          </a:p>
          <a:p>
            <a:r>
              <a:rPr lang="en-US" dirty="0"/>
              <a:t>    return 0;</a:t>
            </a:r>
          </a:p>
          <a:p>
            <a:r>
              <a:rPr lang="en-US" dirty="0"/>
              <a:t>}</a:t>
            </a:r>
          </a:p>
        </p:txBody>
      </p:sp>
    </p:spTree>
    <p:extLst>
      <p:ext uri="{BB962C8B-B14F-4D97-AF65-F5344CB8AC3E}">
        <p14:creationId xmlns:p14="http://schemas.microsoft.com/office/powerpoint/2010/main" val="40728716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6E606-7483-CC8B-40B1-DF64A0F2D76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55F77B7-A654-DC62-2655-C84E90A4B838}"/>
              </a:ext>
            </a:extLst>
          </p:cNvPr>
          <p:cNvSpPr>
            <a:spLocks noGrp="1"/>
          </p:cNvSpPr>
          <p:nvPr>
            <p:ph idx="1"/>
          </p:nvPr>
        </p:nvSpPr>
        <p:spPr/>
        <p:txBody>
          <a:bodyPr/>
          <a:lstStyle/>
          <a:p>
            <a:r>
              <a:rPr lang="en-US" dirty="0"/>
              <a:t>#include &lt;iostream&gt;</a:t>
            </a:r>
          </a:p>
          <a:p>
            <a:r>
              <a:rPr lang="en-US" dirty="0"/>
              <a:t>using namespace std;</a:t>
            </a:r>
          </a:p>
          <a:p>
            <a:endParaRPr lang="en-US" dirty="0"/>
          </a:p>
          <a:p>
            <a:r>
              <a:rPr lang="en-US" dirty="0"/>
              <a:t>int main() {</a:t>
            </a:r>
          </a:p>
          <a:p>
            <a:r>
              <a:rPr lang="en-US" dirty="0"/>
              <a:t>    int </a:t>
            </a:r>
            <a:r>
              <a:rPr lang="en-US" dirty="0" err="1"/>
              <a:t>arr</a:t>
            </a:r>
            <a:r>
              <a:rPr lang="en-US" dirty="0"/>
              <a:t>[2][3] = {{1, 2, 3}, {4, 5, 6}};</a:t>
            </a:r>
          </a:p>
          <a:p>
            <a:r>
              <a:rPr lang="en-US" dirty="0"/>
              <a:t>    </a:t>
            </a:r>
            <a:r>
              <a:rPr lang="en-US" dirty="0" err="1"/>
              <a:t>cout</a:t>
            </a:r>
            <a:r>
              <a:rPr lang="en-US" dirty="0"/>
              <a:t> &lt;&lt; </a:t>
            </a:r>
            <a:r>
              <a:rPr lang="en-US" dirty="0" err="1"/>
              <a:t>arr</a:t>
            </a:r>
            <a:r>
              <a:rPr lang="en-US" dirty="0"/>
              <a:t>[1][1];</a:t>
            </a:r>
          </a:p>
          <a:p>
            <a:r>
              <a:rPr lang="en-US" dirty="0"/>
              <a:t>    return 0;</a:t>
            </a:r>
          </a:p>
          <a:p>
            <a:r>
              <a:rPr lang="en-US" dirty="0"/>
              <a:t>}</a:t>
            </a:r>
          </a:p>
        </p:txBody>
      </p:sp>
    </p:spTree>
    <p:extLst>
      <p:ext uri="{BB962C8B-B14F-4D97-AF65-F5344CB8AC3E}">
        <p14:creationId xmlns:p14="http://schemas.microsoft.com/office/powerpoint/2010/main" val="33256396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8B1A3-00A2-B477-4DE8-AD29E6D6452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97D37E9-F041-24CB-81EE-D62686019CA1}"/>
              </a:ext>
            </a:extLst>
          </p:cNvPr>
          <p:cNvSpPr>
            <a:spLocks noGrp="1"/>
          </p:cNvSpPr>
          <p:nvPr>
            <p:ph idx="1"/>
          </p:nvPr>
        </p:nvSpPr>
        <p:spPr/>
        <p:txBody>
          <a:bodyPr>
            <a:normAutofit lnSpcReduction="10000"/>
          </a:bodyPr>
          <a:lstStyle/>
          <a:p>
            <a:r>
              <a:rPr lang="en-US" dirty="0"/>
              <a:t>#include &lt;iostream&gt;</a:t>
            </a:r>
          </a:p>
          <a:p>
            <a:r>
              <a:rPr lang="en-US" dirty="0"/>
              <a:t>using namespace std;</a:t>
            </a:r>
          </a:p>
          <a:p>
            <a:endParaRPr lang="en-US" dirty="0"/>
          </a:p>
          <a:p>
            <a:r>
              <a:rPr lang="en-US" dirty="0"/>
              <a:t>int main() {</a:t>
            </a:r>
          </a:p>
          <a:p>
            <a:r>
              <a:rPr lang="en-US" dirty="0"/>
              <a:t>    int </a:t>
            </a:r>
            <a:r>
              <a:rPr lang="en-US" dirty="0" err="1"/>
              <a:t>arr</a:t>
            </a:r>
            <a:r>
              <a:rPr lang="en-US" dirty="0"/>
              <a:t>[5] = {1, 2, 3, 4, 5};</a:t>
            </a:r>
          </a:p>
          <a:p>
            <a:r>
              <a:rPr lang="en-US" dirty="0"/>
              <a:t>    int* p = </a:t>
            </a:r>
            <a:r>
              <a:rPr lang="en-US" dirty="0" err="1"/>
              <a:t>arr</a:t>
            </a:r>
            <a:r>
              <a:rPr lang="en-US" dirty="0"/>
              <a:t>;</a:t>
            </a:r>
          </a:p>
          <a:p>
            <a:r>
              <a:rPr lang="en-US" dirty="0"/>
              <a:t>    </a:t>
            </a:r>
            <a:r>
              <a:rPr lang="en-US" dirty="0" err="1"/>
              <a:t>cout</a:t>
            </a:r>
            <a:r>
              <a:rPr lang="en-US" dirty="0"/>
              <a:t> &lt;&lt; *(p + 2);</a:t>
            </a:r>
          </a:p>
          <a:p>
            <a:r>
              <a:rPr lang="en-US" dirty="0"/>
              <a:t>    return 0;</a:t>
            </a:r>
          </a:p>
          <a:p>
            <a:r>
              <a:rPr lang="en-US" dirty="0"/>
              <a:t>}</a:t>
            </a:r>
          </a:p>
        </p:txBody>
      </p:sp>
    </p:spTree>
    <p:extLst>
      <p:ext uri="{BB962C8B-B14F-4D97-AF65-F5344CB8AC3E}">
        <p14:creationId xmlns:p14="http://schemas.microsoft.com/office/powerpoint/2010/main" val="26854793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B221B-DEE2-5F99-3813-7235C91EA89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E8918CE-1288-4FD6-29EE-B6621DE8D874}"/>
              </a:ext>
            </a:extLst>
          </p:cNvPr>
          <p:cNvSpPr>
            <a:spLocks noGrp="1"/>
          </p:cNvSpPr>
          <p:nvPr>
            <p:ph idx="1"/>
          </p:nvPr>
        </p:nvSpPr>
        <p:spPr/>
        <p:txBody>
          <a:bodyPr>
            <a:normAutofit lnSpcReduction="10000"/>
          </a:bodyPr>
          <a:lstStyle/>
          <a:p>
            <a:r>
              <a:rPr lang="en-US" dirty="0"/>
              <a:t>#include &lt;iostream&gt;</a:t>
            </a:r>
          </a:p>
          <a:p>
            <a:r>
              <a:rPr lang="en-US" dirty="0"/>
              <a:t>using namespace std;</a:t>
            </a:r>
          </a:p>
          <a:p>
            <a:endParaRPr lang="en-US" dirty="0"/>
          </a:p>
          <a:p>
            <a:r>
              <a:rPr lang="en-US" dirty="0"/>
              <a:t>int main() {</a:t>
            </a:r>
          </a:p>
          <a:p>
            <a:r>
              <a:rPr lang="en-US" dirty="0"/>
              <a:t>    int </a:t>
            </a:r>
            <a:r>
              <a:rPr lang="en-US" dirty="0" err="1"/>
              <a:t>arr</a:t>
            </a:r>
            <a:r>
              <a:rPr lang="en-US" dirty="0"/>
              <a:t>[5] = {10, 20, 30, 40, 50};</a:t>
            </a:r>
          </a:p>
          <a:p>
            <a:r>
              <a:rPr lang="en-US" dirty="0"/>
              <a:t>    int *p = </a:t>
            </a:r>
            <a:r>
              <a:rPr lang="en-US" dirty="0" err="1"/>
              <a:t>arr</a:t>
            </a:r>
            <a:r>
              <a:rPr lang="en-US" dirty="0"/>
              <a:t> + 1;</a:t>
            </a:r>
          </a:p>
          <a:p>
            <a:r>
              <a:rPr lang="en-US" dirty="0"/>
              <a:t>    </a:t>
            </a:r>
            <a:r>
              <a:rPr lang="en-US" dirty="0" err="1"/>
              <a:t>cout</a:t>
            </a:r>
            <a:r>
              <a:rPr lang="en-US" dirty="0"/>
              <a:t> &lt;&lt; p[2];</a:t>
            </a:r>
          </a:p>
          <a:p>
            <a:r>
              <a:rPr lang="en-US" dirty="0"/>
              <a:t>    return 0;</a:t>
            </a:r>
          </a:p>
          <a:p>
            <a:r>
              <a:rPr lang="en-US" dirty="0"/>
              <a:t>}</a:t>
            </a:r>
          </a:p>
        </p:txBody>
      </p:sp>
    </p:spTree>
    <p:extLst>
      <p:ext uri="{BB962C8B-B14F-4D97-AF65-F5344CB8AC3E}">
        <p14:creationId xmlns:p14="http://schemas.microsoft.com/office/powerpoint/2010/main" val="423019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2737E-E386-F149-144E-D781F43D772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5A4DEA2-5F1D-FF37-EC33-DF726E61ED83}"/>
              </a:ext>
            </a:extLst>
          </p:cNvPr>
          <p:cNvSpPr>
            <a:spLocks noGrp="1"/>
          </p:cNvSpPr>
          <p:nvPr>
            <p:ph idx="1"/>
          </p:nvPr>
        </p:nvSpPr>
        <p:spPr/>
        <p:txBody>
          <a:bodyPr/>
          <a:lstStyle/>
          <a:p>
            <a:r>
              <a:rPr lang="en-US" dirty="0"/>
              <a:t>#include &lt;iostream&gt;</a:t>
            </a:r>
          </a:p>
          <a:p>
            <a:r>
              <a:rPr lang="en-US" dirty="0"/>
              <a:t>using namespace std;</a:t>
            </a:r>
          </a:p>
          <a:p>
            <a:endParaRPr lang="en-US" dirty="0"/>
          </a:p>
          <a:p>
            <a:r>
              <a:rPr lang="en-US" dirty="0"/>
              <a:t>int main() {</a:t>
            </a:r>
          </a:p>
          <a:p>
            <a:r>
              <a:rPr lang="en-US" dirty="0"/>
              <a:t>    int </a:t>
            </a:r>
            <a:r>
              <a:rPr lang="en-US" dirty="0" err="1"/>
              <a:t>arr</a:t>
            </a:r>
            <a:r>
              <a:rPr lang="en-US" dirty="0"/>
              <a:t>[] = {10, 20, 30, 40};</a:t>
            </a:r>
          </a:p>
          <a:p>
            <a:r>
              <a:rPr lang="en-US" dirty="0"/>
              <a:t>    </a:t>
            </a:r>
            <a:r>
              <a:rPr lang="en-US" dirty="0" err="1"/>
              <a:t>cout</a:t>
            </a:r>
            <a:r>
              <a:rPr lang="en-US" dirty="0"/>
              <a:t> &lt;&lt; </a:t>
            </a:r>
            <a:r>
              <a:rPr lang="en-US" dirty="0" err="1"/>
              <a:t>sizeof</a:t>
            </a:r>
            <a:r>
              <a:rPr lang="en-US" dirty="0"/>
              <a:t>(</a:t>
            </a:r>
            <a:r>
              <a:rPr lang="en-US" dirty="0" err="1"/>
              <a:t>arr</a:t>
            </a:r>
            <a:r>
              <a:rPr lang="en-US" dirty="0"/>
              <a:t>);</a:t>
            </a:r>
          </a:p>
          <a:p>
            <a:r>
              <a:rPr lang="en-US" dirty="0"/>
              <a:t>    return 0;</a:t>
            </a:r>
          </a:p>
          <a:p>
            <a:r>
              <a:rPr lang="en-US" dirty="0"/>
              <a:t>}</a:t>
            </a:r>
          </a:p>
        </p:txBody>
      </p:sp>
    </p:spTree>
    <p:extLst>
      <p:ext uri="{BB962C8B-B14F-4D97-AF65-F5344CB8AC3E}">
        <p14:creationId xmlns:p14="http://schemas.microsoft.com/office/powerpoint/2010/main" val="34916478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635EC-1784-6C71-60E4-DC6E5F91004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CF53F6F-F078-9041-C67B-BE5CDBEDB27B}"/>
              </a:ext>
            </a:extLst>
          </p:cNvPr>
          <p:cNvSpPr>
            <a:spLocks noGrp="1"/>
          </p:cNvSpPr>
          <p:nvPr>
            <p:ph idx="1"/>
          </p:nvPr>
        </p:nvSpPr>
        <p:spPr/>
        <p:txBody>
          <a:bodyPr>
            <a:normAutofit lnSpcReduction="10000"/>
          </a:bodyPr>
          <a:lstStyle/>
          <a:p>
            <a:r>
              <a:rPr lang="en-US" dirty="0"/>
              <a:t>#include&lt;iostream&gt;</a:t>
            </a:r>
          </a:p>
          <a:p>
            <a:r>
              <a:rPr lang="en-US" dirty="0"/>
              <a:t>using namespace std;</a:t>
            </a:r>
          </a:p>
          <a:p>
            <a:endParaRPr lang="en-US" dirty="0"/>
          </a:p>
          <a:p>
            <a:r>
              <a:rPr lang="en-US" dirty="0"/>
              <a:t>int main() {</a:t>
            </a:r>
          </a:p>
          <a:p>
            <a:r>
              <a:rPr lang="en-US" dirty="0"/>
              <a:t>    int var = 5;</a:t>
            </a:r>
          </a:p>
          <a:p>
            <a:r>
              <a:rPr lang="en-US" dirty="0"/>
              <a:t>    int *</a:t>
            </a:r>
            <a:r>
              <a:rPr lang="en-US" dirty="0" err="1"/>
              <a:t>ptr</a:t>
            </a:r>
            <a:r>
              <a:rPr lang="en-US" dirty="0"/>
              <a:t> = &amp;var;</a:t>
            </a:r>
          </a:p>
          <a:p>
            <a:r>
              <a:rPr lang="en-US" dirty="0"/>
              <a:t>    </a:t>
            </a:r>
            <a:r>
              <a:rPr lang="en-US" dirty="0" err="1"/>
              <a:t>cout</a:t>
            </a:r>
            <a:r>
              <a:rPr lang="en-US" dirty="0"/>
              <a:t> &lt;&lt; *</a:t>
            </a:r>
            <a:r>
              <a:rPr lang="en-US" dirty="0" err="1"/>
              <a:t>ptr</a:t>
            </a:r>
            <a:r>
              <a:rPr lang="en-US" dirty="0"/>
              <a:t>;</a:t>
            </a:r>
          </a:p>
          <a:p>
            <a:r>
              <a:rPr lang="en-US" dirty="0"/>
              <a:t>    return 0;</a:t>
            </a:r>
          </a:p>
          <a:p>
            <a:r>
              <a:rPr lang="en-US" dirty="0"/>
              <a:t>}</a:t>
            </a:r>
          </a:p>
        </p:txBody>
      </p:sp>
    </p:spTree>
    <p:extLst>
      <p:ext uri="{BB962C8B-B14F-4D97-AF65-F5344CB8AC3E}">
        <p14:creationId xmlns:p14="http://schemas.microsoft.com/office/powerpoint/2010/main" val="39833801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F12C0-82A7-B848-0F18-569CF84C5B2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EC2C20C-FB0E-F5C8-E8D6-50D925548D68}"/>
              </a:ext>
            </a:extLst>
          </p:cNvPr>
          <p:cNvSpPr>
            <a:spLocks noGrp="1"/>
          </p:cNvSpPr>
          <p:nvPr>
            <p:ph idx="1"/>
          </p:nvPr>
        </p:nvSpPr>
        <p:spPr/>
        <p:txBody>
          <a:bodyPr>
            <a:normAutofit fontScale="62500" lnSpcReduction="20000"/>
          </a:bodyPr>
          <a:lstStyle/>
          <a:p>
            <a:r>
              <a:rPr lang="en-US" dirty="0"/>
              <a:t>#include&lt;iostream&gt;</a:t>
            </a:r>
          </a:p>
          <a:p>
            <a:r>
              <a:rPr lang="en-US" dirty="0"/>
              <a:t>using namespace std;</a:t>
            </a:r>
          </a:p>
          <a:p>
            <a:endParaRPr lang="en-US" dirty="0"/>
          </a:p>
          <a:p>
            <a:r>
              <a:rPr lang="en-US" dirty="0"/>
              <a:t>void increment(int *</a:t>
            </a:r>
            <a:r>
              <a:rPr lang="en-US" dirty="0" err="1"/>
              <a:t>ptr</a:t>
            </a:r>
            <a:r>
              <a:rPr lang="en-US" dirty="0"/>
              <a:t>) {</a:t>
            </a:r>
          </a:p>
          <a:p>
            <a:r>
              <a:rPr lang="en-US" dirty="0"/>
              <a:t>    (*</a:t>
            </a:r>
            <a:r>
              <a:rPr lang="en-US" dirty="0" err="1"/>
              <a:t>ptr</a:t>
            </a:r>
            <a:r>
              <a:rPr lang="en-US" dirty="0"/>
              <a:t>)++;</a:t>
            </a:r>
          </a:p>
          <a:p>
            <a:r>
              <a:rPr lang="en-US" dirty="0"/>
              <a:t>}</a:t>
            </a:r>
          </a:p>
          <a:p>
            <a:endParaRPr lang="en-US" dirty="0"/>
          </a:p>
          <a:p>
            <a:r>
              <a:rPr lang="en-US" dirty="0"/>
              <a:t>int main() {</a:t>
            </a:r>
          </a:p>
          <a:p>
            <a:r>
              <a:rPr lang="en-US" dirty="0"/>
              <a:t>    int var = 5;</a:t>
            </a:r>
          </a:p>
          <a:p>
            <a:r>
              <a:rPr lang="en-US" dirty="0"/>
              <a:t>    increment(&amp;var);</a:t>
            </a:r>
          </a:p>
          <a:p>
            <a:r>
              <a:rPr lang="en-US" dirty="0"/>
              <a:t>    </a:t>
            </a:r>
            <a:r>
              <a:rPr lang="en-US" dirty="0" err="1"/>
              <a:t>cout</a:t>
            </a:r>
            <a:r>
              <a:rPr lang="en-US" dirty="0"/>
              <a:t> &lt;&lt; var;</a:t>
            </a:r>
          </a:p>
          <a:p>
            <a:r>
              <a:rPr lang="en-US" dirty="0"/>
              <a:t>    return 0;</a:t>
            </a:r>
          </a:p>
          <a:p>
            <a:r>
              <a:rPr lang="en-US" dirty="0"/>
              <a:t>}</a:t>
            </a:r>
          </a:p>
        </p:txBody>
      </p:sp>
    </p:spTree>
    <p:extLst>
      <p:ext uri="{BB962C8B-B14F-4D97-AF65-F5344CB8AC3E}">
        <p14:creationId xmlns:p14="http://schemas.microsoft.com/office/powerpoint/2010/main" val="15510100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AD9B6-EAB8-16E0-FAF3-6E5ACBDF847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10FD35F-E60C-6F7D-413E-D9D174B41ACC}"/>
              </a:ext>
            </a:extLst>
          </p:cNvPr>
          <p:cNvSpPr>
            <a:spLocks noGrp="1"/>
          </p:cNvSpPr>
          <p:nvPr>
            <p:ph idx="1"/>
          </p:nvPr>
        </p:nvSpPr>
        <p:spPr/>
        <p:txBody>
          <a:bodyPr>
            <a:normAutofit lnSpcReduction="10000"/>
          </a:bodyPr>
          <a:lstStyle/>
          <a:p>
            <a:r>
              <a:rPr lang="en-US" dirty="0"/>
              <a:t>What is the correct way to dynamically create an object in C++?</a:t>
            </a:r>
          </a:p>
          <a:p>
            <a:endParaRPr lang="en-US" dirty="0"/>
          </a:p>
          <a:p>
            <a:r>
              <a:rPr lang="en-US" dirty="0"/>
              <a:t>A. </a:t>
            </a:r>
            <a:r>
              <a:rPr lang="en-US" dirty="0" err="1"/>
              <a:t>ClassName</a:t>
            </a:r>
            <a:r>
              <a:rPr lang="en-US" dirty="0"/>
              <a:t> obj = new </a:t>
            </a:r>
            <a:r>
              <a:rPr lang="en-US" dirty="0" err="1"/>
              <a:t>ClassName</a:t>
            </a:r>
            <a:r>
              <a:rPr lang="en-US" dirty="0"/>
              <a:t>();</a:t>
            </a:r>
          </a:p>
          <a:p>
            <a:endParaRPr lang="en-US" dirty="0"/>
          </a:p>
          <a:p>
            <a:r>
              <a:rPr lang="en-US" dirty="0"/>
              <a:t>B. </a:t>
            </a:r>
            <a:r>
              <a:rPr lang="en-US" dirty="0" err="1"/>
              <a:t>ClassName</a:t>
            </a:r>
            <a:r>
              <a:rPr lang="en-US" dirty="0"/>
              <a:t> *obj = new </a:t>
            </a:r>
            <a:r>
              <a:rPr lang="en-US" dirty="0" err="1"/>
              <a:t>ClassName</a:t>
            </a:r>
            <a:r>
              <a:rPr lang="en-US" dirty="0"/>
              <a:t>();</a:t>
            </a:r>
          </a:p>
          <a:p>
            <a:endParaRPr lang="en-US" dirty="0"/>
          </a:p>
          <a:p>
            <a:r>
              <a:rPr lang="en-US" dirty="0"/>
              <a:t>C. </a:t>
            </a:r>
            <a:r>
              <a:rPr lang="en-US" dirty="0" err="1"/>
              <a:t>ClassName</a:t>
            </a:r>
            <a:r>
              <a:rPr lang="en-US" dirty="0"/>
              <a:t> obj();</a:t>
            </a:r>
          </a:p>
          <a:p>
            <a:endParaRPr lang="en-US" dirty="0"/>
          </a:p>
          <a:p>
            <a:r>
              <a:rPr lang="en-US" dirty="0"/>
              <a:t>D. </a:t>
            </a:r>
            <a:r>
              <a:rPr lang="en-US" dirty="0" err="1"/>
              <a:t>ClassName</a:t>
            </a:r>
            <a:r>
              <a:rPr lang="en-US" dirty="0"/>
              <a:t> = new object();</a:t>
            </a:r>
          </a:p>
        </p:txBody>
      </p:sp>
    </p:spTree>
    <p:extLst>
      <p:ext uri="{BB962C8B-B14F-4D97-AF65-F5344CB8AC3E}">
        <p14:creationId xmlns:p14="http://schemas.microsoft.com/office/powerpoint/2010/main" val="20179427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B58E2-D711-9C93-1A6A-BF0DEC330B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A99DDF-90C3-A76F-3B9C-438549D62C4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3C7B22E-8D3D-D17D-E9FE-E0DBBA7F12DA}"/>
              </a:ext>
            </a:extLst>
          </p:cNvPr>
          <p:cNvSpPr>
            <a:spLocks noGrp="1"/>
          </p:cNvSpPr>
          <p:nvPr>
            <p:ph idx="1"/>
          </p:nvPr>
        </p:nvSpPr>
        <p:spPr/>
        <p:txBody>
          <a:bodyPr>
            <a:normAutofit lnSpcReduction="10000"/>
          </a:bodyPr>
          <a:lstStyle/>
          <a:p>
            <a:r>
              <a:rPr lang="en-US" dirty="0"/>
              <a:t>What is the correct way to dynamically create an object in C++?</a:t>
            </a:r>
          </a:p>
          <a:p>
            <a:endParaRPr lang="en-US" dirty="0"/>
          </a:p>
          <a:p>
            <a:r>
              <a:rPr lang="en-US" dirty="0"/>
              <a:t>A. </a:t>
            </a:r>
            <a:r>
              <a:rPr lang="en-US" dirty="0" err="1"/>
              <a:t>ClassName</a:t>
            </a:r>
            <a:r>
              <a:rPr lang="en-US" dirty="0"/>
              <a:t> obj = new </a:t>
            </a:r>
            <a:r>
              <a:rPr lang="en-US" dirty="0" err="1"/>
              <a:t>ClassName</a:t>
            </a:r>
            <a:r>
              <a:rPr lang="en-US" dirty="0"/>
              <a:t>();</a:t>
            </a:r>
          </a:p>
          <a:p>
            <a:endParaRPr lang="en-US" dirty="0"/>
          </a:p>
          <a:p>
            <a:r>
              <a:rPr lang="en-US" dirty="0">
                <a:solidFill>
                  <a:srgbClr val="00B050"/>
                </a:solidFill>
              </a:rPr>
              <a:t>B. </a:t>
            </a:r>
            <a:r>
              <a:rPr lang="en-US" dirty="0" err="1">
                <a:solidFill>
                  <a:srgbClr val="00B050"/>
                </a:solidFill>
              </a:rPr>
              <a:t>ClassName</a:t>
            </a:r>
            <a:r>
              <a:rPr lang="en-US" dirty="0">
                <a:solidFill>
                  <a:srgbClr val="00B050"/>
                </a:solidFill>
              </a:rPr>
              <a:t> *obj = new </a:t>
            </a:r>
            <a:r>
              <a:rPr lang="en-US" dirty="0" err="1">
                <a:solidFill>
                  <a:srgbClr val="00B050"/>
                </a:solidFill>
              </a:rPr>
              <a:t>ClassName</a:t>
            </a:r>
            <a:r>
              <a:rPr lang="en-US" dirty="0">
                <a:solidFill>
                  <a:srgbClr val="00B050"/>
                </a:solidFill>
              </a:rPr>
              <a:t>();</a:t>
            </a:r>
          </a:p>
          <a:p>
            <a:endParaRPr lang="en-US" dirty="0"/>
          </a:p>
          <a:p>
            <a:r>
              <a:rPr lang="en-US" dirty="0"/>
              <a:t>C. </a:t>
            </a:r>
            <a:r>
              <a:rPr lang="en-US" dirty="0" err="1"/>
              <a:t>ClassName</a:t>
            </a:r>
            <a:r>
              <a:rPr lang="en-US" dirty="0"/>
              <a:t> obj();</a:t>
            </a:r>
          </a:p>
          <a:p>
            <a:endParaRPr lang="en-US" dirty="0"/>
          </a:p>
          <a:p>
            <a:r>
              <a:rPr lang="en-US" dirty="0"/>
              <a:t>D. </a:t>
            </a:r>
            <a:r>
              <a:rPr lang="en-US" dirty="0" err="1"/>
              <a:t>ClassName</a:t>
            </a:r>
            <a:r>
              <a:rPr lang="en-US" dirty="0"/>
              <a:t> = new object();</a:t>
            </a:r>
          </a:p>
        </p:txBody>
      </p:sp>
    </p:spTree>
    <p:extLst>
      <p:ext uri="{BB962C8B-B14F-4D97-AF65-F5344CB8AC3E}">
        <p14:creationId xmlns:p14="http://schemas.microsoft.com/office/powerpoint/2010/main" val="37585574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975D8-A331-7BB7-1ECC-C352024F153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97C4A7B-4AAB-1EC9-7B63-629CB5B7F662}"/>
              </a:ext>
            </a:extLst>
          </p:cNvPr>
          <p:cNvSpPr>
            <a:spLocks noGrp="1"/>
          </p:cNvSpPr>
          <p:nvPr>
            <p:ph idx="1"/>
          </p:nvPr>
        </p:nvSpPr>
        <p:spPr/>
        <p:txBody>
          <a:bodyPr>
            <a:normAutofit fontScale="92500" lnSpcReduction="10000"/>
          </a:bodyPr>
          <a:lstStyle/>
          <a:p>
            <a:r>
              <a:rPr lang="en-US" dirty="0"/>
              <a:t>Which access specifier allows members to be accessed only within the class?</a:t>
            </a:r>
          </a:p>
          <a:p>
            <a:endParaRPr lang="en-US" dirty="0"/>
          </a:p>
          <a:p>
            <a:r>
              <a:rPr lang="en-US" dirty="0"/>
              <a:t>A. public</a:t>
            </a:r>
          </a:p>
          <a:p>
            <a:endParaRPr lang="en-US" dirty="0"/>
          </a:p>
          <a:p>
            <a:r>
              <a:rPr lang="en-US" dirty="0"/>
              <a:t>B. protected</a:t>
            </a:r>
          </a:p>
          <a:p>
            <a:endParaRPr lang="en-US" dirty="0"/>
          </a:p>
          <a:p>
            <a:r>
              <a:rPr lang="en-US" dirty="0"/>
              <a:t>C. private</a:t>
            </a:r>
          </a:p>
          <a:p>
            <a:endParaRPr lang="en-US" dirty="0"/>
          </a:p>
          <a:p>
            <a:r>
              <a:rPr lang="en-US" dirty="0"/>
              <a:t>D. none of them</a:t>
            </a:r>
          </a:p>
        </p:txBody>
      </p:sp>
    </p:spTree>
    <p:extLst>
      <p:ext uri="{BB962C8B-B14F-4D97-AF65-F5344CB8AC3E}">
        <p14:creationId xmlns:p14="http://schemas.microsoft.com/office/powerpoint/2010/main" val="11505079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678CE-6433-5196-51BD-4B763EE4D6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0A19CD-B4CE-55DD-82CE-92B856E6ABE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1A30B3F-A9E0-3160-2C44-3ADB2FC291FE}"/>
              </a:ext>
            </a:extLst>
          </p:cNvPr>
          <p:cNvSpPr>
            <a:spLocks noGrp="1"/>
          </p:cNvSpPr>
          <p:nvPr>
            <p:ph idx="1"/>
          </p:nvPr>
        </p:nvSpPr>
        <p:spPr/>
        <p:txBody>
          <a:bodyPr>
            <a:normAutofit fontScale="92500" lnSpcReduction="10000"/>
          </a:bodyPr>
          <a:lstStyle/>
          <a:p>
            <a:r>
              <a:rPr lang="en-US" dirty="0"/>
              <a:t>Which access specifier allows members to be accessed only within the class?</a:t>
            </a:r>
          </a:p>
          <a:p>
            <a:endParaRPr lang="en-US" dirty="0"/>
          </a:p>
          <a:p>
            <a:r>
              <a:rPr lang="en-US" dirty="0"/>
              <a:t>A. public</a:t>
            </a:r>
          </a:p>
          <a:p>
            <a:endParaRPr lang="en-US" dirty="0"/>
          </a:p>
          <a:p>
            <a:r>
              <a:rPr lang="en-US" dirty="0"/>
              <a:t>B. protected</a:t>
            </a:r>
          </a:p>
          <a:p>
            <a:endParaRPr lang="en-US" dirty="0"/>
          </a:p>
          <a:p>
            <a:r>
              <a:rPr lang="en-US" dirty="0">
                <a:solidFill>
                  <a:srgbClr val="00B050"/>
                </a:solidFill>
              </a:rPr>
              <a:t>C. private</a:t>
            </a:r>
          </a:p>
          <a:p>
            <a:endParaRPr lang="en-US" dirty="0"/>
          </a:p>
          <a:p>
            <a:r>
              <a:rPr lang="en-US" dirty="0"/>
              <a:t>D. none of them</a:t>
            </a:r>
          </a:p>
        </p:txBody>
      </p:sp>
    </p:spTree>
    <p:extLst>
      <p:ext uri="{BB962C8B-B14F-4D97-AF65-F5344CB8AC3E}">
        <p14:creationId xmlns:p14="http://schemas.microsoft.com/office/powerpoint/2010/main" val="10952667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94848-649E-925B-DF17-6FF50E4ED6F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A8E13BA-BD9F-3ADB-BAF8-F21ECAA80F4F}"/>
              </a:ext>
            </a:extLst>
          </p:cNvPr>
          <p:cNvSpPr>
            <a:spLocks noGrp="1"/>
          </p:cNvSpPr>
          <p:nvPr>
            <p:ph idx="1"/>
          </p:nvPr>
        </p:nvSpPr>
        <p:spPr/>
        <p:txBody>
          <a:bodyPr>
            <a:normAutofit fontScale="55000" lnSpcReduction="20000"/>
          </a:bodyPr>
          <a:lstStyle/>
          <a:p>
            <a:r>
              <a:rPr lang="en-US" dirty="0"/>
              <a:t>class Test {</a:t>
            </a:r>
          </a:p>
          <a:p>
            <a:r>
              <a:rPr lang="en-US" dirty="0"/>
              <a:t>    int x; </a:t>
            </a:r>
          </a:p>
          <a:p>
            <a:r>
              <a:rPr lang="en-US" dirty="0"/>
              <a:t>};</a:t>
            </a:r>
          </a:p>
          <a:p>
            <a:r>
              <a:rPr lang="en-US" dirty="0"/>
              <a:t>int main()</a:t>
            </a:r>
          </a:p>
          <a:p>
            <a:r>
              <a:rPr lang="en-US" dirty="0"/>
              <a:t>{</a:t>
            </a:r>
          </a:p>
          <a:p>
            <a:r>
              <a:rPr lang="en-US" dirty="0"/>
              <a:t>  Test t;</a:t>
            </a:r>
          </a:p>
          <a:p>
            <a:r>
              <a:rPr lang="en-US" dirty="0"/>
              <a:t>  </a:t>
            </a:r>
            <a:r>
              <a:rPr lang="en-US" dirty="0" err="1"/>
              <a:t>cout</a:t>
            </a:r>
            <a:r>
              <a:rPr lang="en-US" dirty="0"/>
              <a:t> &lt;&lt; </a:t>
            </a:r>
            <a:r>
              <a:rPr lang="en-US" dirty="0" err="1"/>
              <a:t>t.x</a:t>
            </a:r>
            <a:r>
              <a:rPr lang="en-US" dirty="0"/>
              <a:t>;</a:t>
            </a:r>
          </a:p>
          <a:p>
            <a:r>
              <a:rPr lang="en-US" dirty="0"/>
              <a:t>  return 0;</a:t>
            </a:r>
          </a:p>
          <a:p>
            <a:r>
              <a:rPr lang="en-US" dirty="0"/>
              <a:t>}</a:t>
            </a:r>
          </a:p>
          <a:p>
            <a:endParaRPr lang="en-US" dirty="0"/>
          </a:p>
          <a:p>
            <a:r>
              <a:rPr lang="en-US" dirty="0"/>
              <a:t>A. 0</a:t>
            </a:r>
          </a:p>
          <a:p>
            <a:r>
              <a:rPr lang="en-US" dirty="0"/>
              <a:t>B. Garbage Value</a:t>
            </a:r>
          </a:p>
          <a:p>
            <a:r>
              <a:rPr lang="en-US" dirty="0"/>
              <a:t>C. Compiler Error</a:t>
            </a:r>
          </a:p>
          <a:p>
            <a:r>
              <a:rPr lang="en-US" dirty="0"/>
              <a:t>D. None of the Above</a:t>
            </a:r>
          </a:p>
        </p:txBody>
      </p:sp>
    </p:spTree>
    <p:extLst>
      <p:ext uri="{BB962C8B-B14F-4D97-AF65-F5344CB8AC3E}">
        <p14:creationId xmlns:p14="http://schemas.microsoft.com/office/powerpoint/2010/main" val="3154809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CAF50-02D5-4F05-B8C7-5A4E973848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1C210B-DE0B-8358-26C3-9C71834F32B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A31B382-E1D9-028E-ECC1-8FA68C77A4CC}"/>
              </a:ext>
            </a:extLst>
          </p:cNvPr>
          <p:cNvSpPr>
            <a:spLocks noGrp="1"/>
          </p:cNvSpPr>
          <p:nvPr>
            <p:ph idx="1"/>
          </p:nvPr>
        </p:nvSpPr>
        <p:spPr/>
        <p:txBody>
          <a:bodyPr>
            <a:normAutofit fontScale="55000" lnSpcReduction="20000"/>
          </a:bodyPr>
          <a:lstStyle/>
          <a:p>
            <a:r>
              <a:rPr lang="en-US" dirty="0"/>
              <a:t>class Test {</a:t>
            </a:r>
          </a:p>
          <a:p>
            <a:r>
              <a:rPr lang="en-US" dirty="0"/>
              <a:t>    int x; </a:t>
            </a:r>
          </a:p>
          <a:p>
            <a:r>
              <a:rPr lang="en-US" dirty="0"/>
              <a:t>};</a:t>
            </a:r>
          </a:p>
          <a:p>
            <a:r>
              <a:rPr lang="en-US" dirty="0"/>
              <a:t>int main()</a:t>
            </a:r>
          </a:p>
          <a:p>
            <a:r>
              <a:rPr lang="en-US" dirty="0"/>
              <a:t>{</a:t>
            </a:r>
          </a:p>
          <a:p>
            <a:r>
              <a:rPr lang="en-US" dirty="0"/>
              <a:t>  Test t;</a:t>
            </a:r>
          </a:p>
          <a:p>
            <a:r>
              <a:rPr lang="en-US" dirty="0"/>
              <a:t>  </a:t>
            </a:r>
            <a:r>
              <a:rPr lang="en-US" dirty="0" err="1"/>
              <a:t>cout</a:t>
            </a:r>
            <a:r>
              <a:rPr lang="en-US" dirty="0"/>
              <a:t> &lt;&lt; </a:t>
            </a:r>
            <a:r>
              <a:rPr lang="en-US" dirty="0" err="1"/>
              <a:t>t.x</a:t>
            </a:r>
            <a:r>
              <a:rPr lang="en-US" dirty="0"/>
              <a:t>;</a:t>
            </a:r>
          </a:p>
          <a:p>
            <a:r>
              <a:rPr lang="en-US" dirty="0"/>
              <a:t>  return 0;</a:t>
            </a:r>
          </a:p>
          <a:p>
            <a:r>
              <a:rPr lang="en-US" dirty="0"/>
              <a:t>}</a:t>
            </a:r>
          </a:p>
          <a:p>
            <a:endParaRPr lang="en-US" dirty="0"/>
          </a:p>
          <a:p>
            <a:r>
              <a:rPr lang="en-US" dirty="0"/>
              <a:t>A. 0</a:t>
            </a:r>
          </a:p>
          <a:p>
            <a:r>
              <a:rPr lang="en-US" dirty="0"/>
              <a:t>B. Garbage Value</a:t>
            </a:r>
          </a:p>
          <a:p>
            <a:r>
              <a:rPr lang="en-US" dirty="0">
                <a:solidFill>
                  <a:srgbClr val="00B050"/>
                </a:solidFill>
              </a:rPr>
              <a:t>C. Compiler Error</a:t>
            </a:r>
          </a:p>
          <a:p>
            <a:r>
              <a:rPr lang="en-US" dirty="0"/>
              <a:t>D. None of the Above</a:t>
            </a:r>
          </a:p>
        </p:txBody>
      </p:sp>
    </p:spTree>
    <p:extLst>
      <p:ext uri="{BB962C8B-B14F-4D97-AF65-F5344CB8AC3E}">
        <p14:creationId xmlns:p14="http://schemas.microsoft.com/office/powerpoint/2010/main" val="31644906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55DBD-B450-03C2-DD79-0DC789C34DD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EDC74B2-5A70-8847-DA66-ADC1C688ACAD}"/>
              </a:ext>
            </a:extLst>
          </p:cNvPr>
          <p:cNvSpPr>
            <a:spLocks noGrp="1"/>
          </p:cNvSpPr>
          <p:nvPr>
            <p:ph idx="1"/>
          </p:nvPr>
        </p:nvSpPr>
        <p:spPr/>
        <p:txBody>
          <a:bodyPr/>
          <a:lstStyle/>
          <a:p>
            <a:r>
              <a:rPr lang="en-US" dirty="0"/>
              <a:t>#include&lt;</a:t>
            </a:r>
            <a:r>
              <a:rPr lang="en-US" dirty="0" err="1"/>
              <a:t>stdio.h</a:t>
            </a:r>
            <a:r>
              <a:rPr lang="en-US" dirty="0"/>
              <a:t>&gt;</a:t>
            </a:r>
          </a:p>
          <a:p>
            <a:r>
              <a:rPr lang="en-US" dirty="0"/>
              <a:t>int main() {</a:t>
            </a:r>
          </a:p>
          <a:p>
            <a:r>
              <a:rPr lang="en-US" dirty="0"/>
              <a:t>   int n;</a:t>
            </a:r>
          </a:p>
          <a:p>
            <a:r>
              <a:rPr lang="en-US" dirty="0"/>
              <a:t>   for(n = 7; n!=0; n--)</a:t>
            </a:r>
          </a:p>
          <a:p>
            <a:r>
              <a:rPr lang="en-US" dirty="0"/>
              <a:t>     </a:t>
            </a:r>
            <a:r>
              <a:rPr lang="en-US" dirty="0" err="1"/>
              <a:t>printf</a:t>
            </a:r>
            <a:r>
              <a:rPr lang="en-US" dirty="0"/>
              <a:t>("n = %d", n--);</a:t>
            </a:r>
          </a:p>
          <a:p>
            <a:r>
              <a:rPr lang="en-US" dirty="0"/>
              <a:t>   </a:t>
            </a:r>
            <a:r>
              <a:rPr lang="en-US" dirty="0" err="1"/>
              <a:t>getchar</a:t>
            </a:r>
            <a:r>
              <a:rPr lang="en-US" dirty="0"/>
              <a:t>();</a:t>
            </a:r>
          </a:p>
          <a:p>
            <a:r>
              <a:rPr lang="en-US" dirty="0"/>
              <a:t>   return 0;</a:t>
            </a:r>
          </a:p>
          <a:p>
            <a:r>
              <a:rPr lang="en-US" dirty="0"/>
              <a:t>}</a:t>
            </a:r>
          </a:p>
        </p:txBody>
      </p:sp>
    </p:spTree>
    <p:extLst>
      <p:ext uri="{BB962C8B-B14F-4D97-AF65-F5344CB8AC3E}">
        <p14:creationId xmlns:p14="http://schemas.microsoft.com/office/powerpoint/2010/main" val="146543981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A44F-A392-637C-F244-77835D2ED05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3848F96-0294-E77D-BD04-8E2B8845E71C}"/>
              </a:ext>
            </a:extLst>
          </p:cNvPr>
          <p:cNvSpPr>
            <a:spLocks noGrp="1"/>
          </p:cNvSpPr>
          <p:nvPr>
            <p:ph idx="1"/>
          </p:nvPr>
        </p:nvSpPr>
        <p:spPr/>
        <p:txBody>
          <a:bodyPr/>
          <a:lstStyle/>
          <a:p>
            <a:r>
              <a:rPr lang="en-US" dirty="0"/>
              <a:t>#include&lt;</a:t>
            </a:r>
            <a:r>
              <a:rPr lang="en-US" dirty="0" err="1"/>
              <a:t>stdio.h</a:t>
            </a:r>
            <a:r>
              <a:rPr lang="en-US" dirty="0"/>
              <a:t>&gt;</a:t>
            </a:r>
          </a:p>
          <a:p>
            <a:r>
              <a:rPr lang="en-US" dirty="0"/>
              <a:t>int main()</a:t>
            </a:r>
          </a:p>
          <a:p>
            <a:r>
              <a:rPr lang="en-US" dirty="0"/>
              <a:t>{</a:t>
            </a:r>
          </a:p>
          <a:p>
            <a:r>
              <a:rPr lang="en-US" dirty="0"/>
              <a:t>   </a:t>
            </a:r>
            <a:r>
              <a:rPr lang="en-US" dirty="0" err="1"/>
              <a:t>printf</a:t>
            </a:r>
            <a:r>
              <a:rPr lang="en-US" dirty="0"/>
              <a:t>("%x", -1&lt;&lt;1);</a:t>
            </a:r>
          </a:p>
          <a:p>
            <a:r>
              <a:rPr lang="en-US" dirty="0"/>
              <a:t>   </a:t>
            </a:r>
            <a:r>
              <a:rPr lang="en-US" dirty="0" err="1"/>
              <a:t>getchar</a:t>
            </a:r>
            <a:r>
              <a:rPr lang="en-US" dirty="0"/>
              <a:t>();</a:t>
            </a:r>
          </a:p>
          <a:p>
            <a:r>
              <a:rPr lang="en-US" dirty="0"/>
              <a:t>   return 0;</a:t>
            </a:r>
          </a:p>
          <a:p>
            <a:r>
              <a:rPr lang="en-US" dirty="0"/>
              <a:t>}</a:t>
            </a:r>
          </a:p>
        </p:txBody>
      </p:sp>
    </p:spTree>
    <p:extLst>
      <p:ext uri="{BB962C8B-B14F-4D97-AF65-F5344CB8AC3E}">
        <p14:creationId xmlns:p14="http://schemas.microsoft.com/office/powerpoint/2010/main" val="10954786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19178-5E43-4175-F579-539A474F051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6A49309-95BE-A6F6-67D6-1019065E9686}"/>
              </a:ext>
            </a:extLst>
          </p:cNvPr>
          <p:cNvSpPr>
            <a:spLocks noGrp="1"/>
          </p:cNvSpPr>
          <p:nvPr>
            <p:ph idx="1"/>
          </p:nvPr>
        </p:nvSpPr>
        <p:spPr/>
        <p:txBody>
          <a:bodyPr/>
          <a:lstStyle/>
          <a:p>
            <a:r>
              <a:rPr lang="en-US" dirty="0"/>
              <a:t># include &lt;</a:t>
            </a:r>
            <a:r>
              <a:rPr lang="en-US" dirty="0" err="1"/>
              <a:t>stdio.h</a:t>
            </a:r>
            <a:r>
              <a:rPr lang="en-US" dirty="0"/>
              <a:t>&gt;</a:t>
            </a:r>
          </a:p>
          <a:p>
            <a:r>
              <a:rPr lang="en-US" dirty="0"/>
              <a:t># define </a:t>
            </a:r>
            <a:r>
              <a:rPr lang="en-US" dirty="0" err="1"/>
              <a:t>scanf</a:t>
            </a:r>
            <a:r>
              <a:rPr lang="en-US" dirty="0"/>
              <a:t>  "%s Geeks For Geeks "</a:t>
            </a:r>
          </a:p>
          <a:p>
            <a:r>
              <a:rPr lang="en-US" dirty="0"/>
              <a:t>main()</a:t>
            </a:r>
          </a:p>
          <a:p>
            <a:r>
              <a:rPr lang="en-US" dirty="0"/>
              <a:t>{</a:t>
            </a:r>
          </a:p>
          <a:p>
            <a:r>
              <a:rPr lang="en-US" dirty="0"/>
              <a:t>   </a:t>
            </a:r>
            <a:r>
              <a:rPr lang="en-US" dirty="0" err="1"/>
              <a:t>printf</a:t>
            </a:r>
            <a:r>
              <a:rPr lang="en-US" dirty="0"/>
              <a:t>(</a:t>
            </a:r>
            <a:r>
              <a:rPr lang="en-US" dirty="0" err="1"/>
              <a:t>scanf</a:t>
            </a:r>
            <a:r>
              <a:rPr lang="en-US" dirty="0"/>
              <a:t>, </a:t>
            </a:r>
            <a:r>
              <a:rPr lang="en-US" dirty="0" err="1"/>
              <a:t>scanf</a:t>
            </a:r>
            <a:r>
              <a:rPr lang="en-US" dirty="0"/>
              <a:t>);</a:t>
            </a:r>
          </a:p>
          <a:p>
            <a:r>
              <a:rPr lang="en-US" dirty="0"/>
              <a:t>   </a:t>
            </a:r>
            <a:r>
              <a:rPr lang="en-US" dirty="0" err="1"/>
              <a:t>getchar</a:t>
            </a:r>
            <a:r>
              <a:rPr lang="en-US" dirty="0"/>
              <a:t>();</a:t>
            </a:r>
          </a:p>
          <a:p>
            <a:r>
              <a:rPr lang="en-US" dirty="0"/>
              <a:t>   return 0;</a:t>
            </a:r>
          </a:p>
          <a:p>
            <a:r>
              <a:rPr lang="en-US" dirty="0"/>
              <a:t>}</a:t>
            </a:r>
          </a:p>
        </p:txBody>
      </p:sp>
    </p:spTree>
    <p:extLst>
      <p:ext uri="{BB962C8B-B14F-4D97-AF65-F5344CB8AC3E}">
        <p14:creationId xmlns:p14="http://schemas.microsoft.com/office/powerpoint/2010/main" val="9246585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C68251-C79B-B44D-0B36-45BD8E84F063}"/>
              </a:ext>
            </a:extLst>
          </p:cNvPr>
          <p:cNvSpPr>
            <a:spLocks noGrp="1"/>
          </p:cNvSpPr>
          <p:nvPr>
            <p:ph idx="1"/>
          </p:nvPr>
        </p:nvSpPr>
        <p:spPr>
          <a:xfrm>
            <a:off x="838200" y="251791"/>
            <a:ext cx="10515600" cy="5925172"/>
          </a:xfrm>
        </p:spPr>
        <p:txBody>
          <a:bodyPr>
            <a:normAutofit fontScale="70000" lnSpcReduction="20000"/>
          </a:bodyPr>
          <a:lstStyle/>
          <a:p>
            <a:r>
              <a:rPr lang="en-US" dirty="0"/>
              <a:t>#include &lt;</a:t>
            </a:r>
            <a:r>
              <a:rPr lang="en-US" dirty="0" err="1"/>
              <a:t>stdlib.h</a:t>
            </a:r>
            <a:r>
              <a:rPr lang="en-US" dirty="0"/>
              <a:t>&gt;</a:t>
            </a:r>
          </a:p>
          <a:p>
            <a:r>
              <a:rPr lang="en-US" dirty="0"/>
              <a:t>#include &lt;</a:t>
            </a:r>
            <a:r>
              <a:rPr lang="en-US" dirty="0" err="1"/>
              <a:t>stdio.h</a:t>
            </a:r>
            <a:r>
              <a:rPr lang="en-US" dirty="0"/>
              <a:t>&gt;</a:t>
            </a:r>
          </a:p>
          <a:p>
            <a:r>
              <a:rPr lang="en-US" dirty="0" err="1"/>
              <a:t>enum</a:t>
            </a:r>
            <a:r>
              <a:rPr lang="en-US" dirty="0"/>
              <a:t> {false, true};</a:t>
            </a:r>
          </a:p>
          <a:p>
            <a:r>
              <a:rPr lang="en-US" dirty="0"/>
              <a:t>int main()</a:t>
            </a:r>
          </a:p>
          <a:p>
            <a:r>
              <a:rPr lang="en-US" dirty="0"/>
              <a:t>{</a:t>
            </a:r>
          </a:p>
          <a:p>
            <a:r>
              <a:rPr lang="en-US" dirty="0"/>
              <a:t>   int </a:t>
            </a:r>
            <a:r>
              <a:rPr lang="en-US" dirty="0" err="1"/>
              <a:t>i</a:t>
            </a:r>
            <a:r>
              <a:rPr lang="en-US" dirty="0"/>
              <a:t> = 1;</a:t>
            </a:r>
          </a:p>
          <a:p>
            <a:r>
              <a:rPr lang="en-US" dirty="0"/>
              <a:t>   do</a:t>
            </a:r>
          </a:p>
          <a:p>
            <a:r>
              <a:rPr lang="en-US" dirty="0"/>
              <a:t>   {</a:t>
            </a:r>
          </a:p>
          <a:p>
            <a:r>
              <a:rPr lang="en-US" dirty="0"/>
              <a:t>      </a:t>
            </a:r>
            <a:r>
              <a:rPr lang="en-US" dirty="0" err="1"/>
              <a:t>printf</a:t>
            </a:r>
            <a:r>
              <a:rPr lang="en-US" dirty="0"/>
              <a:t>("%d\n", </a:t>
            </a:r>
            <a:r>
              <a:rPr lang="en-US" dirty="0" err="1"/>
              <a:t>i</a:t>
            </a:r>
            <a:r>
              <a:rPr lang="en-US" dirty="0"/>
              <a:t>);</a:t>
            </a:r>
          </a:p>
          <a:p>
            <a:r>
              <a:rPr lang="en-US" dirty="0"/>
              <a:t>      </a:t>
            </a:r>
            <a:r>
              <a:rPr lang="en-US" dirty="0" err="1"/>
              <a:t>i</a:t>
            </a:r>
            <a:r>
              <a:rPr lang="en-US" dirty="0"/>
              <a:t>++;</a:t>
            </a:r>
          </a:p>
          <a:p>
            <a:r>
              <a:rPr lang="en-US" dirty="0"/>
              <a:t>      if (</a:t>
            </a:r>
            <a:r>
              <a:rPr lang="en-US" dirty="0" err="1"/>
              <a:t>i</a:t>
            </a:r>
            <a:r>
              <a:rPr lang="en-US" dirty="0"/>
              <a:t> &lt; 15)</a:t>
            </a:r>
          </a:p>
          <a:p>
            <a:r>
              <a:rPr lang="en-US" dirty="0"/>
              <a:t>        continue;</a:t>
            </a:r>
          </a:p>
          <a:p>
            <a:r>
              <a:rPr lang="en-US" dirty="0"/>
              <a:t>   } while (false);</a:t>
            </a:r>
          </a:p>
          <a:p>
            <a:endParaRPr lang="en-US" dirty="0"/>
          </a:p>
          <a:p>
            <a:r>
              <a:rPr lang="en-US" dirty="0"/>
              <a:t>   </a:t>
            </a:r>
            <a:r>
              <a:rPr lang="en-US" dirty="0" err="1"/>
              <a:t>getchar</a:t>
            </a:r>
            <a:r>
              <a:rPr lang="en-US" dirty="0"/>
              <a:t>();</a:t>
            </a:r>
          </a:p>
          <a:p>
            <a:r>
              <a:rPr lang="en-US" dirty="0"/>
              <a:t>   return 0;</a:t>
            </a:r>
          </a:p>
          <a:p>
            <a:r>
              <a:rPr lang="en-US" dirty="0"/>
              <a:t>}</a:t>
            </a:r>
          </a:p>
        </p:txBody>
      </p:sp>
    </p:spTree>
    <p:extLst>
      <p:ext uri="{BB962C8B-B14F-4D97-AF65-F5344CB8AC3E}">
        <p14:creationId xmlns:p14="http://schemas.microsoft.com/office/powerpoint/2010/main" val="22727806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2652D-D00D-AB7F-02A3-4C1F6929D35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9E15EE7-C497-FCA6-E07A-AD085CDF940F}"/>
              </a:ext>
            </a:extLst>
          </p:cNvPr>
          <p:cNvSpPr>
            <a:spLocks noGrp="1"/>
          </p:cNvSpPr>
          <p:nvPr>
            <p:ph idx="1"/>
          </p:nvPr>
        </p:nvSpPr>
        <p:spPr/>
        <p:txBody>
          <a:bodyPr>
            <a:normAutofit fontScale="85000" lnSpcReduction="20000"/>
          </a:bodyPr>
          <a:lstStyle/>
          <a:p>
            <a:r>
              <a:rPr lang="en-US" dirty="0"/>
              <a:t>#include&lt;</a:t>
            </a:r>
            <a:r>
              <a:rPr lang="en-US" dirty="0" err="1"/>
              <a:t>stdio.h</a:t>
            </a:r>
            <a:r>
              <a:rPr lang="en-US" dirty="0"/>
              <a:t>&gt;</a:t>
            </a:r>
          </a:p>
          <a:p>
            <a:r>
              <a:rPr lang="en-US" dirty="0"/>
              <a:t>char *</a:t>
            </a:r>
            <a:r>
              <a:rPr lang="en-US" dirty="0" err="1"/>
              <a:t>getString</a:t>
            </a:r>
            <a:r>
              <a:rPr lang="en-US" dirty="0"/>
              <a:t>()</a:t>
            </a:r>
          </a:p>
          <a:p>
            <a:r>
              <a:rPr lang="en-US" dirty="0"/>
              <a:t>{</a:t>
            </a:r>
          </a:p>
          <a:p>
            <a:r>
              <a:rPr lang="en-US" dirty="0"/>
              <a:t>    char str[] = "Will I be printed?";    </a:t>
            </a:r>
          </a:p>
          <a:p>
            <a:r>
              <a:rPr lang="en-US" dirty="0"/>
              <a:t>    return str;</a:t>
            </a:r>
          </a:p>
          <a:p>
            <a:r>
              <a:rPr lang="en-US" dirty="0"/>
              <a:t>}</a:t>
            </a:r>
          </a:p>
          <a:p>
            <a:r>
              <a:rPr lang="en-US" dirty="0"/>
              <a:t>int main()</a:t>
            </a:r>
          </a:p>
          <a:p>
            <a:r>
              <a:rPr lang="en-US" dirty="0"/>
              <a:t>{</a:t>
            </a:r>
          </a:p>
          <a:p>
            <a:r>
              <a:rPr lang="en-US" dirty="0"/>
              <a:t>    </a:t>
            </a:r>
            <a:r>
              <a:rPr lang="en-US" dirty="0" err="1"/>
              <a:t>printf</a:t>
            </a:r>
            <a:r>
              <a:rPr lang="en-US" dirty="0"/>
              <a:t>("%s", </a:t>
            </a:r>
            <a:r>
              <a:rPr lang="en-US" dirty="0" err="1"/>
              <a:t>getString</a:t>
            </a:r>
            <a:r>
              <a:rPr lang="en-US" dirty="0"/>
              <a:t>());</a:t>
            </a:r>
          </a:p>
          <a:p>
            <a:r>
              <a:rPr lang="en-US" dirty="0"/>
              <a:t>    </a:t>
            </a:r>
            <a:r>
              <a:rPr lang="en-US" dirty="0" err="1"/>
              <a:t>getchar</a:t>
            </a:r>
            <a:r>
              <a:rPr lang="en-US" dirty="0"/>
              <a:t>();</a:t>
            </a:r>
          </a:p>
          <a:p>
            <a:r>
              <a:rPr lang="en-US" dirty="0"/>
              <a:t>}</a:t>
            </a:r>
          </a:p>
        </p:txBody>
      </p:sp>
    </p:spTree>
    <p:extLst>
      <p:ext uri="{BB962C8B-B14F-4D97-AF65-F5344CB8AC3E}">
        <p14:creationId xmlns:p14="http://schemas.microsoft.com/office/powerpoint/2010/main" val="429023202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D4096-F189-AEF1-DE23-D8830F3DDB6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2ECBF8E-3B1F-CEC8-BC81-55C0F7777E81}"/>
              </a:ext>
            </a:extLst>
          </p:cNvPr>
          <p:cNvSpPr>
            <a:spLocks noGrp="1"/>
          </p:cNvSpPr>
          <p:nvPr>
            <p:ph idx="1"/>
          </p:nvPr>
        </p:nvSpPr>
        <p:spPr/>
        <p:txBody>
          <a:bodyPr/>
          <a:lstStyle/>
          <a:p>
            <a:r>
              <a:rPr lang="en-US" dirty="0"/>
              <a:t>#include&lt;</a:t>
            </a:r>
            <a:r>
              <a:rPr lang="en-US" dirty="0" err="1"/>
              <a:t>stdio.h</a:t>
            </a:r>
            <a:r>
              <a:rPr lang="en-US" dirty="0"/>
              <a:t>&gt;</a:t>
            </a:r>
          </a:p>
          <a:p>
            <a:r>
              <a:rPr lang="en-US" dirty="0"/>
              <a:t>int main()</a:t>
            </a:r>
          </a:p>
          <a:p>
            <a:r>
              <a:rPr lang="en-US" dirty="0"/>
              <a:t>{</a:t>
            </a:r>
          </a:p>
          <a:p>
            <a:r>
              <a:rPr lang="en-US" dirty="0"/>
              <a:t>    static int var = 5;</a:t>
            </a:r>
          </a:p>
          <a:p>
            <a:r>
              <a:rPr lang="en-US" dirty="0"/>
              <a:t>    </a:t>
            </a:r>
            <a:r>
              <a:rPr lang="en-US" dirty="0" err="1"/>
              <a:t>printf</a:t>
            </a:r>
            <a:r>
              <a:rPr lang="en-US" dirty="0"/>
              <a:t>("%d ",var--);</a:t>
            </a:r>
          </a:p>
          <a:p>
            <a:r>
              <a:rPr lang="en-US" dirty="0"/>
              <a:t>    if(var)</a:t>
            </a:r>
          </a:p>
          <a:p>
            <a:r>
              <a:rPr lang="en-US" dirty="0"/>
              <a:t>        main();                   </a:t>
            </a:r>
          </a:p>
          <a:p>
            <a:r>
              <a:rPr lang="en-US" dirty="0"/>
              <a:t>}</a:t>
            </a:r>
          </a:p>
        </p:txBody>
      </p:sp>
    </p:spTree>
    <p:extLst>
      <p:ext uri="{BB962C8B-B14F-4D97-AF65-F5344CB8AC3E}">
        <p14:creationId xmlns:p14="http://schemas.microsoft.com/office/powerpoint/2010/main" val="12803164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F6046-7779-2FE8-BEEF-ED475E20208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3F19CEE-4FF9-5465-DF97-0B8FE1B52147}"/>
              </a:ext>
            </a:extLst>
          </p:cNvPr>
          <p:cNvSpPr>
            <a:spLocks noGrp="1"/>
          </p:cNvSpPr>
          <p:nvPr>
            <p:ph idx="1"/>
          </p:nvPr>
        </p:nvSpPr>
        <p:spPr/>
        <p:txBody>
          <a:bodyPr>
            <a:normAutofit lnSpcReduction="10000"/>
          </a:bodyPr>
          <a:lstStyle/>
          <a:p>
            <a:r>
              <a:rPr lang="en-US" dirty="0"/>
              <a:t>#include&lt;</a:t>
            </a:r>
            <a:r>
              <a:rPr lang="en-US" dirty="0" err="1"/>
              <a:t>stdio.h</a:t>
            </a:r>
            <a:r>
              <a:rPr lang="en-US" dirty="0"/>
              <a:t>&gt;</a:t>
            </a:r>
          </a:p>
          <a:p>
            <a:r>
              <a:rPr lang="en-US" dirty="0"/>
              <a:t>int main()</a:t>
            </a:r>
          </a:p>
          <a:p>
            <a:r>
              <a:rPr lang="en-US" dirty="0"/>
              <a:t>{</a:t>
            </a:r>
          </a:p>
          <a:p>
            <a:r>
              <a:rPr lang="en-US" dirty="0"/>
              <a:t>    int x;</a:t>
            </a:r>
          </a:p>
          <a:p>
            <a:r>
              <a:rPr lang="en-US" dirty="0"/>
              <a:t>    </a:t>
            </a:r>
            <a:r>
              <a:rPr lang="en-US" dirty="0" err="1"/>
              <a:t>printf</a:t>
            </a:r>
            <a:r>
              <a:rPr lang="en-US" dirty="0"/>
              <a:t>("%d",</a:t>
            </a:r>
            <a:r>
              <a:rPr lang="en-US" dirty="0" err="1"/>
              <a:t>scanf</a:t>
            </a:r>
            <a:r>
              <a:rPr lang="en-US" dirty="0"/>
              <a:t>("%</a:t>
            </a:r>
            <a:r>
              <a:rPr lang="en-US" dirty="0" err="1"/>
              <a:t>d",&amp;x</a:t>
            </a:r>
            <a:r>
              <a:rPr lang="en-US" dirty="0"/>
              <a:t>)); </a:t>
            </a:r>
          </a:p>
          <a:p>
            <a:r>
              <a:rPr lang="en-US" dirty="0"/>
              <a:t>    /* Suppose that input value given </a:t>
            </a:r>
          </a:p>
          <a:p>
            <a:r>
              <a:rPr lang="en-US" dirty="0"/>
              <a:t>        for above </a:t>
            </a:r>
            <a:r>
              <a:rPr lang="en-US" dirty="0" err="1"/>
              <a:t>scanf</a:t>
            </a:r>
            <a:r>
              <a:rPr lang="en-US" dirty="0"/>
              <a:t> is 20 */</a:t>
            </a:r>
          </a:p>
          <a:p>
            <a:r>
              <a:rPr lang="en-US" dirty="0"/>
              <a:t>    return 1;</a:t>
            </a:r>
          </a:p>
          <a:p>
            <a:r>
              <a:rPr lang="en-US" dirty="0"/>
              <a:t>}</a:t>
            </a:r>
          </a:p>
        </p:txBody>
      </p:sp>
    </p:spTree>
    <p:extLst>
      <p:ext uri="{BB962C8B-B14F-4D97-AF65-F5344CB8AC3E}">
        <p14:creationId xmlns:p14="http://schemas.microsoft.com/office/powerpoint/2010/main" val="25013950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28EBB-52D3-5208-9619-D9CCDBCBB48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421F484-0497-04D6-16BB-B0A437FB0CFB}"/>
              </a:ext>
            </a:extLst>
          </p:cNvPr>
          <p:cNvSpPr>
            <a:spLocks noGrp="1"/>
          </p:cNvSpPr>
          <p:nvPr>
            <p:ph idx="1"/>
          </p:nvPr>
        </p:nvSpPr>
        <p:spPr/>
        <p:txBody>
          <a:bodyPr>
            <a:normAutofit fontScale="92500" lnSpcReduction="20000"/>
          </a:bodyPr>
          <a:lstStyle/>
          <a:p>
            <a:r>
              <a:rPr lang="en-US" dirty="0"/>
              <a:t>#include &lt;</a:t>
            </a:r>
            <a:r>
              <a:rPr lang="en-US" dirty="0" err="1"/>
              <a:t>stdio.h</a:t>
            </a:r>
            <a:r>
              <a:rPr lang="en-US" dirty="0"/>
              <a:t>&gt;</a:t>
            </a:r>
          </a:p>
          <a:p>
            <a:r>
              <a:rPr lang="en-US" dirty="0"/>
              <a:t>int main()</a:t>
            </a:r>
          </a:p>
          <a:p>
            <a:r>
              <a:rPr lang="en-US" dirty="0"/>
              <a:t>{</a:t>
            </a:r>
          </a:p>
          <a:p>
            <a:r>
              <a:rPr lang="en-US" dirty="0"/>
              <a:t>    int </a:t>
            </a:r>
            <a:r>
              <a:rPr lang="en-US" dirty="0" err="1"/>
              <a:t>i</a:t>
            </a:r>
            <a:r>
              <a:rPr lang="en-US" dirty="0"/>
              <a:t>;</a:t>
            </a:r>
          </a:p>
          <a:p>
            <a:r>
              <a:rPr lang="en-US" dirty="0"/>
              <a:t>    </a:t>
            </a:r>
            <a:r>
              <a:rPr lang="en-US" dirty="0" err="1"/>
              <a:t>i</a:t>
            </a:r>
            <a:r>
              <a:rPr lang="en-US" dirty="0"/>
              <a:t> = 1, 2, 3;     //(1, 2, 3)    </a:t>
            </a:r>
          </a:p>
          <a:p>
            <a:r>
              <a:rPr lang="en-US" dirty="0"/>
              <a:t>    </a:t>
            </a:r>
            <a:r>
              <a:rPr lang="en-US" dirty="0" err="1"/>
              <a:t>printf</a:t>
            </a:r>
            <a:r>
              <a:rPr lang="en-US" dirty="0"/>
              <a:t>("</a:t>
            </a:r>
            <a:r>
              <a:rPr lang="en-US" dirty="0" err="1"/>
              <a:t>i</a:t>
            </a:r>
            <a:r>
              <a:rPr lang="en-US" dirty="0"/>
              <a:t> = %d\n", </a:t>
            </a:r>
            <a:r>
              <a:rPr lang="en-US" dirty="0" err="1"/>
              <a:t>i</a:t>
            </a:r>
            <a:r>
              <a:rPr lang="en-US" dirty="0"/>
              <a:t>);</a:t>
            </a:r>
          </a:p>
          <a:p>
            <a:endParaRPr lang="en-US" dirty="0"/>
          </a:p>
          <a:p>
            <a:r>
              <a:rPr lang="en-US" dirty="0"/>
              <a:t>    </a:t>
            </a:r>
            <a:r>
              <a:rPr lang="en-US" dirty="0" err="1"/>
              <a:t>getchar</a:t>
            </a:r>
            <a:r>
              <a:rPr lang="en-US" dirty="0"/>
              <a:t>();</a:t>
            </a:r>
          </a:p>
          <a:p>
            <a:r>
              <a:rPr lang="en-US" dirty="0"/>
              <a:t>    return 0;</a:t>
            </a:r>
          </a:p>
          <a:p>
            <a:r>
              <a:rPr lang="en-US" dirty="0"/>
              <a:t>}</a:t>
            </a:r>
          </a:p>
        </p:txBody>
      </p:sp>
    </p:spTree>
    <p:extLst>
      <p:ext uri="{BB962C8B-B14F-4D97-AF65-F5344CB8AC3E}">
        <p14:creationId xmlns:p14="http://schemas.microsoft.com/office/powerpoint/2010/main" val="27860167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D819-F1B9-51B5-276C-6B3326CB3E5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52CA5F0-4CF1-A1BC-960C-F12C6282C075}"/>
              </a:ext>
            </a:extLst>
          </p:cNvPr>
          <p:cNvSpPr>
            <a:spLocks noGrp="1"/>
          </p:cNvSpPr>
          <p:nvPr>
            <p:ph idx="1"/>
          </p:nvPr>
        </p:nvSpPr>
        <p:spPr/>
        <p:txBody>
          <a:bodyPr>
            <a:normAutofit fontScale="85000" lnSpcReduction="20000"/>
          </a:bodyPr>
          <a:lstStyle/>
          <a:p>
            <a:r>
              <a:rPr lang="en-US" dirty="0"/>
              <a:t>#include &lt;</a:t>
            </a:r>
            <a:r>
              <a:rPr lang="en-US" dirty="0" err="1"/>
              <a:t>stdio.h</a:t>
            </a:r>
            <a:r>
              <a:rPr lang="en-US" dirty="0"/>
              <a:t>&gt; </a:t>
            </a:r>
          </a:p>
          <a:p>
            <a:r>
              <a:rPr lang="en-US" dirty="0"/>
              <a:t>  int main()</a:t>
            </a:r>
          </a:p>
          <a:p>
            <a:r>
              <a:rPr lang="en-US" dirty="0"/>
              <a:t>  {</a:t>
            </a:r>
          </a:p>
          <a:p>
            <a:r>
              <a:rPr lang="en-US" dirty="0"/>
              <a:t>      int c = 5, no = 1000;</a:t>
            </a:r>
          </a:p>
          <a:p>
            <a:r>
              <a:rPr lang="en-US" dirty="0"/>
              <a:t>      do {</a:t>
            </a:r>
          </a:p>
          <a:p>
            <a:r>
              <a:rPr lang="en-US" dirty="0"/>
              <a:t>          no /= c;</a:t>
            </a:r>
          </a:p>
          <a:p>
            <a:r>
              <a:rPr lang="en-US" dirty="0"/>
              <a:t>      } while(c--);</a:t>
            </a:r>
          </a:p>
          <a:p>
            <a:endParaRPr lang="en-US" dirty="0"/>
          </a:p>
          <a:p>
            <a:r>
              <a:rPr lang="en-US" dirty="0"/>
              <a:t>      </a:t>
            </a:r>
            <a:r>
              <a:rPr lang="en-US" dirty="0" err="1"/>
              <a:t>printf</a:t>
            </a:r>
            <a:r>
              <a:rPr lang="en-US" dirty="0"/>
              <a:t> ("%d\n", no);</a:t>
            </a:r>
          </a:p>
          <a:p>
            <a:r>
              <a:rPr lang="en-US" dirty="0"/>
              <a:t>      return 0;</a:t>
            </a:r>
          </a:p>
          <a:p>
            <a:r>
              <a:rPr lang="en-US" dirty="0"/>
              <a:t>  }</a:t>
            </a:r>
          </a:p>
        </p:txBody>
      </p:sp>
    </p:spTree>
    <p:extLst>
      <p:ext uri="{BB962C8B-B14F-4D97-AF65-F5344CB8AC3E}">
        <p14:creationId xmlns:p14="http://schemas.microsoft.com/office/powerpoint/2010/main" val="29898066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98A5F-9DCF-838D-BCBF-3A312BA9069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7167EF2-7F70-B700-BC10-918D7C32DBF0}"/>
              </a:ext>
            </a:extLst>
          </p:cNvPr>
          <p:cNvSpPr>
            <a:spLocks noGrp="1"/>
          </p:cNvSpPr>
          <p:nvPr>
            <p:ph idx="1"/>
          </p:nvPr>
        </p:nvSpPr>
        <p:spPr/>
        <p:txBody>
          <a:bodyPr/>
          <a:lstStyle/>
          <a:p>
            <a:r>
              <a:rPr lang="en-US" dirty="0"/>
              <a:t>int main()</a:t>
            </a:r>
          </a:p>
          <a:p>
            <a:r>
              <a:rPr lang="en-US" dirty="0"/>
              <a:t>{</a:t>
            </a:r>
          </a:p>
          <a:p>
            <a:r>
              <a:rPr lang="en-US" dirty="0"/>
              <a:t>    unsigned int </a:t>
            </a:r>
            <a:r>
              <a:rPr lang="en-US" dirty="0" err="1"/>
              <a:t>i</a:t>
            </a:r>
            <a:r>
              <a:rPr lang="en-US" dirty="0"/>
              <a:t>=10;</a:t>
            </a:r>
          </a:p>
          <a:p>
            <a:r>
              <a:rPr lang="en-US" dirty="0"/>
              <a:t>    while(</a:t>
            </a:r>
            <a:r>
              <a:rPr lang="en-US" dirty="0" err="1"/>
              <a:t>i</a:t>
            </a:r>
            <a:r>
              <a:rPr lang="en-US" dirty="0"/>
              <a:t>-- &gt;= 0)</a:t>
            </a:r>
          </a:p>
          <a:p>
            <a:r>
              <a:rPr lang="en-US" dirty="0"/>
              <a:t>        </a:t>
            </a:r>
            <a:r>
              <a:rPr lang="en-US" dirty="0" err="1"/>
              <a:t>printf</a:t>
            </a:r>
            <a:r>
              <a:rPr lang="en-US" dirty="0"/>
              <a:t>("%u ",</a:t>
            </a:r>
            <a:r>
              <a:rPr lang="en-US" dirty="0" err="1"/>
              <a:t>i</a:t>
            </a:r>
            <a:r>
              <a:rPr lang="en-US" dirty="0"/>
              <a:t>);</a:t>
            </a:r>
          </a:p>
          <a:p>
            <a:r>
              <a:rPr lang="en-US" dirty="0"/>
              <a:t>    return 0;</a:t>
            </a:r>
          </a:p>
          <a:p>
            <a:r>
              <a:rPr lang="en-US" dirty="0"/>
              <a:t>}</a:t>
            </a:r>
          </a:p>
        </p:txBody>
      </p:sp>
    </p:spTree>
    <p:extLst>
      <p:ext uri="{BB962C8B-B14F-4D97-AF65-F5344CB8AC3E}">
        <p14:creationId xmlns:p14="http://schemas.microsoft.com/office/powerpoint/2010/main" val="24674385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0DDEC-F057-3E6E-68B8-981802175DC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1B912BA-9D1A-D664-D9E5-C5E6172FC798}"/>
              </a:ext>
            </a:extLst>
          </p:cNvPr>
          <p:cNvSpPr>
            <a:spLocks noGrp="1"/>
          </p:cNvSpPr>
          <p:nvPr>
            <p:ph idx="1"/>
          </p:nvPr>
        </p:nvSpPr>
        <p:spPr/>
        <p:txBody>
          <a:bodyPr/>
          <a:lstStyle/>
          <a:p>
            <a:r>
              <a:rPr lang="en-US" dirty="0"/>
              <a:t>int main()</a:t>
            </a:r>
          </a:p>
          <a:p>
            <a:r>
              <a:rPr lang="en-US" dirty="0"/>
              <a:t>{</a:t>
            </a:r>
          </a:p>
          <a:p>
            <a:r>
              <a:rPr lang="en-US" dirty="0"/>
              <a:t>    unsigned int </a:t>
            </a:r>
            <a:r>
              <a:rPr lang="en-US" dirty="0" err="1"/>
              <a:t>i</a:t>
            </a:r>
            <a:r>
              <a:rPr lang="en-US" dirty="0"/>
              <a:t>=65000;</a:t>
            </a:r>
          </a:p>
          <a:p>
            <a:r>
              <a:rPr lang="en-US" dirty="0"/>
              <a:t>    while ( </a:t>
            </a:r>
            <a:r>
              <a:rPr lang="en-US" dirty="0" err="1"/>
              <a:t>i</a:t>
            </a:r>
            <a:r>
              <a:rPr lang="en-US" dirty="0"/>
              <a:t>++ != 0 );</a:t>
            </a:r>
          </a:p>
          <a:p>
            <a:r>
              <a:rPr lang="en-US" dirty="0"/>
              <a:t>    </a:t>
            </a:r>
            <a:r>
              <a:rPr lang="en-US" dirty="0" err="1"/>
              <a:t>printf</a:t>
            </a:r>
            <a:r>
              <a:rPr lang="en-US" dirty="0"/>
              <a:t>("%d",</a:t>
            </a:r>
            <a:r>
              <a:rPr lang="en-US" dirty="0" err="1"/>
              <a:t>i</a:t>
            </a:r>
            <a:r>
              <a:rPr lang="en-US" dirty="0"/>
              <a:t>);</a:t>
            </a:r>
          </a:p>
          <a:p>
            <a:r>
              <a:rPr lang="en-US" dirty="0"/>
              <a:t>    return 0;</a:t>
            </a:r>
          </a:p>
          <a:p>
            <a:r>
              <a:rPr lang="en-US" dirty="0"/>
              <a:t>}</a:t>
            </a:r>
          </a:p>
        </p:txBody>
      </p:sp>
    </p:spTree>
    <p:extLst>
      <p:ext uri="{BB962C8B-B14F-4D97-AF65-F5344CB8AC3E}">
        <p14:creationId xmlns:p14="http://schemas.microsoft.com/office/powerpoint/2010/main" val="385021096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941AD-5542-96BE-755B-FA94343FA05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3A8D57D-D9AB-FE56-C485-0F173E5CF253}"/>
              </a:ext>
            </a:extLst>
          </p:cNvPr>
          <p:cNvSpPr>
            <a:spLocks noGrp="1"/>
          </p:cNvSpPr>
          <p:nvPr>
            <p:ph idx="1"/>
          </p:nvPr>
        </p:nvSpPr>
        <p:spPr/>
        <p:txBody>
          <a:bodyPr>
            <a:normAutofit lnSpcReduction="10000"/>
          </a:bodyPr>
          <a:lstStyle/>
          <a:p>
            <a:r>
              <a:rPr lang="en-US" dirty="0"/>
              <a:t>#define a 10</a:t>
            </a:r>
          </a:p>
          <a:p>
            <a:r>
              <a:rPr lang="en-US" dirty="0"/>
              <a:t>int main()</a:t>
            </a:r>
          </a:p>
          <a:p>
            <a:r>
              <a:rPr lang="en-US" dirty="0"/>
              <a:t>{</a:t>
            </a:r>
          </a:p>
          <a:p>
            <a:r>
              <a:rPr lang="en-US" dirty="0"/>
              <a:t>  #define a 50</a:t>
            </a:r>
          </a:p>
          <a:p>
            <a:r>
              <a:rPr lang="en-US" dirty="0"/>
              <a:t>  </a:t>
            </a:r>
            <a:r>
              <a:rPr lang="en-US" dirty="0" err="1"/>
              <a:t>printf</a:t>
            </a:r>
            <a:r>
              <a:rPr lang="en-US" dirty="0"/>
              <a:t>("%</a:t>
            </a:r>
            <a:r>
              <a:rPr lang="en-US" dirty="0" err="1"/>
              <a:t>d",a</a:t>
            </a:r>
            <a:r>
              <a:rPr lang="en-US" dirty="0"/>
              <a:t>);</a:t>
            </a:r>
          </a:p>
          <a:p>
            <a:r>
              <a:rPr lang="en-US" dirty="0"/>
              <a:t>  </a:t>
            </a:r>
          </a:p>
          <a:p>
            <a:r>
              <a:rPr lang="en-US" dirty="0"/>
              <a:t>  </a:t>
            </a:r>
            <a:r>
              <a:rPr lang="en-US" dirty="0" err="1"/>
              <a:t>getchar</a:t>
            </a:r>
            <a:r>
              <a:rPr lang="en-US" dirty="0"/>
              <a:t>();</a:t>
            </a:r>
          </a:p>
          <a:p>
            <a:r>
              <a:rPr lang="en-US" dirty="0"/>
              <a:t>  return 0;</a:t>
            </a:r>
          </a:p>
          <a:p>
            <a:r>
              <a:rPr lang="en-US"/>
              <a:t>}</a:t>
            </a:r>
          </a:p>
        </p:txBody>
      </p:sp>
    </p:spTree>
    <p:extLst>
      <p:ext uri="{BB962C8B-B14F-4D97-AF65-F5344CB8AC3E}">
        <p14:creationId xmlns:p14="http://schemas.microsoft.com/office/powerpoint/2010/main" val="411494516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356A6-CFDC-A1C5-D624-01E0A33367D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A76340B-B840-CBEF-E973-D08E2BA7172C}"/>
              </a:ext>
            </a:extLst>
          </p:cNvPr>
          <p:cNvSpPr>
            <a:spLocks noGrp="1"/>
          </p:cNvSpPr>
          <p:nvPr>
            <p:ph idx="1"/>
          </p:nvPr>
        </p:nvSpPr>
        <p:spPr/>
        <p:txBody>
          <a:bodyPr>
            <a:normAutofit fontScale="47500" lnSpcReduction="20000"/>
          </a:bodyPr>
          <a:lstStyle/>
          <a:p>
            <a:r>
              <a:rPr lang="en-US" dirty="0"/>
              <a:t>int main()</a:t>
            </a:r>
          </a:p>
          <a:p>
            <a:r>
              <a:rPr lang="en-US" dirty="0"/>
              <a:t>{</a:t>
            </a:r>
          </a:p>
          <a:p>
            <a:r>
              <a:rPr lang="en-US" dirty="0"/>
              <a:t>  char </a:t>
            </a:r>
            <a:r>
              <a:rPr lang="en-US" dirty="0" err="1"/>
              <a:t>arr</a:t>
            </a:r>
            <a:r>
              <a:rPr lang="en-US" dirty="0"/>
              <a:t>[]  = "</a:t>
            </a:r>
            <a:r>
              <a:rPr lang="en-US" dirty="0" err="1"/>
              <a:t>geeksforgeeks</a:t>
            </a:r>
            <a:r>
              <a:rPr lang="en-US" dirty="0"/>
              <a:t>";</a:t>
            </a:r>
          </a:p>
          <a:p>
            <a:r>
              <a:rPr lang="en-US" dirty="0"/>
              <a:t>  char *</a:t>
            </a:r>
            <a:r>
              <a:rPr lang="en-US" dirty="0" err="1"/>
              <a:t>ptr</a:t>
            </a:r>
            <a:r>
              <a:rPr lang="en-US" dirty="0"/>
              <a:t>  = </a:t>
            </a:r>
            <a:r>
              <a:rPr lang="en-US" dirty="0" err="1"/>
              <a:t>arr</a:t>
            </a:r>
            <a:r>
              <a:rPr lang="en-US" dirty="0"/>
              <a:t>;</a:t>
            </a:r>
          </a:p>
          <a:p>
            <a:endParaRPr lang="en-US" dirty="0"/>
          </a:p>
          <a:p>
            <a:r>
              <a:rPr lang="en-US" dirty="0"/>
              <a:t>  while(*</a:t>
            </a:r>
            <a:r>
              <a:rPr lang="en-US" dirty="0" err="1"/>
              <a:t>ptr</a:t>
            </a:r>
            <a:r>
              <a:rPr lang="en-US" dirty="0"/>
              <a:t> != '\0')</a:t>
            </a:r>
          </a:p>
          <a:p>
            <a:r>
              <a:rPr lang="en-US" dirty="0"/>
              <a:t>      ++*</a:t>
            </a:r>
            <a:r>
              <a:rPr lang="en-US" dirty="0" err="1"/>
              <a:t>ptr</a:t>
            </a:r>
            <a:r>
              <a:rPr lang="en-US" dirty="0"/>
              <a:t>++;</a:t>
            </a:r>
          </a:p>
          <a:p>
            <a:r>
              <a:rPr lang="en-US" dirty="0"/>
              <a:t>  </a:t>
            </a:r>
            <a:r>
              <a:rPr lang="en-US" dirty="0" err="1"/>
              <a:t>printf</a:t>
            </a:r>
            <a:r>
              <a:rPr lang="en-US" dirty="0"/>
              <a:t>("%s %s", </a:t>
            </a:r>
            <a:r>
              <a:rPr lang="en-US" dirty="0" err="1"/>
              <a:t>arr</a:t>
            </a:r>
            <a:r>
              <a:rPr lang="en-US" dirty="0"/>
              <a:t>, </a:t>
            </a:r>
            <a:r>
              <a:rPr lang="en-US" dirty="0" err="1"/>
              <a:t>ptr</a:t>
            </a:r>
            <a:r>
              <a:rPr lang="en-US" dirty="0"/>
              <a:t>);</a:t>
            </a:r>
          </a:p>
          <a:p>
            <a:endParaRPr lang="en-US" dirty="0"/>
          </a:p>
          <a:p>
            <a:r>
              <a:rPr lang="en-US" dirty="0"/>
              <a:t>  </a:t>
            </a:r>
            <a:r>
              <a:rPr lang="en-US" dirty="0" err="1"/>
              <a:t>getchar</a:t>
            </a:r>
            <a:r>
              <a:rPr lang="en-US" dirty="0"/>
              <a:t>();</a:t>
            </a:r>
          </a:p>
          <a:p>
            <a:r>
              <a:rPr lang="en-US" dirty="0"/>
              <a:t>  return 0;</a:t>
            </a:r>
          </a:p>
          <a:p>
            <a:r>
              <a:rPr lang="en-US" dirty="0"/>
              <a:t>}</a:t>
            </a:r>
          </a:p>
          <a:p>
            <a:endParaRPr lang="en-US" dirty="0"/>
          </a:p>
          <a:p>
            <a:r>
              <a:rPr lang="en-IN" dirty="0"/>
              <a:t>Postfix ++ left-to-right </a:t>
            </a:r>
          </a:p>
          <a:p>
            <a:r>
              <a:rPr lang="en-IN" dirty="0"/>
              <a:t>Prefix ++ right-to-left </a:t>
            </a:r>
          </a:p>
          <a:p>
            <a:r>
              <a:rPr lang="en-IN" dirty="0"/>
              <a:t>Dereference * right-to-left</a:t>
            </a:r>
            <a:endParaRPr lang="en-US" dirty="0"/>
          </a:p>
        </p:txBody>
      </p:sp>
    </p:spTree>
    <p:extLst>
      <p:ext uri="{BB962C8B-B14F-4D97-AF65-F5344CB8AC3E}">
        <p14:creationId xmlns:p14="http://schemas.microsoft.com/office/powerpoint/2010/main" val="382805792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AC75C-5F4D-688B-C5AE-30A243C80EA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221952F-1D3E-8DFD-4F23-DE21FB3DA6D5}"/>
              </a:ext>
            </a:extLst>
          </p:cNvPr>
          <p:cNvSpPr>
            <a:spLocks noGrp="1"/>
          </p:cNvSpPr>
          <p:nvPr>
            <p:ph idx="1"/>
          </p:nvPr>
        </p:nvSpPr>
        <p:spPr/>
        <p:txBody>
          <a:bodyPr>
            <a:normAutofit lnSpcReduction="10000"/>
          </a:bodyPr>
          <a:lstStyle/>
          <a:p>
            <a:r>
              <a:rPr lang="en-US" dirty="0"/>
              <a:t>int main()</a:t>
            </a:r>
          </a:p>
          <a:p>
            <a:r>
              <a:rPr lang="en-US" dirty="0"/>
              <a:t>{</a:t>
            </a:r>
          </a:p>
          <a:p>
            <a:r>
              <a:rPr lang="en-US" dirty="0"/>
              <a:t>  signed char </a:t>
            </a:r>
            <a:r>
              <a:rPr lang="en-US" dirty="0" err="1"/>
              <a:t>i</a:t>
            </a:r>
            <a:r>
              <a:rPr lang="en-US" dirty="0"/>
              <a:t>=0;</a:t>
            </a:r>
          </a:p>
          <a:p>
            <a:r>
              <a:rPr lang="en-US" dirty="0"/>
              <a:t>  for(; </a:t>
            </a:r>
            <a:r>
              <a:rPr lang="en-US" dirty="0" err="1"/>
              <a:t>i</a:t>
            </a:r>
            <a:r>
              <a:rPr lang="en-US" dirty="0"/>
              <a:t> &gt;= 0; </a:t>
            </a:r>
            <a:r>
              <a:rPr lang="en-US" dirty="0" err="1"/>
              <a:t>i</a:t>
            </a:r>
            <a:r>
              <a:rPr lang="en-US" dirty="0"/>
              <a:t>++);</a:t>
            </a:r>
          </a:p>
          <a:p>
            <a:r>
              <a:rPr lang="en-US" dirty="0"/>
              <a:t>  </a:t>
            </a:r>
            <a:r>
              <a:rPr lang="en-US" dirty="0" err="1"/>
              <a:t>printf</a:t>
            </a:r>
            <a:r>
              <a:rPr lang="en-US" dirty="0"/>
              <a:t>("%d\n", </a:t>
            </a:r>
            <a:r>
              <a:rPr lang="en-US" dirty="0" err="1"/>
              <a:t>i</a:t>
            </a:r>
            <a:r>
              <a:rPr lang="en-US" dirty="0"/>
              <a:t>);</a:t>
            </a:r>
          </a:p>
          <a:p>
            <a:endParaRPr lang="en-US" dirty="0"/>
          </a:p>
          <a:p>
            <a:r>
              <a:rPr lang="en-US" dirty="0"/>
              <a:t>  </a:t>
            </a:r>
            <a:r>
              <a:rPr lang="en-US" dirty="0" err="1"/>
              <a:t>getchar</a:t>
            </a:r>
            <a:r>
              <a:rPr lang="en-US" dirty="0"/>
              <a:t>();</a:t>
            </a:r>
          </a:p>
          <a:p>
            <a:r>
              <a:rPr lang="en-US" dirty="0"/>
              <a:t>  return 0;</a:t>
            </a:r>
          </a:p>
          <a:p>
            <a:r>
              <a:rPr lang="en-US" dirty="0"/>
              <a:t>}</a:t>
            </a:r>
          </a:p>
        </p:txBody>
      </p:sp>
    </p:spTree>
    <p:extLst>
      <p:ext uri="{BB962C8B-B14F-4D97-AF65-F5344CB8AC3E}">
        <p14:creationId xmlns:p14="http://schemas.microsoft.com/office/powerpoint/2010/main" val="216284771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95E88-AC17-984A-346A-1706B8BAE7F3}"/>
              </a:ext>
            </a:extLst>
          </p:cNvPr>
          <p:cNvSpPr>
            <a:spLocks noGrp="1"/>
          </p:cNvSpPr>
          <p:nvPr>
            <p:ph type="title"/>
          </p:nvPr>
        </p:nvSpPr>
        <p:spPr/>
        <p:txBody>
          <a:bodyPr>
            <a:normAutofit/>
          </a:bodyPr>
          <a:lstStyle/>
          <a:p>
            <a:pPr fontAlgn="base"/>
            <a:r>
              <a:rPr lang="en-IN" b="1" dirty="0">
                <a:effectLst/>
                <a:latin typeface="Nunito" pitchFamily="2" charset="77"/>
              </a:rPr>
              <a:t>1. Find the largest number among the three numbers.</a:t>
            </a:r>
            <a:endParaRPr lang="en-US" dirty="0"/>
          </a:p>
        </p:txBody>
      </p:sp>
      <p:sp>
        <p:nvSpPr>
          <p:cNvPr id="3" name="Content Placeholder 2">
            <a:extLst>
              <a:ext uri="{FF2B5EF4-FFF2-40B4-BE49-F238E27FC236}">
                <a16:creationId xmlns:a16="http://schemas.microsoft.com/office/drawing/2014/main" id="{CE3B9175-85E5-B214-C7C8-69A5E6C7BD72}"/>
              </a:ext>
            </a:extLst>
          </p:cNvPr>
          <p:cNvSpPr>
            <a:spLocks noGrp="1"/>
          </p:cNvSpPr>
          <p:nvPr>
            <p:ph idx="1"/>
          </p:nvPr>
        </p:nvSpPr>
        <p:spPr/>
        <p:txBody>
          <a:bodyPr>
            <a:normAutofit fontScale="55000" lnSpcReduction="20000"/>
          </a:bodyPr>
          <a:lstStyle/>
          <a:p>
            <a:r>
              <a:rPr lang="en-US" dirty="0"/>
              <a:t>#include &lt;</a:t>
            </a:r>
            <a:r>
              <a:rPr lang="en-US" dirty="0" err="1"/>
              <a:t>stdio.h</a:t>
            </a:r>
            <a:r>
              <a:rPr lang="en-US" dirty="0"/>
              <a:t>&gt;</a:t>
            </a:r>
          </a:p>
          <a:p>
            <a:r>
              <a:rPr lang="en-US" dirty="0"/>
              <a:t>int main(){</a:t>
            </a:r>
          </a:p>
          <a:p>
            <a:r>
              <a:rPr lang="en-US" dirty="0"/>
              <a:t>    int a = 1, b = 2, c = 3;</a:t>
            </a:r>
          </a:p>
          <a:p>
            <a:r>
              <a:rPr lang="en-US" dirty="0"/>
              <a:t>    // condition for a is greatest</a:t>
            </a:r>
          </a:p>
          <a:p>
            <a:r>
              <a:rPr lang="en-US" dirty="0"/>
              <a:t>    if (a &gt; b &amp;&amp; a &gt; c)</a:t>
            </a:r>
          </a:p>
          <a:p>
            <a:r>
              <a:rPr lang="en-US" dirty="0"/>
              <a:t>        </a:t>
            </a:r>
            <a:r>
              <a:rPr lang="en-US" dirty="0" err="1"/>
              <a:t>printf</a:t>
            </a:r>
            <a:r>
              <a:rPr lang="en-US" dirty="0"/>
              <a:t>("%d", a);</a:t>
            </a:r>
          </a:p>
          <a:p>
            <a:r>
              <a:rPr lang="en-US" dirty="0"/>
              <a:t>    // condition for b is greatest</a:t>
            </a:r>
          </a:p>
          <a:p>
            <a:r>
              <a:rPr lang="en-US" dirty="0"/>
              <a:t>    else if (b &gt; a &amp;&amp; b &gt; c)</a:t>
            </a:r>
          </a:p>
          <a:p>
            <a:r>
              <a:rPr lang="en-US" dirty="0"/>
              <a:t>        </a:t>
            </a:r>
            <a:r>
              <a:rPr lang="en-US" dirty="0" err="1"/>
              <a:t>printf</a:t>
            </a:r>
            <a:r>
              <a:rPr lang="en-US" dirty="0"/>
              <a:t>("%d", b);</a:t>
            </a:r>
          </a:p>
          <a:p>
            <a:r>
              <a:rPr lang="en-US" dirty="0"/>
              <a:t>    // remaining conditions  // c is greatest</a:t>
            </a:r>
          </a:p>
          <a:p>
            <a:r>
              <a:rPr lang="en-US" dirty="0"/>
              <a:t>    else</a:t>
            </a:r>
          </a:p>
          <a:p>
            <a:r>
              <a:rPr lang="en-US" dirty="0"/>
              <a:t>        </a:t>
            </a:r>
            <a:r>
              <a:rPr lang="en-US" dirty="0" err="1"/>
              <a:t>printf</a:t>
            </a:r>
            <a:r>
              <a:rPr lang="en-US" dirty="0"/>
              <a:t>("%d", c);</a:t>
            </a:r>
          </a:p>
          <a:p>
            <a:r>
              <a:rPr lang="en-US" dirty="0"/>
              <a:t>    return 0;</a:t>
            </a:r>
          </a:p>
          <a:p>
            <a:r>
              <a:rPr lang="en-US" dirty="0"/>
              <a:t>}</a:t>
            </a:r>
          </a:p>
        </p:txBody>
      </p:sp>
    </p:spTree>
    <p:extLst>
      <p:ext uri="{BB962C8B-B14F-4D97-AF65-F5344CB8AC3E}">
        <p14:creationId xmlns:p14="http://schemas.microsoft.com/office/powerpoint/2010/main" val="131034740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D21A6-92CB-51A9-FF3B-F96246E95F12}"/>
              </a:ext>
            </a:extLst>
          </p:cNvPr>
          <p:cNvSpPr>
            <a:spLocks noGrp="1"/>
          </p:cNvSpPr>
          <p:nvPr>
            <p:ph type="title"/>
          </p:nvPr>
        </p:nvSpPr>
        <p:spPr/>
        <p:txBody>
          <a:bodyPr>
            <a:normAutofit/>
          </a:bodyPr>
          <a:lstStyle/>
          <a:p>
            <a:pPr fontAlgn="base"/>
            <a:r>
              <a:rPr lang="en-IN" b="1" dirty="0">
                <a:effectLst/>
                <a:latin typeface="Nunito" pitchFamily="2" charset="77"/>
              </a:rPr>
              <a:t>2. Write a Program to check whether a number is prime or not.</a:t>
            </a:r>
            <a:endParaRPr lang="en-US" dirty="0"/>
          </a:p>
        </p:txBody>
      </p:sp>
      <p:sp>
        <p:nvSpPr>
          <p:cNvPr id="3" name="Content Placeholder 2">
            <a:extLst>
              <a:ext uri="{FF2B5EF4-FFF2-40B4-BE49-F238E27FC236}">
                <a16:creationId xmlns:a16="http://schemas.microsoft.com/office/drawing/2014/main" id="{0445D2A9-7014-0E98-67EC-D191CD1B9E5F}"/>
              </a:ext>
            </a:extLst>
          </p:cNvPr>
          <p:cNvSpPr>
            <a:spLocks noGrp="1"/>
          </p:cNvSpPr>
          <p:nvPr>
            <p:ph idx="1"/>
          </p:nvPr>
        </p:nvSpPr>
        <p:spPr/>
        <p:txBody>
          <a:bodyPr>
            <a:normAutofit fontScale="25000" lnSpcReduction="20000"/>
          </a:bodyPr>
          <a:lstStyle/>
          <a:p>
            <a:pPr marL="0" indent="0">
              <a:buNone/>
            </a:pPr>
            <a:r>
              <a:rPr lang="en-US" dirty="0"/>
              <a:t>                 int main() {</a:t>
            </a:r>
          </a:p>
          <a:p>
            <a:r>
              <a:rPr lang="en-US" dirty="0"/>
              <a:t>    int n = 91;</a:t>
            </a:r>
          </a:p>
          <a:p>
            <a:r>
              <a:rPr lang="en-US" dirty="0"/>
              <a:t>    int </a:t>
            </a:r>
            <a:r>
              <a:rPr lang="en-US" dirty="0" err="1"/>
              <a:t>cnt</a:t>
            </a:r>
            <a:r>
              <a:rPr lang="en-US" dirty="0"/>
              <a:t> = 0;</a:t>
            </a:r>
          </a:p>
          <a:p>
            <a:r>
              <a:rPr lang="en-US" dirty="0"/>
              <a:t>    // If number is less than/equal to 1,   // it is not prime</a:t>
            </a:r>
          </a:p>
          <a:p>
            <a:r>
              <a:rPr lang="en-US" dirty="0"/>
              <a:t>    if (n &lt;= 1)</a:t>
            </a:r>
          </a:p>
          <a:p>
            <a:r>
              <a:rPr lang="en-US" dirty="0"/>
              <a:t>        </a:t>
            </a:r>
            <a:r>
              <a:rPr lang="en-US" dirty="0" err="1"/>
              <a:t>printf</a:t>
            </a:r>
            <a:r>
              <a:rPr lang="en-US" dirty="0"/>
              <a:t>("%d is NOT prime\n", n);</a:t>
            </a:r>
          </a:p>
          <a:p>
            <a:r>
              <a:rPr lang="en-US" dirty="0"/>
              <a:t>    else {</a:t>
            </a:r>
          </a:p>
          <a:p>
            <a:r>
              <a:rPr lang="en-US" dirty="0"/>
              <a:t>        // Check for divisors from 1 to n</a:t>
            </a:r>
          </a:p>
          <a:p>
            <a:r>
              <a:rPr lang="en-US" dirty="0"/>
              <a:t>        for (int </a:t>
            </a:r>
            <a:r>
              <a:rPr lang="en-US" dirty="0" err="1"/>
              <a:t>i</a:t>
            </a:r>
            <a:r>
              <a:rPr lang="en-US" dirty="0"/>
              <a:t> = 1; </a:t>
            </a:r>
            <a:r>
              <a:rPr lang="en-US" dirty="0" err="1"/>
              <a:t>i</a:t>
            </a:r>
            <a:r>
              <a:rPr lang="en-US" dirty="0"/>
              <a:t> &lt;= n; </a:t>
            </a:r>
            <a:r>
              <a:rPr lang="en-US" dirty="0" err="1"/>
              <a:t>i</a:t>
            </a:r>
            <a:r>
              <a:rPr lang="en-US" dirty="0"/>
              <a:t>++) {</a:t>
            </a:r>
          </a:p>
          <a:p>
            <a:r>
              <a:rPr lang="en-US" dirty="0"/>
              <a:t>            // Check how many number is divisible</a:t>
            </a:r>
          </a:p>
          <a:p>
            <a:r>
              <a:rPr lang="en-US" dirty="0"/>
              <a:t>            // by n</a:t>
            </a:r>
          </a:p>
          <a:p>
            <a:r>
              <a:rPr lang="en-US" dirty="0"/>
              <a:t>            if (n % </a:t>
            </a:r>
            <a:r>
              <a:rPr lang="en-US" dirty="0" err="1"/>
              <a:t>i</a:t>
            </a:r>
            <a:r>
              <a:rPr lang="en-US" dirty="0"/>
              <a:t> == 0)</a:t>
            </a:r>
          </a:p>
          <a:p>
            <a:r>
              <a:rPr lang="en-US" dirty="0"/>
              <a:t>                </a:t>
            </a:r>
            <a:r>
              <a:rPr lang="en-US" dirty="0" err="1"/>
              <a:t>cnt</a:t>
            </a:r>
            <a:r>
              <a:rPr lang="en-US" dirty="0"/>
              <a:t>++;</a:t>
            </a:r>
          </a:p>
          <a:p>
            <a:r>
              <a:rPr lang="en-US" dirty="0"/>
              <a:t>        }</a:t>
            </a:r>
          </a:p>
          <a:p>
            <a:r>
              <a:rPr lang="en-US" dirty="0"/>
              <a:t>        // If n is divisible by more than 2 numbers</a:t>
            </a:r>
          </a:p>
          <a:p>
            <a:r>
              <a:rPr lang="en-US" dirty="0"/>
              <a:t>        // then it is not prime</a:t>
            </a:r>
          </a:p>
          <a:p>
            <a:r>
              <a:rPr lang="en-US" dirty="0"/>
              <a:t>        if (</a:t>
            </a:r>
            <a:r>
              <a:rPr lang="en-US" dirty="0" err="1"/>
              <a:t>cnt</a:t>
            </a:r>
            <a:r>
              <a:rPr lang="en-US" dirty="0"/>
              <a:t> &gt; 2)</a:t>
            </a:r>
          </a:p>
          <a:p>
            <a:r>
              <a:rPr lang="en-US" dirty="0"/>
              <a:t>            </a:t>
            </a:r>
            <a:r>
              <a:rPr lang="en-US" dirty="0" err="1"/>
              <a:t>printf</a:t>
            </a:r>
            <a:r>
              <a:rPr lang="en-US" dirty="0"/>
              <a:t>("%d is NOT prime\n", n);</a:t>
            </a:r>
          </a:p>
          <a:p>
            <a:r>
              <a:rPr lang="en-US" dirty="0"/>
              <a:t>        // else it is prime</a:t>
            </a:r>
          </a:p>
          <a:p>
            <a:r>
              <a:rPr lang="en-US" dirty="0"/>
              <a:t>        else</a:t>
            </a:r>
          </a:p>
          <a:p>
            <a:r>
              <a:rPr lang="en-US" dirty="0"/>
              <a:t>            </a:t>
            </a:r>
            <a:r>
              <a:rPr lang="en-US" dirty="0" err="1"/>
              <a:t>printf</a:t>
            </a:r>
            <a:r>
              <a:rPr lang="en-US" dirty="0"/>
              <a:t>("%d is prime", n);</a:t>
            </a:r>
          </a:p>
          <a:p>
            <a:r>
              <a:rPr lang="en-US" dirty="0"/>
              <a:t>    }</a:t>
            </a:r>
          </a:p>
          <a:p>
            <a:r>
              <a:rPr lang="en-US" dirty="0"/>
              <a:t>    return 0;</a:t>
            </a:r>
          </a:p>
          <a:p>
            <a:r>
              <a:rPr lang="en-US" dirty="0"/>
              <a:t>}</a:t>
            </a:r>
          </a:p>
        </p:txBody>
      </p:sp>
    </p:spTree>
    <p:extLst>
      <p:ext uri="{BB962C8B-B14F-4D97-AF65-F5344CB8AC3E}">
        <p14:creationId xmlns:p14="http://schemas.microsoft.com/office/powerpoint/2010/main" val="56116248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244F3-DB55-14F5-4E86-392CF9F67D76}"/>
              </a:ext>
            </a:extLst>
          </p:cNvPr>
          <p:cNvSpPr>
            <a:spLocks noGrp="1"/>
          </p:cNvSpPr>
          <p:nvPr>
            <p:ph type="title"/>
          </p:nvPr>
        </p:nvSpPr>
        <p:spPr/>
        <p:txBody>
          <a:bodyPr>
            <a:normAutofit fontScale="90000"/>
          </a:bodyPr>
          <a:lstStyle/>
          <a:p>
            <a:pPr fontAlgn="base"/>
            <a:r>
              <a:rPr lang="en-IN" b="1" dirty="0">
                <a:effectLst/>
                <a:latin typeface="Nunito" pitchFamily="2" charset="77"/>
              </a:rPr>
              <a:t>4. Write a Program in C to Swap the values of two variables without using any extra variable.</a:t>
            </a:r>
            <a:endParaRPr lang="en-US" dirty="0"/>
          </a:p>
        </p:txBody>
      </p:sp>
      <p:sp>
        <p:nvSpPr>
          <p:cNvPr id="3" name="Content Placeholder 2">
            <a:extLst>
              <a:ext uri="{FF2B5EF4-FFF2-40B4-BE49-F238E27FC236}">
                <a16:creationId xmlns:a16="http://schemas.microsoft.com/office/drawing/2014/main" id="{380D6974-5E07-F077-03E3-B40B69C39A47}"/>
              </a:ext>
            </a:extLst>
          </p:cNvPr>
          <p:cNvSpPr>
            <a:spLocks noGrp="1"/>
          </p:cNvSpPr>
          <p:nvPr>
            <p:ph idx="1"/>
          </p:nvPr>
        </p:nvSpPr>
        <p:spPr/>
        <p:txBody>
          <a:bodyPr>
            <a:normAutofit fontScale="55000" lnSpcReduction="20000"/>
          </a:bodyPr>
          <a:lstStyle/>
          <a:p>
            <a:r>
              <a:rPr lang="en-US" dirty="0"/>
              <a:t>#include &lt;</a:t>
            </a:r>
            <a:r>
              <a:rPr lang="en-US" dirty="0" err="1"/>
              <a:t>stdio.h</a:t>
            </a:r>
            <a:r>
              <a:rPr lang="en-US" dirty="0"/>
              <a:t>&gt;</a:t>
            </a:r>
          </a:p>
          <a:p>
            <a:r>
              <a:rPr lang="en-US" dirty="0"/>
              <a:t>int main()</a:t>
            </a:r>
          </a:p>
          <a:p>
            <a:r>
              <a:rPr lang="en-US" dirty="0"/>
              <a:t>{</a:t>
            </a:r>
          </a:p>
          <a:p>
            <a:r>
              <a:rPr lang="en-US" dirty="0"/>
              <a:t>    int x = 10;</a:t>
            </a:r>
          </a:p>
          <a:p>
            <a:r>
              <a:rPr lang="en-US" dirty="0"/>
              <a:t>    int y = 20;</a:t>
            </a:r>
          </a:p>
          <a:p>
            <a:r>
              <a:rPr lang="en-US" dirty="0"/>
              <a:t>    </a:t>
            </a:r>
            <a:r>
              <a:rPr lang="en-US" dirty="0" err="1"/>
              <a:t>printf</a:t>
            </a:r>
            <a:r>
              <a:rPr lang="en-US" dirty="0"/>
              <a:t>("x: %d , y: %d\n", x, y);</a:t>
            </a:r>
          </a:p>
          <a:p>
            <a:r>
              <a:rPr lang="en-US" dirty="0"/>
              <a:t>    // x hold 30</a:t>
            </a:r>
          </a:p>
          <a:p>
            <a:r>
              <a:rPr lang="en-US" dirty="0"/>
              <a:t>    x = x + y;</a:t>
            </a:r>
          </a:p>
          <a:p>
            <a:r>
              <a:rPr lang="en-US" dirty="0"/>
              <a:t>    // y hold 10</a:t>
            </a:r>
          </a:p>
          <a:p>
            <a:r>
              <a:rPr lang="en-US" dirty="0"/>
              <a:t>    y = x - y;</a:t>
            </a:r>
          </a:p>
          <a:p>
            <a:r>
              <a:rPr lang="en-US" dirty="0"/>
              <a:t>    // Now, x hold 20</a:t>
            </a:r>
          </a:p>
          <a:p>
            <a:r>
              <a:rPr lang="en-US" dirty="0"/>
              <a:t>    x = x - y;</a:t>
            </a:r>
          </a:p>
          <a:p>
            <a:r>
              <a:rPr lang="en-US" dirty="0"/>
              <a:t>    </a:t>
            </a:r>
            <a:r>
              <a:rPr lang="en-US" dirty="0" err="1"/>
              <a:t>printf</a:t>
            </a:r>
            <a:r>
              <a:rPr lang="en-US" dirty="0"/>
              <a:t>("x: %d , y: %d\n", x, y);</a:t>
            </a:r>
          </a:p>
          <a:p>
            <a:r>
              <a:rPr lang="en-US" dirty="0"/>
              <a:t>    return 0;</a:t>
            </a:r>
          </a:p>
          <a:p>
            <a:r>
              <a:rPr lang="en-US" dirty="0"/>
              <a:t>}</a:t>
            </a:r>
          </a:p>
        </p:txBody>
      </p:sp>
    </p:spTree>
    <p:extLst>
      <p:ext uri="{BB962C8B-B14F-4D97-AF65-F5344CB8AC3E}">
        <p14:creationId xmlns:p14="http://schemas.microsoft.com/office/powerpoint/2010/main" val="128021862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CB2DB-9929-1A3C-1F9A-4D9D04586BDA}"/>
              </a:ext>
            </a:extLst>
          </p:cNvPr>
          <p:cNvSpPr>
            <a:spLocks noGrp="1"/>
          </p:cNvSpPr>
          <p:nvPr>
            <p:ph type="title"/>
          </p:nvPr>
        </p:nvSpPr>
        <p:spPr/>
        <p:txBody>
          <a:bodyPr>
            <a:normAutofit/>
          </a:bodyPr>
          <a:lstStyle/>
          <a:p>
            <a:pPr fontAlgn="base"/>
            <a:r>
              <a:rPr lang="en-IN" b="1" dirty="0">
                <a:effectLst/>
                <a:latin typeface="Nunito" pitchFamily="2" charset="77"/>
              </a:rPr>
              <a:t>5. Write a Program to Replace all 0’s with 1’s in a Number.</a:t>
            </a:r>
            <a:endParaRPr lang="en-US" dirty="0"/>
          </a:p>
        </p:txBody>
      </p:sp>
      <p:sp>
        <p:nvSpPr>
          <p:cNvPr id="3" name="Content Placeholder 2">
            <a:extLst>
              <a:ext uri="{FF2B5EF4-FFF2-40B4-BE49-F238E27FC236}">
                <a16:creationId xmlns:a16="http://schemas.microsoft.com/office/drawing/2014/main" id="{1B73CF5B-A10F-75B0-CFB7-6AB9D0ACE701}"/>
              </a:ext>
            </a:extLst>
          </p:cNvPr>
          <p:cNvSpPr>
            <a:spLocks noGrp="1"/>
          </p:cNvSpPr>
          <p:nvPr>
            <p:ph idx="1"/>
          </p:nvPr>
        </p:nvSpPr>
        <p:spPr/>
        <p:txBody>
          <a:bodyPr>
            <a:normAutofit fontScale="40000" lnSpcReduction="20000"/>
          </a:bodyPr>
          <a:lstStyle/>
          <a:p>
            <a:r>
              <a:rPr lang="en-US" dirty="0"/>
              <a:t>int main()</a:t>
            </a:r>
          </a:p>
          <a:p>
            <a:r>
              <a:rPr lang="en-US" dirty="0"/>
              <a:t>{</a:t>
            </a:r>
          </a:p>
          <a:p>
            <a:r>
              <a:rPr lang="en-US" dirty="0"/>
              <a:t>    int N = 102301;</a:t>
            </a:r>
          </a:p>
          <a:p>
            <a:r>
              <a:rPr lang="en-US" dirty="0"/>
              <a:t>    int </a:t>
            </a:r>
            <a:r>
              <a:rPr lang="en-US" dirty="0" err="1"/>
              <a:t>ans</a:t>
            </a:r>
            <a:r>
              <a:rPr lang="en-US" dirty="0"/>
              <a:t> = 0;</a:t>
            </a:r>
          </a:p>
          <a:p>
            <a:r>
              <a:rPr lang="en-US" dirty="0"/>
              <a:t>    int </a:t>
            </a:r>
            <a:r>
              <a:rPr lang="en-US" dirty="0" err="1"/>
              <a:t>i</a:t>
            </a:r>
            <a:r>
              <a:rPr lang="en-US" dirty="0"/>
              <a:t> = 0;</a:t>
            </a:r>
          </a:p>
          <a:p>
            <a:r>
              <a:rPr lang="en-US" dirty="0"/>
              <a:t>    while (N != 0) {</a:t>
            </a:r>
          </a:p>
          <a:p>
            <a:r>
              <a:rPr lang="en-US" dirty="0"/>
              <a:t>        // Condition to change value</a:t>
            </a:r>
          </a:p>
          <a:p>
            <a:r>
              <a:rPr lang="en-US" dirty="0"/>
              <a:t>        if (N % 10 == 0)</a:t>
            </a:r>
          </a:p>
          <a:p>
            <a:r>
              <a:rPr lang="en-US" dirty="0"/>
              <a:t>            </a:t>
            </a:r>
            <a:r>
              <a:rPr lang="en-US" dirty="0" err="1"/>
              <a:t>ans</a:t>
            </a:r>
            <a:r>
              <a:rPr lang="en-US" dirty="0"/>
              <a:t> = </a:t>
            </a:r>
            <a:r>
              <a:rPr lang="en-US" dirty="0" err="1"/>
              <a:t>ans</a:t>
            </a:r>
            <a:r>
              <a:rPr lang="en-US" dirty="0"/>
              <a:t> + 1 * pow(10, </a:t>
            </a:r>
            <a:r>
              <a:rPr lang="en-US" dirty="0" err="1"/>
              <a:t>i</a:t>
            </a:r>
            <a:r>
              <a:rPr lang="en-US" dirty="0"/>
              <a:t>);</a:t>
            </a:r>
          </a:p>
          <a:p>
            <a:r>
              <a:rPr lang="en-US" dirty="0"/>
              <a:t>        else</a:t>
            </a:r>
          </a:p>
          <a:p>
            <a:r>
              <a:rPr lang="en-US" dirty="0"/>
              <a:t>            </a:t>
            </a:r>
            <a:r>
              <a:rPr lang="en-US" dirty="0" err="1"/>
              <a:t>ans</a:t>
            </a:r>
            <a:r>
              <a:rPr lang="en-US" dirty="0"/>
              <a:t> = </a:t>
            </a:r>
            <a:r>
              <a:rPr lang="en-US" dirty="0" err="1"/>
              <a:t>ans</a:t>
            </a:r>
            <a:r>
              <a:rPr lang="en-US" dirty="0"/>
              <a:t> + (N % 10) * pow(10, </a:t>
            </a:r>
            <a:r>
              <a:rPr lang="en-US" dirty="0" err="1"/>
              <a:t>i</a:t>
            </a:r>
            <a:r>
              <a:rPr lang="en-US" dirty="0"/>
              <a:t>);</a:t>
            </a:r>
          </a:p>
          <a:p>
            <a:r>
              <a:rPr lang="en-US" dirty="0"/>
              <a:t>        N = N / 10;</a:t>
            </a:r>
          </a:p>
          <a:p>
            <a:r>
              <a:rPr lang="en-US" dirty="0"/>
              <a:t>        </a:t>
            </a:r>
            <a:r>
              <a:rPr lang="en-US" dirty="0" err="1"/>
              <a:t>i</a:t>
            </a:r>
            <a:r>
              <a:rPr lang="en-US" dirty="0"/>
              <a:t>++;</a:t>
            </a:r>
          </a:p>
          <a:p>
            <a:r>
              <a:rPr lang="en-US" dirty="0"/>
              <a:t>    }</a:t>
            </a:r>
          </a:p>
          <a:p>
            <a:r>
              <a:rPr lang="en-US" dirty="0"/>
              <a:t>    </a:t>
            </a:r>
            <a:r>
              <a:rPr lang="en-US" dirty="0" err="1"/>
              <a:t>printf</a:t>
            </a:r>
            <a:r>
              <a:rPr lang="en-US" dirty="0"/>
              <a:t>("%d", </a:t>
            </a:r>
            <a:r>
              <a:rPr lang="en-US" dirty="0" err="1"/>
              <a:t>ans</a:t>
            </a:r>
            <a:r>
              <a:rPr lang="en-US" dirty="0"/>
              <a:t>);</a:t>
            </a:r>
          </a:p>
          <a:p>
            <a:r>
              <a:rPr lang="en-US" dirty="0"/>
              <a:t>    return 0;</a:t>
            </a:r>
          </a:p>
          <a:p>
            <a:r>
              <a:rPr lang="en-US" dirty="0"/>
              <a:t>}</a:t>
            </a:r>
          </a:p>
        </p:txBody>
      </p:sp>
    </p:spTree>
    <p:extLst>
      <p:ext uri="{BB962C8B-B14F-4D97-AF65-F5344CB8AC3E}">
        <p14:creationId xmlns:p14="http://schemas.microsoft.com/office/powerpoint/2010/main" val="114676640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57344-23CB-AFB1-5C27-99D0FBC1E58A}"/>
              </a:ext>
            </a:extLst>
          </p:cNvPr>
          <p:cNvSpPr>
            <a:spLocks noGrp="1"/>
          </p:cNvSpPr>
          <p:nvPr>
            <p:ph type="title"/>
          </p:nvPr>
        </p:nvSpPr>
        <p:spPr/>
        <p:txBody>
          <a:bodyPr>
            <a:normAutofit/>
          </a:bodyPr>
          <a:lstStyle/>
          <a:p>
            <a:pPr fontAlgn="base"/>
            <a:r>
              <a:rPr lang="en-IN" b="1" dirty="0">
                <a:effectLst/>
                <a:latin typeface="Nunito" pitchFamily="2" charset="77"/>
              </a:rPr>
              <a:t>6. Write a Program to convert the binary number into a decimal number.</a:t>
            </a:r>
            <a:endParaRPr lang="en-US" dirty="0"/>
          </a:p>
        </p:txBody>
      </p:sp>
      <p:sp>
        <p:nvSpPr>
          <p:cNvPr id="3" name="Content Placeholder 2">
            <a:extLst>
              <a:ext uri="{FF2B5EF4-FFF2-40B4-BE49-F238E27FC236}">
                <a16:creationId xmlns:a16="http://schemas.microsoft.com/office/drawing/2014/main" id="{70E94370-0E61-CD3E-C930-48EF46746858}"/>
              </a:ext>
            </a:extLst>
          </p:cNvPr>
          <p:cNvSpPr>
            <a:spLocks noGrp="1"/>
          </p:cNvSpPr>
          <p:nvPr>
            <p:ph idx="1"/>
          </p:nvPr>
        </p:nvSpPr>
        <p:spPr/>
        <p:txBody>
          <a:bodyPr>
            <a:normAutofit fontScale="25000" lnSpcReduction="20000"/>
          </a:bodyPr>
          <a:lstStyle/>
          <a:p>
            <a:r>
              <a:rPr lang="en-US" dirty="0"/>
              <a:t>// C Program for converting</a:t>
            </a:r>
          </a:p>
          <a:p>
            <a:r>
              <a:rPr lang="en-US" dirty="0"/>
              <a:t>// binary to decimal</a:t>
            </a:r>
          </a:p>
          <a:p>
            <a:r>
              <a:rPr lang="en-US" dirty="0"/>
              <a:t>#include &lt;</a:t>
            </a:r>
            <a:r>
              <a:rPr lang="en-US" dirty="0" err="1"/>
              <a:t>stdio.h</a:t>
            </a:r>
            <a:r>
              <a:rPr lang="en-US" dirty="0"/>
              <a:t>&gt;</a:t>
            </a:r>
          </a:p>
          <a:p>
            <a:endParaRPr lang="en-US" dirty="0"/>
          </a:p>
          <a:p>
            <a:r>
              <a:rPr lang="en-US" dirty="0"/>
              <a:t>int main()</a:t>
            </a:r>
          </a:p>
          <a:p>
            <a:r>
              <a:rPr lang="en-US" dirty="0"/>
              <a:t>{</a:t>
            </a:r>
          </a:p>
          <a:p>
            <a:r>
              <a:rPr lang="en-US" dirty="0"/>
              <a:t>    int N = 11011;</a:t>
            </a:r>
          </a:p>
          <a:p>
            <a:endParaRPr lang="en-US" dirty="0"/>
          </a:p>
          <a:p>
            <a:r>
              <a:rPr lang="en-US" dirty="0"/>
              <a:t>    // Initializing base value a to 1</a:t>
            </a:r>
          </a:p>
          <a:p>
            <a:r>
              <a:rPr lang="en-US" dirty="0"/>
              <a:t>    int a = 1;</a:t>
            </a:r>
          </a:p>
          <a:p>
            <a:r>
              <a:rPr lang="en-US" dirty="0"/>
              <a:t>    int </a:t>
            </a:r>
            <a:r>
              <a:rPr lang="en-US" dirty="0" err="1"/>
              <a:t>ans</a:t>
            </a:r>
            <a:r>
              <a:rPr lang="en-US" dirty="0"/>
              <a:t> = 0;</a:t>
            </a:r>
          </a:p>
          <a:p>
            <a:r>
              <a:rPr lang="en-US" dirty="0"/>
              <a:t>    while (N != 0) {</a:t>
            </a:r>
          </a:p>
          <a:p>
            <a:r>
              <a:rPr lang="en-US" dirty="0"/>
              <a:t>        </a:t>
            </a:r>
            <a:r>
              <a:rPr lang="en-US" dirty="0" err="1"/>
              <a:t>ans</a:t>
            </a:r>
            <a:r>
              <a:rPr lang="en-US" dirty="0"/>
              <a:t> = </a:t>
            </a:r>
            <a:r>
              <a:rPr lang="en-US" dirty="0" err="1"/>
              <a:t>ans</a:t>
            </a:r>
            <a:r>
              <a:rPr lang="en-US" dirty="0"/>
              <a:t> + (N % 10) * a;</a:t>
            </a:r>
          </a:p>
          <a:p>
            <a:r>
              <a:rPr lang="en-US" dirty="0"/>
              <a:t>        N = N / 10;</a:t>
            </a:r>
          </a:p>
          <a:p>
            <a:r>
              <a:rPr lang="en-US" dirty="0"/>
              <a:t>        a = a * 2;</a:t>
            </a:r>
          </a:p>
          <a:p>
            <a:r>
              <a:rPr lang="en-US" dirty="0"/>
              <a:t>    }</a:t>
            </a:r>
          </a:p>
          <a:p>
            <a:endParaRPr lang="en-US" dirty="0"/>
          </a:p>
          <a:p>
            <a:r>
              <a:rPr lang="en-US" dirty="0"/>
              <a:t>    </a:t>
            </a:r>
            <a:r>
              <a:rPr lang="en-US" dirty="0" err="1"/>
              <a:t>printf</a:t>
            </a:r>
            <a:r>
              <a:rPr lang="en-US" dirty="0"/>
              <a:t>("%d", </a:t>
            </a:r>
            <a:r>
              <a:rPr lang="en-US" dirty="0" err="1"/>
              <a:t>ans</a:t>
            </a:r>
            <a:r>
              <a:rPr lang="en-US" dirty="0"/>
              <a:t>);</a:t>
            </a:r>
          </a:p>
          <a:p>
            <a:r>
              <a:rPr lang="en-US" dirty="0"/>
              <a:t>    return 0;</a:t>
            </a:r>
          </a:p>
          <a:p>
            <a:r>
              <a:rPr lang="en-US" dirty="0"/>
              <a:t>}</a:t>
            </a:r>
          </a:p>
        </p:txBody>
      </p:sp>
    </p:spTree>
    <p:extLst>
      <p:ext uri="{BB962C8B-B14F-4D97-AF65-F5344CB8AC3E}">
        <p14:creationId xmlns:p14="http://schemas.microsoft.com/office/powerpoint/2010/main" val="59145630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53864-17B5-E772-D637-34302700C2BE}"/>
              </a:ext>
            </a:extLst>
          </p:cNvPr>
          <p:cNvSpPr>
            <a:spLocks noGrp="1"/>
          </p:cNvSpPr>
          <p:nvPr>
            <p:ph type="title"/>
          </p:nvPr>
        </p:nvSpPr>
        <p:spPr/>
        <p:txBody>
          <a:bodyPr>
            <a:normAutofit/>
          </a:bodyPr>
          <a:lstStyle/>
          <a:p>
            <a:pPr fontAlgn="base"/>
            <a:r>
              <a:rPr lang="en-IN" b="1" dirty="0">
                <a:effectLst/>
                <a:latin typeface="Nunito" pitchFamily="2" charset="77"/>
              </a:rPr>
              <a:t>7.  Write a Program to check if the year is a leap year or not.</a:t>
            </a:r>
            <a:endParaRPr lang="en-US" dirty="0"/>
          </a:p>
        </p:txBody>
      </p:sp>
      <p:sp>
        <p:nvSpPr>
          <p:cNvPr id="3" name="Content Placeholder 2">
            <a:extLst>
              <a:ext uri="{FF2B5EF4-FFF2-40B4-BE49-F238E27FC236}">
                <a16:creationId xmlns:a16="http://schemas.microsoft.com/office/drawing/2014/main" id="{4A837031-92B6-1673-4646-DEAC68C724DC}"/>
              </a:ext>
            </a:extLst>
          </p:cNvPr>
          <p:cNvSpPr>
            <a:spLocks noGrp="1"/>
          </p:cNvSpPr>
          <p:nvPr>
            <p:ph idx="1"/>
          </p:nvPr>
        </p:nvSpPr>
        <p:spPr>
          <a:xfrm>
            <a:off x="838200" y="1825625"/>
            <a:ext cx="5257800" cy="4351338"/>
          </a:xfrm>
        </p:spPr>
        <p:txBody>
          <a:bodyPr>
            <a:normAutofit fontScale="32500" lnSpcReduction="20000"/>
          </a:bodyPr>
          <a:lstStyle/>
          <a:p>
            <a:r>
              <a:rPr lang="en-US" dirty="0"/>
              <a:t>// C Program to check</a:t>
            </a:r>
          </a:p>
          <a:p>
            <a:r>
              <a:rPr lang="en-US" dirty="0"/>
              <a:t>// Year is leap year or not</a:t>
            </a:r>
          </a:p>
          <a:p>
            <a:r>
              <a:rPr lang="en-US" dirty="0"/>
              <a:t>#include &lt;</a:t>
            </a:r>
            <a:r>
              <a:rPr lang="en-US" dirty="0" err="1"/>
              <a:t>stdio.h</a:t>
            </a:r>
            <a:r>
              <a:rPr lang="en-US" dirty="0"/>
              <a:t>&gt;</a:t>
            </a:r>
          </a:p>
          <a:p>
            <a:endParaRPr lang="en-US" dirty="0"/>
          </a:p>
          <a:p>
            <a:r>
              <a:rPr lang="en-US" dirty="0"/>
              <a:t>// Function Declaration to check leap year</a:t>
            </a:r>
          </a:p>
          <a:p>
            <a:r>
              <a:rPr lang="en-US" dirty="0"/>
              <a:t>void </a:t>
            </a:r>
            <a:r>
              <a:rPr lang="en-US" dirty="0" err="1"/>
              <a:t>leap_year</a:t>
            </a:r>
            <a:r>
              <a:rPr lang="en-US" dirty="0"/>
              <a:t>(int year)</a:t>
            </a:r>
          </a:p>
          <a:p>
            <a:r>
              <a:rPr lang="en-US" dirty="0"/>
              <a:t>{</a:t>
            </a:r>
          </a:p>
          <a:p>
            <a:r>
              <a:rPr lang="en-US" dirty="0"/>
              <a:t>    // If a year is multiple of 400, then leap year</a:t>
            </a:r>
          </a:p>
          <a:p>
            <a:r>
              <a:rPr lang="en-US" dirty="0"/>
              <a:t>    if (year % 400 == 0)</a:t>
            </a:r>
          </a:p>
          <a:p>
            <a:r>
              <a:rPr lang="en-US" dirty="0"/>
              <a:t>        </a:t>
            </a:r>
            <a:r>
              <a:rPr lang="en-US" dirty="0" err="1"/>
              <a:t>printf</a:t>
            </a:r>
            <a:r>
              <a:rPr lang="en-US" dirty="0"/>
              <a:t>("%d is a leap year.\n", year);</a:t>
            </a:r>
          </a:p>
          <a:p>
            <a:endParaRPr lang="en-US" dirty="0"/>
          </a:p>
          <a:p>
            <a:r>
              <a:rPr lang="en-US" dirty="0"/>
              <a:t>    // If a year is multiple of 100, then not a leap year</a:t>
            </a:r>
          </a:p>
          <a:p>
            <a:r>
              <a:rPr lang="en-US" dirty="0"/>
              <a:t>    else if (year % 100 == 0)</a:t>
            </a:r>
          </a:p>
          <a:p>
            <a:r>
              <a:rPr lang="en-US" dirty="0"/>
              <a:t>        </a:t>
            </a:r>
            <a:r>
              <a:rPr lang="en-US" dirty="0" err="1"/>
              <a:t>printf</a:t>
            </a:r>
            <a:r>
              <a:rPr lang="en-US" dirty="0"/>
              <a:t>("%d is not a leap year.\n", year);</a:t>
            </a:r>
          </a:p>
          <a:p>
            <a:endParaRPr lang="en-US" dirty="0"/>
          </a:p>
          <a:p>
            <a:r>
              <a:rPr lang="en-US" dirty="0"/>
              <a:t>    // If a year is multiple of 4, then leap year</a:t>
            </a:r>
          </a:p>
          <a:p>
            <a:r>
              <a:rPr lang="en-US" dirty="0"/>
              <a:t>    else if (year % 4 == 0)</a:t>
            </a:r>
          </a:p>
          <a:p>
            <a:r>
              <a:rPr lang="en-US" dirty="0"/>
              <a:t>        </a:t>
            </a:r>
            <a:r>
              <a:rPr lang="en-US" dirty="0" err="1"/>
              <a:t>printf</a:t>
            </a:r>
            <a:r>
              <a:rPr lang="en-US" dirty="0"/>
              <a:t>("%d is a leap year.\n", year);</a:t>
            </a:r>
          </a:p>
        </p:txBody>
      </p:sp>
      <p:sp>
        <p:nvSpPr>
          <p:cNvPr id="4" name="Content Placeholder 2">
            <a:extLst>
              <a:ext uri="{FF2B5EF4-FFF2-40B4-BE49-F238E27FC236}">
                <a16:creationId xmlns:a16="http://schemas.microsoft.com/office/drawing/2014/main" id="{D5FEAD5A-C96B-4B04-3FDC-9D63AC8C232C}"/>
              </a:ext>
            </a:extLst>
          </p:cNvPr>
          <p:cNvSpPr txBox="1">
            <a:spLocks/>
          </p:cNvSpPr>
          <p:nvPr/>
        </p:nvSpPr>
        <p:spPr>
          <a:xfrm>
            <a:off x="6096000" y="1824538"/>
            <a:ext cx="5257800" cy="4351338"/>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a:p>
            <a:r>
              <a:rPr lang="en-US" dirty="0"/>
              <a:t>// Not leap year</a:t>
            </a:r>
          </a:p>
          <a:p>
            <a:r>
              <a:rPr lang="en-US" dirty="0"/>
              <a:t>    else</a:t>
            </a:r>
          </a:p>
          <a:p>
            <a:r>
              <a:rPr lang="en-US" dirty="0"/>
              <a:t>        </a:t>
            </a:r>
            <a:r>
              <a:rPr lang="en-US" dirty="0" err="1"/>
              <a:t>printf</a:t>
            </a:r>
            <a:r>
              <a:rPr lang="en-US" dirty="0"/>
              <a:t>("%d is not a leap year.\n", year);</a:t>
            </a:r>
          </a:p>
          <a:p>
            <a:r>
              <a:rPr lang="en-US" dirty="0"/>
              <a:t>}</a:t>
            </a:r>
          </a:p>
          <a:p>
            <a:endParaRPr lang="en-US" dirty="0"/>
          </a:p>
          <a:p>
            <a:r>
              <a:rPr lang="en-US" dirty="0"/>
              <a:t>int main()</a:t>
            </a:r>
          </a:p>
          <a:p>
            <a:r>
              <a:rPr lang="en-US" dirty="0"/>
              <a:t>{</a:t>
            </a:r>
          </a:p>
          <a:p>
            <a:r>
              <a:rPr lang="en-US" dirty="0"/>
              <a:t>    </a:t>
            </a:r>
            <a:r>
              <a:rPr lang="en-US" dirty="0" err="1"/>
              <a:t>leap_year</a:t>
            </a:r>
            <a:r>
              <a:rPr lang="en-US" dirty="0"/>
              <a:t>(2000);</a:t>
            </a:r>
          </a:p>
          <a:p>
            <a:r>
              <a:rPr lang="en-US" dirty="0"/>
              <a:t>    </a:t>
            </a:r>
            <a:r>
              <a:rPr lang="en-US" dirty="0" err="1"/>
              <a:t>leap_year</a:t>
            </a:r>
            <a:r>
              <a:rPr lang="en-US" dirty="0"/>
              <a:t>(2002);</a:t>
            </a:r>
          </a:p>
          <a:p>
            <a:r>
              <a:rPr lang="en-US" dirty="0"/>
              <a:t>    </a:t>
            </a:r>
            <a:r>
              <a:rPr lang="en-US" dirty="0" err="1"/>
              <a:t>leap_year</a:t>
            </a:r>
            <a:r>
              <a:rPr lang="en-US" dirty="0"/>
              <a:t>(2008);</a:t>
            </a:r>
          </a:p>
          <a:p>
            <a:endParaRPr lang="en-US" dirty="0"/>
          </a:p>
          <a:p>
            <a:r>
              <a:rPr lang="en-US" dirty="0"/>
              <a:t>    return 0;</a:t>
            </a:r>
          </a:p>
          <a:p>
            <a:r>
              <a:rPr lang="en-US" dirty="0"/>
              <a:t>}</a:t>
            </a:r>
          </a:p>
        </p:txBody>
      </p:sp>
    </p:spTree>
    <p:extLst>
      <p:ext uri="{BB962C8B-B14F-4D97-AF65-F5344CB8AC3E}">
        <p14:creationId xmlns:p14="http://schemas.microsoft.com/office/powerpoint/2010/main" val="380702526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F0C61-1316-085A-BF82-DACCE35824E1}"/>
              </a:ext>
            </a:extLst>
          </p:cNvPr>
          <p:cNvSpPr>
            <a:spLocks noGrp="1"/>
          </p:cNvSpPr>
          <p:nvPr>
            <p:ph type="title"/>
          </p:nvPr>
        </p:nvSpPr>
        <p:spPr/>
        <p:txBody>
          <a:bodyPr>
            <a:normAutofit/>
          </a:bodyPr>
          <a:lstStyle/>
          <a:p>
            <a:pPr fontAlgn="base"/>
            <a:r>
              <a:rPr lang="en-IN" b="1" dirty="0">
                <a:effectLst/>
                <a:latin typeface="Nunito" pitchFamily="2" charset="77"/>
              </a:rPr>
              <a:t>8. Write a program to Factorial of a Number.</a:t>
            </a:r>
            <a:endParaRPr lang="en-US" dirty="0"/>
          </a:p>
        </p:txBody>
      </p:sp>
      <p:sp>
        <p:nvSpPr>
          <p:cNvPr id="3" name="Content Placeholder 2">
            <a:extLst>
              <a:ext uri="{FF2B5EF4-FFF2-40B4-BE49-F238E27FC236}">
                <a16:creationId xmlns:a16="http://schemas.microsoft.com/office/drawing/2014/main" id="{CBAC9AB2-E27C-A6A0-3770-EA695A4AF354}"/>
              </a:ext>
            </a:extLst>
          </p:cNvPr>
          <p:cNvSpPr>
            <a:spLocks noGrp="1"/>
          </p:cNvSpPr>
          <p:nvPr>
            <p:ph idx="1"/>
          </p:nvPr>
        </p:nvSpPr>
        <p:spPr>
          <a:xfrm>
            <a:off x="838200" y="1825625"/>
            <a:ext cx="5257800" cy="4351338"/>
          </a:xfrm>
        </p:spPr>
        <p:txBody>
          <a:bodyPr>
            <a:normAutofit fontScale="92500" lnSpcReduction="10000"/>
          </a:bodyPr>
          <a:lstStyle/>
          <a:p>
            <a:r>
              <a:rPr lang="en-US" dirty="0"/>
              <a:t>void </a:t>
            </a:r>
            <a:r>
              <a:rPr lang="en-US" dirty="0" err="1"/>
              <a:t>factorial_iteration</a:t>
            </a:r>
            <a:r>
              <a:rPr lang="en-US" dirty="0"/>
              <a:t>(int N)</a:t>
            </a:r>
          </a:p>
          <a:p>
            <a:r>
              <a:rPr lang="en-US" dirty="0"/>
              <a:t>{</a:t>
            </a:r>
          </a:p>
          <a:p>
            <a:r>
              <a:rPr lang="en-US" dirty="0"/>
              <a:t>    unsigned long long int </a:t>
            </a:r>
            <a:r>
              <a:rPr lang="en-US" dirty="0" err="1"/>
              <a:t>ans</a:t>
            </a:r>
            <a:r>
              <a:rPr lang="en-US" dirty="0"/>
              <a:t> = 1;</a:t>
            </a:r>
          </a:p>
          <a:p>
            <a:r>
              <a:rPr lang="en-US" dirty="0"/>
              <a:t>    for (int </a:t>
            </a:r>
            <a:r>
              <a:rPr lang="en-US" dirty="0" err="1"/>
              <a:t>i</a:t>
            </a:r>
            <a:r>
              <a:rPr lang="en-US" dirty="0"/>
              <a:t> = 1; </a:t>
            </a:r>
            <a:r>
              <a:rPr lang="en-US" dirty="0" err="1"/>
              <a:t>i</a:t>
            </a:r>
            <a:r>
              <a:rPr lang="en-US" dirty="0"/>
              <a:t> &lt;= N; </a:t>
            </a:r>
            <a:r>
              <a:rPr lang="en-US" dirty="0" err="1"/>
              <a:t>i</a:t>
            </a:r>
            <a:r>
              <a:rPr lang="en-US" dirty="0"/>
              <a:t>++) {</a:t>
            </a:r>
          </a:p>
          <a:p>
            <a:r>
              <a:rPr lang="en-US" dirty="0"/>
              <a:t>        </a:t>
            </a:r>
            <a:r>
              <a:rPr lang="en-US" dirty="0" err="1"/>
              <a:t>ans</a:t>
            </a:r>
            <a:r>
              <a:rPr lang="en-US" dirty="0"/>
              <a:t> = </a:t>
            </a:r>
            <a:r>
              <a:rPr lang="en-US" dirty="0" err="1"/>
              <a:t>ans</a:t>
            </a:r>
            <a:r>
              <a:rPr lang="en-US" dirty="0"/>
              <a:t> * </a:t>
            </a:r>
            <a:r>
              <a:rPr lang="en-US" dirty="0" err="1"/>
              <a:t>i</a:t>
            </a:r>
            <a:r>
              <a:rPr lang="en-US" dirty="0"/>
              <a:t>;</a:t>
            </a:r>
          </a:p>
          <a:p>
            <a:r>
              <a:rPr lang="en-US" dirty="0"/>
              <a:t>    }</a:t>
            </a:r>
          </a:p>
          <a:p>
            <a:endParaRPr lang="en-US" dirty="0"/>
          </a:p>
          <a:p>
            <a:r>
              <a:rPr lang="en-US" dirty="0"/>
              <a:t>    </a:t>
            </a:r>
            <a:r>
              <a:rPr lang="en-US" dirty="0" err="1"/>
              <a:t>printf</a:t>
            </a:r>
            <a:r>
              <a:rPr lang="en-US" dirty="0"/>
              <a:t>("Factorial of %d is %</a:t>
            </a:r>
            <a:r>
              <a:rPr lang="en-US" dirty="0" err="1"/>
              <a:t>lld</a:t>
            </a:r>
            <a:r>
              <a:rPr lang="en-US" dirty="0"/>
              <a:t>\n", N, </a:t>
            </a:r>
            <a:r>
              <a:rPr lang="en-US" dirty="0" err="1"/>
              <a:t>ans</a:t>
            </a:r>
            <a:r>
              <a:rPr lang="en-US" dirty="0"/>
              <a:t>);</a:t>
            </a:r>
          </a:p>
          <a:p>
            <a:r>
              <a:rPr lang="en-US" dirty="0"/>
              <a:t>}</a:t>
            </a:r>
          </a:p>
        </p:txBody>
      </p:sp>
      <p:sp>
        <p:nvSpPr>
          <p:cNvPr id="4" name="Content Placeholder 2">
            <a:extLst>
              <a:ext uri="{FF2B5EF4-FFF2-40B4-BE49-F238E27FC236}">
                <a16:creationId xmlns:a16="http://schemas.microsoft.com/office/drawing/2014/main" id="{DE02A38D-3D32-DABE-DE7A-83112458408D}"/>
              </a:ext>
            </a:extLst>
          </p:cNvPr>
          <p:cNvSpPr txBox="1">
            <a:spLocks/>
          </p:cNvSpPr>
          <p:nvPr/>
        </p:nvSpPr>
        <p:spPr>
          <a:xfrm>
            <a:off x="6096000" y="1825625"/>
            <a:ext cx="5257800" cy="4351338"/>
          </a:xfrm>
          <a:prstGeom prst="rect">
            <a:avLst/>
          </a:prstGeom>
        </p:spPr>
        <p:txBody>
          <a:bodyPr vert="horz" lIns="91440" tIns="45720" rIns="91440" bIns="45720" rtlCol="0">
            <a:normAutofit fontScale="3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a:p>
            <a:r>
              <a:rPr lang="en-US" dirty="0"/>
              <a:t>int factorial(int N)</a:t>
            </a:r>
          </a:p>
          <a:p>
            <a:r>
              <a:rPr lang="en-US" dirty="0"/>
              <a:t>{</a:t>
            </a:r>
          </a:p>
          <a:p>
            <a:r>
              <a:rPr lang="en-US" dirty="0"/>
              <a:t>    if (N == 0)</a:t>
            </a:r>
          </a:p>
          <a:p>
            <a:r>
              <a:rPr lang="en-US" dirty="0"/>
              <a:t>        return 1;</a:t>
            </a:r>
          </a:p>
          <a:p>
            <a:r>
              <a:rPr lang="en-US" dirty="0"/>
              <a:t>    // Recursive call</a:t>
            </a:r>
          </a:p>
          <a:p>
            <a:r>
              <a:rPr lang="en-US" dirty="0"/>
              <a:t>    return N * factorial(N - 1);</a:t>
            </a:r>
          </a:p>
          <a:p>
            <a:r>
              <a:rPr lang="en-US" dirty="0"/>
              <a:t>}</a:t>
            </a:r>
          </a:p>
          <a:p>
            <a:r>
              <a:rPr lang="en-US" dirty="0"/>
              <a:t>int main()</a:t>
            </a:r>
          </a:p>
          <a:p>
            <a:r>
              <a:rPr lang="en-US" dirty="0"/>
              <a:t>{</a:t>
            </a:r>
          </a:p>
          <a:p>
            <a:r>
              <a:rPr lang="en-US" dirty="0"/>
              <a:t>    int n;</a:t>
            </a:r>
          </a:p>
          <a:p>
            <a:r>
              <a:rPr lang="en-US" dirty="0"/>
              <a:t>    n = 13;</a:t>
            </a:r>
          </a:p>
          <a:p>
            <a:r>
              <a:rPr lang="en-US" dirty="0"/>
              <a:t>    </a:t>
            </a:r>
            <a:r>
              <a:rPr lang="en-US" dirty="0" err="1"/>
              <a:t>factorial_iteration</a:t>
            </a:r>
            <a:r>
              <a:rPr lang="en-US" dirty="0"/>
              <a:t>(n);</a:t>
            </a:r>
          </a:p>
          <a:p>
            <a:r>
              <a:rPr lang="en-US" dirty="0"/>
              <a:t>    n = 9;</a:t>
            </a:r>
          </a:p>
          <a:p>
            <a:r>
              <a:rPr lang="en-US" dirty="0"/>
              <a:t>    </a:t>
            </a:r>
            <a:r>
              <a:rPr lang="en-US" dirty="0" err="1"/>
              <a:t>printf</a:t>
            </a:r>
            <a:r>
              <a:rPr lang="en-US" dirty="0"/>
              <a:t>("Factorial of %d using recursion:%d\n", n,</a:t>
            </a:r>
          </a:p>
          <a:p>
            <a:r>
              <a:rPr lang="en-US" dirty="0"/>
              <a:t>           factorial(n));</a:t>
            </a:r>
          </a:p>
          <a:p>
            <a:endParaRPr lang="en-US" dirty="0"/>
          </a:p>
          <a:p>
            <a:r>
              <a:rPr lang="en-US" dirty="0"/>
              <a:t>    return 0;</a:t>
            </a:r>
          </a:p>
          <a:p>
            <a:r>
              <a:rPr lang="en-US" dirty="0"/>
              <a:t>}</a:t>
            </a:r>
          </a:p>
        </p:txBody>
      </p:sp>
    </p:spTree>
    <p:extLst>
      <p:ext uri="{BB962C8B-B14F-4D97-AF65-F5344CB8AC3E}">
        <p14:creationId xmlns:p14="http://schemas.microsoft.com/office/powerpoint/2010/main" val="189208571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66A4D-34F3-6657-664F-36DE7FA07DE1}"/>
              </a:ext>
            </a:extLst>
          </p:cNvPr>
          <p:cNvSpPr>
            <a:spLocks noGrp="1"/>
          </p:cNvSpPr>
          <p:nvPr>
            <p:ph type="title"/>
          </p:nvPr>
        </p:nvSpPr>
        <p:spPr/>
        <p:txBody>
          <a:bodyPr>
            <a:normAutofit/>
          </a:bodyPr>
          <a:lstStyle/>
          <a:p>
            <a:pPr fontAlgn="base"/>
            <a:r>
              <a:rPr lang="en-IN" b="1" dirty="0">
                <a:effectLst/>
                <a:latin typeface="Nunito" pitchFamily="2" charset="77"/>
              </a:rPr>
              <a:t>9. Write a Program to Check if a number is an Armstrong number or not.</a:t>
            </a:r>
            <a:endParaRPr lang="en-US" dirty="0"/>
          </a:p>
        </p:txBody>
      </p:sp>
      <p:sp>
        <p:nvSpPr>
          <p:cNvPr id="3" name="Content Placeholder 2">
            <a:extLst>
              <a:ext uri="{FF2B5EF4-FFF2-40B4-BE49-F238E27FC236}">
                <a16:creationId xmlns:a16="http://schemas.microsoft.com/office/drawing/2014/main" id="{D2009CCE-8121-9489-69D6-E5945CEACABD}"/>
              </a:ext>
            </a:extLst>
          </p:cNvPr>
          <p:cNvSpPr>
            <a:spLocks noGrp="1"/>
          </p:cNvSpPr>
          <p:nvPr>
            <p:ph idx="1"/>
          </p:nvPr>
        </p:nvSpPr>
        <p:spPr>
          <a:xfrm>
            <a:off x="838200" y="1825625"/>
            <a:ext cx="3508332" cy="4351338"/>
          </a:xfrm>
        </p:spPr>
        <p:txBody>
          <a:bodyPr>
            <a:normAutofit fontScale="32500" lnSpcReduction="20000"/>
          </a:bodyPr>
          <a:lstStyle/>
          <a:p>
            <a:r>
              <a:rPr lang="en-US" dirty="0"/>
              <a:t>int power(int x, unsigned int y)</a:t>
            </a:r>
          </a:p>
          <a:p>
            <a:r>
              <a:rPr lang="en-US" dirty="0"/>
              <a:t>{</a:t>
            </a:r>
          </a:p>
          <a:p>
            <a:r>
              <a:rPr lang="en-US" dirty="0"/>
              <a:t>    if (y == 0)</a:t>
            </a:r>
          </a:p>
          <a:p>
            <a:r>
              <a:rPr lang="en-US" dirty="0"/>
              <a:t>        return 1;</a:t>
            </a:r>
          </a:p>
          <a:p>
            <a:r>
              <a:rPr lang="en-US" dirty="0"/>
              <a:t>    if (y % 2 == 0)</a:t>
            </a:r>
          </a:p>
          <a:p>
            <a:r>
              <a:rPr lang="en-US" dirty="0"/>
              <a:t>        return power(x, y / 2) * power(x, y / 2);</a:t>
            </a:r>
          </a:p>
          <a:p>
            <a:r>
              <a:rPr lang="en-US" dirty="0"/>
              <a:t>return x * power(x, y / 2) * power(x, y / 2);</a:t>
            </a:r>
          </a:p>
          <a:p>
            <a:r>
              <a:rPr lang="en-US" dirty="0"/>
              <a:t>}</a:t>
            </a:r>
          </a:p>
          <a:p>
            <a:r>
              <a:rPr lang="en-US" dirty="0"/>
              <a:t>// Function to calculate order of the number</a:t>
            </a:r>
          </a:p>
          <a:p>
            <a:r>
              <a:rPr lang="en-US" dirty="0"/>
              <a:t>int order(int n)</a:t>
            </a:r>
          </a:p>
          <a:p>
            <a:r>
              <a:rPr lang="en-US" dirty="0"/>
              <a:t>{</a:t>
            </a:r>
          </a:p>
          <a:p>
            <a:r>
              <a:rPr lang="en-US" dirty="0"/>
              <a:t>    int res = 0;</a:t>
            </a:r>
          </a:p>
          <a:p>
            <a:r>
              <a:rPr lang="en-US" dirty="0"/>
              <a:t>    while (n) {</a:t>
            </a:r>
          </a:p>
          <a:p>
            <a:r>
              <a:rPr lang="en-US" dirty="0"/>
              <a:t>        res++;</a:t>
            </a:r>
          </a:p>
          <a:p>
            <a:r>
              <a:rPr lang="en-US" dirty="0"/>
              <a:t>        n = n / 10;</a:t>
            </a:r>
          </a:p>
          <a:p>
            <a:r>
              <a:rPr lang="en-US" dirty="0"/>
              <a:t>    }</a:t>
            </a:r>
          </a:p>
          <a:p>
            <a:r>
              <a:rPr lang="en-US" dirty="0"/>
              <a:t>    return res;</a:t>
            </a:r>
          </a:p>
          <a:p>
            <a:r>
              <a:rPr lang="en-US" dirty="0"/>
              <a:t>}</a:t>
            </a:r>
          </a:p>
        </p:txBody>
      </p:sp>
      <p:sp>
        <p:nvSpPr>
          <p:cNvPr id="5" name="Content Placeholder 2">
            <a:extLst>
              <a:ext uri="{FF2B5EF4-FFF2-40B4-BE49-F238E27FC236}">
                <a16:creationId xmlns:a16="http://schemas.microsoft.com/office/drawing/2014/main" id="{E1D57B33-C994-D1D8-2BE3-0966C4EAF82C}"/>
              </a:ext>
            </a:extLst>
          </p:cNvPr>
          <p:cNvSpPr txBox="1">
            <a:spLocks/>
          </p:cNvSpPr>
          <p:nvPr/>
        </p:nvSpPr>
        <p:spPr>
          <a:xfrm>
            <a:off x="4823564" y="1690688"/>
            <a:ext cx="3508332" cy="4351338"/>
          </a:xfrm>
          <a:prstGeom prst="rect">
            <a:avLst/>
          </a:prstGeom>
        </p:spPr>
        <p:txBody>
          <a:bodyPr vert="horz" lIns="91440" tIns="45720" rIns="91440" bIns="45720" rtlCol="0">
            <a:normAutofit fontScale="3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 Function to check whether the given number is</a:t>
            </a:r>
          </a:p>
          <a:p>
            <a:r>
              <a:rPr lang="en-US" dirty="0"/>
              <a:t>// Armstrong number or not</a:t>
            </a:r>
          </a:p>
          <a:p>
            <a:r>
              <a:rPr lang="en-US" dirty="0"/>
              <a:t>int </a:t>
            </a:r>
            <a:r>
              <a:rPr lang="en-US" dirty="0" err="1"/>
              <a:t>isArmstrong</a:t>
            </a:r>
            <a:r>
              <a:rPr lang="en-US" dirty="0"/>
              <a:t>(int x)</a:t>
            </a:r>
          </a:p>
          <a:p>
            <a:r>
              <a:rPr lang="en-US" dirty="0"/>
              <a:t>{</a:t>
            </a:r>
          </a:p>
          <a:p>
            <a:r>
              <a:rPr lang="en-US" dirty="0"/>
              <a:t>    // Calling order function</a:t>
            </a:r>
          </a:p>
          <a:p>
            <a:r>
              <a:rPr lang="en-US" dirty="0"/>
              <a:t>    int n = order(x);</a:t>
            </a:r>
          </a:p>
          <a:p>
            <a:r>
              <a:rPr lang="en-US" dirty="0"/>
              <a:t>    int temp = x, sum = 0;</a:t>
            </a:r>
          </a:p>
          <a:p>
            <a:r>
              <a:rPr lang="en-US" dirty="0"/>
              <a:t>    while (temp) {</a:t>
            </a:r>
          </a:p>
          <a:p>
            <a:r>
              <a:rPr lang="en-US" dirty="0"/>
              <a:t>        int r = temp % 10;</a:t>
            </a:r>
          </a:p>
          <a:p>
            <a:r>
              <a:rPr lang="en-US" dirty="0"/>
              <a:t>        sum += power(r, n);</a:t>
            </a:r>
          </a:p>
          <a:p>
            <a:r>
              <a:rPr lang="en-US" dirty="0"/>
              <a:t>        temp = temp / 10;</a:t>
            </a:r>
          </a:p>
          <a:p>
            <a:r>
              <a:rPr lang="en-US" dirty="0"/>
              <a:t>    }</a:t>
            </a:r>
          </a:p>
          <a:p>
            <a:endParaRPr lang="en-US" dirty="0"/>
          </a:p>
          <a:p>
            <a:r>
              <a:rPr lang="en-US" dirty="0"/>
              <a:t>    // If satisfies Armstrong condition</a:t>
            </a:r>
          </a:p>
          <a:p>
            <a:r>
              <a:rPr lang="en-US" dirty="0"/>
              <a:t>    if (sum == x)</a:t>
            </a:r>
          </a:p>
          <a:p>
            <a:r>
              <a:rPr lang="en-US" dirty="0"/>
              <a:t>        return 1;</a:t>
            </a:r>
          </a:p>
          <a:p>
            <a:r>
              <a:rPr lang="en-US" dirty="0"/>
              <a:t>    else</a:t>
            </a:r>
          </a:p>
          <a:p>
            <a:r>
              <a:rPr lang="en-US" dirty="0"/>
              <a:t>        return 0;</a:t>
            </a:r>
          </a:p>
          <a:p>
            <a:r>
              <a:rPr lang="en-US" dirty="0"/>
              <a:t>}</a:t>
            </a:r>
          </a:p>
          <a:p>
            <a:endParaRPr lang="en-US" dirty="0"/>
          </a:p>
        </p:txBody>
      </p:sp>
      <p:sp>
        <p:nvSpPr>
          <p:cNvPr id="6" name="Content Placeholder 2">
            <a:extLst>
              <a:ext uri="{FF2B5EF4-FFF2-40B4-BE49-F238E27FC236}">
                <a16:creationId xmlns:a16="http://schemas.microsoft.com/office/drawing/2014/main" id="{B10B3BDF-0D29-BAC8-6616-E0A8C77CC250}"/>
              </a:ext>
            </a:extLst>
          </p:cNvPr>
          <p:cNvSpPr txBox="1">
            <a:spLocks/>
          </p:cNvSpPr>
          <p:nvPr/>
        </p:nvSpPr>
        <p:spPr>
          <a:xfrm>
            <a:off x="8520830" y="1690688"/>
            <a:ext cx="3508332" cy="4351338"/>
          </a:xfrm>
          <a:prstGeom prst="rect">
            <a:avLst/>
          </a:prstGeom>
        </p:spPr>
        <p:txBody>
          <a:bodyPr vert="horz" lIns="91440" tIns="45720" rIns="91440" bIns="45720" rtlCol="0">
            <a:normAutofit fontScale="4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 Driver Program</a:t>
            </a:r>
          </a:p>
          <a:p>
            <a:r>
              <a:rPr lang="en-US" dirty="0"/>
              <a:t>int main()</a:t>
            </a:r>
          </a:p>
          <a:p>
            <a:r>
              <a:rPr lang="en-US" dirty="0"/>
              <a:t>{</a:t>
            </a:r>
          </a:p>
          <a:p>
            <a:r>
              <a:rPr lang="en-US" dirty="0"/>
              <a:t>    int x = 120;</a:t>
            </a:r>
          </a:p>
          <a:p>
            <a:r>
              <a:rPr lang="en-US" dirty="0"/>
              <a:t>    if (</a:t>
            </a:r>
            <a:r>
              <a:rPr lang="en-US" dirty="0" err="1"/>
              <a:t>isArmstrong</a:t>
            </a:r>
            <a:r>
              <a:rPr lang="en-US" dirty="0"/>
              <a:t>(x) == 1)</a:t>
            </a:r>
          </a:p>
          <a:p>
            <a:r>
              <a:rPr lang="en-US" dirty="0"/>
              <a:t>        </a:t>
            </a:r>
            <a:r>
              <a:rPr lang="en-US" dirty="0" err="1"/>
              <a:t>printf</a:t>
            </a:r>
            <a:r>
              <a:rPr lang="en-US" dirty="0"/>
              <a:t>("True\n");</a:t>
            </a:r>
          </a:p>
          <a:p>
            <a:r>
              <a:rPr lang="en-US" dirty="0"/>
              <a:t>    else</a:t>
            </a:r>
          </a:p>
          <a:p>
            <a:r>
              <a:rPr lang="en-US" dirty="0"/>
              <a:t>        </a:t>
            </a:r>
            <a:r>
              <a:rPr lang="en-US" dirty="0" err="1"/>
              <a:t>printf</a:t>
            </a:r>
            <a:r>
              <a:rPr lang="en-US" dirty="0"/>
              <a:t>("False\n");</a:t>
            </a:r>
          </a:p>
          <a:p>
            <a:endParaRPr lang="en-US" dirty="0"/>
          </a:p>
          <a:p>
            <a:r>
              <a:rPr lang="en-US" dirty="0"/>
              <a:t>    x = 1634;</a:t>
            </a:r>
          </a:p>
          <a:p>
            <a:r>
              <a:rPr lang="en-US" dirty="0"/>
              <a:t>    if (</a:t>
            </a:r>
            <a:r>
              <a:rPr lang="en-US" dirty="0" err="1"/>
              <a:t>isArmstrong</a:t>
            </a:r>
            <a:r>
              <a:rPr lang="en-US" dirty="0"/>
              <a:t>(x) == 1)</a:t>
            </a:r>
          </a:p>
          <a:p>
            <a:r>
              <a:rPr lang="en-US" dirty="0"/>
              <a:t>        </a:t>
            </a:r>
            <a:r>
              <a:rPr lang="en-US" dirty="0" err="1"/>
              <a:t>printf</a:t>
            </a:r>
            <a:r>
              <a:rPr lang="en-US" dirty="0"/>
              <a:t>("True\n");</a:t>
            </a:r>
          </a:p>
          <a:p>
            <a:r>
              <a:rPr lang="en-US" dirty="0"/>
              <a:t>    else</a:t>
            </a:r>
          </a:p>
          <a:p>
            <a:r>
              <a:rPr lang="en-US" dirty="0"/>
              <a:t>        </a:t>
            </a:r>
            <a:r>
              <a:rPr lang="en-US" dirty="0" err="1"/>
              <a:t>printf</a:t>
            </a:r>
            <a:r>
              <a:rPr lang="en-US" dirty="0"/>
              <a:t>("False\n");</a:t>
            </a:r>
          </a:p>
          <a:p>
            <a:endParaRPr lang="en-US" dirty="0"/>
          </a:p>
          <a:p>
            <a:r>
              <a:rPr lang="en-US" dirty="0"/>
              <a:t>    return 0;</a:t>
            </a:r>
          </a:p>
          <a:p>
            <a:r>
              <a:rPr lang="en-US" dirty="0"/>
              <a:t>}</a:t>
            </a:r>
          </a:p>
        </p:txBody>
      </p:sp>
    </p:spTree>
    <p:extLst>
      <p:ext uri="{BB962C8B-B14F-4D97-AF65-F5344CB8AC3E}">
        <p14:creationId xmlns:p14="http://schemas.microsoft.com/office/powerpoint/2010/main" val="59804748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ACD5B-EDFA-33B2-EDAD-998D875D66D2}"/>
              </a:ext>
            </a:extLst>
          </p:cNvPr>
          <p:cNvSpPr>
            <a:spLocks noGrp="1"/>
          </p:cNvSpPr>
          <p:nvPr>
            <p:ph type="title"/>
          </p:nvPr>
        </p:nvSpPr>
        <p:spPr/>
        <p:txBody>
          <a:bodyPr>
            <a:normAutofit/>
          </a:bodyPr>
          <a:lstStyle/>
          <a:p>
            <a:pPr fontAlgn="base"/>
            <a:r>
              <a:rPr lang="en-IN" b="1" dirty="0">
                <a:effectLst/>
                <a:latin typeface="Nunito" pitchFamily="2" charset="77"/>
              </a:rPr>
              <a:t>10. Write a program to Find all the roots of a quadratic equation in C.</a:t>
            </a:r>
            <a:endParaRPr lang="en-US" dirty="0"/>
          </a:p>
        </p:txBody>
      </p:sp>
      <p:sp>
        <p:nvSpPr>
          <p:cNvPr id="3" name="Content Placeholder 2">
            <a:extLst>
              <a:ext uri="{FF2B5EF4-FFF2-40B4-BE49-F238E27FC236}">
                <a16:creationId xmlns:a16="http://schemas.microsoft.com/office/drawing/2014/main" id="{1389697C-981B-E278-5535-ACE9EA54DC65}"/>
              </a:ext>
            </a:extLst>
          </p:cNvPr>
          <p:cNvSpPr>
            <a:spLocks noGrp="1"/>
          </p:cNvSpPr>
          <p:nvPr>
            <p:ph idx="1"/>
          </p:nvPr>
        </p:nvSpPr>
        <p:spPr>
          <a:xfrm>
            <a:off x="838200" y="1825625"/>
            <a:ext cx="5257800" cy="4351338"/>
          </a:xfrm>
        </p:spPr>
        <p:txBody>
          <a:bodyPr>
            <a:normAutofit fontScale="25000" lnSpcReduction="20000"/>
          </a:bodyPr>
          <a:lstStyle/>
          <a:p>
            <a:r>
              <a:rPr lang="en-US" dirty="0"/>
              <a:t>#include &lt;</a:t>
            </a:r>
            <a:r>
              <a:rPr lang="en-US" dirty="0" err="1"/>
              <a:t>math.h</a:t>
            </a:r>
            <a:r>
              <a:rPr lang="en-US" dirty="0"/>
              <a:t>&gt;</a:t>
            </a:r>
          </a:p>
          <a:p>
            <a:r>
              <a:rPr lang="en-US" dirty="0"/>
              <a:t>#include &lt;</a:t>
            </a:r>
            <a:r>
              <a:rPr lang="en-US" dirty="0" err="1"/>
              <a:t>stdio.h</a:t>
            </a:r>
            <a:r>
              <a:rPr lang="en-US" dirty="0"/>
              <a:t>&gt;</a:t>
            </a:r>
          </a:p>
          <a:p>
            <a:r>
              <a:rPr lang="en-US" dirty="0"/>
              <a:t>#include &lt;</a:t>
            </a:r>
            <a:r>
              <a:rPr lang="en-US" dirty="0" err="1"/>
              <a:t>stdlib.h</a:t>
            </a:r>
            <a:r>
              <a:rPr lang="en-US" dirty="0"/>
              <a:t>&gt;</a:t>
            </a:r>
          </a:p>
          <a:p>
            <a:r>
              <a:rPr lang="en-US" dirty="0"/>
              <a:t>// Prints roots of quadratic equation ax*2 + bx + x</a:t>
            </a:r>
          </a:p>
          <a:p>
            <a:r>
              <a:rPr lang="en-US" dirty="0"/>
              <a:t>void </a:t>
            </a:r>
            <a:r>
              <a:rPr lang="en-US" dirty="0" err="1"/>
              <a:t>find_roots</a:t>
            </a:r>
            <a:r>
              <a:rPr lang="en-US" dirty="0"/>
              <a:t>(int a, int b, int c)</a:t>
            </a:r>
          </a:p>
          <a:p>
            <a:r>
              <a:rPr lang="en-US" dirty="0"/>
              <a:t>{</a:t>
            </a:r>
          </a:p>
          <a:p>
            <a:r>
              <a:rPr lang="en-US" dirty="0"/>
              <a:t>    // If a is 0, then equation is not quadratic, but</a:t>
            </a:r>
          </a:p>
          <a:p>
            <a:r>
              <a:rPr lang="en-US" dirty="0"/>
              <a:t>    // linear</a:t>
            </a:r>
          </a:p>
          <a:p>
            <a:r>
              <a:rPr lang="en-US" dirty="0"/>
              <a:t>    if (a == 0) {</a:t>
            </a:r>
          </a:p>
          <a:p>
            <a:r>
              <a:rPr lang="en-US" dirty="0"/>
              <a:t>        </a:t>
            </a:r>
            <a:r>
              <a:rPr lang="en-US" dirty="0" err="1"/>
              <a:t>printf</a:t>
            </a:r>
            <a:r>
              <a:rPr lang="en-US" dirty="0"/>
              <a:t>("Invalid");</a:t>
            </a:r>
          </a:p>
          <a:p>
            <a:r>
              <a:rPr lang="en-US" dirty="0"/>
              <a:t>        return;</a:t>
            </a:r>
          </a:p>
          <a:p>
            <a:r>
              <a:rPr lang="en-US" dirty="0"/>
              <a:t>    }</a:t>
            </a:r>
          </a:p>
          <a:p>
            <a:r>
              <a:rPr lang="en-US" dirty="0"/>
              <a:t>    int d = (b * b) - (4 * a * c);</a:t>
            </a:r>
          </a:p>
          <a:p>
            <a:r>
              <a:rPr lang="en-US" dirty="0"/>
              <a:t>    double </a:t>
            </a:r>
            <a:r>
              <a:rPr lang="en-US" dirty="0" err="1"/>
              <a:t>sqrt_val</a:t>
            </a:r>
            <a:r>
              <a:rPr lang="en-US" dirty="0"/>
              <a:t> = sqrt(abs(d));</a:t>
            </a:r>
          </a:p>
          <a:p>
            <a:r>
              <a:rPr lang="en-US" dirty="0"/>
              <a:t>    if (d &gt; 0) {</a:t>
            </a:r>
          </a:p>
          <a:p>
            <a:r>
              <a:rPr lang="en-US" dirty="0"/>
              <a:t>        </a:t>
            </a:r>
            <a:r>
              <a:rPr lang="en-US" dirty="0" err="1"/>
              <a:t>printf</a:t>
            </a:r>
            <a:r>
              <a:rPr lang="en-US" dirty="0"/>
              <a:t>("Roots are real and different \n");</a:t>
            </a:r>
          </a:p>
          <a:p>
            <a:r>
              <a:rPr lang="en-US" dirty="0"/>
              <a:t>        </a:t>
            </a:r>
            <a:r>
              <a:rPr lang="en-US" dirty="0" err="1"/>
              <a:t>printf</a:t>
            </a:r>
            <a:r>
              <a:rPr lang="en-US" dirty="0"/>
              <a:t>("%f\</a:t>
            </a:r>
            <a:r>
              <a:rPr lang="en-US" dirty="0" err="1"/>
              <a:t>n%f</a:t>
            </a:r>
            <a:r>
              <a:rPr lang="en-US" dirty="0"/>
              <a:t>", (double)(-b + </a:t>
            </a:r>
            <a:r>
              <a:rPr lang="en-US" dirty="0" err="1"/>
              <a:t>sqrt_val</a:t>
            </a:r>
            <a:r>
              <a:rPr lang="en-US" dirty="0"/>
              <a:t>) / (2 * a),</a:t>
            </a:r>
          </a:p>
          <a:p>
            <a:r>
              <a:rPr lang="en-US" dirty="0"/>
              <a:t>               (double)(-b - </a:t>
            </a:r>
            <a:r>
              <a:rPr lang="en-US" dirty="0" err="1"/>
              <a:t>sqrt_val</a:t>
            </a:r>
            <a:r>
              <a:rPr lang="en-US" dirty="0"/>
              <a:t>) / (2 * a));</a:t>
            </a:r>
          </a:p>
          <a:p>
            <a:r>
              <a:rPr lang="en-US" dirty="0"/>
              <a:t>    }</a:t>
            </a:r>
          </a:p>
          <a:p>
            <a:r>
              <a:rPr lang="en-US" dirty="0"/>
              <a:t>    else if (d == 0) {</a:t>
            </a:r>
          </a:p>
          <a:p>
            <a:r>
              <a:rPr lang="en-US" dirty="0"/>
              <a:t>        </a:t>
            </a:r>
            <a:r>
              <a:rPr lang="en-US" dirty="0" err="1"/>
              <a:t>printf</a:t>
            </a:r>
            <a:r>
              <a:rPr lang="en-US" dirty="0"/>
              <a:t>("Roots are real and same \n");</a:t>
            </a:r>
          </a:p>
          <a:p>
            <a:r>
              <a:rPr lang="en-US" dirty="0"/>
              <a:t>        </a:t>
            </a:r>
            <a:r>
              <a:rPr lang="en-US" dirty="0" err="1"/>
              <a:t>printf</a:t>
            </a:r>
            <a:r>
              <a:rPr lang="en-US" dirty="0"/>
              <a:t>("%f", -(double)b / (2 * a));</a:t>
            </a:r>
          </a:p>
          <a:p>
            <a:r>
              <a:rPr lang="en-US" dirty="0"/>
              <a:t>    }</a:t>
            </a:r>
          </a:p>
          <a:p>
            <a:r>
              <a:rPr lang="en-US" dirty="0"/>
              <a:t>    </a:t>
            </a:r>
          </a:p>
        </p:txBody>
      </p:sp>
      <p:sp>
        <p:nvSpPr>
          <p:cNvPr id="4" name="Content Placeholder 2">
            <a:extLst>
              <a:ext uri="{FF2B5EF4-FFF2-40B4-BE49-F238E27FC236}">
                <a16:creationId xmlns:a16="http://schemas.microsoft.com/office/drawing/2014/main" id="{340DA3AF-F2B7-DB5A-4292-9E37B652D9EC}"/>
              </a:ext>
            </a:extLst>
          </p:cNvPr>
          <p:cNvSpPr txBox="1">
            <a:spLocks/>
          </p:cNvSpPr>
          <p:nvPr/>
        </p:nvSpPr>
        <p:spPr>
          <a:xfrm>
            <a:off x="6096000" y="1862116"/>
            <a:ext cx="5257800" cy="4351338"/>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else if (d == 0) {</a:t>
            </a:r>
          </a:p>
          <a:p>
            <a:r>
              <a:rPr lang="en-US" dirty="0"/>
              <a:t>        </a:t>
            </a:r>
            <a:r>
              <a:rPr lang="en-US" dirty="0" err="1"/>
              <a:t>printf</a:t>
            </a:r>
            <a:r>
              <a:rPr lang="en-US" dirty="0"/>
              <a:t>("Roots are real and same \n");</a:t>
            </a:r>
          </a:p>
          <a:p>
            <a:r>
              <a:rPr lang="en-US" dirty="0"/>
              <a:t>        </a:t>
            </a:r>
            <a:r>
              <a:rPr lang="en-US" dirty="0" err="1"/>
              <a:t>printf</a:t>
            </a:r>
            <a:r>
              <a:rPr lang="en-US" dirty="0"/>
              <a:t>("%f", -(double)b / (2 * a));</a:t>
            </a:r>
          </a:p>
          <a:p>
            <a:r>
              <a:rPr lang="en-US" dirty="0"/>
              <a:t>    }</a:t>
            </a:r>
          </a:p>
          <a:p>
            <a:r>
              <a:rPr lang="en-US" dirty="0"/>
              <a:t>    else // d &lt; 0</a:t>
            </a:r>
          </a:p>
          <a:p>
            <a:r>
              <a:rPr lang="en-US" dirty="0"/>
              <a:t>    {</a:t>
            </a:r>
          </a:p>
          <a:p>
            <a:r>
              <a:rPr lang="en-US" dirty="0"/>
              <a:t>        </a:t>
            </a:r>
            <a:r>
              <a:rPr lang="en-US" dirty="0" err="1"/>
              <a:t>printf</a:t>
            </a:r>
            <a:r>
              <a:rPr lang="en-US" dirty="0"/>
              <a:t>("Roots are complex \n");</a:t>
            </a:r>
          </a:p>
          <a:p>
            <a:r>
              <a:rPr lang="en-US" dirty="0"/>
              <a:t>        </a:t>
            </a:r>
            <a:r>
              <a:rPr lang="en-US" dirty="0" err="1"/>
              <a:t>printf</a:t>
            </a:r>
            <a:r>
              <a:rPr lang="en-US" dirty="0"/>
              <a:t>("%f + </a:t>
            </a:r>
            <a:r>
              <a:rPr lang="en-US" dirty="0" err="1"/>
              <a:t>i%f</a:t>
            </a:r>
            <a:r>
              <a:rPr lang="en-US" dirty="0"/>
              <a:t>\</a:t>
            </a:r>
            <a:r>
              <a:rPr lang="en-US" dirty="0" err="1"/>
              <a:t>n%f</a:t>
            </a:r>
            <a:r>
              <a:rPr lang="en-US" dirty="0"/>
              <a:t> - </a:t>
            </a:r>
            <a:r>
              <a:rPr lang="en-US" dirty="0" err="1"/>
              <a:t>i%f</a:t>
            </a:r>
            <a:r>
              <a:rPr lang="en-US" dirty="0"/>
              <a:t>", -(double)b / (2 * a),</a:t>
            </a:r>
          </a:p>
          <a:p>
            <a:r>
              <a:rPr lang="en-US" dirty="0"/>
              <a:t>               </a:t>
            </a:r>
            <a:r>
              <a:rPr lang="en-US" dirty="0" err="1"/>
              <a:t>sqrt_val</a:t>
            </a:r>
            <a:r>
              <a:rPr lang="en-US" dirty="0"/>
              <a:t> / (2 * a), -(double)b / (2 * a),</a:t>
            </a:r>
          </a:p>
          <a:p>
            <a:r>
              <a:rPr lang="en-US" dirty="0"/>
              <a:t>               </a:t>
            </a:r>
            <a:r>
              <a:rPr lang="en-US" dirty="0" err="1"/>
              <a:t>sqrt_val</a:t>
            </a:r>
            <a:r>
              <a:rPr lang="en-US" dirty="0"/>
              <a:t> / (2 * a));</a:t>
            </a:r>
          </a:p>
          <a:p>
            <a:r>
              <a:rPr lang="en-US" dirty="0"/>
              <a:t>    }</a:t>
            </a:r>
          </a:p>
          <a:p>
            <a:r>
              <a:rPr lang="en-US" dirty="0"/>
              <a:t>}</a:t>
            </a:r>
          </a:p>
          <a:p>
            <a:pPr marL="0" indent="0">
              <a:buNone/>
            </a:pPr>
            <a:endParaRPr lang="en-US" dirty="0"/>
          </a:p>
          <a:p>
            <a:r>
              <a:rPr lang="en-US" dirty="0"/>
              <a:t>// Driver code</a:t>
            </a:r>
          </a:p>
          <a:p>
            <a:r>
              <a:rPr lang="en-US" dirty="0"/>
              <a:t>int main()</a:t>
            </a:r>
          </a:p>
          <a:p>
            <a:r>
              <a:rPr lang="en-US" dirty="0"/>
              <a:t>{</a:t>
            </a:r>
          </a:p>
          <a:p>
            <a:r>
              <a:rPr lang="en-US" dirty="0"/>
              <a:t>    int a = 1, b = -16, c = 1;</a:t>
            </a:r>
          </a:p>
          <a:p>
            <a:endParaRPr lang="en-US" dirty="0"/>
          </a:p>
          <a:p>
            <a:r>
              <a:rPr lang="en-US" dirty="0"/>
              <a:t>    // Function call</a:t>
            </a:r>
          </a:p>
          <a:p>
            <a:r>
              <a:rPr lang="en-US" dirty="0"/>
              <a:t>    </a:t>
            </a:r>
            <a:r>
              <a:rPr lang="en-US" dirty="0" err="1"/>
              <a:t>find_roots</a:t>
            </a:r>
            <a:r>
              <a:rPr lang="en-US" dirty="0"/>
              <a:t>(a, b, c);</a:t>
            </a:r>
          </a:p>
          <a:p>
            <a:r>
              <a:rPr lang="en-US" dirty="0"/>
              <a:t>    return 0;</a:t>
            </a:r>
          </a:p>
          <a:p>
            <a:r>
              <a:rPr lang="en-US" dirty="0"/>
              <a:t>}</a:t>
            </a:r>
          </a:p>
        </p:txBody>
      </p:sp>
    </p:spTree>
    <p:extLst>
      <p:ext uri="{BB962C8B-B14F-4D97-AF65-F5344CB8AC3E}">
        <p14:creationId xmlns:p14="http://schemas.microsoft.com/office/powerpoint/2010/main" val="428755074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B8371-8D01-4C49-2026-116FC7C87886}"/>
              </a:ext>
            </a:extLst>
          </p:cNvPr>
          <p:cNvSpPr>
            <a:spLocks noGrp="1"/>
          </p:cNvSpPr>
          <p:nvPr>
            <p:ph type="title"/>
          </p:nvPr>
        </p:nvSpPr>
        <p:spPr/>
        <p:txBody>
          <a:bodyPr>
            <a:normAutofit/>
          </a:bodyPr>
          <a:lstStyle/>
          <a:p>
            <a:pPr fontAlgn="base"/>
            <a:r>
              <a:rPr lang="en-IN" b="1" dirty="0">
                <a:effectLst/>
                <a:latin typeface="Nunito" pitchFamily="2" charset="77"/>
              </a:rPr>
              <a:t>11. Write a Program to reverse a number.</a:t>
            </a:r>
            <a:endParaRPr lang="en-US" dirty="0"/>
          </a:p>
        </p:txBody>
      </p:sp>
      <p:sp>
        <p:nvSpPr>
          <p:cNvPr id="3" name="Content Placeholder 2">
            <a:extLst>
              <a:ext uri="{FF2B5EF4-FFF2-40B4-BE49-F238E27FC236}">
                <a16:creationId xmlns:a16="http://schemas.microsoft.com/office/drawing/2014/main" id="{A52E4BD3-7DDB-E0E3-81D6-BF6F293BB547}"/>
              </a:ext>
            </a:extLst>
          </p:cNvPr>
          <p:cNvSpPr>
            <a:spLocks noGrp="1"/>
          </p:cNvSpPr>
          <p:nvPr>
            <p:ph idx="1"/>
          </p:nvPr>
        </p:nvSpPr>
        <p:spPr>
          <a:xfrm>
            <a:off x="838200" y="1825625"/>
            <a:ext cx="5257800" cy="4351338"/>
          </a:xfrm>
        </p:spPr>
        <p:txBody>
          <a:bodyPr>
            <a:normAutofit fontScale="47500" lnSpcReduction="20000"/>
          </a:bodyPr>
          <a:lstStyle/>
          <a:p>
            <a:r>
              <a:rPr lang="en-US" dirty="0"/>
              <a:t>int </a:t>
            </a:r>
            <a:r>
              <a:rPr lang="en-US" dirty="0" err="1"/>
              <a:t>reverse_iteration</a:t>
            </a:r>
            <a:r>
              <a:rPr lang="en-US" dirty="0"/>
              <a:t>(int N){</a:t>
            </a:r>
          </a:p>
          <a:p>
            <a:r>
              <a:rPr lang="en-US" dirty="0"/>
              <a:t>    int </a:t>
            </a:r>
            <a:r>
              <a:rPr lang="en-US" dirty="0" err="1"/>
              <a:t>ans</a:t>
            </a:r>
            <a:r>
              <a:rPr lang="en-US" dirty="0"/>
              <a:t> = 0;</a:t>
            </a:r>
          </a:p>
          <a:p>
            <a:r>
              <a:rPr lang="en-US" dirty="0"/>
              <a:t>    while (N != 0) {</a:t>
            </a:r>
          </a:p>
          <a:p>
            <a:r>
              <a:rPr lang="en-US" dirty="0"/>
              <a:t>        </a:t>
            </a:r>
            <a:r>
              <a:rPr lang="en-US" dirty="0" err="1"/>
              <a:t>ans</a:t>
            </a:r>
            <a:r>
              <a:rPr lang="en-US" dirty="0"/>
              <a:t> = </a:t>
            </a:r>
            <a:r>
              <a:rPr lang="en-US" dirty="0" err="1"/>
              <a:t>ans</a:t>
            </a:r>
            <a:r>
              <a:rPr lang="en-US" dirty="0"/>
              <a:t> * 10 + (N % 10);</a:t>
            </a:r>
          </a:p>
          <a:p>
            <a:r>
              <a:rPr lang="en-US" dirty="0"/>
              <a:t>        N = N / 10;</a:t>
            </a:r>
          </a:p>
          <a:p>
            <a:r>
              <a:rPr lang="en-US" dirty="0"/>
              <a:t>    }</a:t>
            </a:r>
          </a:p>
          <a:p>
            <a:r>
              <a:rPr lang="en-US" dirty="0"/>
              <a:t>    return </a:t>
            </a:r>
            <a:r>
              <a:rPr lang="en-US" dirty="0" err="1"/>
              <a:t>ans</a:t>
            </a:r>
            <a:r>
              <a:rPr lang="en-US" dirty="0"/>
              <a:t>;</a:t>
            </a:r>
          </a:p>
          <a:p>
            <a:r>
              <a:rPr lang="en-US" dirty="0"/>
              <a:t>}</a:t>
            </a:r>
          </a:p>
          <a:p>
            <a:r>
              <a:rPr lang="en-US" dirty="0"/>
              <a:t>// recursive approach</a:t>
            </a:r>
          </a:p>
          <a:p>
            <a:r>
              <a:rPr lang="en-US" dirty="0"/>
              <a:t>int reverse(int n, int </a:t>
            </a:r>
            <a:r>
              <a:rPr lang="en-US" dirty="0" err="1"/>
              <a:t>ans</a:t>
            </a:r>
            <a:r>
              <a:rPr lang="en-US" dirty="0"/>
              <a:t>)</a:t>
            </a:r>
          </a:p>
          <a:p>
            <a:r>
              <a:rPr lang="en-US" dirty="0"/>
              <a:t>{</a:t>
            </a:r>
          </a:p>
          <a:p>
            <a:r>
              <a:rPr lang="en-US" dirty="0"/>
              <a:t>    if (n == 0)</a:t>
            </a:r>
          </a:p>
          <a:p>
            <a:r>
              <a:rPr lang="en-US" dirty="0"/>
              <a:t>        return </a:t>
            </a:r>
            <a:r>
              <a:rPr lang="en-US" dirty="0" err="1"/>
              <a:t>ans</a:t>
            </a:r>
            <a:r>
              <a:rPr lang="en-US" dirty="0"/>
              <a:t>;</a:t>
            </a:r>
          </a:p>
          <a:p>
            <a:r>
              <a:rPr lang="en-US" dirty="0"/>
              <a:t>    </a:t>
            </a:r>
            <a:r>
              <a:rPr lang="en-US" dirty="0" err="1"/>
              <a:t>ans</a:t>
            </a:r>
            <a:r>
              <a:rPr lang="en-US" dirty="0"/>
              <a:t> = </a:t>
            </a:r>
            <a:r>
              <a:rPr lang="en-US" dirty="0" err="1"/>
              <a:t>ans</a:t>
            </a:r>
            <a:r>
              <a:rPr lang="en-US" dirty="0"/>
              <a:t> * 10 + n % 10;</a:t>
            </a:r>
          </a:p>
          <a:p>
            <a:r>
              <a:rPr lang="en-US" dirty="0"/>
              <a:t>    return reverse(n / 10, </a:t>
            </a:r>
            <a:r>
              <a:rPr lang="en-US" dirty="0" err="1"/>
              <a:t>ans</a:t>
            </a:r>
            <a:r>
              <a:rPr lang="en-US" dirty="0"/>
              <a:t>);</a:t>
            </a:r>
          </a:p>
          <a:p>
            <a:r>
              <a:rPr lang="en-US" dirty="0"/>
              <a:t>}</a:t>
            </a:r>
          </a:p>
        </p:txBody>
      </p:sp>
      <p:sp>
        <p:nvSpPr>
          <p:cNvPr id="4" name="Content Placeholder 2">
            <a:extLst>
              <a:ext uri="{FF2B5EF4-FFF2-40B4-BE49-F238E27FC236}">
                <a16:creationId xmlns:a16="http://schemas.microsoft.com/office/drawing/2014/main" id="{E393D4FD-725A-0F91-0E53-A2C6FF43B184}"/>
              </a:ext>
            </a:extLst>
          </p:cNvPr>
          <p:cNvSpPr txBox="1">
            <a:spLocks/>
          </p:cNvSpPr>
          <p:nvPr/>
        </p:nvSpPr>
        <p:spPr>
          <a:xfrm>
            <a:off x="6096000" y="1825625"/>
            <a:ext cx="5257800" cy="4351338"/>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int main()</a:t>
            </a:r>
          </a:p>
          <a:p>
            <a:r>
              <a:rPr lang="en-US" dirty="0"/>
              <a:t>{</a:t>
            </a:r>
          </a:p>
          <a:p>
            <a:r>
              <a:rPr lang="en-US" dirty="0"/>
              <a:t>    int N = 15942;</a:t>
            </a:r>
          </a:p>
          <a:p>
            <a:r>
              <a:rPr lang="en-US" dirty="0"/>
              <a:t>    </a:t>
            </a:r>
            <a:r>
              <a:rPr lang="en-US" dirty="0" err="1"/>
              <a:t>printf</a:t>
            </a:r>
            <a:r>
              <a:rPr lang="en-US" dirty="0"/>
              <a:t>("Initial number:%d\n", N);</a:t>
            </a:r>
          </a:p>
          <a:p>
            <a:endParaRPr lang="en-US" dirty="0"/>
          </a:p>
          <a:p>
            <a:r>
              <a:rPr lang="en-US" dirty="0"/>
              <a:t>    N = </a:t>
            </a:r>
            <a:r>
              <a:rPr lang="en-US" dirty="0" err="1"/>
              <a:t>reverse_iteration</a:t>
            </a:r>
            <a:r>
              <a:rPr lang="en-US" dirty="0"/>
              <a:t>(N);</a:t>
            </a:r>
          </a:p>
          <a:p>
            <a:r>
              <a:rPr lang="en-US" dirty="0"/>
              <a:t>    </a:t>
            </a:r>
            <a:r>
              <a:rPr lang="en-US" dirty="0" err="1"/>
              <a:t>printf</a:t>
            </a:r>
            <a:r>
              <a:rPr lang="en-US" dirty="0"/>
              <a:t>("%d after reverse using iteration\n", N);</a:t>
            </a:r>
          </a:p>
          <a:p>
            <a:endParaRPr lang="en-US" dirty="0"/>
          </a:p>
          <a:p>
            <a:r>
              <a:rPr lang="en-US" dirty="0"/>
              <a:t>    int </a:t>
            </a:r>
            <a:r>
              <a:rPr lang="en-US" dirty="0" err="1"/>
              <a:t>ans</a:t>
            </a:r>
            <a:r>
              <a:rPr lang="en-US" dirty="0"/>
              <a:t> = 0;</a:t>
            </a:r>
          </a:p>
          <a:p>
            <a:r>
              <a:rPr lang="en-US" dirty="0"/>
              <a:t>    </a:t>
            </a:r>
            <a:r>
              <a:rPr lang="en-US" dirty="0" err="1"/>
              <a:t>ans</a:t>
            </a:r>
            <a:r>
              <a:rPr lang="en-US" dirty="0"/>
              <a:t> = reverse(N, </a:t>
            </a:r>
            <a:r>
              <a:rPr lang="en-US" dirty="0" err="1"/>
              <a:t>ans</a:t>
            </a:r>
            <a:r>
              <a:rPr lang="en-US" dirty="0"/>
              <a:t>);</a:t>
            </a:r>
          </a:p>
          <a:p>
            <a:r>
              <a:rPr lang="en-US" dirty="0"/>
              <a:t>    </a:t>
            </a:r>
            <a:r>
              <a:rPr lang="en-US" dirty="0" err="1"/>
              <a:t>printf</a:t>
            </a:r>
            <a:r>
              <a:rPr lang="en-US" dirty="0"/>
              <a:t>("%d after again reverse using recursion", </a:t>
            </a:r>
            <a:r>
              <a:rPr lang="en-US" dirty="0" err="1"/>
              <a:t>ans</a:t>
            </a:r>
            <a:r>
              <a:rPr lang="en-US" dirty="0"/>
              <a:t>);</a:t>
            </a:r>
          </a:p>
          <a:p>
            <a:endParaRPr lang="en-US" dirty="0"/>
          </a:p>
          <a:p>
            <a:r>
              <a:rPr lang="en-US" dirty="0"/>
              <a:t>    return 0;</a:t>
            </a:r>
          </a:p>
          <a:p>
            <a:r>
              <a:rPr lang="en-US" dirty="0"/>
              <a:t>}</a:t>
            </a:r>
          </a:p>
        </p:txBody>
      </p:sp>
    </p:spTree>
    <p:extLst>
      <p:ext uri="{BB962C8B-B14F-4D97-AF65-F5344CB8AC3E}">
        <p14:creationId xmlns:p14="http://schemas.microsoft.com/office/powerpoint/2010/main" val="177150993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631E6-021D-7538-7EEF-A5E1A9DC882A}"/>
              </a:ext>
            </a:extLst>
          </p:cNvPr>
          <p:cNvSpPr>
            <a:spLocks noGrp="1"/>
          </p:cNvSpPr>
          <p:nvPr>
            <p:ph type="title"/>
          </p:nvPr>
        </p:nvSpPr>
        <p:spPr/>
        <p:txBody>
          <a:bodyPr>
            <a:normAutofit/>
          </a:bodyPr>
          <a:lstStyle/>
          <a:p>
            <a:pPr fontAlgn="base"/>
            <a:r>
              <a:rPr lang="en-IN" b="1" dirty="0">
                <a:effectLst/>
                <a:latin typeface="Nunito" pitchFamily="2" charset="77"/>
              </a:rPr>
              <a:t>12. Check whether a number is a palindrome.</a:t>
            </a:r>
            <a:endParaRPr lang="en-US" dirty="0"/>
          </a:p>
        </p:txBody>
      </p:sp>
      <p:sp>
        <p:nvSpPr>
          <p:cNvPr id="3" name="Content Placeholder 2">
            <a:extLst>
              <a:ext uri="{FF2B5EF4-FFF2-40B4-BE49-F238E27FC236}">
                <a16:creationId xmlns:a16="http://schemas.microsoft.com/office/drawing/2014/main" id="{77E7DA5E-F25A-25D0-E816-FE33C7B31EED}"/>
              </a:ext>
            </a:extLst>
          </p:cNvPr>
          <p:cNvSpPr>
            <a:spLocks noGrp="1"/>
          </p:cNvSpPr>
          <p:nvPr>
            <p:ph idx="1"/>
          </p:nvPr>
        </p:nvSpPr>
        <p:spPr>
          <a:xfrm>
            <a:off x="838200" y="1825625"/>
            <a:ext cx="5257800" cy="4351338"/>
          </a:xfrm>
        </p:spPr>
        <p:txBody>
          <a:bodyPr>
            <a:normAutofit fontScale="40000" lnSpcReduction="20000"/>
          </a:bodyPr>
          <a:lstStyle/>
          <a:p>
            <a:r>
              <a:rPr lang="en-US" dirty="0"/>
              <a:t>void </a:t>
            </a:r>
            <a:r>
              <a:rPr lang="en-US" dirty="0" err="1"/>
              <a:t>check_palindrome</a:t>
            </a:r>
            <a:r>
              <a:rPr lang="en-US" dirty="0"/>
              <a:t>(int N)</a:t>
            </a:r>
          </a:p>
          <a:p>
            <a:r>
              <a:rPr lang="en-US" dirty="0"/>
              <a:t>{</a:t>
            </a:r>
          </a:p>
          <a:p>
            <a:r>
              <a:rPr lang="en-US" dirty="0"/>
              <a:t>    int T = N;</a:t>
            </a:r>
          </a:p>
          <a:p>
            <a:r>
              <a:rPr lang="en-US" dirty="0"/>
              <a:t>    int rev = 0; // This variable stored reversed digit</a:t>
            </a:r>
          </a:p>
          <a:p>
            <a:endParaRPr lang="en-US" dirty="0"/>
          </a:p>
          <a:p>
            <a:r>
              <a:rPr lang="en-US" dirty="0"/>
              <a:t>    // Execute a while loop to reverse digits of given</a:t>
            </a:r>
          </a:p>
          <a:p>
            <a:r>
              <a:rPr lang="en-US" dirty="0"/>
              <a:t>    // number</a:t>
            </a:r>
          </a:p>
          <a:p>
            <a:r>
              <a:rPr lang="en-US" dirty="0"/>
              <a:t>    while (T != 0) {</a:t>
            </a:r>
          </a:p>
          <a:p>
            <a:r>
              <a:rPr lang="en-US" dirty="0"/>
              <a:t>        rev = rev * 10 + T % 10;</a:t>
            </a:r>
          </a:p>
          <a:p>
            <a:r>
              <a:rPr lang="en-US" dirty="0"/>
              <a:t>        T = T / 10;</a:t>
            </a:r>
          </a:p>
          <a:p>
            <a:r>
              <a:rPr lang="en-US" dirty="0"/>
              <a:t>    }</a:t>
            </a:r>
          </a:p>
          <a:p>
            <a:r>
              <a:rPr lang="en-US" dirty="0"/>
              <a:t>    // Compare </a:t>
            </a:r>
            <a:r>
              <a:rPr lang="en-US" dirty="0" err="1"/>
              <a:t>original_number</a:t>
            </a:r>
            <a:r>
              <a:rPr lang="en-US" dirty="0"/>
              <a:t> with reversed number</a:t>
            </a:r>
          </a:p>
          <a:p>
            <a:r>
              <a:rPr lang="en-US" dirty="0"/>
              <a:t>    if (rev == N)</a:t>
            </a:r>
          </a:p>
          <a:p>
            <a:r>
              <a:rPr lang="en-US" dirty="0"/>
              <a:t>        </a:t>
            </a:r>
            <a:r>
              <a:rPr lang="en-US" dirty="0" err="1"/>
              <a:t>printf</a:t>
            </a:r>
            <a:r>
              <a:rPr lang="en-US" dirty="0"/>
              <a:t>("%d is palindrome\n", N);</a:t>
            </a:r>
          </a:p>
          <a:p>
            <a:r>
              <a:rPr lang="en-US" dirty="0"/>
              <a:t>    else</a:t>
            </a:r>
          </a:p>
          <a:p>
            <a:r>
              <a:rPr lang="en-US" dirty="0"/>
              <a:t>        </a:t>
            </a:r>
            <a:r>
              <a:rPr lang="en-US" dirty="0" err="1"/>
              <a:t>printf</a:t>
            </a:r>
            <a:r>
              <a:rPr lang="en-US" dirty="0"/>
              <a:t>("%d is not a palindrome\n", N);</a:t>
            </a:r>
          </a:p>
          <a:p>
            <a:r>
              <a:rPr lang="en-US" dirty="0"/>
              <a:t>}</a:t>
            </a:r>
          </a:p>
        </p:txBody>
      </p:sp>
      <p:sp>
        <p:nvSpPr>
          <p:cNvPr id="4" name="Content Placeholder 2">
            <a:extLst>
              <a:ext uri="{FF2B5EF4-FFF2-40B4-BE49-F238E27FC236}">
                <a16:creationId xmlns:a16="http://schemas.microsoft.com/office/drawing/2014/main" id="{EA7A7798-C3FE-2A0A-E0A2-B51B64A383FD}"/>
              </a:ext>
            </a:extLst>
          </p:cNvPr>
          <p:cNvSpPr txBox="1">
            <a:spLocks/>
          </p:cNvSpPr>
          <p:nvPr/>
        </p:nvSpPr>
        <p:spPr>
          <a:xfrm>
            <a:off x="6096000" y="1702127"/>
            <a:ext cx="5257800" cy="4351338"/>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a:p>
            <a:r>
              <a:rPr lang="en-US" dirty="0"/>
              <a:t>int main()</a:t>
            </a:r>
          </a:p>
          <a:p>
            <a:r>
              <a:rPr lang="en-US" dirty="0"/>
              <a:t>{</a:t>
            </a:r>
          </a:p>
          <a:p>
            <a:r>
              <a:rPr lang="en-US" dirty="0"/>
              <a:t>    int N = 13431;</a:t>
            </a:r>
          </a:p>
          <a:p>
            <a:r>
              <a:rPr lang="en-US" dirty="0"/>
              <a:t>    int M = 12345;</a:t>
            </a:r>
          </a:p>
          <a:p>
            <a:endParaRPr lang="en-US" dirty="0"/>
          </a:p>
          <a:p>
            <a:r>
              <a:rPr lang="en-US" dirty="0"/>
              <a:t>    // Function call</a:t>
            </a:r>
          </a:p>
          <a:p>
            <a:r>
              <a:rPr lang="en-US" dirty="0"/>
              <a:t>    </a:t>
            </a:r>
            <a:r>
              <a:rPr lang="en-US" dirty="0" err="1"/>
              <a:t>check_palindrome</a:t>
            </a:r>
            <a:r>
              <a:rPr lang="en-US" dirty="0"/>
              <a:t>(N);</a:t>
            </a:r>
          </a:p>
          <a:p>
            <a:r>
              <a:rPr lang="en-US" dirty="0"/>
              <a:t>    </a:t>
            </a:r>
            <a:r>
              <a:rPr lang="en-US" dirty="0" err="1"/>
              <a:t>check_palindrome</a:t>
            </a:r>
            <a:r>
              <a:rPr lang="en-US" dirty="0"/>
              <a:t>(M);</a:t>
            </a:r>
          </a:p>
          <a:p>
            <a:endParaRPr lang="en-US" dirty="0"/>
          </a:p>
          <a:p>
            <a:r>
              <a:rPr lang="en-US" dirty="0"/>
              <a:t>    return 0;</a:t>
            </a:r>
          </a:p>
          <a:p>
            <a:r>
              <a:rPr lang="en-US" dirty="0"/>
              <a:t>}</a:t>
            </a:r>
          </a:p>
        </p:txBody>
      </p:sp>
    </p:spTree>
    <p:extLst>
      <p:ext uri="{BB962C8B-B14F-4D97-AF65-F5344CB8AC3E}">
        <p14:creationId xmlns:p14="http://schemas.microsoft.com/office/powerpoint/2010/main" val="1548630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97444-53E4-7305-66F2-B08F1C758DFD}"/>
              </a:ext>
            </a:extLst>
          </p:cNvPr>
          <p:cNvSpPr>
            <a:spLocks noGrp="1"/>
          </p:cNvSpPr>
          <p:nvPr>
            <p:ph type="title"/>
          </p:nvPr>
        </p:nvSpPr>
        <p:spPr/>
        <p:txBody>
          <a:bodyPr>
            <a:normAutofit fontScale="90000"/>
          </a:bodyPr>
          <a:lstStyle/>
          <a:p>
            <a:pPr fontAlgn="base"/>
            <a:r>
              <a:rPr lang="en-IN" b="1" dirty="0">
                <a:effectLst/>
                <a:latin typeface="Nunito" pitchFamily="2" charset="77"/>
              </a:rPr>
              <a:t>13. Write a C Program to check if two numbers are equal without using the comparison operator. </a:t>
            </a:r>
            <a:endParaRPr lang="en-US" dirty="0"/>
          </a:p>
        </p:txBody>
      </p:sp>
      <p:sp>
        <p:nvSpPr>
          <p:cNvPr id="3" name="Content Placeholder 2">
            <a:extLst>
              <a:ext uri="{FF2B5EF4-FFF2-40B4-BE49-F238E27FC236}">
                <a16:creationId xmlns:a16="http://schemas.microsoft.com/office/drawing/2014/main" id="{A88C34F7-515F-D019-F452-EC87A7A8C294}"/>
              </a:ext>
            </a:extLst>
          </p:cNvPr>
          <p:cNvSpPr>
            <a:spLocks noGrp="1"/>
          </p:cNvSpPr>
          <p:nvPr>
            <p:ph idx="1"/>
          </p:nvPr>
        </p:nvSpPr>
        <p:spPr/>
        <p:txBody>
          <a:bodyPr>
            <a:normAutofit fontScale="32500" lnSpcReduction="20000"/>
          </a:bodyPr>
          <a:lstStyle/>
          <a:p>
            <a:r>
              <a:rPr lang="en-US" dirty="0"/>
              <a:t>// C Program for checking numbers</a:t>
            </a:r>
          </a:p>
          <a:p>
            <a:r>
              <a:rPr lang="en-US" dirty="0"/>
              <a:t>// are equal using bitwise operator</a:t>
            </a:r>
          </a:p>
          <a:p>
            <a:r>
              <a:rPr lang="en-US" dirty="0"/>
              <a:t>#include &lt;</a:t>
            </a:r>
            <a:r>
              <a:rPr lang="en-US" dirty="0" err="1"/>
              <a:t>stdio.h</a:t>
            </a:r>
            <a:r>
              <a:rPr lang="en-US" dirty="0"/>
              <a:t>&gt;</a:t>
            </a:r>
          </a:p>
          <a:p>
            <a:endParaRPr lang="en-US" dirty="0"/>
          </a:p>
          <a:p>
            <a:r>
              <a:rPr lang="en-US" dirty="0"/>
              <a:t>int main()</a:t>
            </a:r>
          </a:p>
          <a:p>
            <a:r>
              <a:rPr lang="en-US" dirty="0"/>
              <a:t>{</a:t>
            </a:r>
          </a:p>
          <a:p>
            <a:r>
              <a:rPr lang="en-US" dirty="0"/>
              <a:t>    int x = 1;</a:t>
            </a:r>
          </a:p>
          <a:p>
            <a:r>
              <a:rPr lang="en-US" dirty="0"/>
              <a:t>    int y = 2;</a:t>
            </a:r>
          </a:p>
          <a:p>
            <a:endParaRPr lang="en-US" dirty="0"/>
          </a:p>
          <a:p>
            <a:r>
              <a:rPr lang="en-US" dirty="0"/>
              <a:t>    // Using XOR</a:t>
            </a:r>
          </a:p>
          <a:p>
            <a:r>
              <a:rPr lang="en-US" dirty="0"/>
              <a:t>    // XOR of two equal numbers is 0</a:t>
            </a:r>
          </a:p>
          <a:p>
            <a:r>
              <a:rPr lang="en-US" dirty="0"/>
              <a:t>    if (!(x ^ y))</a:t>
            </a:r>
          </a:p>
          <a:p>
            <a:r>
              <a:rPr lang="en-US" dirty="0"/>
              <a:t>        </a:t>
            </a:r>
            <a:r>
              <a:rPr lang="en-US" dirty="0" err="1"/>
              <a:t>printf</a:t>
            </a:r>
            <a:r>
              <a:rPr lang="en-US" dirty="0"/>
              <a:t>(" %d is equal to %d ", x, y);</a:t>
            </a:r>
          </a:p>
          <a:p>
            <a:r>
              <a:rPr lang="en-US" dirty="0"/>
              <a:t>    else</a:t>
            </a:r>
          </a:p>
          <a:p>
            <a:r>
              <a:rPr lang="en-US" dirty="0"/>
              <a:t>        </a:t>
            </a:r>
            <a:r>
              <a:rPr lang="en-US" dirty="0" err="1"/>
              <a:t>printf</a:t>
            </a:r>
            <a:r>
              <a:rPr lang="en-US" dirty="0"/>
              <a:t>(" %d is not equal to %d ", x, y);</a:t>
            </a:r>
          </a:p>
          <a:p>
            <a:endParaRPr lang="en-US" dirty="0"/>
          </a:p>
          <a:p>
            <a:r>
              <a:rPr lang="en-US" dirty="0"/>
              <a:t>    return 0;</a:t>
            </a:r>
          </a:p>
          <a:p>
            <a:r>
              <a:rPr lang="en-US" dirty="0"/>
              <a:t>}</a:t>
            </a:r>
          </a:p>
        </p:txBody>
      </p:sp>
    </p:spTree>
    <p:extLst>
      <p:ext uri="{BB962C8B-B14F-4D97-AF65-F5344CB8AC3E}">
        <p14:creationId xmlns:p14="http://schemas.microsoft.com/office/powerpoint/2010/main" val="56917802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5B149-A45E-E441-EFB5-DF34FDCA8119}"/>
              </a:ext>
            </a:extLst>
          </p:cNvPr>
          <p:cNvSpPr>
            <a:spLocks noGrp="1"/>
          </p:cNvSpPr>
          <p:nvPr>
            <p:ph type="title"/>
          </p:nvPr>
        </p:nvSpPr>
        <p:spPr/>
        <p:txBody>
          <a:bodyPr>
            <a:normAutofit/>
          </a:bodyPr>
          <a:lstStyle/>
          <a:p>
            <a:pPr fontAlgn="base"/>
            <a:r>
              <a:rPr lang="en-IN" b="1" dirty="0">
                <a:effectLst/>
                <a:latin typeface="Nunito" pitchFamily="2" charset="77"/>
              </a:rPr>
              <a:t>14. Write a  C program to find the GCD of two numbers.</a:t>
            </a:r>
            <a:endParaRPr lang="en-US" dirty="0"/>
          </a:p>
        </p:txBody>
      </p:sp>
      <p:sp>
        <p:nvSpPr>
          <p:cNvPr id="3" name="Content Placeholder 2">
            <a:extLst>
              <a:ext uri="{FF2B5EF4-FFF2-40B4-BE49-F238E27FC236}">
                <a16:creationId xmlns:a16="http://schemas.microsoft.com/office/drawing/2014/main" id="{EB693821-EB5B-23B7-12DD-913E9A494A5D}"/>
              </a:ext>
            </a:extLst>
          </p:cNvPr>
          <p:cNvSpPr>
            <a:spLocks noGrp="1"/>
          </p:cNvSpPr>
          <p:nvPr>
            <p:ph idx="1"/>
          </p:nvPr>
        </p:nvSpPr>
        <p:spPr/>
        <p:txBody>
          <a:bodyPr>
            <a:normAutofit fontScale="25000" lnSpcReduction="20000"/>
          </a:bodyPr>
          <a:lstStyle/>
          <a:p>
            <a:r>
              <a:rPr lang="en-US" dirty="0"/>
              <a:t>// C program to find GCD of two numbers</a:t>
            </a:r>
          </a:p>
          <a:p>
            <a:r>
              <a:rPr lang="en-US" dirty="0"/>
              <a:t>#include &lt;</a:t>
            </a:r>
            <a:r>
              <a:rPr lang="en-US" dirty="0" err="1"/>
              <a:t>math.h</a:t>
            </a:r>
            <a:r>
              <a:rPr lang="en-US" dirty="0"/>
              <a:t>&gt;</a:t>
            </a:r>
          </a:p>
          <a:p>
            <a:r>
              <a:rPr lang="en-US" dirty="0"/>
              <a:t>#include &lt;</a:t>
            </a:r>
            <a:r>
              <a:rPr lang="en-US" dirty="0" err="1"/>
              <a:t>stdio.h</a:t>
            </a:r>
            <a:r>
              <a:rPr lang="en-US" dirty="0"/>
              <a:t>&gt;</a:t>
            </a:r>
          </a:p>
          <a:p>
            <a:endParaRPr lang="en-US" dirty="0"/>
          </a:p>
          <a:p>
            <a:r>
              <a:rPr lang="en-US" dirty="0"/>
              <a:t>// Function to return </a:t>
            </a:r>
            <a:r>
              <a:rPr lang="en-US" dirty="0" err="1"/>
              <a:t>gcd</a:t>
            </a:r>
            <a:r>
              <a:rPr lang="en-US" dirty="0"/>
              <a:t> of a and b</a:t>
            </a:r>
          </a:p>
          <a:p>
            <a:r>
              <a:rPr lang="en-US" dirty="0"/>
              <a:t>int </a:t>
            </a:r>
            <a:r>
              <a:rPr lang="en-US" dirty="0" err="1"/>
              <a:t>gcd</a:t>
            </a:r>
            <a:r>
              <a:rPr lang="en-US" dirty="0"/>
              <a:t>(int a, int b)</a:t>
            </a:r>
          </a:p>
          <a:p>
            <a:r>
              <a:rPr lang="en-US" dirty="0"/>
              <a:t>{</a:t>
            </a:r>
          </a:p>
          <a:p>
            <a:r>
              <a:rPr lang="en-US" dirty="0"/>
              <a:t>    // Find Minimum of a and b</a:t>
            </a:r>
          </a:p>
          <a:p>
            <a:r>
              <a:rPr lang="en-US" dirty="0"/>
              <a:t>    int result = ((a &lt; b) ? a : b);</a:t>
            </a:r>
          </a:p>
          <a:p>
            <a:r>
              <a:rPr lang="en-US" dirty="0"/>
              <a:t>    while (result &gt; 0) {</a:t>
            </a:r>
          </a:p>
          <a:p>
            <a:r>
              <a:rPr lang="en-US" dirty="0"/>
              <a:t>        if (a % result == 0 &amp;&amp; b % result == 0) {</a:t>
            </a:r>
          </a:p>
          <a:p>
            <a:r>
              <a:rPr lang="en-US" dirty="0"/>
              <a:t>            break;</a:t>
            </a:r>
          </a:p>
          <a:p>
            <a:r>
              <a:rPr lang="en-US" dirty="0"/>
              <a:t>        }</a:t>
            </a:r>
          </a:p>
          <a:p>
            <a:r>
              <a:rPr lang="en-US" dirty="0"/>
              <a:t>        result--;</a:t>
            </a:r>
          </a:p>
          <a:p>
            <a:r>
              <a:rPr lang="en-US" dirty="0"/>
              <a:t>    }</a:t>
            </a:r>
          </a:p>
          <a:p>
            <a:r>
              <a:rPr lang="en-US" dirty="0"/>
              <a:t>    return result; // return </a:t>
            </a:r>
            <a:r>
              <a:rPr lang="en-US" dirty="0" err="1"/>
              <a:t>gcd</a:t>
            </a:r>
            <a:r>
              <a:rPr lang="en-US" dirty="0"/>
              <a:t> of a and b</a:t>
            </a:r>
          </a:p>
          <a:p>
            <a:r>
              <a:rPr lang="en-US" dirty="0"/>
              <a:t>}</a:t>
            </a:r>
          </a:p>
          <a:p>
            <a:endParaRPr lang="en-US" dirty="0"/>
          </a:p>
          <a:p>
            <a:r>
              <a:rPr lang="en-US" dirty="0"/>
              <a:t>// Driver program to test above function</a:t>
            </a:r>
          </a:p>
          <a:p>
            <a:r>
              <a:rPr lang="en-US" dirty="0"/>
              <a:t>int main()</a:t>
            </a:r>
          </a:p>
          <a:p>
            <a:r>
              <a:rPr lang="en-US" dirty="0"/>
              <a:t>{</a:t>
            </a:r>
          </a:p>
          <a:p>
            <a:r>
              <a:rPr lang="en-US" dirty="0"/>
              <a:t>    int a = 98, b = 56;</a:t>
            </a:r>
          </a:p>
          <a:p>
            <a:r>
              <a:rPr lang="en-US" dirty="0"/>
              <a:t>    </a:t>
            </a:r>
            <a:r>
              <a:rPr lang="en-US" dirty="0" err="1"/>
              <a:t>printf</a:t>
            </a:r>
            <a:r>
              <a:rPr lang="en-US" dirty="0"/>
              <a:t>("GCD of %d and %d is %d ", a, b, </a:t>
            </a:r>
            <a:r>
              <a:rPr lang="en-US" dirty="0" err="1"/>
              <a:t>gcd</a:t>
            </a:r>
            <a:r>
              <a:rPr lang="en-US" dirty="0"/>
              <a:t>(a, b));</a:t>
            </a:r>
          </a:p>
          <a:p>
            <a:r>
              <a:rPr lang="en-US" dirty="0"/>
              <a:t>    return 0;</a:t>
            </a:r>
          </a:p>
          <a:p>
            <a:r>
              <a:rPr lang="en-US" dirty="0"/>
              <a:t>}</a:t>
            </a:r>
          </a:p>
        </p:txBody>
      </p:sp>
    </p:spTree>
    <p:extLst>
      <p:ext uri="{BB962C8B-B14F-4D97-AF65-F5344CB8AC3E}">
        <p14:creationId xmlns:p14="http://schemas.microsoft.com/office/powerpoint/2010/main" val="77513933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B566-33E0-079C-70E0-E27052C46B0E}"/>
              </a:ext>
            </a:extLst>
          </p:cNvPr>
          <p:cNvSpPr>
            <a:spLocks noGrp="1"/>
          </p:cNvSpPr>
          <p:nvPr>
            <p:ph type="title"/>
          </p:nvPr>
        </p:nvSpPr>
        <p:spPr/>
        <p:txBody>
          <a:bodyPr>
            <a:normAutofit/>
          </a:bodyPr>
          <a:lstStyle/>
          <a:p>
            <a:pPr fontAlgn="base"/>
            <a:r>
              <a:rPr lang="en-IN" b="1" dirty="0">
                <a:effectLst/>
                <a:latin typeface="Nunito" pitchFamily="2" charset="77"/>
              </a:rPr>
              <a:t>15. Write a C program to find the LCM of two numbers.</a:t>
            </a:r>
            <a:endParaRPr lang="en-US" dirty="0"/>
          </a:p>
        </p:txBody>
      </p:sp>
      <p:sp>
        <p:nvSpPr>
          <p:cNvPr id="3" name="Content Placeholder 2">
            <a:extLst>
              <a:ext uri="{FF2B5EF4-FFF2-40B4-BE49-F238E27FC236}">
                <a16:creationId xmlns:a16="http://schemas.microsoft.com/office/drawing/2014/main" id="{D84BBF76-4BD0-0E04-6FBB-CEF497CFBC78}"/>
              </a:ext>
            </a:extLst>
          </p:cNvPr>
          <p:cNvSpPr>
            <a:spLocks noGrp="1"/>
          </p:cNvSpPr>
          <p:nvPr>
            <p:ph idx="1"/>
          </p:nvPr>
        </p:nvSpPr>
        <p:spPr/>
        <p:txBody>
          <a:bodyPr>
            <a:normAutofit fontScale="25000" lnSpcReduction="20000"/>
          </a:bodyPr>
          <a:lstStyle/>
          <a:p>
            <a:r>
              <a:rPr lang="en-US" dirty="0"/>
              <a:t>// C program to find</a:t>
            </a:r>
          </a:p>
          <a:p>
            <a:r>
              <a:rPr lang="en-US" dirty="0"/>
              <a:t>// LCM of two numbers</a:t>
            </a:r>
          </a:p>
          <a:p>
            <a:r>
              <a:rPr lang="en-US" dirty="0"/>
              <a:t>#include &lt;</a:t>
            </a:r>
            <a:r>
              <a:rPr lang="en-US" dirty="0" err="1"/>
              <a:t>stdio.h</a:t>
            </a:r>
            <a:r>
              <a:rPr lang="en-US" dirty="0"/>
              <a:t>&gt;</a:t>
            </a:r>
          </a:p>
          <a:p>
            <a:endParaRPr lang="en-US" dirty="0"/>
          </a:p>
          <a:p>
            <a:r>
              <a:rPr lang="en-US" dirty="0"/>
              <a:t>// minimum of two numbers</a:t>
            </a:r>
          </a:p>
          <a:p>
            <a:r>
              <a:rPr lang="en-US" dirty="0"/>
              <a:t>int Min(int Num1, int Num2)</a:t>
            </a:r>
          </a:p>
          <a:p>
            <a:r>
              <a:rPr lang="en-US" dirty="0"/>
              <a:t>{</a:t>
            </a:r>
          </a:p>
          <a:p>
            <a:r>
              <a:rPr lang="en-US" dirty="0"/>
              <a:t>    if (Num1 &gt;= Num2)</a:t>
            </a:r>
          </a:p>
          <a:p>
            <a:r>
              <a:rPr lang="en-US" dirty="0"/>
              <a:t>        return Num2;</a:t>
            </a:r>
          </a:p>
          <a:p>
            <a:r>
              <a:rPr lang="en-US" dirty="0"/>
              <a:t>    else</a:t>
            </a:r>
          </a:p>
          <a:p>
            <a:r>
              <a:rPr lang="en-US" dirty="0"/>
              <a:t>        return Num1;</a:t>
            </a:r>
          </a:p>
          <a:p>
            <a:r>
              <a:rPr lang="en-US" dirty="0"/>
              <a:t>}</a:t>
            </a:r>
          </a:p>
          <a:p>
            <a:endParaRPr lang="en-US" dirty="0"/>
          </a:p>
          <a:p>
            <a:r>
              <a:rPr lang="en-US" dirty="0"/>
              <a:t>int LCM(int Num1, int Num2, int K)</a:t>
            </a:r>
          </a:p>
          <a:p>
            <a:r>
              <a:rPr lang="en-US" dirty="0"/>
              <a:t>{</a:t>
            </a:r>
          </a:p>
          <a:p>
            <a:r>
              <a:rPr lang="en-US" dirty="0"/>
              <a:t>    // If either of the two numbers</a:t>
            </a:r>
          </a:p>
          <a:p>
            <a:r>
              <a:rPr lang="en-US" dirty="0"/>
              <a:t>    // is 1, return their product</a:t>
            </a:r>
          </a:p>
          <a:p>
            <a:r>
              <a:rPr lang="en-US" dirty="0"/>
              <a:t>    if (Num1 == 1 || Num2 == 1)</a:t>
            </a:r>
          </a:p>
          <a:p>
            <a:r>
              <a:rPr lang="en-US" dirty="0"/>
              <a:t>        return Num1 * Num2;</a:t>
            </a:r>
          </a:p>
          <a:p>
            <a:endParaRPr lang="en-US" dirty="0"/>
          </a:p>
          <a:p>
            <a:r>
              <a:rPr lang="en-US" dirty="0"/>
              <a:t>    // If both the numbers are equal</a:t>
            </a:r>
          </a:p>
          <a:p>
            <a:r>
              <a:rPr lang="en-US" dirty="0"/>
              <a:t>    if (Num1 == Num2)</a:t>
            </a:r>
          </a:p>
          <a:p>
            <a:r>
              <a:rPr lang="en-US" dirty="0"/>
              <a:t>        return Num1;</a:t>
            </a:r>
          </a:p>
          <a:p>
            <a:endParaRPr lang="en-US" dirty="0"/>
          </a:p>
          <a:p>
            <a:r>
              <a:rPr lang="en-US" dirty="0"/>
              <a:t>    // If K is smaller than the</a:t>
            </a:r>
          </a:p>
          <a:p>
            <a:r>
              <a:rPr lang="en-US" dirty="0"/>
              <a:t>    // minimum of the two numbers</a:t>
            </a:r>
          </a:p>
          <a:p>
            <a:r>
              <a:rPr lang="en-US" dirty="0"/>
              <a:t>    if (K &lt;= Min(Num1, Num2)) {</a:t>
            </a:r>
          </a:p>
          <a:p>
            <a:endParaRPr lang="en-US" dirty="0"/>
          </a:p>
          <a:p>
            <a:r>
              <a:rPr lang="en-US" dirty="0"/>
              <a:t>        // Checks if both numbers are</a:t>
            </a:r>
          </a:p>
          <a:p>
            <a:r>
              <a:rPr lang="en-US" dirty="0"/>
              <a:t>        // divisible by K or not</a:t>
            </a:r>
          </a:p>
          <a:p>
            <a:r>
              <a:rPr lang="en-US" dirty="0"/>
              <a:t>        if (Num1 % K == 0 &amp;&amp; Num2 % K == 0) {</a:t>
            </a:r>
          </a:p>
          <a:p>
            <a:endParaRPr lang="en-US" dirty="0"/>
          </a:p>
          <a:p>
            <a:r>
              <a:rPr lang="en-US" dirty="0"/>
              <a:t>            // Recursively call LCM() function</a:t>
            </a:r>
          </a:p>
          <a:p>
            <a:r>
              <a:rPr lang="en-US" dirty="0"/>
              <a:t>            return K * LCM(Num1 / K, Num2 / K, 2);</a:t>
            </a:r>
          </a:p>
          <a:p>
            <a:r>
              <a:rPr lang="en-US" dirty="0"/>
              <a:t>        }</a:t>
            </a:r>
          </a:p>
          <a:p>
            <a:endParaRPr lang="en-US" dirty="0"/>
          </a:p>
          <a:p>
            <a:r>
              <a:rPr lang="en-US" dirty="0"/>
              <a:t>        // Otherwise</a:t>
            </a:r>
          </a:p>
          <a:p>
            <a:r>
              <a:rPr lang="en-US" dirty="0"/>
              <a:t>        else</a:t>
            </a:r>
          </a:p>
          <a:p>
            <a:r>
              <a:rPr lang="en-US" dirty="0"/>
              <a:t>            return LCM(Num1, Num2, K + 1);</a:t>
            </a:r>
          </a:p>
          <a:p>
            <a:r>
              <a:rPr lang="en-US" dirty="0"/>
              <a:t>    }</a:t>
            </a:r>
          </a:p>
          <a:p>
            <a:endParaRPr lang="en-US" dirty="0"/>
          </a:p>
          <a:p>
            <a:r>
              <a:rPr lang="en-US" dirty="0"/>
              <a:t>    // If K exceeds minimum</a:t>
            </a:r>
          </a:p>
          <a:p>
            <a:r>
              <a:rPr lang="en-US" dirty="0"/>
              <a:t>    else</a:t>
            </a:r>
          </a:p>
          <a:p>
            <a:r>
              <a:rPr lang="en-US" dirty="0"/>
              <a:t>        return Num1 * Num2;</a:t>
            </a:r>
          </a:p>
          <a:p>
            <a:r>
              <a:rPr lang="en-US" dirty="0"/>
              <a:t>}</a:t>
            </a:r>
          </a:p>
          <a:p>
            <a:endParaRPr lang="en-US" dirty="0"/>
          </a:p>
          <a:p>
            <a:r>
              <a:rPr lang="en-US" dirty="0"/>
              <a:t>int main()</a:t>
            </a:r>
          </a:p>
          <a:p>
            <a:r>
              <a:rPr lang="en-US" dirty="0"/>
              <a:t>{</a:t>
            </a:r>
          </a:p>
          <a:p>
            <a:r>
              <a:rPr lang="en-US" dirty="0"/>
              <a:t>    // Given N &amp; M</a:t>
            </a:r>
          </a:p>
          <a:p>
            <a:r>
              <a:rPr lang="en-US" dirty="0"/>
              <a:t>    int N = 12, M = 9;</a:t>
            </a:r>
          </a:p>
          <a:p>
            <a:endParaRPr lang="en-US" dirty="0"/>
          </a:p>
          <a:p>
            <a:r>
              <a:rPr lang="en-US" dirty="0"/>
              <a:t>    // Function Call</a:t>
            </a:r>
          </a:p>
          <a:p>
            <a:r>
              <a:rPr lang="en-US" dirty="0"/>
              <a:t>    int </a:t>
            </a:r>
            <a:r>
              <a:rPr lang="en-US" dirty="0" err="1"/>
              <a:t>ans</a:t>
            </a:r>
            <a:r>
              <a:rPr lang="en-US" dirty="0"/>
              <a:t> = LCM(N, M, 2);</a:t>
            </a:r>
          </a:p>
          <a:p>
            <a:endParaRPr lang="en-US" dirty="0"/>
          </a:p>
          <a:p>
            <a:r>
              <a:rPr lang="en-US" dirty="0"/>
              <a:t>    </a:t>
            </a:r>
            <a:r>
              <a:rPr lang="en-US" dirty="0" err="1"/>
              <a:t>printf</a:t>
            </a:r>
            <a:r>
              <a:rPr lang="en-US" dirty="0"/>
              <a:t>("%d", </a:t>
            </a:r>
            <a:r>
              <a:rPr lang="en-US" dirty="0" err="1"/>
              <a:t>ans</a:t>
            </a:r>
            <a:r>
              <a:rPr lang="en-US" dirty="0"/>
              <a:t>);</a:t>
            </a:r>
          </a:p>
          <a:p>
            <a:endParaRPr lang="en-US" dirty="0"/>
          </a:p>
          <a:p>
            <a:r>
              <a:rPr lang="en-US" dirty="0"/>
              <a:t>    return 0;</a:t>
            </a:r>
          </a:p>
          <a:p>
            <a:r>
              <a:rPr lang="en-US" dirty="0"/>
              <a:t>}</a:t>
            </a:r>
          </a:p>
        </p:txBody>
      </p:sp>
    </p:spTree>
    <p:extLst>
      <p:ext uri="{BB962C8B-B14F-4D97-AF65-F5344CB8AC3E}">
        <p14:creationId xmlns:p14="http://schemas.microsoft.com/office/powerpoint/2010/main" val="21255305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83FAD-31D0-BC70-8EA6-A7048DD318A2}"/>
              </a:ext>
            </a:extLst>
          </p:cNvPr>
          <p:cNvSpPr>
            <a:spLocks noGrp="1"/>
          </p:cNvSpPr>
          <p:nvPr>
            <p:ph type="title"/>
          </p:nvPr>
        </p:nvSpPr>
        <p:spPr/>
        <p:txBody>
          <a:bodyPr/>
          <a:lstStyle/>
          <a:p>
            <a:r>
              <a:rPr lang="en-US" dirty="0"/>
              <a:t>Min and Max with no condition no loop</a:t>
            </a:r>
          </a:p>
        </p:txBody>
      </p:sp>
      <p:sp>
        <p:nvSpPr>
          <p:cNvPr id="3" name="Content Placeholder 2">
            <a:extLst>
              <a:ext uri="{FF2B5EF4-FFF2-40B4-BE49-F238E27FC236}">
                <a16:creationId xmlns:a16="http://schemas.microsoft.com/office/drawing/2014/main" id="{0012B588-9ACC-ADD7-39F6-1801C274B15F}"/>
              </a:ext>
            </a:extLst>
          </p:cNvPr>
          <p:cNvSpPr>
            <a:spLocks noGrp="1"/>
          </p:cNvSpPr>
          <p:nvPr>
            <p:ph idx="1"/>
          </p:nvPr>
        </p:nvSpPr>
        <p:spPr/>
        <p:txBody>
          <a:bodyPr>
            <a:normAutofit fontScale="32500" lnSpcReduction="20000"/>
          </a:bodyPr>
          <a:lstStyle/>
          <a:p>
            <a:r>
              <a:rPr lang="en-US" dirty="0"/>
              <a:t>// C Program to check</a:t>
            </a:r>
          </a:p>
          <a:p>
            <a:r>
              <a:rPr lang="en-US" dirty="0"/>
              <a:t>// Maximum and Minimum</a:t>
            </a:r>
          </a:p>
          <a:p>
            <a:r>
              <a:rPr lang="en-US" dirty="0"/>
              <a:t>// Between two numbers</a:t>
            </a:r>
          </a:p>
          <a:p>
            <a:r>
              <a:rPr lang="en-US" dirty="0"/>
              <a:t>// Without any condition or loop</a:t>
            </a:r>
          </a:p>
          <a:p>
            <a:r>
              <a:rPr lang="en-US" dirty="0"/>
              <a:t>#include &lt;</a:t>
            </a:r>
            <a:r>
              <a:rPr lang="en-US" dirty="0" err="1"/>
              <a:t>stdio.h</a:t>
            </a:r>
            <a:r>
              <a:rPr lang="en-US" dirty="0"/>
              <a:t>&gt;</a:t>
            </a:r>
          </a:p>
          <a:p>
            <a:r>
              <a:rPr lang="en-US" dirty="0"/>
              <a:t>#include &lt;</a:t>
            </a:r>
            <a:r>
              <a:rPr lang="en-US" dirty="0" err="1"/>
              <a:t>stdlib.h</a:t>
            </a:r>
            <a:r>
              <a:rPr lang="en-US" dirty="0"/>
              <a:t>&gt;</a:t>
            </a:r>
          </a:p>
          <a:p>
            <a:endParaRPr lang="en-US" dirty="0"/>
          </a:p>
          <a:p>
            <a:r>
              <a:rPr lang="en-US" dirty="0"/>
              <a:t>int main()</a:t>
            </a:r>
          </a:p>
          <a:p>
            <a:r>
              <a:rPr lang="en-US" dirty="0"/>
              <a:t>{</a:t>
            </a:r>
          </a:p>
          <a:p>
            <a:r>
              <a:rPr lang="en-US" dirty="0"/>
              <a:t>    int a = 55, b = 23;</a:t>
            </a:r>
          </a:p>
          <a:p>
            <a:endParaRPr lang="en-US" dirty="0"/>
          </a:p>
          <a:p>
            <a:r>
              <a:rPr lang="en-US" dirty="0"/>
              <a:t>    // return maximum among the two numbers</a:t>
            </a:r>
          </a:p>
          <a:p>
            <a:r>
              <a:rPr lang="en-US" dirty="0"/>
              <a:t>    </a:t>
            </a:r>
            <a:r>
              <a:rPr lang="en-US" dirty="0" err="1"/>
              <a:t>printf</a:t>
            </a:r>
            <a:r>
              <a:rPr lang="en-US" dirty="0"/>
              <a:t>("max = %d\n", ((a + b) + abs(a - b)) / 2);</a:t>
            </a:r>
          </a:p>
          <a:p>
            <a:endParaRPr lang="en-US" dirty="0"/>
          </a:p>
          <a:p>
            <a:r>
              <a:rPr lang="en-US" dirty="0"/>
              <a:t>    // return minimum among the two numbers</a:t>
            </a:r>
          </a:p>
          <a:p>
            <a:r>
              <a:rPr lang="en-US" dirty="0"/>
              <a:t>    </a:t>
            </a:r>
            <a:r>
              <a:rPr lang="en-US" dirty="0" err="1"/>
              <a:t>printf</a:t>
            </a:r>
            <a:r>
              <a:rPr lang="en-US" dirty="0"/>
              <a:t>("min = %d", ((a + b) - abs(a - b)) / 2);</a:t>
            </a:r>
          </a:p>
          <a:p>
            <a:endParaRPr lang="en-US" dirty="0"/>
          </a:p>
          <a:p>
            <a:r>
              <a:rPr lang="en-US" dirty="0"/>
              <a:t>    return 0;</a:t>
            </a:r>
          </a:p>
          <a:p>
            <a:r>
              <a:rPr lang="en-US" dirty="0"/>
              <a:t>}</a:t>
            </a:r>
          </a:p>
        </p:txBody>
      </p:sp>
    </p:spTree>
    <p:extLst>
      <p:ext uri="{BB962C8B-B14F-4D97-AF65-F5344CB8AC3E}">
        <p14:creationId xmlns:p14="http://schemas.microsoft.com/office/powerpoint/2010/main" val="373642578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47053-C1D9-5CA4-8AC1-04C99CB99757}"/>
              </a:ext>
            </a:extLst>
          </p:cNvPr>
          <p:cNvSpPr>
            <a:spLocks noGrp="1"/>
          </p:cNvSpPr>
          <p:nvPr>
            <p:ph type="title"/>
          </p:nvPr>
        </p:nvSpPr>
        <p:spPr/>
        <p:txBody>
          <a:bodyPr/>
          <a:lstStyle/>
          <a:p>
            <a:r>
              <a:rPr lang="en-US" dirty="0"/>
              <a:t>Print N </a:t>
            </a:r>
            <a:r>
              <a:rPr lang="en-US" dirty="0" err="1"/>
              <a:t>natual</a:t>
            </a:r>
            <a:r>
              <a:rPr lang="en-US" dirty="0"/>
              <a:t> numbers without semi-colon</a:t>
            </a:r>
          </a:p>
        </p:txBody>
      </p:sp>
      <p:sp>
        <p:nvSpPr>
          <p:cNvPr id="3" name="Content Placeholder 2">
            <a:extLst>
              <a:ext uri="{FF2B5EF4-FFF2-40B4-BE49-F238E27FC236}">
                <a16:creationId xmlns:a16="http://schemas.microsoft.com/office/drawing/2014/main" id="{6E357B46-4FE3-5767-1B44-E55C1423846C}"/>
              </a:ext>
            </a:extLst>
          </p:cNvPr>
          <p:cNvSpPr>
            <a:spLocks noGrp="1"/>
          </p:cNvSpPr>
          <p:nvPr>
            <p:ph idx="1"/>
          </p:nvPr>
        </p:nvSpPr>
        <p:spPr/>
        <p:txBody>
          <a:bodyPr>
            <a:normAutofit fontScale="85000" lnSpcReduction="20000"/>
          </a:bodyPr>
          <a:lstStyle/>
          <a:p>
            <a:r>
              <a:rPr lang="en-US" dirty="0"/>
              <a:t>// C program to print</a:t>
            </a:r>
          </a:p>
          <a:p>
            <a:r>
              <a:rPr lang="en-US" dirty="0"/>
              <a:t>// all natural numbers</a:t>
            </a:r>
          </a:p>
          <a:p>
            <a:r>
              <a:rPr lang="en-US" dirty="0"/>
              <a:t>// </a:t>
            </a:r>
            <a:r>
              <a:rPr lang="en-US" dirty="0" err="1"/>
              <a:t>upto</a:t>
            </a:r>
            <a:r>
              <a:rPr lang="en-US" dirty="0"/>
              <a:t> N without using semi-colon</a:t>
            </a:r>
          </a:p>
          <a:p>
            <a:r>
              <a:rPr lang="en-US" dirty="0"/>
              <a:t>#include &lt;</a:t>
            </a:r>
            <a:r>
              <a:rPr lang="en-US" dirty="0" err="1"/>
              <a:t>stdio.h</a:t>
            </a:r>
            <a:r>
              <a:rPr lang="en-US" dirty="0"/>
              <a:t>&gt;</a:t>
            </a:r>
          </a:p>
          <a:p>
            <a:r>
              <a:rPr lang="en-US" dirty="0"/>
              <a:t>#define N 10</a:t>
            </a:r>
          </a:p>
          <a:p>
            <a:endParaRPr lang="en-US" dirty="0"/>
          </a:p>
          <a:p>
            <a:r>
              <a:rPr lang="en-US" dirty="0"/>
              <a:t>int main(int </a:t>
            </a:r>
            <a:r>
              <a:rPr lang="en-US" dirty="0" err="1"/>
              <a:t>val</a:t>
            </a:r>
            <a:r>
              <a:rPr lang="en-US" dirty="0"/>
              <a:t>)</a:t>
            </a:r>
          </a:p>
          <a:p>
            <a:r>
              <a:rPr lang="en-US" dirty="0"/>
              <a:t>{</a:t>
            </a:r>
          </a:p>
          <a:p>
            <a:r>
              <a:rPr lang="en-US" dirty="0"/>
              <a:t>    if (</a:t>
            </a:r>
            <a:r>
              <a:rPr lang="en-US" dirty="0" err="1"/>
              <a:t>val</a:t>
            </a:r>
            <a:r>
              <a:rPr lang="en-US" dirty="0"/>
              <a:t> &lt;= N &amp;&amp; </a:t>
            </a:r>
            <a:r>
              <a:rPr lang="en-US" dirty="0" err="1"/>
              <a:t>printf</a:t>
            </a:r>
            <a:r>
              <a:rPr lang="en-US" dirty="0"/>
              <a:t>("%d ", </a:t>
            </a:r>
            <a:r>
              <a:rPr lang="en-US" dirty="0" err="1"/>
              <a:t>val</a:t>
            </a:r>
            <a:r>
              <a:rPr lang="en-US" dirty="0"/>
              <a:t>) &amp;&amp; main(</a:t>
            </a:r>
            <a:r>
              <a:rPr lang="en-US" dirty="0" err="1"/>
              <a:t>val</a:t>
            </a:r>
            <a:r>
              <a:rPr lang="en-US" dirty="0"/>
              <a:t> + 1)) {</a:t>
            </a:r>
          </a:p>
          <a:p>
            <a:r>
              <a:rPr lang="en-US" dirty="0"/>
              <a:t>    }</a:t>
            </a:r>
          </a:p>
          <a:p>
            <a:r>
              <a:rPr lang="en-US" dirty="0"/>
              <a:t>}</a:t>
            </a:r>
          </a:p>
        </p:txBody>
      </p:sp>
    </p:spTree>
    <p:extLst>
      <p:ext uri="{BB962C8B-B14F-4D97-AF65-F5344CB8AC3E}">
        <p14:creationId xmlns:p14="http://schemas.microsoft.com/office/powerpoint/2010/main" val="61475618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EC1A5-AF42-4D53-8F64-53F95B6568CF}"/>
              </a:ext>
            </a:extLst>
          </p:cNvPr>
          <p:cNvSpPr>
            <a:spLocks noGrp="1"/>
          </p:cNvSpPr>
          <p:nvPr>
            <p:ph type="title"/>
          </p:nvPr>
        </p:nvSpPr>
        <p:spPr/>
        <p:txBody>
          <a:bodyPr>
            <a:normAutofit/>
          </a:bodyPr>
          <a:lstStyle/>
          <a:p>
            <a:pPr fontAlgn="base"/>
            <a:r>
              <a:rPr lang="en-IN" b="1" dirty="0">
                <a:effectLst/>
                <a:latin typeface="Nunito" pitchFamily="2" charset="77"/>
              </a:rPr>
              <a:t>19.  Write a Program to create a pyramid pattern using C.</a:t>
            </a:r>
            <a:endParaRPr lang="en-US" dirty="0"/>
          </a:p>
        </p:txBody>
      </p:sp>
      <p:sp>
        <p:nvSpPr>
          <p:cNvPr id="3" name="Content Placeholder 2">
            <a:extLst>
              <a:ext uri="{FF2B5EF4-FFF2-40B4-BE49-F238E27FC236}">
                <a16:creationId xmlns:a16="http://schemas.microsoft.com/office/drawing/2014/main" id="{ED2D71B5-B7D7-C492-F4FB-3BF9FD6B67B8}"/>
              </a:ext>
            </a:extLst>
          </p:cNvPr>
          <p:cNvSpPr>
            <a:spLocks noGrp="1"/>
          </p:cNvSpPr>
          <p:nvPr>
            <p:ph idx="1"/>
          </p:nvPr>
        </p:nvSpPr>
        <p:spPr/>
        <p:txBody>
          <a:bodyPr>
            <a:normAutofit fontScale="25000" lnSpcReduction="20000"/>
          </a:bodyPr>
          <a:lstStyle/>
          <a:p>
            <a:r>
              <a:rPr lang="en-US" dirty="0"/>
              <a:t>// C Program print Pyramid pattern</a:t>
            </a:r>
          </a:p>
          <a:p>
            <a:r>
              <a:rPr lang="en-US" dirty="0"/>
              <a:t>#include &lt;</a:t>
            </a:r>
            <a:r>
              <a:rPr lang="en-US" dirty="0" err="1"/>
              <a:t>stdio.h</a:t>
            </a:r>
            <a:r>
              <a:rPr lang="en-US" dirty="0"/>
              <a:t>&gt;</a:t>
            </a:r>
          </a:p>
          <a:p>
            <a:endParaRPr lang="en-US" dirty="0"/>
          </a:p>
          <a:p>
            <a:r>
              <a:rPr lang="en-US" dirty="0"/>
              <a:t>int main()</a:t>
            </a:r>
          </a:p>
          <a:p>
            <a:r>
              <a:rPr lang="en-US" dirty="0"/>
              <a:t>{</a:t>
            </a:r>
          </a:p>
          <a:p>
            <a:r>
              <a:rPr lang="en-US" dirty="0"/>
              <a:t>    int N = 5;</a:t>
            </a:r>
          </a:p>
          <a:p>
            <a:endParaRPr lang="en-US" dirty="0"/>
          </a:p>
          <a:p>
            <a:r>
              <a:rPr lang="en-US" dirty="0"/>
              <a:t>    // Outer Loop for number of rows</a:t>
            </a:r>
          </a:p>
          <a:p>
            <a:r>
              <a:rPr lang="en-US" dirty="0"/>
              <a:t>    for (int </a:t>
            </a:r>
            <a:r>
              <a:rPr lang="en-US" dirty="0" err="1"/>
              <a:t>i</a:t>
            </a:r>
            <a:r>
              <a:rPr lang="en-US" dirty="0"/>
              <a:t> = 1; </a:t>
            </a:r>
            <a:r>
              <a:rPr lang="en-US" dirty="0" err="1"/>
              <a:t>i</a:t>
            </a:r>
            <a:r>
              <a:rPr lang="en-US" dirty="0"/>
              <a:t> &lt;= N; </a:t>
            </a:r>
            <a:r>
              <a:rPr lang="en-US" dirty="0" err="1"/>
              <a:t>i</a:t>
            </a:r>
            <a:r>
              <a:rPr lang="en-US" dirty="0"/>
              <a:t>++) {</a:t>
            </a:r>
          </a:p>
          <a:p>
            <a:endParaRPr lang="en-US" dirty="0"/>
          </a:p>
          <a:p>
            <a:r>
              <a:rPr lang="en-US" dirty="0"/>
              <a:t>        // inner Loop for space printing</a:t>
            </a:r>
          </a:p>
          <a:p>
            <a:r>
              <a:rPr lang="en-US" dirty="0"/>
              <a:t>        for (int j = 1; j &lt;= N - </a:t>
            </a:r>
            <a:r>
              <a:rPr lang="en-US" dirty="0" err="1"/>
              <a:t>i</a:t>
            </a:r>
            <a:r>
              <a:rPr lang="en-US" dirty="0"/>
              <a:t>; </a:t>
            </a:r>
            <a:r>
              <a:rPr lang="en-US" dirty="0" err="1"/>
              <a:t>j++</a:t>
            </a:r>
            <a:r>
              <a:rPr lang="en-US" dirty="0"/>
              <a:t>)</a:t>
            </a:r>
          </a:p>
          <a:p>
            <a:r>
              <a:rPr lang="en-US" dirty="0"/>
              <a:t>            </a:t>
            </a:r>
            <a:r>
              <a:rPr lang="en-US" dirty="0" err="1"/>
              <a:t>printf</a:t>
            </a:r>
            <a:r>
              <a:rPr lang="en-US" dirty="0"/>
              <a:t>(" ");</a:t>
            </a:r>
          </a:p>
          <a:p>
            <a:endParaRPr lang="en-US" dirty="0"/>
          </a:p>
          <a:p>
            <a:r>
              <a:rPr lang="en-US" dirty="0"/>
              <a:t>        // inner Loop for star printing</a:t>
            </a:r>
          </a:p>
          <a:p>
            <a:r>
              <a:rPr lang="en-US" dirty="0"/>
              <a:t>        for (int j = 1; j &lt; 2 * </a:t>
            </a:r>
            <a:r>
              <a:rPr lang="en-US" dirty="0" err="1"/>
              <a:t>i</a:t>
            </a:r>
            <a:r>
              <a:rPr lang="en-US" dirty="0"/>
              <a:t>; </a:t>
            </a:r>
            <a:r>
              <a:rPr lang="en-US" dirty="0" err="1"/>
              <a:t>j++</a:t>
            </a:r>
            <a:r>
              <a:rPr lang="en-US" dirty="0"/>
              <a:t>)</a:t>
            </a:r>
          </a:p>
          <a:p>
            <a:r>
              <a:rPr lang="en-US" dirty="0"/>
              <a:t>            </a:t>
            </a:r>
            <a:r>
              <a:rPr lang="en-US" dirty="0" err="1"/>
              <a:t>printf</a:t>
            </a:r>
            <a:r>
              <a:rPr lang="en-US" dirty="0"/>
              <a:t>("*");</a:t>
            </a:r>
          </a:p>
          <a:p>
            <a:r>
              <a:rPr lang="en-US" dirty="0"/>
              <a:t>        </a:t>
            </a:r>
            <a:r>
              <a:rPr lang="en-US" dirty="0" err="1"/>
              <a:t>printf</a:t>
            </a:r>
            <a:r>
              <a:rPr lang="en-US" dirty="0"/>
              <a:t>("\n");</a:t>
            </a:r>
          </a:p>
          <a:p>
            <a:r>
              <a:rPr lang="en-US" dirty="0"/>
              <a:t>    }</a:t>
            </a:r>
          </a:p>
          <a:p>
            <a:r>
              <a:rPr lang="en-US" dirty="0"/>
              <a:t>    return 0;</a:t>
            </a:r>
          </a:p>
          <a:p>
            <a:r>
              <a:rPr lang="en-US" dirty="0"/>
              <a:t>}</a:t>
            </a:r>
          </a:p>
        </p:txBody>
      </p:sp>
    </p:spTree>
    <p:extLst>
      <p:ext uri="{BB962C8B-B14F-4D97-AF65-F5344CB8AC3E}">
        <p14:creationId xmlns:p14="http://schemas.microsoft.com/office/powerpoint/2010/main" val="402691630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E5CF1-EC88-258E-FDC8-AB23BCD808D6}"/>
              </a:ext>
            </a:extLst>
          </p:cNvPr>
          <p:cNvSpPr>
            <a:spLocks noGrp="1"/>
          </p:cNvSpPr>
          <p:nvPr>
            <p:ph type="title"/>
          </p:nvPr>
        </p:nvSpPr>
        <p:spPr/>
        <p:txBody>
          <a:bodyPr>
            <a:normAutofit/>
          </a:bodyPr>
          <a:lstStyle/>
          <a:p>
            <a:pPr fontAlgn="base"/>
            <a:r>
              <a:rPr lang="en-IN" b="1" dirty="0">
                <a:effectLst/>
                <a:latin typeface="Nunito" pitchFamily="2" charset="77"/>
              </a:rPr>
              <a:t>22. Write a program to reverse an Array.</a:t>
            </a:r>
            <a:endParaRPr lang="en-US" dirty="0"/>
          </a:p>
        </p:txBody>
      </p:sp>
      <p:sp>
        <p:nvSpPr>
          <p:cNvPr id="3" name="Content Placeholder 2">
            <a:extLst>
              <a:ext uri="{FF2B5EF4-FFF2-40B4-BE49-F238E27FC236}">
                <a16:creationId xmlns:a16="http://schemas.microsoft.com/office/drawing/2014/main" id="{F1EBE1B1-86DD-6F51-9C6D-BF21FCF09D36}"/>
              </a:ext>
            </a:extLst>
          </p:cNvPr>
          <p:cNvSpPr>
            <a:spLocks noGrp="1"/>
          </p:cNvSpPr>
          <p:nvPr>
            <p:ph idx="1"/>
          </p:nvPr>
        </p:nvSpPr>
        <p:spPr/>
        <p:txBody>
          <a:bodyPr>
            <a:normAutofit fontScale="32500" lnSpcReduction="20000"/>
          </a:bodyPr>
          <a:lstStyle/>
          <a:p>
            <a:r>
              <a:rPr lang="en-US" dirty="0"/>
              <a:t>#include &lt;</a:t>
            </a:r>
            <a:r>
              <a:rPr lang="en-US" dirty="0" err="1"/>
              <a:t>stdio.h</a:t>
            </a:r>
            <a:r>
              <a:rPr lang="en-US" dirty="0"/>
              <a:t>&gt;</a:t>
            </a:r>
          </a:p>
          <a:p>
            <a:r>
              <a:rPr lang="en-US" dirty="0"/>
              <a:t>void reverse(int* </a:t>
            </a:r>
            <a:r>
              <a:rPr lang="en-US" dirty="0" err="1"/>
              <a:t>arr</a:t>
            </a:r>
            <a:r>
              <a:rPr lang="en-US" dirty="0"/>
              <a:t>, int n){</a:t>
            </a:r>
          </a:p>
          <a:p>
            <a:r>
              <a:rPr lang="en-US" dirty="0"/>
              <a:t>    // Swapping front and back elements.</a:t>
            </a:r>
          </a:p>
          <a:p>
            <a:r>
              <a:rPr lang="en-US" dirty="0"/>
              <a:t>    for (int </a:t>
            </a:r>
            <a:r>
              <a:rPr lang="en-US" dirty="0" err="1"/>
              <a:t>i</a:t>
            </a:r>
            <a:r>
              <a:rPr lang="en-US" dirty="0"/>
              <a:t> = 0, j = n - 1; </a:t>
            </a:r>
            <a:r>
              <a:rPr lang="en-US" dirty="0" err="1"/>
              <a:t>i</a:t>
            </a:r>
            <a:r>
              <a:rPr lang="en-US" dirty="0"/>
              <a:t> &lt; j; </a:t>
            </a:r>
            <a:r>
              <a:rPr lang="en-US" dirty="0" err="1"/>
              <a:t>i</a:t>
            </a:r>
            <a:r>
              <a:rPr lang="en-US" dirty="0"/>
              <a:t>++, j--) {</a:t>
            </a:r>
          </a:p>
          <a:p>
            <a:r>
              <a:rPr lang="en-US" dirty="0"/>
              <a:t>        int </a:t>
            </a:r>
            <a:r>
              <a:rPr lang="en-US" dirty="0" err="1"/>
              <a:t>ele</a:t>
            </a:r>
            <a:r>
              <a:rPr lang="en-US" dirty="0"/>
              <a:t> = </a:t>
            </a:r>
            <a:r>
              <a:rPr lang="en-US" dirty="0" err="1"/>
              <a:t>arr</a:t>
            </a:r>
            <a:r>
              <a:rPr lang="en-US" dirty="0"/>
              <a:t>[</a:t>
            </a:r>
            <a:r>
              <a:rPr lang="en-US" dirty="0" err="1"/>
              <a:t>i</a:t>
            </a:r>
            <a:r>
              <a:rPr lang="en-US" dirty="0"/>
              <a:t>];</a:t>
            </a:r>
          </a:p>
          <a:p>
            <a:r>
              <a:rPr lang="en-US" dirty="0"/>
              <a:t>        </a:t>
            </a:r>
            <a:r>
              <a:rPr lang="en-US" dirty="0" err="1"/>
              <a:t>arr</a:t>
            </a:r>
            <a:r>
              <a:rPr lang="en-US" dirty="0"/>
              <a:t>[</a:t>
            </a:r>
            <a:r>
              <a:rPr lang="en-US" dirty="0" err="1"/>
              <a:t>i</a:t>
            </a:r>
            <a:r>
              <a:rPr lang="en-US" dirty="0"/>
              <a:t>] = </a:t>
            </a:r>
            <a:r>
              <a:rPr lang="en-US" dirty="0" err="1"/>
              <a:t>arr</a:t>
            </a:r>
            <a:r>
              <a:rPr lang="en-US" dirty="0"/>
              <a:t>[j];</a:t>
            </a:r>
          </a:p>
          <a:p>
            <a:r>
              <a:rPr lang="en-US" dirty="0"/>
              <a:t>        </a:t>
            </a:r>
            <a:r>
              <a:rPr lang="en-US" dirty="0" err="1"/>
              <a:t>arr</a:t>
            </a:r>
            <a:r>
              <a:rPr lang="en-US" dirty="0"/>
              <a:t>[j] = </a:t>
            </a:r>
            <a:r>
              <a:rPr lang="en-US" dirty="0" err="1"/>
              <a:t>ele</a:t>
            </a:r>
            <a:r>
              <a:rPr lang="en-US" dirty="0"/>
              <a:t>;</a:t>
            </a:r>
          </a:p>
          <a:p>
            <a:r>
              <a:rPr lang="en-US" dirty="0"/>
              <a:t>    }</a:t>
            </a:r>
          </a:p>
          <a:p>
            <a:r>
              <a:rPr lang="en-US" dirty="0"/>
              <a:t>}</a:t>
            </a:r>
          </a:p>
          <a:p>
            <a:endParaRPr lang="en-US" dirty="0"/>
          </a:p>
          <a:p>
            <a:r>
              <a:rPr lang="en-US" dirty="0"/>
              <a:t>int main(){</a:t>
            </a:r>
          </a:p>
          <a:p>
            <a:r>
              <a:rPr lang="en-US" dirty="0"/>
              <a:t>    int </a:t>
            </a:r>
            <a:r>
              <a:rPr lang="en-US" dirty="0" err="1"/>
              <a:t>arr</a:t>
            </a:r>
            <a:r>
              <a:rPr lang="en-US" dirty="0"/>
              <a:t>[] = { 1, 2, 3, 4, 5 };</a:t>
            </a:r>
          </a:p>
          <a:p>
            <a:r>
              <a:rPr lang="en-US" dirty="0"/>
              <a:t>    // Function Call</a:t>
            </a:r>
          </a:p>
          <a:p>
            <a:r>
              <a:rPr lang="en-US" dirty="0"/>
              <a:t>    reverse(</a:t>
            </a:r>
            <a:r>
              <a:rPr lang="en-US" dirty="0" err="1"/>
              <a:t>arr</a:t>
            </a:r>
            <a:r>
              <a:rPr lang="en-US" dirty="0"/>
              <a:t>, 5);</a:t>
            </a:r>
          </a:p>
          <a:p>
            <a:r>
              <a:rPr lang="en-US" dirty="0"/>
              <a:t>    // reverse array element printing</a:t>
            </a:r>
          </a:p>
          <a:p>
            <a:r>
              <a:rPr lang="en-US" dirty="0"/>
              <a:t>    for (int </a:t>
            </a:r>
            <a:r>
              <a:rPr lang="en-US" dirty="0" err="1"/>
              <a:t>i</a:t>
            </a:r>
            <a:r>
              <a:rPr lang="en-US" dirty="0"/>
              <a:t> = 0; </a:t>
            </a:r>
            <a:r>
              <a:rPr lang="en-US" dirty="0" err="1"/>
              <a:t>i</a:t>
            </a:r>
            <a:r>
              <a:rPr lang="en-US" dirty="0"/>
              <a:t> &lt; 5; </a:t>
            </a:r>
            <a:r>
              <a:rPr lang="en-US" dirty="0" err="1"/>
              <a:t>i</a:t>
            </a:r>
            <a:r>
              <a:rPr lang="en-US" dirty="0"/>
              <a:t>++)</a:t>
            </a:r>
          </a:p>
          <a:p>
            <a:r>
              <a:rPr lang="en-US" dirty="0"/>
              <a:t>        </a:t>
            </a:r>
            <a:r>
              <a:rPr lang="en-US" dirty="0" err="1"/>
              <a:t>printf</a:t>
            </a:r>
            <a:r>
              <a:rPr lang="en-US" dirty="0"/>
              <a:t>("%d ", </a:t>
            </a:r>
            <a:r>
              <a:rPr lang="en-US" dirty="0" err="1"/>
              <a:t>arr</a:t>
            </a:r>
            <a:r>
              <a:rPr lang="en-US" dirty="0"/>
              <a:t>[</a:t>
            </a:r>
            <a:r>
              <a:rPr lang="en-US" dirty="0" err="1"/>
              <a:t>i</a:t>
            </a:r>
            <a:r>
              <a:rPr lang="en-US" dirty="0"/>
              <a:t>]);</a:t>
            </a:r>
          </a:p>
          <a:p>
            <a:r>
              <a:rPr lang="en-US" dirty="0"/>
              <a:t>    return 0;</a:t>
            </a:r>
          </a:p>
          <a:p>
            <a:r>
              <a:rPr lang="en-US" dirty="0"/>
              <a:t>}</a:t>
            </a:r>
          </a:p>
        </p:txBody>
      </p:sp>
    </p:spTree>
    <p:extLst>
      <p:ext uri="{BB962C8B-B14F-4D97-AF65-F5344CB8AC3E}">
        <p14:creationId xmlns:p14="http://schemas.microsoft.com/office/powerpoint/2010/main" val="157740192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03D06-A6B1-C9E5-E30A-18E8B32C50B1}"/>
              </a:ext>
            </a:extLst>
          </p:cNvPr>
          <p:cNvSpPr>
            <a:spLocks noGrp="1"/>
          </p:cNvSpPr>
          <p:nvPr>
            <p:ph type="title"/>
          </p:nvPr>
        </p:nvSpPr>
        <p:spPr/>
        <p:txBody>
          <a:bodyPr>
            <a:normAutofit/>
          </a:bodyPr>
          <a:lstStyle/>
          <a:p>
            <a:pPr fontAlgn="base"/>
            <a:r>
              <a:rPr lang="en-IN" b="1" dirty="0">
                <a:effectLst/>
                <a:latin typeface="Nunito" pitchFamily="2" charset="77"/>
              </a:rPr>
              <a:t>23. Write a program to check the repeating elements in C.</a:t>
            </a:r>
            <a:endParaRPr lang="en-US" dirty="0"/>
          </a:p>
        </p:txBody>
      </p:sp>
      <p:sp>
        <p:nvSpPr>
          <p:cNvPr id="3" name="Content Placeholder 2">
            <a:extLst>
              <a:ext uri="{FF2B5EF4-FFF2-40B4-BE49-F238E27FC236}">
                <a16:creationId xmlns:a16="http://schemas.microsoft.com/office/drawing/2014/main" id="{6D298A21-4F81-32EF-C8D3-77C4FD843D5F}"/>
              </a:ext>
            </a:extLst>
          </p:cNvPr>
          <p:cNvSpPr>
            <a:spLocks noGrp="1"/>
          </p:cNvSpPr>
          <p:nvPr>
            <p:ph idx="1"/>
          </p:nvPr>
        </p:nvSpPr>
        <p:spPr>
          <a:xfrm>
            <a:off x="838200" y="1825625"/>
            <a:ext cx="5257800" cy="4351338"/>
          </a:xfrm>
        </p:spPr>
        <p:txBody>
          <a:bodyPr>
            <a:normAutofit fontScale="25000" lnSpcReduction="20000"/>
          </a:bodyPr>
          <a:lstStyle/>
          <a:p>
            <a:r>
              <a:rPr lang="en-US" dirty="0"/>
              <a:t>#include &lt;</a:t>
            </a:r>
            <a:r>
              <a:rPr lang="en-US" dirty="0" err="1"/>
              <a:t>stdio.h</a:t>
            </a:r>
            <a:r>
              <a:rPr lang="en-US" dirty="0"/>
              <a:t>&gt;</a:t>
            </a:r>
          </a:p>
          <a:p>
            <a:r>
              <a:rPr lang="en-US" dirty="0"/>
              <a:t>int Sort(int </a:t>
            </a:r>
            <a:r>
              <a:rPr lang="en-US" dirty="0" err="1"/>
              <a:t>arr</a:t>
            </a:r>
            <a:r>
              <a:rPr lang="en-US" dirty="0"/>
              <a:t>[], int size){</a:t>
            </a:r>
          </a:p>
          <a:p>
            <a:r>
              <a:rPr lang="en-US" dirty="0"/>
              <a:t>    for (int </a:t>
            </a:r>
            <a:r>
              <a:rPr lang="en-US" dirty="0" err="1"/>
              <a:t>i</a:t>
            </a:r>
            <a:r>
              <a:rPr lang="en-US" dirty="0"/>
              <a:t> = 0; </a:t>
            </a:r>
            <a:r>
              <a:rPr lang="en-US" dirty="0" err="1"/>
              <a:t>i</a:t>
            </a:r>
            <a:r>
              <a:rPr lang="en-US" dirty="0"/>
              <a:t> &lt; size - 1; </a:t>
            </a:r>
            <a:r>
              <a:rPr lang="en-US" dirty="0" err="1"/>
              <a:t>i</a:t>
            </a:r>
            <a:r>
              <a:rPr lang="en-US" dirty="0"/>
              <a:t>++) {</a:t>
            </a:r>
          </a:p>
          <a:p>
            <a:r>
              <a:rPr lang="en-US" dirty="0"/>
              <a:t>        for (int j = 0; j &lt; size - </a:t>
            </a:r>
            <a:r>
              <a:rPr lang="en-US" dirty="0" err="1"/>
              <a:t>i</a:t>
            </a:r>
            <a:r>
              <a:rPr lang="en-US" dirty="0"/>
              <a:t> - 1; </a:t>
            </a:r>
            <a:r>
              <a:rPr lang="en-US" dirty="0" err="1"/>
              <a:t>j++</a:t>
            </a:r>
            <a:r>
              <a:rPr lang="en-US" dirty="0"/>
              <a:t>) {</a:t>
            </a:r>
          </a:p>
          <a:p>
            <a:r>
              <a:rPr lang="en-US" dirty="0"/>
              <a:t>            if (</a:t>
            </a:r>
            <a:r>
              <a:rPr lang="en-US" dirty="0" err="1"/>
              <a:t>arr</a:t>
            </a:r>
            <a:r>
              <a:rPr lang="en-US" dirty="0"/>
              <a:t>[j] &gt; </a:t>
            </a:r>
            <a:r>
              <a:rPr lang="en-US" dirty="0" err="1"/>
              <a:t>arr</a:t>
            </a:r>
            <a:r>
              <a:rPr lang="en-US" dirty="0"/>
              <a:t>[j + 1]) {</a:t>
            </a:r>
          </a:p>
          <a:p>
            <a:r>
              <a:rPr lang="en-US" dirty="0"/>
              <a:t>                int temp = </a:t>
            </a:r>
            <a:r>
              <a:rPr lang="en-US" dirty="0" err="1"/>
              <a:t>arr</a:t>
            </a:r>
            <a:r>
              <a:rPr lang="en-US" dirty="0"/>
              <a:t>[j];</a:t>
            </a:r>
          </a:p>
          <a:p>
            <a:r>
              <a:rPr lang="en-US" dirty="0"/>
              <a:t>                </a:t>
            </a:r>
            <a:r>
              <a:rPr lang="en-US" dirty="0" err="1"/>
              <a:t>arr</a:t>
            </a:r>
            <a:r>
              <a:rPr lang="en-US" dirty="0"/>
              <a:t>[j] = </a:t>
            </a:r>
            <a:r>
              <a:rPr lang="en-US" dirty="0" err="1"/>
              <a:t>arr</a:t>
            </a:r>
            <a:r>
              <a:rPr lang="en-US" dirty="0"/>
              <a:t>[j + 1];</a:t>
            </a:r>
          </a:p>
          <a:p>
            <a:r>
              <a:rPr lang="en-US" dirty="0"/>
              <a:t>                </a:t>
            </a:r>
            <a:r>
              <a:rPr lang="en-US" dirty="0" err="1"/>
              <a:t>arr</a:t>
            </a:r>
            <a:r>
              <a:rPr lang="en-US" dirty="0"/>
              <a:t>[j + 1] = temp;</a:t>
            </a:r>
          </a:p>
          <a:p>
            <a:r>
              <a:rPr lang="en-US" dirty="0"/>
              <a:t>            }</a:t>
            </a:r>
          </a:p>
          <a:p>
            <a:r>
              <a:rPr lang="en-US" dirty="0"/>
              <a:t>        }</a:t>
            </a:r>
          </a:p>
          <a:p>
            <a:r>
              <a:rPr lang="en-US" dirty="0"/>
              <a:t>    }</a:t>
            </a:r>
          </a:p>
          <a:p>
            <a:r>
              <a:rPr lang="en-US" dirty="0"/>
              <a:t>}</a:t>
            </a:r>
          </a:p>
          <a:p>
            <a:pPr marL="0" indent="0">
              <a:buNone/>
            </a:pPr>
            <a:r>
              <a:rPr lang="en-US" dirty="0"/>
              <a:t>void </a:t>
            </a:r>
            <a:r>
              <a:rPr lang="en-US" dirty="0" err="1"/>
              <a:t>findRepeating</a:t>
            </a:r>
            <a:r>
              <a:rPr lang="en-US" dirty="0"/>
              <a:t>(int </a:t>
            </a:r>
            <a:r>
              <a:rPr lang="en-US" dirty="0" err="1"/>
              <a:t>arr</a:t>
            </a:r>
            <a:r>
              <a:rPr lang="en-US" dirty="0"/>
              <a:t>[], int n)</a:t>
            </a:r>
          </a:p>
          <a:p>
            <a:r>
              <a:rPr lang="en-US" dirty="0"/>
              <a:t>{</a:t>
            </a:r>
          </a:p>
          <a:p>
            <a:r>
              <a:rPr lang="en-US" dirty="0"/>
              <a:t>    int count = 0;</a:t>
            </a:r>
          </a:p>
          <a:p>
            <a:r>
              <a:rPr lang="en-US" dirty="0"/>
              <a:t>    for (int </a:t>
            </a:r>
            <a:r>
              <a:rPr lang="en-US" dirty="0" err="1"/>
              <a:t>i</a:t>
            </a:r>
            <a:r>
              <a:rPr lang="en-US" dirty="0"/>
              <a:t> = 0; </a:t>
            </a:r>
            <a:r>
              <a:rPr lang="en-US" dirty="0" err="1"/>
              <a:t>i</a:t>
            </a:r>
            <a:r>
              <a:rPr lang="en-US" dirty="0"/>
              <a:t> &lt; n; </a:t>
            </a:r>
            <a:r>
              <a:rPr lang="en-US" dirty="0" err="1"/>
              <a:t>i</a:t>
            </a:r>
            <a:r>
              <a:rPr lang="en-US" dirty="0"/>
              <a:t>++) {</a:t>
            </a:r>
          </a:p>
          <a:p>
            <a:r>
              <a:rPr lang="en-US" dirty="0"/>
              <a:t>        int flag = 0;</a:t>
            </a:r>
          </a:p>
          <a:p>
            <a:r>
              <a:rPr lang="en-US" dirty="0"/>
              <a:t>        while (</a:t>
            </a:r>
            <a:r>
              <a:rPr lang="en-US" dirty="0" err="1"/>
              <a:t>i</a:t>
            </a:r>
            <a:r>
              <a:rPr lang="en-US" dirty="0"/>
              <a:t> &lt; n - 1 &amp;&amp; </a:t>
            </a:r>
            <a:r>
              <a:rPr lang="en-US" dirty="0" err="1"/>
              <a:t>arr</a:t>
            </a:r>
            <a:r>
              <a:rPr lang="en-US" dirty="0"/>
              <a:t>[</a:t>
            </a:r>
            <a:r>
              <a:rPr lang="en-US" dirty="0" err="1"/>
              <a:t>i</a:t>
            </a:r>
            <a:r>
              <a:rPr lang="en-US" dirty="0"/>
              <a:t>] == </a:t>
            </a:r>
            <a:r>
              <a:rPr lang="en-US" dirty="0" err="1"/>
              <a:t>arr</a:t>
            </a:r>
            <a:r>
              <a:rPr lang="en-US" dirty="0"/>
              <a:t>[</a:t>
            </a:r>
            <a:r>
              <a:rPr lang="en-US" dirty="0" err="1"/>
              <a:t>i</a:t>
            </a:r>
            <a:r>
              <a:rPr lang="en-US" dirty="0"/>
              <a:t> + 1]) {</a:t>
            </a:r>
          </a:p>
          <a:p>
            <a:r>
              <a:rPr lang="en-US" dirty="0"/>
              <a:t>            flag = 1;</a:t>
            </a:r>
          </a:p>
          <a:p>
            <a:r>
              <a:rPr lang="en-US" dirty="0"/>
              <a:t>            </a:t>
            </a:r>
            <a:r>
              <a:rPr lang="en-US" dirty="0" err="1"/>
              <a:t>i</a:t>
            </a:r>
            <a:r>
              <a:rPr lang="en-US" dirty="0"/>
              <a:t>++;</a:t>
            </a:r>
          </a:p>
          <a:p>
            <a:r>
              <a:rPr lang="en-US" dirty="0"/>
              <a:t>        }</a:t>
            </a:r>
          </a:p>
        </p:txBody>
      </p:sp>
      <p:sp>
        <p:nvSpPr>
          <p:cNvPr id="4" name="Content Placeholder 2">
            <a:extLst>
              <a:ext uri="{FF2B5EF4-FFF2-40B4-BE49-F238E27FC236}">
                <a16:creationId xmlns:a16="http://schemas.microsoft.com/office/drawing/2014/main" id="{02D7FFC7-3173-0072-7108-9452296B6D9B}"/>
              </a:ext>
            </a:extLst>
          </p:cNvPr>
          <p:cNvSpPr txBox="1">
            <a:spLocks/>
          </p:cNvSpPr>
          <p:nvPr/>
        </p:nvSpPr>
        <p:spPr>
          <a:xfrm>
            <a:off x="6096000" y="1825625"/>
            <a:ext cx="5257800" cy="4351338"/>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a:p>
            <a:r>
              <a:rPr lang="en-US" dirty="0"/>
              <a:t> if (flag)</a:t>
            </a:r>
          </a:p>
          <a:p>
            <a:r>
              <a:rPr lang="en-US" dirty="0"/>
              <a:t>            </a:t>
            </a:r>
            <a:r>
              <a:rPr lang="en-US" dirty="0" err="1"/>
              <a:t>printf</a:t>
            </a:r>
            <a:r>
              <a:rPr lang="en-US" dirty="0"/>
              <a:t>("%d ", (</a:t>
            </a:r>
            <a:r>
              <a:rPr lang="en-US" dirty="0" err="1"/>
              <a:t>arr</a:t>
            </a:r>
            <a:r>
              <a:rPr lang="en-US" dirty="0"/>
              <a:t>[</a:t>
            </a:r>
            <a:r>
              <a:rPr lang="en-US" dirty="0" err="1"/>
              <a:t>i</a:t>
            </a:r>
            <a:r>
              <a:rPr lang="en-US" dirty="0"/>
              <a:t> - 1]));</a:t>
            </a:r>
          </a:p>
          <a:p>
            <a:r>
              <a:rPr lang="en-US" dirty="0"/>
              <a:t>    }    return;</a:t>
            </a:r>
          </a:p>
          <a:p>
            <a:r>
              <a:rPr lang="en-US" dirty="0"/>
              <a:t>}</a:t>
            </a:r>
          </a:p>
          <a:p>
            <a:endParaRPr lang="en-US" dirty="0"/>
          </a:p>
          <a:p>
            <a:r>
              <a:rPr lang="en-US" dirty="0"/>
              <a:t>int main()</a:t>
            </a:r>
          </a:p>
          <a:p>
            <a:r>
              <a:rPr lang="en-US" dirty="0"/>
              <a:t>{</a:t>
            </a:r>
          </a:p>
          <a:p>
            <a:r>
              <a:rPr lang="en-US" dirty="0"/>
              <a:t>    int </a:t>
            </a:r>
            <a:r>
              <a:rPr lang="en-US" dirty="0" err="1"/>
              <a:t>arr</a:t>
            </a:r>
            <a:r>
              <a:rPr lang="en-US" dirty="0"/>
              <a:t>[] = { 1, 3, 4, 1, 2, 3, 5, 5 };</a:t>
            </a:r>
          </a:p>
          <a:p>
            <a:endParaRPr lang="en-US" dirty="0"/>
          </a:p>
          <a:p>
            <a:r>
              <a:rPr lang="en-US" dirty="0"/>
              <a:t>    int n = </a:t>
            </a:r>
            <a:r>
              <a:rPr lang="en-US" dirty="0" err="1"/>
              <a:t>sizeof</a:t>
            </a:r>
            <a:r>
              <a:rPr lang="en-US" dirty="0"/>
              <a:t>(</a:t>
            </a:r>
            <a:r>
              <a:rPr lang="en-US" dirty="0" err="1"/>
              <a:t>arr</a:t>
            </a:r>
            <a:r>
              <a:rPr lang="en-US" dirty="0"/>
              <a:t>) / </a:t>
            </a:r>
            <a:r>
              <a:rPr lang="en-US" dirty="0" err="1"/>
              <a:t>sizeof</a:t>
            </a:r>
            <a:r>
              <a:rPr lang="en-US" dirty="0"/>
              <a:t>(</a:t>
            </a:r>
            <a:r>
              <a:rPr lang="en-US" dirty="0" err="1"/>
              <a:t>arr</a:t>
            </a:r>
            <a:r>
              <a:rPr lang="en-US" dirty="0"/>
              <a:t>[0]);</a:t>
            </a:r>
          </a:p>
          <a:p>
            <a:r>
              <a:rPr lang="en-US" dirty="0"/>
              <a:t>      Sort(</a:t>
            </a:r>
            <a:r>
              <a:rPr lang="en-US" dirty="0" err="1"/>
              <a:t>arr,n</a:t>
            </a:r>
            <a:r>
              <a:rPr lang="en-US" dirty="0"/>
              <a:t>);</a:t>
            </a:r>
          </a:p>
          <a:p>
            <a:r>
              <a:rPr lang="en-US" dirty="0"/>
              <a:t>      </a:t>
            </a:r>
            <a:r>
              <a:rPr lang="en-US" dirty="0" err="1"/>
              <a:t>findRepeating</a:t>
            </a:r>
            <a:r>
              <a:rPr lang="en-US" dirty="0"/>
              <a:t>(</a:t>
            </a:r>
            <a:r>
              <a:rPr lang="en-US" dirty="0" err="1"/>
              <a:t>arr,n</a:t>
            </a:r>
            <a:r>
              <a:rPr lang="en-US" dirty="0"/>
              <a:t>);</a:t>
            </a:r>
          </a:p>
          <a:p>
            <a:r>
              <a:rPr lang="en-US" dirty="0"/>
              <a:t>    return 0;</a:t>
            </a:r>
          </a:p>
          <a:p>
            <a:r>
              <a:rPr lang="en-US" dirty="0"/>
              <a:t>}</a:t>
            </a:r>
          </a:p>
        </p:txBody>
      </p:sp>
    </p:spTree>
    <p:extLst>
      <p:ext uri="{BB962C8B-B14F-4D97-AF65-F5344CB8AC3E}">
        <p14:creationId xmlns:p14="http://schemas.microsoft.com/office/powerpoint/2010/main" val="377532421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37A11-3FF9-808E-ACCB-C46BBEE9551B}"/>
              </a:ext>
            </a:extLst>
          </p:cNvPr>
          <p:cNvSpPr>
            <a:spLocks noGrp="1"/>
          </p:cNvSpPr>
          <p:nvPr>
            <p:ph type="title"/>
          </p:nvPr>
        </p:nvSpPr>
        <p:spPr/>
        <p:txBody>
          <a:bodyPr>
            <a:normAutofit fontScale="90000"/>
          </a:bodyPr>
          <a:lstStyle/>
          <a:p>
            <a:pPr fontAlgn="base"/>
            <a:r>
              <a:rPr lang="en-IN" b="1" dirty="0">
                <a:effectLst/>
                <a:latin typeface="Nunito" pitchFamily="2" charset="77"/>
              </a:rPr>
              <a:t>24. Write a Program to print the Maximum and Minimum elements in an array.</a:t>
            </a:r>
            <a:endParaRPr lang="en-US" dirty="0"/>
          </a:p>
        </p:txBody>
      </p:sp>
      <p:sp>
        <p:nvSpPr>
          <p:cNvPr id="3" name="Content Placeholder 2">
            <a:extLst>
              <a:ext uri="{FF2B5EF4-FFF2-40B4-BE49-F238E27FC236}">
                <a16:creationId xmlns:a16="http://schemas.microsoft.com/office/drawing/2014/main" id="{5F27DEC3-92FA-BB9A-296F-67486D96C0E8}"/>
              </a:ext>
            </a:extLst>
          </p:cNvPr>
          <p:cNvSpPr>
            <a:spLocks noGrp="1"/>
          </p:cNvSpPr>
          <p:nvPr>
            <p:ph idx="1"/>
          </p:nvPr>
        </p:nvSpPr>
        <p:spPr>
          <a:xfrm>
            <a:off x="838200" y="1825625"/>
            <a:ext cx="5257800" cy="4351338"/>
          </a:xfrm>
        </p:spPr>
        <p:txBody>
          <a:bodyPr>
            <a:normAutofit fontScale="47500" lnSpcReduction="20000"/>
          </a:bodyPr>
          <a:lstStyle/>
          <a:p>
            <a:r>
              <a:rPr lang="en-US" dirty="0"/>
              <a:t>#include &lt;</a:t>
            </a:r>
            <a:r>
              <a:rPr lang="en-US" dirty="0" err="1"/>
              <a:t>stdio.h</a:t>
            </a:r>
            <a:r>
              <a:rPr lang="en-US" dirty="0"/>
              <a:t>&gt;</a:t>
            </a:r>
          </a:p>
          <a:p>
            <a:r>
              <a:rPr lang="en-US" dirty="0"/>
              <a:t>void </a:t>
            </a:r>
            <a:r>
              <a:rPr lang="en-US" dirty="0" err="1"/>
              <a:t>find_small_large</a:t>
            </a:r>
            <a:r>
              <a:rPr lang="en-US" dirty="0"/>
              <a:t>(int </a:t>
            </a:r>
            <a:r>
              <a:rPr lang="en-US" dirty="0" err="1"/>
              <a:t>arr</a:t>
            </a:r>
            <a:r>
              <a:rPr lang="en-US" dirty="0"/>
              <a:t>[], int n)</a:t>
            </a:r>
          </a:p>
          <a:p>
            <a:r>
              <a:rPr lang="en-US" dirty="0"/>
              <a:t>{</a:t>
            </a:r>
          </a:p>
          <a:p>
            <a:r>
              <a:rPr lang="en-US" dirty="0"/>
              <a:t>    int min, max;</a:t>
            </a:r>
          </a:p>
          <a:p>
            <a:r>
              <a:rPr lang="en-US" dirty="0"/>
              <a:t>    // assign first element as minimum and maximum</a:t>
            </a:r>
          </a:p>
          <a:p>
            <a:r>
              <a:rPr lang="en-US" dirty="0"/>
              <a:t>    min = </a:t>
            </a:r>
            <a:r>
              <a:rPr lang="en-US" dirty="0" err="1"/>
              <a:t>arr</a:t>
            </a:r>
            <a:r>
              <a:rPr lang="en-US" dirty="0"/>
              <a:t>[0];</a:t>
            </a:r>
          </a:p>
          <a:p>
            <a:r>
              <a:rPr lang="en-US" dirty="0"/>
              <a:t>    max = </a:t>
            </a:r>
            <a:r>
              <a:rPr lang="en-US" dirty="0" err="1"/>
              <a:t>arr</a:t>
            </a:r>
            <a:r>
              <a:rPr lang="en-US" dirty="0"/>
              <a:t>[0];</a:t>
            </a:r>
          </a:p>
          <a:p>
            <a:r>
              <a:rPr lang="en-US" dirty="0"/>
              <a:t>    for (int </a:t>
            </a:r>
            <a:r>
              <a:rPr lang="en-US" dirty="0" err="1"/>
              <a:t>i</a:t>
            </a:r>
            <a:r>
              <a:rPr lang="en-US" dirty="0"/>
              <a:t> = 1; </a:t>
            </a:r>
            <a:r>
              <a:rPr lang="en-US" dirty="0" err="1"/>
              <a:t>i</a:t>
            </a:r>
            <a:r>
              <a:rPr lang="en-US" dirty="0"/>
              <a:t> &lt; n; </a:t>
            </a:r>
            <a:r>
              <a:rPr lang="en-US" dirty="0" err="1"/>
              <a:t>i</a:t>
            </a:r>
            <a:r>
              <a:rPr lang="en-US" dirty="0"/>
              <a:t>++) {</a:t>
            </a:r>
          </a:p>
          <a:p>
            <a:r>
              <a:rPr lang="en-US" dirty="0"/>
              <a:t>        // finding smallest here</a:t>
            </a:r>
          </a:p>
          <a:p>
            <a:r>
              <a:rPr lang="en-US" dirty="0"/>
              <a:t>        if (</a:t>
            </a:r>
            <a:r>
              <a:rPr lang="en-US" dirty="0" err="1"/>
              <a:t>arr</a:t>
            </a:r>
            <a:r>
              <a:rPr lang="en-US" dirty="0"/>
              <a:t>[</a:t>
            </a:r>
            <a:r>
              <a:rPr lang="en-US" dirty="0" err="1"/>
              <a:t>i</a:t>
            </a:r>
            <a:r>
              <a:rPr lang="en-US" dirty="0"/>
              <a:t>] &lt; min)</a:t>
            </a:r>
          </a:p>
          <a:p>
            <a:r>
              <a:rPr lang="en-US" dirty="0"/>
              <a:t>            min = </a:t>
            </a:r>
            <a:r>
              <a:rPr lang="en-US" dirty="0" err="1"/>
              <a:t>arr</a:t>
            </a:r>
            <a:r>
              <a:rPr lang="en-US" dirty="0"/>
              <a:t>[</a:t>
            </a:r>
            <a:r>
              <a:rPr lang="en-US" dirty="0" err="1"/>
              <a:t>i</a:t>
            </a:r>
            <a:r>
              <a:rPr lang="en-US" dirty="0"/>
              <a:t>]; // finding largest here</a:t>
            </a:r>
          </a:p>
          <a:p>
            <a:r>
              <a:rPr lang="en-US" dirty="0"/>
              <a:t>        if (</a:t>
            </a:r>
            <a:r>
              <a:rPr lang="en-US" dirty="0" err="1"/>
              <a:t>arr</a:t>
            </a:r>
            <a:r>
              <a:rPr lang="en-US" dirty="0"/>
              <a:t>[</a:t>
            </a:r>
            <a:r>
              <a:rPr lang="en-US" dirty="0" err="1"/>
              <a:t>i</a:t>
            </a:r>
            <a:r>
              <a:rPr lang="en-US" dirty="0"/>
              <a:t>] &gt; max)</a:t>
            </a:r>
          </a:p>
          <a:p>
            <a:r>
              <a:rPr lang="en-US" dirty="0"/>
              <a:t>            max = </a:t>
            </a:r>
            <a:r>
              <a:rPr lang="en-US" dirty="0" err="1"/>
              <a:t>arr</a:t>
            </a:r>
            <a:r>
              <a:rPr lang="en-US" dirty="0"/>
              <a:t>[</a:t>
            </a:r>
            <a:r>
              <a:rPr lang="en-US" dirty="0" err="1"/>
              <a:t>i</a:t>
            </a:r>
            <a:r>
              <a:rPr lang="en-US" dirty="0"/>
              <a:t>];</a:t>
            </a:r>
          </a:p>
          <a:p>
            <a:r>
              <a:rPr lang="en-US" dirty="0"/>
              <a:t>    }</a:t>
            </a:r>
          </a:p>
          <a:p>
            <a:r>
              <a:rPr lang="en-US" dirty="0"/>
              <a:t>    </a:t>
            </a:r>
            <a:r>
              <a:rPr lang="en-US" dirty="0" err="1"/>
              <a:t>printf</a:t>
            </a:r>
            <a:r>
              <a:rPr lang="en-US" dirty="0"/>
              <a:t>("Maximum: %d and Minimum: %d\n", min, max);</a:t>
            </a:r>
          </a:p>
          <a:p>
            <a:r>
              <a:rPr lang="en-US" dirty="0"/>
              <a:t>}</a:t>
            </a:r>
          </a:p>
        </p:txBody>
      </p:sp>
      <p:sp>
        <p:nvSpPr>
          <p:cNvPr id="4" name="Content Placeholder 2">
            <a:extLst>
              <a:ext uri="{FF2B5EF4-FFF2-40B4-BE49-F238E27FC236}">
                <a16:creationId xmlns:a16="http://schemas.microsoft.com/office/drawing/2014/main" id="{3AEFE509-15D4-B7FB-8C39-0FE88ABBCC41}"/>
              </a:ext>
            </a:extLst>
          </p:cNvPr>
          <p:cNvSpPr txBox="1">
            <a:spLocks/>
          </p:cNvSpPr>
          <p:nvPr/>
        </p:nvSpPr>
        <p:spPr>
          <a:xfrm>
            <a:off x="6096000" y="1825625"/>
            <a:ext cx="5257800" cy="4351338"/>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a:p>
            <a:r>
              <a:rPr lang="en-US" dirty="0"/>
              <a:t>int main()</a:t>
            </a:r>
          </a:p>
          <a:p>
            <a:r>
              <a:rPr lang="en-US" dirty="0"/>
              <a:t>{</a:t>
            </a:r>
          </a:p>
          <a:p>
            <a:r>
              <a:rPr lang="en-US" dirty="0"/>
              <a:t>    int </a:t>
            </a:r>
            <a:r>
              <a:rPr lang="en-US" dirty="0" err="1"/>
              <a:t>arr</a:t>
            </a:r>
            <a:r>
              <a:rPr lang="en-US" dirty="0"/>
              <a:t>[] = { 15, 14, 35, 2, 11, 83 };</a:t>
            </a:r>
          </a:p>
          <a:p>
            <a:r>
              <a:rPr lang="en-US" dirty="0"/>
              <a:t>    int </a:t>
            </a:r>
            <a:r>
              <a:rPr lang="en-US" dirty="0" err="1"/>
              <a:t>len</a:t>
            </a:r>
            <a:r>
              <a:rPr lang="en-US" dirty="0"/>
              <a:t> = </a:t>
            </a:r>
            <a:r>
              <a:rPr lang="en-US" dirty="0" err="1"/>
              <a:t>sizeof</a:t>
            </a:r>
            <a:r>
              <a:rPr lang="en-US" dirty="0"/>
              <a:t>(</a:t>
            </a:r>
            <a:r>
              <a:rPr lang="en-US" dirty="0" err="1"/>
              <a:t>arr</a:t>
            </a:r>
            <a:r>
              <a:rPr lang="en-US" dirty="0"/>
              <a:t>) / </a:t>
            </a:r>
            <a:r>
              <a:rPr lang="en-US" dirty="0" err="1"/>
              <a:t>sizeof</a:t>
            </a:r>
            <a:r>
              <a:rPr lang="en-US" dirty="0"/>
              <a:t>(</a:t>
            </a:r>
            <a:r>
              <a:rPr lang="en-US" dirty="0" err="1"/>
              <a:t>arr</a:t>
            </a:r>
            <a:r>
              <a:rPr lang="en-US" dirty="0"/>
              <a:t>[0]);</a:t>
            </a:r>
          </a:p>
          <a:p>
            <a:endParaRPr lang="en-US" dirty="0"/>
          </a:p>
          <a:p>
            <a:r>
              <a:rPr lang="en-US" dirty="0"/>
              <a:t>    // Function call</a:t>
            </a:r>
          </a:p>
          <a:p>
            <a:r>
              <a:rPr lang="en-US" dirty="0"/>
              <a:t>    </a:t>
            </a:r>
            <a:r>
              <a:rPr lang="en-US" dirty="0" err="1"/>
              <a:t>find_small_large</a:t>
            </a:r>
            <a:r>
              <a:rPr lang="en-US" dirty="0"/>
              <a:t>(</a:t>
            </a:r>
            <a:r>
              <a:rPr lang="en-US" dirty="0" err="1"/>
              <a:t>arr</a:t>
            </a:r>
            <a:r>
              <a:rPr lang="en-US" dirty="0"/>
              <a:t>, </a:t>
            </a:r>
            <a:r>
              <a:rPr lang="en-US" dirty="0" err="1"/>
              <a:t>len</a:t>
            </a:r>
            <a:r>
              <a:rPr lang="en-US" dirty="0"/>
              <a:t>);</a:t>
            </a:r>
          </a:p>
          <a:p>
            <a:endParaRPr lang="en-US" dirty="0"/>
          </a:p>
          <a:p>
            <a:r>
              <a:rPr lang="en-US" dirty="0"/>
              <a:t>    return 0;</a:t>
            </a:r>
          </a:p>
          <a:p>
            <a:r>
              <a:rPr lang="en-US" dirty="0"/>
              <a:t>}</a:t>
            </a:r>
          </a:p>
        </p:txBody>
      </p:sp>
    </p:spTree>
    <p:extLst>
      <p:ext uri="{BB962C8B-B14F-4D97-AF65-F5344CB8AC3E}">
        <p14:creationId xmlns:p14="http://schemas.microsoft.com/office/powerpoint/2010/main" val="187947280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6B3FC-7DA8-2E87-EA92-AFFD04778F39}"/>
              </a:ext>
            </a:extLst>
          </p:cNvPr>
          <p:cNvSpPr>
            <a:spLocks noGrp="1"/>
          </p:cNvSpPr>
          <p:nvPr>
            <p:ph type="title"/>
          </p:nvPr>
        </p:nvSpPr>
        <p:spPr/>
        <p:txBody>
          <a:bodyPr>
            <a:normAutofit/>
          </a:bodyPr>
          <a:lstStyle/>
          <a:p>
            <a:pPr fontAlgn="base"/>
            <a:r>
              <a:rPr lang="en-IN" b="1" dirty="0">
                <a:effectLst/>
                <a:latin typeface="Nunito" pitchFamily="2" charset="77"/>
              </a:rPr>
              <a:t>25. Write a Program for the cyclic rotation of an array to k positions.</a:t>
            </a:r>
            <a:endParaRPr lang="en-US" dirty="0"/>
          </a:p>
        </p:txBody>
      </p:sp>
      <p:sp>
        <p:nvSpPr>
          <p:cNvPr id="3" name="Content Placeholder 2">
            <a:extLst>
              <a:ext uri="{FF2B5EF4-FFF2-40B4-BE49-F238E27FC236}">
                <a16:creationId xmlns:a16="http://schemas.microsoft.com/office/drawing/2014/main" id="{916F1524-1B54-E033-8858-C0EC48470BCF}"/>
              </a:ext>
            </a:extLst>
          </p:cNvPr>
          <p:cNvSpPr>
            <a:spLocks noGrp="1"/>
          </p:cNvSpPr>
          <p:nvPr>
            <p:ph idx="1"/>
          </p:nvPr>
        </p:nvSpPr>
        <p:spPr>
          <a:xfrm>
            <a:off x="838200" y="1825625"/>
            <a:ext cx="5257800" cy="4351338"/>
          </a:xfrm>
        </p:spPr>
        <p:txBody>
          <a:bodyPr>
            <a:normAutofit fontScale="25000" lnSpcReduction="20000"/>
          </a:bodyPr>
          <a:lstStyle/>
          <a:p>
            <a:r>
              <a:rPr lang="en-US" dirty="0"/>
              <a:t>void </a:t>
            </a:r>
            <a:r>
              <a:rPr lang="en-US" dirty="0" err="1"/>
              <a:t>printArray</a:t>
            </a:r>
            <a:r>
              <a:rPr lang="en-US" dirty="0"/>
              <a:t>(int </a:t>
            </a:r>
            <a:r>
              <a:rPr lang="en-US" dirty="0" err="1"/>
              <a:t>arr</a:t>
            </a:r>
            <a:r>
              <a:rPr lang="en-US" dirty="0"/>
              <a:t>[], int n){</a:t>
            </a:r>
          </a:p>
          <a:p>
            <a:r>
              <a:rPr lang="en-US" dirty="0"/>
              <a:t>    int </a:t>
            </a:r>
            <a:r>
              <a:rPr lang="en-US" dirty="0" err="1"/>
              <a:t>i</a:t>
            </a:r>
            <a:r>
              <a:rPr lang="en-US" dirty="0"/>
              <a:t>;</a:t>
            </a:r>
          </a:p>
          <a:p>
            <a:r>
              <a:rPr lang="en-US" dirty="0"/>
              <a:t>    for (</a:t>
            </a:r>
            <a:r>
              <a:rPr lang="en-US" dirty="0" err="1"/>
              <a:t>i</a:t>
            </a:r>
            <a:r>
              <a:rPr lang="en-US" dirty="0"/>
              <a:t> = 0; </a:t>
            </a:r>
            <a:r>
              <a:rPr lang="en-US" dirty="0" err="1"/>
              <a:t>i</a:t>
            </a:r>
            <a:r>
              <a:rPr lang="en-US" dirty="0"/>
              <a:t> &lt; n; </a:t>
            </a:r>
            <a:r>
              <a:rPr lang="en-US" dirty="0" err="1"/>
              <a:t>i</a:t>
            </a:r>
            <a:r>
              <a:rPr lang="en-US" dirty="0"/>
              <a:t>++)</a:t>
            </a:r>
          </a:p>
          <a:p>
            <a:r>
              <a:rPr lang="en-US" dirty="0"/>
              <a:t>        </a:t>
            </a:r>
            <a:r>
              <a:rPr lang="en-US" dirty="0" err="1"/>
              <a:t>printf</a:t>
            </a:r>
            <a:r>
              <a:rPr lang="en-US" dirty="0"/>
              <a:t>("%d ", </a:t>
            </a:r>
            <a:r>
              <a:rPr lang="en-US" dirty="0" err="1"/>
              <a:t>arr</a:t>
            </a:r>
            <a:r>
              <a:rPr lang="en-US" dirty="0"/>
              <a:t>[</a:t>
            </a:r>
            <a:r>
              <a:rPr lang="en-US" dirty="0" err="1"/>
              <a:t>i</a:t>
            </a:r>
            <a:r>
              <a:rPr lang="en-US" dirty="0"/>
              <a:t>]); }</a:t>
            </a:r>
          </a:p>
          <a:p>
            <a:pPr marL="0" indent="0">
              <a:buNone/>
            </a:pPr>
            <a:endParaRPr lang="en-US" dirty="0"/>
          </a:p>
          <a:p>
            <a:r>
              <a:rPr lang="en-US" dirty="0"/>
              <a:t>int </a:t>
            </a:r>
            <a:r>
              <a:rPr lang="en-US" dirty="0" err="1"/>
              <a:t>gcd</a:t>
            </a:r>
            <a:r>
              <a:rPr lang="en-US" dirty="0"/>
              <a:t>(int a, int b){</a:t>
            </a:r>
          </a:p>
          <a:p>
            <a:r>
              <a:rPr lang="en-US" dirty="0"/>
              <a:t>    if (b == 0)</a:t>
            </a:r>
          </a:p>
          <a:p>
            <a:r>
              <a:rPr lang="en-US" dirty="0"/>
              <a:t>        return a;</a:t>
            </a:r>
          </a:p>
          <a:p>
            <a:r>
              <a:rPr lang="en-US" dirty="0"/>
              <a:t>    else</a:t>
            </a:r>
          </a:p>
          <a:p>
            <a:r>
              <a:rPr lang="en-US" dirty="0"/>
              <a:t>        return </a:t>
            </a:r>
            <a:r>
              <a:rPr lang="en-US" dirty="0" err="1"/>
              <a:t>gcd</a:t>
            </a:r>
            <a:r>
              <a:rPr lang="en-US" dirty="0"/>
              <a:t>(b, a % b);}</a:t>
            </a:r>
          </a:p>
          <a:p>
            <a:r>
              <a:rPr lang="en-US" dirty="0"/>
              <a:t>// Rotate array</a:t>
            </a:r>
          </a:p>
          <a:p>
            <a:r>
              <a:rPr lang="en-US" dirty="0"/>
              <a:t>void Rotate(int </a:t>
            </a:r>
            <a:r>
              <a:rPr lang="en-US" dirty="0" err="1"/>
              <a:t>arr</a:t>
            </a:r>
            <a:r>
              <a:rPr lang="en-US" dirty="0"/>
              <a:t>[], int k, int N){</a:t>
            </a:r>
          </a:p>
          <a:p>
            <a:r>
              <a:rPr lang="en-US" dirty="0"/>
              <a:t>    int </a:t>
            </a:r>
            <a:r>
              <a:rPr lang="en-US" dirty="0" err="1"/>
              <a:t>i</a:t>
            </a:r>
            <a:r>
              <a:rPr lang="en-US" dirty="0"/>
              <a:t>, j, a, temp;</a:t>
            </a:r>
          </a:p>
          <a:p>
            <a:r>
              <a:rPr lang="en-US" dirty="0"/>
              <a:t>    k = k % N;</a:t>
            </a:r>
          </a:p>
          <a:p>
            <a:r>
              <a:rPr lang="en-US" dirty="0"/>
              <a:t>    int rotate = </a:t>
            </a:r>
            <a:r>
              <a:rPr lang="en-US" dirty="0" err="1"/>
              <a:t>gcd</a:t>
            </a:r>
            <a:r>
              <a:rPr lang="en-US" dirty="0"/>
              <a:t>(k, N);</a:t>
            </a:r>
          </a:p>
          <a:p>
            <a:r>
              <a:rPr lang="en-US" dirty="0"/>
              <a:t>    for (</a:t>
            </a:r>
            <a:r>
              <a:rPr lang="en-US" dirty="0" err="1"/>
              <a:t>i</a:t>
            </a:r>
            <a:r>
              <a:rPr lang="en-US" dirty="0"/>
              <a:t> = 0; </a:t>
            </a:r>
            <a:r>
              <a:rPr lang="en-US" dirty="0" err="1"/>
              <a:t>i</a:t>
            </a:r>
            <a:r>
              <a:rPr lang="en-US" dirty="0"/>
              <a:t> &lt; rotate; </a:t>
            </a:r>
            <a:r>
              <a:rPr lang="en-US" dirty="0" err="1"/>
              <a:t>i</a:t>
            </a:r>
            <a:r>
              <a:rPr lang="en-US" dirty="0"/>
              <a:t>++) {</a:t>
            </a:r>
          </a:p>
          <a:p>
            <a:r>
              <a:rPr lang="en-US" dirty="0"/>
              <a:t>        temp = </a:t>
            </a:r>
            <a:r>
              <a:rPr lang="en-US" dirty="0" err="1"/>
              <a:t>arr</a:t>
            </a:r>
            <a:r>
              <a:rPr lang="en-US" dirty="0"/>
              <a:t>[</a:t>
            </a:r>
            <a:r>
              <a:rPr lang="en-US" dirty="0" err="1"/>
              <a:t>i</a:t>
            </a:r>
            <a:r>
              <a:rPr lang="en-US" dirty="0"/>
              <a:t>];</a:t>
            </a:r>
          </a:p>
          <a:p>
            <a:r>
              <a:rPr lang="en-US" dirty="0"/>
              <a:t>        j = </a:t>
            </a:r>
            <a:r>
              <a:rPr lang="en-US" dirty="0" err="1"/>
              <a:t>i</a:t>
            </a:r>
            <a:r>
              <a:rPr lang="en-US" dirty="0"/>
              <a:t>;</a:t>
            </a:r>
          </a:p>
          <a:p>
            <a:r>
              <a:rPr lang="en-US" dirty="0"/>
              <a:t>        while (1) {</a:t>
            </a:r>
          </a:p>
          <a:p>
            <a:r>
              <a:rPr lang="en-US" dirty="0"/>
              <a:t>            a = j + k;</a:t>
            </a:r>
          </a:p>
          <a:p>
            <a:r>
              <a:rPr lang="en-US" dirty="0"/>
              <a:t>            if (a &gt;= N)</a:t>
            </a:r>
          </a:p>
          <a:p>
            <a:r>
              <a:rPr lang="en-US" dirty="0"/>
              <a:t>                a = a - N;</a:t>
            </a:r>
          </a:p>
          <a:p>
            <a:r>
              <a:rPr lang="en-US" dirty="0"/>
              <a:t>            if (a == </a:t>
            </a:r>
            <a:r>
              <a:rPr lang="en-US" dirty="0" err="1"/>
              <a:t>i</a:t>
            </a:r>
            <a:r>
              <a:rPr lang="en-US" dirty="0"/>
              <a:t>)</a:t>
            </a:r>
          </a:p>
          <a:p>
            <a:r>
              <a:rPr lang="en-US" dirty="0"/>
              <a:t>                break;</a:t>
            </a:r>
          </a:p>
          <a:p>
            <a:r>
              <a:rPr lang="en-US" dirty="0"/>
              <a:t>            </a:t>
            </a:r>
            <a:r>
              <a:rPr lang="en-US" dirty="0" err="1"/>
              <a:t>arr</a:t>
            </a:r>
            <a:r>
              <a:rPr lang="en-US" dirty="0"/>
              <a:t>[j] = </a:t>
            </a:r>
            <a:r>
              <a:rPr lang="en-US" dirty="0" err="1"/>
              <a:t>arr</a:t>
            </a:r>
            <a:r>
              <a:rPr lang="en-US" dirty="0"/>
              <a:t>[a];</a:t>
            </a:r>
          </a:p>
          <a:p>
            <a:r>
              <a:rPr lang="en-US" dirty="0"/>
              <a:t>            j = a;</a:t>
            </a:r>
          </a:p>
          <a:p>
            <a:r>
              <a:rPr lang="en-US" dirty="0"/>
              <a:t>        }</a:t>
            </a:r>
          </a:p>
          <a:p>
            <a:r>
              <a:rPr lang="en-US" dirty="0"/>
              <a:t>        </a:t>
            </a:r>
            <a:r>
              <a:rPr lang="en-US" dirty="0" err="1"/>
              <a:t>arr</a:t>
            </a:r>
            <a:r>
              <a:rPr lang="en-US" dirty="0"/>
              <a:t>[j] = temp;</a:t>
            </a:r>
          </a:p>
          <a:p>
            <a:r>
              <a:rPr lang="en-US" dirty="0"/>
              <a:t>    }</a:t>
            </a:r>
          </a:p>
          <a:p>
            <a:r>
              <a:rPr lang="en-US" dirty="0"/>
              <a:t>}</a:t>
            </a:r>
          </a:p>
          <a:p>
            <a:endParaRPr lang="en-US" dirty="0"/>
          </a:p>
          <a:p>
            <a:r>
              <a:rPr lang="en-US" dirty="0"/>
              <a:t>int main()</a:t>
            </a:r>
          </a:p>
          <a:p>
            <a:r>
              <a:rPr lang="en-US" dirty="0"/>
              <a:t>{</a:t>
            </a:r>
          </a:p>
          <a:p>
            <a:r>
              <a:rPr lang="en-US" dirty="0"/>
              <a:t>    int </a:t>
            </a:r>
            <a:r>
              <a:rPr lang="en-US" dirty="0" err="1"/>
              <a:t>arr</a:t>
            </a:r>
            <a:r>
              <a:rPr lang="en-US" dirty="0"/>
              <a:t>[] = { 1, 2, 3, 4, 5 };</a:t>
            </a:r>
          </a:p>
          <a:p>
            <a:endParaRPr lang="en-US" dirty="0"/>
          </a:p>
          <a:p>
            <a:r>
              <a:rPr lang="en-US" dirty="0"/>
              <a:t>    // Rotating array</a:t>
            </a:r>
          </a:p>
          <a:p>
            <a:r>
              <a:rPr lang="en-US" dirty="0"/>
              <a:t>    Rotate(</a:t>
            </a:r>
            <a:r>
              <a:rPr lang="en-US" dirty="0" err="1"/>
              <a:t>arr</a:t>
            </a:r>
            <a:r>
              <a:rPr lang="en-US" dirty="0"/>
              <a:t>, 2, 5);</a:t>
            </a:r>
          </a:p>
          <a:p>
            <a:endParaRPr lang="en-US" dirty="0"/>
          </a:p>
          <a:p>
            <a:r>
              <a:rPr lang="en-US" dirty="0"/>
              <a:t>    // Printing array</a:t>
            </a:r>
          </a:p>
          <a:p>
            <a:r>
              <a:rPr lang="en-US" dirty="0"/>
              <a:t>    </a:t>
            </a:r>
            <a:r>
              <a:rPr lang="en-US" dirty="0" err="1"/>
              <a:t>printArray</a:t>
            </a:r>
            <a:r>
              <a:rPr lang="en-US" dirty="0"/>
              <a:t>(</a:t>
            </a:r>
            <a:r>
              <a:rPr lang="en-US" dirty="0" err="1"/>
              <a:t>arr</a:t>
            </a:r>
            <a:r>
              <a:rPr lang="en-US" dirty="0"/>
              <a:t>, 5);</a:t>
            </a:r>
          </a:p>
          <a:p>
            <a:endParaRPr lang="en-US" dirty="0"/>
          </a:p>
          <a:p>
            <a:r>
              <a:rPr lang="en-US" dirty="0"/>
              <a:t>    return 0;</a:t>
            </a:r>
          </a:p>
          <a:p>
            <a:r>
              <a:rPr lang="en-US" dirty="0"/>
              <a:t>}</a:t>
            </a:r>
          </a:p>
        </p:txBody>
      </p:sp>
      <p:sp>
        <p:nvSpPr>
          <p:cNvPr id="4" name="Content Placeholder 2">
            <a:extLst>
              <a:ext uri="{FF2B5EF4-FFF2-40B4-BE49-F238E27FC236}">
                <a16:creationId xmlns:a16="http://schemas.microsoft.com/office/drawing/2014/main" id="{3EE47C28-B74C-DC8A-61B4-24741663EF06}"/>
              </a:ext>
            </a:extLst>
          </p:cNvPr>
          <p:cNvSpPr txBox="1">
            <a:spLocks/>
          </p:cNvSpPr>
          <p:nvPr/>
        </p:nvSpPr>
        <p:spPr>
          <a:xfrm>
            <a:off x="6096000" y="1825625"/>
            <a:ext cx="5257800" cy="4351338"/>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void printArray(int arr[], int n){</a:t>
            </a:r>
          </a:p>
          <a:p>
            <a:r>
              <a:rPr lang="en-US"/>
              <a:t>    int i;</a:t>
            </a:r>
          </a:p>
          <a:p>
            <a:r>
              <a:rPr lang="en-US"/>
              <a:t>    for (i = 0; i &lt; n; i++)</a:t>
            </a:r>
          </a:p>
          <a:p>
            <a:r>
              <a:rPr lang="en-US"/>
              <a:t>        printf("%d ", arr[i]); }</a:t>
            </a:r>
          </a:p>
          <a:p>
            <a:pPr marL="0" indent="0">
              <a:buFont typeface="Arial" panose="020B0604020202020204" pitchFamily="34" charset="0"/>
              <a:buNone/>
            </a:pPr>
            <a:endParaRPr lang="en-US"/>
          </a:p>
          <a:p>
            <a:r>
              <a:rPr lang="en-US"/>
              <a:t>int gcd(int a, int b){</a:t>
            </a:r>
          </a:p>
          <a:p>
            <a:r>
              <a:rPr lang="en-US"/>
              <a:t>    if (b == 0)</a:t>
            </a:r>
          </a:p>
          <a:p>
            <a:r>
              <a:rPr lang="en-US"/>
              <a:t>        return a;</a:t>
            </a:r>
          </a:p>
          <a:p>
            <a:r>
              <a:rPr lang="en-US"/>
              <a:t>    else</a:t>
            </a:r>
          </a:p>
          <a:p>
            <a:r>
              <a:rPr lang="en-US"/>
              <a:t>        return gcd(b, a % b);}</a:t>
            </a:r>
          </a:p>
          <a:p>
            <a:r>
              <a:rPr lang="en-US"/>
              <a:t>// Rotate array</a:t>
            </a:r>
          </a:p>
          <a:p>
            <a:r>
              <a:rPr lang="en-US"/>
              <a:t>void Rotate(int arr[], int k, int N){</a:t>
            </a:r>
          </a:p>
          <a:p>
            <a:r>
              <a:rPr lang="en-US"/>
              <a:t>    int i, j, a, temp;</a:t>
            </a:r>
          </a:p>
          <a:p>
            <a:r>
              <a:rPr lang="en-US"/>
              <a:t>    k = k % N;</a:t>
            </a:r>
          </a:p>
          <a:p>
            <a:r>
              <a:rPr lang="en-US"/>
              <a:t>    int rotate = gcd(k, N);</a:t>
            </a:r>
          </a:p>
          <a:p>
            <a:r>
              <a:rPr lang="en-US"/>
              <a:t>    for (i = 0; i &lt; rotate; i++) {</a:t>
            </a:r>
          </a:p>
          <a:p>
            <a:r>
              <a:rPr lang="en-US"/>
              <a:t>        temp = arr[i];</a:t>
            </a:r>
          </a:p>
          <a:p>
            <a:r>
              <a:rPr lang="en-US"/>
              <a:t>        j = i;</a:t>
            </a:r>
          </a:p>
          <a:p>
            <a:r>
              <a:rPr lang="en-US"/>
              <a:t>        while (1) {</a:t>
            </a:r>
          </a:p>
          <a:p>
            <a:r>
              <a:rPr lang="en-US"/>
              <a:t>            a = j + k;</a:t>
            </a:r>
          </a:p>
          <a:p>
            <a:r>
              <a:rPr lang="en-US"/>
              <a:t>            if (a &gt;= N)</a:t>
            </a:r>
          </a:p>
          <a:p>
            <a:r>
              <a:rPr lang="en-US"/>
              <a:t>                a = a - N;</a:t>
            </a:r>
          </a:p>
          <a:p>
            <a:r>
              <a:rPr lang="en-US"/>
              <a:t>            if (a == i)</a:t>
            </a:r>
          </a:p>
          <a:p>
            <a:r>
              <a:rPr lang="en-US"/>
              <a:t>                break;</a:t>
            </a:r>
          </a:p>
          <a:p>
            <a:r>
              <a:rPr lang="en-US"/>
              <a:t>            arr[j] = arr[a];</a:t>
            </a:r>
          </a:p>
          <a:p>
            <a:r>
              <a:rPr lang="en-US"/>
              <a:t>            j = a;</a:t>
            </a:r>
          </a:p>
          <a:p>
            <a:r>
              <a:rPr lang="en-US"/>
              <a:t>        }</a:t>
            </a:r>
          </a:p>
          <a:p>
            <a:r>
              <a:rPr lang="en-US"/>
              <a:t>        arr[j] = temp;</a:t>
            </a:r>
          </a:p>
          <a:p>
            <a:r>
              <a:rPr lang="en-US"/>
              <a:t>    }</a:t>
            </a:r>
          </a:p>
          <a:p>
            <a:r>
              <a:rPr lang="en-US"/>
              <a:t>}</a:t>
            </a:r>
          </a:p>
          <a:p>
            <a:endParaRPr lang="en-US"/>
          </a:p>
          <a:p>
            <a:r>
              <a:rPr lang="en-US"/>
              <a:t>int main()</a:t>
            </a:r>
          </a:p>
          <a:p>
            <a:r>
              <a:rPr lang="en-US"/>
              <a:t>{</a:t>
            </a:r>
          </a:p>
          <a:p>
            <a:r>
              <a:rPr lang="en-US"/>
              <a:t>    int arr[] = { 1, 2, 3, 4, 5 };</a:t>
            </a:r>
          </a:p>
          <a:p>
            <a:endParaRPr lang="en-US"/>
          </a:p>
          <a:p>
            <a:r>
              <a:rPr lang="en-US"/>
              <a:t>    // Rotating array</a:t>
            </a:r>
          </a:p>
          <a:p>
            <a:r>
              <a:rPr lang="en-US"/>
              <a:t>    Rotate(arr, 2, 5);</a:t>
            </a:r>
          </a:p>
          <a:p>
            <a:endParaRPr lang="en-US"/>
          </a:p>
          <a:p>
            <a:r>
              <a:rPr lang="en-US"/>
              <a:t>    // Printing array</a:t>
            </a:r>
          </a:p>
          <a:p>
            <a:r>
              <a:rPr lang="en-US"/>
              <a:t>    printArray(arr, 5);</a:t>
            </a:r>
          </a:p>
          <a:p>
            <a:endParaRPr lang="en-US"/>
          </a:p>
          <a:p>
            <a:r>
              <a:rPr lang="en-US"/>
              <a:t>    return 0;</a:t>
            </a:r>
          </a:p>
          <a:p>
            <a:r>
              <a:rPr lang="en-US"/>
              <a:t>}</a:t>
            </a:r>
            <a:endParaRPr lang="en-US" dirty="0"/>
          </a:p>
        </p:txBody>
      </p:sp>
    </p:spTree>
    <p:extLst>
      <p:ext uri="{BB962C8B-B14F-4D97-AF65-F5344CB8AC3E}">
        <p14:creationId xmlns:p14="http://schemas.microsoft.com/office/powerpoint/2010/main" val="39723991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DC137-B57D-2E48-CE8B-754EEB358F7F}"/>
              </a:ext>
            </a:extLst>
          </p:cNvPr>
          <p:cNvSpPr>
            <a:spLocks noGrp="1"/>
          </p:cNvSpPr>
          <p:nvPr>
            <p:ph type="title"/>
          </p:nvPr>
        </p:nvSpPr>
        <p:spPr/>
        <p:txBody>
          <a:bodyPr>
            <a:normAutofit fontScale="90000"/>
          </a:bodyPr>
          <a:lstStyle/>
          <a:p>
            <a:pPr fontAlgn="base"/>
            <a:r>
              <a:rPr lang="en-IN" b="1" dirty="0">
                <a:effectLst/>
                <a:latin typeface="Nunito" pitchFamily="2" charset="77"/>
              </a:rPr>
              <a:t>26. Write a Program to sort First half in Ascending order and the Second in Descending order.</a:t>
            </a:r>
            <a:endParaRPr lang="en-US" dirty="0"/>
          </a:p>
        </p:txBody>
      </p:sp>
      <p:sp>
        <p:nvSpPr>
          <p:cNvPr id="3" name="Content Placeholder 2">
            <a:extLst>
              <a:ext uri="{FF2B5EF4-FFF2-40B4-BE49-F238E27FC236}">
                <a16:creationId xmlns:a16="http://schemas.microsoft.com/office/drawing/2014/main" id="{D840432A-1D2A-AAAF-9930-046B6E843B7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50949590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8D166-A4F5-82D6-B3F4-37B9F106E1FA}"/>
              </a:ext>
            </a:extLst>
          </p:cNvPr>
          <p:cNvSpPr>
            <a:spLocks noGrp="1"/>
          </p:cNvSpPr>
          <p:nvPr>
            <p:ph type="title"/>
          </p:nvPr>
        </p:nvSpPr>
        <p:spPr/>
        <p:txBody>
          <a:bodyPr>
            <a:normAutofit/>
          </a:bodyPr>
          <a:lstStyle/>
          <a:p>
            <a:pPr fontAlgn="base"/>
            <a:r>
              <a:rPr lang="en-IN" b="1" dirty="0">
                <a:effectLst/>
                <a:latin typeface="Nunito" pitchFamily="2" charset="77"/>
              </a:rPr>
              <a:t>27. Write a Program to print sums of all subsets in an array.</a:t>
            </a:r>
            <a:endParaRPr lang="en-US" dirty="0"/>
          </a:p>
        </p:txBody>
      </p:sp>
      <p:sp>
        <p:nvSpPr>
          <p:cNvPr id="3" name="Content Placeholder 2">
            <a:extLst>
              <a:ext uri="{FF2B5EF4-FFF2-40B4-BE49-F238E27FC236}">
                <a16:creationId xmlns:a16="http://schemas.microsoft.com/office/drawing/2014/main" id="{414B75BA-BB2D-6469-065E-2B79968F4900}"/>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90739839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827BD-2584-943A-5534-5BA1172EAEE4}"/>
              </a:ext>
            </a:extLst>
          </p:cNvPr>
          <p:cNvSpPr>
            <a:spLocks noGrp="1"/>
          </p:cNvSpPr>
          <p:nvPr>
            <p:ph type="title"/>
          </p:nvPr>
        </p:nvSpPr>
        <p:spPr/>
        <p:txBody>
          <a:bodyPr>
            <a:normAutofit/>
          </a:bodyPr>
          <a:lstStyle/>
          <a:p>
            <a:pPr fontAlgn="base"/>
            <a:r>
              <a:rPr lang="en-IN" b="1" dirty="0">
                <a:effectLst/>
                <a:latin typeface="Nunito" pitchFamily="2" charset="77"/>
              </a:rPr>
              <a:t>28. Write a Program to Find if there is any subarray with a sum equal to 0.</a:t>
            </a:r>
            <a:endParaRPr lang="en-US" dirty="0"/>
          </a:p>
        </p:txBody>
      </p:sp>
      <p:sp>
        <p:nvSpPr>
          <p:cNvPr id="3" name="Content Placeholder 2">
            <a:extLst>
              <a:ext uri="{FF2B5EF4-FFF2-40B4-BE49-F238E27FC236}">
                <a16:creationId xmlns:a16="http://schemas.microsoft.com/office/drawing/2014/main" id="{42B3E950-C009-F306-C8F1-7B190357AB6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65463648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71371-C4FC-1C7A-03C8-62F1C6DA5A46}"/>
              </a:ext>
            </a:extLst>
          </p:cNvPr>
          <p:cNvSpPr>
            <a:spLocks noGrp="1"/>
          </p:cNvSpPr>
          <p:nvPr>
            <p:ph type="title"/>
          </p:nvPr>
        </p:nvSpPr>
        <p:spPr/>
        <p:txBody>
          <a:bodyPr>
            <a:normAutofit/>
          </a:bodyPr>
          <a:lstStyle/>
          <a:p>
            <a:pPr fontAlgn="base"/>
            <a:r>
              <a:rPr lang="en-IN" b="1" dirty="0">
                <a:effectLst/>
                <a:latin typeface="Nunito" pitchFamily="2" charset="77"/>
              </a:rPr>
              <a:t>29. Write a C program to Implement </a:t>
            </a:r>
            <a:r>
              <a:rPr lang="en-IN" b="1" dirty="0" err="1">
                <a:effectLst/>
                <a:latin typeface="Nunito" pitchFamily="2" charset="77"/>
              </a:rPr>
              <a:t>Kadane's</a:t>
            </a:r>
            <a:r>
              <a:rPr lang="en-IN" b="1" dirty="0">
                <a:effectLst/>
                <a:latin typeface="Nunito" pitchFamily="2" charset="77"/>
              </a:rPr>
              <a:t> Algorithm</a:t>
            </a:r>
            <a:endParaRPr lang="en-US" dirty="0"/>
          </a:p>
        </p:txBody>
      </p:sp>
      <p:sp>
        <p:nvSpPr>
          <p:cNvPr id="3" name="Content Placeholder 2">
            <a:extLst>
              <a:ext uri="{FF2B5EF4-FFF2-40B4-BE49-F238E27FC236}">
                <a16:creationId xmlns:a16="http://schemas.microsoft.com/office/drawing/2014/main" id="{D2543F35-BF78-956B-E7C1-0351D4C392D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18078391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EB9D1-2556-F025-5CDB-10FF1FDECA1B}"/>
              </a:ext>
            </a:extLst>
          </p:cNvPr>
          <p:cNvSpPr>
            <a:spLocks noGrp="1"/>
          </p:cNvSpPr>
          <p:nvPr>
            <p:ph type="title"/>
          </p:nvPr>
        </p:nvSpPr>
        <p:spPr/>
        <p:txBody>
          <a:bodyPr>
            <a:normAutofit/>
          </a:bodyPr>
          <a:lstStyle/>
          <a:p>
            <a:pPr fontAlgn="base"/>
            <a:r>
              <a:rPr lang="en-IN" b="1" dirty="0">
                <a:effectLst/>
                <a:latin typeface="Nunito" pitchFamily="2" charset="77"/>
              </a:rPr>
              <a:t>30. Write a Program to find the transpose of a matrix.</a:t>
            </a:r>
            <a:endParaRPr lang="en-US" dirty="0"/>
          </a:p>
        </p:txBody>
      </p:sp>
      <p:sp>
        <p:nvSpPr>
          <p:cNvPr id="3" name="Content Placeholder 2">
            <a:extLst>
              <a:ext uri="{FF2B5EF4-FFF2-40B4-BE49-F238E27FC236}">
                <a16:creationId xmlns:a16="http://schemas.microsoft.com/office/drawing/2014/main" id="{761743A4-C661-4C3C-80C2-216028974AE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38981268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4D15E-C08D-3445-6B98-280591B61E2E}"/>
              </a:ext>
            </a:extLst>
          </p:cNvPr>
          <p:cNvSpPr>
            <a:spLocks noGrp="1"/>
          </p:cNvSpPr>
          <p:nvPr>
            <p:ph type="title"/>
          </p:nvPr>
        </p:nvSpPr>
        <p:spPr/>
        <p:txBody>
          <a:bodyPr>
            <a:normAutofit fontScale="90000"/>
          </a:bodyPr>
          <a:lstStyle/>
          <a:p>
            <a:pPr fontAlgn="base"/>
            <a:r>
              <a:rPr lang="en-IN" b="1" dirty="0">
                <a:effectLst/>
                <a:latin typeface="Nunito" pitchFamily="2" charset="77"/>
              </a:rPr>
              <a:t>31. Write a Program to Rotate a matrix by 90 degrees in the clockwise direction in C.</a:t>
            </a:r>
            <a:endParaRPr lang="en-US" dirty="0"/>
          </a:p>
        </p:txBody>
      </p:sp>
      <p:sp>
        <p:nvSpPr>
          <p:cNvPr id="3" name="Content Placeholder 2">
            <a:extLst>
              <a:ext uri="{FF2B5EF4-FFF2-40B4-BE49-F238E27FC236}">
                <a16:creationId xmlns:a16="http://schemas.microsoft.com/office/drawing/2014/main" id="{56337D7E-5903-E50D-623C-0276B7A9140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1220729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77FF1-D75E-C88F-56D8-C88A30B5E96B}"/>
              </a:ext>
            </a:extLst>
          </p:cNvPr>
          <p:cNvSpPr>
            <a:spLocks noGrp="1"/>
          </p:cNvSpPr>
          <p:nvPr>
            <p:ph type="title"/>
          </p:nvPr>
        </p:nvSpPr>
        <p:spPr/>
        <p:txBody>
          <a:bodyPr>
            <a:normAutofit/>
          </a:bodyPr>
          <a:lstStyle/>
          <a:p>
            <a:pPr fontAlgn="base"/>
            <a:r>
              <a:rPr lang="en-IN" b="1" dirty="0">
                <a:effectLst/>
                <a:latin typeface="Nunito" pitchFamily="2" charset="77"/>
              </a:rPr>
              <a:t>32. Write a Program to find the Spiral Traversal of a Matrix in C.</a:t>
            </a:r>
            <a:endParaRPr lang="en-US" dirty="0"/>
          </a:p>
        </p:txBody>
      </p:sp>
      <p:sp>
        <p:nvSpPr>
          <p:cNvPr id="3" name="Content Placeholder 2">
            <a:extLst>
              <a:ext uri="{FF2B5EF4-FFF2-40B4-BE49-F238E27FC236}">
                <a16:creationId xmlns:a16="http://schemas.microsoft.com/office/drawing/2014/main" id="{85830BFA-41B6-16D1-EA48-9D242F83C36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30273587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C8624-D135-771F-C94B-D8D73ADAED2A}"/>
              </a:ext>
            </a:extLst>
          </p:cNvPr>
          <p:cNvSpPr>
            <a:spLocks noGrp="1"/>
          </p:cNvSpPr>
          <p:nvPr>
            <p:ph type="title"/>
          </p:nvPr>
        </p:nvSpPr>
        <p:spPr/>
        <p:txBody>
          <a:bodyPr>
            <a:normAutofit/>
          </a:bodyPr>
          <a:lstStyle/>
          <a:p>
            <a:pPr fontAlgn="base"/>
            <a:r>
              <a:rPr lang="en-IN" b="1" dirty="0">
                <a:effectLst/>
                <a:latin typeface="Nunito" pitchFamily="2" charset="77"/>
              </a:rPr>
              <a:t>33. Write a program to count the sum of numbers in a string.</a:t>
            </a:r>
            <a:endParaRPr lang="en-US" dirty="0"/>
          </a:p>
        </p:txBody>
      </p:sp>
      <p:sp>
        <p:nvSpPr>
          <p:cNvPr id="3" name="Content Placeholder 2">
            <a:extLst>
              <a:ext uri="{FF2B5EF4-FFF2-40B4-BE49-F238E27FC236}">
                <a16:creationId xmlns:a16="http://schemas.microsoft.com/office/drawing/2014/main" id="{2282429A-BC6D-B01B-A518-440BDC565A10}"/>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17470100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9FEBF-3906-5486-AC72-D253B3FFCB28}"/>
              </a:ext>
            </a:extLst>
          </p:cNvPr>
          <p:cNvSpPr>
            <a:spLocks noGrp="1"/>
          </p:cNvSpPr>
          <p:nvPr>
            <p:ph type="title"/>
          </p:nvPr>
        </p:nvSpPr>
        <p:spPr/>
        <p:txBody>
          <a:bodyPr>
            <a:normAutofit/>
          </a:bodyPr>
          <a:lstStyle/>
          <a:p>
            <a:pPr fontAlgn="base"/>
            <a:r>
              <a:rPr lang="en-IN" b="1" dirty="0">
                <a:effectLst/>
                <a:latin typeface="Nunito" pitchFamily="2" charset="77"/>
              </a:rPr>
              <a:t>34. Program to calculate the length of the string.</a:t>
            </a:r>
            <a:endParaRPr lang="en-US" dirty="0"/>
          </a:p>
        </p:txBody>
      </p:sp>
      <p:sp>
        <p:nvSpPr>
          <p:cNvPr id="3" name="Content Placeholder 2">
            <a:extLst>
              <a:ext uri="{FF2B5EF4-FFF2-40B4-BE49-F238E27FC236}">
                <a16:creationId xmlns:a16="http://schemas.microsoft.com/office/drawing/2014/main" id="{D34DF009-38EC-03DA-99C8-43FAD70D867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22761341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AA596-947F-0868-4F00-45D750751360}"/>
              </a:ext>
            </a:extLst>
          </p:cNvPr>
          <p:cNvSpPr>
            <a:spLocks noGrp="1"/>
          </p:cNvSpPr>
          <p:nvPr>
            <p:ph type="title"/>
          </p:nvPr>
        </p:nvSpPr>
        <p:spPr/>
        <p:txBody>
          <a:bodyPr>
            <a:normAutofit/>
          </a:bodyPr>
          <a:lstStyle/>
          <a:p>
            <a:pPr fontAlgn="base"/>
            <a:r>
              <a:rPr lang="en-IN" b="1" dirty="0">
                <a:effectLst/>
                <a:latin typeface="Nunito" pitchFamily="2" charset="77"/>
              </a:rPr>
              <a:t>35. Write a program to check string is a palindrome.</a:t>
            </a:r>
            <a:endParaRPr lang="en-US" dirty="0"/>
          </a:p>
        </p:txBody>
      </p:sp>
      <p:sp>
        <p:nvSpPr>
          <p:cNvPr id="3" name="Content Placeholder 2">
            <a:extLst>
              <a:ext uri="{FF2B5EF4-FFF2-40B4-BE49-F238E27FC236}">
                <a16:creationId xmlns:a16="http://schemas.microsoft.com/office/drawing/2014/main" id="{E9C574E1-2500-AF47-B035-3EA185BE650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51095303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9A8B5-3341-41CB-E885-89F9B3A6600E}"/>
              </a:ext>
            </a:extLst>
          </p:cNvPr>
          <p:cNvSpPr>
            <a:spLocks noGrp="1"/>
          </p:cNvSpPr>
          <p:nvPr>
            <p:ph type="title"/>
          </p:nvPr>
        </p:nvSpPr>
        <p:spPr/>
        <p:txBody>
          <a:bodyPr>
            <a:normAutofit fontScale="90000"/>
          </a:bodyPr>
          <a:lstStyle/>
          <a:p>
            <a:pPr fontAlgn="base"/>
            <a:r>
              <a:rPr lang="en-IN" b="1" dirty="0">
                <a:effectLst/>
                <a:latin typeface="Nunito" pitchFamily="2" charset="77"/>
              </a:rPr>
              <a:t>36. Write a program to print all permutations of a given string in lexicographically sorted order in C.</a:t>
            </a:r>
            <a:endParaRPr lang="en-US" dirty="0"/>
          </a:p>
        </p:txBody>
      </p:sp>
      <p:sp>
        <p:nvSpPr>
          <p:cNvPr id="3" name="Content Placeholder 2">
            <a:extLst>
              <a:ext uri="{FF2B5EF4-FFF2-40B4-BE49-F238E27FC236}">
                <a16:creationId xmlns:a16="http://schemas.microsoft.com/office/drawing/2014/main" id="{EC7DA409-6422-EDAD-925B-9B8DE3FB2FF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90247481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6398E-4A60-62FD-ED50-264DFEE13610}"/>
              </a:ext>
            </a:extLst>
          </p:cNvPr>
          <p:cNvSpPr>
            <a:spLocks noGrp="1"/>
          </p:cNvSpPr>
          <p:nvPr>
            <p:ph type="title"/>
          </p:nvPr>
        </p:nvSpPr>
        <p:spPr/>
        <p:txBody>
          <a:bodyPr>
            <a:normAutofit fontScale="90000"/>
          </a:bodyPr>
          <a:lstStyle/>
          <a:p>
            <a:pPr fontAlgn="base"/>
            <a:r>
              <a:rPr lang="en-IN" b="1" dirty="0">
                <a:effectLst/>
                <a:latin typeface="Nunito" pitchFamily="2" charset="77"/>
              </a:rPr>
              <a:t>37. Write a program to calculate the Power of a Number using Recursion in C.</a:t>
            </a:r>
            <a:endParaRPr lang="en-US" dirty="0"/>
          </a:p>
        </p:txBody>
      </p:sp>
      <p:sp>
        <p:nvSpPr>
          <p:cNvPr id="3" name="Content Placeholder 2">
            <a:extLst>
              <a:ext uri="{FF2B5EF4-FFF2-40B4-BE49-F238E27FC236}">
                <a16:creationId xmlns:a16="http://schemas.microsoft.com/office/drawing/2014/main" id="{CA874B30-CD18-6EED-5785-2680F0A5ECB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58929289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BE6D7-A97A-BBF1-B1EC-A8C7F3004572}"/>
              </a:ext>
            </a:extLst>
          </p:cNvPr>
          <p:cNvSpPr>
            <a:spLocks noGrp="1"/>
          </p:cNvSpPr>
          <p:nvPr>
            <p:ph type="title"/>
          </p:nvPr>
        </p:nvSpPr>
        <p:spPr/>
        <p:txBody>
          <a:bodyPr>
            <a:normAutofit/>
          </a:bodyPr>
          <a:lstStyle/>
          <a:p>
            <a:pPr fontAlgn="base"/>
            <a:r>
              <a:rPr lang="en-IN" b="1" dirty="0">
                <a:effectLst/>
                <a:latin typeface="Nunito" pitchFamily="2" charset="77"/>
              </a:rPr>
              <a:t>38. Write a Code to print the Fibonacci series using recursion.</a:t>
            </a:r>
            <a:endParaRPr lang="en-US" dirty="0"/>
          </a:p>
        </p:txBody>
      </p:sp>
      <p:sp>
        <p:nvSpPr>
          <p:cNvPr id="3" name="Content Placeholder 2">
            <a:extLst>
              <a:ext uri="{FF2B5EF4-FFF2-40B4-BE49-F238E27FC236}">
                <a16:creationId xmlns:a16="http://schemas.microsoft.com/office/drawing/2014/main" id="{36BD9FD0-1849-94B6-07BC-FCBE0C274A62}"/>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82745783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33A56-B4A4-8941-A006-E837A5A20830}"/>
              </a:ext>
            </a:extLst>
          </p:cNvPr>
          <p:cNvSpPr>
            <a:spLocks noGrp="1"/>
          </p:cNvSpPr>
          <p:nvPr>
            <p:ph type="title"/>
          </p:nvPr>
        </p:nvSpPr>
        <p:spPr/>
        <p:txBody>
          <a:bodyPr>
            <a:normAutofit/>
          </a:bodyPr>
          <a:lstStyle/>
          <a:p>
            <a:pPr fontAlgn="base"/>
            <a:r>
              <a:rPr lang="en-IN" b="1" dirty="0">
                <a:effectLst/>
                <a:latin typeface="Nunito" pitchFamily="2" charset="77"/>
              </a:rPr>
              <a:t>39. Write a Program to find the HCF of two Numbers using Recursion.</a:t>
            </a:r>
            <a:endParaRPr lang="en-US" dirty="0"/>
          </a:p>
        </p:txBody>
      </p:sp>
      <p:sp>
        <p:nvSpPr>
          <p:cNvPr id="3" name="Content Placeholder 2">
            <a:extLst>
              <a:ext uri="{FF2B5EF4-FFF2-40B4-BE49-F238E27FC236}">
                <a16:creationId xmlns:a16="http://schemas.microsoft.com/office/drawing/2014/main" id="{9B10FBA8-9138-ED52-4ECE-A0E25A945EA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28833597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0B64B-840B-BA0E-E88A-3DBE4DE617CF}"/>
              </a:ext>
            </a:extLst>
          </p:cNvPr>
          <p:cNvSpPr>
            <a:spLocks noGrp="1"/>
          </p:cNvSpPr>
          <p:nvPr>
            <p:ph type="title"/>
          </p:nvPr>
        </p:nvSpPr>
        <p:spPr/>
        <p:txBody>
          <a:bodyPr>
            <a:normAutofit/>
          </a:bodyPr>
          <a:lstStyle/>
          <a:p>
            <a:pPr fontAlgn="base"/>
            <a:r>
              <a:rPr lang="en-IN" b="1" dirty="0">
                <a:effectLst/>
                <a:latin typeface="Nunito" pitchFamily="2" charset="77"/>
              </a:rPr>
              <a:t>40. Write a Program in C to reverse a string using recursion.</a:t>
            </a:r>
            <a:endParaRPr lang="en-US" dirty="0"/>
          </a:p>
        </p:txBody>
      </p:sp>
      <p:sp>
        <p:nvSpPr>
          <p:cNvPr id="3" name="Content Placeholder 2">
            <a:extLst>
              <a:ext uri="{FF2B5EF4-FFF2-40B4-BE49-F238E27FC236}">
                <a16:creationId xmlns:a16="http://schemas.microsoft.com/office/drawing/2014/main" id="{9BA931E9-C3BD-7BF9-8E1A-9135139B4E2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55179813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4064B-AEED-2AB1-FE77-29158DCB8F5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F31568F-1B79-93E2-D042-C61CCC20315B}"/>
              </a:ext>
            </a:extLst>
          </p:cNvPr>
          <p:cNvSpPr>
            <a:spLocks noGrp="1"/>
          </p:cNvSpPr>
          <p:nvPr>
            <p:ph idx="1"/>
          </p:nvPr>
        </p:nvSpPr>
        <p:spPr/>
        <p:txBody>
          <a:bodyPr>
            <a:normAutofit fontScale="92500" lnSpcReduction="10000"/>
          </a:bodyPr>
          <a:lstStyle/>
          <a:p>
            <a:pPr rtl="0"/>
            <a:r>
              <a:rPr lang="en-IN" b="0" i="0" dirty="0">
                <a:solidFill>
                  <a:srgbClr val="273239"/>
                </a:solidFill>
                <a:effectLst/>
                <a:latin typeface="Source Sans 3"/>
              </a:rPr>
              <a:t>The best data structure to check whether an arithmetic expression has balanced parenthesis is a</a:t>
            </a:r>
          </a:p>
          <a:p>
            <a:pPr>
              <a:buFont typeface="Arial" panose="020B0604020202020204" pitchFamily="34" charset="0"/>
              <a:buChar char="•"/>
            </a:pPr>
            <a:r>
              <a:rPr lang="en-IN" b="0" i="0" dirty="0">
                <a:solidFill>
                  <a:srgbClr val="9F9F9F"/>
                </a:solidFill>
                <a:effectLst/>
                <a:latin typeface="-apple-system"/>
              </a:rPr>
              <a:t>A</a:t>
            </a:r>
          </a:p>
          <a:p>
            <a:pPr rtl="0">
              <a:buFont typeface="Arial" panose="020B0604020202020204" pitchFamily="34" charset="0"/>
              <a:buChar char="•"/>
            </a:pPr>
            <a:r>
              <a:rPr lang="en-IN" b="0" i="0" dirty="0">
                <a:solidFill>
                  <a:srgbClr val="273239"/>
                </a:solidFill>
                <a:effectLst/>
                <a:latin typeface="Source Sans 3"/>
              </a:rPr>
              <a:t>Queue</a:t>
            </a:r>
          </a:p>
          <a:p>
            <a:pPr>
              <a:buFont typeface="Arial" panose="020B0604020202020204" pitchFamily="34" charset="0"/>
              <a:buChar char="•"/>
            </a:pPr>
            <a:r>
              <a:rPr lang="en-IN" b="0" i="0" dirty="0">
                <a:solidFill>
                  <a:srgbClr val="9F9F9F"/>
                </a:solidFill>
                <a:effectLst/>
                <a:latin typeface="-apple-system"/>
              </a:rPr>
              <a:t>B</a:t>
            </a:r>
          </a:p>
          <a:p>
            <a:pPr rtl="0">
              <a:buFont typeface="Arial" panose="020B0604020202020204" pitchFamily="34" charset="0"/>
              <a:buChar char="•"/>
            </a:pPr>
            <a:r>
              <a:rPr lang="en-IN" b="0" i="0" dirty="0">
                <a:solidFill>
                  <a:srgbClr val="273239"/>
                </a:solidFill>
                <a:effectLst/>
                <a:latin typeface="Source Sans 3"/>
              </a:rPr>
              <a:t>Stack</a:t>
            </a:r>
          </a:p>
          <a:p>
            <a:pPr>
              <a:buFont typeface="Arial" panose="020B0604020202020204" pitchFamily="34" charset="0"/>
              <a:buChar char="•"/>
            </a:pPr>
            <a:r>
              <a:rPr lang="en-IN" b="0" i="0" dirty="0">
                <a:solidFill>
                  <a:srgbClr val="9F9F9F"/>
                </a:solidFill>
                <a:effectLst/>
                <a:latin typeface="-apple-system"/>
              </a:rPr>
              <a:t>C</a:t>
            </a:r>
          </a:p>
          <a:p>
            <a:pPr rtl="0">
              <a:buFont typeface="Arial" panose="020B0604020202020204" pitchFamily="34" charset="0"/>
              <a:buChar char="•"/>
            </a:pPr>
            <a:r>
              <a:rPr lang="en-IN" b="0" i="0" dirty="0">
                <a:solidFill>
                  <a:srgbClr val="273239"/>
                </a:solidFill>
                <a:effectLst/>
                <a:latin typeface="Source Sans 3"/>
              </a:rPr>
              <a:t>Tree</a:t>
            </a:r>
          </a:p>
          <a:p>
            <a:pPr>
              <a:buFont typeface="Arial" panose="020B0604020202020204" pitchFamily="34" charset="0"/>
              <a:buChar char="•"/>
            </a:pPr>
            <a:r>
              <a:rPr lang="en-IN" b="0" i="0" dirty="0">
                <a:solidFill>
                  <a:srgbClr val="9F9F9F"/>
                </a:solidFill>
                <a:effectLst/>
                <a:latin typeface="-apple-system"/>
              </a:rPr>
              <a:t>D</a:t>
            </a:r>
          </a:p>
          <a:p>
            <a:pPr rtl="0">
              <a:buFont typeface="Arial" panose="020B0604020202020204" pitchFamily="34" charset="0"/>
              <a:buChar char="•"/>
            </a:pPr>
            <a:r>
              <a:rPr lang="en-IN" b="0" i="0" dirty="0">
                <a:solidFill>
                  <a:srgbClr val="273239"/>
                </a:solidFill>
                <a:effectLst/>
                <a:latin typeface="Source Sans 3"/>
              </a:rPr>
              <a:t>List</a:t>
            </a:r>
          </a:p>
          <a:p>
            <a:endParaRPr lang="en-US" dirty="0"/>
          </a:p>
        </p:txBody>
      </p:sp>
    </p:spTree>
    <p:extLst>
      <p:ext uri="{BB962C8B-B14F-4D97-AF65-F5344CB8AC3E}">
        <p14:creationId xmlns:p14="http://schemas.microsoft.com/office/powerpoint/2010/main" val="358243006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1AD94-78C5-0FF4-3FE8-CDC84DE645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53D13F-C9F4-545F-6DC1-5612A547E92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413B132-39EB-DE85-1EB5-F6C88549BB3F}"/>
              </a:ext>
            </a:extLst>
          </p:cNvPr>
          <p:cNvSpPr>
            <a:spLocks noGrp="1"/>
          </p:cNvSpPr>
          <p:nvPr>
            <p:ph idx="1"/>
          </p:nvPr>
        </p:nvSpPr>
        <p:spPr/>
        <p:txBody>
          <a:bodyPr>
            <a:normAutofit fontScale="92500" lnSpcReduction="10000"/>
          </a:bodyPr>
          <a:lstStyle/>
          <a:p>
            <a:pPr rtl="0"/>
            <a:r>
              <a:rPr lang="en-IN" b="0" i="0" dirty="0">
                <a:solidFill>
                  <a:srgbClr val="273239"/>
                </a:solidFill>
                <a:effectLst/>
                <a:latin typeface="Source Sans 3"/>
              </a:rPr>
              <a:t>The best data structure to check whether an arithmetic expression has balanced parenthesis is a</a:t>
            </a:r>
          </a:p>
          <a:p>
            <a:pPr>
              <a:buFont typeface="Arial" panose="020B0604020202020204" pitchFamily="34" charset="0"/>
              <a:buChar char="•"/>
            </a:pPr>
            <a:r>
              <a:rPr lang="en-IN" b="0" i="0" dirty="0">
                <a:solidFill>
                  <a:srgbClr val="9F9F9F"/>
                </a:solidFill>
                <a:effectLst/>
                <a:latin typeface="-apple-system"/>
              </a:rPr>
              <a:t>A</a:t>
            </a:r>
          </a:p>
          <a:p>
            <a:pPr rtl="0">
              <a:buFont typeface="Arial" panose="020B0604020202020204" pitchFamily="34" charset="0"/>
              <a:buChar char="•"/>
            </a:pPr>
            <a:r>
              <a:rPr lang="en-IN" b="0" i="0" dirty="0">
                <a:solidFill>
                  <a:srgbClr val="273239"/>
                </a:solidFill>
                <a:effectLst/>
                <a:latin typeface="Source Sans 3"/>
              </a:rPr>
              <a:t>Queue</a:t>
            </a:r>
          </a:p>
          <a:p>
            <a:pPr>
              <a:buFont typeface="Arial" panose="020B0604020202020204" pitchFamily="34" charset="0"/>
              <a:buChar char="•"/>
            </a:pPr>
            <a:r>
              <a:rPr lang="en-IN" b="0" i="0" dirty="0">
                <a:solidFill>
                  <a:srgbClr val="00B050"/>
                </a:solidFill>
                <a:effectLst/>
                <a:latin typeface="-apple-system"/>
              </a:rPr>
              <a:t>B</a:t>
            </a:r>
          </a:p>
          <a:p>
            <a:pPr rtl="0">
              <a:buFont typeface="Arial" panose="020B0604020202020204" pitchFamily="34" charset="0"/>
              <a:buChar char="•"/>
            </a:pPr>
            <a:r>
              <a:rPr lang="en-IN" b="0" i="0" dirty="0">
                <a:solidFill>
                  <a:srgbClr val="00B050"/>
                </a:solidFill>
                <a:effectLst/>
                <a:latin typeface="Source Sans 3"/>
              </a:rPr>
              <a:t>Stack</a:t>
            </a:r>
          </a:p>
          <a:p>
            <a:pPr>
              <a:buFont typeface="Arial" panose="020B0604020202020204" pitchFamily="34" charset="0"/>
              <a:buChar char="•"/>
            </a:pPr>
            <a:r>
              <a:rPr lang="en-IN" b="0" i="0" dirty="0">
                <a:solidFill>
                  <a:srgbClr val="9F9F9F"/>
                </a:solidFill>
                <a:effectLst/>
                <a:latin typeface="-apple-system"/>
              </a:rPr>
              <a:t>C</a:t>
            </a:r>
          </a:p>
          <a:p>
            <a:pPr rtl="0">
              <a:buFont typeface="Arial" panose="020B0604020202020204" pitchFamily="34" charset="0"/>
              <a:buChar char="•"/>
            </a:pPr>
            <a:r>
              <a:rPr lang="en-IN" b="0" i="0" dirty="0">
                <a:solidFill>
                  <a:srgbClr val="273239"/>
                </a:solidFill>
                <a:effectLst/>
                <a:latin typeface="Source Sans 3"/>
              </a:rPr>
              <a:t>Tree</a:t>
            </a:r>
          </a:p>
          <a:p>
            <a:pPr>
              <a:buFont typeface="Arial" panose="020B0604020202020204" pitchFamily="34" charset="0"/>
              <a:buChar char="•"/>
            </a:pPr>
            <a:r>
              <a:rPr lang="en-IN" b="0" i="0" dirty="0">
                <a:solidFill>
                  <a:srgbClr val="9F9F9F"/>
                </a:solidFill>
                <a:effectLst/>
                <a:latin typeface="-apple-system"/>
              </a:rPr>
              <a:t>D</a:t>
            </a:r>
          </a:p>
          <a:p>
            <a:pPr rtl="0">
              <a:buFont typeface="Arial" panose="020B0604020202020204" pitchFamily="34" charset="0"/>
              <a:buChar char="•"/>
            </a:pPr>
            <a:r>
              <a:rPr lang="en-IN" b="0" i="0" dirty="0">
                <a:solidFill>
                  <a:srgbClr val="273239"/>
                </a:solidFill>
                <a:effectLst/>
                <a:latin typeface="Source Sans 3"/>
              </a:rPr>
              <a:t>List</a:t>
            </a:r>
          </a:p>
          <a:p>
            <a:endParaRPr lang="en-US" dirty="0"/>
          </a:p>
        </p:txBody>
      </p:sp>
    </p:spTree>
    <p:extLst>
      <p:ext uri="{BB962C8B-B14F-4D97-AF65-F5344CB8AC3E}">
        <p14:creationId xmlns:p14="http://schemas.microsoft.com/office/powerpoint/2010/main" val="237799606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CD667-50EF-EC03-1816-EA9CEDA691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0612B4-9C16-81F6-6791-974B85B97F1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2BD23CD-10F1-A142-8CC8-F48DA012C7E7}"/>
              </a:ext>
            </a:extLst>
          </p:cNvPr>
          <p:cNvSpPr>
            <a:spLocks noGrp="1"/>
          </p:cNvSpPr>
          <p:nvPr>
            <p:ph idx="1"/>
          </p:nvPr>
        </p:nvSpPr>
        <p:spPr/>
        <p:txBody>
          <a:bodyPr>
            <a:normAutofit/>
          </a:bodyPr>
          <a:lstStyle/>
          <a:p>
            <a:pPr rtl="0"/>
            <a:r>
              <a:rPr lang="en-IN" b="0" i="0" dirty="0">
                <a:effectLst/>
                <a:latin typeface="Source Sans 3"/>
              </a:rPr>
              <a:t>The minimum number of stacks needed to implement a queue is</a:t>
            </a:r>
          </a:p>
          <a:p>
            <a:pPr>
              <a:buFont typeface="Arial" panose="020B0604020202020204" pitchFamily="34" charset="0"/>
              <a:buChar char="•"/>
            </a:pPr>
            <a:r>
              <a:rPr lang="en-IN" b="0" i="0" dirty="0">
                <a:effectLst/>
                <a:latin typeface="-apple-system"/>
              </a:rPr>
              <a:t>A. </a:t>
            </a:r>
            <a:r>
              <a:rPr lang="en-IN" b="0" i="0" dirty="0">
                <a:effectLst/>
                <a:latin typeface="Source Sans 3"/>
              </a:rPr>
              <a:t>3</a:t>
            </a:r>
          </a:p>
          <a:p>
            <a:pPr>
              <a:buFont typeface="Arial" panose="020B0604020202020204" pitchFamily="34" charset="0"/>
              <a:buChar char="•"/>
            </a:pPr>
            <a:r>
              <a:rPr lang="en-IN" b="0" i="0" dirty="0">
                <a:effectLst/>
                <a:latin typeface="-apple-system"/>
              </a:rPr>
              <a:t>B. </a:t>
            </a:r>
            <a:r>
              <a:rPr lang="en-IN" b="0" i="0" dirty="0">
                <a:effectLst/>
                <a:latin typeface="Source Sans 3"/>
              </a:rPr>
              <a:t>1</a:t>
            </a:r>
          </a:p>
          <a:p>
            <a:pPr>
              <a:buFont typeface="Arial" panose="020B0604020202020204" pitchFamily="34" charset="0"/>
              <a:buChar char="•"/>
            </a:pPr>
            <a:r>
              <a:rPr lang="en-IN" b="0" i="0" dirty="0">
                <a:effectLst/>
                <a:latin typeface="-apple-system"/>
              </a:rPr>
              <a:t>C. </a:t>
            </a:r>
            <a:r>
              <a:rPr lang="en-IN" b="0" i="0" dirty="0">
                <a:effectLst/>
                <a:latin typeface="Source Sans 3"/>
              </a:rPr>
              <a:t>2</a:t>
            </a:r>
          </a:p>
          <a:p>
            <a:pPr>
              <a:buFont typeface="Arial" panose="020B0604020202020204" pitchFamily="34" charset="0"/>
              <a:buChar char="•"/>
            </a:pPr>
            <a:r>
              <a:rPr lang="en-IN" b="0" i="0" dirty="0">
                <a:effectLst/>
                <a:latin typeface="-apple-system"/>
              </a:rPr>
              <a:t>D. </a:t>
            </a:r>
            <a:r>
              <a:rPr lang="en-IN" b="0" i="0" dirty="0">
                <a:effectLst/>
                <a:latin typeface="Source Sans 3"/>
              </a:rPr>
              <a:t>4</a:t>
            </a:r>
          </a:p>
          <a:p>
            <a:endParaRPr lang="en-US" dirty="0"/>
          </a:p>
        </p:txBody>
      </p:sp>
    </p:spTree>
    <p:extLst>
      <p:ext uri="{BB962C8B-B14F-4D97-AF65-F5344CB8AC3E}">
        <p14:creationId xmlns:p14="http://schemas.microsoft.com/office/powerpoint/2010/main" val="63061316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A6761-BD15-2766-2B78-8929008404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569965-90B7-41DD-522C-892AD5A5CD9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F60F49F-9E81-CF59-16FC-0AC6AF2A73B6}"/>
              </a:ext>
            </a:extLst>
          </p:cNvPr>
          <p:cNvSpPr>
            <a:spLocks noGrp="1"/>
          </p:cNvSpPr>
          <p:nvPr>
            <p:ph idx="1"/>
          </p:nvPr>
        </p:nvSpPr>
        <p:spPr/>
        <p:txBody>
          <a:bodyPr>
            <a:normAutofit/>
          </a:bodyPr>
          <a:lstStyle/>
          <a:p>
            <a:pPr rtl="0"/>
            <a:r>
              <a:rPr lang="en-IN" b="0" i="0" dirty="0">
                <a:effectLst/>
                <a:latin typeface="Source Sans 3"/>
              </a:rPr>
              <a:t>The minimum number of stacks needed to implement a queue is</a:t>
            </a:r>
          </a:p>
          <a:p>
            <a:pPr>
              <a:buFont typeface="Arial" panose="020B0604020202020204" pitchFamily="34" charset="0"/>
              <a:buChar char="•"/>
            </a:pPr>
            <a:r>
              <a:rPr lang="en-IN" b="0" i="0" dirty="0">
                <a:effectLst/>
                <a:latin typeface="-apple-system"/>
              </a:rPr>
              <a:t>A. </a:t>
            </a:r>
            <a:r>
              <a:rPr lang="en-IN" b="0" i="0" dirty="0">
                <a:effectLst/>
                <a:latin typeface="Source Sans 3"/>
              </a:rPr>
              <a:t>3</a:t>
            </a:r>
          </a:p>
          <a:p>
            <a:pPr>
              <a:buFont typeface="Arial" panose="020B0604020202020204" pitchFamily="34" charset="0"/>
              <a:buChar char="•"/>
            </a:pPr>
            <a:r>
              <a:rPr lang="en-IN" b="0" i="0" dirty="0">
                <a:effectLst/>
                <a:latin typeface="-apple-system"/>
              </a:rPr>
              <a:t>B. </a:t>
            </a:r>
            <a:r>
              <a:rPr lang="en-IN" b="0" i="0" dirty="0">
                <a:effectLst/>
                <a:latin typeface="Source Sans 3"/>
              </a:rPr>
              <a:t>1</a:t>
            </a:r>
          </a:p>
          <a:p>
            <a:pPr>
              <a:buFont typeface="Arial" panose="020B0604020202020204" pitchFamily="34" charset="0"/>
              <a:buChar char="•"/>
            </a:pPr>
            <a:r>
              <a:rPr lang="en-IN" b="0" i="0" dirty="0">
                <a:solidFill>
                  <a:srgbClr val="00B050"/>
                </a:solidFill>
                <a:effectLst/>
                <a:latin typeface="-apple-system"/>
              </a:rPr>
              <a:t>C. </a:t>
            </a:r>
            <a:r>
              <a:rPr lang="en-IN" b="0" i="0" dirty="0">
                <a:solidFill>
                  <a:srgbClr val="00B050"/>
                </a:solidFill>
                <a:effectLst/>
                <a:latin typeface="Source Sans 3"/>
              </a:rPr>
              <a:t>2</a:t>
            </a:r>
          </a:p>
          <a:p>
            <a:pPr>
              <a:buFont typeface="Arial" panose="020B0604020202020204" pitchFamily="34" charset="0"/>
              <a:buChar char="•"/>
            </a:pPr>
            <a:r>
              <a:rPr lang="en-IN" b="0" i="0" dirty="0">
                <a:effectLst/>
                <a:latin typeface="-apple-system"/>
              </a:rPr>
              <a:t>D. </a:t>
            </a:r>
            <a:r>
              <a:rPr lang="en-IN" b="0" i="0" dirty="0">
                <a:effectLst/>
                <a:latin typeface="Source Sans 3"/>
              </a:rPr>
              <a:t>4</a:t>
            </a:r>
          </a:p>
          <a:p>
            <a:endParaRPr lang="en-US" dirty="0"/>
          </a:p>
        </p:txBody>
      </p:sp>
    </p:spTree>
    <p:extLst>
      <p:ext uri="{BB962C8B-B14F-4D97-AF65-F5344CB8AC3E}">
        <p14:creationId xmlns:p14="http://schemas.microsoft.com/office/powerpoint/2010/main" val="220594433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0B2CC-18EB-96F0-0508-3185F338E79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5DCBB55-FD88-D6DD-64DC-BFCCB337A5CD}"/>
              </a:ext>
            </a:extLst>
          </p:cNvPr>
          <p:cNvSpPr>
            <a:spLocks noGrp="1"/>
          </p:cNvSpPr>
          <p:nvPr>
            <p:ph idx="1"/>
          </p:nvPr>
        </p:nvSpPr>
        <p:spPr/>
        <p:txBody>
          <a:bodyPr>
            <a:normAutofit/>
          </a:bodyPr>
          <a:lstStyle/>
          <a:p>
            <a:pPr rtl="0"/>
            <a:r>
              <a:rPr lang="en-IN" b="0" i="0" dirty="0">
                <a:solidFill>
                  <a:srgbClr val="273239"/>
                </a:solidFill>
                <a:effectLst/>
                <a:latin typeface="Source Sans 3"/>
              </a:rPr>
              <a:t>The five items: A, B, C, D, and E are pushed in a stack, one after other starting from A. The stack is popped four items and each element is inserted in a queue. The two elements are deleted from the queue and pushed back on the stack. Now one item is popped from the stack. The popped item is</a:t>
            </a:r>
          </a:p>
          <a:p>
            <a:pPr>
              <a:buFont typeface="Arial" panose="020B0604020202020204" pitchFamily="34" charset="0"/>
              <a:buChar char="•"/>
            </a:pPr>
            <a:r>
              <a:rPr lang="en-IN" b="0" i="0" dirty="0">
                <a:solidFill>
                  <a:srgbClr val="9F9F9F"/>
                </a:solidFill>
                <a:effectLst/>
                <a:latin typeface="-apple-system"/>
              </a:rPr>
              <a:t>A. </a:t>
            </a:r>
            <a:r>
              <a:rPr lang="en-IN" b="0" i="0" dirty="0">
                <a:solidFill>
                  <a:srgbClr val="273239"/>
                </a:solidFill>
                <a:effectLst/>
                <a:latin typeface="Source Sans 3"/>
              </a:rPr>
              <a:t>A</a:t>
            </a:r>
          </a:p>
          <a:p>
            <a:pPr>
              <a:buFont typeface="Arial" panose="020B0604020202020204" pitchFamily="34" charset="0"/>
              <a:buChar char="•"/>
            </a:pPr>
            <a:r>
              <a:rPr lang="en-IN" b="0" i="0" dirty="0">
                <a:solidFill>
                  <a:srgbClr val="9F9F9F"/>
                </a:solidFill>
                <a:effectLst/>
                <a:latin typeface="-apple-system"/>
              </a:rPr>
              <a:t>B. </a:t>
            </a:r>
            <a:r>
              <a:rPr lang="en-IN" b="0" i="0" dirty="0">
                <a:solidFill>
                  <a:srgbClr val="273239"/>
                </a:solidFill>
                <a:effectLst/>
                <a:latin typeface="Source Sans 3"/>
              </a:rPr>
              <a:t>B</a:t>
            </a:r>
          </a:p>
          <a:p>
            <a:pPr>
              <a:buFont typeface="Arial" panose="020B0604020202020204" pitchFamily="34" charset="0"/>
              <a:buChar char="•"/>
            </a:pPr>
            <a:r>
              <a:rPr lang="en-IN" b="0" i="0" dirty="0">
                <a:solidFill>
                  <a:srgbClr val="9F9F9F"/>
                </a:solidFill>
                <a:effectLst/>
                <a:latin typeface="-apple-system"/>
              </a:rPr>
              <a:t>C. </a:t>
            </a:r>
            <a:r>
              <a:rPr lang="en-IN" b="0" i="0" dirty="0">
                <a:solidFill>
                  <a:srgbClr val="273239"/>
                </a:solidFill>
                <a:effectLst/>
                <a:latin typeface="Source Sans 3"/>
              </a:rPr>
              <a:t>C</a:t>
            </a:r>
          </a:p>
          <a:p>
            <a:pPr>
              <a:buFont typeface="Arial" panose="020B0604020202020204" pitchFamily="34" charset="0"/>
              <a:buChar char="•"/>
            </a:pPr>
            <a:r>
              <a:rPr lang="en-IN" b="0" i="0" dirty="0">
                <a:solidFill>
                  <a:srgbClr val="9F9F9F"/>
                </a:solidFill>
                <a:effectLst/>
                <a:latin typeface="-apple-system"/>
              </a:rPr>
              <a:t>D. </a:t>
            </a:r>
            <a:r>
              <a:rPr lang="en-IN" b="0" i="0" dirty="0">
                <a:solidFill>
                  <a:srgbClr val="273239"/>
                </a:solidFill>
                <a:effectLst/>
                <a:latin typeface="Source Sans 3"/>
              </a:rPr>
              <a:t>D</a:t>
            </a:r>
          </a:p>
          <a:p>
            <a:endParaRPr lang="en-US" dirty="0"/>
          </a:p>
        </p:txBody>
      </p:sp>
    </p:spTree>
    <p:extLst>
      <p:ext uri="{BB962C8B-B14F-4D97-AF65-F5344CB8AC3E}">
        <p14:creationId xmlns:p14="http://schemas.microsoft.com/office/powerpoint/2010/main" val="406940866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88FBA-491B-C396-7168-9AC95ADC4C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83F468-89EF-68A7-8FA9-4B493B16354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3B6D131-B09A-81EB-237A-C2B1525CEABB}"/>
              </a:ext>
            </a:extLst>
          </p:cNvPr>
          <p:cNvSpPr>
            <a:spLocks noGrp="1"/>
          </p:cNvSpPr>
          <p:nvPr>
            <p:ph idx="1"/>
          </p:nvPr>
        </p:nvSpPr>
        <p:spPr/>
        <p:txBody>
          <a:bodyPr>
            <a:normAutofit/>
          </a:bodyPr>
          <a:lstStyle/>
          <a:p>
            <a:pPr rtl="0"/>
            <a:r>
              <a:rPr lang="en-IN" b="0" i="0" dirty="0">
                <a:solidFill>
                  <a:srgbClr val="273239"/>
                </a:solidFill>
                <a:effectLst/>
                <a:latin typeface="Source Sans 3"/>
              </a:rPr>
              <a:t>The five items: A, B, C, D, and E are pushed in a stack, one after other starting from A. The stack is popped four items and each element is inserted in a queue. The two elements are deleted from the queue and pushed back on the stack. Now one item is popped from the stack. The popped item is</a:t>
            </a:r>
          </a:p>
          <a:p>
            <a:pPr>
              <a:buFont typeface="Arial" panose="020B0604020202020204" pitchFamily="34" charset="0"/>
              <a:buChar char="•"/>
            </a:pPr>
            <a:r>
              <a:rPr lang="en-IN" b="0" i="0" dirty="0">
                <a:solidFill>
                  <a:srgbClr val="9F9F9F"/>
                </a:solidFill>
                <a:effectLst/>
                <a:latin typeface="-apple-system"/>
              </a:rPr>
              <a:t>A. </a:t>
            </a:r>
            <a:r>
              <a:rPr lang="en-IN" b="0" i="0" dirty="0">
                <a:solidFill>
                  <a:srgbClr val="273239"/>
                </a:solidFill>
                <a:effectLst/>
                <a:latin typeface="Source Sans 3"/>
              </a:rPr>
              <a:t>A</a:t>
            </a:r>
          </a:p>
          <a:p>
            <a:pPr>
              <a:buFont typeface="Arial" panose="020B0604020202020204" pitchFamily="34" charset="0"/>
              <a:buChar char="•"/>
            </a:pPr>
            <a:r>
              <a:rPr lang="en-IN" b="0" i="0" dirty="0">
                <a:solidFill>
                  <a:srgbClr val="9F9F9F"/>
                </a:solidFill>
                <a:effectLst/>
                <a:latin typeface="-apple-system"/>
              </a:rPr>
              <a:t>B. </a:t>
            </a:r>
            <a:r>
              <a:rPr lang="en-IN" b="0" i="0" dirty="0">
                <a:solidFill>
                  <a:srgbClr val="273239"/>
                </a:solidFill>
                <a:effectLst/>
                <a:latin typeface="Source Sans 3"/>
              </a:rPr>
              <a:t>B</a:t>
            </a:r>
          </a:p>
          <a:p>
            <a:pPr>
              <a:buFont typeface="Arial" panose="020B0604020202020204" pitchFamily="34" charset="0"/>
              <a:buChar char="•"/>
            </a:pPr>
            <a:r>
              <a:rPr lang="en-IN" b="0" i="0" dirty="0">
                <a:solidFill>
                  <a:srgbClr val="9F9F9F"/>
                </a:solidFill>
                <a:effectLst/>
                <a:latin typeface="-apple-system"/>
              </a:rPr>
              <a:t>C. </a:t>
            </a:r>
            <a:r>
              <a:rPr lang="en-IN" b="0" i="0" dirty="0">
                <a:solidFill>
                  <a:srgbClr val="273239"/>
                </a:solidFill>
                <a:effectLst/>
                <a:latin typeface="Source Sans 3"/>
              </a:rPr>
              <a:t>C</a:t>
            </a:r>
          </a:p>
          <a:p>
            <a:pPr>
              <a:buFont typeface="Arial" panose="020B0604020202020204" pitchFamily="34" charset="0"/>
              <a:buChar char="•"/>
            </a:pPr>
            <a:r>
              <a:rPr lang="en-IN" b="0" i="0">
                <a:solidFill>
                  <a:srgbClr val="9F9F9F"/>
                </a:solidFill>
                <a:effectLst/>
                <a:latin typeface="-apple-system"/>
              </a:rPr>
              <a:t>D. </a:t>
            </a:r>
            <a:r>
              <a:rPr lang="en-IN" b="0" i="0">
                <a:solidFill>
                  <a:srgbClr val="273239"/>
                </a:solidFill>
                <a:effectLst/>
                <a:latin typeface="Source Sans 3"/>
              </a:rPr>
              <a:t>D</a:t>
            </a:r>
            <a:endParaRPr lang="en-IN" b="0" i="0" dirty="0">
              <a:solidFill>
                <a:srgbClr val="273239"/>
              </a:solidFill>
              <a:effectLst/>
              <a:latin typeface="Source Sans 3"/>
            </a:endParaRPr>
          </a:p>
          <a:p>
            <a:endParaRPr lang="en-US" dirty="0"/>
          </a:p>
        </p:txBody>
      </p:sp>
    </p:spTree>
    <p:extLst>
      <p:ext uri="{BB962C8B-B14F-4D97-AF65-F5344CB8AC3E}">
        <p14:creationId xmlns:p14="http://schemas.microsoft.com/office/powerpoint/2010/main" val="409731308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14BA5-116D-98FF-A564-7B6F8EF7B02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5C11A3F-CC34-DD72-B04E-7B9082EC24FD}"/>
              </a:ext>
            </a:extLst>
          </p:cNvPr>
          <p:cNvSpPr>
            <a:spLocks noGrp="1"/>
          </p:cNvSpPr>
          <p:nvPr>
            <p:ph idx="1"/>
          </p:nvPr>
        </p:nvSpPr>
        <p:spPr/>
        <p:txBody>
          <a:bodyPr>
            <a:normAutofit/>
          </a:bodyPr>
          <a:lstStyle/>
          <a:p>
            <a:r>
              <a:rPr lang="en-IN" b="0" i="0" dirty="0">
                <a:effectLst/>
                <a:latin typeface="-apple-system"/>
              </a:rPr>
              <a:t>Which one of the following is an application of Stack Data Structure?</a:t>
            </a:r>
          </a:p>
          <a:p>
            <a:pPr>
              <a:buFont typeface="Arial" panose="020B0604020202020204" pitchFamily="34" charset="0"/>
              <a:buChar char="•"/>
            </a:pPr>
            <a:r>
              <a:rPr lang="en-IN" b="0" i="0" dirty="0">
                <a:effectLst/>
                <a:latin typeface="-apple-system"/>
              </a:rPr>
              <a:t>A. Managing function calls</a:t>
            </a:r>
          </a:p>
          <a:p>
            <a:pPr>
              <a:buFont typeface="Arial" panose="020B0604020202020204" pitchFamily="34" charset="0"/>
              <a:buChar char="•"/>
            </a:pPr>
            <a:r>
              <a:rPr lang="en-IN" b="0" i="0" dirty="0">
                <a:effectLst/>
                <a:latin typeface="-apple-system"/>
              </a:rPr>
              <a:t>B. The stock span problem</a:t>
            </a:r>
          </a:p>
          <a:p>
            <a:pPr>
              <a:buFont typeface="Arial" panose="020B0604020202020204" pitchFamily="34" charset="0"/>
              <a:buChar char="•"/>
            </a:pPr>
            <a:r>
              <a:rPr lang="en-IN" b="0" i="0" dirty="0">
                <a:effectLst/>
                <a:latin typeface="-apple-system"/>
              </a:rPr>
              <a:t>C. Arithmetic expression evaluation</a:t>
            </a:r>
          </a:p>
          <a:p>
            <a:pPr>
              <a:buFont typeface="Arial" panose="020B0604020202020204" pitchFamily="34" charset="0"/>
              <a:buChar char="•"/>
            </a:pPr>
            <a:r>
              <a:rPr lang="en-IN" b="0" i="0" dirty="0">
                <a:effectLst/>
                <a:latin typeface="-apple-system"/>
              </a:rPr>
              <a:t>D. All of the above</a:t>
            </a:r>
          </a:p>
          <a:p>
            <a:endParaRPr lang="en-US" dirty="0"/>
          </a:p>
        </p:txBody>
      </p:sp>
    </p:spTree>
    <p:extLst>
      <p:ext uri="{BB962C8B-B14F-4D97-AF65-F5344CB8AC3E}">
        <p14:creationId xmlns:p14="http://schemas.microsoft.com/office/powerpoint/2010/main" val="106033532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A66BD-8966-FF8F-D03F-546288BD63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D5948C-6607-F318-5D1E-36A13297656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B7E6129-6D3D-1A08-0E24-B20863CB93AF}"/>
              </a:ext>
            </a:extLst>
          </p:cNvPr>
          <p:cNvSpPr>
            <a:spLocks noGrp="1"/>
          </p:cNvSpPr>
          <p:nvPr>
            <p:ph idx="1"/>
          </p:nvPr>
        </p:nvSpPr>
        <p:spPr/>
        <p:txBody>
          <a:bodyPr>
            <a:normAutofit/>
          </a:bodyPr>
          <a:lstStyle/>
          <a:p>
            <a:r>
              <a:rPr lang="en-IN" b="0" i="0" dirty="0">
                <a:effectLst/>
                <a:latin typeface="-apple-system"/>
              </a:rPr>
              <a:t>Which one of the following is an application of Stack Data Structure?</a:t>
            </a:r>
          </a:p>
          <a:p>
            <a:pPr>
              <a:buFont typeface="Arial" panose="020B0604020202020204" pitchFamily="34" charset="0"/>
              <a:buChar char="•"/>
            </a:pPr>
            <a:r>
              <a:rPr lang="en-IN" b="0" i="0" dirty="0">
                <a:effectLst/>
                <a:latin typeface="-apple-system"/>
              </a:rPr>
              <a:t>A. Managing function calls</a:t>
            </a:r>
          </a:p>
          <a:p>
            <a:pPr>
              <a:buFont typeface="Arial" panose="020B0604020202020204" pitchFamily="34" charset="0"/>
              <a:buChar char="•"/>
            </a:pPr>
            <a:r>
              <a:rPr lang="en-IN" b="0" i="0" dirty="0">
                <a:effectLst/>
                <a:latin typeface="-apple-system"/>
              </a:rPr>
              <a:t>B. The stock span problem</a:t>
            </a:r>
          </a:p>
          <a:p>
            <a:pPr>
              <a:buFont typeface="Arial" panose="020B0604020202020204" pitchFamily="34" charset="0"/>
              <a:buChar char="•"/>
            </a:pPr>
            <a:r>
              <a:rPr lang="en-IN" b="0" i="0" dirty="0">
                <a:effectLst/>
                <a:latin typeface="-apple-system"/>
              </a:rPr>
              <a:t>C. Arithmetic expression evaluation</a:t>
            </a:r>
          </a:p>
          <a:p>
            <a:pPr>
              <a:buFont typeface="Arial" panose="020B0604020202020204" pitchFamily="34" charset="0"/>
              <a:buChar char="•"/>
            </a:pPr>
            <a:r>
              <a:rPr lang="en-IN" b="0" i="0" dirty="0">
                <a:solidFill>
                  <a:srgbClr val="00B050"/>
                </a:solidFill>
                <a:effectLst/>
                <a:latin typeface="-apple-system"/>
              </a:rPr>
              <a:t>D. All of the above</a:t>
            </a:r>
          </a:p>
          <a:p>
            <a:endParaRPr lang="en-US" dirty="0"/>
          </a:p>
        </p:txBody>
      </p:sp>
    </p:spTree>
    <p:extLst>
      <p:ext uri="{BB962C8B-B14F-4D97-AF65-F5344CB8AC3E}">
        <p14:creationId xmlns:p14="http://schemas.microsoft.com/office/powerpoint/2010/main" val="23768383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F59B7-2E36-5AAA-1B3B-3AA5F049203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136826E-6C75-85C9-27C6-A05AE37408D2}"/>
              </a:ext>
            </a:extLst>
          </p:cNvPr>
          <p:cNvSpPr>
            <a:spLocks noGrp="1"/>
          </p:cNvSpPr>
          <p:nvPr>
            <p:ph idx="1"/>
          </p:nvPr>
        </p:nvSpPr>
        <p:spPr/>
        <p:txBody>
          <a:bodyPr>
            <a:normAutofit/>
          </a:bodyPr>
          <a:lstStyle/>
          <a:p>
            <a:r>
              <a:rPr lang="en-IN" b="0" i="0" dirty="0">
                <a:effectLst/>
                <a:latin typeface="-apple-system"/>
              </a:rPr>
              <a:t>Which of the following is true about linked list implementation of stack?</a:t>
            </a:r>
          </a:p>
          <a:p>
            <a:pPr marL="0" indent="0">
              <a:buNone/>
            </a:pPr>
            <a:r>
              <a:rPr lang="en-IN" b="0" i="0" dirty="0">
                <a:effectLst/>
                <a:latin typeface="-apple-system"/>
              </a:rPr>
              <a:t>A. In push operation, if new nodes are inserted at the beginning of linked list, then in pop operation, nodes must be removed from end.</a:t>
            </a:r>
          </a:p>
          <a:p>
            <a:pPr marL="0" indent="0">
              <a:buNone/>
            </a:pPr>
            <a:r>
              <a:rPr lang="en-IN" b="0" i="0" dirty="0">
                <a:effectLst/>
                <a:latin typeface="-apple-system"/>
              </a:rPr>
              <a:t>B. In push operation, if new nodes are inserted at the end, then in pop operation, nodes must be removed from the beginning.</a:t>
            </a:r>
          </a:p>
          <a:p>
            <a:pPr marL="0" indent="0">
              <a:buNone/>
            </a:pPr>
            <a:r>
              <a:rPr lang="en-IN" b="0" i="0" dirty="0">
                <a:effectLst/>
                <a:latin typeface="-apple-system"/>
              </a:rPr>
              <a:t>C. Both of the above</a:t>
            </a:r>
          </a:p>
          <a:p>
            <a:pPr marL="0" indent="0">
              <a:buNone/>
            </a:pPr>
            <a:r>
              <a:rPr lang="en-IN" b="0" i="0" dirty="0">
                <a:effectLst/>
                <a:latin typeface="-apple-system"/>
              </a:rPr>
              <a:t>D. None of the above</a:t>
            </a:r>
          </a:p>
          <a:p>
            <a:endParaRPr lang="en-US" dirty="0"/>
          </a:p>
        </p:txBody>
      </p:sp>
    </p:spTree>
    <p:extLst>
      <p:ext uri="{BB962C8B-B14F-4D97-AF65-F5344CB8AC3E}">
        <p14:creationId xmlns:p14="http://schemas.microsoft.com/office/powerpoint/2010/main" val="84915355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DB57A-B18E-10E6-5980-CC6F656A6D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270DCF-242D-10D5-56F9-28B39A16D48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BC620AC-6641-568E-9AD1-54B4B9C24E47}"/>
              </a:ext>
            </a:extLst>
          </p:cNvPr>
          <p:cNvSpPr>
            <a:spLocks noGrp="1"/>
          </p:cNvSpPr>
          <p:nvPr>
            <p:ph idx="1"/>
          </p:nvPr>
        </p:nvSpPr>
        <p:spPr/>
        <p:txBody>
          <a:bodyPr>
            <a:normAutofit/>
          </a:bodyPr>
          <a:lstStyle/>
          <a:p>
            <a:r>
              <a:rPr lang="en-IN" b="0" i="0" dirty="0">
                <a:effectLst/>
                <a:latin typeface="-apple-system"/>
              </a:rPr>
              <a:t>Which of the following is true about linked list implementation of stack?</a:t>
            </a:r>
          </a:p>
          <a:p>
            <a:pPr marL="0" indent="0">
              <a:buNone/>
            </a:pPr>
            <a:r>
              <a:rPr lang="en-IN" b="0" i="0" dirty="0">
                <a:effectLst/>
                <a:latin typeface="-apple-system"/>
              </a:rPr>
              <a:t>A. In push operation, if new nodes are inserted at the beginning of linked list, then in pop operation, nodes must be removed from end.</a:t>
            </a:r>
          </a:p>
          <a:p>
            <a:pPr marL="0" indent="0">
              <a:buNone/>
            </a:pPr>
            <a:r>
              <a:rPr lang="en-IN" b="0" i="0" dirty="0">
                <a:effectLst/>
                <a:latin typeface="-apple-system"/>
              </a:rPr>
              <a:t>B. In push operation, if new nodes are inserted at the end, then in pop operation, nodes must be removed from the beginning.</a:t>
            </a:r>
          </a:p>
          <a:p>
            <a:pPr marL="0" indent="0">
              <a:buNone/>
            </a:pPr>
            <a:r>
              <a:rPr lang="en-IN" b="0" i="0" dirty="0">
                <a:effectLst/>
                <a:latin typeface="-apple-system"/>
              </a:rPr>
              <a:t>C. Both of the above</a:t>
            </a:r>
          </a:p>
          <a:p>
            <a:pPr marL="0" indent="0">
              <a:buNone/>
            </a:pPr>
            <a:r>
              <a:rPr lang="en-IN" b="0" i="0" dirty="0">
                <a:solidFill>
                  <a:srgbClr val="00B050"/>
                </a:solidFill>
                <a:effectLst/>
                <a:latin typeface="-apple-system"/>
              </a:rPr>
              <a:t>D. None of the above</a:t>
            </a:r>
          </a:p>
          <a:p>
            <a:endParaRPr lang="en-US" dirty="0"/>
          </a:p>
        </p:txBody>
      </p:sp>
    </p:spTree>
    <p:extLst>
      <p:ext uri="{BB962C8B-B14F-4D97-AF65-F5344CB8AC3E}">
        <p14:creationId xmlns:p14="http://schemas.microsoft.com/office/powerpoint/2010/main" val="420078108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890B8-2997-EADF-8880-5E1F7BA5644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B10C5E8-8368-49B4-D3FF-14B5313E03AE}"/>
              </a:ext>
            </a:extLst>
          </p:cNvPr>
          <p:cNvSpPr>
            <a:spLocks noGrp="1"/>
          </p:cNvSpPr>
          <p:nvPr>
            <p:ph idx="1"/>
          </p:nvPr>
        </p:nvSpPr>
        <p:spPr/>
        <p:txBody>
          <a:bodyPr>
            <a:normAutofit/>
          </a:bodyPr>
          <a:lstStyle/>
          <a:p>
            <a:pPr rtl="0"/>
            <a:r>
              <a:rPr lang="en-IN" sz="2400" b="0" i="0" dirty="0">
                <a:effectLst/>
                <a:latin typeface="Source Sans 3"/>
              </a:rPr>
              <a:t>Consider the following sequence of operations on an empty stack.</a:t>
            </a:r>
          </a:p>
          <a:p>
            <a:pPr rtl="0"/>
            <a:r>
              <a:rPr lang="en-IN" sz="2400" b="0" i="0" dirty="0">
                <a:effectLst/>
                <a:highlight>
                  <a:srgbClr val="808080"/>
                </a:highlight>
                <a:latin typeface="-apple-system"/>
              </a:rPr>
              <a:t>Push(54);push(52);pop();push(55);push(62);s=pop();</a:t>
            </a:r>
            <a:r>
              <a:rPr lang="en-IN" sz="2400" b="0" i="0" dirty="0">
                <a:effectLst/>
                <a:latin typeface="-apple-system"/>
              </a:rPr>
              <a:t> </a:t>
            </a:r>
            <a:br>
              <a:rPr lang="en-IN" sz="2400" b="0" i="0" dirty="0">
                <a:effectLst/>
                <a:latin typeface="-apple-system"/>
              </a:rPr>
            </a:br>
            <a:r>
              <a:rPr lang="en-IN" sz="2400" b="0" i="0" dirty="0">
                <a:effectLst/>
                <a:latin typeface="Source Sans 3"/>
              </a:rPr>
              <a:t>Consider the following sequence of operations on an empty queue.</a:t>
            </a:r>
          </a:p>
          <a:p>
            <a:pPr rtl="0"/>
            <a:r>
              <a:rPr lang="en-IN" sz="2400" b="0" i="0" dirty="0">
                <a:effectLst/>
                <a:highlight>
                  <a:srgbClr val="808080"/>
                </a:highlight>
                <a:latin typeface="-apple-system"/>
              </a:rPr>
              <a:t>enqueue(21);enqueue(24);dequeue();enqueue(28);enqueue(32);q=dequeue(); </a:t>
            </a:r>
            <a:br>
              <a:rPr lang="en-IN" sz="2400" b="0" i="0" dirty="0">
                <a:effectLst/>
                <a:latin typeface="-apple-system"/>
              </a:rPr>
            </a:br>
            <a:r>
              <a:rPr lang="en-IN" sz="2400" b="0" i="0" dirty="0">
                <a:effectLst/>
                <a:latin typeface="Source Sans 3"/>
              </a:rPr>
              <a:t>The value of </a:t>
            </a:r>
            <a:r>
              <a:rPr lang="en-IN" sz="2400" b="0" i="0" dirty="0" err="1">
                <a:effectLst/>
                <a:latin typeface="Source Sans 3"/>
              </a:rPr>
              <a:t>s+q</a:t>
            </a:r>
            <a:r>
              <a:rPr lang="en-IN" sz="2400" b="0" i="0" dirty="0">
                <a:effectLst/>
                <a:latin typeface="Source Sans 3"/>
              </a:rPr>
              <a:t> is ___________.</a:t>
            </a:r>
          </a:p>
          <a:p>
            <a:pPr>
              <a:buFont typeface="Arial" panose="020B0604020202020204" pitchFamily="34" charset="0"/>
              <a:buChar char="•"/>
            </a:pPr>
            <a:r>
              <a:rPr lang="en-IN" sz="2400" b="0" i="0" dirty="0">
                <a:effectLst/>
                <a:latin typeface="-apple-system"/>
              </a:rPr>
              <a:t>A. </a:t>
            </a:r>
            <a:r>
              <a:rPr lang="en-IN" sz="2400" b="0" i="0" dirty="0">
                <a:effectLst/>
                <a:latin typeface="Source Sans 3"/>
              </a:rPr>
              <a:t>86</a:t>
            </a:r>
          </a:p>
          <a:p>
            <a:pPr>
              <a:buFont typeface="Arial" panose="020B0604020202020204" pitchFamily="34" charset="0"/>
              <a:buChar char="•"/>
            </a:pPr>
            <a:r>
              <a:rPr lang="en-IN" sz="2400" b="0" i="0" dirty="0">
                <a:effectLst/>
                <a:latin typeface="-apple-system"/>
              </a:rPr>
              <a:t>B. </a:t>
            </a:r>
            <a:r>
              <a:rPr lang="en-IN" sz="2400" b="0" i="0" dirty="0">
                <a:effectLst/>
                <a:latin typeface="Source Sans 3"/>
              </a:rPr>
              <a:t>68</a:t>
            </a:r>
          </a:p>
          <a:p>
            <a:pPr>
              <a:buFont typeface="Arial" panose="020B0604020202020204" pitchFamily="34" charset="0"/>
              <a:buChar char="•"/>
            </a:pPr>
            <a:r>
              <a:rPr lang="en-IN" sz="2400" b="0" i="0" dirty="0">
                <a:effectLst/>
                <a:latin typeface="-apple-system"/>
              </a:rPr>
              <a:t>C. </a:t>
            </a:r>
            <a:r>
              <a:rPr lang="en-IN" sz="2400" b="0" i="0" dirty="0">
                <a:effectLst/>
                <a:latin typeface="Source Sans 3"/>
              </a:rPr>
              <a:t>24</a:t>
            </a:r>
          </a:p>
          <a:p>
            <a:pPr>
              <a:buFont typeface="Arial" panose="020B0604020202020204" pitchFamily="34" charset="0"/>
              <a:buChar char="•"/>
            </a:pPr>
            <a:r>
              <a:rPr lang="en-IN" sz="2400" b="0" i="0" dirty="0">
                <a:effectLst/>
                <a:latin typeface="-apple-system"/>
              </a:rPr>
              <a:t>D. </a:t>
            </a:r>
            <a:r>
              <a:rPr lang="en-IN" sz="2400" b="0" i="0" dirty="0">
                <a:effectLst/>
                <a:latin typeface="Source Sans 3"/>
              </a:rPr>
              <a:t>94</a:t>
            </a:r>
          </a:p>
          <a:p>
            <a:endParaRPr lang="en-US" sz="2400" dirty="0"/>
          </a:p>
        </p:txBody>
      </p:sp>
    </p:spTree>
    <p:extLst>
      <p:ext uri="{BB962C8B-B14F-4D97-AF65-F5344CB8AC3E}">
        <p14:creationId xmlns:p14="http://schemas.microsoft.com/office/powerpoint/2010/main" val="75989348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16D7E-6E0D-2AAB-0107-E730838BD4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E016EF-25B9-E389-BD1B-94E236D3398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EF595F3-F56C-6CF5-479C-411A0482135E}"/>
              </a:ext>
            </a:extLst>
          </p:cNvPr>
          <p:cNvSpPr>
            <a:spLocks noGrp="1"/>
          </p:cNvSpPr>
          <p:nvPr>
            <p:ph idx="1"/>
          </p:nvPr>
        </p:nvSpPr>
        <p:spPr/>
        <p:txBody>
          <a:bodyPr>
            <a:normAutofit/>
          </a:bodyPr>
          <a:lstStyle/>
          <a:p>
            <a:pPr rtl="0"/>
            <a:r>
              <a:rPr lang="en-IN" sz="2400" b="0" i="0" dirty="0">
                <a:effectLst/>
                <a:latin typeface="Source Sans 3"/>
              </a:rPr>
              <a:t>Consider the following sequence of operations on an empty stack.</a:t>
            </a:r>
          </a:p>
          <a:p>
            <a:pPr rtl="0"/>
            <a:r>
              <a:rPr lang="en-IN" sz="2400" b="0" i="0" dirty="0">
                <a:effectLst/>
                <a:highlight>
                  <a:srgbClr val="808080"/>
                </a:highlight>
                <a:latin typeface="-apple-system"/>
              </a:rPr>
              <a:t>Push(54);push(52);pop();push(55);push(62);s=pop();</a:t>
            </a:r>
            <a:r>
              <a:rPr lang="en-IN" sz="2400" b="0" i="0" dirty="0">
                <a:effectLst/>
                <a:latin typeface="-apple-system"/>
              </a:rPr>
              <a:t> </a:t>
            </a:r>
            <a:br>
              <a:rPr lang="en-IN" sz="2400" b="0" i="0" dirty="0">
                <a:effectLst/>
                <a:latin typeface="-apple-system"/>
              </a:rPr>
            </a:br>
            <a:r>
              <a:rPr lang="en-IN" sz="2400" b="0" i="0" dirty="0">
                <a:effectLst/>
                <a:latin typeface="Source Sans 3"/>
              </a:rPr>
              <a:t>Consider the following sequence of operations on an empty queue.</a:t>
            </a:r>
          </a:p>
          <a:p>
            <a:pPr rtl="0"/>
            <a:r>
              <a:rPr lang="en-IN" sz="2400" b="0" i="0" dirty="0">
                <a:effectLst/>
                <a:highlight>
                  <a:srgbClr val="808080"/>
                </a:highlight>
                <a:latin typeface="-apple-system"/>
              </a:rPr>
              <a:t>enqueue(21);enqueue(24);dequeue();enqueue(28);enqueue(32);q=dequeue(); </a:t>
            </a:r>
            <a:br>
              <a:rPr lang="en-IN" sz="2400" b="0" i="0" dirty="0">
                <a:effectLst/>
                <a:latin typeface="-apple-system"/>
              </a:rPr>
            </a:br>
            <a:r>
              <a:rPr lang="en-IN" sz="2400" b="0" i="0" dirty="0">
                <a:effectLst/>
                <a:latin typeface="Source Sans 3"/>
              </a:rPr>
              <a:t>The value of </a:t>
            </a:r>
            <a:r>
              <a:rPr lang="en-IN" sz="2400" b="0" i="0" dirty="0" err="1">
                <a:effectLst/>
                <a:latin typeface="Source Sans 3"/>
              </a:rPr>
              <a:t>s+q</a:t>
            </a:r>
            <a:r>
              <a:rPr lang="en-IN" sz="2400" b="0" i="0" dirty="0">
                <a:effectLst/>
                <a:latin typeface="Source Sans 3"/>
              </a:rPr>
              <a:t> is ___________.</a:t>
            </a:r>
          </a:p>
          <a:p>
            <a:pPr>
              <a:buFont typeface="Arial" panose="020B0604020202020204" pitchFamily="34" charset="0"/>
              <a:buChar char="•"/>
            </a:pPr>
            <a:r>
              <a:rPr lang="en-IN" sz="2400" b="0" i="0" dirty="0">
                <a:solidFill>
                  <a:srgbClr val="00B050"/>
                </a:solidFill>
                <a:effectLst/>
                <a:latin typeface="-apple-system"/>
              </a:rPr>
              <a:t>A. </a:t>
            </a:r>
            <a:r>
              <a:rPr lang="en-IN" sz="2400" b="0" i="0" dirty="0">
                <a:solidFill>
                  <a:srgbClr val="00B050"/>
                </a:solidFill>
                <a:effectLst/>
                <a:latin typeface="Source Sans 3"/>
              </a:rPr>
              <a:t>86</a:t>
            </a:r>
          </a:p>
          <a:p>
            <a:pPr>
              <a:buFont typeface="Arial" panose="020B0604020202020204" pitchFamily="34" charset="0"/>
              <a:buChar char="•"/>
            </a:pPr>
            <a:r>
              <a:rPr lang="en-IN" sz="2400" b="0" i="0" dirty="0">
                <a:effectLst/>
                <a:latin typeface="-apple-system"/>
              </a:rPr>
              <a:t>B. </a:t>
            </a:r>
            <a:r>
              <a:rPr lang="en-IN" sz="2400" b="0" i="0" dirty="0">
                <a:effectLst/>
                <a:latin typeface="Source Sans 3"/>
              </a:rPr>
              <a:t>68</a:t>
            </a:r>
          </a:p>
          <a:p>
            <a:pPr>
              <a:buFont typeface="Arial" panose="020B0604020202020204" pitchFamily="34" charset="0"/>
              <a:buChar char="•"/>
            </a:pPr>
            <a:r>
              <a:rPr lang="en-IN" sz="2400" b="0" i="0" dirty="0">
                <a:effectLst/>
                <a:latin typeface="-apple-system"/>
              </a:rPr>
              <a:t>C. </a:t>
            </a:r>
            <a:r>
              <a:rPr lang="en-IN" sz="2400" b="0" i="0" dirty="0">
                <a:effectLst/>
                <a:latin typeface="Source Sans 3"/>
              </a:rPr>
              <a:t>24</a:t>
            </a:r>
          </a:p>
          <a:p>
            <a:pPr>
              <a:buFont typeface="Arial" panose="020B0604020202020204" pitchFamily="34" charset="0"/>
              <a:buChar char="•"/>
            </a:pPr>
            <a:r>
              <a:rPr lang="en-IN" sz="2400" b="0" i="0" dirty="0">
                <a:effectLst/>
                <a:latin typeface="-apple-system"/>
              </a:rPr>
              <a:t>D. </a:t>
            </a:r>
            <a:r>
              <a:rPr lang="en-IN" sz="2400" b="0" i="0" dirty="0">
                <a:effectLst/>
                <a:latin typeface="Source Sans 3"/>
              </a:rPr>
              <a:t>94</a:t>
            </a:r>
          </a:p>
          <a:p>
            <a:endParaRPr lang="en-US" sz="2400" dirty="0"/>
          </a:p>
        </p:txBody>
      </p:sp>
    </p:spTree>
    <p:extLst>
      <p:ext uri="{BB962C8B-B14F-4D97-AF65-F5344CB8AC3E}">
        <p14:creationId xmlns:p14="http://schemas.microsoft.com/office/powerpoint/2010/main" val="223112668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9A75A-B5AB-D8E1-1615-4CFB5F91A2A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F75E454-C384-DD40-FB9D-D94E0B72DDEA}"/>
              </a:ext>
            </a:extLst>
          </p:cNvPr>
          <p:cNvSpPr>
            <a:spLocks noGrp="1"/>
          </p:cNvSpPr>
          <p:nvPr>
            <p:ph idx="1"/>
          </p:nvPr>
        </p:nvSpPr>
        <p:spPr/>
        <p:txBody>
          <a:bodyPr>
            <a:normAutofit/>
          </a:bodyPr>
          <a:lstStyle/>
          <a:p>
            <a:r>
              <a:rPr lang="en-IN" b="0" i="0" dirty="0">
                <a:solidFill>
                  <a:srgbClr val="273239"/>
                </a:solidFill>
                <a:effectLst/>
                <a:latin typeface="-apple-system"/>
              </a:rPr>
              <a:t>Convert the following infix expression into its equivalent post fix expression (A + B^ D) / (E – F) + G</a:t>
            </a:r>
          </a:p>
          <a:p>
            <a:pPr marL="0" indent="0">
              <a:buNone/>
            </a:pPr>
            <a:r>
              <a:rPr lang="en-IN" b="0" i="0" dirty="0">
                <a:solidFill>
                  <a:srgbClr val="9F9F9F"/>
                </a:solidFill>
                <a:effectLst/>
                <a:latin typeface="-apple-system"/>
              </a:rPr>
              <a:t>A. </a:t>
            </a:r>
            <a:r>
              <a:rPr lang="en-IN" b="0" i="0" dirty="0">
                <a:solidFill>
                  <a:srgbClr val="273239"/>
                </a:solidFill>
                <a:effectLst/>
                <a:latin typeface="-apple-system"/>
              </a:rPr>
              <a:t>ABD^ + EF – / G+</a:t>
            </a:r>
          </a:p>
          <a:p>
            <a:pPr marL="0" indent="0">
              <a:buNone/>
            </a:pPr>
            <a:r>
              <a:rPr lang="en-IN" b="0" i="0" dirty="0">
                <a:solidFill>
                  <a:srgbClr val="9F9F9F"/>
                </a:solidFill>
                <a:effectLst/>
                <a:latin typeface="-apple-system"/>
              </a:rPr>
              <a:t>B. </a:t>
            </a:r>
            <a:r>
              <a:rPr lang="en-IN" b="0" i="0" dirty="0">
                <a:solidFill>
                  <a:srgbClr val="273239"/>
                </a:solidFill>
                <a:effectLst/>
                <a:latin typeface="-apple-system"/>
              </a:rPr>
              <a:t>ABD + ^EF – / G+</a:t>
            </a:r>
          </a:p>
          <a:p>
            <a:pPr marL="0" indent="0">
              <a:buNone/>
            </a:pPr>
            <a:r>
              <a:rPr lang="en-IN" b="0" i="0" dirty="0">
                <a:solidFill>
                  <a:srgbClr val="9F9F9F"/>
                </a:solidFill>
                <a:effectLst/>
                <a:latin typeface="-apple-system"/>
              </a:rPr>
              <a:t>C. </a:t>
            </a:r>
            <a:r>
              <a:rPr lang="en-IN" b="0" i="0" dirty="0">
                <a:solidFill>
                  <a:srgbClr val="273239"/>
                </a:solidFill>
                <a:effectLst/>
                <a:latin typeface="-apple-system"/>
              </a:rPr>
              <a:t>ABD + ^EF / – G+</a:t>
            </a:r>
          </a:p>
          <a:p>
            <a:pPr marL="0" indent="0">
              <a:buNone/>
            </a:pPr>
            <a:r>
              <a:rPr lang="en-IN" b="0" i="0" dirty="0">
                <a:solidFill>
                  <a:srgbClr val="9F9F9F"/>
                </a:solidFill>
                <a:effectLst/>
                <a:latin typeface="-apple-system"/>
              </a:rPr>
              <a:t>D. </a:t>
            </a:r>
            <a:r>
              <a:rPr lang="en-IN" b="0" i="0" dirty="0">
                <a:solidFill>
                  <a:srgbClr val="273239"/>
                </a:solidFill>
                <a:effectLst/>
                <a:latin typeface="-apple-system"/>
              </a:rPr>
              <a:t>ABD^ + EF / – G+</a:t>
            </a:r>
          </a:p>
          <a:p>
            <a:endParaRPr lang="en-US" dirty="0"/>
          </a:p>
        </p:txBody>
      </p:sp>
    </p:spTree>
    <p:extLst>
      <p:ext uri="{BB962C8B-B14F-4D97-AF65-F5344CB8AC3E}">
        <p14:creationId xmlns:p14="http://schemas.microsoft.com/office/powerpoint/2010/main" val="84623083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0E2BF-DDAF-8600-88B7-30EE4A1ECD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A5D228-8D12-946A-3B42-BD2C67047D0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3FB52E0-6974-55C5-07D9-0132937AE718}"/>
              </a:ext>
            </a:extLst>
          </p:cNvPr>
          <p:cNvSpPr>
            <a:spLocks noGrp="1"/>
          </p:cNvSpPr>
          <p:nvPr>
            <p:ph idx="1"/>
          </p:nvPr>
        </p:nvSpPr>
        <p:spPr/>
        <p:txBody>
          <a:bodyPr>
            <a:normAutofit/>
          </a:bodyPr>
          <a:lstStyle/>
          <a:p>
            <a:r>
              <a:rPr lang="en-IN" b="0" i="0" dirty="0">
                <a:solidFill>
                  <a:srgbClr val="273239"/>
                </a:solidFill>
                <a:effectLst/>
                <a:latin typeface="-apple-system"/>
              </a:rPr>
              <a:t>Convert the following infix expression into its equivalent post fix expression (A + B^ D) / (E – F) + G</a:t>
            </a:r>
          </a:p>
          <a:p>
            <a:pPr marL="0" indent="0">
              <a:buNone/>
            </a:pPr>
            <a:r>
              <a:rPr lang="en-IN" b="0" i="0" dirty="0">
                <a:solidFill>
                  <a:srgbClr val="9F9F9F"/>
                </a:solidFill>
                <a:effectLst/>
                <a:latin typeface="-apple-system"/>
              </a:rPr>
              <a:t>A. </a:t>
            </a:r>
            <a:r>
              <a:rPr lang="en-IN" b="0" i="0" dirty="0">
                <a:solidFill>
                  <a:srgbClr val="273239"/>
                </a:solidFill>
                <a:effectLst/>
                <a:latin typeface="-apple-system"/>
              </a:rPr>
              <a:t>ABD^ + EF – / G+</a:t>
            </a:r>
          </a:p>
          <a:p>
            <a:pPr marL="0" indent="0">
              <a:buNone/>
            </a:pPr>
            <a:r>
              <a:rPr lang="en-IN" b="0" i="0" dirty="0">
                <a:solidFill>
                  <a:srgbClr val="9F9F9F"/>
                </a:solidFill>
                <a:effectLst/>
                <a:latin typeface="-apple-system"/>
              </a:rPr>
              <a:t>B. </a:t>
            </a:r>
            <a:r>
              <a:rPr lang="en-IN" b="0" i="0" dirty="0">
                <a:solidFill>
                  <a:srgbClr val="273239"/>
                </a:solidFill>
                <a:effectLst/>
                <a:latin typeface="-apple-system"/>
              </a:rPr>
              <a:t>ABD + ^EF – / G+</a:t>
            </a:r>
          </a:p>
          <a:p>
            <a:pPr marL="0" indent="0">
              <a:buNone/>
            </a:pPr>
            <a:r>
              <a:rPr lang="en-IN" b="0" i="0" dirty="0">
                <a:solidFill>
                  <a:srgbClr val="9F9F9F"/>
                </a:solidFill>
                <a:effectLst/>
                <a:latin typeface="-apple-system"/>
              </a:rPr>
              <a:t>C. </a:t>
            </a:r>
            <a:r>
              <a:rPr lang="en-IN" b="0" i="0" dirty="0">
                <a:solidFill>
                  <a:srgbClr val="273239"/>
                </a:solidFill>
                <a:effectLst/>
                <a:latin typeface="-apple-system"/>
              </a:rPr>
              <a:t>ABD + ^EF / – G+</a:t>
            </a:r>
          </a:p>
          <a:p>
            <a:pPr marL="0" indent="0">
              <a:buNone/>
            </a:pPr>
            <a:r>
              <a:rPr lang="en-IN" b="0" i="0" dirty="0">
                <a:solidFill>
                  <a:srgbClr val="9F9F9F"/>
                </a:solidFill>
                <a:effectLst/>
                <a:latin typeface="-apple-system"/>
              </a:rPr>
              <a:t>D. </a:t>
            </a:r>
            <a:r>
              <a:rPr lang="en-IN" b="0" i="0" dirty="0">
                <a:solidFill>
                  <a:srgbClr val="273239"/>
                </a:solidFill>
                <a:effectLst/>
                <a:latin typeface="-apple-system"/>
              </a:rPr>
              <a:t>ABD^ + EF / – G+</a:t>
            </a:r>
          </a:p>
          <a:p>
            <a:endParaRPr lang="en-US" dirty="0"/>
          </a:p>
        </p:txBody>
      </p:sp>
    </p:spTree>
    <p:extLst>
      <p:ext uri="{BB962C8B-B14F-4D97-AF65-F5344CB8AC3E}">
        <p14:creationId xmlns:p14="http://schemas.microsoft.com/office/powerpoint/2010/main" val="285352684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594C2-7381-C5DB-5045-70C8EB09343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0319D62-C9AD-1F43-87BC-FEBC0C7D2E46}"/>
              </a:ext>
            </a:extLst>
          </p:cNvPr>
          <p:cNvSpPr>
            <a:spLocks noGrp="1"/>
          </p:cNvSpPr>
          <p:nvPr>
            <p:ph idx="1"/>
          </p:nvPr>
        </p:nvSpPr>
        <p:spPr/>
        <p:txBody>
          <a:bodyPr>
            <a:normAutofit/>
          </a:bodyPr>
          <a:lstStyle/>
          <a:p>
            <a:r>
              <a:rPr lang="en-IN" b="0" i="0" dirty="0">
                <a:effectLst/>
                <a:latin typeface="Source Sans 3"/>
              </a:rPr>
              <a:t>Which of the following is not an inherent application of stack?</a:t>
            </a:r>
          </a:p>
          <a:p>
            <a:pPr marL="0" indent="0">
              <a:buNone/>
            </a:pPr>
            <a:r>
              <a:rPr lang="en-IN" b="0" i="0" dirty="0">
                <a:effectLst/>
                <a:latin typeface="-apple-system"/>
              </a:rPr>
              <a:t>A. </a:t>
            </a:r>
            <a:r>
              <a:rPr lang="en-IN" b="0" i="0" dirty="0">
                <a:effectLst/>
                <a:latin typeface="Source Sans 3"/>
              </a:rPr>
              <a:t>Implementation of recursion</a:t>
            </a:r>
          </a:p>
          <a:p>
            <a:pPr marL="0" indent="0">
              <a:buNone/>
            </a:pPr>
            <a:r>
              <a:rPr lang="en-IN" b="0" i="0" dirty="0">
                <a:effectLst/>
                <a:latin typeface="-apple-system"/>
              </a:rPr>
              <a:t>B. </a:t>
            </a:r>
            <a:r>
              <a:rPr lang="en-IN" b="0" i="0" dirty="0">
                <a:effectLst/>
                <a:latin typeface="Source Sans 3"/>
              </a:rPr>
              <a:t>Evaluation of a postfix expression</a:t>
            </a:r>
          </a:p>
          <a:p>
            <a:pPr marL="0" indent="0">
              <a:buNone/>
            </a:pPr>
            <a:r>
              <a:rPr lang="en-IN" b="0" i="0" dirty="0">
                <a:effectLst/>
                <a:latin typeface="-apple-system"/>
              </a:rPr>
              <a:t>C. </a:t>
            </a:r>
            <a:r>
              <a:rPr lang="en-IN" b="0" i="0" dirty="0">
                <a:effectLst/>
                <a:latin typeface="Source Sans 3"/>
              </a:rPr>
              <a:t>Job scheduling</a:t>
            </a:r>
          </a:p>
          <a:p>
            <a:pPr marL="0" indent="0">
              <a:buNone/>
            </a:pPr>
            <a:r>
              <a:rPr lang="en-IN" b="0" i="0" dirty="0">
                <a:effectLst/>
                <a:latin typeface="-apple-system"/>
              </a:rPr>
              <a:t>D. </a:t>
            </a:r>
            <a:r>
              <a:rPr lang="en-IN" b="0" i="0" dirty="0">
                <a:effectLst/>
                <a:latin typeface="Source Sans 3"/>
              </a:rPr>
              <a:t>Reverse a string</a:t>
            </a:r>
          </a:p>
          <a:p>
            <a:endParaRPr lang="en-US" dirty="0"/>
          </a:p>
        </p:txBody>
      </p:sp>
    </p:spTree>
    <p:extLst>
      <p:ext uri="{BB962C8B-B14F-4D97-AF65-F5344CB8AC3E}">
        <p14:creationId xmlns:p14="http://schemas.microsoft.com/office/powerpoint/2010/main" val="312911982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B65B0-14C7-E758-9FF7-26EB6FBC90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B2329E-4B81-CD8A-DC24-746B3B126C1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BBA8334-9449-6FCD-B624-5AD4D1602E42}"/>
              </a:ext>
            </a:extLst>
          </p:cNvPr>
          <p:cNvSpPr>
            <a:spLocks noGrp="1"/>
          </p:cNvSpPr>
          <p:nvPr>
            <p:ph idx="1"/>
          </p:nvPr>
        </p:nvSpPr>
        <p:spPr/>
        <p:txBody>
          <a:bodyPr>
            <a:normAutofit/>
          </a:bodyPr>
          <a:lstStyle/>
          <a:p>
            <a:r>
              <a:rPr lang="en-IN" b="0" i="0" dirty="0">
                <a:effectLst/>
                <a:latin typeface="Source Sans 3"/>
              </a:rPr>
              <a:t>Which of the following is not an inherent application of stack?</a:t>
            </a:r>
          </a:p>
          <a:p>
            <a:pPr marL="0" indent="0">
              <a:buNone/>
            </a:pPr>
            <a:r>
              <a:rPr lang="en-IN" b="0" i="0" dirty="0">
                <a:effectLst/>
                <a:latin typeface="-apple-system"/>
              </a:rPr>
              <a:t>A. </a:t>
            </a:r>
            <a:r>
              <a:rPr lang="en-IN" b="0" i="0" dirty="0">
                <a:effectLst/>
                <a:latin typeface="Source Sans 3"/>
              </a:rPr>
              <a:t>Implementation of recursion</a:t>
            </a:r>
          </a:p>
          <a:p>
            <a:pPr marL="0" indent="0">
              <a:buNone/>
            </a:pPr>
            <a:r>
              <a:rPr lang="en-IN" b="0" i="0" dirty="0">
                <a:effectLst/>
                <a:latin typeface="-apple-system"/>
              </a:rPr>
              <a:t>B. </a:t>
            </a:r>
            <a:r>
              <a:rPr lang="en-IN" b="0" i="0" dirty="0">
                <a:effectLst/>
                <a:latin typeface="Source Sans 3"/>
              </a:rPr>
              <a:t>Evaluation of a postfix expression</a:t>
            </a:r>
          </a:p>
          <a:p>
            <a:pPr marL="0" indent="0">
              <a:buNone/>
            </a:pPr>
            <a:r>
              <a:rPr lang="en-IN" b="0" i="0" dirty="0">
                <a:solidFill>
                  <a:srgbClr val="00B050"/>
                </a:solidFill>
                <a:effectLst/>
                <a:latin typeface="-apple-system"/>
              </a:rPr>
              <a:t>C. </a:t>
            </a:r>
            <a:r>
              <a:rPr lang="en-IN" b="0" i="0" dirty="0">
                <a:solidFill>
                  <a:srgbClr val="00B050"/>
                </a:solidFill>
                <a:effectLst/>
                <a:latin typeface="Source Sans 3"/>
              </a:rPr>
              <a:t>Job scheduling</a:t>
            </a:r>
          </a:p>
          <a:p>
            <a:pPr marL="0" indent="0">
              <a:buNone/>
            </a:pPr>
            <a:r>
              <a:rPr lang="en-IN" b="0" i="0" dirty="0">
                <a:effectLst/>
                <a:latin typeface="-apple-system"/>
              </a:rPr>
              <a:t>D. </a:t>
            </a:r>
            <a:r>
              <a:rPr lang="en-IN" b="0" i="0" dirty="0">
                <a:effectLst/>
                <a:latin typeface="Source Sans 3"/>
              </a:rPr>
              <a:t>Reverse a string</a:t>
            </a:r>
          </a:p>
          <a:p>
            <a:endParaRPr lang="en-US" dirty="0"/>
          </a:p>
        </p:txBody>
      </p:sp>
    </p:spTree>
    <p:extLst>
      <p:ext uri="{BB962C8B-B14F-4D97-AF65-F5344CB8AC3E}">
        <p14:creationId xmlns:p14="http://schemas.microsoft.com/office/powerpoint/2010/main" val="55137880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72609-4147-DDE9-A4AA-BC5D9CEDD4A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BDC44AA-AC66-8CB5-B334-64EA3B311D59}"/>
              </a:ext>
            </a:extLst>
          </p:cNvPr>
          <p:cNvSpPr>
            <a:spLocks noGrp="1"/>
          </p:cNvSpPr>
          <p:nvPr>
            <p:ph idx="1"/>
          </p:nvPr>
        </p:nvSpPr>
        <p:spPr/>
        <p:txBody>
          <a:bodyPr>
            <a:normAutofit/>
          </a:bodyPr>
          <a:lstStyle/>
          <a:p>
            <a:r>
              <a:rPr lang="en-IN" b="0" i="0" dirty="0">
                <a:effectLst/>
                <a:latin typeface="Source Sans 3"/>
              </a:rPr>
              <a:t>Consider the following operations performed on a stack of size 5 : Push (a); Pop() ; Push(b); Push(c); Pop(); Push(d); Pop();Pop(); Push (e) Which of the following statements is correct?</a:t>
            </a:r>
          </a:p>
          <a:p>
            <a:pPr>
              <a:buFont typeface="Arial" panose="020B0604020202020204" pitchFamily="34" charset="0"/>
              <a:buChar char="•"/>
            </a:pPr>
            <a:r>
              <a:rPr lang="en-IN" b="0" i="0" dirty="0">
                <a:effectLst/>
                <a:latin typeface="-apple-system"/>
              </a:rPr>
              <a:t>A. </a:t>
            </a:r>
            <a:r>
              <a:rPr lang="en-IN" b="0" i="0" dirty="0">
                <a:effectLst/>
                <a:latin typeface="Source Sans 3"/>
              </a:rPr>
              <a:t>Underflow occurs</a:t>
            </a:r>
          </a:p>
          <a:p>
            <a:pPr>
              <a:buFont typeface="Arial" panose="020B0604020202020204" pitchFamily="34" charset="0"/>
              <a:buChar char="•"/>
            </a:pPr>
            <a:r>
              <a:rPr lang="en-IN" b="0" i="0" dirty="0">
                <a:effectLst/>
                <a:latin typeface="-apple-system"/>
              </a:rPr>
              <a:t>B. </a:t>
            </a:r>
            <a:r>
              <a:rPr lang="en-IN" b="0" i="0" dirty="0">
                <a:effectLst/>
                <a:latin typeface="Source Sans 3"/>
              </a:rPr>
              <a:t>Stack operations are performed smoothly</a:t>
            </a:r>
          </a:p>
          <a:p>
            <a:pPr>
              <a:buFont typeface="Arial" panose="020B0604020202020204" pitchFamily="34" charset="0"/>
              <a:buChar char="•"/>
            </a:pPr>
            <a:r>
              <a:rPr lang="en-IN" b="0" i="0" dirty="0">
                <a:effectLst/>
                <a:latin typeface="-apple-system"/>
              </a:rPr>
              <a:t>C. </a:t>
            </a:r>
            <a:r>
              <a:rPr lang="en-IN" b="0" i="0" dirty="0">
                <a:effectLst/>
                <a:latin typeface="Source Sans 3"/>
              </a:rPr>
              <a:t>Overflow occurs</a:t>
            </a:r>
          </a:p>
          <a:p>
            <a:pPr>
              <a:buFont typeface="Arial" panose="020B0604020202020204" pitchFamily="34" charset="0"/>
              <a:buChar char="•"/>
            </a:pPr>
            <a:r>
              <a:rPr lang="en-IN" b="0" i="0" dirty="0">
                <a:effectLst/>
                <a:latin typeface="-apple-system"/>
              </a:rPr>
              <a:t>D. </a:t>
            </a:r>
            <a:r>
              <a:rPr lang="en-IN" b="0" i="0" dirty="0">
                <a:effectLst/>
                <a:latin typeface="Source Sans 3"/>
              </a:rPr>
              <a:t>None of the above</a:t>
            </a:r>
          </a:p>
          <a:p>
            <a:endParaRPr lang="en-US" dirty="0"/>
          </a:p>
        </p:txBody>
      </p:sp>
    </p:spTree>
    <p:extLst>
      <p:ext uri="{BB962C8B-B14F-4D97-AF65-F5344CB8AC3E}">
        <p14:creationId xmlns:p14="http://schemas.microsoft.com/office/powerpoint/2010/main" val="58527928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5E6F4-A33D-E031-3091-FF0FEB8C38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155BB4-E07C-0964-118C-D79A91A27CD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8427DEA-9457-2DB3-E5F9-1B49F8057F35}"/>
              </a:ext>
            </a:extLst>
          </p:cNvPr>
          <p:cNvSpPr>
            <a:spLocks noGrp="1"/>
          </p:cNvSpPr>
          <p:nvPr>
            <p:ph idx="1"/>
          </p:nvPr>
        </p:nvSpPr>
        <p:spPr/>
        <p:txBody>
          <a:bodyPr>
            <a:normAutofit/>
          </a:bodyPr>
          <a:lstStyle/>
          <a:p>
            <a:r>
              <a:rPr lang="en-IN" b="0" i="0" dirty="0">
                <a:effectLst/>
                <a:latin typeface="Source Sans 3"/>
              </a:rPr>
              <a:t>Consider the following operations performed on a stack of size 5 : Push (a); Pop() ; Push(b); Push(c); Pop(); Push(d); Pop();Pop(); Push (e) Which of the following statements is correct?</a:t>
            </a:r>
          </a:p>
          <a:p>
            <a:pPr>
              <a:buFont typeface="Arial" panose="020B0604020202020204" pitchFamily="34" charset="0"/>
              <a:buChar char="•"/>
            </a:pPr>
            <a:r>
              <a:rPr lang="en-IN" b="0" i="0" dirty="0">
                <a:effectLst/>
                <a:latin typeface="-apple-system"/>
              </a:rPr>
              <a:t>A. </a:t>
            </a:r>
            <a:r>
              <a:rPr lang="en-IN" b="0" i="0" dirty="0">
                <a:effectLst/>
                <a:latin typeface="Source Sans 3"/>
              </a:rPr>
              <a:t>Underflow occurs</a:t>
            </a:r>
          </a:p>
          <a:p>
            <a:pPr>
              <a:buFont typeface="Arial" panose="020B0604020202020204" pitchFamily="34" charset="0"/>
              <a:buChar char="•"/>
            </a:pPr>
            <a:r>
              <a:rPr lang="en-IN" b="0" i="0" dirty="0">
                <a:solidFill>
                  <a:srgbClr val="00B050"/>
                </a:solidFill>
                <a:effectLst/>
                <a:latin typeface="-apple-system"/>
              </a:rPr>
              <a:t>B. </a:t>
            </a:r>
            <a:r>
              <a:rPr lang="en-IN" b="0" i="0" dirty="0">
                <a:solidFill>
                  <a:srgbClr val="00B050"/>
                </a:solidFill>
                <a:effectLst/>
                <a:latin typeface="Source Sans 3"/>
              </a:rPr>
              <a:t>Stack operations are performed smoothly</a:t>
            </a:r>
          </a:p>
          <a:p>
            <a:pPr>
              <a:buFont typeface="Arial" panose="020B0604020202020204" pitchFamily="34" charset="0"/>
              <a:buChar char="•"/>
            </a:pPr>
            <a:r>
              <a:rPr lang="en-IN" b="0" i="0" dirty="0">
                <a:effectLst/>
                <a:latin typeface="-apple-system"/>
              </a:rPr>
              <a:t>C. </a:t>
            </a:r>
            <a:r>
              <a:rPr lang="en-IN" b="0" i="0" dirty="0">
                <a:effectLst/>
                <a:latin typeface="Source Sans 3"/>
              </a:rPr>
              <a:t>Overflow occurs</a:t>
            </a:r>
          </a:p>
          <a:p>
            <a:pPr>
              <a:buFont typeface="Arial" panose="020B0604020202020204" pitchFamily="34" charset="0"/>
              <a:buChar char="•"/>
            </a:pPr>
            <a:r>
              <a:rPr lang="en-IN" b="0" i="0" dirty="0">
                <a:effectLst/>
                <a:latin typeface="-apple-system"/>
              </a:rPr>
              <a:t>D. </a:t>
            </a:r>
            <a:r>
              <a:rPr lang="en-IN" b="0" i="0" dirty="0">
                <a:effectLst/>
                <a:latin typeface="Source Sans 3"/>
              </a:rPr>
              <a:t>None of the above</a:t>
            </a:r>
          </a:p>
          <a:p>
            <a:endParaRPr lang="en-US" dirty="0"/>
          </a:p>
        </p:txBody>
      </p:sp>
    </p:spTree>
    <p:extLst>
      <p:ext uri="{BB962C8B-B14F-4D97-AF65-F5344CB8AC3E}">
        <p14:creationId xmlns:p14="http://schemas.microsoft.com/office/powerpoint/2010/main" val="311809900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A3778-3FA6-4507-5214-DFB579ABA96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1AF8FAA-7B5D-230F-4BEC-AA42E1EDC222}"/>
              </a:ext>
            </a:extLst>
          </p:cNvPr>
          <p:cNvSpPr>
            <a:spLocks noGrp="1"/>
          </p:cNvSpPr>
          <p:nvPr>
            <p:ph idx="1"/>
          </p:nvPr>
        </p:nvSpPr>
        <p:spPr/>
        <p:txBody>
          <a:bodyPr>
            <a:normAutofit/>
          </a:bodyPr>
          <a:lstStyle/>
          <a:p>
            <a:pPr rtl="0"/>
            <a:r>
              <a:rPr lang="en-IN" b="0" i="0" dirty="0">
                <a:effectLst/>
                <a:latin typeface="Source Sans 3"/>
              </a:rPr>
              <a:t>If the sequence of operations - push (1), push (2), pop, push (1), push (2), pop, pop, pop, push (2), pop are performed on a stack, the sequence of popped out values</a:t>
            </a:r>
          </a:p>
          <a:p>
            <a:pPr marL="0" indent="0">
              <a:buNone/>
            </a:pPr>
            <a:r>
              <a:rPr lang="en-IN" b="0" i="0" dirty="0">
                <a:effectLst/>
                <a:latin typeface="-apple-system"/>
              </a:rPr>
              <a:t>A. </a:t>
            </a:r>
            <a:r>
              <a:rPr lang="en-IN" b="0" i="0" dirty="0">
                <a:effectLst/>
                <a:latin typeface="Source Sans 3"/>
              </a:rPr>
              <a:t>2,2,1,1,2</a:t>
            </a:r>
          </a:p>
          <a:p>
            <a:pPr marL="0" indent="0">
              <a:buNone/>
            </a:pPr>
            <a:r>
              <a:rPr lang="en-IN" b="0" i="0" dirty="0">
                <a:effectLst/>
                <a:latin typeface="-apple-system"/>
              </a:rPr>
              <a:t>B. </a:t>
            </a:r>
            <a:r>
              <a:rPr lang="en-IN" b="0" i="0" dirty="0">
                <a:effectLst/>
                <a:latin typeface="Source Sans 3"/>
              </a:rPr>
              <a:t>2,2,1,2,2</a:t>
            </a:r>
          </a:p>
          <a:p>
            <a:pPr marL="0" indent="0">
              <a:buNone/>
            </a:pPr>
            <a:r>
              <a:rPr lang="en-IN" b="0" i="0" dirty="0">
                <a:effectLst/>
                <a:latin typeface="-apple-system"/>
              </a:rPr>
              <a:t>C. </a:t>
            </a:r>
            <a:r>
              <a:rPr lang="en-IN" b="0" i="0" dirty="0">
                <a:effectLst/>
                <a:latin typeface="Source Sans 3"/>
              </a:rPr>
              <a:t>2,1,2,2,1</a:t>
            </a:r>
          </a:p>
          <a:p>
            <a:pPr marL="0" indent="0">
              <a:buNone/>
            </a:pPr>
            <a:r>
              <a:rPr lang="en-IN" b="0" i="0" dirty="0">
                <a:effectLst/>
                <a:latin typeface="-apple-system"/>
              </a:rPr>
              <a:t>D. </a:t>
            </a:r>
            <a:r>
              <a:rPr lang="en-IN" b="0" i="0" dirty="0">
                <a:effectLst/>
                <a:latin typeface="Source Sans 3"/>
              </a:rPr>
              <a:t>2,1,2,2,2</a:t>
            </a:r>
          </a:p>
          <a:p>
            <a:endParaRPr lang="en-US" dirty="0"/>
          </a:p>
        </p:txBody>
      </p:sp>
    </p:spTree>
    <p:extLst>
      <p:ext uri="{BB962C8B-B14F-4D97-AF65-F5344CB8AC3E}">
        <p14:creationId xmlns:p14="http://schemas.microsoft.com/office/powerpoint/2010/main" val="405940438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57D5C-5A87-65CF-4EA3-D170C66CED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DCAA8E-F334-CA92-3FE5-2FBDD3CC303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211C550-F2A2-54EF-1324-EE0E337923DF}"/>
              </a:ext>
            </a:extLst>
          </p:cNvPr>
          <p:cNvSpPr>
            <a:spLocks noGrp="1"/>
          </p:cNvSpPr>
          <p:nvPr>
            <p:ph idx="1"/>
          </p:nvPr>
        </p:nvSpPr>
        <p:spPr/>
        <p:txBody>
          <a:bodyPr>
            <a:normAutofit/>
          </a:bodyPr>
          <a:lstStyle/>
          <a:p>
            <a:pPr rtl="0"/>
            <a:r>
              <a:rPr lang="en-IN" b="0" i="0" dirty="0">
                <a:effectLst/>
                <a:latin typeface="Source Sans 3"/>
              </a:rPr>
              <a:t>If the sequence of operations - push (1), push (2), pop, push (1), push (2), pop, pop, pop, push (2), pop are performed on a stack, the sequence of popped out values</a:t>
            </a:r>
          </a:p>
          <a:p>
            <a:pPr marL="0" indent="0">
              <a:buNone/>
            </a:pPr>
            <a:r>
              <a:rPr lang="en-IN" b="0" i="0" dirty="0">
                <a:solidFill>
                  <a:srgbClr val="00B050"/>
                </a:solidFill>
                <a:effectLst/>
                <a:latin typeface="-apple-system"/>
              </a:rPr>
              <a:t>A. </a:t>
            </a:r>
            <a:r>
              <a:rPr lang="en-IN" b="0" i="0" dirty="0">
                <a:solidFill>
                  <a:srgbClr val="00B050"/>
                </a:solidFill>
                <a:effectLst/>
                <a:latin typeface="Source Sans 3"/>
              </a:rPr>
              <a:t>2,2,1,1,2</a:t>
            </a:r>
          </a:p>
          <a:p>
            <a:pPr marL="0" indent="0">
              <a:buNone/>
            </a:pPr>
            <a:r>
              <a:rPr lang="en-IN" b="0" i="0" dirty="0">
                <a:effectLst/>
                <a:latin typeface="-apple-system"/>
              </a:rPr>
              <a:t>B. </a:t>
            </a:r>
            <a:r>
              <a:rPr lang="en-IN" b="0" i="0" dirty="0">
                <a:effectLst/>
                <a:latin typeface="Source Sans 3"/>
              </a:rPr>
              <a:t>2,2,1,2,2</a:t>
            </a:r>
          </a:p>
          <a:p>
            <a:pPr marL="0" indent="0">
              <a:buNone/>
            </a:pPr>
            <a:r>
              <a:rPr lang="en-IN" b="0" i="0" dirty="0">
                <a:effectLst/>
                <a:latin typeface="-apple-system"/>
              </a:rPr>
              <a:t>C. </a:t>
            </a:r>
            <a:r>
              <a:rPr lang="en-IN" b="0" i="0" dirty="0">
                <a:effectLst/>
                <a:latin typeface="Source Sans 3"/>
              </a:rPr>
              <a:t>2,1,2,2,1</a:t>
            </a:r>
          </a:p>
          <a:p>
            <a:pPr marL="0" indent="0">
              <a:buNone/>
            </a:pPr>
            <a:r>
              <a:rPr lang="en-IN" b="0" i="0" dirty="0">
                <a:effectLst/>
                <a:latin typeface="-apple-system"/>
              </a:rPr>
              <a:t>D. </a:t>
            </a:r>
            <a:r>
              <a:rPr lang="en-IN" b="0" i="0" dirty="0">
                <a:effectLst/>
                <a:latin typeface="Source Sans 3"/>
              </a:rPr>
              <a:t>2,1,2,2,2</a:t>
            </a:r>
          </a:p>
          <a:p>
            <a:endParaRPr lang="en-US" dirty="0"/>
          </a:p>
        </p:txBody>
      </p:sp>
    </p:spTree>
    <p:extLst>
      <p:ext uri="{BB962C8B-B14F-4D97-AF65-F5344CB8AC3E}">
        <p14:creationId xmlns:p14="http://schemas.microsoft.com/office/powerpoint/2010/main" val="362251097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53FA5-529C-A5F8-E4E6-5479EEA2F16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6E1CD4F-43DF-18C2-AC46-84D1E3FA62B4}"/>
              </a:ext>
            </a:extLst>
          </p:cNvPr>
          <p:cNvSpPr>
            <a:spLocks noGrp="1"/>
          </p:cNvSpPr>
          <p:nvPr>
            <p:ph idx="1"/>
          </p:nvPr>
        </p:nvSpPr>
        <p:spPr/>
        <p:txBody>
          <a:bodyPr>
            <a:normAutofit/>
          </a:bodyPr>
          <a:lstStyle/>
          <a:p>
            <a:r>
              <a:rPr lang="en-IN" b="0" i="0" dirty="0">
                <a:effectLst/>
                <a:latin typeface="-apple-system"/>
              </a:rPr>
              <a:t>The seven elements A, B, C, D, E, F and G are pushed onto a stack in reverse order, i.e., starting from G. The stack is popped five times and each element is inserted into a </a:t>
            </a:r>
            <a:r>
              <a:rPr lang="en-IN" b="0" i="0" dirty="0" err="1">
                <a:effectLst/>
                <a:latin typeface="-apple-system"/>
              </a:rPr>
              <a:t>queue.Two</a:t>
            </a:r>
            <a:r>
              <a:rPr lang="en-IN" b="0" i="0" dirty="0">
                <a:effectLst/>
                <a:latin typeface="-apple-system"/>
              </a:rPr>
              <a:t> elements are deleted from the queue and pushed back onto the stack. Now, one element is popped from the stack. The popped item is ________.</a:t>
            </a:r>
          </a:p>
          <a:p>
            <a:pPr marL="0" indent="0">
              <a:buNone/>
            </a:pPr>
            <a:r>
              <a:rPr lang="en-IN" b="0" i="0" dirty="0">
                <a:effectLst/>
                <a:latin typeface="-apple-system"/>
              </a:rPr>
              <a:t>A. A</a:t>
            </a:r>
          </a:p>
          <a:p>
            <a:pPr marL="0" indent="0">
              <a:buNone/>
            </a:pPr>
            <a:r>
              <a:rPr lang="en-IN" b="0" i="0" dirty="0">
                <a:effectLst/>
                <a:latin typeface="-apple-system"/>
              </a:rPr>
              <a:t>B. B</a:t>
            </a:r>
          </a:p>
          <a:p>
            <a:pPr marL="0" indent="0">
              <a:buNone/>
            </a:pPr>
            <a:r>
              <a:rPr lang="en-IN" b="0" i="0" dirty="0">
                <a:effectLst/>
                <a:latin typeface="-apple-system"/>
              </a:rPr>
              <a:t>C. F</a:t>
            </a:r>
          </a:p>
          <a:p>
            <a:pPr marL="0" indent="0">
              <a:buNone/>
            </a:pPr>
            <a:r>
              <a:rPr lang="en-IN" b="0" i="0" dirty="0">
                <a:effectLst/>
                <a:latin typeface="-apple-system"/>
              </a:rPr>
              <a:t>D. G</a:t>
            </a:r>
          </a:p>
          <a:p>
            <a:endParaRPr lang="en-US" dirty="0"/>
          </a:p>
        </p:txBody>
      </p:sp>
    </p:spTree>
    <p:extLst>
      <p:ext uri="{BB962C8B-B14F-4D97-AF65-F5344CB8AC3E}">
        <p14:creationId xmlns:p14="http://schemas.microsoft.com/office/powerpoint/2010/main" val="428243240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ECE81-C0C9-B718-3847-A3C6179B91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E447F1-FDEF-2428-E242-27AC1FD9478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00032FB-9B95-5360-DCA4-1E5E6741F424}"/>
              </a:ext>
            </a:extLst>
          </p:cNvPr>
          <p:cNvSpPr>
            <a:spLocks noGrp="1"/>
          </p:cNvSpPr>
          <p:nvPr>
            <p:ph idx="1"/>
          </p:nvPr>
        </p:nvSpPr>
        <p:spPr/>
        <p:txBody>
          <a:bodyPr>
            <a:normAutofit/>
          </a:bodyPr>
          <a:lstStyle/>
          <a:p>
            <a:r>
              <a:rPr lang="en-IN" b="0" i="0" dirty="0">
                <a:effectLst/>
                <a:latin typeface="-apple-system"/>
              </a:rPr>
              <a:t>The seven elements A, B, C, D, E, F and G are pushed onto a stack in reverse order, i.e., starting from G. The stack is popped five times and each element is inserted into a </a:t>
            </a:r>
            <a:r>
              <a:rPr lang="en-IN" b="0" i="0" dirty="0" err="1">
                <a:effectLst/>
                <a:latin typeface="-apple-system"/>
              </a:rPr>
              <a:t>queue.Two</a:t>
            </a:r>
            <a:r>
              <a:rPr lang="en-IN" b="0" i="0" dirty="0">
                <a:effectLst/>
                <a:latin typeface="-apple-system"/>
              </a:rPr>
              <a:t> elements are deleted from the queue and pushed back onto the stack. Now, one element is popped from the stack. The popped item is ________.</a:t>
            </a:r>
          </a:p>
          <a:p>
            <a:pPr marL="0" indent="0">
              <a:buNone/>
            </a:pPr>
            <a:r>
              <a:rPr lang="en-IN" b="0" i="0" dirty="0">
                <a:effectLst/>
                <a:latin typeface="-apple-system"/>
              </a:rPr>
              <a:t>A. A</a:t>
            </a:r>
          </a:p>
          <a:p>
            <a:pPr marL="0" indent="0">
              <a:buNone/>
            </a:pPr>
            <a:r>
              <a:rPr lang="en-IN" b="0" i="0" dirty="0">
                <a:solidFill>
                  <a:srgbClr val="00B050"/>
                </a:solidFill>
                <a:effectLst/>
                <a:latin typeface="-apple-system"/>
              </a:rPr>
              <a:t>B. B</a:t>
            </a:r>
          </a:p>
          <a:p>
            <a:pPr marL="0" indent="0">
              <a:buNone/>
            </a:pPr>
            <a:r>
              <a:rPr lang="en-IN" b="0" i="0" dirty="0">
                <a:effectLst/>
                <a:latin typeface="-apple-system"/>
              </a:rPr>
              <a:t>C. F</a:t>
            </a:r>
          </a:p>
          <a:p>
            <a:pPr marL="0" indent="0">
              <a:buNone/>
            </a:pPr>
            <a:r>
              <a:rPr lang="en-IN" b="0" i="0" dirty="0">
                <a:effectLst/>
                <a:latin typeface="-apple-system"/>
              </a:rPr>
              <a:t>D. G</a:t>
            </a:r>
          </a:p>
          <a:p>
            <a:endParaRPr lang="en-US" dirty="0"/>
          </a:p>
        </p:txBody>
      </p:sp>
    </p:spTree>
    <p:extLst>
      <p:ext uri="{BB962C8B-B14F-4D97-AF65-F5344CB8AC3E}">
        <p14:creationId xmlns:p14="http://schemas.microsoft.com/office/powerpoint/2010/main" val="185109252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88CCC-FD48-92B8-4AA4-2FCF3399055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F83880D-8F21-B8F6-1D3E-37F0E587B409}"/>
              </a:ext>
            </a:extLst>
          </p:cNvPr>
          <p:cNvSpPr>
            <a:spLocks noGrp="1"/>
          </p:cNvSpPr>
          <p:nvPr>
            <p:ph idx="1"/>
          </p:nvPr>
        </p:nvSpPr>
        <p:spPr/>
        <p:txBody>
          <a:bodyPr>
            <a:normAutofit fontScale="62500" lnSpcReduction="20000"/>
          </a:bodyPr>
          <a:lstStyle/>
          <a:p>
            <a:pPr algn="l" rtl="0"/>
            <a:r>
              <a:rPr lang="en-IN" b="0" i="0" dirty="0">
                <a:solidFill>
                  <a:srgbClr val="273239"/>
                </a:solidFill>
                <a:effectLst/>
                <a:latin typeface="Source Sans 3"/>
              </a:rPr>
              <a:t>Following is a pseudo code of a function that takes a number as an argument, and uses a stack S to do processing.</a:t>
            </a:r>
          </a:p>
          <a:p>
            <a:pPr marL="0" indent="0" algn="l">
              <a:buNone/>
            </a:pPr>
            <a:r>
              <a:rPr lang="en-IN" b="1" i="0" dirty="0">
                <a:solidFill>
                  <a:srgbClr val="008000"/>
                </a:solidFill>
                <a:effectLst/>
                <a:latin typeface="Arial" panose="020B0604020202020204" pitchFamily="34" charset="0"/>
              </a:rPr>
              <a:t>def</a:t>
            </a:r>
            <a:r>
              <a:rPr lang="en-IN" b="0" i="0" dirty="0">
                <a:solidFill>
                  <a:srgbClr val="273239"/>
                </a:solidFill>
                <a:effectLst/>
                <a:latin typeface="Arial" panose="020B0604020202020204" pitchFamily="34" charset="0"/>
              </a:rPr>
              <a:t> </a:t>
            </a:r>
            <a:r>
              <a:rPr lang="en-IN" b="0" i="0" dirty="0">
                <a:solidFill>
                  <a:srgbClr val="0000FF"/>
                </a:solidFill>
                <a:effectLst/>
                <a:latin typeface="Arial" panose="020B0604020202020204" pitchFamily="34" charset="0"/>
              </a:rPr>
              <a:t>fun</a:t>
            </a:r>
            <a:r>
              <a:rPr lang="en-IN" b="0" i="0" dirty="0">
                <a:solidFill>
                  <a:srgbClr val="273239"/>
                </a:solidFill>
                <a:effectLst/>
                <a:latin typeface="Arial" panose="020B0604020202020204" pitchFamily="34" charset="0"/>
              </a:rPr>
              <a:t>(n): </a:t>
            </a:r>
          </a:p>
          <a:p>
            <a:pPr marL="0" indent="0" algn="l">
              <a:buNone/>
            </a:pPr>
            <a:r>
              <a:rPr lang="en-IN" b="0" i="0" dirty="0">
                <a:solidFill>
                  <a:srgbClr val="273239"/>
                </a:solidFill>
                <a:effectLst/>
                <a:latin typeface="Arial" panose="020B0604020202020204" pitchFamily="34" charset="0"/>
              </a:rPr>
              <a:t>  S </a:t>
            </a:r>
            <a:r>
              <a:rPr lang="en-IN" b="0" i="0" dirty="0">
                <a:solidFill>
                  <a:srgbClr val="666666"/>
                </a:solidFill>
                <a:effectLst/>
                <a:latin typeface="Arial" panose="020B0604020202020204" pitchFamily="34" charset="0"/>
              </a:rPr>
              <a:t>=</a:t>
            </a:r>
            <a:r>
              <a:rPr lang="en-IN" b="0" i="0" dirty="0">
                <a:solidFill>
                  <a:srgbClr val="273239"/>
                </a:solidFill>
                <a:effectLst/>
                <a:latin typeface="Arial" panose="020B0604020202020204" pitchFamily="34" charset="0"/>
              </a:rPr>
              <a:t> [] </a:t>
            </a:r>
            <a:r>
              <a:rPr lang="en-IN" b="0" i="1" dirty="0">
                <a:solidFill>
                  <a:srgbClr val="3D7B7B"/>
                </a:solidFill>
                <a:effectLst/>
                <a:latin typeface="Arial" panose="020B0604020202020204" pitchFamily="34" charset="0"/>
              </a:rPr>
              <a:t># Say it creates an empty stack S</a:t>
            </a:r>
            <a:r>
              <a:rPr lang="en-IN" b="0" i="0" dirty="0">
                <a:solidFill>
                  <a:srgbClr val="273239"/>
                </a:solidFill>
                <a:effectLst/>
                <a:latin typeface="Arial" panose="020B0604020202020204" pitchFamily="34" charset="0"/>
              </a:rPr>
              <a:t> </a:t>
            </a:r>
          </a:p>
          <a:p>
            <a:pPr marL="0" indent="0" algn="l">
              <a:buNone/>
            </a:pPr>
            <a:r>
              <a:rPr lang="en-IN" b="1" i="0" dirty="0">
                <a:solidFill>
                  <a:srgbClr val="008000"/>
                </a:solidFill>
                <a:effectLst/>
                <a:latin typeface="Arial" panose="020B0604020202020204" pitchFamily="34" charset="0"/>
              </a:rPr>
              <a:t>  while</a:t>
            </a:r>
            <a:r>
              <a:rPr lang="en-IN" b="0" i="0" dirty="0">
                <a:solidFill>
                  <a:srgbClr val="273239"/>
                </a:solidFill>
                <a:effectLst/>
                <a:latin typeface="Arial" panose="020B0604020202020204" pitchFamily="34" charset="0"/>
              </a:rPr>
              <a:t> n </a:t>
            </a:r>
            <a:r>
              <a:rPr lang="en-IN" b="0" i="0" dirty="0">
                <a:solidFill>
                  <a:srgbClr val="666666"/>
                </a:solidFill>
                <a:effectLst/>
                <a:latin typeface="Arial" panose="020B0604020202020204" pitchFamily="34" charset="0"/>
              </a:rPr>
              <a:t>&gt;</a:t>
            </a:r>
            <a:r>
              <a:rPr lang="en-IN" b="0" i="0" dirty="0">
                <a:solidFill>
                  <a:srgbClr val="273239"/>
                </a:solidFill>
                <a:effectLst/>
                <a:latin typeface="Arial" panose="020B0604020202020204" pitchFamily="34" charset="0"/>
              </a:rPr>
              <a:t> </a:t>
            </a:r>
            <a:r>
              <a:rPr lang="en-IN" b="0" i="0" dirty="0">
                <a:solidFill>
                  <a:srgbClr val="666666"/>
                </a:solidFill>
                <a:effectLst/>
                <a:latin typeface="Arial" panose="020B0604020202020204" pitchFamily="34" charset="0"/>
              </a:rPr>
              <a:t>0</a:t>
            </a:r>
            <a:r>
              <a:rPr lang="en-IN" b="0" i="0" dirty="0">
                <a:solidFill>
                  <a:srgbClr val="273239"/>
                </a:solidFill>
                <a:effectLst/>
                <a:latin typeface="Arial" panose="020B0604020202020204" pitchFamily="34" charset="0"/>
              </a:rPr>
              <a:t>: </a:t>
            </a:r>
            <a:r>
              <a:rPr lang="en-IN" b="0" i="1" dirty="0">
                <a:solidFill>
                  <a:srgbClr val="3D7B7B"/>
                </a:solidFill>
                <a:effectLst/>
                <a:latin typeface="Arial" panose="020B0604020202020204" pitchFamily="34" charset="0"/>
              </a:rPr>
              <a:t># This line pushes the value of n%2 to stack S</a:t>
            </a:r>
            <a:r>
              <a:rPr lang="en-IN" b="0" i="0" dirty="0">
                <a:solidFill>
                  <a:srgbClr val="273239"/>
                </a:solidFill>
                <a:effectLst/>
                <a:latin typeface="Arial" panose="020B0604020202020204" pitchFamily="34" charset="0"/>
              </a:rPr>
              <a:t>    </a:t>
            </a:r>
          </a:p>
          <a:p>
            <a:pPr marL="0" indent="0" algn="l">
              <a:buNone/>
            </a:pPr>
            <a:r>
              <a:rPr lang="en-IN" dirty="0">
                <a:solidFill>
                  <a:srgbClr val="273239"/>
                </a:solidFill>
                <a:latin typeface="Arial" panose="020B0604020202020204" pitchFamily="34" charset="0"/>
              </a:rPr>
              <a:t>    </a:t>
            </a:r>
            <a:r>
              <a:rPr lang="en-IN" b="0" i="0" dirty="0" err="1">
                <a:solidFill>
                  <a:srgbClr val="273239"/>
                </a:solidFill>
                <a:effectLst/>
                <a:latin typeface="Arial" panose="020B0604020202020204" pitchFamily="34" charset="0"/>
              </a:rPr>
              <a:t>S</a:t>
            </a:r>
            <a:r>
              <a:rPr lang="en-IN" b="0" i="0" dirty="0" err="1">
                <a:solidFill>
                  <a:srgbClr val="666666"/>
                </a:solidFill>
                <a:effectLst/>
                <a:latin typeface="Arial" panose="020B0604020202020204" pitchFamily="34" charset="0"/>
              </a:rPr>
              <a:t>.</a:t>
            </a:r>
            <a:r>
              <a:rPr lang="en-IN" b="0" i="0" dirty="0" err="1">
                <a:solidFill>
                  <a:srgbClr val="273239"/>
                </a:solidFill>
                <a:effectLst/>
                <a:latin typeface="Arial" panose="020B0604020202020204" pitchFamily="34" charset="0"/>
              </a:rPr>
              <a:t>append</a:t>
            </a:r>
            <a:r>
              <a:rPr lang="en-IN" b="0" i="0" dirty="0">
                <a:solidFill>
                  <a:srgbClr val="273239"/>
                </a:solidFill>
                <a:effectLst/>
                <a:latin typeface="Arial" panose="020B0604020202020204" pitchFamily="34" charset="0"/>
              </a:rPr>
              <a:t>(n </a:t>
            </a:r>
            <a:r>
              <a:rPr lang="en-IN" b="0" i="0" dirty="0">
                <a:solidFill>
                  <a:srgbClr val="666666"/>
                </a:solidFill>
                <a:effectLst/>
                <a:latin typeface="Arial" panose="020B0604020202020204" pitchFamily="34" charset="0"/>
              </a:rPr>
              <a:t>%</a:t>
            </a:r>
            <a:r>
              <a:rPr lang="en-IN" b="0" i="0" dirty="0">
                <a:solidFill>
                  <a:srgbClr val="273239"/>
                </a:solidFill>
                <a:effectLst/>
                <a:latin typeface="Arial" panose="020B0604020202020204" pitchFamily="34" charset="0"/>
              </a:rPr>
              <a:t> </a:t>
            </a:r>
            <a:r>
              <a:rPr lang="en-IN" b="0" i="0" dirty="0">
                <a:solidFill>
                  <a:srgbClr val="666666"/>
                </a:solidFill>
                <a:effectLst/>
                <a:latin typeface="Arial" panose="020B0604020202020204" pitchFamily="34" charset="0"/>
              </a:rPr>
              <a:t>2</a:t>
            </a:r>
            <a:r>
              <a:rPr lang="en-IN" b="0" i="0" dirty="0">
                <a:solidFill>
                  <a:srgbClr val="273239"/>
                </a:solidFill>
                <a:effectLst/>
                <a:latin typeface="Arial" panose="020B0604020202020204" pitchFamily="34" charset="0"/>
              </a:rPr>
              <a:t>) </a:t>
            </a:r>
          </a:p>
          <a:p>
            <a:pPr marL="0" indent="0" algn="l">
              <a:buNone/>
            </a:pPr>
            <a:r>
              <a:rPr lang="en-IN" b="0" i="0" dirty="0">
                <a:solidFill>
                  <a:srgbClr val="273239"/>
                </a:solidFill>
                <a:effectLst/>
                <a:latin typeface="Arial" panose="020B0604020202020204" pitchFamily="34" charset="0"/>
              </a:rPr>
              <a:t>    n </a:t>
            </a:r>
            <a:r>
              <a:rPr lang="en-IN" b="0" i="0" dirty="0">
                <a:solidFill>
                  <a:srgbClr val="666666"/>
                </a:solidFill>
                <a:effectLst/>
                <a:latin typeface="Arial" panose="020B0604020202020204" pitchFamily="34" charset="0"/>
              </a:rPr>
              <a:t>=</a:t>
            </a:r>
            <a:r>
              <a:rPr lang="en-IN" b="0" i="0" dirty="0">
                <a:solidFill>
                  <a:srgbClr val="273239"/>
                </a:solidFill>
                <a:effectLst/>
                <a:latin typeface="Arial" panose="020B0604020202020204" pitchFamily="34" charset="0"/>
              </a:rPr>
              <a:t> n </a:t>
            </a:r>
            <a:r>
              <a:rPr lang="en-IN" b="0" i="0" dirty="0">
                <a:solidFill>
                  <a:srgbClr val="666666"/>
                </a:solidFill>
                <a:effectLst/>
                <a:latin typeface="Arial" panose="020B0604020202020204" pitchFamily="34" charset="0"/>
              </a:rPr>
              <a:t>//</a:t>
            </a:r>
            <a:r>
              <a:rPr lang="en-IN" b="0" i="0" dirty="0">
                <a:solidFill>
                  <a:srgbClr val="273239"/>
                </a:solidFill>
                <a:effectLst/>
                <a:latin typeface="Arial" panose="020B0604020202020204" pitchFamily="34" charset="0"/>
              </a:rPr>
              <a:t> </a:t>
            </a:r>
            <a:r>
              <a:rPr lang="en-IN" b="0" i="0" dirty="0">
                <a:solidFill>
                  <a:srgbClr val="666666"/>
                </a:solidFill>
                <a:effectLst/>
                <a:latin typeface="Arial" panose="020B0604020202020204" pitchFamily="34" charset="0"/>
              </a:rPr>
              <a:t>2</a:t>
            </a:r>
            <a:r>
              <a:rPr lang="en-IN" b="0" i="0" dirty="0">
                <a:solidFill>
                  <a:srgbClr val="273239"/>
                </a:solidFill>
                <a:effectLst/>
                <a:latin typeface="Arial" panose="020B0604020202020204" pitchFamily="34" charset="0"/>
              </a:rPr>
              <a:t> </a:t>
            </a:r>
            <a:r>
              <a:rPr lang="en-IN" b="0" i="1" dirty="0">
                <a:solidFill>
                  <a:srgbClr val="3D7B7B"/>
                </a:solidFill>
                <a:effectLst/>
                <a:latin typeface="Arial" panose="020B0604020202020204" pitchFamily="34" charset="0"/>
              </a:rPr>
              <a:t># Run while Stack S is not empty</a:t>
            </a:r>
            <a:r>
              <a:rPr lang="en-IN" b="0" i="0" dirty="0">
                <a:solidFill>
                  <a:srgbClr val="273239"/>
                </a:solidFill>
                <a:effectLst/>
                <a:latin typeface="Arial" panose="020B0604020202020204" pitchFamily="34" charset="0"/>
              </a:rPr>
              <a:t> </a:t>
            </a:r>
          </a:p>
          <a:p>
            <a:pPr marL="0" indent="0" algn="l">
              <a:buNone/>
            </a:pPr>
            <a:r>
              <a:rPr lang="en-IN" b="1" i="0" dirty="0">
                <a:solidFill>
                  <a:srgbClr val="008000"/>
                </a:solidFill>
                <a:effectLst/>
                <a:latin typeface="Arial" panose="020B0604020202020204" pitchFamily="34" charset="0"/>
              </a:rPr>
              <a:t>  while</a:t>
            </a:r>
            <a:r>
              <a:rPr lang="en-IN" b="0" i="0" dirty="0">
                <a:solidFill>
                  <a:srgbClr val="273239"/>
                </a:solidFill>
                <a:effectLst/>
                <a:latin typeface="Arial" panose="020B0604020202020204" pitchFamily="34" charset="0"/>
              </a:rPr>
              <a:t> S: </a:t>
            </a:r>
          </a:p>
          <a:p>
            <a:pPr marL="0" indent="0" algn="l">
              <a:buNone/>
            </a:pPr>
            <a:r>
              <a:rPr lang="en-IN" b="0" i="0" dirty="0">
                <a:solidFill>
                  <a:srgbClr val="008000"/>
                </a:solidFill>
                <a:effectLst/>
                <a:latin typeface="Arial" panose="020B0604020202020204" pitchFamily="34" charset="0"/>
              </a:rPr>
              <a:t>    print</a:t>
            </a:r>
            <a:r>
              <a:rPr lang="en-IN" b="0" i="0" dirty="0">
                <a:solidFill>
                  <a:srgbClr val="273239"/>
                </a:solidFill>
                <a:effectLst/>
                <a:latin typeface="Arial" panose="020B0604020202020204" pitchFamily="34" charset="0"/>
              </a:rPr>
              <a:t>(</a:t>
            </a:r>
            <a:r>
              <a:rPr lang="en-IN" b="0" i="0" dirty="0" err="1">
                <a:solidFill>
                  <a:srgbClr val="273239"/>
                </a:solidFill>
                <a:effectLst/>
                <a:latin typeface="Arial" panose="020B0604020202020204" pitchFamily="34" charset="0"/>
              </a:rPr>
              <a:t>S</a:t>
            </a:r>
            <a:r>
              <a:rPr lang="en-IN" b="0" i="0" dirty="0" err="1">
                <a:solidFill>
                  <a:srgbClr val="666666"/>
                </a:solidFill>
                <a:effectLst/>
                <a:latin typeface="Arial" panose="020B0604020202020204" pitchFamily="34" charset="0"/>
              </a:rPr>
              <a:t>.</a:t>
            </a:r>
            <a:r>
              <a:rPr lang="en-IN" b="0" i="0" dirty="0" err="1">
                <a:solidFill>
                  <a:srgbClr val="273239"/>
                </a:solidFill>
                <a:effectLst/>
                <a:latin typeface="Arial" panose="020B0604020202020204" pitchFamily="34" charset="0"/>
              </a:rPr>
              <a:t>pop</a:t>
            </a:r>
            <a:r>
              <a:rPr lang="en-IN" b="0" i="0" dirty="0">
                <a:solidFill>
                  <a:srgbClr val="273239"/>
                </a:solidFill>
                <a:effectLst/>
                <a:latin typeface="Arial" panose="020B0604020202020204" pitchFamily="34" charset="0"/>
              </a:rPr>
              <a:t>(), end</a:t>
            </a:r>
            <a:r>
              <a:rPr lang="en-IN" b="0" i="0" dirty="0">
                <a:solidFill>
                  <a:srgbClr val="666666"/>
                </a:solidFill>
                <a:effectLst/>
                <a:latin typeface="Arial" panose="020B0604020202020204" pitchFamily="34" charset="0"/>
              </a:rPr>
              <a:t>=</a:t>
            </a:r>
            <a:r>
              <a:rPr lang="en-IN" b="0" i="0" dirty="0">
                <a:solidFill>
                  <a:srgbClr val="BA2121"/>
                </a:solidFill>
                <a:effectLst/>
                <a:latin typeface="Arial" panose="020B0604020202020204" pitchFamily="34" charset="0"/>
              </a:rPr>
              <a:t>' '</a:t>
            </a:r>
            <a:r>
              <a:rPr lang="en-IN" b="0" i="0" dirty="0">
                <a:solidFill>
                  <a:srgbClr val="273239"/>
                </a:solidFill>
                <a:effectLst/>
                <a:latin typeface="Arial" panose="020B0604020202020204" pitchFamily="34" charset="0"/>
              </a:rPr>
              <a:t>) </a:t>
            </a:r>
            <a:r>
              <a:rPr lang="en-IN" b="0" i="1" dirty="0">
                <a:solidFill>
                  <a:srgbClr val="3D7B7B"/>
                </a:solidFill>
                <a:effectLst/>
                <a:latin typeface="Arial" panose="020B0604020202020204" pitchFamily="34" charset="0"/>
              </a:rPr>
              <a:t># pop an element from S and print it</a:t>
            </a:r>
            <a:r>
              <a:rPr lang="en-IN" b="0" i="0" dirty="0">
                <a:solidFill>
                  <a:srgbClr val="273239"/>
                </a:solidFill>
                <a:effectLst/>
                <a:latin typeface="Arial" panose="020B0604020202020204" pitchFamily="34" charset="0"/>
              </a:rPr>
              <a:t> </a:t>
            </a:r>
          </a:p>
          <a:p>
            <a:pPr algn="l" rtl="0"/>
            <a:r>
              <a:rPr lang="en-IN" b="0" i="0" dirty="0">
                <a:solidFill>
                  <a:srgbClr val="273239"/>
                </a:solidFill>
                <a:effectLst/>
                <a:latin typeface="Source Sans 3"/>
              </a:rPr>
              <a:t>What does the above function do in general?</a:t>
            </a:r>
          </a:p>
          <a:p>
            <a:pPr marL="0" indent="0">
              <a:buNone/>
            </a:pPr>
            <a:r>
              <a:rPr lang="en-IN" b="0" i="0" dirty="0">
                <a:solidFill>
                  <a:srgbClr val="9F9F9F"/>
                </a:solidFill>
                <a:effectLst/>
                <a:latin typeface="-apple-system"/>
              </a:rPr>
              <a:t>A. </a:t>
            </a:r>
            <a:r>
              <a:rPr lang="en-IN" b="0" i="0" dirty="0">
                <a:solidFill>
                  <a:srgbClr val="273239"/>
                </a:solidFill>
                <a:effectLst/>
                <a:latin typeface="Source Sans 3"/>
              </a:rPr>
              <a:t>Prints binary representation of n in reverse order</a:t>
            </a:r>
          </a:p>
          <a:p>
            <a:pPr marL="0" indent="0">
              <a:buNone/>
            </a:pPr>
            <a:r>
              <a:rPr lang="en-IN" b="0" i="0" dirty="0">
                <a:solidFill>
                  <a:srgbClr val="9F9F9F"/>
                </a:solidFill>
                <a:effectLst/>
                <a:latin typeface="-apple-system"/>
              </a:rPr>
              <a:t>B. </a:t>
            </a:r>
            <a:r>
              <a:rPr lang="en-IN" b="0" i="0" dirty="0">
                <a:solidFill>
                  <a:srgbClr val="273239"/>
                </a:solidFill>
                <a:effectLst/>
                <a:latin typeface="Source Sans 3"/>
              </a:rPr>
              <a:t>Prints binary representation of n</a:t>
            </a:r>
          </a:p>
          <a:p>
            <a:pPr marL="0" indent="0">
              <a:buNone/>
            </a:pPr>
            <a:r>
              <a:rPr lang="en-IN" b="0" i="0" dirty="0">
                <a:solidFill>
                  <a:srgbClr val="9F9F9F"/>
                </a:solidFill>
                <a:effectLst/>
                <a:latin typeface="-apple-system"/>
              </a:rPr>
              <a:t>C. </a:t>
            </a:r>
            <a:r>
              <a:rPr lang="en-IN" b="0" i="0" dirty="0">
                <a:solidFill>
                  <a:srgbClr val="273239"/>
                </a:solidFill>
                <a:effectLst/>
                <a:latin typeface="Source Sans 3"/>
              </a:rPr>
              <a:t>Prints the value of </a:t>
            </a:r>
            <a:r>
              <a:rPr lang="en-IN" b="0" i="0" dirty="0" err="1">
                <a:solidFill>
                  <a:srgbClr val="273239"/>
                </a:solidFill>
                <a:effectLst/>
                <a:latin typeface="Source Sans 3"/>
              </a:rPr>
              <a:t>Logn</a:t>
            </a:r>
            <a:endParaRPr lang="en-IN" b="0" i="0" dirty="0">
              <a:solidFill>
                <a:srgbClr val="273239"/>
              </a:solidFill>
              <a:effectLst/>
              <a:latin typeface="Source Sans 3"/>
            </a:endParaRPr>
          </a:p>
          <a:p>
            <a:pPr marL="0" indent="0">
              <a:buNone/>
            </a:pPr>
            <a:r>
              <a:rPr lang="en-IN" b="0" i="0" dirty="0">
                <a:solidFill>
                  <a:srgbClr val="9F9F9F"/>
                </a:solidFill>
                <a:effectLst/>
                <a:latin typeface="-apple-system"/>
              </a:rPr>
              <a:t>D. </a:t>
            </a:r>
            <a:r>
              <a:rPr lang="en-IN" b="0" i="0" dirty="0">
                <a:solidFill>
                  <a:srgbClr val="273239"/>
                </a:solidFill>
                <a:effectLst/>
                <a:latin typeface="Source Sans 3"/>
              </a:rPr>
              <a:t>Prints the value of </a:t>
            </a:r>
            <a:r>
              <a:rPr lang="en-IN" b="0" i="0" dirty="0" err="1">
                <a:solidFill>
                  <a:srgbClr val="273239"/>
                </a:solidFill>
                <a:effectLst/>
                <a:latin typeface="Source Sans 3"/>
              </a:rPr>
              <a:t>Logn</a:t>
            </a:r>
            <a:r>
              <a:rPr lang="en-IN" b="0" i="0" dirty="0">
                <a:solidFill>
                  <a:srgbClr val="273239"/>
                </a:solidFill>
                <a:effectLst/>
                <a:latin typeface="Source Sans 3"/>
              </a:rPr>
              <a:t> in reverse order</a:t>
            </a:r>
          </a:p>
          <a:p>
            <a:endParaRPr lang="en-US" dirty="0"/>
          </a:p>
        </p:txBody>
      </p:sp>
    </p:spTree>
    <p:extLst>
      <p:ext uri="{BB962C8B-B14F-4D97-AF65-F5344CB8AC3E}">
        <p14:creationId xmlns:p14="http://schemas.microsoft.com/office/powerpoint/2010/main" val="348649096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B36DA-8F37-E053-85F7-021A8085BB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9F0C71-D0E9-B3D4-A95F-7DC2ACC67D7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C7FB36D-A9BE-A199-9FD1-ACE98A0270D6}"/>
              </a:ext>
            </a:extLst>
          </p:cNvPr>
          <p:cNvSpPr>
            <a:spLocks noGrp="1"/>
          </p:cNvSpPr>
          <p:nvPr>
            <p:ph idx="1"/>
          </p:nvPr>
        </p:nvSpPr>
        <p:spPr/>
        <p:txBody>
          <a:bodyPr>
            <a:normAutofit fontScale="62500" lnSpcReduction="20000"/>
          </a:bodyPr>
          <a:lstStyle/>
          <a:p>
            <a:pPr algn="l" rtl="0"/>
            <a:r>
              <a:rPr lang="en-IN" b="0" i="0" dirty="0">
                <a:solidFill>
                  <a:srgbClr val="273239"/>
                </a:solidFill>
                <a:effectLst/>
                <a:latin typeface="Source Sans 3"/>
              </a:rPr>
              <a:t>Following is a pseudo code of a function that takes a number as an argument, and uses a stack S to do processing.</a:t>
            </a:r>
          </a:p>
          <a:p>
            <a:pPr marL="0" indent="0" algn="l">
              <a:buNone/>
            </a:pPr>
            <a:r>
              <a:rPr lang="en-IN" b="1" i="0" dirty="0">
                <a:solidFill>
                  <a:srgbClr val="008000"/>
                </a:solidFill>
                <a:effectLst/>
                <a:latin typeface="Arial" panose="020B0604020202020204" pitchFamily="34" charset="0"/>
              </a:rPr>
              <a:t>def</a:t>
            </a:r>
            <a:r>
              <a:rPr lang="en-IN" b="0" i="0" dirty="0">
                <a:solidFill>
                  <a:srgbClr val="273239"/>
                </a:solidFill>
                <a:effectLst/>
                <a:latin typeface="Arial" panose="020B0604020202020204" pitchFamily="34" charset="0"/>
              </a:rPr>
              <a:t> </a:t>
            </a:r>
            <a:r>
              <a:rPr lang="en-IN" b="0" i="0" dirty="0">
                <a:solidFill>
                  <a:srgbClr val="0000FF"/>
                </a:solidFill>
                <a:effectLst/>
                <a:latin typeface="Arial" panose="020B0604020202020204" pitchFamily="34" charset="0"/>
              </a:rPr>
              <a:t>fun</a:t>
            </a:r>
            <a:r>
              <a:rPr lang="en-IN" b="0" i="0" dirty="0">
                <a:solidFill>
                  <a:srgbClr val="273239"/>
                </a:solidFill>
                <a:effectLst/>
                <a:latin typeface="Arial" panose="020B0604020202020204" pitchFamily="34" charset="0"/>
              </a:rPr>
              <a:t>(n): </a:t>
            </a:r>
          </a:p>
          <a:p>
            <a:pPr marL="0" indent="0" algn="l">
              <a:buNone/>
            </a:pPr>
            <a:r>
              <a:rPr lang="en-IN" b="0" i="0" dirty="0">
                <a:solidFill>
                  <a:srgbClr val="273239"/>
                </a:solidFill>
                <a:effectLst/>
                <a:latin typeface="Arial" panose="020B0604020202020204" pitchFamily="34" charset="0"/>
              </a:rPr>
              <a:t>  S </a:t>
            </a:r>
            <a:r>
              <a:rPr lang="en-IN" b="0" i="0" dirty="0">
                <a:solidFill>
                  <a:srgbClr val="666666"/>
                </a:solidFill>
                <a:effectLst/>
                <a:latin typeface="Arial" panose="020B0604020202020204" pitchFamily="34" charset="0"/>
              </a:rPr>
              <a:t>=</a:t>
            </a:r>
            <a:r>
              <a:rPr lang="en-IN" b="0" i="0" dirty="0">
                <a:solidFill>
                  <a:srgbClr val="273239"/>
                </a:solidFill>
                <a:effectLst/>
                <a:latin typeface="Arial" panose="020B0604020202020204" pitchFamily="34" charset="0"/>
              </a:rPr>
              <a:t> [] </a:t>
            </a:r>
            <a:r>
              <a:rPr lang="en-IN" b="0" i="1" dirty="0">
                <a:solidFill>
                  <a:srgbClr val="3D7B7B"/>
                </a:solidFill>
                <a:effectLst/>
                <a:latin typeface="Arial" panose="020B0604020202020204" pitchFamily="34" charset="0"/>
              </a:rPr>
              <a:t># Say it creates an empty stack S</a:t>
            </a:r>
            <a:r>
              <a:rPr lang="en-IN" b="0" i="0" dirty="0">
                <a:solidFill>
                  <a:srgbClr val="273239"/>
                </a:solidFill>
                <a:effectLst/>
                <a:latin typeface="Arial" panose="020B0604020202020204" pitchFamily="34" charset="0"/>
              </a:rPr>
              <a:t> </a:t>
            </a:r>
          </a:p>
          <a:p>
            <a:pPr marL="0" indent="0" algn="l">
              <a:buNone/>
            </a:pPr>
            <a:r>
              <a:rPr lang="en-IN" b="1" i="0" dirty="0">
                <a:solidFill>
                  <a:srgbClr val="008000"/>
                </a:solidFill>
                <a:effectLst/>
                <a:latin typeface="Arial" panose="020B0604020202020204" pitchFamily="34" charset="0"/>
              </a:rPr>
              <a:t>  while</a:t>
            </a:r>
            <a:r>
              <a:rPr lang="en-IN" b="0" i="0" dirty="0">
                <a:solidFill>
                  <a:srgbClr val="273239"/>
                </a:solidFill>
                <a:effectLst/>
                <a:latin typeface="Arial" panose="020B0604020202020204" pitchFamily="34" charset="0"/>
              </a:rPr>
              <a:t> n </a:t>
            </a:r>
            <a:r>
              <a:rPr lang="en-IN" b="0" i="0" dirty="0">
                <a:solidFill>
                  <a:srgbClr val="666666"/>
                </a:solidFill>
                <a:effectLst/>
                <a:latin typeface="Arial" panose="020B0604020202020204" pitchFamily="34" charset="0"/>
              </a:rPr>
              <a:t>&gt;</a:t>
            </a:r>
            <a:r>
              <a:rPr lang="en-IN" b="0" i="0" dirty="0">
                <a:solidFill>
                  <a:srgbClr val="273239"/>
                </a:solidFill>
                <a:effectLst/>
                <a:latin typeface="Arial" panose="020B0604020202020204" pitchFamily="34" charset="0"/>
              </a:rPr>
              <a:t> </a:t>
            </a:r>
            <a:r>
              <a:rPr lang="en-IN" b="0" i="0" dirty="0">
                <a:solidFill>
                  <a:srgbClr val="666666"/>
                </a:solidFill>
                <a:effectLst/>
                <a:latin typeface="Arial" panose="020B0604020202020204" pitchFamily="34" charset="0"/>
              </a:rPr>
              <a:t>0</a:t>
            </a:r>
            <a:r>
              <a:rPr lang="en-IN" b="0" i="0" dirty="0">
                <a:solidFill>
                  <a:srgbClr val="273239"/>
                </a:solidFill>
                <a:effectLst/>
                <a:latin typeface="Arial" panose="020B0604020202020204" pitchFamily="34" charset="0"/>
              </a:rPr>
              <a:t>: </a:t>
            </a:r>
            <a:r>
              <a:rPr lang="en-IN" b="0" i="1" dirty="0">
                <a:solidFill>
                  <a:srgbClr val="3D7B7B"/>
                </a:solidFill>
                <a:effectLst/>
                <a:latin typeface="Arial" panose="020B0604020202020204" pitchFamily="34" charset="0"/>
              </a:rPr>
              <a:t># This line pushes the value of n%2 to stack S</a:t>
            </a:r>
            <a:r>
              <a:rPr lang="en-IN" b="0" i="0" dirty="0">
                <a:solidFill>
                  <a:srgbClr val="273239"/>
                </a:solidFill>
                <a:effectLst/>
                <a:latin typeface="Arial" panose="020B0604020202020204" pitchFamily="34" charset="0"/>
              </a:rPr>
              <a:t>    </a:t>
            </a:r>
          </a:p>
          <a:p>
            <a:pPr marL="0" indent="0" algn="l">
              <a:buNone/>
            </a:pPr>
            <a:r>
              <a:rPr lang="en-IN" dirty="0">
                <a:solidFill>
                  <a:srgbClr val="273239"/>
                </a:solidFill>
                <a:latin typeface="Arial" panose="020B0604020202020204" pitchFamily="34" charset="0"/>
              </a:rPr>
              <a:t>    </a:t>
            </a:r>
            <a:r>
              <a:rPr lang="en-IN" b="0" i="0" dirty="0" err="1">
                <a:solidFill>
                  <a:srgbClr val="273239"/>
                </a:solidFill>
                <a:effectLst/>
                <a:latin typeface="Arial" panose="020B0604020202020204" pitchFamily="34" charset="0"/>
              </a:rPr>
              <a:t>S</a:t>
            </a:r>
            <a:r>
              <a:rPr lang="en-IN" b="0" i="0" dirty="0" err="1">
                <a:solidFill>
                  <a:srgbClr val="666666"/>
                </a:solidFill>
                <a:effectLst/>
                <a:latin typeface="Arial" panose="020B0604020202020204" pitchFamily="34" charset="0"/>
              </a:rPr>
              <a:t>.</a:t>
            </a:r>
            <a:r>
              <a:rPr lang="en-IN" b="0" i="0" dirty="0" err="1">
                <a:solidFill>
                  <a:srgbClr val="273239"/>
                </a:solidFill>
                <a:effectLst/>
                <a:latin typeface="Arial" panose="020B0604020202020204" pitchFamily="34" charset="0"/>
              </a:rPr>
              <a:t>append</a:t>
            </a:r>
            <a:r>
              <a:rPr lang="en-IN" b="0" i="0" dirty="0">
                <a:solidFill>
                  <a:srgbClr val="273239"/>
                </a:solidFill>
                <a:effectLst/>
                <a:latin typeface="Arial" panose="020B0604020202020204" pitchFamily="34" charset="0"/>
              </a:rPr>
              <a:t>(n </a:t>
            </a:r>
            <a:r>
              <a:rPr lang="en-IN" b="0" i="0" dirty="0">
                <a:solidFill>
                  <a:srgbClr val="666666"/>
                </a:solidFill>
                <a:effectLst/>
                <a:latin typeface="Arial" panose="020B0604020202020204" pitchFamily="34" charset="0"/>
              </a:rPr>
              <a:t>%</a:t>
            </a:r>
            <a:r>
              <a:rPr lang="en-IN" b="0" i="0" dirty="0">
                <a:solidFill>
                  <a:srgbClr val="273239"/>
                </a:solidFill>
                <a:effectLst/>
                <a:latin typeface="Arial" panose="020B0604020202020204" pitchFamily="34" charset="0"/>
              </a:rPr>
              <a:t> </a:t>
            </a:r>
            <a:r>
              <a:rPr lang="en-IN" b="0" i="0" dirty="0">
                <a:solidFill>
                  <a:srgbClr val="666666"/>
                </a:solidFill>
                <a:effectLst/>
                <a:latin typeface="Arial" panose="020B0604020202020204" pitchFamily="34" charset="0"/>
              </a:rPr>
              <a:t>2</a:t>
            </a:r>
            <a:r>
              <a:rPr lang="en-IN" b="0" i="0" dirty="0">
                <a:solidFill>
                  <a:srgbClr val="273239"/>
                </a:solidFill>
                <a:effectLst/>
                <a:latin typeface="Arial" panose="020B0604020202020204" pitchFamily="34" charset="0"/>
              </a:rPr>
              <a:t>) </a:t>
            </a:r>
          </a:p>
          <a:p>
            <a:pPr marL="0" indent="0" algn="l">
              <a:buNone/>
            </a:pPr>
            <a:r>
              <a:rPr lang="en-IN" b="0" i="0" dirty="0">
                <a:solidFill>
                  <a:srgbClr val="273239"/>
                </a:solidFill>
                <a:effectLst/>
                <a:latin typeface="Arial" panose="020B0604020202020204" pitchFamily="34" charset="0"/>
              </a:rPr>
              <a:t>    n </a:t>
            </a:r>
            <a:r>
              <a:rPr lang="en-IN" b="0" i="0" dirty="0">
                <a:solidFill>
                  <a:srgbClr val="666666"/>
                </a:solidFill>
                <a:effectLst/>
                <a:latin typeface="Arial" panose="020B0604020202020204" pitchFamily="34" charset="0"/>
              </a:rPr>
              <a:t>=</a:t>
            </a:r>
            <a:r>
              <a:rPr lang="en-IN" b="0" i="0" dirty="0">
                <a:solidFill>
                  <a:srgbClr val="273239"/>
                </a:solidFill>
                <a:effectLst/>
                <a:latin typeface="Arial" panose="020B0604020202020204" pitchFamily="34" charset="0"/>
              </a:rPr>
              <a:t> n </a:t>
            </a:r>
            <a:r>
              <a:rPr lang="en-IN" b="0" i="0" dirty="0">
                <a:solidFill>
                  <a:srgbClr val="666666"/>
                </a:solidFill>
                <a:effectLst/>
                <a:latin typeface="Arial" panose="020B0604020202020204" pitchFamily="34" charset="0"/>
              </a:rPr>
              <a:t>//</a:t>
            </a:r>
            <a:r>
              <a:rPr lang="en-IN" b="0" i="0" dirty="0">
                <a:solidFill>
                  <a:srgbClr val="273239"/>
                </a:solidFill>
                <a:effectLst/>
                <a:latin typeface="Arial" panose="020B0604020202020204" pitchFamily="34" charset="0"/>
              </a:rPr>
              <a:t> </a:t>
            </a:r>
            <a:r>
              <a:rPr lang="en-IN" b="0" i="0" dirty="0">
                <a:solidFill>
                  <a:srgbClr val="666666"/>
                </a:solidFill>
                <a:effectLst/>
                <a:latin typeface="Arial" panose="020B0604020202020204" pitchFamily="34" charset="0"/>
              </a:rPr>
              <a:t>2</a:t>
            </a:r>
            <a:r>
              <a:rPr lang="en-IN" b="0" i="0" dirty="0">
                <a:solidFill>
                  <a:srgbClr val="273239"/>
                </a:solidFill>
                <a:effectLst/>
                <a:latin typeface="Arial" panose="020B0604020202020204" pitchFamily="34" charset="0"/>
              </a:rPr>
              <a:t> </a:t>
            </a:r>
            <a:r>
              <a:rPr lang="en-IN" b="0" i="1" dirty="0">
                <a:solidFill>
                  <a:srgbClr val="3D7B7B"/>
                </a:solidFill>
                <a:effectLst/>
                <a:latin typeface="Arial" panose="020B0604020202020204" pitchFamily="34" charset="0"/>
              </a:rPr>
              <a:t># Run while Stack S is not empty</a:t>
            </a:r>
            <a:r>
              <a:rPr lang="en-IN" b="0" i="0" dirty="0">
                <a:solidFill>
                  <a:srgbClr val="273239"/>
                </a:solidFill>
                <a:effectLst/>
                <a:latin typeface="Arial" panose="020B0604020202020204" pitchFamily="34" charset="0"/>
              </a:rPr>
              <a:t> </a:t>
            </a:r>
          </a:p>
          <a:p>
            <a:pPr marL="0" indent="0" algn="l">
              <a:buNone/>
            </a:pPr>
            <a:r>
              <a:rPr lang="en-IN" b="1" i="0" dirty="0">
                <a:solidFill>
                  <a:srgbClr val="008000"/>
                </a:solidFill>
                <a:effectLst/>
                <a:latin typeface="Arial" panose="020B0604020202020204" pitchFamily="34" charset="0"/>
              </a:rPr>
              <a:t>  while</a:t>
            </a:r>
            <a:r>
              <a:rPr lang="en-IN" b="0" i="0" dirty="0">
                <a:solidFill>
                  <a:srgbClr val="273239"/>
                </a:solidFill>
                <a:effectLst/>
                <a:latin typeface="Arial" panose="020B0604020202020204" pitchFamily="34" charset="0"/>
              </a:rPr>
              <a:t> S: </a:t>
            </a:r>
          </a:p>
          <a:p>
            <a:pPr marL="0" indent="0" algn="l">
              <a:buNone/>
            </a:pPr>
            <a:r>
              <a:rPr lang="en-IN" b="0" i="0" dirty="0">
                <a:solidFill>
                  <a:srgbClr val="008000"/>
                </a:solidFill>
                <a:effectLst/>
                <a:latin typeface="Arial" panose="020B0604020202020204" pitchFamily="34" charset="0"/>
              </a:rPr>
              <a:t>    print</a:t>
            </a:r>
            <a:r>
              <a:rPr lang="en-IN" b="0" i="0" dirty="0">
                <a:solidFill>
                  <a:srgbClr val="273239"/>
                </a:solidFill>
                <a:effectLst/>
                <a:latin typeface="Arial" panose="020B0604020202020204" pitchFamily="34" charset="0"/>
              </a:rPr>
              <a:t>(</a:t>
            </a:r>
            <a:r>
              <a:rPr lang="en-IN" b="0" i="0" dirty="0" err="1">
                <a:solidFill>
                  <a:srgbClr val="273239"/>
                </a:solidFill>
                <a:effectLst/>
                <a:latin typeface="Arial" panose="020B0604020202020204" pitchFamily="34" charset="0"/>
              </a:rPr>
              <a:t>S</a:t>
            </a:r>
            <a:r>
              <a:rPr lang="en-IN" b="0" i="0" dirty="0" err="1">
                <a:solidFill>
                  <a:srgbClr val="666666"/>
                </a:solidFill>
                <a:effectLst/>
                <a:latin typeface="Arial" panose="020B0604020202020204" pitchFamily="34" charset="0"/>
              </a:rPr>
              <a:t>.</a:t>
            </a:r>
            <a:r>
              <a:rPr lang="en-IN" b="0" i="0" dirty="0" err="1">
                <a:solidFill>
                  <a:srgbClr val="273239"/>
                </a:solidFill>
                <a:effectLst/>
                <a:latin typeface="Arial" panose="020B0604020202020204" pitchFamily="34" charset="0"/>
              </a:rPr>
              <a:t>pop</a:t>
            </a:r>
            <a:r>
              <a:rPr lang="en-IN" b="0" i="0" dirty="0">
                <a:solidFill>
                  <a:srgbClr val="273239"/>
                </a:solidFill>
                <a:effectLst/>
                <a:latin typeface="Arial" panose="020B0604020202020204" pitchFamily="34" charset="0"/>
              </a:rPr>
              <a:t>(), end</a:t>
            </a:r>
            <a:r>
              <a:rPr lang="en-IN" b="0" i="0" dirty="0">
                <a:solidFill>
                  <a:srgbClr val="666666"/>
                </a:solidFill>
                <a:effectLst/>
                <a:latin typeface="Arial" panose="020B0604020202020204" pitchFamily="34" charset="0"/>
              </a:rPr>
              <a:t>=</a:t>
            </a:r>
            <a:r>
              <a:rPr lang="en-IN" b="0" i="0" dirty="0">
                <a:solidFill>
                  <a:srgbClr val="BA2121"/>
                </a:solidFill>
                <a:effectLst/>
                <a:latin typeface="Arial" panose="020B0604020202020204" pitchFamily="34" charset="0"/>
              </a:rPr>
              <a:t>' '</a:t>
            </a:r>
            <a:r>
              <a:rPr lang="en-IN" b="0" i="0" dirty="0">
                <a:solidFill>
                  <a:srgbClr val="273239"/>
                </a:solidFill>
                <a:effectLst/>
                <a:latin typeface="Arial" panose="020B0604020202020204" pitchFamily="34" charset="0"/>
              </a:rPr>
              <a:t>) </a:t>
            </a:r>
            <a:r>
              <a:rPr lang="en-IN" b="0" i="1" dirty="0">
                <a:solidFill>
                  <a:srgbClr val="3D7B7B"/>
                </a:solidFill>
                <a:effectLst/>
                <a:latin typeface="Arial" panose="020B0604020202020204" pitchFamily="34" charset="0"/>
              </a:rPr>
              <a:t># pop an element from S and print it</a:t>
            </a:r>
            <a:r>
              <a:rPr lang="en-IN" b="0" i="0" dirty="0">
                <a:solidFill>
                  <a:srgbClr val="273239"/>
                </a:solidFill>
                <a:effectLst/>
                <a:latin typeface="Arial" panose="020B0604020202020204" pitchFamily="34" charset="0"/>
              </a:rPr>
              <a:t> </a:t>
            </a:r>
          </a:p>
          <a:p>
            <a:pPr algn="l" rtl="0"/>
            <a:r>
              <a:rPr lang="en-IN" b="0" i="0" dirty="0">
                <a:solidFill>
                  <a:srgbClr val="273239"/>
                </a:solidFill>
                <a:effectLst/>
                <a:latin typeface="Source Sans 3"/>
              </a:rPr>
              <a:t>What does the above function do in general?</a:t>
            </a:r>
          </a:p>
          <a:p>
            <a:pPr marL="0" indent="0">
              <a:buNone/>
            </a:pPr>
            <a:r>
              <a:rPr lang="en-IN" b="0" i="0" dirty="0">
                <a:solidFill>
                  <a:srgbClr val="9F9F9F"/>
                </a:solidFill>
                <a:effectLst/>
                <a:latin typeface="-apple-system"/>
              </a:rPr>
              <a:t>A. </a:t>
            </a:r>
            <a:r>
              <a:rPr lang="en-IN" b="0" i="0" dirty="0">
                <a:solidFill>
                  <a:srgbClr val="273239"/>
                </a:solidFill>
                <a:effectLst/>
                <a:latin typeface="Source Sans 3"/>
              </a:rPr>
              <a:t>Prints binary representation of n in reverse order</a:t>
            </a:r>
          </a:p>
          <a:p>
            <a:pPr marL="0" indent="0">
              <a:buNone/>
            </a:pPr>
            <a:r>
              <a:rPr lang="en-IN" b="0" i="0" dirty="0">
                <a:solidFill>
                  <a:srgbClr val="00B050"/>
                </a:solidFill>
                <a:effectLst/>
                <a:latin typeface="-apple-system"/>
              </a:rPr>
              <a:t>B. </a:t>
            </a:r>
            <a:r>
              <a:rPr lang="en-IN" b="0" i="0" dirty="0">
                <a:solidFill>
                  <a:srgbClr val="00B050"/>
                </a:solidFill>
                <a:effectLst/>
                <a:latin typeface="Source Sans 3"/>
              </a:rPr>
              <a:t>Prints binary representation of n</a:t>
            </a:r>
          </a:p>
          <a:p>
            <a:pPr marL="0" indent="0">
              <a:buNone/>
            </a:pPr>
            <a:r>
              <a:rPr lang="en-IN" b="0" i="0" dirty="0">
                <a:solidFill>
                  <a:srgbClr val="9F9F9F"/>
                </a:solidFill>
                <a:effectLst/>
                <a:latin typeface="-apple-system"/>
              </a:rPr>
              <a:t>C. </a:t>
            </a:r>
            <a:r>
              <a:rPr lang="en-IN" b="0" i="0" dirty="0">
                <a:solidFill>
                  <a:srgbClr val="273239"/>
                </a:solidFill>
                <a:effectLst/>
                <a:latin typeface="Source Sans 3"/>
              </a:rPr>
              <a:t>Prints the value of </a:t>
            </a:r>
            <a:r>
              <a:rPr lang="en-IN" b="0" i="0" dirty="0" err="1">
                <a:solidFill>
                  <a:srgbClr val="273239"/>
                </a:solidFill>
                <a:effectLst/>
                <a:latin typeface="Source Sans 3"/>
              </a:rPr>
              <a:t>Logn</a:t>
            </a:r>
            <a:endParaRPr lang="en-IN" b="0" i="0" dirty="0">
              <a:solidFill>
                <a:srgbClr val="273239"/>
              </a:solidFill>
              <a:effectLst/>
              <a:latin typeface="Source Sans 3"/>
            </a:endParaRPr>
          </a:p>
          <a:p>
            <a:pPr marL="0" indent="0">
              <a:buNone/>
            </a:pPr>
            <a:r>
              <a:rPr lang="en-IN" b="0" i="0" dirty="0">
                <a:solidFill>
                  <a:srgbClr val="9F9F9F"/>
                </a:solidFill>
                <a:effectLst/>
                <a:latin typeface="-apple-system"/>
              </a:rPr>
              <a:t>D. </a:t>
            </a:r>
            <a:r>
              <a:rPr lang="en-IN" b="0" i="0" dirty="0">
                <a:solidFill>
                  <a:srgbClr val="273239"/>
                </a:solidFill>
                <a:effectLst/>
                <a:latin typeface="Source Sans 3"/>
              </a:rPr>
              <a:t>Prints the value of </a:t>
            </a:r>
            <a:r>
              <a:rPr lang="en-IN" b="0" i="0" dirty="0" err="1">
                <a:solidFill>
                  <a:srgbClr val="273239"/>
                </a:solidFill>
                <a:effectLst/>
                <a:latin typeface="Source Sans 3"/>
              </a:rPr>
              <a:t>Logn</a:t>
            </a:r>
            <a:r>
              <a:rPr lang="en-IN" b="0" i="0" dirty="0">
                <a:solidFill>
                  <a:srgbClr val="273239"/>
                </a:solidFill>
                <a:effectLst/>
                <a:latin typeface="Source Sans 3"/>
              </a:rPr>
              <a:t> in reverse order</a:t>
            </a:r>
          </a:p>
          <a:p>
            <a:endParaRPr lang="en-US" dirty="0"/>
          </a:p>
        </p:txBody>
      </p:sp>
    </p:spTree>
    <p:extLst>
      <p:ext uri="{BB962C8B-B14F-4D97-AF65-F5344CB8AC3E}">
        <p14:creationId xmlns:p14="http://schemas.microsoft.com/office/powerpoint/2010/main" val="263392152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ACD9D-C693-32D1-0D2A-9ADD97F7338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42FA4B5-F20D-0AB4-1CD3-1C37DE96E73F}"/>
              </a:ext>
            </a:extLst>
          </p:cNvPr>
          <p:cNvSpPr>
            <a:spLocks noGrp="1"/>
          </p:cNvSpPr>
          <p:nvPr>
            <p:ph idx="1"/>
          </p:nvPr>
        </p:nvSpPr>
        <p:spPr/>
        <p:txBody>
          <a:bodyPr>
            <a:normAutofit/>
          </a:bodyPr>
          <a:lstStyle/>
          <a:p>
            <a:pPr rtl="0"/>
            <a:r>
              <a:rPr lang="en-IN" b="0" i="0" dirty="0">
                <a:solidFill>
                  <a:srgbClr val="273239"/>
                </a:solidFill>
                <a:effectLst/>
                <a:latin typeface="Source Sans 3"/>
              </a:rPr>
              <a:t>The result evaluating the postfix expression 10 5 + 60 6 / * 8 – is</a:t>
            </a:r>
          </a:p>
          <a:p>
            <a:pPr marL="0" indent="0">
              <a:buNone/>
            </a:pPr>
            <a:r>
              <a:rPr lang="en-IN" b="0" i="0" dirty="0">
                <a:solidFill>
                  <a:srgbClr val="9F9F9F"/>
                </a:solidFill>
                <a:effectLst/>
                <a:latin typeface="-apple-system"/>
              </a:rPr>
              <a:t>A. </a:t>
            </a:r>
            <a:r>
              <a:rPr lang="en-IN" b="0" i="0" dirty="0">
                <a:solidFill>
                  <a:srgbClr val="273239"/>
                </a:solidFill>
                <a:effectLst/>
                <a:latin typeface="Source Sans 3"/>
              </a:rPr>
              <a:t>284</a:t>
            </a:r>
          </a:p>
          <a:p>
            <a:pPr marL="0" indent="0">
              <a:buNone/>
            </a:pPr>
            <a:r>
              <a:rPr lang="en-IN" b="0" i="0" dirty="0">
                <a:solidFill>
                  <a:srgbClr val="9F9F9F"/>
                </a:solidFill>
                <a:effectLst/>
                <a:latin typeface="-apple-system"/>
              </a:rPr>
              <a:t>B. </a:t>
            </a:r>
            <a:r>
              <a:rPr lang="en-IN" b="0" i="0" dirty="0">
                <a:solidFill>
                  <a:srgbClr val="273239"/>
                </a:solidFill>
                <a:effectLst/>
                <a:latin typeface="Source Sans 3"/>
              </a:rPr>
              <a:t>213</a:t>
            </a:r>
          </a:p>
          <a:p>
            <a:pPr marL="0" indent="0">
              <a:buNone/>
            </a:pPr>
            <a:r>
              <a:rPr lang="en-IN" b="0" i="0" dirty="0">
                <a:solidFill>
                  <a:srgbClr val="9F9F9F"/>
                </a:solidFill>
                <a:effectLst/>
                <a:latin typeface="-apple-system"/>
              </a:rPr>
              <a:t>C. </a:t>
            </a:r>
            <a:r>
              <a:rPr lang="en-IN" b="0" i="0" dirty="0">
                <a:solidFill>
                  <a:srgbClr val="273239"/>
                </a:solidFill>
                <a:effectLst/>
                <a:latin typeface="Source Sans 3"/>
              </a:rPr>
              <a:t>142</a:t>
            </a:r>
          </a:p>
          <a:p>
            <a:pPr marL="0" indent="0">
              <a:buNone/>
            </a:pPr>
            <a:r>
              <a:rPr lang="en-IN" b="0" i="0" dirty="0">
                <a:solidFill>
                  <a:srgbClr val="9F9F9F"/>
                </a:solidFill>
                <a:effectLst/>
                <a:latin typeface="-apple-system"/>
              </a:rPr>
              <a:t>D. </a:t>
            </a:r>
            <a:r>
              <a:rPr lang="en-IN" b="0" i="0" dirty="0">
                <a:solidFill>
                  <a:srgbClr val="273239"/>
                </a:solidFill>
                <a:effectLst/>
                <a:latin typeface="Source Sans 3"/>
              </a:rPr>
              <a:t>71</a:t>
            </a:r>
          </a:p>
          <a:p>
            <a:endParaRPr lang="en-US" dirty="0"/>
          </a:p>
        </p:txBody>
      </p:sp>
    </p:spTree>
    <p:extLst>
      <p:ext uri="{BB962C8B-B14F-4D97-AF65-F5344CB8AC3E}">
        <p14:creationId xmlns:p14="http://schemas.microsoft.com/office/powerpoint/2010/main" val="292029837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553A7-E5C2-B5D9-8CF9-C8C9CF622B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714196-E4A5-E368-D82E-E7BE4B81348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53E201F-D7D9-D7C3-3538-0CDBE643DBED}"/>
              </a:ext>
            </a:extLst>
          </p:cNvPr>
          <p:cNvSpPr>
            <a:spLocks noGrp="1"/>
          </p:cNvSpPr>
          <p:nvPr>
            <p:ph idx="1"/>
          </p:nvPr>
        </p:nvSpPr>
        <p:spPr/>
        <p:txBody>
          <a:bodyPr>
            <a:normAutofit/>
          </a:bodyPr>
          <a:lstStyle/>
          <a:p>
            <a:pPr rtl="0"/>
            <a:r>
              <a:rPr lang="en-IN" b="0" i="0" dirty="0">
                <a:solidFill>
                  <a:srgbClr val="273239"/>
                </a:solidFill>
                <a:effectLst/>
                <a:latin typeface="Source Sans 3"/>
              </a:rPr>
              <a:t>The result evaluating the postfix expression 10 5 + 60 6 / * 8 – is</a:t>
            </a:r>
          </a:p>
          <a:p>
            <a:pPr marL="0" indent="0">
              <a:buNone/>
            </a:pPr>
            <a:r>
              <a:rPr lang="en-IN" b="0" i="0" dirty="0">
                <a:solidFill>
                  <a:srgbClr val="9F9F9F"/>
                </a:solidFill>
                <a:effectLst/>
                <a:latin typeface="-apple-system"/>
              </a:rPr>
              <a:t>A. </a:t>
            </a:r>
            <a:r>
              <a:rPr lang="en-IN" b="0" i="0" dirty="0">
                <a:solidFill>
                  <a:srgbClr val="273239"/>
                </a:solidFill>
                <a:effectLst/>
                <a:latin typeface="Source Sans 3"/>
              </a:rPr>
              <a:t>284</a:t>
            </a:r>
          </a:p>
          <a:p>
            <a:pPr marL="0" indent="0">
              <a:buNone/>
            </a:pPr>
            <a:r>
              <a:rPr lang="en-IN" b="0" i="0" dirty="0">
                <a:solidFill>
                  <a:srgbClr val="9F9F9F"/>
                </a:solidFill>
                <a:effectLst/>
                <a:latin typeface="-apple-system"/>
              </a:rPr>
              <a:t>B. </a:t>
            </a:r>
            <a:r>
              <a:rPr lang="en-IN" b="0" i="0" dirty="0">
                <a:solidFill>
                  <a:srgbClr val="273239"/>
                </a:solidFill>
                <a:effectLst/>
                <a:latin typeface="Source Sans 3"/>
              </a:rPr>
              <a:t>213</a:t>
            </a:r>
          </a:p>
          <a:p>
            <a:pPr marL="0" indent="0">
              <a:buNone/>
            </a:pPr>
            <a:r>
              <a:rPr lang="en-IN" b="0" i="0" dirty="0">
                <a:solidFill>
                  <a:srgbClr val="00B050"/>
                </a:solidFill>
                <a:effectLst/>
                <a:latin typeface="-apple-system"/>
              </a:rPr>
              <a:t>C. </a:t>
            </a:r>
            <a:r>
              <a:rPr lang="en-IN" b="0" i="0" dirty="0">
                <a:solidFill>
                  <a:srgbClr val="00B050"/>
                </a:solidFill>
                <a:effectLst/>
                <a:latin typeface="Source Sans 3"/>
              </a:rPr>
              <a:t>142</a:t>
            </a:r>
          </a:p>
          <a:p>
            <a:pPr marL="0" indent="0">
              <a:buNone/>
            </a:pPr>
            <a:r>
              <a:rPr lang="en-IN" b="0" i="0" dirty="0">
                <a:solidFill>
                  <a:srgbClr val="9F9F9F"/>
                </a:solidFill>
                <a:effectLst/>
                <a:latin typeface="-apple-system"/>
              </a:rPr>
              <a:t>D. </a:t>
            </a:r>
            <a:r>
              <a:rPr lang="en-IN" b="0" i="0" dirty="0">
                <a:solidFill>
                  <a:srgbClr val="273239"/>
                </a:solidFill>
                <a:effectLst/>
                <a:latin typeface="Source Sans 3"/>
              </a:rPr>
              <a:t>71</a:t>
            </a:r>
          </a:p>
          <a:p>
            <a:endParaRPr lang="en-US" dirty="0"/>
          </a:p>
        </p:txBody>
      </p:sp>
    </p:spTree>
    <p:extLst>
      <p:ext uri="{BB962C8B-B14F-4D97-AF65-F5344CB8AC3E}">
        <p14:creationId xmlns:p14="http://schemas.microsoft.com/office/powerpoint/2010/main" val="24335365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4AC43-EC75-D2A9-D347-DF67E821B3E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01ED85B-6497-EE28-C50C-290E1E2C8032}"/>
              </a:ext>
            </a:extLst>
          </p:cNvPr>
          <p:cNvSpPr>
            <a:spLocks noGrp="1"/>
          </p:cNvSpPr>
          <p:nvPr>
            <p:ph idx="1"/>
          </p:nvPr>
        </p:nvSpPr>
        <p:spPr/>
        <p:txBody>
          <a:bodyPr>
            <a:normAutofit/>
          </a:bodyPr>
          <a:lstStyle/>
          <a:p>
            <a:pPr rtl="0"/>
            <a:r>
              <a:rPr lang="en-IN" b="0" i="0" dirty="0">
                <a:solidFill>
                  <a:srgbClr val="273239"/>
                </a:solidFill>
                <a:effectLst/>
                <a:latin typeface="Source Sans 3"/>
              </a:rPr>
              <a:t>To evaluate an expression without any embedded function calls :</a:t>
            </a:r>
            <a:br>
              <a:rPr lang="en-IN" b="0" i="0" dirty="0">
                <a:solidFill>
                  <a:srgbClr val="273239"/>
                </a:solidFill>
                <a:effectLst/>
                <a:latin typeface="Source Sans 3"/>
              </a:rPr>
            </a:br>
            <a:r>
              <a:rPr lang="en-IN" b="0" i="0" dirty="0">
                <a:solidFill>
                  <a:srgbClr val="273239"/>
                </a:solidFill>
                <a:effectLst/>
                <a:latin typeface="Source Sans 3"/>
              </a:rPr>
              <a:t> </a:t>
            </a:r>
          </a:p>
          <a:p>
            <a:pPr marL="0" indent="0">
              <a:buNone/>
            </a:pPr>
            <a:r>
              <a:rPr lang="en-IN" b="0" i="0" dirty="0">
                <a:effectLst/>
                <a:latin typeface="-apple-system"/>
              </a:rPr>
              <a:t>A. </a:t>
            </a:r>
            <a:r>
              <a:rPr lang="en-IN" b="0" i="0" dirty="0">
                <a:effectLst/>
                <a:latin typeface="Source Sans 3"/>
              </a:rPr>
              <a:t>As many stacks as the height of the expression tree are needed</a:t>
            </a:r>
          </a:p>
          <a:p>
            <a:pPr marL="0" indent="0">
              <a:buNone/>
            </a:pPr>
            <a:r>
              <a:rPr lang="en-IN" b="0" i="0" dirty="0">
                <a:effectLst/>
                <a:latin typeface="-apple-system"/>
              </a:rPr>
              <a:t>B. </a:t>
            </a:r>
            <a:r>
              <a:rPr lang="en-IN" b="0" i="0" dirty="0">
                <a:effectLst/>
                <a:latin typeface="Source Sans 3"/>
              </a:rPr>
              <a:t>One stack is enough</a:t>
            </a:r>
          </a:p>
          <a:p>
            <a:pPr marL="0" indent="0">
              <a:buNone/>
            </a:pPr>
            <a:r>
              <a:rPr lang="en-IN" b="0" i="0" dirty="0">
                <a:effectLst/>
                <a:latin typeface="-apple-system"/>
              </a:rPr>
              <a:t>C. </a:t>
            </a:r>
            <a:r>
              <a:rPr lang="en-IN" b="0" i="0" dirty="0">
                <a:effectLst/>
                <a:latin typeface="Source Sans 3"/>
              </a:rPr>
              <a:t>Two stacks are needed</a:t>
            </a:r>
          </a:p>
          <a:p>
            <a:pPr marL="0" indent="0">
              <a:buNone/>
            </a:pPr>
            <a:r>
              <a:rPr lang="en-IN" b="0" i="0" dirty="0">
                <a:effectLst/>
                <a:latin typeface="-apple-system"/>
              </a:rPr>
              <a:t>D. </a:t>
            </a:r>
            <a:r>
              <a:rPr lang="en-IN" b="0" i="0" dirty="0">
                <a:effectLst/>
                <a:latin typeface="Source Sans 3"/>
              </a:rPr>
              <a:t>A Turing machine is needed in the general case</a:t>
            </a:r>
          </a:p>
          <a:p>
            <a:endParaRPr lang="en-US" dirty="0"/>
          </a:p>
        </p:txBody>
      </p:sp>
    </p:spTree>
    <p:extLst>
      <p:ext uri="{BB962C8B-B14F-4D97-AF65-F5344CB8AC3E}">
        <p14:creationId xmlns:p14="http://schemas.microsoft.com/office/powerpoint/2010/main" val="187520661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7575F-8A48-DE59-DC55-FF0CA8150C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39830E-9DE8-000B-810E-27A80EF1D66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4211E9B-1E10-2D9E-393F-1922FFA4193A}"/>
              </a:ext>
            </a:extLst>
          </p:cNvPr>
          <p:cNvSpPr>
            <a:spLocks noGrp="1"/>
          </p:cNvSpPr>
          <p:nvPr>
            <p:ph idx="1"/>
          </p:nvPr>
        </p:nvSpPr>
        <p:spPr/>
        <p:txBody>
          <a:bodyPr>
            <a:normAutofit/>
          </a:bodyPr>
          <a:lstStyle/>
          <a:p>
            <a:pPr rtl="0"/>
            <a:r>
              <a:rPr lang="en-IN" b="0" i="0" dirty="0">
                <a:solidFill>
                  <a:srgbClr val="273239"/>
                </a:solidFill>
                <a:effectLst/>
                <a:latin typeface="Source Sans 3"/>
              </a:rPr>
              <a:t>To evaluate an expression without any embedded function calls :</a:t>
            </a:r>
            <a:br>
              <a:rPr lang="en-IN" b="0" i="0" dirty="0">
                <a:solidFill>
                  <a:srgbClr val="273239"/>
                </a:solidFill>
                <a:effectLst/>
                <a:latin typeface="Source Sans 3"/>
              </a:rPr>
            </a:br>
            <a:r>
              <a:rPr lang="en-IN" b="0" i="0" dirty="0">
                <a:solidFill>
                  <a:srgbClr val="273239"/>
                </a:solidFill>
                <a:effectLst/>
                <a:latin typeface="Source Sans 3"/>
              </a:rPr>
              <a:t> </a:t>
            </a:r>
          </a:p>
          <a:p>
            <a:pPr marL="0" indent="0">
              <a:buNone/>
            </a:pPr>
            <a:r>
              <a:rPr lang="en-IN" b="0" i="0" dirty="0">
                <a:effectLst/>
                <a:latin typeface="-apple-system"/>
              </a:rPr>
              <a:t>A. </a:t>
            </a:r>
            <a:r>
              <a:rPr lang="en-IN" b="0" i="0" dirty="0">
                <a:effectLst/>
                <a:latin typeface="Source Sans 3"/>
              </a:rPr>
              <a:t>As many stacks as the height of the expression tree are needed</a:t>
            </a:r>
          </a:p>
          <a:p>
            <a:pPr marL="0" indent="0">
              <a:buNone/>
            </a:pPr>
            <a:r>
              <a:rPr lang="en-IN" b="0" i="0" dirty="0">
                <a:solidFill>
                  <a:srgbClr val="00B050"/>
                </a:solidFill>
                <a:effectLst/>
                <a:latin typeface="-apple-system"/>
              </a:rPr>
              <a:t>B. </a:t>
            </a:r>
            <a:r>
              <a:rPr lang="en-IN" b="0" i="0" dirty="0">
                <a:solidFill>
                  <a:srgbClr val="00B050"/>
                </a:solidFill>
                <a:effectLst/>
                <a:latin typeface="Source Sans 3"/>
              </a:rPr>
              <a:t>One stack is enough</a:t>
            </a:r>
          </a:p>
          <a:p>
            <a:pPr marL="0" indent="0">
              <a:buNone/>
            </a:pPr>
            <a:r>
              <a:rPr lang="en-IN" b="0" i="0" dirty="0">
                <a:effectLst/>
                <a:latin typeface="-apple-system"/>
              </a:rPr>
              <a:t>C. </a:t>
            </a:r>
            <a:r>
              <a:rPr lang="en-IN" b="0" i="0" dirty="0">
                <a:effectLst/>
                <a:latin typeface="Source Sans 3"/>
              </a:rPr>
              <a:t>Two stacks are needed</a:t>
            </a:r>
          </a:p>
          <a:p>
            <a:pPr marL="0" indent="0">
              <a:buNone/>
            </a:pPr>
            <a:r>
              <a:rPr lang="en-IN" b="0" i="0" dirty="0">
                <a:effectLst/>
                <a:latin typeface="-apple-system"/>
              </a:rPr>
              <a:t>D. </a:t>
            </a:r>
            <a:r>
              <a:rPr lang="en-IN" b="0" i="0" dirty="0">
                <a:effectLst/>
                <a:latin typeface="Source Sans 3"/>
              </a:rPr>
              <a:t>A Turing machine is needed in the general case</a:t>
            </a:r>
          </a:p>
          <a:p>
            <a:endParaRPr lang="en-US" dirty="0"/>
          </a:p>
        </p:txBody>
      </p:sp>
    </p:spTree>
    <p:extLst>
      <p:ext uri="{BB962C8B-B14F-4D97-AF65-F5344CB8AC3E}">
        <p14:creationId xmlns:p14="http://schemas.microsoft.com/office/powerpoint/2010/main" val="203335685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888FC-D3DD-F547-16AD-93144D98713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4310557-05E0-9D44-E054-0D0E54D4BFE1}"/>
              </a:ext>
            </a:extLst>
          </p:cNvPr>
          <p:cNvSpPr>
            <a:spLocks noGrp="1"/>
          </p:cNvSpPr>
          <p:nvPr>
            <p:ph idx="1"/>
          </p:nvPr>
        </p:nvSpPr>
        <p:spPr/>
        <p:txBody>
          <a:bodyPr>
            <a:normAutofit/>
          </a:bodyPr>
          <a:lstStyle/>
          <a:p>
            <a:pPr algn="l" rtl="0"/>
            <a:r>
              <a:rPr lang="en-IN" b="0" i="0" dirty="0">
                <a:solidFill>
                  <a:srgbClr val="273239"/>
                </a:solidFill>
                <a:effectLst/>
                <a:latin typeface="Source Sans 3"/>
              </a:rPr>
              <a:t>The following postfix expression with single digit operands is evaluated using a stack:</a:t>
            </a:r>
          </a:p>
          <a:p>
            <a:pPr algn="l" rtl="0"/>
            <a:r>
              <a:rPr lang="en-IN" b="0" i="0" dirty="0">
                <a:solidFill>
                  <a:srgbClr val="273239"/>
                </a:solidFill>
                <a:effectLst/>
                <a:highlight>
                  <a:srgbClr val="808080"/>
                </a:highlight>
                <a:latin typeface="-apple-system"/>
              </a:rPr>
              <a:t>8 2 3 ^ / 2 3 * + 5 1 * - </a:t>
            </a:r>
          </a:p>
          <a:p>
            <a:pPr algn="l" rtl="0"/>
            <a:r>
              <a:rPr lang="en-IN" b="0" i="0" dirty="0">
                <a:solidFill>
                  <a:srgbClr val="273239"/>
                </a:solidFill>
                <a:effectLst/>
                <a:latin typeface="Source Sans 3"/>
              </a:rPr>
              <a:t>Note that ^ is the exponentiation operator. The top two elements of the stack after the first * is evaluated are:</a:t>
            </a:r>
          </a:p>
          <a:p>
            <a:pPr marL="0" indent="0">
              <a:buNone/>
            </a:pPr>
            <a:r>
              <a:rPr lang="en-IN" b="0" i="0" dirty="0">
                <a:effectLst/>
                <a:latin typeface="-apple-system"/>
              </a:rPr>
              <a:t>A. </a:t>
            </a:r>
            <a:r>
              <a:rPr lang="en-IN" b="0" i="0" dirty="0">
                <a:effectLst/>
                <a:latin typeface="Source Sans 3"/>
              </a:rPr>
              <a:t>6, 1</a:t>
            </a:r>
          </a:p>
          <a:p>
            <a:pPr marL="0" indent="0">
              <a:buNone/>
            </a:pPr>
            <a:r>
              <a:rPr lang="en-IN" b="0" i="0" dirty="0">
                <a:effectLst/>
                <a:latin typeface="-apple-system"/>
              </a:rPr>
              <a:t>B. </a:t>
            </a:r>
            <a:r>
              <a:rPr lang="en-IN" b="0" i="0" dirty="0">
                <a:effectLst/>
                <a:latin typeface="Source Sans 3"/>
              </a:rPr>
              <a:t>5, 7</a:t>
            </a:r>
          </a:p>
          <a:p>
            <a:pPr marL="0" indent="0">
              <a:buNone/>
            </a:pPr>
            <a:r>
              <a:rPr lang="en-IN" b="0" i="0" dirty="0">
                <a:effectLst/>
                <a:latin typeface="-apple-system"/>
              </a:rPr>
              <a:t>C. </a:t>
            </a:r>
            <a:r>
              <a:rPr lang="en-IN" b="0" i="0" dirty="0">
                <a:effectLst/>
                <a:latin typeface="Source Sans 3"/>
              </a:rPr>
              <a:t>3, 2</a:t>
            </a:r>
          </a:p>
          <a:p>
            <a:pPr marL="0" indent="0">
              <a:buNone/>
            </a:pPr>
            <a:r>
              <a:rPr lang="en-IN" b="0" i="0" dirty="0">
                <a:effectLst/>
                <a:latin typeface="-apple-system"/>
              </a:rPr>
              <a:t>D. </a:t>
            </a:r>
            <a:r>
              <a:rPr lang="en-IN" b="0" i="0" dirty="0">
                <a:effectLst/>
                <a:latin typeface="Source Sans 3"/>
              </a:rPr>
              <a:t>1, 5</a:t>
            </a:r>
          </a:p>
          <a:p>
            <a:endParaRPr lang="en-US" dirty="0"/>
          </a:p>
        </p:txBody>
      </p:sp>
    </p:spTree>
    <p:extLst>
      <p:ext uri="{BB962C8B-B14F-4D97-AF65-F5344CB8AC3E}">
        <p14:creationId xmlns:p14="http://schemas.microsoft.com/office/powerpoint/2010/main" val="140587318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03386-83CD-FC0A-AA25-8AA58FC330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E15E8F-9D63-EA58-42DB-1B4F0CB6F1D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8BA8D85-FAC7-C01E-A937-96F2B21EA6C5}"/>
              </a:ext>
            </a:extLst>
          </p:cNvPr>
          <p:cNvSpPr>
            <a:spLocks noGrp="1"/>
          </p:cNvSpPr>
          <p:nvPr>
            <p:ph idx="1"/>
          </p:nvPr>
        </p:nvSpPr>
        <p:spPr/>
        <p:txBody>
          <a:bodyPr>
            <a:normAutofit/>
          </a:bodyPr>
          <a:lstStyle/>
          <a:p>
            <a:pPr algn="l" rtl="0"/>
            <a:r>
              <a:rPr lang="en-IN" b="0" i="0" dirty="0">
                <a:solidFill>
                  <a:srgbClr val="273239"/>
                </a:solidFill>
                <a:effectLst/>
                <a:latin typeface="Source Sans 3"/>
              </a:rPr>
              <a:t>The following postfix expression with single digit operands is evaluated using a stack:</a:t>
            </a:r>
          </a:p>
          <a:p>
            <a:pPr algn="l" rtl="0"/>
            <a:r>
              <a:rPr lang="en-IN" b="0" i="0" dirty="0">
                <a:solidFill>
                  <a:srgbClr val="273239"/>
                </a:solidFill>
                <a:effectLst/>
                <a:highlight>
                  <a:srgbClr val="808080"/>
                </a:highlight>
                <a:latin typeface="-apple-system"/>
              </a:rPr>
              <a:t>8 2 3 ^ / 2 3 * + 5 1 * - </a:t>
            </a:r>
          </a:p>
          <a:p>
            <a:pPr algn="l" rtl="0"/>
            <a:r>
              <a:rPr lang="en-IN" b="0" i="0" dirty="0">
                <a:solidFill>
                  <a:srgbClr val="273239"/>
                </a:solidFill>
                <a:effectLst/>
                <a:latin typeface="Source Sans 3"/>
              </a:rPr>
              <a:t>Note that ^ is the exponentiation operator. The top two elements of the stack after the first * is evaluated are:</a:t>
            </a:r>
          </a:p>
          <a:p>
            <a:pPr marL="0" indent="0">
              <a:buNone/>
            </a:pPr>
            <a:r>
              <a:rPr lang="en-IN" b="0" i="0" dirty="0">
                <a:solidFill>
                  <a:srgbClr val="00B050"/>
                </a:solidFill>
                <a:effectLst/>
                <a:latin typeface="-apple-system"/>
              </a:rPr>
              <a:t>A. </a:t>
            </a:r>
            <a:r>
              <a:rPr lang="en-IN" b="0" i="0" dirty="0">
                <a:solidFill>
                  <a:srgbClr val="00B050"/>
                </a:solidFill>
                <a:effectLst/>
                <a:latin typeface="Source Sans 3"/>
              </a:rPr>
              <a:t>6, 1</a:t>
            </a:r>
          </a:p>
          <a:p>
            <a:pPr marL="0" indent="0">
              <a:buNone/>
            </a:pPr>
            <a:r>
              <a:rPr lang="en-IN" b="0" i="0" dirty="0">
                <a:effectLst/>
                <a:latin typeface="-apple-system"/>
              </a:rPr>
              <a:t>B. </a:t>
            </a:r>
            <a:r>
              <a:rPr lang="en-IN" b="0" i="0" dirty="0">
                <a:effectLst/>
                <a:latin typeface="Source Sans 3"/>
              </a:rPr>
              <a:t>5, 7</a:t>
            </a:r>
          </a:p>
          <a:p>
            <a:pPr marL="0" indent="0">
              <a:buNone/>
            </a:pPr>
            <a:r>
              <a:rPr lang="en-IN" b="0" i="0" dirty="0">
                <a:effectLst/>
                <a:latin typeface="-apple-system"/>
              </a:rPr>
              <a:t>C. </a:t>
            </a:r>
            <a:r>
              <a:rPr lang="en-IN" b="0" i="0" dirty="0">
                <a:effectLst/>
                <a:latin typeface="Source Sans 3"/>
              </a:rPr>
              <a:t>3, 2</a:t>
            </a:r>
          </a:p>
          <a:p>
            <a:pPr marL="0" indent="0">
              <a:buNone/>
            </a:pPr>
            <a:r>
              <a:rPr lang="en-IN" b="0" i="0" dirty="0">
                <a:effectLst/>
                <a:latin typeface="-apple-system"/>
              </a:rPr>
              <a:t>D. </a:t>
            </a:r>
            <a:r>
              <a:rPr lang="en-IN" b="0" i="0" dirty="0">
                <a:effectLst/>
                <a:latin typeface="Source Sans 3"/>
              </a:rPr>
              <a:t>1, 5</a:t>
            </a:r>
          </a:p>
          <a:p>
            <a:endParaRPr lang="en-US" dirty="0"/>
          </a:p>
        </p:txBody>
      </p:sp>
    </p:spTree>
    <p:extLst>
      <p:ext uri="{BB962C8B-B14F-4D97-AF65-F5344CB8AC3E}">
        <p14:creationId xmlns:p14="http://schemas.microsoft.com/office/powerpoint/2010/main" val="272424227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EF9A4-D738-0545-94AC-5B8EBB2450E4}"/>
              </a:ext>
            </a:extLst>
          </p:cNvPr>
          <p:cNvSpPr>
            <a:spLocks noGrp="1"/>
          </p:cNvSpPr>
          <p:nvPr>
            <p:ph type="title"/>
          </p:nvPr>
        </p:nvSpPr>
        <p:spPr/>
        <p:txBody>
          <a:bodyPr/>
          <a:lstStyle/>
          <a:p>
            <a:r>
              <a:rPr lang="en-US" dirty="0"/>
              <a:t>C - Overview</a:t>
            </a:r>
          </a:p>
        </p:txBody>
      </p:sp>
      <p:sp>
        <p:nvSpPr>
          <p:cNvPr id="3" name="Content Placeholder 2">
            <a:extLst>
              <a:ext uri="{FF2B5EF4-FFF2-40B4-BE49-F238E27FC236}">
                <a16:creationId xmlns:a16="http://schemas.microsoft.com/office/drawing/2014/main" id="{E7BD745B-8AA5-6002-A03C-574C9913C0AD}"/>
              </a:ext>
            </a:extLst>
          </p:cNvPr>
          <p:cNvSpPr>
            <a:spLocks noGrp="1"/>
          </p:cNvSpPr>
          <p:nvPr>
            <p:ph idx="1"/>
          </p:nvPr>
        </p:nvSpPr>
        <p:spPr/>
        <p:txBody>
          <a:bodyPr>
            <a:normAutofit fontScale="85000" lnSpcReduction="20000"/>
          </a:bodyPr>
          <a:lstStyle/>
          <a:p>
            <a:pPr algn="l" fontAlgn="base"/>
            <a:r>
              <a:rPr lang="en-IN" b="1" i="0" dirty="0">
                <a:solidFill>
                  <a:srgbClr val="273239"/>
                </a:solidFill>
                <a:effectLst/>
                <a:latin typeface="Nunito" pitchFamily="2" charset="77"/>
              </a:rPr>
              <a:t>Basic Syntax</a:t>
            </a:r>
          </a:p>
          <a:p>
            <a:pPr algn="l" rtl="0" fontAlgn="base"/>
            <a:r>
              <a:rPr lang="en-IN" b="0" i="0" dirty="0">
                <a:solidFill>
                  <a:srgbClr val="273239"/>
                </a:solidFill>
                <a:effectLst/>
                <a:latin typeface="Nunito" pitchFamily="2" charset="77"/>
              </a:rPr>
              <a:t>Consider the below Hello World program:</a:t>
            </a:r>
          </a:p>
          <a:p>
            <a:endParaRPr lang="en-US" dirty="0"/>
          </a:p>
          <a:p>
            <a:r>
              <a:rPr lang="en-US" dirty="0"/>
              <a:t>// C Hello World program</a:t>
            </a:r>
          </a:p>
          <a:p>
            <a:r>
              <a:rPr lang="en-US" dirty="0"/>
              <a:t>#include &lt;</a:t>
            </a:r>
            <a:r>
              <a:rPr lang="en-US" dirty="0" err="1"/>
              <a:t>stdio.h</a:t>
            </a:r>
            <a:r>
              <a:rPr lang="en-US" dirty="0"/>
              <a:t>&gt;</a:t>
            </a:r>
          </a:p>
          <a:p>
            <a:endParaRPr lang="en-US" dirty="0"/>
          </a:p>
          <a:p>
            <a:r>
              <a:rPr lang="en-US" dirty="0"/>
              <a:t>int main()</a:t>
            </a:r>
          </a:p>
          <a:p>
            <a:r>
              <a:rPr lang="en-US" dirty="0"/>
              <a:t>{</a:t>
            </a:r>
          </a:p>
          <a:p>
            <a:r>
              <a:rPr lang="en-US" dirty="0"/>
              <a:t>    </a:t>
            </a:r>
            <a:r>
              <a:rPr lang="en-US" dirty="0" err="1"/>
              <a:t>printf</a:t>
            </a:r>
            <a:r>
              <a:rPr lang="en-US" dirty="0"/>
              <a:t>("Hello World!");</a:t>
            </a:r>
          </a:p>
          <a:p>
            <a:r>
              <a:rPr lang="en-US" dirty="0"/>
              <a:t>    return 0;</a:t>
            </a:r>
          </a:p>
          <a:p>
            <a:r>
              <a:rPr lang="en-US" dirty="0"/>
              <a:t>}</a:t>
            </a:r>
          </a:p>
        </p:txBody>
      </p:sp>
    </p:spTree>
    <p:extLst>
      <p:ext uri="{BB962C8B-B14F-4D97-AF65-F5344CB8AC3E}">
        <p14:creationId xmlns:p14="http://schemas.microsoft.com/office/powerpoint/2010/main" val="208364057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9916C-2733-C6EF-9C92-1E160CE029A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F840C56-13E8-934A-599B-8467B41B192C}"/>
              </a:ext>
            </a:extLst>
          </p:cNvPr>
          <p:cNvSpPr>
            <a:spLocks noGrp="1"/>
          </p:cNvSpPr>
          <p:nvPr>
            <p:ph idx="1"/>
          </p:nvPr>
        </p:nvSpPr>
        <p:spPr/>
        <p:txBody>
          <a:bodyPr/>
          <a:lstStyle/>
          <a:p>
            <a:pPr algn="l" rtl="0" fontAlgn="base"/>
            <a:r>
              <a:rPr lang="en-IN" b="0" i="0" dirty="0">
                <a:solidFill>
                  <a:srgbClr val="273239"/>
                </a:solidFill>
                <a:effectLst/>
                <a:latin typeface="Nunito" pitchFamily="2" charset="77"/>
              </a:rPr>
              <a:t>Here,</a:t>
            </a:r>
          </a:p>
          <a:p>
            <a:pPr algn="l" fontAlgn="base">
              <a:buFont typeface="Arial" panose="020B0604020202020204" pitchFamily="34" charset="0"/>
              <a:buChar char="•"/>
            </a:pPr>
            <a:r>
              <a:rPr lang="en-IN" b="1" i="0" dirty="0">
                <a:solidFill>
                  <a:srgbClr val="273239"/>
                </a:solidFill>
                <a:effectLst/>
                <a:latin typeface="Nunito" pitchFamily="2" charset="77"/>
              </a:rPr>
              <a:t>#include &lt;</a:t>
            </a:r>
            <a:r>
              <a:rPr lang="en-IN" b="1" i="0" dirty="0" err="1">
                <a:solidFill>
                  <a:srgbClr val="273239"/>
                </a:solidFill>
                <a:effectLst/>
                <a:latin typeface="Nunito" pitchFamily="2" charset="77"/>
              </a:rPr>
              <a:t>stdio.h</a:t>
            </a:r>
            <a:r>
              <a:rPr lang="en-IN" b="1" i="0" dirty="0">
                <a:solidFill>
                  <a:srgbClr val="273239"/>
                </a:solidFill>
                <a:effectLst/>
                <a:latin typeface="Nunito" pitchFamily="2" charset="77"/>
              </a:rPr>
              <a:t>&gt;: </a:t>
            </a:r>
            <a:r>
              <a:rPr lang="en-IN" b="0" i="0" dirty="0">
                <a:solidFill>
                  <a:srgbClr val="273239"/>
                </a:solidFill>
                <a:effectLst/>
                <a:latin typeface="Nunito" pitchFamily="2" charset="77"/>
              </a:rPr>
              <a:t>The header file inclusion to use </a:t>
            </a:r>
            <a:r>
              <a:rPr lang="en-IN" b="0" i="0" dirty="0" err="1">
                <a:solidFill>
                  <a:srgbClr val="273239"/>
                </a:solidFill>
                <a:effectLst/>
                <a:latin typeface="Nunito" pitchFamily="2" charset="77"/>
              </a:rPr>
              <a:t>printf</a:t>
            </a:r>
            <a:r>
              <a:rPr lang="en-IN" b="0" i="0" dirty="0">
                <a:solidFill>
                  <a:srgbClr val="273239"/>
                </a:solidFill>
                <a:effectLst/>
                <a:latin typeface="Nunito" pitchFamily="2" charset="77"/>
              </a:rPr>
              <a:t>() function.</a:t>
            </a:r>
          </a:p>
          <a:p>
            <a:pPr algn="l" fontAlgn="base">
              <a:buFont typeface="Arial" panose="020B0604020202020204" pitchFamily="34" charset="0"/>
              <a:buChar char="•"/>
            </a:pPr>
            <a:r>
              <a:rPr lang="en-IN" b="1" i="0" dirty="0">
                <a:solidFill>
                  <a:srgbClr val="273239"/>
                </a:solidFill>
                <a:effectLst/>
                <a:latin typeface="Nunito" pitchFamily="2" charset="77"/>
              </a:rPr>
              <a:t>int main():</a:t>
            </a:r>
            <a:r>
              <a:rPr lang="en-IN" b="0" i="0" dirty="0">
                <a:solidFill>
                  <a:srgbClr val="273239"/>
                </a:solidFill>
                <a:effectLst/>
                <a:latin typeface="Nunito" pitchFamily="2" charset="77"/>
              </a:rPr>
              <a:t> The main() function is the entry point of any C program.</a:t>
            </a:r>
          </a:p>
          <a:p>
            <a:pPr algn="l" fontAlgn="base">
              <a:buFont typeface="Arial" panose="020B0604020202020204" pitchFamily="34" charset="0"/>
              <a:buChar char="•"/>
            </a:pPr>
            <a:r>
              <a:rPr lang="en-IN" b="1" i="0" dirty="0" err="1">
                <a:solidFill>
                  <a:srgbClr val="273239"/>
                </a:solidFill>
                <a:effectLst/>
                <a:latin typeface="Nunito" pitchFamily="2" charset="77"/>
              </a:rPr>
              <a:t>printf</a:t>
            </a:r>
            <a:r>
              <a:rPr lang="en-IN" b="1" i="0" dirty="0">
                <a:solidFill>
                  <a:srgbClr val="273239"/>
                </a:solidFill>
                <a:effectLst/>
                <a:latin typeface="Nunito" pitchFamily="2" charset="77"/>
              </a:rPr>
              <a:t>("Hello World"):</a:t>
            </a:r>
            <a:r>
              <a:rPr lang="en-IN" b="0" i="0" dirty="0">
                <a:solidFill>
                  <a:srgbClr val="273239"/>
                </a:solidFill>
                <a:effectLst/>
                <a:latin typeface="Nunito" pitchFamily="2" charset="77"/>
              </a:rPr>
              <a:t> Function to print hello world.</a:t>
            </a:r>
          </a:p>
          <a:p>
            <a:pPr algn="l" fontAlgn="base">
              <a:buFont typeface="Arial" panose="020B0604020202020204" pitchFamily="34" charset="0"/>
              <a:buChar char="•"/>
            </a:pPr>
            <a:r>
              <a:rPr lang="en-IN" b="1" i="0" dirty="0">
                <a:solidFill>
                  <a:srgbClr val="273239"/>
                </a:solidFill>
                <a:effectLst/>
                <a:latin typeface="Nunito" pitchFamily="2" charset="77"/>
              </a:rPr>
              <a:t>return 0:</a:t>
            </a:r>
            <a:r>
              <a:rPr lang="en-IN" b="0" i="0" dirty="0">
                <a:solidFill>
                  <a:srgbClr val="273239"/>
                </a:solidFill>
                <a:effectLst/>
                <a:latin typeface="Nunito" pitchFamily="2" charset="77"/>
              </a:rPr>
              <a:t> Value returned by the main() function.</a:t>
            </a:r>
          </a:p>
          <a:p>
            <a:endParaRPr lang="en-US" dirty="0"/>
          </a:p>
        </p:txBody>
      </p:sp>
    </p:spTree>
    <p:extLst>
      <p:ext uri="{BB962C8B-B14F-4D97-AF65-F5344CB8AC3E}">
        <p14:creationId xmlns:p14="http://schemas.microsoft.com/office/powerpoint/2010/main" val="238767199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68665-FDEA-0570-F2D5-94959D372ECD}"/>
              </a:ext>
            </a:extLst>
          </p:cNvPr>
          <p:cNvSpPr>
            <a:spLocks noGrp="1"/>
          </p:cNvSpPr>
          <p:nvPr>
            <p:ph type="title"/>
          </p:nvPr>
        </p:nvSpPr>
        <p:spPr/>
        <p:txBody>
          <a:bodyPr/>
          <a:lstStyle/>
          <a:p>
            <a:r>
              <a:rPr lang="en-IN" b="1" i="0" dirty="0">
                <a:solidFill>
                  <a:srgbClr val="273239"/>
                </a:solidFill>
                <a:effectLst/>
                <a:latin typeface="Nunito" pitchFamily="2" charset="77"/>
              </a:rPr>
              <a:t>Variables</a:t>
            </a:r>
            <a:endParaRPr lang="en-US" dirty="0"/>
          </a:p>
        </p:txBody>
      </p:sp>
      <p:sp>
        <p:nvSpPr>
          <p:cNvPr id="3" name="Content Placeholder 2">
            <a:extLst>
              <a:ext uri="{FF2B5EF4-FFF2-40B4-BE49-F238E27FC236}">
                <a16:creationId xmlns:a16="http://schemas.microsoft.com/office/drawing/2014/main" id="{CE8CD866-DC5F-275C-4308-19C290118BCD}"/>
              </a:ext>
            </a:extLst>
          </p:cNvPr>
          <p:cNvSpPr>
            <a:spLocks noGrp="1"/>
          </p:cNvSpPr>
          <p:nvPr>
            <p:ph idx="1"/>
          </p:nvPr>
        </p:nvSpPr>
        <p:spPr/>
        <p:txBody>
          <a:bodyPr>
            <a:normAutofit fontScale="77500" lnSpcReduction="20000"/>
          </a:bodyPr>
          <a:lstStyle/>
          <a:p>
            <a:pPr algn="l" rtl="0" fontAlgn="base"/>
            <a:r>
              <a:rPr lang="en-IN" b="0" i="0" dirty="0">
                <a:solidFill>
                  <a:srgbClr val="273239"/>
                </a:solidFill>
                <a:effectLst/>
                <a:latin typeface="Nunito" pitchFamily="2" charset="77"/>
              </a:rPr>
              <a:t>A variable is the name given to the memory location that stores some data.</a:t>
            </a:r>
          </a:p>
          <a:p>
            <a:pPr algn="l" fontAlgn="base"/>
            <a:r>
              <a:rPr lang="en-IN" b="1" i="0" dirty="0">
                <a:solidFill>
                  <a:srgbClr val="273239"/>
                </a:solidFill>
                <a:effectLst/>
                <a:latin typeface="Nunito" pitchFamily="2" charset="77"/>
              </a:rPr>
              <a:t>Syntax of Variable</a:t>
            </a:r>
          </a:p>
          <a:p>
            <a:pPr algn="l" rtl="0" fontAlgn="base"/>
            <a:r>
              <a:rPr lang="en-IN" dirty="0" err="1">
                <a:effectLst/>
                <a:highlight>
                  <a:srgbClr val="00FF00"/>
                </a:highlight>
                <a:latin typeface="Consolas" panose="020B0609020204030204" pitchFamily="49" charset="0"/>
              </a:rPr>
              <a:t>data_type</a:t>
            </a:r>
            <a:r>
              <a:rPr lang="en-IN" dirty="0">
                <a:effectLst/>
                <a:highlight>
                  <a:srgbClr val="00FF00"/>
                </a:highlight>
                <a:latin typeface="Consolas" panose="020B0609020204030204" pitchFamily="49" charset="0"/>
              </a:rPr>
              <a:t> </a:t>
            </a:r>
            <a:r>
              <a:rPr lang="en-IN" i="1" dirty="0" err="1">
                <a:effectLst/>
                <a:highlight>
                  <a:srgbClr val="00FF00"/>
                </a:highlight>
                <a:latin typeface="Nunito" pitchFamily="2" charset="77"/>
              </a:rPr>
              <a:t>v</a:t>
            </a:r>
            <a:r>
              <a:rPr lang="en-IN" b="1" dirty="0" err="1">
                <a:effectLst/>
                <a:highlight>
                  <a:srgbClr val="00FF00"/>
                </a:highlight>
                <a:latin typeface="Nunito" pitchFamily="2" charset="77"/>
              </a:rPr>
              <a:t>ariable_name</a:t>
            </a:r>
            <a:r>
              <a:rPr lang="en-IN" dirty="0">
                <a:effectLst/>
                <a:highlight>
                  <a:srgbClr val="00FF00"/>
                </a:highlight>
                <a:latin typeface="Consolas" panose="020B0609020204030204" pitchFamily="49" charset="0"/>
              </a:rPr>
              <a:t>; </a:t>
            </a:r>
          </a:p>
          <a:p>
            <a:pPr algn="l" rtl="0" fontAlgn="base"/>
            <a:r>
              <a:rPr lang="en-IN" dirty="0" err="1">
                <a:effectLst/>
                <a:highlight>
                  <a:srgbClr val="00FF00"/>
                </a:highlight>
                <a:latin typeface="Consolas" panose="020B0609020204030204" pitchFamily="49" charset="0"/>
              </a:rPr>
              <a:t>data_type</a:t>
            </a:r>
            <a:r>
              <a:rPr lang="en-IN" dirty="0">
                <a:effectLst/>
                <a:highlight>
                  <a:srgbClr val="00FF00"/>
                </a:highlight>
                <a:latin typeface="Consolas" panose="020B0609020204030204" pitchFamily="49" charset="0"/>
              </a:rPr>
              <a:t> </a:t>
            </a:r>
            <a:r>
              <a:rPr lang="en-IN" b="1" dirty="0" err="1">
                <a:effectLst/>
                <a:highlight>
                  <a:srgbClr val="00FF00"/>
                </a:highlight>
                <a:latin typeface="Nunito" pitchFamily="2" charset="77"/>
              </a:rPr>
              <a:t>variable_name</a:t>
            </a:r>
            <a:r>
              <a:rPr lang="en-IN" dirty="0">
                <a:effectLst/>
                <a:highlight>
                  <a:srgbClr val="00FF00"/>
                </a:highlight>
                <a:latin typeface="Consolas" panose="020B0609020204030204" pitchFamily="49" charset="0"/>
              </a:rPr>
              <a:t> = </a:t>
            </a:r>
            <a:r>
              <a:rPr lang="en-IN" i="1" dirty="0" err="1">
                <a:effectLst/>
                <a:highlight>
                  <a:srgbClr val="00FF00"/>
                </a:highlight>
                <a:latin typeface="Nunito" pitchFamily="2" charset="77"/>
              </a:rPr>
              <a:t>initial_value</a:t>
            </a:r>
            <a:r>
              <a:rPr lang="en-IN" dirty="0">
                <a:effectLst/>
                <a:highlight>
                  <a:srgbClr val="00FF00"/>
                </a:highlight>
                <a:latin typeface="Consolas" panose="020B0609020204030204" pitchFamily="49" charset="0"/>
              </a:rPr>
              <a:t>;</a:t>
            </a:r>
          </a:p>
          <a:p>
            <a:pPr algn="l" rtl="0" fontAlgn="base"/>
            <a:r>
              <a:rPr lang="en-IN" b="0" i="0" dirty="0">
                <a:solidFill>
                  <a:srgbClr val="273239"/>
                </a:solidFill>
                <a:effectLst/>
                <a:latin typeface="Nunito" pitchFamily="2" charset="77"/>
              </a:rPr>
              <a:t>A variable can be of the following types:</a:t>
            </a:r>
          </a:p>
          <a:p>
            <a:pPr algn="l" fontAlgn="base">
              <a:buFont typeface="+mj-lt"/>
              <a:buAutoNum type="arabicPeriod"/>
            </a:pPr>
            <a:r>
              <a:rPr lang="en-IN" b="0" i="0" dirty="0">
                <a:solidFill>
                  <a:srgbClr val="273239"/>
                </a:solidFill>
                <a:effectLst/>
                <a:latin typeface="Nunito" pitchFamily="2" charset="77"/>
              </a:rPr>
              <a:t>Local Variable</a:t>
            </a:r>
          </a:p>
          <a:p>
            <a:pPr algn="l" fontAlgn="base">
              <a:buFont typeface="+mj-lt"/>
              <a:buAutoNum type="arabicPeriod" startAt="2"/>
            </a:pPr>
            <a:r>
              <a:rPr lang="en-IN" b="0" i="0" dirty="0">
                <a:solidFill>
                  <a:srgbClr val="273239"/>
                </a:solidFill>
                <a:effectLst/>
                <a:latin typeface="Nunito" pitchFamily="2" charset="77"/>
              </a:rPr>
              <a:t>Global Variable</a:t>
            </a:r>
          </a:p>
          <a:p>
            <a:pPr algn="l" fontAlgn="base">
              <a:buFont typeface="+mj-lt"/>
              <a:buAutoNum type="arabicPeriod" startAt="3"/>
            </a:pPr>
            <a:r>
              <a:rPr lang="en-IN" b="0" i="0" dirty="0">
                <a:solidFill>
                  <a:srgbClr val="273239"/>
                </a:solidFill>
                <a:effectLst/>
                <a:latin typeface="Nunito" pitchFamily="2" charset="77"/>
              </a:rPr>
              <a:t>Static Variable</a:t>
            </a:r>
          </a:p>
          <a:p>
            <a:pPr algn="l" fontAlgn="base">
              <a:buFont typeface="+mj-lt"/>
              <a:buAutoNum type="arabicPeriod" startAt="4"/>
            </a:pPr>
            <a:r>
              <a:rPr lang="en-IN" b="0" i="0" dirty="0">
                <a:solidFill>
                  <a:srgbClr val="273239"/>
                </a:solidFill>
                <a:effectLst/>
                <a:latin typeface="Nunito" pitchFamily="2" charset="77"/>
              </a:rPr>
              <a:t>Extern Variable</a:t>
            </a:r>
          </a:p>
          <a:p>
            <a:pPr algn="l" fontAlgn="base">
              <a:buFont typeface="+mj-lt"/>
              <a:buAutoNum type="arabicPeriod" startAt="5"/>
            </a:pPr>
            <a:r>
              <a:rPr lang="en-IN" b="0" i="0" dirty="0">
                <a:solidFill>
                  <a:srgbClr val="273239"/>
                </a:solidFill>
                <a:effectLst/>
                <a:latin typeface="Nunito" pitchFamily="2" charset="77"/>
              </a:rPr>
              <a:t>Auto Variable</a:t>
            </a:r>
          </a:p>
          <a:p>
            <a:pPr algn="l" fontAlgn="base">
              <a:buFont typeface="+mj-lt"/>
              <a:buAutoNum type="arabicPeriod" startAt="6"/>
            </a:pPr>
            <a:r>
              <a:rPr lang="en-IN" b="0" i="0" dirty="0">
                <a:solidFill>
                  <a:srgbClr val="273239"/>
                </a:solidFill>
                <a:effectLst/>
                <a:latin typeface="Nunito" pitchFamily="2" charset="77"/>
              </a:rPr>
              <a:t>Register Variable</a:t>
            </a:r>
          </a:p>
          <a:p>
            <a:pPr rtl="0" fontAlgn="base"/>
            <a:r>
              <a:rPr lang="en-IN" b="1" dirty="0">
                <a:effectLst/>
                <a:latin typeface="Nunito" pitchFamily="2" charset="77"/>
              </a:rPr>
              <a:t>Note: </a:t>
            </a:r>
            <a:r>
              <a:rPr lang="en-IN" b="0" dirty="0">
                <a:effectLst/>
                <a:latin typeface="Nunito" pitchFamily="2" charset="77"/>
              </a:rPr>
              <a:t>There are a few rules which we have to follow while naming a variable.</a:t>
            </a:r>
          </a:p>
        </p:txBody>
      </p:sp>
    </p:spTree>
    <p:extLst>
      <p:ext uri="{BB962C8B-B14F-4D97-AF65-F5344CB8AC3E}">
        <p14:creationId xmlns:p14="http://schemas.microsoft.com/office/powerpoint/2010/main" val="36451583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2AF9C-C355-B46D-F64E-051B1A7DB326}"/>
              </a:ext>
            </a:extLst>
          </p:cNvPr>
          <p:cNvSpPr>
            <a:spLocks noGrp="1"/>
          </p:cNvSpPr>
          <p:nvPr>
            <p:ph type="title"/>
          </p:nvPr>
        </p:nvSpPr>
        <p:spPr/>
        <p:txBody>
          <a:bodyPr/>
          <a:lstStyle/>
          <a:p>
            <a:r>
              <a:rPr lang="en-IN" b="1" i="0" dirty="0">
                <a:solidFill>
                  <a:srgbClr val="273239"/>
                </a:solidFill>
                <a:effectLst/>
                <a:latin typeface="Nunito" pitchFamily="2" charset="77"/>
              </a:rPr>
              <a:t>Data Types</a:t>
            </a:r>
            <a:endParaRPr lang="en-US" dirty="0"/>
          </a:p>
        </p:txBody>
      </p:sp>
      <p:sp>
        <p:nvSpPr>
          <p:cNvPr id="3" name="Content Placeholder 2">
            <a:extLst>
              <a:ext uri="{FF2B5EF4-FFF2-40B4-BE49-F238E27FC236}">
                <a16:creationId xmlns:a16="http://schemas.microsoft.com/office/drawing/2014/main" id="{D4A1CD30-577C-705F-2802-B2CD080CC9ED}"/>
              </a:ext>
            </a:extLst>
          </p:cNvPr>
          <p:cNvSpPr>
            <a:spLocks noGrp="1"/>
          </p:cNvSpPr>
          <p:nvPr>
            <p:ph idx="1"/>
          </p:nvPr>
        </p:nvSpPr>
        <p:spPr/>
        <p:txBody>
          <a:bodyPr>
            <a:normAutofit/>
          </a:bodyPr>
          <a:lstStyle/>
          <a:p>
            <a:pPr algn="l" rtl="0" fontAlgn="base"/>
            <a:r>
              <a:rPr lang="en-IN" b="0" i="0" dirty="0">
                <a:solidFill>
                  <a:srgbClr val="273239"/>
                </a:solidFill>
                <a:effectLst/>
                <a:latin typeface="Nunito" pitchFamily="2" charset="77"/>
              </a:rPr>
              <a:t>The data type is the type of data that a given variable can store. Different data types have different sizes. There are 3 types of data types in C:</a:t>
            </a:r>
          </a:p>
          <a:p>
            <a:pPr algn="l" fontAlgn="base">
              <a:buFont typeface="+mj-lt"/>
              <a:buAutoNum type="arabicPeriod"/>
            </a:pPr>
            <a:r>
              <a:rPr lang="en-IN" b="0" i="0" dirty="0">
                <a:solidFill>
                  <a:srgbClr val="273239"/>
                </a:solidFill>
                <a:effectLst/>
                <a:latin typeface="Nunito" pitchFamily="2" charset="77"/>
              </a:rPr>
              <a:t>Basic Data Types</a:t>
            </a:r>
          </a:p>
          <a:p>
            <a:pPr algn="l" fontAlgn="base">
              <a:buFont typeface="+mj-lt"/>
              <a:buAutoNum type="arabicPeriod" startAt="2"/>
            </a:pPr>
            <a:r>
              <a:rPr lang="en-IN" b="0" i="0" dirty="0">
                <a:solidFill>
                  <a:srgbClr val="273239"/>
                </a:solidFill>
                <a:effectLst/>
                <a:latin typeface="Nunito" pitchFamily="2" charset="77"/>
              </a:rPr>
              <a:t>Derived Data Types</a:t>
            </a:r>
          </a:p>
          <a:p>
            <a:pPr algn="l" fontAlgn="base">
              <a:buFont typeface="+mj-lt"/>
              <a:buAutoNum type="arabicPeriod" startAt="3"/>
            </a:pPr>
            <a:r>
              <a:rPr lang="en-IN" b="0" i="0" dirty="0">
                <a:solidFill>
                  <a:srgbClr val="273239"/>
                </a:solidFill>
                <a:effectLst/>
                <a:latin typeface="Nunito" pitchFamily="2" charset="77"/>
              </a:rPr>
              <a:t>User Defined Data Types</a:t>
            </a:r>
          </a:p>
          <a:p>
            <a:pPr algn="l" fontAlgn="base"/>
            <a:endParaRPr lang="en-IN" b="0" i="0" dirty="0">
              <a:solidFill>
                <a:srgbClr val="273239"/>
              </a:solidFill>
              <a:effectLst/>
              <a:latin typeface="Nunito" pitchFamily="2" charset="77"/>
            </a:endParaRPr>
          </a:p>
          <a:p>
            <a:endParaRPr lang="en-US" dirty="0"/>
          </a:p>
        </p:txBody>
      </p:sp>
    </p:spTree>
    <p:extLst>
      <p:ext uri="{BB962C8B-B14F-4D97-AF65-F5344CB8AC3E}">
        <p14:creationId xmlns:p14="http://schemas.microsoft.com/office/powerpoint/2010/main" val="4164624249"/>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D5683-5AFE-5E34-2625-3E65CB35A848}"/>
              </a:ext>
            </a:extLst>
          </p:cNvPr>
          <p:cNvSpPr>
            <a:spLocks noGrp="1"/>
          </p:cNvSpPr>
          <p:nvPr>
            <p:ph type="title"/>
          </p:nvPr>
        </p:nvSpPr>
        <p:spPr/>
        <p:txBody>
          <a:bodyPr/>
          <a:lstStyle/>
          <a:p>
            <a:r>
              <a:rPr lang="en-IN" b="1" i="0" dirty="0">
                <a:solidFill>
                  <a:srgbClr val="273239"/>
                </a:solidFill>
                <a:effectLst/>
                <a:latin typeface="Nunito" pitchFamily="2" charset="77"/>
              </a:rPr>
              <a:t>1. Basic Data Types</a:t>
            </a:r>
            <a:endParaRPr lang="en-US" dirty="0"/>
          </a:p>
        </p:txBody>
      </p:sp>
      <p:sp>
        <p:nvSpPr>
          <p:cNvPr id="3" name="Content Placeholder 2">
            <a:extLst>
              <a:ext uri="{FF2B5EF4-FFF2-40B4-BE49-F238E27FC236}">
                <a16:creationId xmlns:a16="http://schemas.microsoft.com/office/drawing/2014/main" id="{D29FCE89-CC4D-E704-1F09-7EF32FED60C5}"/>
              </a:ext>
            </a:extLst>
          </p:cNvPr>
          <p:cNvSpPr>
            <a:spLocks noGrp="1"/>
          </p:cNvSpPr>
          <p:nvPr>
            <p:ph idx="1"/>
          </p:nvPr>
        </p:nvSpPr>
        <p:spPr/>
        <p:txBody>
          <a:bodyPr>
            <a:normAutofit lnSpcReduction="10000"/>
          </a:bodyPr>
          <a:lstStyle/>
          <a:p>
            <a:pPr algn="l" rtl="0" fontAlgn="base"/>
            <a:r>
              <a:rPr lang="en-IN" b="0" i="0" dirty="0">
                <a:solidFill>
                  <a:srgbClr val="273239"/>
                </a:solidFill>
                <a:effectLst/>
                <a:latin typeface="Nunito" pitchFamily="2" charset="77"/>
              </a:rPr>
              <a:t>Basic data types are built-in in the C programming language and are independent of any other data type. There are x types of basic data types in C:</a:t>
            </a:r>
          </a:p>
          <a:p>
            <a:pPr algn="l" fontAlgn="base">
              <a:buFont typeface="+mj-lt"/>
              <a:buAutoNum type="arabicPeriod"/>
            </a:pPr>
            <a:r>
              <a:rPr lang="en-IN" b="1" i="0" dirty="0">
                <a:solidFill>
                  <a:srgbClr val="273239"/>
                </a:solidFill>
                <a:effectLst/>
                <a:latin typeface="Nunito" pitchFamily="2" charset="77"/>
              </a:rPr>
              <a:t>char:</a:t>
            </a:r>
            <a:r>
              <a:rPr lang="en-IN" b="0" i="0" dirty="0">
                <a:solidFill>
                  <a:srgbClr val="273239"/>
                </a:solidFill>
                <a:effectLst/>
                <a:latin typeface="Nunito" pitchFamily="2" charset="77"/>
              </a:rPr>
              <a:t> Used to represent characters.</a:t>
            </a:r>
          </a:p>
          <a:p>
            <a:pPr algn="l" fontAlgn="base">
              <a:buFont typeface="+mj-lt"/>
              <a:buAutoNum type="arabicPeriod" startAt="2"/>
            </a:pPr>
            <a:r>
              <a:rPr lang="en-IN" b="1" i="0" dirty="0">
                <a:solidFill>
                  <a:srgbClr val="273239"/>
                </a:solidFill>
                <a:effectLst/>
                <a:latin typeface="Nunito" pitchFamily="2" charset="77"/>
              </a:rPr>
              <a:t>int:</a:t>
            </a:r>
            <a:r>
              <a:rPr lang="en-IN" b="0" i="0" dirty="0">
                <a:solidFill>
                  <a:srgbClr val="273239"/>
                </a:solidFill>
                <a:effectLst/>
                <a:latin typeface="Nunito" pitchFamily="2" charset="77"/>
              </a:rPr>
              <a:t> Used to represent integral numbers.</a:t>
            </a:r>
          </a:p>
          <a:p>
            <a:pPr algn="l" fontAlgn="base">
              <a:buFont typeface="+mj-lt"/>
              <a:buAutoNum type="arabicPeriod" startAt="3"/>
            </a:pPr>
            <a:r>
              <a:rPr lang="en-IN" b="1" i="0" dirty="0">
                <a:solidFill>
                  <a:srgbClr val="273239"/>
                </a:solidFill>
                <a:effectLst/>
                <a:latin typeface="Nunito" pitchFamily="2" charset="77"/>
              </a:rPr>
              <a:t>float:</a:t>
            </a:r>
            <a:r>
              <a:rPr lang="en-IN" b="0" i="0" dirty="0">
                <a:solidFill>
                  <a:srgbClr val="273239"/>
                </a:solidFill>
                <a:effectLst/>
                <a:latin typeface="Nunito" pitchFamily="2" charset="77"/>
              </a:rPr>
              <a:t> Used to represent decimal numbers up to 6-7 precision digits.</a:t>
            </a:r>
          </a:p>
          <a:p>
            <a:pPr algn="l" fontAlgn="base">
              <a:buFont typeface="+mj-lt"/>
              <a:buAutoNum type="arabicPeriod" startAt="4"/>
            </a:pPr>
            <a:r>
              <a:rPr lang="en-IN" b="1" i="0" dirty="0">
                <a:solidFill>
                  <a:srgbClr val="273239"/>
                </a:solidFill>
                <a:effectLst/>
                <a:latin typeface="Nunito" pitchFamily="2" charset="77"/>
              </a:rPr>
              <a:t>double:</a:t>
            </a:r>
            <a:r>
              <a:rPr lang="en-IN" b="0" i="0" dirty="0">
                <a:solidFill>
                  <a:srgbClr val="273239"/>
                </a:solidFill>
                <a:effectLst/>
                <a:latin typeface="Nunito" pitchFamily="2" charset="77"/>
              </a:rPr>
              <a:t> Used to represent decimal numbers up to 15 precision digits.</a:t>
            </a:r>
          </a:p>
          <a:p>
            <a:pPr algn="l" fontAlgn="base">
              <a:buFont typeface="+mj-lt"/>
              <a:buAutoNum type="arabicPeriod" startAt="5"/>
            </a:pPr>
            <a:r>
              <a:rPr lang="en-IN" b="1" i="0" dirty="0">
                <a:solidFill>
                  <a:srgbClr val="273239"/>
                </a:solidFill>
                <a:effectLst/>
                <a:latin typeface="Nunito" pitchFamily="2" charset="77"/>
              </a:rPr>
              <a:t>void:</a:t>
            </a:r>
            <a:r>
              <a:rPr lang="en-IN" b="0" i="0" dirty="0">
                <a:solidFill>
                  <a:srgbClr val="273239"/>
                </a:solidFill>
                <a:effectLst/>
                <a:latin typeface="Nunito" pitchFamily="2" charset="77"/>
              </a:rPr>
              <a:t> Used to represent the valueless entity.</a:t>
            </a:r>
            <a:endParaRPr lang="en-US" dirty="0"/>
          </a:p>
        </p:txBody>
      </p:sp>
    </p:spTree>
    <p:extLst>
      <p:ext uri="{BB962C8B-B14F-4D97-AF65-F5344CB8AC3E}">
        <p14:creationId xmlns:p14="http://schemas.microsoft.com/office/powerpoint/2010/main" val="80535964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5B158-AEF9-2852-DDC4-F0AB7AF955E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2B06586-3EEC-FD6E-CE5E-F8A26C7E21F2}"/>
              </a:ext>
            </a:extLst>
          </p:cNvPr>
          <p:cNvSpPr>
            <a:spLocks noGrp="1"/>
          </p:cNvSpPr>
          <p:nvPr>
            <p:ph idx="1"/>
          </p:nvPr>
        </p:nvSpPr>
        <p:spPr>
          <a:xfrm>
            <a:off x="838200" y="365125"/>
            <a:ext cx="10515600" cy="5811838"/>
          </a:xfrm>
        </p:spPr>
        <p:txBody>
          <a:bodyPr>
            <a:normAutofit fontScale="70000" lnSpcReduction="20000"/>
          </a:bodyPr>
          <a:lstStyle/>
          <a:p>
            <a:pPr algn="l" fontAlgn="base"/>
            <a:r>
              <a:rPr lang="en-IN" b="1" i="0" dirty="0">
                <a:solidFill>
                  <a:srgbClr val="273239"/>
                </a:solidFill>
                <a:effectLst/>
                <a:latin typeface="Nunito" pitchFamily="2" charset="77"/>
              </a:rPr>
              <a:t>Example of Basic Data Types</a:t>
            </a:r>
          </a:p>
          <a:p>
            <a:r>
              <a:rPr lang="en-IN" dirty="0">
                <a:effectLst/>
                <a:latin typeface="Consolas" panose="020B0609020204030204" pitchFamily="49" charset="0"/>
              </a:rPr>
              <a:t>char c = 'a’; </a:t>
            </a:r>
          </a:p>
          <a:p>
            <a:r>
              <a:rPr lang="en-IN" dirty="0">
                <a:effectLst/>
                <a:latin typeface="Consolas" panose="020B0609020204030204" pitchFamily="49" charset="0"/>
              </a:rPr>
              <a:t>int integer = 24; </a:t>
            </a:r>
          </a:p>
          <a:p>
            <a:r>
              <a:rPr lang="en-IN" dirty="0">
                <a:effectLst/>
                <a:latin typeface="Consolas" panose="020B0609020204030204" pitchFamily="49" charset="0"/>
              </a:rPr>
              <a:t>float f = 24.32; </a:t>
            </a:r>
          </a:p>
          <a:p>
            <a:r>
              <a:rPr lang="en-IN" dirty="0">
                <a:effectLst/>
                <a:latin typeface="Consolas" panose="020B0609020204030204" pitchFamily="49" charset="0"/>
              </a:rPr>
              <a:t>double d = 24.3435; </a:t>
            </a:r>
          </a:p>
          <a:p>
            <a:r>
              <a:rPr lang="en-IN" dirty="0">
                <a:effectLst/>
                <a:latin typeface="Consolas" panose="020B0609020204030204" pitchFamily="49" charset="0"/>
              </a:rPr>
              <a:t>void v;</a:t>
            </a:r>
          </a:p>
          <a:p>
            <a:pPr algn="l" rtl="0" fontAlgn="base"/>
            <a:endParaRPr lang="en-IN" b="0" i="0" dirty="0">
              <a:solidFill>
                <a:srgbClr val="273239"/>
              </a:solidFill>
              <a:effectLst/>
              <a:latin typeface="Nunito" pitchFamily="2" charset="77"/>
            </a:endParaRPr>
          </a:p>
          <a:p>
            <a:pPr algn="l" rtl="0" fontAlgn="base"/>
            <a:r>
              <a:rPr lang="en-IN" b="0" i="0" dirty="0">
                <a:solidFill>
                  <a:srgbClr val="273239"/>
                </a:solidFill>
                <a:effectLst/>
                <a:latin typeface="Nunito" pitchFamily="2" charset="77"/>
              </a:rPr>
              <a:t>The size of these basic data types can be modified using </a:t>
            </a:r>
            <a:r>
              <a:rPr lang="en-IN" b="1" i="0" dirty="0">
                <a:solidFill>
                  <a:srgbClr val="273239"/>
                </a:solidFill>
                <a:effectLst/>
                <a:latin typeface="Nunito" pitchFamily="2" charset="77"/>
              </a:rPr>
              <a:t>data type modifiers</a:t>
            </a:r>
            <a:r>
              <a:rPr lang="en-IN" b="0" i="0" dirty="0">
                <a:solidFill>
                  <a:srgbClr val="273239"/>
                </a:solidFill>
                <a:effectLst/>
                <a:latin typeface="Nunito" pitchFamily="2" charset="77"/>
              </a:rPr>
              <a:t> which are:</a:t>
            </a:r>
          </a:p>
          <a:p>
            <a:pPr algn="l" fontAlgn="base">
              <a:buFont typeface="+mj-lt"/>
              <a:buAutoNum type="arabicPeriod"/>
            </a:pPr>
            <a:r>
              <a:rPr lang="en-IN" b="0" i="0" dirty="0">
                <a:solidFill>
                  <a:srgbClr val="273239"/>
                </a:solidFill>
                <a:effectLst/>
                <a:latin typeface="Nunito" pitchFamily="2" charset="77"/>
              </a:rPr>
              <a:t>short</a:t>
            </a:r>
          </a:p>
          <a:p>
            <a:pPr algn="l" fontAlgn="base">
              <a:buFont typeface="+mj-lt"/>
              <a:buAutoNum type="arabicPeriod" startAt="2"/>
            </a:pPr>
            <a:r>
              <a:rPr lang="en-IN" b="0" i="0" dirty="0">
                <a:solidFill>
                  <a:srgbClr val="273239"/>
                </a:solidFill>
                <a:effectLst/>
                <a:latin typeface="Nunito" pitchFamily="2" charset="77"/>
              </a:rPr>
              <a:t>long</a:t>
            </a:r>
          </a:p>
          <a:p>
            <a:pPr algn="l" fontAlgn="base">
              <a:buFont typeface="+mj-lt"/>
              <a:buAutoNum type="arabicPeriod" startAt="3"/>
            </a:pPr>
            <a:r>
              <a:rPr lang="en-IN" b="0" i="0" dirty="0">
                <a:solidFill>
                  <a:srgbClr val="273239"/>
                </a:solidFill>
                <a:effectLst/>
                <a:latin typeface="Nunito" pitchFamily="2" charset="77"/>
              </a:rPr>
              <a:t>signed</a:t>
            </a:r>
          </a:p>
          <a:p>
            <a:pPr algn="l" fontAlgn="base">
              <a:buFont typeface="+mj-lt"/>
              <a:buAutoNum type="arabicPeriod" startAt="4"/>
            </a:pPr>
            <a:r>
              <a:rPr lang="en-IN" b="0" i="0" dirty="0">
                <a:solidFill>
                  <a:srgbClr val="273239"/>
                </a:solidFill>
                <a:effectLst/>
                <a:latin typeface="Nunito" pitchFamily="2" charset="77"/>
              </a:rPr>
              <a:t>Unsigned</a:t>
            </a:r>
          </a:p>
          <a:p>
            <a:pPr algn="l" fontAlgn="base">
              <a:buFont typeface="+mj-lt"/>
              <a:buAutoNum type="arabicPeriod" startAt="4"/>
            </a:pPr>
            <a:endParaRPr lang="en-IN" dirty="0">
              <a:solidFill>
                <a:srgbClr val="273239"/>
              </a:solidFill>
              <a:latin typeface="Nunito" pitchFamily="2" charset="77"/>
            </a:endParaRPr>
          </a:p>
          <a:p>
            <a:pPr algn="l" rtl="0" fontAlgn="base"/>
            <a:r>
              <a:rPr lang="en-IN" b="1" i="0" dirty="0">
                <a:solidFill>
                  <a:srgbClr val="273239"/>
                </a:solidFill>
                <a:effectLst/>
                <a:latin typeface="Nunito" pitchFamily="2" charset="77"/>
              </a:rPr>
              <a:t>Example of Data Type Modifiers</a:t>
            </a:r>
            <a:endParaRPr lang="en-IN" b="0" i="0" dirty="0">
              <a:solidFill>
                <a:srgbClr val="273239"/>
              </a:solidFill>
              <a:effectLst/>
              <a:latin typeface="Nunito" pitchFamily="2" charset="77"/>
            </a:endParaRPr>
          </a:p>
          <a:p>
            <a:r>
              <a:rPr lang="en-IN" dirty="0">
                <a:effectLst/>
                <a:latin typeface="Consolas" panose="020B0609020204030204" pitchFamily="49" charset="0"/>
              </a:rPr>
              <a:t>unsigned int var1; </a:t>
            </a:r>
          </a:p>
          <a:p>
            <a:r>
              <a:rPr lang="en-IN" dirty="0">
                <a:effectLst/>
                <a:latin typeface="Consolas" panose="020B0609020204030204" pitchFamily="49" charset="0"/>
              </a:rPr>
              <a:t>long double var2; </a:t>
            </a:r>
          </a:p>
          <a:p>
            <a:r>
              <a:rPr lang="en-IN" dirty="0">
                <a:effectLst/>
                <a:latin typeface="Consolas" panose="020B0609020204030204" pitchFamily="49" charset="0"/>
              </a:rPr>
              <a:t>long int var3;</a:t>
            </a:r>
            <a:endParaRPr lang="en-IN" b="0" i="0" dirty="0">
              <a:solidFill>
                <a:srgbClr val="273239"/>
              </a:solidFill>
              <a:effectLst/>
              <a:latin typeface="Nunito" pitchFamily="2" charset="77"/>
            </a:endParaRPr>
          </a:p>
          <a:p>
            <a:endParaRPr lang="en-US" dirty="0"/>
          </a:p>
        </p:txBody>
      </p:sp>
    </p:spTree>
    <p:extLst>
      <p:ext uri="{BB962C8B-B14F-4D97-AF65-F5344CB8AC3E}">
        <p14:creationId xmlns:p14="http://schemas.microsoft.com/office/powerpoint/2010/main" val="383579010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7BED0-8FC9-57DB-8969-F5BFFDFAFCE5}"/>
              </a:ext>
            </a:extLst>
          </p:cNvPr>
          <p:cNvSpPr>
            <a:spLocks noGrp="1"/>
          </p:cNvSpPr>
          <p:nvPr>
            <p:ph type="title"/>
          </p:nvPr>
        </p:nvSpPr>
        <p:spPr/>
        <p:txBody>
          <a:bodyPr/>
          <a:lstStyle/>
          <a:p>
            <a:r>
              <a:rPr lang="en-IN" b="1" i="0" dirty="0">
                <a:solidFill>
                  <a:srgbClr val="273239"/>
                </a:solidFill>
                <a:effectLst/>
                <a:latin typeface="Nunito" pitchFamily="2" charset="77"/>
              </a:rPr>
              <a:t>2. Derived Data Types</a:t>
            </a:r>
            <a:endParaRPr lang="en-US" dirty="0"/>
          </a:p>
        </p:txBody>
      </p:sp>
      <p:sp>
        <p:nvSpPr>
          <p:cNvPr id="3" name="Content Placeholder 2">
            <a:extLst>
              <a:ext uri="{FF2B5EF4-FFF2-40B4-BE49-F238E27FC236}">
                <a16:creationId xmlns:a16="http://schemas.microsoft.com/office/drawing/2014/main" id="{A525036B-0F2A-697E-263F-8BDFDD53F078}"/>
              </a:ext>
            </a:extLst>
          </p:cNvPr>
          <p:cNvSpPr>
            <a:spLocks noGrp="1"/>
          </p:cNvSpPr>
          <p:nvPr>
            <p:ph idx="1"/>
          </p:nvPr>
        </p:nvSpPr>
        <p:spPr/>
        <p:txBody>
          <a:bodyPr/>
          <a:lstStyle/>
          <a:p>
            <a:pPr algn="l" rtl="0" fontAlgn="base"/>
            <a:r>
              <a:rPr lang="en-IN" b="0" i="0" dirty="0">
                <a:solidFill>
                  <a:srgbClr val="273239"/>
                </a:solidFill>
                <a:effectLst/>
                <a:latin typeface="Nunito" pitchFamily="2" charset="77"/>
              </a:rPr>
              <a:t>Derived data types are derived from the basic data types. There are 2 derived data types in C:</a:t>
            </a:r>
          </a:p>
          <a:p>
            <a:pPr algn="l" fontAlgn="base">
              <a:buFont typeface="+mj-lt"/>
              <a:buAutoNum type="arabicPeriod"/>
            </a:pPr>
            <a:r>
              <a:rPr lang="en-IN" b="0" i="0" dirty="0">
                <a:solidFill>
                  <a:srgbClr val="273239"/>
                </a:solidFill>
                <a:effectLst/>
                <a:latin typeface="Nunito" pitchFamily="2" charset="77"/>
              </a:rPr>
              <a:t>Arrays</a:t>
            </a:r>
          </a:p>
          <a:p>
            <a:pPr algn="l" fontAlgn="base">
              <a:buFont typeface="+mj-lt"/>
              <a:buAutoNum type="arabicPeriod" startAt="2"/>
            </a:pPr>
            <a:r>
              <a:rPr lang="en-IN" b="0" i="0" dirty="0">
                <a:solidFill>
                  <a:srgbClr val="273239"/>
                </a:solidFill>
                <a:effectLst/>
                <a:latin typeface="Nunito" pitchFamily="2" charset="77"/>
              </a:rPr>
              <a:t>Pointers</a:t>
            </a:r>
          </a:p>
          <a:p>
            <a:endParaRPr lang="en-US" dirty="0"/>
          </a:p>
        </p:txBody>
      </p:sp>
    </p:spTree>
    <p:extLst>
      <p:ext uri="{BB962C8B-B14F-4D97-AF65-F5344CB8AC3E}">
        <p14:creationId xmlns:p14="http://schemas.microsoft.com/office/powerpoint/2010/main" val="423899532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5CD22-849D-AC0B-EEC2-37C77559E3B3}"/>
              </a:ext>
            </a:extLst>
          </p:cNvPr>
          <p:cNvSpPr>
            <a:spLocks noGrp="1"/>
          </p:cNvSpPr>
          <p:nvPr>
            <p:ph type="title"/>
          </p:nvPr>
        </p:nvSpPr>
        <p:spPr/>
        <p:txBody>
          <a:bodyPr/>
          <a:lstStyle/>
          <a:p>
            <a:r>
              <a:rPr lang="en-IN" b="1" i="0" dirty="0">
                <a:solidFill>
                  <a:srgbClr val="273239"/>
                </a:solidFill>
                <a:effectLst/>
                <a:latin typeface="Nunito" pitchFamily="2" charset="77"/>
              </a:rPr>
              <a:t>3. User-Defined Data Types</a:t>
            </a:r>
            <a:endParaRPr lang="en-US" dirty="0"/>
          </a:p>
        </p:txBody>
      </p:sp>
      <p:sp>
        <p:nvSpPr>
          <p:cNvPr id="3" name="Content Placeholder 2">
            <a:extLst>
              <a:ext uri="{FF2B5EF4-FFF2-40B4-BE49-F238E27FC236}">
                <a16:creationId xmlns:a16="http://schemas.microsoft.com/office/drawing/2014/main" id="{ECC420D9-A290-4B66-9233-48F877710FDA}"/>
              </a:ext>
            </a:extLst>
          </p:cNvPr>
          <p:cNvSpPr>
            <a:spLocks noGrp="1"/>
          </p:cNvSpPr>
          <p:nvPr>
            <p:ph idx="1"/>
          </p:nvPr>
        </p:nvSpPr>
        <p:spPr/>
        <p:txBody>
          <a:bodyPr/>
          <a:lstStyle/>
          <a:p>
            <a:pPr algn="l" rtl="0" fontAlgn="base"/>
            <a:r>
              <a:rPr lang="en-IN" b="0" i="0" dirty="0">
                <a:solidFill>
                  <a:srgbClr val="273239"/>
                </a:solidFill>
                <a:effectLst/>
                <a:latin typeface="Nunito" pitchFamily="2" charset="77"/>
              </a:rPr>
              <a:t>The user-defined data types are the data types that are defined by the programmers in their code.  There are 3 user-defined data types in C:</a:t>
            </a:r>
          </a:p>
          <a:p>
            <a:pPr algn="l" fontAlgn="base">
              <a:buFont typeface="+mj-lt"/>
              <a:buAutoNum type="arabicPeriod"/>
            </a:pPr>
            <a:r>
              <a:rPr lang="en-IN" b="0" i="0" dirty="0">
                <a:solidFill>
                  <a:srgbClr val="273239"/>
                </a:solidFill>
                <a:effectLst/>
                <a:latin typeface="Nunito" pitchFamily="2" charset="77"/>
              </a:rPr>
              <a:t>Structure</a:t>
            </a:r>
          </a:p>
          <a:p>
            <a:pPr algn="l" fontAlgn="base">
              <a:buFont typeface="+mj-lt"/>
              <a:buAutoNum type="arabicPeriod" startAt="2"/>
            </a:pPr>
            <a:r>
              <a:rPr lang="en-IN" b="0" i="0" dirty="0">
                <a:solidFill>
                  <a:srgbClr val="273239"/>
                </a:solidFill>
                <a:effectLst/>
                <a:latin typeface="Nunito" pitchFamily="2" charset="77"/>
              </a:rPr>
              <a:t>Union</a:t>
            </a:r>
          </a:p>
          <a:p>
            <a:pPr algn="l" fontAlgn="base">
              <a:buFont typeface="+mj-lt"/>
              <a:buAutoNum type="arabicPeriod" startAt="3"/>
            </a:pPr>
            <a:r>
              <a:rPr lang="en-IN" b="0" i="0" dirty="0">
                <a:solidFill>
                  <a:srgbClr val="273239"/>
                </a:solidFill>
                <a:effectLst/>
                <a:latin typeface="Nunito" pitchFamily="2" charset="77"/>
              </a:rPr>
              <a:t>Enumeration</a:t>
            </a:r>
          </a:p>
        </p:txBody>
      </p:sp>
    </p:spTree>
    <p:extLst>
      <p:ext uri="{BB962C8B-B14F-4D97-AF65-F5344CB8AC3E}">
        <p14:creationId xmlns:p14="http://schemas.microsoft.com/office/powerpoint/2010/main" val="403316957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B4A2F-6B60-0BF1-B4D0-7B054FDA41D6}"/>
              </a:ext>
            </a:extLst>
          </p:cNvPr>
          <p:cNvSpPr>
            <a:spLocks noGrp="1"/>
          </p:cNvSpPr>
          <p:nvPr>
            <p:ph type="title"/>
          </p:nvPr>
        </p:nvSpPr>
        <p:spPr/>
        <p:txBody>
          <a:bodyPr/>
          <a:lstStyle/>
          <a:p>
            <a:r>
              <a:rPr lang="en-IN" b="1" i="0" dirty="0">
                <a:solidFill>
                  <a:srgbClr val="273239"/>
                </a:solidFill>
                <a:effectLst/>
                <a:latin typeface="Nunito" pitchFamily="2" charset="77"/>
              </a:rPr>
              <a:t>Identifiers</a:t>
            </a:r>
            <a:endParaRPr lang="en-US" dirty="0"/>
          </a:p>
        </p:txBody>
      </p:sp>
      <p:sp>
        <p:nvSpPr>
          <p:cNvPr id="3" name="Content Placeholder 2">
            <a:extLst>
              <a:ext uri="{FF2B5EF4-FFF2-40B4-BE49-F238E27FC236}">
                <a16:creationId xmlns:a16="http://schemas.microsoft.com/office/drawing/2014/main" id="{C4CDCBE0-3E31-4313-5D82-BBEDB38584AA}"/>
              </a:ext>
            </a:extLst>
          </p:cNvPr>
          <p:cNvSpPr>
            <a:spLocks noGrp="1"/>
          </p:cNvSpPr>
          <p:nvPr>
            <p:ph idx="1"/>
          </p:nvPr>
        </p:nvSpPr>
        <p:spPr/>
        <p:txBody>
          <a:bodyPr>
            <a:normAutofit fontScale="92500" lnSpcReduction="10000"/>
          </a:bodyPr>
          <a:lstStyle/>
          <a:p>
            <a:pPr algn="l" rtl="0" fontAlgn="base"/>
            <a:r>
              <a:rPr lang="en-IN" b="0" i="0" dirty="0">
                <a:solidFill>
                  <a:srgbClr val="273239"/>
                </a:solidFill>
                <a:effectLst/>
                <a:latin typeface="Nunito" pitchFamily="2" charset="77"/>
              </a:rPr>
              <a:t>Identifiers is the name given to the variables, functions, structure, etc. Identifiers should follow the following set of rules:</a:t>
            </a:r>
          </a:p>
          <a:p>
            <a:pPr algn="l" fontAlgn="base">
              <a:buFont typeface="+mj-lt"/>
              <a:buAutoNum type="arabicPeriod"/>
            </a:pPr>
            <a:r>
              <a:rPr lang="en-IN" b="0" i="0" dirty="0">
                <a:solidFill>
                  <a:srgbClr val="273239"/>
                </a:solidFill>
                <a:effectLst/>
                <a:latin typeface="Nunito" pitchFamily="2" charset="77"/>
              </a:rPr>
              <a:t>A variable name must only contain alphabets, digits, and underscore.</a:t>
            </a:r>
          </a:p>
          <a:p>
            <a:pPr algn="l" fontAlgn="base">
              <a:buFont typeface="+mj-lt"/>
              <a:buAutoNum type="arabicPeriod" startAt="2"/>
            </a:pPr>
            <a:r>
              <a:rPr lang="en-IN" b="0" i="0" dirty="0">
                <a:solidFill>
                  <a:srgbClr val="273239"/>
                </a:solidFill>
                <a:effectLst/>
                <a:latin typeface="Nunito" pitchFamily="2" charset="77"/>
              </a:rPr>
              <a:t>A variable name must start with an alphabet or an underscore only. It cannot start with a digit.</a:t>
            </a:r>
          </a:p>
          <a:p>
            <a:pPr algn="l" fontAlgn="base">
              <a:buFont typeface="+mj-lt"/>
              <a:buAutoNum type="arabicPeriod" startAt="3"/>
            </a:pPr>
            <a:r>
              <a:rPr lang="en-IN" b="0" i="0" dirty="0">
                <a:solidFill>
                  <a:srgbClr val="273239"/>
                </a:solidFill>
                <a:effectLst/>
                <a:latin typeface="Nunito" pitchFamily="2" charset="77"/>
              </a:rPr>
              <a:t>No whitespace is allowed within the variable name.</a:t>
            </a:r>
          </a:p>
          <a:p>
            <a:pPr algn="l" fontAlgn="base">
              <a:buFont typeface="+mj-lt"/>
              <a:buAutoNum type="arabicPeriod" startAt="4"/>
            </a:pPr>
            <a:r>
              <a:rPr lang="en-IN" b="0" i="0" dirty="0">
                <a:solidFill>
                  <a:srgbClr val="273239"/>
                </a:solidFill>
                <a:effectLst/>
                <a:latin typeface="Nunito" pitchFamily="2" charset="77"/>
              </a:rPr>
              <a:t>A variable name must not be any reserved word or keyword.</a:t>
            </a:r>
          </a:p>
          <a:p>
            <a:pPr algn="l" fontAlgn="base"/>
            <a:r>
              <a:rPr lang="en-IN" b="1" i="0" dirty="0">
                <a:solidFill>
                  <a:srgbClr val="273239"/>
                </a:solidFill>
                <a:effectLst/>
                <a:latin typeface="Nunito" pitchFamily="2" charset="77"/>
              </a:rPr>
              <a:t>Example of Identifiers</a:t>
            </a:r>
          </a:p>
          <a:p>
            <a:r>
              <a:rPr lang="en-IN" dirty="0">
                <a:effectLst/>
                <a:latin typeface="Consolas" panose="020B0609020204030204" pitchFamily="49" charset="0"/>
              </a:rPr>
              <a:t>var, </a:t>
            </a:r>
            <a:r>
              <a:rPr lang="en-IN" dirty="0" err="1">
                <a:effectLst/>
                <a:latin typeface="Consolas" panose="020B0609020204030204" pitchFamily="49" charset="0"/>
              </a:rPr>
              <a:t>any_other_name</a:t>
            </a:r>
            <a:r>
              <a:rPr lang="en-IN" dirty="0">
                <a:effectLst/>
                <a:latin typeface="Consolas" panose="020B0609020204030204" pitchFamily="49" charset="0"/>
              </a:rPr>
              <a:t>, __</a:t>
            </a:r>
            <a:r>
              <a:rPr lang="en-IN" dirty="0" err="1">
                <a:effectLst/>
                <a:latin typeface="Consolas" panose="020B0609020204030204" pitchFamily="49" charset="0"/>
              </a:rPr>
              <a:t>this_var</a:t>
            </a:r>
            <a:r>
              <a:rPr lang="en-IN" dirty="0">
                <a:effectLst/>
                <a:latin typeface="Consolas" panose="020B0609020204030204" pitchFamily="49" charset="0"/>
              </a:rPr>
              <a:t>, var22;</a:t>
            </a:r>
            <a:endParaRPr lang="en-US" dirty="0"/>
          </a:p>
        </p:txBody>
      </p:sp>
    </p:spTree>
    <p:extLst>
      <p:ext uri="{BB962C8B-B14F-4D97-AF65-F5344CB8AC3E}">
        <p14:creationId xmlns:p14="http://schemas.microsoft.com/office/powerpoint/2010/main" val="197326929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F11D1-FA43-3A13-A642-5A51BF783200}"/>
              </a:ext>
            </a:extLst>
          </p:cNvPr>
          <p:cNvSpPr>
            <a:spLocks noGrp="1"/>
          </p:cNvSpPr>
          <p:nvPr>
            <p:ph type="title"/>
          </p:nvPr>
        </p:nvSpPr>
        <p:spPr/>
        <p:txBody>
          <a:bodyPr/>
          <a:lstStyle/>
          <a:p>
            <a:r>
              <a:rPr lang="en-IN" b="1" i="0" dirty="0">
                <a:solidFill>
                  <a:srgbClr val="273239"/>
                </a:solidFill>
                <a:effectLst/>
                <a:latin typeface="Nunito" pitchFamily="2" charset="77"/>
              </a:rPr>
              <a:t>Keywords</a:t>
            </a:r>
            <a:endParaRPr lang="en-US" dirty="0"/>
          </a:p>
        </p:txBody>
      </p:sp>
      <p:sp>
        <p:nvSpPr>
          <p:cNvPr id="3" name="Content Placeholder 2">
            <a:extLst>
              <a:ext uri="{FF2B5EF4-FFF2-40B4-BE49-F238E27FC236}">
                <a16:creationId xmlns:a16="http://schemas.microsoft.com/office/drawing/2014/main" id="{8B623654-F793-0B3F-F9F5-C602392621C4}"/>
              </a:ext>
            </a:extLst>
          </p:cNvPr>
          <p:cNvSpPr>
            <a:spLocks noGrp="1"/>
          </p:cNvSpPr>
          <p:nvPr>
            <p:ph idx="1"/>
          </p:nvPr>
        </p:nvSpPr>
        <p:spPr/>
        <p:txBody>
          <a:bodyPr/>
          <a:lstStyle/>
          <a:p>
            <a:pPr algn="l" rtl="0" fontAlgn="base"/>
            <a:r>
              <a:rPr lang="en-IN" b="0" i="0" dirty="0">
                <a:solidFill>
                  <a:srgbClr val="273239"/>
                </a:solidFill>
                <a:effectLst/>
                <a:latin typeface="Nunito" pitchFamily="2" charset="77"/>
              </a:rPr>
              <a:t>Keywords are the reserved words that have predefined meanings in the C compiler. They cannot be used as identifiers.</a:t>
            </a:r>
          </a:p>
          <a:p>
            <a:pPr algn="l" fontAlgn="base"/>
            <a:r>
              <a:rPr lang="en-IN" b="1" i="0" dirty="0">
                <a:solidFill>
                  <a:srgbClr val="273239"/>
                </a:solidFill>
                <a:effectLst/>
                <a:latin typeface="Nunito" pitchFamily="2" charset="77"/>
              </a:rPr>
              <a:t>Example of Keywords</a:t>
            </a:r>
          </a:p>
          <a:p>
            <a:r>
              <a:rPr lang="en-IN" dirty="0">
                <a:effectLst/>
                <a:latin typeface="Consolas" panose="020B0609020204030204" pitchFamily="49" charset="0"/>
              </a:rPr>
              <a:t>auto, float, int, return, switch</a:t>
            </a:r>
            <a:endParaRPr lang="en-US" dirty="0"/>
          </a:p>
        </p:txBody>
      </p:sp>
    </p:spTree>
    <p:extLst>
      <p:ext uri="{BB962C8B-B14F-4D97-AF65-F5344CB8AC3E}">
        <p14:creationId xmlns:p14="http://schemas.microsoft.com/office/powerpoint/2010/main" val="38812574"/>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B6A81-74BF-5729-0567-1546FD3D590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E58BEB7-4CA4-CF0C-271B-9E70FB746DDA}"/>
              </a:ext>
            </a:extLst>
          </p:cNvPr>
          <p:cNvSpPr>
            <a:spLocks noGrp="1"/>
          </p:cNvSpPr>
          <p:nvPr>
            <p:ph idx="1"/>
          </p:nvPr>
        </p:nvSpPr>
        <p:spPr/>
        <p:txBody>
          <a:bodyPr/>
          <a:lstStyle/>
          <a:p>
            <a:endParaRPr lang="en-US"/>
          </a:p>
        </p:txBody>
      </p:sp>
      <p:pic>
        <p:nvPicPr>
          <p:cNvPr id="1026" name="Picture 2" descr="TUTORIALTPOINT- Java Tutorial ...">
            <a:extLst>
              <a:ext uri="{FF2B5EF4-FFF2-40B4-BE49-F238E27FC236}">
                <a16:creationId xmlns:a16="http://schemas.microsoft.com/office/drawing/2014/main" id="{7D69B685-4B08-E89E-BDDF-B0A003946A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169" y="557213"/>
            <a:ext cx="11363921" cy="5772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0367767"/>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DD5E8-2327-8458-F383-6FBC6BFD4B08}"/>
              </a:ext>
            </a:extLst>
          </p:cNvPr>
          <p:cNvSpPr>
            <a:spLocks noGrp="1"/>
          </p:cNvSpPr>
          <p:nvPr>
            <p:ph type="title"/>
          </p:nvPr>
        </p:nvSpPr>
        <p:spPr/>
        <p:txBody>
          <a:bodyPr/>
          <a:lstStyle/>
          <a:p>
            <a:r>
              <a:rPr lang="en-IN" b="1" i="0" dirty="0">
                <a:solidFill>
                  <a:srgbClr val="273239"/>
                </a:solidFill>
                <a:effectLst/>
                <a:latin typeface="Nunito" pitchFamily="2" charset="77"/>
              </a:rPr>
              <a:t>Basic Input and Output</a:t>
            </a:r>
            <a:endParaRPr lang="en-US" dirty="0"/>
          </a:p>
        </p:txBody>
      </p:sp>
      <p:sp>
        <p:nvSpPr>
          <p:cNvPr id="3" name="Content Placeholder 2">
            <a:extLst>
              <a:ext uri="{FF2B5EF4-FFF2-40B4-BE49-F238E27FC236}">
                <a16:creationId xmlns:a16="http://schemas.microsoft.com/office/drawing/2014/main" id="{6C418205-5820-B500-F0C1-C21AB23EF98F}"/>
              </a:ext>
            </a:extLst>
          </p:cNvPr>
          <p:cNvSpPr>
            <a:spLocks noGrp="1"/>
          </p:cNvSpPr>
          <p:nvPr>
            <p:ph idx="1"/>
          </p:nvPr>
        </p:nvSpPr>
        <p:spPr/>
        <p:txBody>
          <a:bodyPr>
            <a:normAutofit fontScale="77500" lnSpcReduction="20000"/>
          </a:bodyPr>
          <a:lstStyle/>
          <a:p>
            <a:pPr algn="l" rtl="0" fontAlgn="base"/>
            <a:r>
              <a:rPr lang="en-IN" b="0" i="0" dirty="0">
                <a:solidFill>
                  <a:srgbClr val="273239"/>
                </a:solidFill>
                <a:effectLst/>
                <a:latin typeface="Nunito" pitchFamily="2" charset="77"/>
              </a:rPr>
              <a:t>The basic input and output in C are done using two &lt;</a:t>
            </a:r>
            <a:r>
              <a:rPr lang="en-IN" b="0" i="0" dirty="0" err="1">
                <a:solidFill>
                  <a:srgbClr val="273239"/>
                </a:solidFill>
                <a:effectLst/>
                <a:latin typeface="Nunito" pitchFamily="2" charset="77"/>
              </a:rPr>
              <a:t>stdio.h</a:t>
            </a:r>
            <a:r>
              <a:rPr lang="en-IN" b="0" i="0" dirty="0">
                <a:solidFill>
                  <a:srgbClr val="273239"/>
                </a:solidFill>
                <a:effectLst/>
                <a:latin typeface="Nunito" pitchFamily="2" charset="77"/>
              </a:rPr>
              <a:t>&gt; functions namely </a:t>
            </a:r>
            <a:r>
              <a:rPr lang="en-IN" b="0" i="0" dirty="0" err="1">
                <a:solidFill>
                  <a:srgbClr val="273239"/>
                </a:solidFill>
                <a:effectLst/>
                <a:latin typeface="Nunito" pitchFamily="2" charset="77"/>
              </a:rPr>
              <a:t>scanf</a:t>
            </a:r>
            <a:r>
              <a:rPr lang="en-IN" b="0" i="0" dirty="0">
                <a:solidFill>
                  <a:srgbClr val="273239"/>
                </a:solidFill>
                <a:effectLst/>
                <a:latin typeface="Nunito" pitchFamily="2" charset="77"/>
              </a:rPr>
              <a:t>() and print() respectively.</a:t>
            </a:r>
          </a:p>
          <a:p>
            <a:pPr algn="l" fontAlgn="base"/>
            <a:r>
              <a:rPr lang="en-IN" b="1" i="0" dirty="0">
                <a:solidFill>
                  <a:srgbClr val="273239"/>
                </a:solidFill>
                <a:effectLst/>
                <a:latin typeface="Nunito" pitchFamily="2" charset="77"/>
              </a:rPr>
              <a:t>Basic Output - print()</a:t>
            </a:r>
          </a:p>
          <a:p>
            <a:pPr algn="l" rtl="0" fontAlgn="base"/>
            <a:r>
              <a:rPr lang="en-IN" b="0" i="0" dirty="0">
                <a:solidFill>
                  <a:srgbClr val="273239"/>
                </a:solidFill>
                <a:effectLst/>
                <a:latin typeface="Nunito" pitchFamily="2" charset="77"/>
              </a:rPr>
              <a:t>The </a:t>
            </a:r>
            <a:r>
              <a:rPr lang="en-IN" b="0" i="0" dirty="0" err="1">
                <a:solidFill>
                  <a:srgbClr val="273239"/>
                </a:solidFill>
                <a:effectLst/>
                <a:latin typeface="Nunito" pitchFamily="2" charset="77"/>
              </a:rPr>
              <a:t>printf</a:t>
            </a:r>
            <a:r>
              <a:rPr lang="en-IN" b="0" i="0" dirty="0">
                <a:solidFill>
                  <a:srgbClr val="273239"/>
                </a:solidFill>
                <a:effectLst/>
                <a:latin typeface="Nunito" pitchFamily="2" charset="77"/>
              </a:rPr>
              <a:t>() function is used to print the output on the standard output device which is generally the display screen.</a:t>
            </a:r>
          </a:p>
          <a:p>
            <a:pPr algn="l" rtl="0" fontAlgn="base"/>
            <a:endParaRPr lang="en-IN" b="1" i="0" dirty="0">
              <a:solidFill>
                <a:srgbClr val="273239"/>
              </a:solidFill>
              <a:effectLst/>
              <a:latin typeface="Nunito" pitchFamily="2" charset="77"/>
            </a:endParaRPr>
          </a:p>
          <a:p>
            <a:pPr algn="l" rtl="0" fontAlgn="base"/>
            <a:r>
              <a:rPr lang="en-IN" b="1" i="0" dirty="0">
                <a:solidFill>
                  <a:srgbClr val="273239"/>
                </a:solidFill>
                <a:effectLst/>
                <a:latin typeface="Nunito" pitchFamily="2" charset="77"/>
              </a:rPr>
              <a:t>Syntax of </a:t>
            </a:r>
            <a:r>
              <a:rPr lang="en-IN" b="1" i="0" dirty="0" err="1">
                <a:solidFill>
                  <a:srgbClr val="273239"/>
                </a:solidFill>
                <a:effectLst/>
                <a:latin typeface="Nunito" pitchFamily="2" charset="77"/>
              </a:rPr>
              <a:t>printf</a:t>
            </a:r>
            <a:r>
              <a:rPr lang="en-IN" b="1" i="0" dirty="0">
                <a:solidFill>
                  <a:srgbClr val="273239"/>
                </a:solidFill>
                <a:effectLst/>
                <a:latin typeface="Nunito" pitchFamily="2" charset="77"/>
              </a:rPr>
              <a:t>()</a:t>
            </a:r>
            <a:endParaRPr lang="en-IN" b="0" i="0" dirty="0">
              <a:solidFill>
                <a:srgbClr val="273239"/>
              </a:solidFill>
              <a:effectLst/>
              <a:latin typeface="Nunito" pitchFamily="2" charset="77"/>
            </a:endParaRPr>
          </a:p>
          <a:p>
            <a:pPr algn="l" rtl="0" fontAlgn="base"/>
            <a:r>
              <a:rPr lang="en-IN" b="1" dirty="0" err="1">
                <a:effectLst/>
                <a:highlight>
                  <a:srgbClr val="00FF00"/>
                </a:highlight>
                <a:latin typeface="Nunito" pitchFamily="2" charset="77"/>
              </a:rPr>
              <a:t>printf</a:t>
            </a:r>
            <a:r>
              <a:rPr lang="en-IN" dirty="0">
                <a:effectLst/>
                <a:highlight>
                  <a:srgbClr val="00FF00"/>
                </a:highlight>
                <a:latin typeface="Consolas" panose="020B0609020204030204" pitchFamily="49" charset="0"/>
              </a:rPr>
              <a:t>("</a:t>
            </a:r>
            <a:r>
              <a:rPr lang="en-IN" i="1" dirty="0">
                <a:effectLst/>
                <a:highlight>
                  <a:srgbClr val="00FF00"/>
                </a:highlight>
                <a:latin typeface="Nunito" pitchFamily="2" charset="77"/>
              </a:rPr>
              <a:t>formatted-string</a:t>
            </a:r>
            <a:r>
              <a:rPr lang="en-IN" dirty="0">
                <a:effectLst/>
                <a:highlight>
                  <a:srgbClr val="00FF00"/>
                </a:highlight>
                <a:latin typeface="Consolas" panose="020B0609020204030204" pitchFamily="49" charset="0"/>
              </a:rPr>
              <a:t>", ...{</a:t>
            </a:r>
            <a:r>
              <a:rPr lang="en-IN" i="1" dirty="0">
                <a:effectLst/>
                <a:highlight>
                  <a:srgbClr val="00FF00"/>
                </a:highlight>
                <a:latin typeface="Nunito" pitchFamily="2" charset="77"/>
              </a:rPr>
              <a:t>arguments-list</a:t>
            </a:r>
            <a:r>
              <a:rPr lang="en-IN" dirty="0">
                <a:effectLst/>
                <a:highlight>
                  <a:srgbClr val="00FF00"/>
                </a:highlight>
                <a:latin typeface="Consolas" panose="020B0609020204030204" pitchFamily="49" charset="0"/>
              </a:rPr>
              <a:t>});</a:t>
            </a:r>
          </a:p>
          <a:p>
            <a:pPr algn="l" rtl="0" fontAlgn="base"/>
            <a:endParaRPr lang="en-IN" b="0" i="0" dirty="0">
              <a:solidFill>
                <a:srgbClr val="273239"/>
              </a:solidFill>
              <a:effectLst/>
              <a:latin typeface="Nunito" pitchFamily="2" charset="77"/>
            </a:endParaRPr>
          </a:p>
          <a:p>
            <a:pPr algn="l" rtl="0" fontAlgn="base"/>
            <a:r>
              <a:rPr lang="en-IN" b="0" i="0" dirty="0">
                <a:solidFill>
                  <a:srgbClr val="273239"/>
                </a:solidFill>
                <a:effectLst/>
                <a:latin typeface="Nunito" pitchFamily="2" charset="77"/>
              </a:rPr>
              <a:t>where,</a:t>
            </a:r>
            <a:endParaRPr lang="en-IN" b="1" i="0" dirty="0">
              <a:solidFill>
                <a:srgbClr val="273239"/>
              </a:solidFill>
              <a:effectLst/>
              <a:latin typeface="Nunito" pitchFamily="2" charset="77"/>
            </a:endParaRPr>
          </a:p>
          <a:p>
            <a:pPr algn="l" fontAlgn="base">
              <a:buFont typeface="Arial" panose="020B0604020202020204" pitchFamily="34" charset="0"/>
              <a:buChar char="•"/>
            </a:pPr>
            <a:r>
              <a:rPr lang="en-IN" b="1" i="0" dirty="0">
                <a:solidFill>
                  <a:srgbClr val="273239"/>
                </a:solidFill>
                <a:effectLst/>
                <a:latin typeface="Nunito" pitchFamily="2" charset="77"/>
              </a:rPr>
              <a:t>formatted-string:</a:t>
            </a:r>
            <a:r>
              <a:rPr lang="en-IN" b="0" i="0" dirty="0">
                <a:solidFill>
                  <a:srgbClr val="273239"/>
                </a:solidFill>
                <a:effectLst/>
                <a:latin typeface="Nunito" pitchFamily="2" charset="77"/>
              </a:rPr>
              <a:t> String to be printed. It may contain format specifiers, escape sequences, etc.</a:t>
            </a:r>
          </a:p>
          <a:p>
            <a:pPr algn="l" fontAlgn="base">
              <a:buFont typeface="Arial" panose="020B0604020202020204" pitchFamily="34" charset="0"/>
              <a:buChar char="•"/>
            </a:pPr>
            <a:r>
              <a:rPr lang="en-IN" b="1" i="0" dirty="0">
                <a:solidFill>
                  <a:srgbClr val="273239"/>
                </a:solidFill>
                <a:effectLst/>
                <a:latin typeface="Nunito" pitchFamily="2" charset="77"/>
              </a:rPr>
              <a:t>arguments-list:</a:t>
            </a:r>
            <a:r>
              <a:rPr lang="en-IN" b="0" i="0" dirty="0">
                <a:solidFill>
                  <a:srgbClr val="273239"/>
                </a:solidFill>
                <a:effectLst/>
                <a:latin typeface="Nunito" pitchFamily="2" charset="77"/>
              </a:rPr>
              <a:t> It is the list of data to be printed.</a:t>
            </a:r>
          </a:p>
          <a:p>
            <a:endParaRPr lang="en-US" dirty="0"/>
          </a:p>
        </p:txBody>
      </p:sp>
    </p:spTree>
    <p:extLst>
      <p:ext uri="{BB962C8B-B14F-4D97-AF65-F5344CB8AC3E}">
        <p14:creationId xmlns:p14="http://schemas.microsoft.com/office/powerpoint/2010/main" val="304859438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E08-1BFB-696A-44FA-066F27968880}"/>
              </a:ext>
            </a:extLst>
          </p:cNvPr>
          <p:cNvSpPr>
            <a:spLocks noGrp="1"/>
          </p:cNvSpPr>
          <p:nvPr>
            <p:ph type="title"/>
          </p:nvPr>
        </p:nvSpPr>
        <p:spPr/>
        <p:txBody>
          <a:bodyPr/>
          <a:lstStyle/>
          <a:p>
            <a:r>
              <a:rPr lang="en-IN" b="1" i="0" dirty="0">
                <a:solidFill>
                  <a:srgbClr val="273239"/>
                </a:solidFill>
                <a:effectLst/>
                <a:latin typeface="Nunito" pitchFamily="2" charset="77"/>
              </a:rPr>
              <a:t>Basic Input and Output</a:t>
            </a:r>
            <a:endParaRPr lang="en-US" dirty="0"/>
          </a:p>
        </p:txBody>
      </p:sp>
      <p:sp>
        <p:nvSpPr>
          <p:cNvPr id="3" name="Content Placeholder 2">
            <a:extLst>
              <a:ext uri="{FF2B5EF4-FFF2-40B4-BE49-F238E27FC236}">
                <a16:creationId xmlns:a16="http://schemas.microsoft.com/office/drawing/2014/main" id="{9E37C0CD-F475-170C-C380-C58DF39BF74D}"/>
              </a:ext>
            </a:extLst>
          </p:cNvPr>
          <p:cNvSpPr>
            <a:spLocks noGrp="1"/>
          </p:cNvSpPr>
          <p:nvPr>
            <p:ph idx="1"/>
          </p:nvPr>
        </p:nvSpPr>
        <p:spPr/>
        <p:txBody>
          <a:bodyPr>
            <a:normAutofit fontScale="92500" lnSpcReduction="10000"/>
          </a:bodyPr>
          <a:lstStyle/>
          <a:p>
            <a:pPr algn="l" fontAlgn="base"/>
            <a:r>
              <a:rPr lang="en-IN" b="1" i="0" dirty="0">
                <a:solidFill>
                  <a:srgbClr val="273239"/>
                </a:solidFill>
                <a:effectLst/>
                <a:latin typeface="Nunito" pitchFamily="2" charset="77"/>
              </a:rPr>
              <a:t>Basic Input - </a:t>
            </a:r>
            <a:r>
              <a:rPr lang="en-IN" b="1" i="0" dirty="0" err="1">
                <a:solidFill>
                  <a:srgbClr val="273239"/>
                </a:solidFill>
                <a:effectLst/>
                <a:latin typeface="Nunito" pitchFamily="2" charset="77"/>
              </a:rPr>
              <a:t>scanf</a:t>
            </a:r>
            <a:r>
              <a:rPr lang="en-IN" b="1" i="0" dirty="0">
                <a:solidFill>
                  <a:srgbClr val="273239"/>
                </a:solidFill>
                <a:effectLst/>
                <a:latin typeface="Nunito" pitchFamily="2" charset="77"/>
              </a:rPr>
              <a:t>()</a:t>
            </a:r>
          </a:p>
          <a:p>
            <a:pPr algn="l" rtl="0" fontAlgn="base"/>
            <a:r>
              <a:rPr lang="en-IN" b="0" i="0" dirty="0">
                <a:solidFill>
                  <a:srgbClr val="273239"/>
                </a:solidFill>
                <a:effectLst/>
                <a:latin typeface="Nunito" pitchFamily="2" charset="77"/>
              </a:rPr>
              <a:t>The </a:t>
            </a:r>
            <a:r>
              <a:rPr lang="en-IN" b="0" i="0" dirty="0" err="1">
                <a:solidFill>
                  <a:srgbClr val="273239"/>
                </a:solidFill>
                <a:effectLst/>
                <a:latin typeface="Nunito" pitchFamily="2" charset="77"/>
              </a:rPr>
              <a:t>scanf</a:t>
            </a:r>
            <a:r>
              <a:rPr lang="en-IN" b="0" i="0" dirty="0">
                <a:solidFill>
                  <a:srgbClr val="273239"/>
                </a:solidFill>
                <a:effectLst/>
                <a:latin typeface="Nunito" pitchFamily="2" charset="77"/>
              </a:rPr>
              <a:t>() function is used to take input from the standard input device such as the keyboard.</a:t>
            </a:r>
          </a:p>
          <a:p>
            <a:pPr algn="l" rtl="0" fontAlgn="base"/>
            <a:r>
              <a:rPr lang="en-IN" b="1" i="0" dirty="0">
                <a:solidFill>
                  <a:srgbClr val="273239"/>
                </a:solidFill>
                <a:effectLst/>
                <a:latin typeface="Nunito" pitchFamily="2" charset="77"/>
              </a:rPr>
              <a:t>Syntax of </a:t>
            </a:r>
            <a:r>
              <a:rPr lang="en-IN" b="1" i="0" dirty="0" err="1">
                <a:solidFill>
                  <a:srgbClr val="273239"/>
                </a:solidFill>
                <a:effectLst/>
                <a:latin typeface="Nunito" pitchFamily="2" charset="77"/>
              </a:rPr>
              <a:t>scanf</a:t>
            </a:r>
            <a:r>
              <a:rPr lang="en-IN" b="1" i="0" dirty="0">
                <a:solidFill>
                  <a:srgbClr val="273239"/>
                </a:solidFill>
                <a:effectLst/>
                <a:latin typeface="Nunito" pitchFamily="2" charset="77"/>
              </a:rPr>
              <a:t>()</a:t>
            </a:r>
            <a:endParaRPr lang="en-IN" b="0" i="0" dirty="0">
              <a:solidFill>
                <a:srgbClr val="273239"/>
              </a:solidFill>
              <a:effectLst/>
              <a:latin typeface="Nunito" pitchFamily="2" charset="77"/>
            </a:endParaRPr>
          </a:p>
          <a:p>
            <a:pPr algn="l" rtl="0" fontAlgn="base"/>
            <a:r>
              <a:rPr lang="en-IN" b="1" dirty="0" err="1">
                <a:effectLst/>
                <a:highlight>
                  <a:srgbClr val="00FF00"/>
                </a:highlight>
                <a:latin typeface="Nunito" pitchFamily="2" charset="77"/>
              </a:rPr>
              <a:t>scanf</a:t>
            </a:r>
            <a:r>
              <a:rPr lang="en-IN" dirty="0">
                <a:effectLst/>
                <a:highlight>
                  <a:srgbClr val="00FF00"/>
                </a:highlight>
                <a:latin typeface="Consolas" panose="020B0609020204030204" pitchFamily="49" charset="0"/>
              </a:rPr>
              <a:t>("</a:t>
            </a:r>
            <a:r>
              <a:rPr lang="en-IN" i="1" dirty="0">
                <a:effectLst/>
                <a:highlight>
                  <a:srgbClr val="00FF00"/>
                </a:highlight>
                <a:latin typeface="Nunito" pitchFamily="2" charset="77"/>
              </a:rPr>
              <a:t>formatted-string</a:t>
            </a:r>
            <a:r>
              <a:rPr lang="en-IN" dirty="0">
                <a:effectLst/>
                <a:highlight>
                  <a:srgbClr val="00FF00"/>
                </a:highlight>
                <a:latin typeface="Consolas" panose="020B0609020204030204" pitchFamily="49" charset="0"/>
              </a:rPr>
              <a:t>", {</a:t>
            </a:r>
            <a:r>
              <a:rPr lang="en-IN" i="1" dirty="0">
                <a:effectLst/>
                <a:highlight>
                  <a:srgbClr val="00FF00"/>
                </a:highlight>
                <a:latin typeface="Nunito" pitchFamily="2" charset="77"/>
              </a:rPr>
              <a:t>address-argument-list</a:t>
            </a:r>
            <a:r>
              <a:rPr lang="en-IN" dirty="0">
                <a:effectLst/>
                <a:highlight>
                  <a:srgbClr val="00FF00"/>
                </a:highlight>
                <a:latin typeface="Consolas" panose="020B0609020204030204" pitchFamily="49" charset="0"/>
              </a:rPr>
              <a:t>});</a:t>
            </a:r>
          </a:p>
          <a:p>
            <a:pPr algn="l" rtl="0" fontAlgn="base"/>
            <a:endParaRPr lang="en-IN" b="0" i="0" dirty="0">
              <a:solidFill>
                <a:srgbClr val="273239"/>
              </a:solidFill>
              <a:effectLst/>
              <a:latin typeface="Nunito" pitchFamily="2" charset="77"/>
            </a:endParaRPr>
          </a:p>
          <a:p>
            <a:pPr algn="l" rtl="0" fontAlgn="base"/>
            <a:r>
              <a:rPr lang="en-IN" b="0" i="0" dirty="0">
                <a:solidFill>
                  <a:srgbClr val="273239"/>
                </a:solidFill>
                <a:effectLst/>
                <a:latin typeface="Nunito" pitchFamily="2" charset="77"/>
              </a:rPr>
              <a:t>where,</a:t>
            </a:r>
            <a:endParaRPr lang="en-IN" b="1" i="0" dirty="0">
              <a:solidFill>
                <a:srgbClr val="273239"/>
              </a:solidFill>
              <a:effectLst/>
              <a:latin typeface="Nunito" pitchFamily="2" charset="77"/>
            </a:endParaRPr>
          </a:p>
          <a:p>
            <a:pPr algn="l" fontAlgn="base">
              <a:buFont typeface="Arial" panose="020B0604020202020204" pitchFamily="34" charset="0"/>
              <a:buChar char="•"/>
            </a:pPr>
            <a:r>
              <a:rPr lang="en-IN" b="1" i="0" dirty="0">
                <a:solidFill>
                  <a:srgbClr val="273239"/>
                </a:solidFill>
                <a:effectLst/>
                <a:latin typeface="Nunito" pitchFamily="2" charset="77"/>
              </a:rPr>
              <a:t>formatted-string:</a:t>
            </a:r>
            <a:r>
              <a:rPr lang="en-IN" b="0" i="0" dirty="0">
                <a:solidFill>
                  <a:srgbClr val="273239"/>
                </a:solidFill>
                <a:effectLst/>
                <a:latin typeface="Nunito" pitchFamily="2" charset="77"/>
              </a:rPr>
              <a:t> String that describes the format of the input.</a:t>
            </a:r>
          </a:p>
          <a:p>
            <a:pPr algn="l" fontAlgn="base">
              <a:buFont typeface="Arial" panose="020B0604020202020204" pitchFamily="34" charset="0"/>
              <a:buChar char="•"/>
            </a:pPr>
            <a:r>
              <a:rPr lang="en-IN" b="1" i="0" dirty="0">
                <a:solidFill>
                  <a:srgbClr val="273239"/>
                </a:solidFill>
                <a:effectLst/>
                <a:latin typeface="Nunito" pitchFamily="2" charset="77"/>
              </a:rPr>
              <a:t>address-of-arguments-list:</a:t>
            </a:r>
            <a:r>
              <a:rPr lang="en-IN" b="0" i="0" dirty="0">
                <a:solidFill>
                  <a:srgbClr val="273239"/>
                </a:solidFill>
                <a:effectLst/>
                <a:latin typeface="Nunito" pitchFamily="2" charset="77"/>
              </a:rPr>
              <a:t> It is the address list of the variables where we want to store the input.</a:t>
            </a:r>
          </a:p>
          <a:p>
            <a:endParaRPr lang="en-US" dirty="0"/>
          </a:p>
        </p:txBody>
      </p:sp>
    </p:spTree>
    <p:extLst>
      <p:ext uri="{BB962C8B-B14F-4D97-AF65-F5344CB8AC3E}">
        <p14:creationId xmlns:p14="http://schemas.microsoft.com/office/powerpoint/2010/main" val="1957669287"/>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684A19-847C-742C-E742-1A26DC53EAEC}"/>
              </a:ext>
            </a:extLst>
          </p:cNvPr>
          <p:cNvSpPr>
            <a:spLocks noGrp="1"/>
          </p:cNvSpPr>
          <p:nvPr>
            <p:ph idx="1"/>
          </p:nvPr>
        </p:nvSpPr>
        <p:spPr>
          <a:xfrm>
            <a:off x="838200" y="313151"/>
            <a:ext cx="10515600" cy="5863812"/>
          </a:xfrm>
        </p:spPr>
        <p:txBody>
          <a:bodyPr>
            <a:normAutofit fontScale="92500" lnSpcReduction="10000"/>
          </a:bodyPr>
          <a:lstStyle/>
          <a:p>
            <a:r>
              <a:rPr lang="en-US" sz="1600" dirty="0"/>
              <a:t>// C program to illustrate the basic input and output using</a:t>
            </a:r>
          </a:p>
          <a:p>
            <a:r>
              <a:rPr lang="en-US" sz="1600" dirty="0"/>
              <a:t>// </a:t>
            </a:r>
            <a:r>
              <a:rPr lang="en-US" sz="1600" dirty="0" err="1"/>
              <a:t>printf</a:t>
            </a:r>
            <a:r>
              <a:rPr lang="en-US" sz="1600" dirty="0"/>
              <a:t>() and </a:t>
            </a:r>
            <a:r>
              <a:rPr lang="en-US" sz="1600" dirty="0" err="1"/>
              <a:t>scanf</a:t>
            </a:r>
            <a:r>
              <a:rPr lang="en-US" sz="1600" dirty="0"/>
              <a:t>()</a:t>
            </a:r>
          </a:p>
          <a:p>
            <a:r>
              <a:rPr lang="en-US" sz="1600" dirty="0"/>
              <a:t>#include &lt;</a:t>
            </a:r>
            <a:r>
              <a:rPr lang="en-US" sz="1600" dirty="0" err="1"/>
              <a:t>stdio.h</a:t>
            </a:r>
            <a:r>
              <a:rPr lang="en-US" sz="1600" dirty="0"/>
              <a:t>&gt;</a:t>
            </a:r>
          </a:p>
          <a:p>
            <a:endParaRPr lang="en-US" sz="1600" dirty="0"/>
          </a:p>
          <a:p>
            <a:r>
              <a:rPr lang="en-US" sz="1600" dirty="0"/>
              <a:t>int main()</a:t>
            </a:r>
          </a:p>
          <a:p>
            <a:r>
              <a:rPr lang="en-US" sz="1600" dirty="0"/>
              <a:t>{</a:t>
            </a:r>
          </a:p>
          <a:p>
            <a:r>
              <a:rPr lang="en-US" sz="1600" dirty="0"/>
              <a:t>    int </a:t>
            </a:r>
            <a:r>
              <a:rPr lang="en-US" sz="1600" dirty="0" err="1"/>
              <a:t>roll_num</a:t>
            </a:r>
            <a:r>
              <a:rPr lang="en-US" sz="1600" dirty="0"/>
              <a:t>;</a:t>
            </a:r>
          </a:p>
          <a:p>
            <a:r>
              <a:rPr lang="en-US" sz="1600" dirty="0"/>
              <a:t>    char name[50];</a:t>
            </a:r>
          </a:p>
          <a:p>
            <a:endParaRPr lang="en-US" sz="1600" dirty="0"/>
          </a:p>
          <a:p>
            <a:r>
              <a:rPr lang="en-US" sz="1600" dirty="0"/>
              <a:t>    // taking input using </a:t>
            </a:r>
            <a:r>
              <a:rPr lang="en-US" sz="1600" dirty="0" err="1"/>
              <a:t>scanf</a:t>
            </a:r>
            <a:endParaRPr lang="en-US" sz="1600" dirty="0"/>
          </a:p>
          <a:p>
            <a:r>
              <a:rPr lang="en-US" sz="1600" dirty="0"/>
              <a:t>    </a:t>
            </a:r>
            <a:r>
              <a:rPr lang="en-US" sz="1600" dirty="0" err="1"/>
              <a:t>scanf</a:t>
            </a:r>
            <a:r>
              <a:rPr lang="en-US" sz="1600" dirty="0"/>
              <a:t>("Enter Roll No.: %d", &amp;</a:t>
            </a:r>
            <a:r>
              <a:rPr lang="en-US" sz="1600" dirty="0" err="1"/>
              <a:t>roll_num</a:t>
            </a:r>
            <a:r>
              <a:rPr lang="en-US" sz="1600" dirty="0"/>
              <a:t>);</a:t>
            </a:r>
          </a:p>
          <a:p>
            <a:r>
              <a:rPr lang="en-US" sz="1600" dirty="0"/>
              <a:t>    </a:t>
            </a:r>
            <a:r>
              <a:rPr lang="en-US" sz="1600" dirty="0" err="1"/>
              <a:t>scanf</a:t>
            </a:r>
            <a:r>
              <a:rPr lang="en-US" sz="1600" dirty="0"/>
              <a:t>("Enter Name: %s", name);</a:t>
            </a:r>
          </a:p>
          <a:p>
            <a:endParaRPr lang="en-US" sz="1600" dirty="0"/>
          </a:p>
          <a:p>
            <a:r>
              <a:rPr lang="en-US" sz="1600" dirty="0"/>
              <a:t>    // printing output using </a:t>
            </a:r>
            <a:r>
              <a:rPr lang="en-US" sz="1600" dirty="0" err="1"/>
              <a:t>printf</a:t>
            </a:r>
            <a:endParaRPr lang="en-US" sz="1600" dirty="0"/>
          </a:p>
          <a:p>
            <a:r>
              <a:rPr lang="en-US" sz="1600" dirty="0"/>
              <a:t>    </a:t>
            </a:r>
            <a:r>
              <a:rPr lang="en-US" sz="1600" dirty="0" err="1"/>
              <a:t>printf</a:t>
            </a:r>
            <a:r>
              <a:rPr lang="en-US" sz="1600" dirty="0"/>
              <a:t>("Name is %s and Roll Number is %d", name,</a:t>
            </a:r>
          </a:p>
          <a:p>
            <a:r>
              <a:rPr lang="en-US" sz="1600" dirty="0"/>
              <a:t>           </a:t>
            </a:r>
            <a:r>
              <a:rPr lang="en-US" sz="1600" dirty="0" err="1"/>
              <a:t>roll_num</a:t>
            </a:r>
            <a:r>
              <a:rPr lang="en-US" sz="1600" dirty="0"/>
              <a:t>);</a:t>
            </a:r>
          </a:p>
          <a:p>
            <a:endParaRPr lang="en-US" sz="1600" dirty="0"/>
          </a:p>
          <a:p>
            <a:r>
              <a:rPr lang="en-US" sz="1600" dirty="0"/>
              <a:t>    return 0;</a:t>
            </a:r>
          </a:p>
          <a:p>
            <a:r>
              <a:rPr lang="en-US" sz="1600" dirty="0"/>
              <a:t>}</a:t>
            </a:r>
          </a:p>
        </p:txBody>
      </p:sp>
    </p:spTree>
    <p:extLst>
      <p:ext uri="{BB962C8B-B14F-4D97-AF65-F5344CB8AC3E}">
        <p14:creationId xmlns:p14="http://schemas.microsoft.com/office/powerpoint/2010/main" val="1941365469"/>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BE2C2-E3BF-C23A-7961-5D94C5F64671}"/>
              </a:ext>
            </a:extLst>
          </p:cNvPr>
          <p:cNvSpPr>
            <a:spLocks noGrp="1"/>
          </p:cNvSpPr>
          <p:nvPr>
            <p:ph type="title"/>
          </p:nvPr>
        </p:nvSpPr>
        <p:spPr/>
        <p:txBody>
          <a:bodyPr/>
          <a:lstStyle/>
          <a:p>
            <a:r>
              <a:rPr kumimoji="0" lang="en-US" altLang="en-US" sz="4400" b="1" i="0" u="none" strike="noStrike" cap="none" normalizeH="0" baseline="0" dirty="0">
                <a:ln>
                  <a:noFill/>
                </a:ln>
                <a:solidFill>
                  <a:srgbClr val="273239"/>
                </a:solidFill>
                <a:effectLst/>
                <a:latin typeface="Nunito" pitchFamily="2" charset="77"/>
              </a:rPr>
              <a:t>Format Specifiers</a:t>
            </a:r>
            <a:br>
              <a:rPr kumimoji="0" lang="en-US" altLang="en-US" sz="4400" b="1" i="0" u="none" strike="noStrike" cap="none" normalizeH="0" baseline="0" dirty="0">
                <a:ln>
                  <a:noFill/>
                </a:ln>
                <a:solidFill>
                  <a:srgbClr val="273239"/>
                </a:solidFill>
                <a:effectLst/>
                <a:latin typeface="Nunito" pitchFamily="2" charset="77"/>
              </a:rPr>
            </a:br>
            <a:endParaRPr lang="en-US" dirty="0"/>
          </a:p>
        </p:txBody>
      </p:sp>
      <p:graphicFrame>
        <p:nvGraphicFramePr>
          <p:cNvPr id="4" name="Content Placeholder 3">
            <a:extLst>
              <a:ext uri="{FF2B5EF4-FFF2-40B4-BE49-F238E27FC236}">
                <a16:creationId xmlns:a16="http://schemas.microsoft.com/office/drawing/2014/main" id="{DB0425A1-6D45-DF9E-2E1A-95D083E8B471}"/>
              </a:ext>
            </a:extLst>
          </p:cNvPr>
          <p:cNvGraphicFramePr>
            <a:graphicFrameLocks noGrp="1"/>
          </p:cNvGraphicFramePr>
          <p:nvPr>
            <p:ph idx="1"/>
          </p:nvPr>
        </p:nvGraphicFramePr>
        <p:xfrm>
          <a:off x="838200" y="1970564"/>
          <a:ext cx="10515600" cy="4061460"/>
        </p:xfrm>
        <a:graphic>
          <a:graphicData uri="http://schemas.openxmlformats.org/drawingml/2006/table">
            <a:tbl>
              <a:tblPr/>
              <a:tblGrid>
                <a:gridCol w="5257800">
                  <a:extLst>
                    <a:ext uri="{9D8B030D-6E8A-4147-A177-3AD203B41FA5}">
                      <a16:colId xmlns:a16="http://schemas.microsoft.com/office/drawing/2014/main" val="2492419767"/>
                    </a:ext>
                  </a:extLst>
                </a:gridCol>
                <a:gridCol w="5257800">
                  <a:extLst>
                    <a:ext uri="{9D8B030D-6E8A-4147-A177-3AD203B41FA5}">
                      <a16:colId xmlns:a16="http://schemas.microsoft.com/office/drawing/2014/main" val="3491812345"/>
                    </a:ext>
                  </a:extLst>
                </a:gridCol>
              </a:tblGrid>
              <a:tr h="0">
                <a:tc>
                  <a:txBody>
                    <a:bodyPr/>
                    <a:lstStyle/>
                    <a:p>
                      <a:pPr algn="ctr" rtl="0" fontAlgn="base"/>
                      <a:r>
                        <a:rPr lang="en-IN" sz="1400" b="1">
                          <a:effectLst/>
                          <a:latin typeface="Nunito" pitchFamily="2" charset="77"/>
                        </a:rPr>
                        <a:t>Format Specifier</a:t>
                      </a:r>
                      <a:endParaRPr lang="en-IN" sz="1400" b="0">
                        <a:effectLst/>
                        <a:latin typeface="Nunito" pitchFamily="2" charset="77"/>
                      </a:endParaRPr>
                    </a:p>
                  </a:txBody>
                  <a:tcPr marL="38100" marR="3810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IN" sz="1400" b="1">
                          <a:effectLst/>
                          <a:latin typeface="Nunito" pitchFamily="2" charset="77"/>
                        </a:rPr>
                        <a:t>Description</a:t>
                      </a:r>
                      <a:endParaRPr lang="en-IN" sz="1400" b="0">
                        <a:effectLst/>
                        <a:latin typeface="Nunito" pitchFamily="2" charset="77"/>
                      </a:endParaRP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1999589781"/>
                  </a:ext>
                </a:extLst>
              </a:tr>
              <a:tr h="0">
                <a:tc>
                  <a:txBody>
                    <a:bodyPr/>
                    <a:lstStyle/>
                    <a:p>
                      <a:pPr algn="ctr" rtl="0" fontAlgn="base"/>
                      <a:r>
                        <a:rPr lang="en-IN" sz="1250" b="1">
                          <a:effectLst/>
                          <a:latin typeface="Nunito" pitchFamily="2" charset="77"/>
                        </a:rPr>
                        <a:t>%c</a:t>
                      </a:r>
                      <a:endParaRPr lang="en-IN" sz="1250" b="0">
                        <a:effectLst/>
                        <a:latin typeface="Nunito" pitchFamily="2" charset="77"/>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dirty="0">
                          <a:effectLst/>
                          <a:latin typeface="Nunito" pitchFamily="2" charset="77"/>
                        </a:rPr>
                        <a:t>For b type.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527736325"/>
                  </a:ext>
                </a:extLst>
              </a:tr>
              <a:tr h="0">
                <a:tc>
                  <a:txBody>
                    <a:bodyPr/>
                    <a:lstStyle/>
                    <a:p>
                      <a:pPr algn="ctr" rtl="0" fontAlgn="base"/>
                      <a:r>
                        <a:rPr lang="en-IN" sz="1250" b="1" dirty="0">
                          <a:effectLst/>
                          <a:latin typeface="Nunito" pitchFamily="2" charset="77"/>
                        </a:rPr>
                        <a:t>%d</a:t>
                      </a:r>
                      <a:endParaRPr lang="en-IN" sz="1250" b="0" dirty="0">
                        <a:effectLst/>
                        <a:latin typeface="Nunito" pitchFamily="2" charset="77"/>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latin typeface="Nunito" pitchFamily="2" charset="77"/>
                        </a:rPr>
                        <a:t>For signed integer type.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300788782"/>
                  </a:ext>
                </a:extLst>
              </a:tr>
              <a:tr h="0">
                <a:tc>
                  <a:txBody>
                    <a:bodyPr/>
                    <a:lstStyle/>
                    <a:p>
                      <a:pPr algn="ctr" rtl="0" fontAlgn="base"/>
                      <a:r>
                        <a:rPr lang="en-IN" sz="1250" b="1">
                          <a:effectLst/>
                          <a:latin typeface="Nunito" pitchFamily="2" charset="77"/>
                        </a:rPr>
                        <a:t>%f</a:t>
                      </a:r>
                      <a:endParaRPr lang="en-IN" sz="1250" b="0">
                        <a:effectLst/>
                        <a:latin typeface="Nunito" pitchFamily="2" charset="77"/>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latin typeface="Nunito" pitchFamily="2" charset="77"/>
                        </a:rPr>
                        <a:t>For float type.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988809106"/>
                  </a:ext>
                </a:extLst>
              </a:tr>
              <a:tr h="0">
                <a:tc>
                  <a:txBody>
                    <a:bodyPr/>
                    <a:lstStyle/>
                    <a:p>
                      <a:pPr algn="ctr" rtl="0" fontAlgn="base"/>
                      <a:r>
                        <a:rPr lang="en-IN" sz="1250" b="1">
                          <a:effectLst/>
                          <a:latin typeface="Nunito" pitchFamily="2" charset="77"/>
                        </a:rPr>
                        <a:t>%lf</a:t>
                      </a:r>
                      <a:endParaRPr lang="en-IN" sz="1250" b="0">
                        <a:effectLst/>
                        <a:latin typeface="Nunito" pitchFamily="2" charset="77"/>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latin typeface="Nunito" pitchFamily="2" charset="77"/>
                        </a:rPr>
                        <a:t>Double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325246254"/>
                  </a:ext>
                </a:extLst>
              </a:tr>
              <a:tr h="0">
                <a:tc>
                  <a:txBody>
                    <a:bodyPr/>
                    <a:lstStyle/>
                    <a:p>
                      <a:pPr algn="ctr" rtl="0" fontAlgn="base"/>
                      <a:r>
                        <a:rPr lang="en-IN" sz="1250" b="1">
                          <a:effectLst/>
                          <a:latin typeface="Nunito" pitchFamily="2" charset="77"/>
                        </a:rPr>
                        <a:t>%p</a:t>
                      </a:r>
                      <a:endParaRPr lang="en-IN" sz="1250" b="0">
                        <a:effectLst/>
                        <a:latin typeface="Nunito" pitchFamily="2" charset="77"/>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latin typeface="Nunito" pitchFamily="2" charset="77"/>
                        </a:rPr>
                        <a:t>Pointer</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894948008"/>
                  </a:ext>
                </a:extLst>
              </a:tr>
              <a:tr h="0">
                <a:tc>
                  <a:txBody>
                    <a:bodyPr/>
                    <a:lstStyle/>
                    <a:p>
                      <a:pPr algn="ctr" rtl="0" fontAlgn="base"/>
                      <a:r>
                        <a:rPr lang="en-IN" sz="1250" b="1">
                          <a:effectLst/>
                          <a:latin typeface="Nunito" pitchFamily="2" charset="77"/>
                        </a:rPr>
                        <a:t>%s</a:t>
                      </a:r>
                      <a:endParaRPr lang="en-IN" sz="1250" b="0">
                        <a:effectLst/>
                        <a:latin typeface="Nunito" pitchFamily="2" charset="77"/>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latin typeface="Nunito" pitchFamily="2" charset="77"/>
                        </a:rPr>
                        <a:t>String</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420391550"/>
                  </a:ext>
                </a:extLst>
              </a:tr>
              <a:tr h="0">
                <a:tc>
                  <a:txBody>
                    <a:bodyPr/>
                    <a:lstStyle/>
                    <a:p>
                      <a:pPr algn="ctr" rtl="0" fontAlgn="base"/>
                      <a:r>
                        <a:rPr lang="en-IN" sz="1250" b="1">
                          <a:effectLst/>
                          <a:latin typeface="Nunito" pitchFamily="2" charset="77"/>
                        </a:rPr>
                        <a:t>%u</a:t>
                      </a:r>
                      <a:endParaRPr lang="en-IN" sz="1250" b="0">
                        <a:effectLst/>
                        <a:latin typeface="Nunito" pitchFamily="2" charset="77"/>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latin typeface="Nunito" pitchFamily="2" charset="77"/>
                        </a:rPr>
                        <a:t>Unsigned int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17533925"/>
                  </a:ext>
                </a:extLst>
              </a:tr>
              <a:tr h="0">
                <a:tc>
                  <a:txBody>
                    <a:bodyPr/>
                    <a:lstStyle/>
                    <a:p>
                      <a:pPr algn="ctr" fontAlgn="base"/>
                      <a:r>
                        <a:rPr lang="en-IN" sz="1250" b="1">
                          <a:effectLst/>
                          <a:latin typeface="Nunito" pitchFamily="2" charset="77"/>
                        </a:rPr>
                        <a:t>%%</a:t>
                      </a:r>
                      <a:endParaRPr lang="en-IN" sz="1250" b="0">
                        <a:effectLst/>
                        <a:latin typeface="Nunito" pitchFamily="2" charset="77"/>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dirty="0">
                          <a:effectLst/>
                          <a:latin typeface="Nunito" pitchFamily="2" charset="77"/>
                        </a:rPr>
                        <a:t>Prints % character</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611259310"/>
                  </a:ext>
                </a:extLst>
              </a:tr>
            </a:tbl>
          </a:graphicData>
        </a:graphic>
      </p:graphicFrame>
      <p:sp>
        <p:nvSpPr>
          <p:cNvPr id="5" name="Rectangle 1">
            <a:extLst>
              <a:ext uri="{FF2B5EF4-FFF2-40B4-BE49-F238E27FC236}">
                <a16:creationId xmlns:a16="http://schemas.microsoft.com/office/drawing/2014/main" id="{74E61512-E74B-ECBE-39C5-C8D7C2E2001A}"/>
              </a:ext>
            </a:extLst>
          </p:cNvPr>
          <p:cNvSpPr>
            <a:spLocks noChangeArrowheads="1"/>
          </p:cNvSpPr>
          <p:nvPr/>
        </p:nvSpPr>
        <p:spPr bwMode="auto">
          <a:xfrm>
            <a:off x="838199" y="987557"/>
            <a:ext cx="10515599" cy="92333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Nunito" pitchFamily="2" charset="77"/>
              </a:rPr>
              <a:t>Format specifiers are used to describe the format of input and output in formatted string. It is different for different data types. It always starts with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Nunito" pitchFamily="2" charset="77"/>
              </a:rPr>
              <a:t>The following is the </a:t>
            </a:r>
            <a:r>
              <a:rPr kumimoji="0" lang="en-US" altLang="en-US" sz="2000" b="1" i="0" u="none" strike="noStrike" cap="none" normalizeH="0" baseline="0" dirty="0">
                <a:ln>
                  <a:noFill/>
                </a:ln>
                <a:solidFill>
                  <a:srgbClr val="273239"/>
                </a:solidFill>
                <a:effectLst/>
                <a:latin typeface="Nunito" pitchFamily="2" charset="77"/>
              </a:rPr>
              <a:t>list of some commonly used format specifiers in C:</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59015295"/>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96BA5-9462-3DF4-556A-8DDB9707A1AD}"/>
              </a:ext>
            </a:extLst>
          </p:cNvPr>
          <p:cNvSpPr>
            <a:spLocks noGrp="1"/>
          </p:cNvSpPr>
          <p:nvPr>
            <p:ph type="title"/>
          </p:nvPr>
        </p:nvSpPr>
        <p:spPr/>
        <p:txBody>
          <a:bodyPr/>
          <a:lstStyle/>
          <a:p>
            <a:r>
              <a:rPr kumimoji="0" lang="en-US" altLang="en-US" sz="4400" b="1" i="0" u="none" strike="noStrike" cap="none" normalizeH="0" baseline="0" dirty="0">
                <a:ln>
                  <a:noFill/>
                </a:ln>
                <a:solidFill>
                  <a:srgbClr val="273239"/>
                </a:solidFill>
                <a:effectLst/>
                <a:latin typeface="Nunito" pitchFamily="2" charset="77"/>
              </a:rPr>
              <a:t>Escape Sequence</a:t>
            </a:r>
            <a:endParaRPr lang="en-US" dirty="0"/>
          </a:p>
        </p:txBody>
      </p:sp>
      <p:graphicFrame>
        <p:nvGraphicFramePr>
          <p:cNvPr id="4" name="Content Placeholder 3">
            <a:extLst>
              <a:ext uri="{FF2B5EF4-FFF2-40B4-BE49-F238E27FC236}">
                <a16:creationId xmlns:a16="http://schemas.microsoft.com/office/drawing/2014/main" id="{75265A18-0522-75BC-96A0-0FD5A463E7D9}"/>
              </a:ext>
            </a:extLst>
          </p:cNvPr>
          <p:cNvGraphicFramePr>
            <a:graphicFrameLocks noGrp="1"/>
          </p:cNvGraphicFramePr>
          <p:nvPr>
            <p:ph idx="1"/>
            <p:extLst>
              <p:ext uri="{D42A27DB-BD31-4B8C-83A1-F6EECF244321}">
                <p14:modId xmlns:p14="http://schemas.microsoft.com/office/powerpoint/2010/main" val="2788002959"/>
              </p:ext>
            </p:extLst>
          </p:nvPr>
        </p:nvGraphicFramePr>
        <p:xfrm>
          <a:off x="1157803" y="2342466"/>
          <a:ext cx="9876393" cy="4394895"/>
        </p:xfrm>
        <a:graphic>
          <a:graphicData uri="http://schemas.openxmlformats.org/drawingml/2006/table">
            <a:tbl>
              <a:tblPr/>
              <a:tblGrid>
                <a:gridCol w="3292131">
                  <a:extLst>
                    <a:ext uri="{9D8B030D-6E8A-4147-A177-3AD203B41FA5}">
                      <a16:colId xmlns:a16="http://schemas.microsoft.com/office/drawing/2014/main" val="1416766009"/>
                    </a:ext>
                  </a:extLst>
                </a:gridCol>
                <a:gridCol w="3292131">
                  <a:extLst>
                    <a:ext uri="{9D8B030D-6E8A-4147-A177-3AD203B41FA5}">
                      <a16:colId xmlns:a16="http://schemas.microsoft.com/office/drawing/2014/main" val="3879746333"/>
                    </a:ext>
                  </a:extLst>
                </a:gridCol>
                <a:gridCol w="3292131">
                  <a:extLst>
                    <a:ext uri="{9D8B030D-6E8A-4147-A177-3AD203B41FA5}">
                      <a16:colId xmlns:a16="http://schemas.microsoft.com/office/drawing/2014/main" val="2884242659"/>
                    </a:ext>
                  </a:extLst>
                </a:gridCol>
              </a:tblGrid>
              <a:tr h="379311">
                <a:tc>
                  <a:txBody>
                    <a:bodyPr/>
                    <a:lstStyle/>
                    <a:p>
                      <a:pPr algn="ctr" fontAlgn="base"/>
                      <a:r>
                        <a:rPr lang="en-IN" sz="1300" b="1">
                          <a:effectLst/>
                          <a:latin typeface="Nunito" pitchFamily="2" charset="77"/>
                        </a:rPr>
                        <a:t>Escape Sequence</a:t>
                      </a:r>
                    </a:p>
                  </a:txBody>
                  <a:tcPr marL="35784" marR="35784" marT="89460" marB="8946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IN" sz="1300" b="1">
                          <a:effectLst/>
                          <a:latin typeface="Nunito" pitchFamily="2" charset="77"/>
                        </a:rPr>
                        <a:t>Name</a:t>
                      </a:r>
                    </a:p>
                  </a:txBody>
                  <a:tcPr marL="89460" marR="89460" marT="89460" marB="8946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IN" sz="1300" b="1">
                          <a:effectLst/>
                          <a:latin typeface="Nunito" pitchFamily="2" charset="77"/>
                        </a:rPr>
                        <a:t>Description</a:t>
                      </a:r>
                    </a:p>
                  </a:txBody>
                  <a:tcPr marL="89460" marR="89460" marT="89460" marB="8946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3030370075"/>
                  </a:ext>
                </a:extLst>
              </a:tr>
              <a:tr h="429408">
                <a:tc>
                  <a:txBody>
                    <a:bodyPr/>
                    <a:lstStyle/>
                    <a:p>
                      <a:pPr algn="ctr" fontAlgn="ctr"/>
                      <a:r>
                        <a:rPr lang="en-IN" sz="1200" b="0">
                          <a:effectLst/>
                          <a:latin typeface="Nunito" pitchFamily="2" charset="77"/>
                        </a:rPr>
                        <a:t>\b</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00" b="0">
                          <a:effectLst/>
                          <a:latin typeface="Nunito" pitchFamily="2" charset="77"/>
                        </a:rPr>
                        <a:t>Backspace</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00" b="0">
                          <a:effectLst/>
                          <a:latin typeface="Nunito" pitchFamily="2" charset="77"/>
                        </a:rPr>
                        <a:t>It is used to move the cursor backward.</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571871389"/>
                  </a:ext>
                </a:extLst>
              </a:tr>
              <a:tr h="608328">
                <a:tc>
                  <a:txBody>
                    <a:bodyPr/>
                    <a:lstStyle/>
                    <a:p>
                      <a:pPr algn="ctr" fontAlgn="ctr"/>
                      <a:r>
                        <a:rPr lang="en-IN" sz="1200" b="0" dirty="0">
                          <a:effectLst/>
                          <a:latin typeface="Nunito" pitchFamily="2" charset="77"/>
                        </a:rPr>
                        <a:t>\n</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00" b="0" dirty="0">
                          <a:effectLst/>
                          <a:latin typeface="Nunito" pitchFamily="2" charset="77"/>
                        </a:rPr>
                        <a:t>New Line</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00" b="0">
                          <a:effectLst/>
                          <a:latin typeface="Nunito" pitchFamily="2" charset="77"/>
                        </a:rPr>
                        <a:t>It moves the cursor to the start of the next line.</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397328593"/>
                  </a:ext>
                </a:extLst>
              </a:tr>
              <a:tr h="608328">
                <a:tc>
                  <a:txBody>
                    <a:bodyPr/>
                    <a:lstStyle/>
                    <a:p>
                      <a:pPr algn="ctr" fontAlgn="ctr"/>
                      <a:r>
                        <a:rPr lang="en-IN" sz="1200" b="0">
                          <a:effectLst/>
                          <a:latin typeface="Nunito" pitchFamily="2" charset="77"/>
                        </a:rPr>
                        <a:t>\r</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00" b="0">
                          <a:effectLst/>
                          <a:latin typeface="Nunito" pitchFamily="2" charset="77"/>
                        </a:rPr>
                        <a:t>Carriage Return</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00" b="0">
                          <a:effectLst/>
                          <a:latin typeface="Nunito" pitchFamily="2" charset="77"/>
                        </a:rPr>
                        <a:t>It moves the cursor to the start of the current line.</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991289175"/>
                  </a:ext>
                </a:extLst>
              </a:tr>
              <a:tr h="608328">
                <a:tc>
                  <a:txBody>
                    <a:bodyPr/>
                    <a:lstStyle/>
                    <a:p>
                      <a:pPr algn="ctr" fontAlgn="ctr"/>
                      <a:r>
                        <a:rPr lang="en-IN" sz="1200" b="0">
                          <a:effectLst/>
                          <a:latin typeface="Nunito" pitchFamily="2" charset="77"/>
                        </a:rPr>
                        <a:t>\t</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00" b="0">
                          <a:effectLst/>
                          <a:latin typeface="Nunito" pitchFamily="2" charset="77"/>
                        </a:rPr>
                        <a:t>Horizontal Tab</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00" b="0">
                          <a:effectLst/>
                          <a:latin typeface="Nunito" pitchFamily="2" charset="77"/>
                        </a:rPr>
                        <a:t>It inserts some whitespace to the left of the cursor and moves the cursor accordingly.</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754185950"/>
                  </a:ext>
                </a:extLst>
              </a:tr>
              <a:tr h="429408">
                <a:tc>
                  <a:txBody>
                    <a:bodyPr/>
                    <a:lstStyle/>
                    <a:p>
                      <a:pPr algn="ctr" fontAlgn="ctr"/>
                      <a:r>
                        <a:rPr lang="en-IN" sz="1200" b="0">
                          <a:effectLst/>
                          <a:latin typeface="Nunito" pitchFamily="2" charset="77"/>
                        </a:rPr>
                        <a:t>\v</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00" b="0" dirty="0">
                          <a:effectLst/>
                          <a:latin typeface="Nunito" pitchFamily="2" charset="77"/>
                        </a:rPr>
                        <a:t>Vertical Tab</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00" b="0">
                          <a:effectLst/>
                          <a:latin typeface="Nunito" pitchFamily="2" charset="77"/>
                        </a:rPr>
                        <a:t>It is used to insert vertical space.</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981877600"/>
                  </a:ext>
                </a:extLst>
              </a:tr>
              <a:tr h="429408">
                <a:tc>
                  <a:txBody>
                    <a:bodyPr/>
                    <a:lstStyle/>
                    <a:p>
                      <a:pPr algn="ctr" fontAlgn="ctr"/>
                      <a:r>
                        <a:rPr lang="en-IN" sz="1200" b="0">
                          <a:effectLst/>
                          <a:latin typeface="Nunito" pitchFamily="2" charset="77"/>
                        </a:rPr>
                        <a:t>\\</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00" b="0">
                          <a:effectLst/>
                          <a:latin typeface="Nunito" pitchFamily="2" charset="77"/>
                        </a:rPr>
                        <a:t>Backlash</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00" b="0">
                          <a:effectLst/>
                          <a:latin typeface="Nunito" pitchFamily="2" charset="77"/>
                        </a:rPr>
                        <a:t>Use to insert backslash character.</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798552057"/>
                  </a:ext>
                </a:extLst>
              </a:tr>
              <a:tr h="429408">
                <a:tc>
                  <a:txBody>
                    <a:bodyPr/>
                    <a:lstStyle/>
                    <a:p>
                      <a:pPr algn="ctr" fontAlgn="ctr"/>
                      <a:r>
                        <a:rPr lang="en-IN" sz="1200" b="0">
                          <a:effectLst/>
                          <a:latin typeface="Nunito" pitchFamily="2" charset="77"/>
                        </a:rPr>
                        <a:t>\”</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00" b="0">
                          <a:effectLst/>
                          <a:latin typeface="Nunito" pitchFamily="2" charset="77"/>
                        </a:rPr>
                        <a:t>Double Quote</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00" b="0">
                          <a:effectLst/>
                          <a:latin typeface="Nunito" pitchFamily="2" charset="77"/>
                        </a:rPr>
                        <a:t>It is used to display double quotation marks.</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021020328"/>
                  </a:ext>
                </a:extLst>
              </a:tr>
              <a:tr h="429408">
                <a:tc>
                  <a:txBody>
                    <a:bodyPr/>
                    <a:lstStyle/>
                    <a:p>
                      <a:pPr algn="ctr" fontAlgn="ctr"/>
                      <a:r>
                        <a:rPr lang="en-IN" sz="1200" b="0">
                          <a:effectLst/>
                          <a:latin typeface="Nunito" pitchFamily="2" charset="77"/>
                        </a:rPr>
                        <a:t>\0</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00" b="0">
                          <a:effectLst/>
                          <a:latin typeface="Nunito" pitchFamily="2" charset="77"/>
                        </a:rPr>
                        <a:t>NULL</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00" b="0" dirty="0">
                          <a:effectLst/>
                          <a:latin typeface="Nunito" pitchFamily="2" charset="77"/>
                        </a:rPr>
                        <a:t>It represents the NLL character.</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883589802"/>
                  </a:ext>
                </a:extLst>
              </a:tr>
            </a:tbl>
          </a:graphicData>
        </a:graphic>
      </p:graphicFrame>
      <p:sp>
        <p:nvSpPr>
          <p:cNvPr id="5" name="Rectangle 1">
            <a:extLst>
              <a:ext uri="{FF2B5EF4-FFF2-40B4-BE49-F238E27FC236}">
                <a16:creationId xmlns:a16="http://schemas.microsoft.com/office/drawing/2014/main" id="{AF0F87B8-80F7-BF9A-3FD9-96DF5720C803}"/>
              </a:ext>
            </a:extLst>
          </p:cNvPr>
          <p:cNvSpPr>
            <a:spLocks noChangeArrowheads="1"/>
          </p:cNvSpPr>
          <p:nvPr/>
        </p:nvSpPr>
        <p:spPr bwMode="auto">
          <a:xfrm>
            <a:off x="588722" y="1321357"/>
            <a:ext cx="10765078" cy="73866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Nunito" pitchFamily="2" charset="77"/>
              </a:rPr>
              <a:t>Escape sequences are the characters that are used to represent those characters that cannot by represented normally. They start with </a:t>
            </a:r>
            <a:r>
              <a:rPr kumimoji="0" lang="en-US" altLang="en-US" sz="1600" b="1" i="0" u="none" strike="noStrike" cap="none" normalizeH="0" baseline="0" dirty="0">
                <a:ln>
                  <a:noFill/>
                </a:ln>
                <a:solidFill>
                  <a:srgbClr val="273239"/>
                </a:solidFill>
                <a:effectLst/>
                <a:latin typeface="Nunito" pitchFamily="2" charset="77"/>
              </a:rPr>
              <a:t>(</a:t>
            </a:r>
            <a:r>
              <a:rPr kumimoji="0" lang="en-US" altLang="en-US" sz="1600" b="0" i="0" u="none" strike="noStrike" cap="none" normalizeH="0" baseline="0" dirty="0">
                <a:ln>
                  <a:noFill/>
                </a:ln>
                <a:solidFill>
                  <a:srgbClr val="273239"/>
                </a:solidFill>
                <a:effectLst/>
                <a:latin typeface="Nunito" pitchFamily="2" charset="77"/>
              </a:rPr>
              <a:t> </a:t>
            </a:r>
            <a:r>
              <a:rPr kumimoji="0" lang="en-US" altLang="en-US" sz="1600" b="1" i="0" u="none" strike="noStrike" cap="none" normalizeH="0" baseline="0" dirty="0">
                <a:ln>
                  <a:noFill/>
                </a:ln>
                <a:solidFill>
                  <a:srgbClr val="273239"/>
                </a:solidFill>
                <a:effectLst/>
                <a:latin typeface="Nunito" pitchFamily="2" charset="77"/>
              </a:rPr>
              <a:t>\ ) backslash </a:t>
            </a:r>
            <a:r>
              <a:rPr kumimoji="0" lang="en-US" altLang="en-US" sz="1600" b="0" i="0" u="none" strike="noStrike" cap="none" normalizeH="0" baseline="0" dirty="0">
                <a:ln>
                  <a:noFill/>
                </a:ln>
                <a:solidFill>
                  <a:srgbClr val="273239"/>
                </a:solidFill>
                <a:effectLst/>
                <a:latin typeface="Nunito" pitchFamily="2" charset="77"/>
              </a:rPr>
              <a:t>and can be used inside string literals.</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Nunito" pitchFamily="2" charset="77"/>
              </a:rPr>
              <a:t>The below table list some commonly used escape sequences:</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68219724"/>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BC2EA-9D43-C05E-D6F8-2E19CE5878EC}"/>
              </a:ext>
            </a:extLst>
          </p:cNvPr>
          <p:cNvSpPr>
            <a:spLocks noGrp="1"/>
          </p:cNvSpPr>
          <p:nvPr>
            <p:ph type="title"/>
          </p:nvPr>
        </p:nvSpPr>
        <p:spPr/>
        <p:txBody>
          <a:bodyPr/>
          <a:lstStyle/>
          <a:p>
            <a:r>
              <a:rPr kumimoji="0" lang="en-US" altLang="en-US" sz="4400" b="1" i="0" u="none" strike="noStrike" cap="none" normalizeH="0" baseline="0" dirty="0">
                <a:ln>
                  <a:noFill/>
                </a:ln>
                <a:solidFill>
                  <a:srgbClr val="273239"/>
                </a:solidFill>
                <a:effectLst/>
                <a:latin typeface="Nunito" pitchFamily="2" charset="77"/>
              </a:rPr>
              <a:t>Operators</a:t>
            </a:r>
            <a:endParaRPr lang="en-US" dirty="0"/>
          </a:p>
        </p:txBody>
      </p:sp>
      <p:graphicFrame>
        <p:nvGraphicFramePr>
          <p:cNvPr id="4" name="Content Placeholder 3">
            <a:extLst>
              <a:ext uri="{FF2B5EF4-FFF2-40B4-BE49-F238E27FC236}">
                <a16:creationId xmlns:a16="http://schemas.microsoft.com/office/drawing/2014/main" id="{03D0FFE1-D2AB-EEDA-1709-D1AF60E31217}"/>
              </a:ext>
            </a:extLst>
          </p:cNvPr>
          <p:cNvGraphicFramePr>
            <a:graphicFrameLocks noGrp="1"/>
          </p:cNvGraphicFramePr>
          <p:nvPr>
            <p:ph idx="1"/>
            <p:extLst>
              <p:ext uri="{D42A27DB-BD31-4B8C-83A1-F6EECF244321}">
                <p14:modId xmlns:p14="http://schemas.microsoft.com/office/powerpoint/2010/main" val="3624849554"/>
              </p:ext>
            </p:extLst>
          </p:nvPr>
        </p:nvGraphicFramePr>
        <p:xfrm>
          <a:off x="1276701" y="2312863"/>
          <a:ext cx="9638597" cy="4353893"/>
        </p:xfrm>
        <a:graphic>
          <a:graphicData uri="http://schemas.openxmlformats.org/drawingml/2006/table">
            <a:tbl>
              <a:tblPr/>
              <a:tblGrid>
                <a:gridCol w="1306928">
                  <a:extLst>
                    <a:ext uri="{9D8B030D-6E8A-4147-A177-3AD203B41FA5}">
                      <a16:colId xmlns:a16="http://schemas.microsoft.com/office/drawing/2014/main" val="3809474000"/>
                    </a:ext>
                  </a:extLst>
                </a:gridCol>
                <a:gridCol w="2777223">
                  <a:extLst>
                    <a:ext uri="{9D8B030D-6E8A-4147-A177-3AD203B41FA5}">
                      <a16:colId xmlns:a16="http://schemas.microsoft.com/office/drawing/2014/main" val="693175499"/>
                    </a:ext>
                  </a:extLst>
                </a:gridCol>
                <a:gridCol w="2777223">
                  <a:extLst>
                    <a:ext uri="{9D8B030D-6E8A-4147-A177-3AD203B41FA5}">
                      <a16:colId xmlns:a16="http://schemas.microsoft.com/office/drawing/2014/main" val="4074497370"/>
                    </a:ext>
                  </a:extLst>
                </a:gridCol>
                <a:gridCol w="2777223">
                  <a:extLst>
                    <a:ext uri="{9D8B030D-6E8A-4147-A177-3AD203B41FA5}">
                      <a16:colId xmlns:a16="http://schemas.microsoft.com/office/drawing/2014/main" val="3661270707"/>
                    </a:ext>
                  </a:extLst>
                </a:gridCol>
              </a:tblGrid>
              <a:tr h="370178">
                <a:tc>
                  <a:txBody>
                    <a:bodyPr/>
                    <a:lstStyle/>
                    <a:p>
                      <a:pPr algn="ctr" fontAlgn="base"/>
                      <a:r>
                        <a:rPr lang="en-IN" sz="1300" b="1">
                          <a:effectLst/>
                          <a:latin typeface="Nunito" pitchFamily="2" charset="77"/>
                        </a:rPr>
                        <a:t>S.No.</a:t>
                      </a:r>
                    </a:p>
                  </a:txBody>
                  <a:tcPr marL="34922" marR="34922" marT="87306" marB="873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IN" sz="1300" b="1">
                          <a:effectLst/>
                          <a:latin typeface="Nunito" pitchFamily="2" charset="77"/>
                        </a:rPr>
                        <a:t>Operator Type</a:t>
                      </a:r>
                    </a:p>
                  </a:txBody>
                  <a:tcPr marL="87306" marR="87306" marT="87306" marB="873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IN" sz="1300" b="1">
                          <a:effectLst/>
                          <a:latin typeface="Nunito" pitchFamily="2" charset="77"/>
                        </a:rPr>
                        <a:t>Description</a:t>
                      </a:r>
                    </a:p>
                  </a:txBody>
                  <a:tcPr marL="87306" marR="87306" marT="87306" marB="873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IN" sz="1300" b="1">
                          <a:effectLst/>
                          <a:latin typeface="Nunito" pitchFamily="2" charset="77"/>
                        </a:rPr>
                        <a:t>Example</a:t>
                      </a:r>
                    </a:p>
                  </a:txBody>
                  <a:tcPr marL="87306" marR="87306" marT="87306" marB="873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4257270903"/>
                  </a:ext>
                </a:extLst>
              </a:tr>
              <a:tr h="593682">
                <a:tc>
                  <a:txBody>
                    <a:bodyPr/>
                    <a:lstStyle/>
                    <a:p>
                      <a:pPr algn="ctr" fontAlgn="base"/>
                      <a:r>
                        <a:rPr lang="en-IN" sz="1600" b="1">
                          <a:effectLst/>
                          <a:latin typeface="Nunito" pitchFamily="2" charset="77"/>
                        </a:rPr>
                        <a:t>1.</a:t>
                      </a:r>
                      <a:endParaRPr lang="en-IN" sz="1600" b="0">
                        <a:effectLst/>
                        <a:latin typeface="Nunito" pitchFamily="2" charset="77"/>
                      </a:endParaRPr>
                    </a:p>
                  </a:txBody>
                  <a:tcPr marL="34922" marR="34922" marT="74211" marB="7421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IN" sz="1100" b="1">
                          <a:effectLst/>
                          <a:latin typeface="Nunito" pitchFamily="2" charset="77"/>
                        </a:rPr>
                        <a:t>Arithmetic Operators</a:t>
                      </a:r>
                      <a:endParaRPr lang="en-IN" sz="1100" b="0">
                        <a:effectLst/>
                        <a:latin typeface="Nunito" pitchFamily="2" charset="77"/>
                      </a:endParaRPr>
                    </a:p>
                  </a:txBody>
                  <a:tcPr marL="87306" marR="87306" marT="122229" marB="12222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100" b="0">
                          <a:effectLst/>
                          <a:latin typeface="Nunito" pitchFamily="2" charset="77"/>
                        </a:rPr>
                        <a:t>Operators that perform arithmetic operations.</a:t>
                      </a:r>
                    </a:p>
                  </a:txBody>
                  <a:tcPr marL="87306" marR="87306" marT="122229" marB="12222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100" b="0" dirty="0">
                          <a:effectLst/>
                          <a:latin typeface="Nunito" pitchFamily="2" charset="77"/>
                        </a:rPr>
                        <a:t>+, -, *, /, %</a:t>
                      </a:r>
                    </a:p>
                  </a:txBody>
                  <a:tcPr marL="87306" marR="87306" marT="122229" marB="12222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599147922"/>
                  </a:ext>
                </a:extLst>
              </a:tr>
              <a:tr h="419069">
                <a:tc>
                  <a:txBody>
                    <a:bodyPr/>
                    <a:lstStyle/>
                    <a:p>
                      <a:pPr algn="ctr" fontAlgn="base"/>
                      <a:r>
                        <a:rPr lang="en-IN" sz="1600" b="1">
                          <a:effectLst/>
                          <a:latin typeface="Nunito" pitchFamily="2" charset="77"/>
                        </a:rPr>
                        <a:t>2.</a:t>
                      </a:r>
                      <a:endParaRPr lang="en-IN" sz="1600" b="0">
                        <a:effectLst/>
                        <a:latin typeface="Nunito" pitchFamily="2" charset="77"/>
                      </a:endParaRPr>
                    </a:p>
                  </a:txBody>
                  <a:tcPr marL="34922" marR="34922" marT="74211" marB="7421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IN" sz="1100" b="1" dirty="0">
                          <a:effectLst/>
                          <a:latin typeface="Nunito" pitchFamily="2" charset="77"/>
                        </a:rPr>
                        <a:t>Relational Operators</a:t>
                      </a:r>
                      <a:endParaRPr lang="en-IN" sz="1100" b="0" dirty="0">
                        <a:effectLst/>
                        <a:latin typeface="Nunito" pitchFamily="2" charset="77"/>
                      </a:endParaRPr>
                    </a:p>
                  </a:txBody>
                  <a:tcPr marL="87306" marR="87306" marT="122229" marB="12222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100" b="0">
                          <a:effectLst/>
                          <a:latin typeface="Nunito" pitchFamily="2" charset="77"/>
                        </a:rPr>
                        <a:t>They are used to compare two values.</a:t>
                      </a:r>
                    </a:p>
                  </a:txBody>
                  <a:tcPr marL="87306" marR="87306" marT="122229" marB="12222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100" b="0">
                          <a:effectLst/>
                          <a:latin typeface="Nunito" pitchFamily="2" charset="77"/>
                        </a:rPr>
                        <a:t>&lt;, &gt;, &lt;=, &gt;=, ==, !=</a:t>
                      </a:r>
                    </a:p>
                  </a:txBody>
                  <a:tcPr marL="87306" marR="87306" marT="122229" marB="12222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413580640"/>
                  </a:ext>
                </a:extLst>
              </a:tr>
              <a:tr h="593682">
                <a:tc>
                  <a:txBody>
                    <a:bodyPr/>
                    <a:lstStyle/>
                    <a:p>
                      <a:pPr algn="ctr" fontAlgn="base"/>
                      <a:r>
                        <a:rPr lang="en-IN" sz="1600" b="1">
                          <a:effectLst/>
                          <a:latin typeface="Nunito" pitchFamily="2" charset="77"/>
                        </a:rPr>
                        <a:t>3.</a:t>
                      </a:r>
                      <a:endParaRPr lang="en-IN" sz="1600" b="0">
                        <a:effectLst/>
                        <a:latin typeface="Nunito" pitchFamily="2" charset="77"/>
                      </a:endParaRPr>
                    </a:p>
                  </a:txBody>
                  <a:tcPr marL="34922" marR="34922" marT="74211" marB="7421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IN" sz="1100" b="1">
                          <a:effectLst/>
                          <a:latin typeface="Nunito" pitchFamily="2" charset="77"/>
                        </a:rPr>
                        <a:t>Bitwise Operators</a:t>
                      </a:r>
                      <a:endParaRPr lang="en-IN" sz="1100" b="0">
                        <a:effectLst/>
                        <a:latin typeface="Nunito" pitchFamily="2" charset="77"/>
                      </a:endParaRPr>
                    </a:p>
                  </a:txBody>
                  <a:tcPr marL="87306" marR="87306" marT="122229" marB="12222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100" b="0">
                          <a:effectLst/>
                          <a:latin typeface="Nunito" pitchFamily="2" charset="77"/>
                        </a:rPr>
                        <a:t>They are used to perform bit-level operations on integers.</a:t>
                      </a:r>
                    </a:p>
                  </a:txBody>
                  <a:tcPr marL="87306" marR="87306" marT="122229" marB="12222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100" b="0">
                          <a:effectLst/>
                          <a:latin typeface="Nunito" pitchFamily="2" charset="77"/>
                        </a:rPr>
                        <a:t>&amp;, ^, |, &lt;&lt;, &gt;&gt;, ~</a:t>
                      </a:r>
                    </a:p>
                  </a:txBody>
                  <a:tcPr marL="87306" marR="87306" marT="122229" marB="12222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8025611"/>
                  </a:ext>
                </a:extLst>
              </a:tr>
              <a:tr h="593682">
                <a:tc>
                  <a:txBody>
                    <a:bodyPr/>
                    <a:lstStyle/>
                    <a:p>
                      <a:pPr algn="ctr" fontAlgn="base"/>
                      <a:r>
                        <a:rPr lang="en-IN" sz="1600" b="1">
                          <a:effectLst/>
                          <a:latin typeface="Nunito" pitchFamily="2" charset="77"/>
                        </a:rPr>
                        <a:t>4.</a:t>
                      </a:r>
                      <a:endParaRPr lang="en-IN" sz="1600" b="0">
                        <a:effectLst/>
                        <a:latin typeface="Nunito" pitchFamily="2" charset="77"/>
                      </a:endParaRPr>
                    </a:p>
                  </a:txBody>
                  <a:tcPr marL="34922" marR="34922" marT="74211" marB="7421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IN" sz="1100" b="1">
                          <a:effectLst/>
                          <a:latin typeface="Nunito" pitchFamily="2" charset="77"/>
                        </a:rPr>
                        <a:t>Logical Operators</a:t>
                      </a:r>
                      <a:endParaRPr lang="en-IN" sz="1100" b="0">
                        <a:effectLst/>
                        <a:latin typeface="Nunito" pitchFamily="2" charset="77"/>
                      </a:endParaRPr>
                    </a:p>
                  </a:txBody>
                  <a:tcPr marL="87306" marR="87306" marT="122229" marB="12222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100" b="0">
                          <a:effectLst/>
                          <a:latin typeface="Nunito" pitchFamily="2" charset="77"/>
                        </a:rPr>
                        <a:t>They perform logical operations such as logical AND, logical OR, etc.</a:t>
                      </a:r>
                    </a:p>
                  </a:txBody>
                  <a:tcPr marL="87306" marR="87306" marT="122229" marB="12222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100" b="0">
                          <a:effectLst/>
                          <a:latin typeface="Nunito" pitchFamily="2" charset="77"/>
                        </a:rPr>
                        <a:t>&amp;&amp;, ||, !</a:t>
                      </a:r>
                    </a:p>
                  </a:txBody>
                  <a:tcPr marL="87306" marR="87306" marT="122229" marB="12222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814167935"/>
                  </a:ext>
                </a:extLst>
              </a:tr>
              <a:tr h="593682">
                <a:tc>
                  <a:txBody>
                    <a:bodyPr/>
                    <a:lstStyle/>
                    <a:p>
                      <a:pPr algn="ctr" fontAlgn="base"/>
                      <a:r>
                        <a:rPr lang="en-IN" sz="1600" b="1">
                          <a:effectLst/>
                          <a:latin typeface="Nunito" pitchFamily="2" charset="77"/>
                        </a:rPr>
                        <a:t>5.</a:t>
                      </a:r>
                      <a:endParaRPr lang="en-IN" sz="1600" b="0">
                        <a:effectLst/>
                        <a:latin typeface="Nunito" pitchFamily="2" charset="77"/>
                      </a:endParaRPr>
                    </a:p>
                  </a:txBody>
                  <a:tcPr marL="34922" marR="34922" marT="74211" marB="7421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IN" sz="1100" b="1">
                          <a:effectLst/>
                          <a:latin typeface="Nunito" pitchFamily="2" charset="77"/>
                        </a:rPr>
                        <a:t>Conditional Operators</a:t>
                      </a:r>
                      <a:endParaRPr lang="en-IN" sz="1100" b="0">
                        <a:effectLst/>
                        <a:latin typeface="Nunito" pitchFamily="2" charset="77"/>
                      </a:endParaRPr>
                    </a:p>
                  </a:txBody>
                  <a:tcPr marL="87306" marR="87306" marT="122229" marB="12222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100" b="0">
                          <a:effectLst/>
                          <a:latin typeface="Nunito" pitchFamily="2" charset="77"/>
                        </a:rPr>
                        <a:t>The conditional Operator is used to insert conditional code.</a:t>
                      </a:r>
                    </a:p>
                  </a:txBody>
                  <a:tcPr marL="87306" marR="87306" marT="122229" marB="12222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100" b="0">
                          <a:effectLst/>
                          <a:latin typeface="Nunito" pitchFamily="2" charset="77"/>
                        </a:rPr>
                        <a:t>? :</a:t>
                      </a:r>
                    </a:p>
                  </a:txBody>
                  <a:tcPr marL="87306" marR="87306" marT="122229" marB="12222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208396243"/>
                  </a:ext>
                </a:extLst>
              </a:tr>
              <a:tr h="593682">
                <a:tc>
                  <a:txBody>
                    <a:bodyPr/>
                    <a:lstStyle/>
                    <a:p>
                      <a:pPr algn="ctr" fontAlgn="base"/>
                      <a:r>
                        <a:rPr lang="en-IN" sz="1600" b="1">
                          <a:effectLst/>
                          <a:latin typeface="Nunito" pitchFamily="2" charset="77"/>
                        </a:rPr>
                        <a:t>6.</a:t>
                      </a:r>
                      <a:endParaRPr lang="en-IN" sz="1600" b="0">
                        <a:effectLst/>
                        <a:latin typeface="Nunito" pitchFamily="2" charset="77"/>
                      </a:endParaRPr>
                    </a:p>
                  </a:txBody>
                  <a:tcPr marL="34922" marR="34922" marT="74211" marB="7421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IN" sz="1100" b="1">
                          <a:effectLst/>
                          <a:latin typeface="Nunito" pitchFamily="2" charset="77"/>
                        </a:rPr>
                        <a:t>Assignment Operators</a:t>
                      </a:r>
                      <a:endParaRPr lang="en-IN" sz="1100" b="0">
                        <a:effectLst/>
                        <a:latin typeface="Nunito" pitchFamily="2" charset="77"/>
                      </a:endParaRPr>
                    </a:p>
                  </a:txBody>
                  <a:tcPr marL="87306" marR="87306" marT="122229" marB="12222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100" b="0">
                          <a:effectLst/>
                          <a:latin typeface="Nunito" pitchFamily="2" charset="77"/>
                        </a:rPr>
                        <a:t>They are used to assign some value to the variables.</a:t>
                      </a:r>
                    </a:p>
                  </a:txBody>
                  <a:tcPr marL="87306" marR="87306" marT="122229" marB="12222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100" b="0">
                          <a:effectLst/>
                          <a:latin typeface="Nunito" pitchFamily="2" charset="77"/>
                        </a:rPr>
                        <a:t>=, +=, -=, &lt;&lt;=</a:t>
                      </a:r>
                    </a:p>
                  </a:txBody>
                  <a:tcPr marL="87306" marR="87306" marT="122229" marB="12222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222623924"/>
                  </a:ext>
                </a:extLst>
              </a:tr>
              <a:tr h="593682">
                <a:tc>
                  <a:txBody>
                    <a:bodyPr/>
                    <a:lstStyle/>
                    <a:p>
                      <a:pPr algn="ctr" fontAlgn="base"/>
                      <a:r>
                        <a:rPr lang="en-IN" sz="1600" b="1">
                          <a:effectLst/>
                          <a:latin typeface="Nunito" pitchFamily="2" charset="77"/>
                        </a:rPr>
                        <a:t>7.</a:t>
                      </a:r>
                      <a:endParaRPr lang="en-IN" sz="1600" b="0">
                        <a:effectLst/>
                        <a:latin typeface="Nunito" pitchFamily="2" charset="77"/>
                      </a:endParaRPr>
                    </a:p>
                  </a:txBody>
                  <a:tcPr marL="34922" marR="34922" marT="74211" marB="7421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IN" sz="1100" b="1">
                          <a:effectLst/>
                          <a:latin typeface="Nunito" pitchFamily="2" charset="77"/>
                        </a:rPr>
                        <a:t>Miscellaneous Operators</a:t>
                      </a:r>
                      <a:endParaRPr lang="en-IN" sz="1100" b="0">
                        <a:effectLst/>
                        <a:latin typeface="Nunito" pitchFamily="2" charset="77"/>
                      </a:endParaRPr>
                    </a:p>
                  </a:txBody>
                  <a:tcPr marL="87306" marR="87306" marT="122229" marB="12222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100" b="0">
                          <a:effectLst/>
                          <a:latin typeface="Nunito" pitchFamily="2" charset="77"/>
                        </a:rPr>
                        <a:t>comma, addressof, sizeof, etc. are some other types of operators.</a:t>
                      </a:r>
                    </a:p>
                  </a:txBody>
                  <a:tcPr marL="87306" marR="87306" marT="122229" marB="12222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100" b="0" dirty="0">
                          <a:effectLst/>
                          <a:latin typeface="Nunito" pitchFamily="2" charset="77"/>
                        </a:rPr>
                        <a:t> , </a:t>
                      </a:r>
                      <a:r>
                        <a:rPr lang="en-IN" sz="1100" b="0" dirty="0" err="1">
                          <a:effectLst/>
                          <a:latin typeface="Nunito" pitchFamily="2" charset="77"/>
                        </a:rPr>
                        <a:t>sizeof</a:t>
                      </a:r>
                      <a:r>
                        <a:rPr lang="en-IN" sz="1100" b="0" dirty="0">
                          <a:effectLst/>
                          <a:latin typeface="Nunito" pitchFamily="2" charset="77"/>
                        </a:rPr>
                        <a:t>, &amp;, *, -&gt;, .</a:t>
                      </a:r>
                    </a:p>
                  </a:txBody>
                  <a:tcPr marL="87306" marR="87306" marT="122229" marB="12222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758256849"/>
                  </a:ext>
                </a:extLst>
              </a:tr>
            </a:tbl>
          </a:graphicData>
        </a:graphic>
      </p:graphicFrame>
      <p:sp>
        <p:nvSpPr>
          <p:cNvPr id="5" name="Rectangle 1">
            <a:extLst>
              <a:ext uri="{FF2B5EF4-FFF2-40B4-BE49-F238E27FC236}">
                <a16:creationId xmlns:a16="http://schemas.microsoft.com/office/drawing/2014/main" id="{9C52B22E-632B-CB9D-B805-B3335DFC297B}"/>
              </a:ext>
            </a:extLst>
          </p:cNvPr>
          <p:cNvSpPr>
            <a:spLocks noChangeArrowheads="1"/>
          </p:cNvSpPr>
          <p:nvPr/>
        </p:nvSpPr>
        <p:spPr bwMode="auto">
          <a:xfrm>
            <a:off x="637523" y="1275189"/>
            <a:ext cx="10610850" cy="83099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Nunito" pitchFamily="2" charset="77"/>
              </a:rPr>
              <a:t>Operators are the symbols that are used to perform some kind of operation. Operators can be classified based on the type of operation they perform.</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Nunito" pitchFamily="2" charset="77"/>
              </a:rPr>
              <a:t>There are the following types of operators in C:</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7217482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7800F-FAD6-C462-6036-9D826A1F366E}"/>
              </a:ext>
            </a:extLst>
          </p:cNvPr>
          <p:cNvSpPr>
            <a:spLocks noGrp="1"/>
          </p:cNvSpPr>
          <p:nvPr>
            <p:ph type="title"/>
          </p:nvPr>
        </p:nvSpPr>
        <p:spPr/>
        <p:txBody>
          <a:bodyPr/>
          <a:lstStyle/>
          <a:p>
            <a:r>
              <a:rPr lang="en-IN" b="1" i="0" dirty="0">
                <a:solidFill>
                  <a:srgbClr val="273239"/>
                </a:solidFill>
                <a:effectLst/>
                <a:latin typeface="Nunito" pitchFamily="2" charset="77"/>
              </a:rPr>
              <a:t>Conditional Statements</a:t>
            </a:r>
            <a:endParaRPr lang="en-US" dirty="0"/>
          </a:p>
        </p:txBody>
      </p:sp>
      <p:sp>
        <p:nvSpPr>
          <p:cNvPr id="3" name="Content Placeholder 2">
            <a:extLst>
              <a:ext uri="{FF2B5EF4-FFF2-40B4-BE49-F238E27FC236}">
                <a16:creationId xmlns:a16="http://schemas.microsoft.com/office/drawing/2014/main" id="{187A7F6A-0B3B-46EE-32CA-54DAA2BFC8D4}"/>
              </a:ext>
            </a:extLst>
          </p:cNvPr>
          <p:cNvSpPr>
            <a:spLocks noGrp="1"/>
          </p:cNvSpPr>
          <p:nvPr>
            <p:ph idx="1"/>
          </p:nvPr>
        </p:nvSpPr>
        <p:spPr/>
        <p:txBody>
          <a:bodyPr/>
          <a:lstStyle/>
          <a:p>
            <a:pPr algn="l" rtl="0" fontAlgn="base"/>
            <a:r>
              <a:rPr lang="en-IN" b="0" i="0" dirty="0">
                <a:solidFill>
                  <a:srgbClr val="273239"/>
                </a:solidFill>
                <a:effectLst/>
                <a:latin typeface="Nunito" pitchFamily="2" charset="77"/>
              </a:rPr>
              <a:t>Conditional statements are used to execute some block of code based on whether the given condition is true. There are the following conditional statements in C:</a:t>
            </a:r>
          </a:p>
          <a:p>
            <a:pPr algn="l" fontAlgn="base"/>
            <a:r>
              <a:rPr lang="en-IN" b="1" i="0" dirty="0">
                <a:solidFill>
                  <a:srgbClr val="273239"/>
                </a:solidFill>
                <a:effectLst/>
                <a:latin typeface="Nunito" pitchFamily="2" charset="77"/>
              </a:rPr>
              <a:t>1. if Statement</a:t>
            </a:r>
          </a:p>
          <a:p>
            <a:pPr algn="l" rtl="0" fontAlgn="base"/>
            <a:r>
              <a:rPr lang="en-IN" b="0" i="0" dirty="0">
                <a:solidFill>
                  <a:srgbClr val="273239"/>
                </a:solidFill>
                <a:effectLst/>
                <a:latin typeface="Nunito" pitchFamily="2" charset="77"/>
              </a:rPr>
              <a:t>if statement contains a block of code that will be executed if and only if the given condition is true.</a:t>
            </a:r>
          </a:p>
          <a:p>
            <a:pPr algn="l" rtl="0" fontAlgn="base"/>
            <a:r>
              <a:rPr lang="en-IN" b="1" i="0" dirty="0">
                <a:solidFill>
                  <a:srgbClr val="273239"/>
                </a:solidFill>
                <a:effectLst/>
                <a:latin typeface="Nunito" pitchFamily="2" charset="77"/>
              </a:rPr>
              <a:t>Syntax of if</a:t>
            </a:r>
            <a:endParaRPr lang="en-IN" b="0" i="0" dirty="0">
              <a:solidFill>
                <a:srgbClr val="273239"/>
              </a:solidFill>
              <a:effectLst/>
              <a:latin typeface="Nunito" pitchFamily="2" charset="77"/>
            </a:endParaRPr>
          </a:p>
          <a:p>
            <a:r>
              <a:rPr lang="en-IN" b="1" dirty="0">
                <a:effectLst/>
                <a:highlight>
                  <a:srgbClr val="00FF00"/>
                </a:highlight>
                <a:latin typeface="Nunito" pitchFamily="2" charset="77"/>
              </a:rPr>
              <a:t>if</a:t>
            </a:r>
            <a:r>
              <a:rPr lang="en-IN" dirty="0">
                <a:effectLst/>
                <a:highlight>
                  <a:srgbClr val="00FF00"/>
                </a:highlight>
                <a:latin typeface="Consolas" panose="020B0609020204030204" pitchFamily="49" charset="0"/>
              </a:rPr>
              <a:t> (condition) { // </a:t>
            </a:r>
            <a:r>
              <a:rPr lang="en-IN" i="1" dirty="0">
                <a:effectLst/>
                <a:highlight>
                  <a:srgbClr val="00FF00"/>
                </a:highlight>
                <a:latin typeface="Nunito" pitchFamily="2" charset="77"/>
              </a:rPr>
              <a:t>statements</a:t>
            </a:r>
            <a:r>
              <a:rPr lang="en-IN" dirty="0">
                <a:effectLst/>
                <a:highlight>
                  <a:srgbClr val="00FF00"/>
                </a:highlight>
                <a:latin typeface="Consolas" panose="020B0609020204030204" pitchFamily="49" charset="0"/>
              </a:rPr>
              <a:t> }</a:t>
            </a:r>
            <a:endParaRPr lang="en-US" dirty="0">
              <a:highlight>
                <a:srgbClr val="00FF00"/>
              </a:highlight>
            </a:endParaRPr>
          </a:p>
        </p:txBody>
      </p:sp>
    </p:spTree>
    <p:extLst>
      <p:ext uri="{BB962C8B-B14F-4D97-AF65-F5344CB8AC3E}">
        <p14:creationId xmlns:p14="http://schemas.microsoft.com/office/powerpoint/2010/main" val="2464081916"/>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AFECB-C48F-75DA-18E5-EA57DE13EC6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4BDBE20-2D22-C68A-F8E6-A86AC0DBAC20}"/>
              </a:ext>
            </a:extLst>
          </p:cNvPr>
          <p:cNvSpPr>
            <a:spLocks noGrp="1"/>
          </p:cNvSpPr>
          <p:nvPr>
            <p:ph idx="1"/>
          </p:nvPr>
        </p:nvSpPr>
        <p:spPr/>
        <p:txBody>
          <a:bodyPr/>
          <a:lstStyle/>
          <a:p>
            <a:pPr algn="l" fontAlgn="base"/>
            <a:r>
              <a:rPr lang="en-IN" b="1" i="0" dirty="0">
                <a:solidFill>
                  <a:srgbClr val="273239"/>
                </a:solidFill>
                <a:effectLst/>
                <a:latin typeface="Nunito" pitchFamily="2" charset="77"/>
              </a:rPr>
              <a:t>2. if-else Statements</a:t>
            </a:r>
          </a:p>
          <a:p>
            <a:pPr algn="l" rtl="0" fontAlgn="base"/>
            <a:r>
              <a:rPr lang="en-IN" b="0" i="0" dirty="0">
                <a:solidFill>
                  <a:srgbClr val="273239"/>
                </a:solidFill>
                <a:effectLst/>
                <a:latin typeface="Nunito" pitchFamily="2" charset="77"/>
              </a:rPr>
              <a:t>The if-else statement contains the else block in addition to the if block which will be executed if the given condition is false.</a:t>
            </a:r>
          </a:p>
          <a:p>
            <a:pPr algn="l" rtl="0" fontAlgn="base"/>
            <a:r>
              <a:rPr lang="en-IN" b="1" i="0" dirty="0">
                <a:solidFill>
                  <a:srgbClr val="273239"/>
                </a:solidFill>
                <a:effectLst/>
                <a:latin typeface="Nunito" pitchFamily="2" charset="77"/>
              </a:rPr>
              <a:t>Syntax if-else</a:t>
            </a:r>
            <a:endParaRPr lang="en-IN" b="0" i="0" dirty="0">
              <a:solidFill>
                <a:srgbClr val="273239"/>
              </a:solidFill>
              <a:effectLst/>
              <a:latin typeface="Nunito" pitchFamily="2" charset="77"/>
            </a:endParaRPr>
          </a:p>
          <a:p>
            <a:r>
              <a:rPr lang="en-IN" b="1" dirty="0">
                <a:effectLst/>
                <a:highlight>
                  <a:srgbClr val="00FF00"/>
                </a:highlight>
                <a:latin typeface="Nunito" pitchFamily="2" charset="77"/>
              </a:rPr>
              <a:t>if </a:t>
            </a:r>
            <a:r>
              <a:rPr lang="en-IN" dirty="0">
                <a:effectLst/>
                <a:highlight>
                  <a:srgbClr val="00FF00"/>
                </a:highlight>
                <a:latin typeface="Consolas" panose="020B0609020204030204" pitchFamily="49" charset="0"/>
              </a:rPr>
              <a:t>(expression) </a:t>
            </a:r>
          </a:p>
          <a:p>
            <a:r>
              <a:rPr lang="en-IN" dirty="0">
                <a:effectLst/>
                <a:highlight>
                  <a:srgbClr val="00FF00"/>
                </a:highlight>
                <a:latin typeface="Consolas" panose="020B0609020204030204" pitchFamily="49" charset="0"/>
              </a:rPr>
              <a:t>{ </a:t>
            </a:r>
            <a:r>
              <a:rPr lang="en-IN" i="1" dirty="0">
                <a:effectLst/>
                <a:highlight>
                  <a:srgbClr val="00FF00"/>
                </a:highlight>
                <a:latin typeface="Nunito" pitchFamily="2" charset="77"/>
              </a:rPr>
              <a:t>// if block</a:t>
            </a:r>
            <a:r>
              <a:rPr lang="en-IN" dirty="0">
                <a:effectLst/>
                <a:highlight>
                  <a:srgbClr val="00FF00"/>
                </a:highlight>
                <a:latin typeface="Consolas" panose="020B0609020204030204" pitchFamily="49" charset="0"/>
              </a:rPr>
              <a:t> } </a:t>
            </a:r>
          </a:p>
          <a:p>
            <a:r>
              <a:rPr lang="en-IN" b="1" dirty="0">
                <a:effectLst/>
                <a:highlight>
                  <a:srgbClr val="00FF00"/>
                </a:highlight>
                <a:latin typeface="Nunito" pitchFamily="2" charset="77"/>
              </a:rPr>
              <a:t>else</a:t>
            </a:r>
            <a:r>
              <a:rPr lang="en-IN" dirty="0">
                <a:effectLst/>
                <a:highlight>
                  <a:srgbClr val="00FF00"/>
                </a:highlight>
                <a:latin typeface="Consolas" panose="020B0609020204030204" pitchFamily="49" charset="0"/>
              </a:rPr>
              <a:t> </a:t>
            </a:r>
          </a:p>
          <a:p>
            <a:r>
              <a:rPr lang="en-IN" dirty="0">
                <a:effectLst/>
                <a:highlight>
                  <a:srgbClr val="00FF00"/>
                </a:highlight>
                <a:latin typeface="Consolas" panose="020B0609020204030204" pitchFamily="49" charset="0"/>
              </a:rPr>
              <a:t>{ </a:t>
            </a:r>
            <a:r>
              <a:rPr lang="en-IN" i="1" dirty="0">
                <a:effectLst/>
                <a:highlight>
                  <a:srgbClr val="00FF00"/>
                </a:highlight>
                <a:latin typeface="Nunito" pitchFamily="2" charset="77"/>
              </a:rPr>
              <a:t>// else block</a:t>
            </a:r>
            <a:r>
              <a:rPr lang="en-IN" dirty="0">
                <a:effectLst/>
                <a:highlight>
                  <a:srgbClr val="00FF00"/>
                </a:highlight>
                <a:latin typeface="Consolas" panose="020B0609020204030204" pitchFamily="49" charset="0"/>
              </a:rPr>
              <a:t> }</a:t>
            </a:r>
            <a:br>
              <a:rPr lang="en-IN" dirty="0"/>
            </a:br>
            <a:endParaRPr lang="en-US" dirty="0"/>
          </a:p>
        </p:txBody>
      </p:sp>
    </p:spTree>
    <p:extLst>
      <p:ext uri="{BB962C8B-B14F-4D97-AF65-F5344CB8AC3E}">
        <p14:creationId xmlns:p14="http://schemas.microsoft.com/office/powerpoint/2010/main" val="3109587736"/>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126D0-0315-839E-5B16-20914FB5F69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5314AED-5809-A1D7-732C-5272EDA9035F}"/>
              </a:ext>
            </a:extLst>
          </p:cNvPr>
          <p:cNvSpPr>
            <a:spLocks noGrp="1"/>
          </p:cNvSpPr>
          <p:nvPr>
            <p:ph idx="1"/>
          </p:nvPr>
        </p:nvSpPr>
        <p:spPr/>
        <p:txBody>
          <a:bodyPr>
            <a:normAutofit fontScale="85000" lnSpcReduction="20000"/>
          </a:bodyPr>
          <a:lstStyle/>
          <a:p>
            <a:pPr algn="l" fontAlgn="base"/>
            <a:r>
              <a:rPr lang="en-IN" b="1" i="0" dirty="0">
                <a:solidFill>
                  <a:srgbClr val="273239"/>
                </a:solidFill>
                <a:effectLst/>
                <a:latin typeface="Nunito" pitchFamily="2" charset="77"/>
              </a:rPr>
              <a:t>3. if-else-if Ladder</a:t>
            </a:r>
          </a:p>
          <a:p>
            <a:pPr algn="l" rtl="0" fontAlgn="base"/>
            <a:r>
              <a:rPr lang="en-IN" b="0" i="0" dirty="0">
                <a:solidFill>
                  <a:srgbClr val="273239"/>
                </a:solidFill>
                <a:effectLst/>
                <a:latin typeface="Nunito" pitchFamily="2" charset="77"/>
              </a:rPr>
              <a:t>The if-else-if ladder is used when we have to test multiple conditions and for each of these conditions, we have a separate block of code.</a:t>
            </a:r>
          </a:p>
          <a:p>
            <a:pPr algn="l" rtl="0" fontAlgn="base"/>
            <a:r>
              <a:rPr lang="en-IN" b="1" i="0" dirty="0">
                <a:solidFill>
                  <a:srgbClr val="273239"/>
                </a:solidFill>
                <a:effectLst/>
                <a:latin typeface="Nunito" pitchFamily="2" charset="77"/>
              </a:rPr>
              <a:t>Syntax of if-else-if</a:t>
            </a:r>
            <a:endParaRPr lang="en-IN" b="0" i="0" dirty="0">
              <a:solidFill>
                <a:srgbClr val="273239"/>
              </a:solidFill>
              <a:effectLst/>
              <a:latin typeface="Nunito" pitchFamily="2" charset="77"/>
            </a:endParaRPr>
          </a:p>
          <a:p>
            <a:r>
              <a:rPr lang="en-IN" b="1" dirty="0">
                <a:effectLst/>
                <a:highlight>
                  <a:srgbClr val="00FF00"/>
                </a:highlight>
                <a:latin typeface="Nunito" pitchFamily="2" charset="77"/>
              </a:rPr>
              <a:t>if </a:t>
            </a:r>
            <a:r>
              <a:rPr lang="en-IN" dirty="0">
                <a:effectLst/>
                <a:highlight>
                  <a:srgbClr val="00FF00"/>
                </a:highlight>
                <a:latin typeface="Consolas" panose="020B0609020204030204" pitchFamily="49" charset="0"/>
              </a:rPr>
              <a:t>(expression) </a:t>
            </a:r>
          </a:p>
          <a:p>
            <a:r>
              <a:rPr lang="en-IN" dirty="0">
                <a:effectLst/>
                <a:highlight>
                  <a:srgbClr val="00FF00"/>
                </a:highlight>
                <a:latin typeface="Consolas" panose="020B0609020204030204" pitchFamily="49" charset="0"/>
              </a:rPr>
              <a:t>{ </a:t>
            </a:r>
            <a:r>
              <a:rPr lang="en-IN" i="1" dirty="0">
                <a:effectLst/>
                <a:highlight>
                  <a:srgbClr val="00FF00"/>
                </a:highlight>
                <a:latin typeface="Nunito" pitchFamily="2" charset="77"/>
              </a:rPr>
              <a:t>// block 1</a:t>
            </a:r>
            <a:r>
              <a:rPr lang="en-IN" dirty="0">
                <a:effectLst/>
                <a:highlight>
                  <a:srgbClr val="00FF00"/>
                </a:highlight>
                <a:latin typeface="Consolas" panose="020B0609020204030204" pitchFamily="49" charset="0"/>
              </a:rPr>
              <a:t> } </a:t>
            </a:r>
          </a:p>
          <a:p>
            <a:r>
              <a:rPr lang="en-IN" b="1" dirty="0">
                <a:effectLst/>
                <a:highlight>
                  <a:srgbClr val="00FF00"/>
                </a:highlight>
                <a:latin typeface="Nunito" pitchFamily="2" charset="77"/>
              </a:rPr>
              <a:t>else if</a:t>
            </a:r>
            <a:r>
              <a:rPr lang="en-IN" dirty="0">
                <a:effectLst/>
                <a:highlight>
                  <a:srgbClr val="00FF00"/>
                </a:highlight>
                <a:latin typeface="Consolas" panose="020B0609020204030204" pitchFamily="49" charset="0"/>
              </a:rPr>
              <a:t> (expression) </a:t>
            </a:r>
          </a:p>
          <a:p>
            <a:r>
              <a:rPr lang="en-IN" dirty="0">
                <a:effectLst/>
                <a:highlight>
                  <a:srgbClr val="00FF00"/>
                </a:highlight>
                <a:latin typeface="Consolas" panose="020B0609020204030204" pitchFamily="49" charset="0"/>
              </a:rPr>
              <a:t>{ </a:t>
            </a:r>
            <a:r>
              <a:rPr lang="en-IN" i="1" dirty="0">
                <a:effectLst/>
                <a:highlight>
                  <a:srgbClr val="00FF00"/>
                </a:highlight>
                <a:latin typeface="Nunito" pitchFamily="2" charset="77"/>
              </a:rPr>
              <a:t>// block 1</a:t>
            </a:r>
            <a:r>
              <a:rPr lang="en-IN" dirty="0">
                <a:effectLst/>
                <a:highlight>
                  <a:srgbClr val="00FF00"/>
                </a:highlight>
                <a:latin typeface="Consolas" panose="020B0609020204030204" pitchFamily="49" charset="0"/>
              </a:rPr>
              <a:t> } </a:t>
            </a:r>
          </a:p>
          <a:p>
            <a:r>
              <a:rPr lang="en-IN" dirty="0">
                <a:effectLst/>
                <a:highlight>
                  <a:srgbClr val="00FF00"/>
                </a:highlight>
                <a:latin typeface="Consolas" panose="020B0609020204030204" pitchFamily="49" charset="0"/>
              </a:rPr>
              <a:t>. . . </a:t>
            </a:r>
          </a:p>
          <a:p>
            <a:r>
              <a:rPr lang="en-IN" b="1" dirty="0">
                <a:effectLst/>
                <a:highlight>
                  <a:srgbClr val="00FF00"/>
                </a:highlight>
                <a:latin typeface="Nunito" pitchFamily="2" charset="77"/>
              </a:rPr>
              <a:t>else</a:t>
            </a:r>
            <a:r>
              <a:rPr lang="en-IN" dirty="0">
                <a:effectLst/>
                <a:highlight>
                  <a:srgbClr val="00FF00"/>
                </a:highlight>
                <a:latin typeface="Consolas" panose="020B0609020204030204" pitchFamily="49" charset="0"/>
              </a:rPr>
              <a:t> </a:t>
            </a:r>
          </a:p>
          <a:p>
            <a:r>
              <a:rPr lang="en-IN" dirty="0">
                <a:effectLst/>
                <a:highlight>
                  <a:srgbClr val="00FF00"/>
                </a:highlight>
                <a:latin typeface="Consolas" panose="020B0609020204030204" pitchFamily="49" charset="0"/>
              </a:rPr>
              <a:t>{ </a:t>
            </a:r>
            <a:r>
              <a:rPr lang="en-IN" i="1" dirty="0">
                <a:effectLst/>
                <a:highlight>
                  <a:srgbClr val="00FF00"/>
                </a:highlight>
                <a:latin typeface="Nunito" pitchFamily="2" charset="77"/>
              </a:rPr>
              <a:t>// else block</a:t>
            </a:r>
            <a:r>
              <a:rPr lang="en-IN" dirty="0">
                <a:effectLst/>
                <a:highlight>
                  <a:srgbClr val="00FF00"/>
                </a:highlight>
                <a:latin typeface="Consolas" panose="020B0609020204030204" pitchFamily="49" charset="0"/>
              </a:rPr>
              <a:t> }</a:t>
            </a:r>
            <a:endParaRPr lang="en-US" dirty="0">
              <a:highlight>
                <a:srgbClr val="00FF00"/>
              </a:highlight>
            </a:endParaRPr>
          </a:p>
        </p:txBody>
      </p:sp>
    </p:spTree>
    <p:extLst>
      <p:ext uri="{BB962C8B-B14F-4D97-AF65-F5344CB8AC3E}">
        <p14:creationId xmlns:p14="http://schemas.microsoft.com/office/powerpoint/2010/main" val="1281547754"/>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50BBE-B684-D7C0-9B8D-54874A4A4E0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E80F852-771F-36C0-B0DE-232219AE167E}"/>
              </a:ext>
            </a:extLst>
          </p:cNvPr>
          <p:cNvSpPr>
            <a:spLocks noGrp="1"/>
          </p:cNvSpPr>
          <p:nvPr>
            <p:ph idx="1"/>
          </p:nvPr>
        </p:nvSpPr>
        <p:spPr/>
        <p:txBody>
          <a:bodyPr>
            <a:normAutofit fontScale="92500" lnSpcReduction="20000"/>
          </a:bodyPr>
          <a:lstStyle/>
          <a:p>
            <a:pPr algn="l" fontAlgn="base"/>
            <a:r>
              <a:rPr lang="en-IN" b="1" i="0" dirty="0">
                <a:solidFill>
                  <a:srgbClr val="273239"/>
                </a:solidFill>
                <a:effectLst/>
                <a:latin typeface="Nunito" pitchFamily="2" charset="77"/>
              </a:rPr>
              <a:t>4. switch Case Statement</a:t>
            </a:r>
          </a:p>
          <a:p>
            <a:pPr algn="l" rtl="0" fontAlgn="base"/>
            <a:r>
              <a:rPr lang="en-IN" b="0" i="0" dirty="0">
                <a:solidFill>
                  <a:srgbClr val="273239"/>
                </a:solidFill>
                <a:effectLst/>
                <a:latin typeface="Nunito" pitchFamily="2" charset="77"/>
              </a:rPr>
              <a:t>The switch case statement is an alternative to the if-else-if ladder that can execute different blocks of statements based on the value of the single variable named switch variable.</a:t>
            </a:r>
          </a:p>
          <a:p>
            <a:pPr algn="l" rtl="0" fontAlgn="base"/>
            <a:r>
              <a:rPr lang="en-IN" b="1" i="0" dirty="0">
                <a:solidFill>
                  <a:srgbClr val="273239"/>
                </a:solidFill>
                <a:effectLst/>
                <a:latin typeface="Nunito" pitchFamily="2" charset="77"/>
              </a:rPr>
              <a:t>Syntax of switch</a:t>
            </a:r>
            <a:endParaRPr lang="en-IN" b="0" i="0" dirty="0">
              <a:solidFill>
                <a:srgbClr val="273239"/>
              </a:solidFill>
              <a:effectLst/>
              <a:latin typeface="Nunito" pitchFamily="2" charset="77"/>
            </a:endParaRPr>
          </a:p>
          <a:p>
            <a:r>
              <a:rPr lang="en-IN" b="1" dirty="0">
                <a:effectLst/>
                <a:highlight>
                  <a:srgbClr val="00FF00"/>
                </a:highlight>
                <a:latin typeface="Nunito" pitchFamily="2" charset="77"/>
              </a:rPr>
              <a:t>switch </a:t>
            </a:r>
            <a:r>
              <a:rPr lang="en-IN" dirty="0">
                <a:effectLst/>
                <a:highlight>
                  <a:srgbClr val="00FF00"/>
                </a:highlight>
                <a:latin typeface="Consolas" panose="020B0609020204030204" pitchFamily="49" charset="0"/>
              </a:rPr>
              <a:t>(expression) </a:t>
            </a:r>
          </a:p>
          <a:p>
            <a:r>
              <a:rPr lang="en-IN" dirty="0">
                <a:effectLst/>
                <a:highlight>
                  <a:srgbClr val="00FF00"/>
                </a:highlight>
                <a:latin typeface="Consolas" panose="020B0609020204030204" pitchFamily="49" charset="0"/>
              </a:rPr>
              <a:t>{ </a:t>
            </a:r>
            <a:r>
              <a:rPr lang="en-IN" b="1" dirty="0">
                <a:effectLst/>
                <a:highlight>
                  <a:srgbClr val="00FF00"/>
                </a:highlight>
                <a:latin typeface="Nunito" pitchFamily="2" charset="77"/>
              </a:rPr>
              <a:t>case </a:t>
            </a:r>
            <a:r>
              <a:rPr lang="en-IN" dirty="0">
                <a:effectLst/>
                <a:highlight>
                  <a:srgbClr val="00FF00"/>
                </a:highlight>
                <a:latin typeface="Consolas" panose="020B0609020204030204" pitchFamily="49" charset="0"/>
              </a:rPr>
              <a:t>value1: </a:t>
            </a:r>
            <a:r>
              <a:rPr lang="en-IN" i="1" dirty="0">
                <a:effectLst/>
                <a:highlight>
                  <a:srgbClr val="00FF00"/>
                </a:highlight>
                <a:latin typeface="Nunito" pitchFamily="2" charset="77"/>
              </a:rPr>
              <a:t>// statements</a:t>
            </a:r>
            <a:r>
              <a:rPr lang="en-IN" dirty="0">
                <a:effectLst/>
                <a:highlight>
                  <a:srgbClr val="00FF00"/>
                </a:highlight>
                <a:latin typeface="Consolas" panose="020B0609020204030204" pitchFamily="49" charset="0"/>
              </a:rPr>
              <a:t> break; </a:t>
            </a:r>
          </a:p>
          <a:p>
            <a:r>
              <a:rPr lang="en-IN" b="1" dirty="0">
                <a:effectLst/>
                <a:highlight>
                  <a:srgbClr val="00FF00"/>
                </a:highlight>
                <a:latin typeface="Nunito" pitchFamily="2" charset="77"/>
              </a:rPr>
              <a:t>case </a:t>
            </a:r>
            <a:r>
              <a:rPr lang="en-IN" dirty="0">
                <a:effectLst/>
                <a:highlight>
                  <a:srgbClr val="00FF00"/>
                </a:highlight>
                <a:latin typeface="Consolas" panose="020B0609020204030204" pitchFamily="49" charset="0"/>
              </a:rPr>
              <a:t>value2: </a:t>
            </a:r>
            <a:r>
              <a:rPr lang="en-IN" i="1" dirty="0">
                <a:effectLst/>
                <a:highlight>
                  <a:srgbClr val="00FF00"/>
                </a:highlight>
                <a:latin typeface="Nunito" pitchFamily="2" charset="77"/>
              </a:rPr>
              <a:t>// statements</a:t>
            </a:r>
            <a:r>
              <a:rPr lang="en-IN" dirty="0">
                <a:effectLst/>
                <a:highlight>
                  <a:srgbClr val="00FF00"/>
                </a:highlight>
                <a:latin typeface="Consolas" panose="020B0609020204030204" pitchFamily="49" charset="0"/>
              </a:rPr>
              <a:t> break; </a:t>
            </a:r>
          </a:p>
          <a:p>
            <a:r>
              <a:rPr lang="en-IN" dirty="0">
                <a:effectLst/>
                <a:highlight>
                  <a:srgbClr val="00FF00"/>
                </a:highlight>
                <a:latin typeface="Consolas" panose="020B0609020204030204" pitchFamily="49" charset="0"/>
              </a:rPr>
              <a:t>. . . </a:t>
            </a:r>
          </a:p>
          <a:p>
            <a:r>
              <a:rPr lang="en-IN" b="1" dirty="0">
                <a:effectLst/>
                <a:highlight>
                  <a:srgbClr val="00FF00"/>
                </a:highlight>
                <a:latin typeface="Nunito" pitchFamily="2" charset="77"/>
              </a:rPr>
              <a:t>default:</a:t>
            </a:r>
            <a:r>
              <a:rPr lang="en-IN" dirty="0">
                <a:effectLst/>
                <a:highlight>
                  <a:srgbClr val="00FF00"/>
                </a:highlight>
                <a:latin typeface="Consolas" panose="020B0609020204030204" pitchFamily="49" charset="0"/>
              </a:rPr>
              <a:t> </a:t>
            </a:r>
            <a:r>
              <a:rPr lang="en-IN" i="1" dirty="0">
                <a:effectLst/>
                <a:highlight>
                  <a:srgbClr val="00FF00"/>
                </a:highlight>
                <a:latin typeface="Nunito" pitchFamily="2" charset="77"/>
              </a:rPr>
              <a:t>// </a:t>
            </a:r>
            <a:r>
              <a:rPr lang="en-IN" i="1" dirty="0" err="1">
                <a:effectLst/>
                <a:highlight>
                  <a:srgbClr val="00FF00"/>
                </a:highlight>
                <a:latin typeface="Nunito" pitchFamily="2" charset="77"/>
              </a:rPr>
              <a:t>defualt</a:t>
            </a:r>
            <a:r>
              <a:rPr lang="en-IN" i="1" dirty="0">
                <a:effectLst/>
                <a:highlight>
                  <a:srgbClr val="00FF00"/>
                </a:highlight>
                <a:latin typeface="Nunito" pitchFamily="2" charset="77"/>
              </a:rPr>
              <a:t> block</a:t>
            </a:r>
            <a:r>
              <a:rPr lang="en-IN" dirty="0">
                <a:effectLst/>
                <a:highlight>
                  <a:srgbClr val="00FF00"/>
                </a:highlight>
                <a:latin typeface="Consolas" panose="020B0609020204030204" pitchFamily="49" charset="0"/>
              </a:rPr>
              <a:t> break; </a:t>
            </a:r>
          </a:p>
          <a:p>
            <a:r>
              <a:rPr lang="en-IN" dirty="0">
                <a:effectLst/>
                <a:highlight>
                  <a:srgbClr val="00FF00"/>
                </a:highlight>
                <a:latin typeface="Consolas" panose="020B0609020204030204" pitchFamily="49" charset="0"/>
              </a:rPr>
              <a:t>}</a:t>
            </a:r>
            <a:endParaRPr lang="en-US" dirty="0">
              <a:highlight>
                <a:srgbClr val="00FF00"/>
              </a:highlight>
            </a:endParaRPr>
          </a:p>
        </p:txBody>
      </p:sp>
    </p:spTree>
    <p:extLst>
      <p:ext uri="{BB962C8B-B14F-4D97-AF65-F5344CB8AC3E}">
        <p14:creationId xmlns:p14="http://schemas.microsoft.com/office/powerpoint/2010/main" val="1156025987"/>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1E1C4-6937-D3F9-4F24-09C7FA01462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086DA06-07ED-E2A1-A6BD-74B916E38026}"/>
              </a:ext>
            </a:extLst>
          </p:cNvPr>
          <p:cNvSpPr>
            <a:spLocks noGrp="1"/>
          </p:cNvSpPr>
          <p:nvPr>
            <p:ph idx="1"/>
          </p:nvPr>
        </p:nvSpPr>
        <p:spPr/>
        <p:txBody>
          <a:bodyPr/>
          <a:lstStyle/>
          <a:p>
            <a:pPr algn="l" fontAlgn="base"/>
            <a:r>
              <a:rPr lang="en-IN" b="1" i="0" dirty="0">
                <a:solidFill>
                  <a:srgbClr val="273239"/>
                </a:solidFill>
                <a:effectLst/>
                <a:latin typeface="Nunito" pitchFamily="2" charset="77"/>
              </a:rPr>
              <a:t>5. Conditional Operator</a:t>
            </a:r>
          </a:p>
          <a:p>
            <a:pPr algn="l" rtl="0" fontAlgn="base"/>
            <a:r>
              <a:rPr lang="en-IN" b="0" i="0" dirty="0">
                <a:solidFill>
                  <a:srgbClr val="273239"/>
                </a:solidFill>
                <a:effectLst/>
                <a:latin typeface="Nunito" pitchFamily="2" charset="77"/>
              </a:rPr>
              <a:t>The conditional operator is a kind of single-line if-else statement that tests the condition and executes the true and false statements.</a:t>
            </a:r>
          </a:p>
          <a:p>
            <a:pPr algn="l" rtl="0" fontAlgn="base"/>
            <a:r>
              <a:rPr lang="en-IN" b="1" i="0" dirty="0">
                <a:solidFill>
                  <a:srgbClr val="273239"/>
                </a:solidFill>
                <a:effectLst/>
                <a:latin typeface="Nunito" pitchFamily="2" charset="77"/>
              </a:rPr>
              <a:t>Syntax of Conditional Operator</a:t>
            </a:r>
            <a:endParaRPr lang="en-IN" b="0" i="0" dirty="0">
              <a:solidFill>
                <a:srgbClr val="273239"/>
              </a:solidFill>
              <a:effectLst/>
              <a:latin typeface="Nunito" pitchFamily="2" charset="77"/>
            </a:endParaRPr>
          </a:p>
          <a:p>
            <a:r>
              <a:rPr lang="en-IN" dirty="0">
                <a:effectLst/>
                <a:highlight>
                  <a:srgbClr val="00FF00"/>
                </a:highlight>
                <a:latin typeface="Consolas" panose="020B0609020204030204" pitchFamily="49" charset="0"/>
              </a:rPr>
              <a:t>(condition)</a:t>
            </a:r>
            <a:r>
              <a:rPr lang="en-IN" b="1" dirty="0">
                <a:effectLst/>
                <a:highlight>
                  <a:srgbClr val="00FF00"/>
                </a:highlight>
                <a:latin typeface="Nunito" pitchFamily="2" charset="77"/>
              </a:rPr>
              <a:t> ?</a:t>
            </a:r>
            <a:r>
              <a:rPr lang="en-IN" dirty="0">
                <a:effectLst/>
                <a:highlight>
                  <a:srgbClr val="00FF00"/>
                </a:highlight>
                <a:latin typeface="Consolas" panose="020B0609020204030204" pitchFamily="49" charset="0"/>
              </a:rPr>
              <a:t> (true-exp) </a:t>
            </a:r>
            <a:r>
              <a:rPr lang="en-IN" b="1" dirty="0">
                <a:effectLst/>
                <a:highlight>
                  <a:srgbClr val="00FF00"/>
                </a:highlight>
                <a:latin typeface="Nunito" pitchFamily="2" charset="77"/>
              </a:rPr>
              <a:t>: </a:t>
            </a:r>
            <a:r>
              <a:rPr lang="en-IN" dirty="0">
                <a:effectLst/>
                <a:highlight>
                  <a:srgbClr val="00FF00"/>
                </a:highlight>
                <a:latin typeface="Consolas" panose="020B0609020204030204" pitchFamily="49" charset="0"/>
              </a:rPr>
              <a:t>(false-exp);</a:t>
            </a:r>
            <a:endParaRPr lang="en-US" dirty="0">
              <a:highlight>
                <a:srgbClr val="00FF00"/>
              </a:highlight>
            </a:endParaRPr>
          </a:p>
        </p:txBody>
      </p:sp>
    </p:spTree>
    <p:extLst>
      <p:ext uri="{BB962C8B-B14F-4D97-AF65-F5344CB8AC3E}">
        <p14:creationId xmlns:p14="http://schemas.microsoft.com/office/powerpoint/2010/main" val="3232140944"/>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6A1C9C-1373-3307-6D12-438C291E1245}"/>
              </a:ext>
            </a:extLst>
          </p:cNvPr>
          <p:cNvSpPr>
            <a:spLocks noGrp="1"/>
          </p:cNvSpPr>
          <p:nvPr>
            <p:ph idx="1"/>
          </p:nvPr>
        </p:nvSpPr>
        <p:spPr>
          <a:xfrm>
            <a:off x="838200" y="288099"/>
            <a:ext cx="10515600" cy="5888864"/>
          </a:xfrm>
        </p:spPr>
        <p:txBody>
          <a:bodyPr>
            <a:normAutofit fontScale="62500" lnSpcReduction="20000"/>
          </a:bodyPr>
          <a:lstStyle/>
          <a:p>
            <a:r>
              <a:rPr lang="en-US" dirty="0"/>
              <a:t>// C program to illustrate conditional statements</a:t>
            </a:r>
          </a:p>
          <a:p>
            <a:r>
              <a:rPr lang="en-US" dirty="0"/>
              <a:t>#include &lt;</a:t>
            </a:r>
            <a:r>
              <a:rPr lang="en-US" dirty="0" err="1"/>
              <a:t>stdio.h</a:t>
            </a:r>
            <a:r>
              <a:rPr lang="en-US" dirty="0"/>
              <a:t>&gt;</a:t>
            </a:r>
          </a:p>
          <a:p>
            <a:endParaRPr lang="en-US" dirty="0"/>
          </a:p>
          <a:p>
            <a:r>
              <a:rPr lang="en-US" dirty="0"/>
              <a:t>int main()</a:t>
            </a:r>
          </a:p>
          <a:p>
            <a:r>
              <a:rPr lang="en-US" dirty="0"/>
              <a:t>{</a:t>
            </a:r>
          </a:p>
          <a:p>
            <a:r>
              <a:rPr lang="en-US" dirty="0"/>
              <a:t>    // conditional operator will assign 10 if 5 &lt; 25,</a:t>
            </a:r>
          </a:p>
          <a:p>
            <a:r>
              <a:rPr lang="en-US" dirty="0"/>
              <a:t>    // otherwise it will assign 20</a:t>
            </a:r>
          </a:p>
          <a:p>
            <a:r>
              <a:rPr lang="en-US" dirty="0"/>
              <a:t>    int </a:t>
            </a:r>
            <a:r>
              <a:rPr lang="en-US" dirty="0" err="1"/>
              <a:t>i</a:t>
            </a:r>
            <a:r>
              <a:rPr lang="en-US" dirty="0"/>
              <a:t> = 5 &lt; 25 ? 10 : 20;</a:t>
            </a:r>
          </a:p>
          <a:p>
            <a:endParaRPr lang="en-US" dirty="0"/>
          </a:p>
          <a:p>
            <a:r>
              <a:rPr lang="en-US" dirty="0"/>
              <a:t>    if (</a:t>
            </a:r>
            <a:r>
              <a:rPr lang="en-US" dirty="0" err="1"/>
              <a:t>i</a:t>
            </a:r>
            <a:r>
              <a:rPr lang="en-US" dirty="0"/>
              <a:t> == 10)</a:t>
            </a:r>
          </a:p>
          <a:p>
            <a:r>
              <a:rPr lang="en-US" dirty="0"/>
              <a:t>        </a:t>
            </a:r>
            <a:r>
              <a:rPr lang="en-US" dirty="0" err="1"/>
              <a:t>printf</a:t>
            </a:r>
            <a:r>
              <a:rPr lang="en-US" dirty="0"/>
              <a:t>("</a:t>
            </a:r>
            <a:r>
              <a:rPr lang="en-US" dirty="0" err="1"/>
              <a:t>i</a:t>
            </a:r>
            <a:r>
              <a:rPr lang="en-US" dirty="0"/>
              <a:t> is 10");</a:t>
            </a:r>
          </a:p>
          <a:p>
            <a:r>
              <a:rPr lang="en-US" dirty="0"/>
              <a:t>    else if (</a:t>
            </a:r>
            <a:r>
              <a:rPr lang="en-US" dirty="0" err="1"/>
              <a:t>i</a:t>
            </a:r>
            <a:r>
              <a:rPr lang="en-US" dirty="0"/>
              <a:t> == 15)</a:t>
            </a:r>
          </a:p>
          <a:p>
            <a:r>
              <a:rPr lang="en-US" dirty="0"/>
              <a:t>        </a:t>
            </a:r>
            <a:r>
              <a:rPr lang="en-US" dirty="0" err="1"/>
              <a:t>printf</a:t>
            </a:r>
            <a:r>
              <a:rPr lang="en-US" dirty="0"/>
              <a:t>("</a:t>
            </a:r>
            <a:r>
              <a:rPr lang="en-US" dirty="0" err="1"/>
              <a:t>i</a:t>
            </a:r>
            <a:r>
              <a:rPr lang="en-US" dirty="0"/>
              <a:t> is 15");</a:t>
            </a:r>
          </a:p>
          <a:p>
            <a:r>
              <a:rPr lang="en-US" dirty="0"/>
              <a:t>    else if (</a:t>
            </a:r>
            <a:r>
              <a:rPr lang="en-US" dirty="0" err="1"/>
              <a:t>i</a:t>
            </a:r>
            <a:r>
              <a:rPr lang="en-US" dirty="0"/>
              <a:t> == 20)</a:t>
            </a:r>
          </a:p>
          <a:p>
            <a:r>
              <a:rPr lang="en-US" dirty="0"/>
              <a:t>        </a:t>
            </a:r>
            <a:r>
              <a:rPr lang="en-US" dirty="0" err="1"/>
              <a:t>printf</a:t>
            </a:r>
            <a:r>
              <a:rPr lang="en-US" dirty="0"/>
              <a:t>("</a:t>
            </a:r>
            <a:r>
              <a:rPr lang="en-US" dirty="0" err="1"/>
              <a:t>i</a:t>
            </a:r>
            <a:r>
              <a:rPr lang="en-US" dirty="0"/>
              <a:t> is 20");</a:t>
            </a:r>
          </a:p>
          <a:p>
            <a:r>
              <a:rPr lang="en-US" dirty="0"/>
              <a:t>    else</a:t>
            </a:r>
          </a:p>
          <a:p>
            <a:r>
              <a:rPr lang="en-US" dirty="0"/>
              <a:t>        </a:t>
            </a:r>
            <a:r>
              <a:rPr lang="en-US" dirty="0" err="1"/>
              <a:t>printf</a:t>
            </a:r>
            <a:r>
              <a:rPr lang="en-US" dirty="0"/>
              <a:t>("</a:t>
            </a:r>
            <a:r>
              <a:rPr lang="en-US" dirty="0" err="1"/>
              <a:t>i</a:t>
            </a:r>
            <a:r>
              <a:rPr lang="en-US" dirty="0"/>
              <a:t> is not present");</a:t>
            </a:r>
          </a:p>
          <a:p>
            <a:r>
              <a:rPr lang="en-US" dirty="0"/>
              <a:t>}</a:t>
            </a:r>
          </a:p>
        </p:txBody>
      </p:sp>
    </p:spTree>
    <p:extLst>
      <p:ext uri="{BB962C8B-B14F-4D97-AF65-F5344CB8AC3E}">
        <p14:creationId xmlns:p14="http://schemas.microsoft.com/office/powerpoint/2010/main" val="2062870537"/>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196ED-4026-4249-8781-AEB1F5C2A6F7}"/>
              </a:ext>
            </a:extLst>
          </p:cNvPr>
          <p:cNvSpPr>
            <a:spLocks noGrp="1"/>
          </p:cNvSpPr>
          <p:nvPr>
            <p:ph type="title"/>
          </p:nvPr>
        </p:nvSpPr>
        <p:spPr/>
        <p:txBody>
          <a:bodyPr/>
          <a:lstStyle/>
          <a:p>
            <a:r>
              <a:rPr lang="en-IN" b="1" i="0" dirty="0">
                <a:solidFill>
                  <a:srgbClr val="273239"/>
                </a:solidFill>
                <a:effectLst/>
                <a:latin typeface="Nunito" pitchFamily="2" charset="77"/>
              </a:rPr>
              <a:t>Loops</a:t>
            </a:r>
            <a:endParaRPr lang="en-US" dirty="0"/>
          </a:p>
        </p:txBody>
      </p:sp>
      <p:sp>
        <p:nvSpPr>
          <p:cNvPr id="3" name="Content Placeholder 2">
            <a:extLst>
              <a:ext uri="{FF2B5EF4-FFF2-40B4-BE49-F238E27FC236}">
                <a16:creationId xmlns:a16="http://schemas.microsoft.com/office/drawing/2014/main" id="{848469E7-6AB5-643E-FEC4-B2F5530C9462}"/>
              </a:ext>
            </a:extLst>
          </p:cNvPr>
          <p:cNvSpPr>
            <a:spLocks noGrp="1"/>
          </p:cNvSpPr>
          <p:nvPr>
            <p:ph idx="1"/>
          </p:nvPr>
        </p:nvSpPr>
        <p:spPr/>
        <p:txBody>
          <a:bodyPr>
            <a:normAutofit/>
          </a:bodyPr>
          <a:lstStyle/>
          <a:p>
            <a:pPr algn="l" rtl="0" fontAlgn="base"/>
            <a:r>
              <a:rPr lang="en-IN" b="0" i="0" dirty="0">
                <a:solidFill>
                  <a:srgbClr val="273239"/>
                </a:solidFill>
                <a:effectLst/>
                <a:latin typeface="Nunito" pitchFamily="2" charset="77"/>
              </a:rPr>
              <a:t>Loops are the control statements that are used to repeat some block of code till the specified condition is false. There are 3 loops in C:</a:t>
            </a:r>
          </a:p>
          <a:p>
            <a:pPr algn="l" fontAlgn="base"/>
            <a:r>
              <a:rPr lang="en-IN" b="1" i="0" dirty="0">
                <a:solidFill>
                  <a:srgbClr val="273239"/>
                </a:solidFill>
                <a:effectLst/>
                <a:latin typeface="Nunito" pitchFamily="2" charset="77"/>
              </a:rPr>
              <a:t>1. for Loop</a:t>
            </a:r>
          </a:p>
          <a:p>
            <a:pPr algn="l" rtl="0" fontAlgn="base"/>
            <a:r>
              <a:rPr lang="en-IN" b="0" i="0" dirty="0">
                <a:solidFill>
                  <a:srgbClr val="273239"/>
                </a:solidFill>
                <a:effectLst/>
                <a:latin typeface="Nunito" pitchFamily="2" charset="77"/>
              </a:rPr>
              <a:t>The for loop is an entry-controlled loop that consists initialization, condition, and updating as a part of itself.</a:t>
            </a:r>
          </a:p>
          <a:p>
            <a:pPr algn="l" rtl="0" fontAlgn="base"/>
            <a:r>
              <a:rPr lang="en-IN" b="1" i="0" dirty="0">
                <a:solidFill>
                  <a:srgbClr val="273239"/>
                </a:solidFill>
                <a:effectLst/>
                <a:latin typeface="Nunito" pitchFamily="2" charset="77"/>
              </a:rPr>
              <a:t>Syntax of for</a:t>
            </a:r>
            <a:endParaRPr lang="en-IN" b="0" i="0" dirty="0">
              <a:solidFill>
                <a:srgbClr val="273239"/>
              </a:solidFill>
              <a:effectLst/>
              <a:latin typeface="Nunito" pitchFamily="2" charset="77"/>
            </a:endParaRPr>
          </a:p>
          <a:p>
            <a:r>
              <a:rPr lang="en-IN" b="1" dirty="0">
                <a:effectLst/>
                <a:highlight>
                  <a:srgbClr val="00FF00"/>
                </a:highlight>
                <a:latin typeface="Nunito" pitchFamily="2" charset="77"/>
              </a:rPr>
              <a:t>for</a:t>
            </a:r>
            <a:r>
              <a:rPr lang="en-IN" dirty="0">
                <a:effectLst/>
                <a:highlight>
                  <a:srgbClr val="00FF00"/>
                </a:highlight>
                <a:latin typeface="Consolas" panose="020B0609020204030204" pitchFamily="49" charset="0"/>
              </a:rPr>
              <a:t> (initialization; condition; </a:t>
            </a:r>
            <a:r>
              <a:rPr lang="en-IN" dirty="0" err="1">
                <a:effectLst/>
                <a:highlight>
                  <a:srgbClr val="00FF00"/>
                </a:highlight>
                <a:latin typeface="Consolas" panose="020B0609020204030204" pitchFamily="49" charset="0"/>
              </a:rPr>
              <a:t>updation</a:t>
            </a:r>
            <a:r>
              <a:rPr lang="en-IN" dirty="0">
                <a:effectLst/>
                <a:highlight>
                  <a:srgbClr val="00FF00"/>
                </a:highlight>
                <a:latin typeface="Consolas" panose="020B0609020204030204" pitchFamily="49" charset="0"/>
              </a:rPr>
              <a:t>) </a:t>
            </a:r>
          </a:p>
          <a:p>
            <a:r>
              <a:rPr lang="en-IN" dirty="0">
                <a:effectLst/>
                <a:highlight>
                  <a:srgbClr val="00FF00"/>
                </a:highlight>
                <a:latin typeface="Consolas" panose="020B0609020204030204" pitchFamily="49" charset="0"/>
              </a:rPr>
              <a:t>{ // statements }</a:t>
            </a:r>
            <a:endParaRPr lang="en-US" dirty="0">
              <a:highlight>
                <a:srgbClr val="00FF00"/>
              </a:highlight>
            </a:endParaRPr>
          </a:p>
        </p:txBody>
      </p:sp>
    </p:spTree>
    <p:extLst>
      <p:ext uri="{BB962C8B-B14F-4D97-AF65-F5344CB8AC3E}">
        <p14:creationId xmlns:p14="http://schemas.microsoft.com/office/powerpoint/2010/main" val="804103466"/>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C923B-2E20-3F3C-CA86-C3876913C1D6}"/>
              </a:ext>
            </a:extLst>
          </p:cNvPr>
          <p:cNvSpPr>
            <a:spLocks noGrp="1"/>
          </p:cNvSpPr>
          <p:nvPr>
            <p:ph type="title"/>
          </p:nvPr>
        </p:nvSpPr>
        <p:spPr/>
        <p:txBody>
          <a:bodyPr/>
          <a:lstStyle/>
          <a:p>
            <a:r>
              <a:rPr lang="en-IN" b="1" i="0" dirty="0">
                <a:solidFill>
                  <a:srgbClr val="273239"/>
                </a:solidFill>
                <a:effectLst/>
                <a:latin typeface="Nunito" pitchFamily="2" charset="77"/>
              </a:rPr>
              <a:t>2. while Loop</a:t>
            </a:r>
            <a:endParaRPr lang="en-US" dirty="0"/>
          </a:p>
        </p:txBody>
      </p:sp>
      <p:sp>
        <p:nvSpPr>
          <p:cNvPr id="3" name="Content Placeholder 2">
            <a:extLst>
              <a:ext uri="{FF2B5EF4-FFF2-40B4-BE49-F238E27FC236}">
                <a16:creationId xmlns:a16="http://schemas.microsoft.com/office/drawing/2014/main" id="{E3D7005D-F815-345E-6272-71917C4E8BEE}"/>
              </a:ext>
            </a:extLst>
          </p:cNvPr>
          <p:cNvSpPr>
            <a:spLocks noGrp="1"/>
          </p:cNvSpPr>
          <p:nvPr>
            <p:ph idx="1"/>
          </p:nvPr>
        </p:nvSpPr>
        <p:spPr/>
        <p:txBody>
          <a:bodyPr/>
          <a:lstStyle/>
          <a:p>
            <a:pPr algn="l" rtl="0" fontAlgn="base"/>
            <a:r>
              <a:rPr lang="en-IN" b="0" i="0" dirty="0">
                <a:solidFill>
                  <a:srgbClr val="273239"/>
                </a:solidFill>
                <a:effectLst/>
                <a:latin typeface="Nunito" pitchFamily="2" charset="77"/>
              </a:rPr>
              <a:t>The while loop is also an entry-controlled loop but only the condition is the part of is syntax.</a:t>
            </a:r>
          </a:p>
          <a:p>
            <a:pPr algn="l" rtl="0" fontAlgn="base"/>
            <a:r>
              <a:rPr lang="en-IN" b="1" i="0" dirty="0">
                <a:solidFill>
                  <a:srgbClr val="273239"/>
                </a:solidFill>
                <a:effectLst/>
                <a:latin typeface="Nunito" pitchFamily="2" charset="77"/>
              </a:rPr>
              <a:t>Syntax of while</a:t>
            </a:r>
            <a:endParaRPr lang="en-IN" b="0" i="0" dirty="0">
              <a:solidFill>
                <a:srgbClr val="273239"/>
              </a:solidFill>
              <a:effectLst/>
              <a:latin typeface="Nunito" pitchFamily="2" charset="77"/>
            </a:endParaRPr>
          </a:p>
          <a:p>
            <a:r>
              <a:rPr lang="en-IN" b="1" dirty="0">
                <a:effectLst/>
                <a:highlight>
                  <a:srgbClr val="00FF00"/>
                </a:highlight>
                <a:latin typeface="Nunito" pitchFamily="2" charset="77"/>
              </a:rPr>
              <a:t>while </a:t>
            </a:r>
            <a:r>
              <a:rPr lang="en-IN" dirty="0">
                <a:effectLst/>
                <a:highlight>
                  <a:srgbClr val="00FF00"/>
                </a:highlight>
                <a:latin typeface="Consolas" panose="020B0609020204030204" pitchFamily="49" charset="0"/>
              </a:rPr>
              <a:t>(condition) </a:t>
            </a:r>
          </a:p>
          <a:p>
            <a:r>
              <a:rPr lang="en-IN" dirty="0">
                <a:effectLst/>
                <a:highlight>
                  <a:srgbClr val="00FF00"/>
                </a:highlight>
                <a:latin typeface="Consolas" panose="020B0609020204030204" pitchFamily="49" charset="0"/>
              </a:rPr>
              <a:t>{ </a:t>
            </a:r>
          </a:p>
          <a:p>
            <a:r>
              <a:rPr lang="en-IN" i="1" dirty="0">
                <a:effectLst/>
                <a:highlight>
                  <a:srgbClr val="00FF00"/>
                </a:highlight>
                <a:latin typeface="Nunito" pitchFamily="2" charset="77"/>
              </a:rPr>
              <a:t>// statement to be repeated</a:t>
            </a:r>
            <a:r>
              <a:rPr lang="en-IN" dirty="0">
                <a:effectLst/>
                <a:highlight>
                  <a:srgbClr val="00FF00"/>
                </a:highlight>
                <a:latin typeface="Consolas" panose="020B0609020204030204" pitchFamily="49" charset="0"/>
              </a:rPr>
              <a:t> </a:t>
            </a:r>
          </a:p>
          <a:p>
            <a:r>
              <a:rPr lang="en-IN" dirty="0">
                <a:effectLst/>
                <a:highlight>
                  <a:srgbClr val="00FF00"/>
                </a:highlight>
                <a:latin typeface="Consolas" panose="020B0609020204030204" pitchFamily="49" charset="0"/>
              </a:rPr>
              <a:t>}</a:t>
            </a:r>
            <a:endParaRPr lang="en-US" dirty="0">
              <a:highlight>
                <a:srgbClr val="00FF00"/>
              </a:highlight>
            </a:endParaRPr>
          </a:p>
        </p:txBody>
      </p:sp>
    </p:spTree>
    <p:extLst>
      <p:ext uri="{BB962C8B-B14F-4D97-AF65-F5344CB8AC3E}">
        <p14:creationId xmlns:p14="http://schemas.microsoft.com/office/powerpoint/2010/main" val="3109255378"/>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91183-19FD-5057-FF0E-A148123BFB95}"/>
              </a:ext>
            </a:extLst>
          </p:cNvPr>
          <p:cNvSpPr>
            <a:spLocks noGrp="1"/>
          </p:cNvSpPr>
          <p:nvPr>
            <p:ph type="title"/>
          </p:nvPr>
        </p:nvSpPr>
        <p:spPr/>
        <p:txBody>
          <a:bodyPr/>
          <a:lstStyle/>
          <a:p>
            <a:r>
              <a:rPr lang="en-IN" b="1" i="0" dirty="0">
                <a:solidFill>
                  <a:srgbClr val="273239"/>
                </a:solidFill>
                <a:effectLst/>
                <a:latin typeface="Nunito" pitchFamily="2" charset="77"/>
              </a:rPr>
              <a:t>3. do-while Loop</a:t>
            </a:r>
            <a:endParaRPr lang="en-US" dirty="0"/>
          </a:p>
        </p:txBody>
      </p:sp>
      <p:sp>
        <p:nvSpPr>
          <p:cNvPr id="3" name="Content Placeholder 2">
            <a:extLst>
              <a:ext uri="{FF2B5EF4-FFF2-40B4-BE49-F238E27FC236}">
                <a16:creationId xmlns:a16="http://schemas.microsoft.com/office/drawing/2014/main" id="{FF1C9250-0F18-5A34-AEC7-92C6996D67AA}"/>
              </a:ext>
            </a:extLst>
          </p:cNvPr>
          <p:cNvSpPr>
            <a:spLocks noGrp="1"/>
          </p:cNvSpPr>
          <p:nvPr>
            <p:ph idx="1"/>
          </p:nvPr>
        </p:nvSpPr>
        <p:spPr/>
        <p:txBody>
          <a:bodyPr/>
          <a:lstStyle/>
          <a:p>
            <a:pPr algn="l" rtl="0" fontAlgn="base"/>
            <a:r>
              <a:rPr lang="en-IN" b="0" i="0" dirty="0">
                <a:solidFill>
                  <a:srgbClr val="273239"/>
                </a:solidFill>
                <a:effectLst/>
                <a:latin typeface="Nunito" pitchFamily="2" charset="77"/>
              </a:rPr>
              <a:t>The do-while loop is an exit-controlled loop in which the condition is checked after the body of the loop.</a:t>
            </a:r>
          </a:p>
          <a:p>
            <a:pPr algn="l" rtl="0" fontAlgn="base"/>
            <a:r>
              <a:rPr lang="en-IN" b="1" i="0" dirty="0">
                <a:solidFill>
                  <a:srgbClr val="273239"/>
                </a:solidFill>
                <a:effectLst/>
                <a:latin typeface="Nunito" pitchFamily="2" charset="77"/>
              </a:rPr>
              <a:t>Syntax of do-while</a:t>
            </a:r>
            <a:endParaRPr lang="en-IN" b="0" i="0" dirty="0">
              <a:solidFill>
                <a:srgbClr val="273239"/>
              </a:solidFill>
              <a:effectLst/>
              <a:latin typeface="Nunito" pitchFamily="2" charset="77"/>
            </a:endParaRPr>
          </a:p>
          <a:p>
            <a:r>
              <a:rPr lang="en-IN" b="1" dirty="0">
                <a:effectLst/>
                <a:highlight>
                  <a:srgbClr val="00FF00"/>
                </a:highlight>
                <a:latin typeface="Nunito" pitchFamily="2" charset="77"/>
              </a:rPr>
              <a:t>do </a:t>
            </a:r>
            <a:r>
              <a:rPr lang="en-IN" dirty="0">
                <a:effectLst/>
                <a:highlight>
                  <a:srgbClr val="00FF00"/>
                </a:highlight>
                <a:latin typeface="Consolas" panose="020B0609020204030204" pitchFamily="49" charset="0"/>
              </a:rPr>
              <a:t>{ </a:t>
            </a:r>
          </a:p>
          <a:p>
            <a:r>
              <a:rPr lang="en-IN" i="1" dirty="0">
                <a:effectLst/>
                <a:highlight>
                  <a:srgbClr val="00FF00"/>
                </a:highlight>
                <a:latin typeface="Nunito" pitchFamily="2" charset="77"/>
              </a:rPr>
              <a:t>// statements</a:t>
            </a:r>
            <a:r>
              <a:rPr lang="en-IN" dirty="0">
                <a:effectLst/>
                <a:highlight>
                  <a:srgbClr val="00FF00"/>
                </a:highlight>
                <a:latin typeface="Consolas" panose="020B0609020204030204" pitchFamily="49" charset="0"/>
              </a:rPr>
              <a:t> </a:t>
            </a:r>
          </a:p>
          <a:p>
            <a:r>
              <a:rPr lang="en-IN" dirty="0">
                <a:effectLst/>
                <a:highlight>
                  <a:srgbClr val="00FF00"/>
                </a:highlight>
                <a:latin typeface="Consolas" panose="020B0609020204030204" pitchFamily="49" charset="0"/>
              </a:rPr>
              <a:t>} </a:t>
            </a:r>
            <a:r>
              <a:rPr lang="en-IN" b="1" dirty="0">
                <a:effectLst/>
                <a:highlight>
                  <a:srgbClr val="00FF00"/>
                </a:highlight>
                <a:latin typeface="Nunito" pitchFamily="2" charset="77"/>
              </a:rPr>
              <a:t>while</a:t>
            </a:r>
            <a:r>
              <a:rPr lang="en-IN" dirty="0">
                <a:effectLst/>
                <a:highlight>
                  <a:srgbClr val="00FF00"/>
                </a:highlight>
                <a:latin typeface="Consolas" panose="020B0609020204030204" pitchFamily="49" charset="0"/>
              </a:rPr>
              <a:t> (condition);</a:t>
            </a:r>
            <a:endParaRPr lang="en-US" dirty="0">
              <a:highlight>
                <a:srgbClr val="00FF00"/>
              </a:highlight>
            </a:endParaRPr>
          </a:p>
        </p:txBody>
      </p:sp>
    </p:spTree>
    <p:extLst>
      <p:ext uri="{BB962C8B-B14F-4D97-AF65-F5344CB8AC3E}">
        <p14:creationId xmlns:p14="http://schemas.microsoft.com/office/powerpoint/2010/main" val="3861735092"/>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96B65-E8DD-5123-055C-004416257F01}"/>
              </a:ext>
            </a:extLst>
          </p:cNvPr>
          <p:cNvSpPr>
            <a:spLocks noGrp="1"/>
          </p:cNvSpPr>
          <p:nvPr>
            <p:ph type="title"/>
          </p:nvPr>
        </p:nvSpPr>
        <p:spPr/>
        <p:txBody>
          <a:bodyPr/>
          <a:lstStyle/>
          <a:p>
            <a:r>
              <a:rPr lang="en-IN" b="1" i="0" dirty="0">
                <a:solidFill>
                  <a:srgbClr val="273239"/>
                </a:solidFill>
                <a:effectLst/>
                <a:latin typeface="Nunito" pitchFamily="2" charset="77"/>
              </a:rPr>
              <a:t>Jump Statements</a:t>
            </a:r>
            <a:endParaRPr lang="en-US" dirty="0"/>
          </a:p>
        </p:txBody>
      </p:sp>
      <p:sp>
        <p:nvSpPr>
          <p:cNvPr id="3" name="Content Placeholder 2">
            <a:extLst>
              <a:ext uri="{FF2B5EF4-FFF2-40B4-BE49-F238E27FC236}">
                <a16:creationId xmlns:a16="http://schemas.microsoft.com/office/drawing/2014/main" id="{3F7AA43C-1B07-9AD0-FA31-A3C48454617B}"/>
              </a:ext>
            </a:extLst>
          </p:cNvPr>
          <p:cNvSpPr>
            <a:spLocks noGrp="1"/>
          </p:cNvSpPr>
          <p:nvPr>
            <p:ph idx="1"/>
          </p:nvPr>
        </p:nvSpPr>
        <p:spPr/>
        <p:txBody>
          <a:bodyPr/>
          <a:lstStyle/>
          <a:p>
            <a:pPr algn="l" rtl="0" fontAlgn="base"/>
            <a:r>
              <a:rPr lang="en-IN" b="0" i="0" dirty="0">
                <a:solidFill>
                  <a:srgbClr val="273239"/>
                </a:solidFill>
                <a:effectLst/>
                <a:latin typeface="Nunito" pitchFamily="2" charset="77"/>
              </a:rPr>
              <a:t>Jump statements are used to override the normal control flow of the program. There are 3 jump statements in C:</a:t>
            </a:r>
          </a:p>
          <a:p>
            <a:pPr algn="l" fontAlgn="base"/>
            <a:r>
              <a:rPr lang="en-IN" b="1" i="0" dirty="0">
                <a:solidFill>
                  <a:srgbClr val="273239"/>
                </a:solidFill>
                <a:effectLst/>
                <a:latin typeface="Nunito" pitchFamily="2" charset="77"/>
              </a:rPr>
              <a:t>1. break Statement</a:t>
            </a:r>
          </a:p>
          <a:p>
            <a:pPr algn="l" rtl="0" fontAlgn="base"/>
            <a:r>
              <a:rPr lang="en-IN" b="0" i="0" dirty="0">
                <a:solidFill>
                  <a:srgbClr val="273239"/>
                </a:solidFill>
                <a:effectLst/>
                <a:latin typeface="Nunito" pitchFamily="2" charset="77"/>
              </a:rPr>
              <a:t>It is used to terminate the loop and bring the program control to the statements after the loop.</a:t>
            </a:r>
          </a:p>
          <a:p>
            <a:pPr algn="l" rtl="0" fontAlgn="base"/>
            <a:r>
              <a:rPr lang="en-IN" b="1" i="0" dirty="0">
                <a:solidFill>
                  <a:srgbClr val="273239"/>
                </a:solidFill>
                <a:effectLst/>
                <a:latin typeface="Nunito" pitchFamily="2" charset="77"/>
              </a:rPr>
              <a:t>Syntax of break</a:t>
            </a:r>
            <a:endParaRPr lang="en-IN" b="0" i="0" dirty="0">
              <a:solidFill>
                <a:srgbClr val="273239"/>
              </a:solidFill>
              <a:effectLst/>
              <a:latin typeface="Nunito" pitchFamily="2" charset="77"/>
            </a:endParaRPr>
          </a:p>
          <a:p>
            <a:pPr algn="l" rtl="0" fontAlgn="base"/>
            <a:r>
              <a:rPr lang="en-IN" b="1" dirty="0">
                <a:effectLst/>
                <a:highlight>
                  <a:srgbClr val="00FF00"/>
                </a:highlight>
                <a:latin typeface="Nunito" pitchFamily="2" charset="77"/>
              </a:rPr>
              <a:t>break;</a:t>
            </a:r>
          </a:p>
          <a:p>
            <a:pPr algn="l" rtl="0" fontAlgn="base"/>
            <a:endParaRPr lang="en-IN" b="1" i="0" dirty="0">
              <a:solidFill>
                <a:srgbClr val="273239"/>
              </a:solidFill>
              <a:latin typeface="Nunito" pitchFamily="2" charset="77"/>
            </a:endParaRPr>
          </a:p>
          <a:p>
            <a:pPr algn="l" rtl="0" fontAlgn="base"/>
            <a:r>
              <a:rPr lang="en-IN" b="0" i="0" dirty="0">
                <a:solidFill>
                  <a:srgbClr val="273239"/>
                </a:solidFill>
                <a:effectLst/>
                <a:latin typeface="Nunito" pitchFamily="2" charset="77"/>
              </a:rPr>
              <a:t>It is also used in the switch statement.</a:t>
            </a:r>
          </a:p>
          <a:p>
            <a:endParaRPr lang="en-US" dirty="0"/>
          </a:p>
        </p:txBody>
      </p:sp>
    </p:spTree>
    <p:extLst>
      <p:ext uri="{BB962C8B-B14F-4D97-AF65-F5344CB8AC3E}">
        <p14:creationId xmlns:p14="http://schemas.microsoft.com/office/powerpoint/2010/main" val="464178579"/>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20FB6-F010-8EF8-F47D-1EC061DC5215}"/>
              </a:ext>
            </a:extLst>
          </p:cNvPr>
          <p:cNvSpPr>
            <a:spLocks noGrp="1"/>
          </p:cNvSpPr>
          <p:nvPr>
            <p:ph type="title"/>
          </p:nvPr>
        </p:nvSpPr>
        <p:spPr/>
        <p:txBody>
          <a:bodyPr/>
          <a:lstStyle/>
          <a:p>
            <a:r>
              <a:rPr lang="en-IN" b="1" i="0" dirty="0">
                <a:solidFill>
                  <a:srgbClr val="273239"/>
                </a:solidFill>
                <a:effectLst/>
                <a:latin typeface="Nunito" pitchFamily="2" charset="77"/>
              </a:rPr>
              <a:t>2. continue Statement</a:t>
            </a:r>
            <a:endParaRPr lang="en-US" dirty="0"/>
          </a:p>
        </p:txBody>
      </p:sp>
      <p:sp>
        <p:nvSpPr>
          <p:cNvPr id="3" name="Content Placeholder 2">
            <a:extLst>
              <a:ext uri="{FF2B5EF4-FFF2-40B4-BE49-F238E27FC236}">
                <a16:creationId xmlns:a16="http://schemas.microsoft.com/office/drawing/2014/main" id="{0B0CCE2C-6955-3FDD-26D8-88F9A133B0C1}"/>
              </a:ext>
            </a:extLst>
          </p:cNvPr>
          <p:cNvSpPr>
            <a:spLocks noGrp="1"/>
          </p:cNvSpPr>
          <p:nvPr>
            <p:ph idx="1"/>
          </p:nvPr>
        </p:nvSpPr>
        <p:spPr/>
        <p:txBody>
          <a:bodyPr/>
          <a:lstStyle/>
          <a:p>
            <a:pPr algn="l" rtl="0" fontAlgn="base"/>
            <a:r>
              <a:rPr lang="en-IN" b="0" i="0" dirty="0">
                <a:solidFill>
                  <a:srgbClr val="273239"/>
                </a:solidFill>
                <a:effectLst/>
                <a:latin typeface="Nunito" pitchFamily="2" charset="77"/>
              </a:rPr>
              <a:t>The continue statement skips the current iteration and moves to the next iteration when encountered in the loop.</a:t>
            </a:r>
          </a:p>
          <a:p>
            <a:pPr algn="l" rtl="0" fontAlgn="base"/>
            <a:r>
              <a:rPr lang="en-IN" b="1" i="0" dirty="0">
                <a:solidFill>
                  <a:srgbClr val="273239"/>
                </a:solidFill>
                <a:effectLst/>
                <a:latin typeface="Nunito" pitchFamily="2" charset="77"/>
              </a:rPr>
              <a:t>Syntax of continue</a:t>
            </a:r>
            <a:endParaRPr lang="en-IN" b="0" i="0" dirty="0">
              <a:solidFill>
                <a:srgbClr val="273239"/>
              </a:solidFill>
              <a:effectLst/>
              <a:latin typeface="Nunito" pitchFamily="2" charset="77"/>
            </a:endParaRPr>
          </a:p>
          <a:p>
            <a:r>
              <a:rPr lang="en-IN" b="1" dirty="0">
                <a:effectLst/>
                <a:highlight>
                  <a:srgbClr val="00FF00"/>
                </a:highlight>
                <a:latin typeface="Nunito" pitchFamily="2" charset="77"/>
              </a:rPr>
              <a:t>continue;</a:t>
            </a:r>
            <a:endParaRPr lang="en-US" dirty="0">
              <a:highlight>
                <a:srgbClr val="00FF00"/>
              </a:highlight>
            </a:endParaRPr>
          </a:p>
        </p:txBody>
      </p:sp>
    </p:spTree>
    <p:extLst>
      <p:ext uri="{BB962C8B-B14F-4D97-AF65-F5344CB8AC3E}">
        <p14:creationId xmlns:p14="http://schemas.microsoft.com/office/powerpoint/2010/main" val="1625694338"/>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E56ED-A29B-FDCC-DE00-0B01D89A8F9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0FD88D2-ECE9-A475-9664-D448E44B703A}"/>
              </a:ext>
            </a:extLst>
          </p:cNvPr>
          <p:cNvSpPr>
            <a:spLocks noGrp="1"/>
          </p:cNvSpPr>
          <p:nvPr>
            <p:ph idx="1"/>
          </p:nvPr>
        </p:nvSpPr>
        <p:spPr/>
        <p:txBody>
          <a:bodyPr>
            <a:normAutofit lnSpcReduction="10000"/>
          </a:bodyPr>
          <a:lstStyle/>
          <a:p>
            <a:pPr algn="l" fontAlgn="base"/>
            <a:r>
              <a:rPr lang="en-IN" b="1" i="0" dirty="0">
                <a:solidFill>
                  <a:srgbClr val="273239"/>
                </a:solidFill>
                <a:effectLst/>
                <a:latin typeface="Nunito" pitchFamily="2" charset="77"/>
              </a:rPr>
              <a:t>3. </a:t>
            </a:r>
            <a:r>
              <a:rPr lang="en-IN" b="1" i="0" dirty="0" err="1">
                <a:solidFill>
                  <a:srgbClr val="273239"/>
                </a:solidFill>
                <a:effectLst/>
                <a:latin typeface="Nunito" pitchFamily="2" charset="77"/>
              </a:rPr>
              <a:t>goto</a:t>
            </a:r>
            <a:r>
              <a:rPr lang="en-IN" b="1" i="0" dirty="0">
                <a:solidFill>
                  <a:srgbClr val="273239"/>
                </a:solidFill>
                <a:effectLst/>
                <a:latin typeface="Nunito" pitchFamily="2" charset="77"/>
              </a:rPr>
              <a:t> Statement</a:t>
            </a:r>
          </a:p>
          <a:p>
            <a:pPr algn="l" rtl="0" fontAlgn="base"/>
            <a:r>
              <a:rPr lang="en-IN" b="0" i="0" dirty="0">
                <a:solidFill>
                  <a:srgbClr val="273239"/>
                </a:solidFill>
                <a:effectLst/>
                <a:latin typeface="Nunito" pitchFamily="2" charset="77"/>
              </a:rPr>
              <a:t>The </a:t>
            </a:r>
            <a:r>
              <a:rPr lang="en-IN" b="0" i="0" dirty="0" err="1">
                <a:solidFill>
                  <a:srgbClr val="273239"/>
                </a:solidFill>
                <a:effectLst/>
                <a:latin typeface="Nunito" pitchFamily="2" charset="77"/>
              </a:rPr>
              <a:t>goto</a:t>
            </a:r>
            <a:r>
              <a:rPr lang="en-IN" b="0" i="0" dirty="0">
                <a:solidFill>
                  <a:srgbClr val="273239"/>
                </a:solidFill>
                <a:effectLst/>
                <a:latin typeface="Nunito" pitchFamily="2" charset="77"/>
              </a:rPr>
              <a:t> statement is used to move the program control to the predefined label.</a:t>
            </a:r>
          </a:p>
          <a:p>
            <a:pPr algn="l" rtl="0" fontAlgn="base"/>
            <a:r>
              <a:rPr lang="en-IN" b="1" i="0" dirty="0">
                <a:solidFill>
                  <a:srgbClr val="273239"/>
                </a:solidFill>
                <a:effectLst/>
                <a:latin typeface="Nunito" pitchFamily="2" charset="77"/>
              </a:rPr>
              <a:t>Syntax of </a:t>
            </a:r>
            <a:r>
              <a:rPr lang="en-IN" b="1" i="0" dirty="0" err="1">
                <a:solidFill>
                  <a:srgbClr val="273239"/>
                </a:solidFill>
                <a:effectLst/>
                <a:latin typeface="Nunito" pitchFamily="2" charset="77"/>
              </a:rPr>
              <a:t>goto</a:t>
            </a:r>
            <a:endParaRPr lang="en-IN" b="0" i="0" dirty="0">
              <a:solidFill>
                <a:srgbClr val="273239"/>
              </a:solidFill>
              <a:effectLst/>
              <a:latin typeface="Nunito" pitchFamily="2" charset="77"/>
            </a:endParaRPr>
          </a:p>
          <a:p>
            <a:pPr marL="0" indent="0">
              <a:buNone/>
            </a:pPr>
            <a:r>
              <a:rPr lang="en-IN" b="1" dirty="0" err="1">
                <a:effectLst/>
                <a:highlight>
                  <a:srgbClr val="00FF00"/>
                </a:highlight>
                <a:latin typeface="Nunito" pitchFamily="2" charset="77"/>
              </a:rPr>
              <a:t>goto</a:t>
            </a:r>
            <a:r>
              <a:rPr lang="en-IN" dirty="0">
                <a:effectLst/>
                <a:highlight>
                  <a:srgbClr val="00FF00"/>
                </a:highlight>
                <a:latin typeface="Consolas" panose="020B0609020204030204" pitchFamily="49" charset="0"/>
              </a:rPr>
              <a:t> label;  | label: </a:t>
            </a:r>
          </a:p>
          <a:p>
            <a:pPr marL="0" indent="0">
              <a:buNone/>
            </a:pPr>
            <a:r>
              <a:rPr lang="en-IN" dirty="0">
                <a:effectLst/>
                <a:highlight>
                  <a:srgbClr val="00FF00"/>
                </a:highlight>
                <a:latin typeface="Consolas" panose="020B0609020204030204" pitchFamily="49" charset="0"/>
              </a:rPr>
              <a:t>. 			| . </a:t>
            </a:r>
          </a:p>
          <a:p>
            <a:pPr marL="0" indent="0">
              <a:buNone/>
            </a:pPr>
            <a:r>
              <a:rPr lang="en-IN" dirty="0">
                <a:effectLst/>
                <a:highlight>
                  <a:srgbClr val="00FF00"/>
                </a:highlight>
                <a:latin typeface="Consolas" panose="020B0609020204030204" pitchFamily="49" charset="0"/>
              </a:rPr>
              <a:t>. 			| . </a:t>
            </a:r>
          </a:p>
          <a:p>
            <a:pPr marL="0" indent="0">
              <a:buNone/>
            </a:pPr>
            <a:r>
              <a:rPr lang="en-IN" dirty="0">
                <a:effectLst/>
                <a:highlight>
                  <a:srgbClr val="00FF00"/>
                </a:highlight>
                <a:latin typeface="Consolas" panose="020B0609020204030204" pitchFamily="49" charset="0"/>
              </a:rPr>
              <a:t>. 			| . </a:t>
            </a:r>
          </a:p>
          <a:p>
            <a:pPr marL="0" indent="0">
              <a:buNone/>
            </a:pPr>
            <a:r>
              <a:rPr lang="en-IN" dirty="0">
                <a:effectLst/>
                <a:highlight>
                  <a:srgbClr val="00FF00"/>
                </a:highlight>
                <a:latin typeface="Consolas" panose="020B0609020204030204" pitchFamily="49" charset="0"/>
              </a:rPr>
              <a:t>label: 		| </a:t>
            </a:r>
            <a:r>
              <a:rPr lang="en-IN" b="1" dirty="0" err="1">
                <a:effectLst/>
                <a:highlight>
                  <a:srgbClr val="00FF00"/>
                </a:highlight>
                <a:latin typeface="Nunito" pitchFamily="2" charset="77"/>
              </a:rPr>
              <a:t>goto</a:t>
            </a:r>
            <a:r>
              <a:rPr lang="en-IN" dirty="0">
                <a:effectLst/>
                <a:highlight>
                  <a:srgbClr val="00FF00"/>
                </a:highlight>
                <a:latin typeface="Consolas" panose="020B0609020204030204" pitchFamily="49" charset="0"/>
              </a:rPr>
              <a:t> label;</a:t>
            </a:r>
            <a:endParaRPr lang="en-US" dirty="0">
              <a:highlight>
                <a:srgbClr val="00FF00"/>
              </a:highlight>
            </a:endParaRPr>
          </a:p>
        </p:txBody>
      </p:sp>
    </p:spTree>
    <p:extLst>
      <p:ext uri="{BB962C8B-B14F-4D97-AF65-F5344CB8AC3E}">
        <p14:creationId xmlns:p14="http://schemas.microsoft.com/office/powerpoint/2010/main" val="500141218"/>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630046-5763-0B0D-A37B-B98BAA8D685C}"/>
              </a:ext>
            </a:extLst>
          </p:cNvPr>
          <p:cNvSpPr>
            <a:spLocks noGrp="1"/>
          </p:cNvSpPr>
          <p:nvPr>
            <p:ph idx="1"/>
          </p:nvPr>
        </p:nvSpPr>
        <p:spPr>
          <a:xfrm>
            <a:off x="838200" y="175364"/>
            <a:ext cx="5257800" cy="6001599"/>
          </a:xfrm>
        </p:spPr>
        <p:txBody>
          <a:bodyPr>
            <a:normAutofit fontScale="40000" lnSpcReduction="20000"/>
          </a:bodyPr>
          <a:lstStyle/>
          <a:p>
            <a:r>
              <a:rPr lang="en-US" dirty="0"/>
              <a:t>// C program to illustrate loops</a:t>
            </a:r>
          </a:p>
          <a:p>
            <a:r>
              <a:rPr lang="en-US" dirty="0"/>
              <a:t>#include &lt;</a:t>
            </a:r>
            <a:r>
              <a:rPr lang="en-US" dirty="0" err="1"/>
              <a:t>stdio.h</a:t>
            </a:r>
            <a:r>
              <a:rPr lang="en-US" dirty="0"/>
              <a:t>&gt;</a:t>
            </a:r>
          </a:p>
          <a:p>
            <a:r>
              <a:rPr lang="en-US" dirty="0"/>
              <a:t>// Driver code</a:t>
            </a:r>
          </a:p>
          <a:p>
            <a:r>
              <a:rPr lang="en-US" dirty="0"/>
              <a:t>int main(){</a:t>
            </a:r>
          </a:p>
          <a:p>
            <a:r>
              <a:rPr lang="en-US" dirty="0"/>
              <a:t>    int </a:t>
            </a:r>
            <a:r>
              <a:rPr lang="en-US" dirty="0" err="1"/>
              <a:t>i</a:t>
            </a:r>
            <a:r>
              <a:rPr lang="en-US" dirty="0"/>
              <a:t> = 0;</a:t>
            </a:r>
          </a:p>
          <a:p>
            <a:endParaRPr lang="en-US" dirty="0"/>
          </a:p>
          <a:p>
            <a:r>
              <a:rPr lang="en-US" dirty="0"/>
              <a:t>    // for loop with continue</a:t>
            </a:r>
          </a:p>
          <a:p>
            <a:r>
              <a:rPr lang="en-US" dirty="0"/>
              <a:t>    for (</a:t>
            </a:r>
            <a:r>
              <a:rPr lang="en-US" dirty="0" err="1"/>
              <a:t>i</a:t>
            </a:r>
            <a:r>
              <a:rPr lang="en-US" dirty="0"/>
              <a:t> = 1; </a:t>
            </a:r>
            <a:r>
              <a:rPr lang="en-US" dirty="0" err="1"/>
              <a:t>i</a:t>
            </a:r>
            <a:r>
              <a:rPr lang="en-US" dirty="0"/>
              <a:t> &lt;= 10; </a:t>
            </a:r>
            <a:r>
              <a:rPr lang="en-US" dirty="0" err="1"/>
              <a:t>i</a:t>
            </a:r>
            <a:r>
              <a:rPr lang="en-US" dirty="0"/>
              <a:t>++) {</a:t>
            </a:r>
          </a:p>
          <a:p>
            <a:r>
              <a:rPr lang="en-US" dirty="0"/>
              <a:t>        if (</a:t>
            </a:r>
            <a:r>
              <a:rPr lang="en-US" dirty="0" err="1"/>
              <a:t>i</a:t>
            </a:r>
            <a:r>
              <a:rPr lang="en-US" dirty="0"/>
              <a:t> == 5 || </a:t>
            </a:r>
            <a:r>
              <a:rPr lang="en-US" dirty="0" err="1"/>
              <a:t>i</a:t>
            </a:r>
            <a:r>
              <a:rPr lang="en-US" dirty="0"/>
              <a:t> == 7) {</a:t>
            </a:r>
          </a:p>
          <a:p>
            <a:r>
              <a:rPr lang="en-US" dirty="0"/>
              <a:t>            continue;</a:t>
            </a:r>
          </a:p>
          <a:p>
            <a:r>
              <a:rPr lang="en-US" dirty="0"/>
              <a:t>        }</a:t>
            </a:r>
          </a:p>
          <a:p>
            <a:r>
              <a:rPr lang="en-US" dirty="0"/>
              <a:t>        </a:t>
            </a:r>
            <a:r>
              <a:rPr lang="en-US" dirty="0" err="1"/>
              <a:t>printf</a:t>
            </a:r>
            <a:r>
              <a:rPr lang="en-US" dirty="0"/>
              <a:t>("%d ", </a:t>
            </a:r>
            <a:r>
              <a:rPr lang="en-US" dirty="0" err="1"/>
              <a:t>i</a:t>
            </a:r>
            <a:r>
              <a:rPr lang="en-US" dirty="0"/>
              <a:t>);</a:t>
            </a:r>
          </a:p>
          <a:p>
            <a:r>
              <a:rPr lang="en-US" dirty="0"/>
              <a:t>    }</a:t>
            </a:r>
          </a:p>
          <a:p>
            <a:r>
              <a:rPr lang="en-US" dirty="0"/>
              <a:t>    </a:t>
            </a:r>
            <a:r>
              <a:rPr lang="en-US" dirty="0" err="1"/>
              <a:t>printf</a:t>
            </a:r>
            <a:r>
              <a:rPr lang="en-US" dirty="0"/>
              <a:t>("\n");</a:t>
            </a:r>
          </a:p>
          <a:p>
            <a:endParaRPr lang="en-US" dirty="0"/>
          </a:p>
          <a:p>
            <a:r>
              <a:rPr lang="en-US" dirty="0"/>
              <a:t>    // while loop with break</a:t>
            </a:r>
          </a:p>
          <a:p>
            <a:r>
              <a:rPr lang="en-US" dirty="0"/>
              <a:t>    </a:t>
            </a:r>
            <a:r>
              <a:rPr lang="en-US" dirty="0" err="1"/>
              <a:t>i</a:t>
            </a:r>
            <a:r>
              <a:rPr lang="en-US" dirty="0"/>
              <a:t> = 1;</a:t>
            </a:r>
          </a:p>
          <a:p>
            <a:r>
              <a:rPr lang="en-US" dirty="0"/>
              <a:t>    while (</a:t>
            </a:r>
            <a:r>
              <a:rPr lang="en-US" dirty="0" err="1"/>
              <a:t>i</a:t>
            </a:r>
            <a:r>
              <a:rPr lang="en-US" dirty="0"/>
              <a:t> &lt;= 10) {</a:t>
            </a:r>
          </a:p>
          <a:p>
            <a:r>
              <a:rPr lang="en-US" dirty="0"/>
              <a:t>        if (</a:t>
            </a:r>
            <a:r>
              <a:rPr lang="en-US" dirty="0" err="1"/>
              <a:t>i</a:t>
            </a:r>
            <a:r>
              <a:rPr lang="en-US" dirty="0"/>
              <a:t> == 7) {</a:t>
            </a:r>
          </a:p>
          <a:p>
            <a:r>
              <a:rPr lang="en-US" dirty="0"/>
              <a:t>            break;</a:t>
            </a:r>
          </a:p>
          <a:p>
            <a:r>
              <a:rPr lang="en-US" dirty="0"/>
              <a:t>        }</a:t>
            </a:r>
          </a:p>
          <a:p>
            <a:r>
              <a:rPr lang="en-US" dirty="0"/>
              <a:t>        </a:t>
            </a:r>
            <a:r>
              <a:rPr lang="en-US" dirty="0" err="1"/>
              <a:t>printf</a:t>
            </a:r>
            <a:r>
              <a:rPr lang="en-US" dirty="0"/>
              <a:t>("%d ", </a:t>
            </a:r>
            <a:r>
              <a:rPr lang="en-US" dirty="0" err="1"/>
              <a:t>i</a:t>
            </a:r>
            <a:r>
              <a:rPr lang="en-US" dirty="0"/>
              <a:t>++);</a:t>
            </a:r>
          </a:p>
          <a:p>
            <a:r>
              <a:rPr lang="en-US" dirty="0"/>
              <a:t>    }</a:t>
            </a:r>
          </a:p>
          <a:p>
            <a:r>
              <a:rPr lang="en-US" dirty="0"/>
              <a:t>    </a:t>
            </a:r>
            <a:r>
              <a:rPr lang="en-US" dirty="0" err="1"/>
              <a:t>printf</a:t>
            </a:r>
            <a:r>
              <a:rPr lang="en-US" dirty="0"/>
              <a:t>("\n");</a:t>
            </a:r>
          </a:p>
        </p:txBody>
      </p:sp>
      <p:sp>
        <p:nvSpPr>
          <p:cNvPr id="4" name="Content Placeholder 2">
            <a:extLst>
              <a:ext uri="{FF2B5EF4-FFF2-40B4-BE49-F238E27FC236}">
                <a16:creationId xmlns:a16="http://schemas.microsoft.com/office/drawing/2014/main" id="{1D211C28-D27E-E7C6-F7AC-A2E6524C4C53}"/>
              </a:ext>
            </a:extLst>
          </p:cNvPr>
          <p:cNvSpPr txBox="1">
            <a:spLocks/>
          </p:cNvSpPr>
          <p:nvPr/>
        </p:nvSpPr>
        <p:spPr>
          <a:xfrm>
            <a:off x="6096000" y="175364"/>
            <a:ext cx="5257800" cy="6001599"/>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a:p>
            <a:r>
              <a:rPr lang="en-US" dirty="0"/>
              <a:t>    // </a:t>
            </a:r>
            <a:r>
              <a:rPr lang="en-US" dirty="0" err="1"/>
              <a:t>do_while</a:t>
            </a:r>
            <a:r>
              <a:rPr lang="en-US" dirty="0"/>
              <a:t> loop</a:t>
            </a:r>
          </a:p>
          <a:p>
            <a:r>
              <a:rPr lang="en-US" dirty="0"/>
              <a:t>    </a:t>
            </a:r>
            <a:r>
              <a:rPr lang="en-US" dirty="0" err="1"/>
              <a:t>i</a:t>
            </a:r>
            <a:r>
              <a:rPr lang="en-US" dirty="0"/>
              <a:t> = 1;</a:t>
            </a:r>
          </a:p>
          <a:p>
            <a:r>
              <a:rPr lang="en-US" dirty="0"/>
              <a:t>    do {</a:t>
            </a:r>
          </a:p>
          <a:p>
            <a:r>
              <a:rPr lang="en-US" dirty="0"/>
              <a:t>        </a:t>
            </a:r>
            <a:r>
              <a:rPr lang="en-US" dirty="0" err="1"/>
              <a:t>printf</a:t>
            </a:r>
            <a:r>
              <a:rPr lang="en-US" dirty="0"/>
              <a:t>("%d ", </a:t>
            </a:r>
            <a:r>
              <a:rPr lang="en-US" dirty="0" err="1"/>
              <a:t>i</a:t>
            </a:r>
            <a:r>
              <a:rPr lang="en-US" dirty="0"/>
              <a:t>++);</a:t>
            </a:r>
          </a:p>
          <a:p>
            <a:r>
              <a:rPr lang="en-US" dirty="0"/>
              <a:t>    } while (</a:t>
            </a:r>
            <a:r>
              <a:rPr lang="en-US" dirty="0" err="1"/>
              <a:t>i</a:t>
            </a:r>
            <a:r>
              <a:rPr lang="en-US" dirty="0"/>
              <a:t> &lt;= 10);</a:t>
            </a:r>
          </a:p>
          <a:p>
            <a:r>
              <a:rPr lang="en-US" dirty="0"/>
              <a:t>    </a:t>
            </a:r>
            <a:r>
              <a:rPr lang="en-US" dirty="0" err="1"/>
              <a:t>printf</a:t>
            </a:r>
            <a:r>
              <a:rPr lang="en-US" dirty="0"/>
              <a:t>("\n");</a:t>
            </a:r>
          </a:p>
          <a:p>
            <a:endParaRPr lang="en-US" dirty="0"/>
          </a:p>
          <a:p>
            <a:r>
              <a:rPr lang="en-US" dirty="0"/>
              <a:t>    // </a:t>
            </a:r>
            <a:r>
              <a:rPr lang="en-US" dirty="0" err="1"/>
              <a:t>goto</a:t>
            </a:r>
            <a:r>
              <a:rPr lang="en-US" dirty="0"/>
              <a:t> statement</a:t>
            </a:r>
          </a:p>
          <a:p>
            <a:r>
              <a:rPr lang="en-US" dirty="0"/>
              <a:t>    </a:t>
            </a:r>
            <a:r>
              <a:rPr lang="en-US" dirty="0" err="1"/>
              <a:t>i</a:t>
            </a:r>
            <a:r>
              <a:rPr lang="en-US" dirty="0"/>
              <a:t> = 1;</a:t>
            </a:r>
          </a:p>
          <a:p>
            <a:r>
              <a:rPr lang="en-US" dirty="0" err="1"/>
              <a:t>any_label</a:t>
            </a:r>
            <a:r>
              <a:rPr lang="en-US" dirty="0"/>
              <a:t>:</a:t>
            </a:r>
          </a:p>
          <a:p>
            <a:r>
              <a:rPr lang="en-US" dirty="0"/>
              <a:t>    </a:t>
            </a:r>
            <a:r>
              <a:rPr lang="en-US" dirty="0" err="1"/>
              <a:t>printf</a:t>
            </a:r>
            <a:r>
              <a:rPr lang="en-US" dirty="0"/>
              <a:t>("%d ", </a:t>
            </a:r>
            <a:r>
              <a:rPr lang="en-US" dirty="0" err="1"/>
              <a:t>i</a:t>
            </a:r>
            <a:r>
              <a:rPr lang="en-US" dirty="0"/>
              <a:t>++);</a:t>
            </a:r>
          </a:p>
          <a:p>
            <a:r>
              <a:rPr lang="en-US" dirty="0"/>
              <a:t>    if (</a:t>
            </a:r>
            <a:r>
              <a:rPr lang="en-US" dirty="0" err="1"/>
              <a:t>i</a:t>
            </a:r>
            <a:r>
              <a:rPr lang="en-US" dirty="0"/>
              <a:t> &lt;= 10) {</a:t>
            </a:r>
          </a:p>
          <a:p>
            <a:r>
              <a:rPr lang="en-US" dirty="0"/>
              <a:t>        </a:t>
            </a:r>
            <a:r>
              <a:rPr lang="en-US" dirty="0" err="1"/>
              <a:t>goto</a:t>
            </a:r>
            <a:r>
              <a:rPr lang="en-US" dirty="0"/>
              <a:t> </a:t>
            </a:r>
            <a:r>
              <a:rPr lang="en-US" dirty="0" err="1"/>
              <a:t>any_label</a:t>
            </a:r>
            <a:r>
              <a:rPr lang="en-US" dirty="0"/>
              <a:t>;</a:t>
            </a:r>
          </a:p>
          <a:p>
            <a:r>
              <a:rPr lang="en-US" dirty="0"/>
              <a:t>    }</a:t>
            </a:r>
          </a:p>
          <a:p>
            <a:endParaRPr lang="en-US" dirty="0"/>
          </a:p>
          <a:p>
            <a:r>
              <a:rPr lang="en-US" dirty="0"/>
              <a:t>    return 0;</a:t>
            </a:r>
          </a:p>
          <a:p>
            <a:r>
              <a:rPr lang="en-US" dirty="0"/>
              <a:t>}</a:t>
            </a:r>
          </a:p>
        </p:txBody>
      </p:sp>
    </p:spTree>
    <p:extLst>
      <p:ext uri="{BB962C8B-B14F-4D97-AF65-F5344CB8AC3E}">
        <p14:creationId xmlns:p14="http://schemas.microsoft.com/office/powerpoint/2010/main" val="3536615435"/>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1073A-CC37-197E-F366-7252060E76A3}"/>
              </a:ext>
            </a:extLst>
          </p:cNvPr>
          <p:cNvSpPr>
            <a:spLocks noGrp="1"/>
          </p:cNvSpPr>
          <p:nvPr>
            <p:ph type="title"/>
          </p:nvPr>
        </p:nvSpPr>
        <p:spPr/>
        <p:txBody>
          <a:bodyPr/>
          <a:lstStyle/>
          <a:p>
            <a:r>
              <a:rPr lang="en-IN" b="1" i="0" dirty="0">
                <a:solidFill>
                  <a:srgbClr val="273239"/>
                </a:solidFill>
                <a:effectLst/>
                <a:latin typeface="Nunito" pitchFamily="2" charset="77"/>
              </a:rPr>
              <a:t>Arrays</a:t>
            </a:r>
            <a:endParaRPr lang="en-US" dirty="0"/>
          </a:p>
        </p:txBody>
      </p:sp>
      <p:sp>
        <p:nvSpPr>
          <p:cNvPr id="3" name="Content Placeholder 2">
            <a:extLst>
              <a:ext uri="{FF2B5EF4-FFF2-40B4-BE49-F238E27FC236}">
                <a16:creationId xmlns:a16="http://schemas.microsoft.com/office/drawing/2014/main" id="{AC286A1F-5FFF-521C-242C-1E307B7E1473}"/>
              </a:ext>
            </a:extLst>
          </p:cNvPr>
          <p:cNvSpPr>
            <a:spLocks noGrp="1"/>
          </p:cNvSpPr>
          <p:nvPr>
            <p:ph idx="1"/>
          </p:nvPr>
        </p:nvSpPr>
        <p:spPr/>
        <p:txBody>
          <a:bodyPr>
            <a:normAutofit lnSpcReduction="10000"/>
          </a:bodyPr>
          <a:lstStyle/>
          <a:p>
            <a:pPr algn="l" rtl="0" fontAlgn="base"/>
            <a:r>
              <a:rPr lang="en-IN" b="0" i="0" dirty="0">
                <a:solidFill>
                  <a:srgbClr val="273239"/>
                </a:solidFill>
                <a:effectLst/>
                <a:latin typeface="Nunito" pitchFamily="2" charset="77"/>
              </a:rPr>
              <a:t>An array is a fixed-size homogeneous collection of items stored at a contiguous memory location. It can contain elements from type int, char, float, structure, etc. to even other arrays.</a:t>
            </a:r>
          </a:p>
          <a:p>
            <a:pPr algn="l" fontAlgn="base">
              <a:buFont typeface="Arial" panose="020B0604020202020204" pitchFamily="34" charset="0"/>
              <a:buChar char="•"/>
            </a:pPr>
            <a:r>
              <a:rPr lang="en-IN" b="0" i="0" dirty="0">
                <a:solidFill>
                  <a:srgbClr val="273239"/>
                </a:solidFill>
                <a:effectLst/>
                <a:latin typeface="Nunito" pitchFamily="2" charset="77"/>
              </a:rPr>
              <a:t>Array provides</a:t>
            </a:r>
            <a:r>
              <a:rPr lang="en-IN" b="1" i="0" dirty="0">
                <a:solidFill>
                  <a:srgbClr val="273239"/>
                </a:solidFill>
                <a:effectLst/>
                <a:latin typeface="Nunito" pitchFamily="2" charset="77"/>
              </a:rPr>
              <a:t> random access </a:t>
            </a:r>
            <a:r>
              <a:rPr lang="en-IN" b="0" i="0" dirty="0">
                <a:solidFill>
                  <a:srgbClr val="273239"/>
                </a:solidFill>
                <a:effectLst/>
                <a:latin typeface="Nunito" pitchFamily="2" charset="77"/>
              </a:rPr>
              <a:t>using the element index.</a:t>
            </a:r>
          </a:p>
          <a:p>
            <a:pPr algn="l" fontAlgn="base">
              <a:buFont typeface="Arial" panose="020B0604020202020204" pitchFamily="34" charset="0"/>
              <a:buChar char="•"/>
            </a:pPr>
            <a:r>
              <a:rPr lang="en-IN" b="0" i="0" dirty="0">
                <a:solidFill>
                  <a:srgbClr val="273239"/>
                </a:solidFill>
                <a:effectLst/>
                <a:latin typeface="Nunito" pitchFamily="2" charset="77"/>
              </a:rPr>
              <a:t>Array </a:t>
            </a:r>
            <a:r>
              <a:rPr lang="en-IN" b="1" i="0" dirty="0">
                <a:solidFill>
                  <a:srgbClr val="273239"/>
                </a:solidFill>
                <a:effectLst/>
                <a:latin typeface="Nunito" pitchFamily="2" charset="77"/>
              </a:rPr>
              <a:t>size cannot change.</a:t>
            </a:r>
            <a:endParaRPr lang="en-IN" b="0" i="0" dirty="0">
              <a:solidFill>
                <a:srgbClr val="273239"/>
              </a:solidFill>
              <a:effectLst/>
              <a:latin typeface="Nunito" pitchFamily="2" charset="77"/>
            </a:endParaRPr>
          </a:p>
          <a:p>
            <a:pPr algn="l" fontAlgn="base">
              <a:buFont typeface="Arial" panose="020B0604020202020204" pitchFamily="34" charset="0"/>
              <a:buChar char="•"/>
            </a:pPr>
            <a:r>
              <a:rPr lang="en-IN" b="0" i="0" dirty="0">
                <a:solidFill>
                  <a:srgbClr val="273239"/>
                </a:solidFill>
                <a:effectLst/>
                <a:latin typeface="Nunito" pitchFamily="2" charset="77"/>
              </a:rPr>
              <a:t>Array can have </a:t>
            </a:r>
            <a:r>
              <a:rPr lang="en-IN" b="1" i="0" dirty="0">
                <a:solidFill>
                  <a:srgbClr val="273239"/>
                </a:solidFill>
                <a:effectLst/>
                <a:latin typeface="Nunito" pitchFamily="2" charset="77"/>
              </a:rPr>
              <a:t>multiple dimensions </a:t>
            </a:r>
            <a:r>
              <a:rPr lang="en-IN" b="0" i="0" dirty="0">
                <a:solidFill>
                  <a:srgbClr val="273239"/>
                </a:solidFill>
                <a:effectLst/>
                <a:latin typeface="Nunito" pitchFamily="2" charset="77"/>
              </a:rPr>
              <a:t>in which it can grow.</a:t>
            </a:r>
          </a:p>
          <a:p>
            <a:pPr algn="l" fontAlgn="base"/>
            <a:r>
              <a:rPr lang="en-IN" b="1" i="0" dirty="0">
                <a:solidFill>
                  <a:srgbClr val="273239"/>
                </a:solidFill>
                <a:effectLst/>
                <a:latin typeface="Nunito" pitchFamily="2" charset="77"/>
              </a:rPr>
              <a:t>Syntax of Arrays</a:t>
            </a:r>
          </a:p>
          <a:p>
            <a:r>
              <a:rPr lang="en-IN" i="1" dirty="0" err="1">
                <a:effectLst/>
                <a:highlight>
                  <a:srgbClr val="00FF00"/>
                </a:highlight>
                <a:latin typeface="Nunito" pitchFamily="2" charset="77"/>
              </a:rPr>
              <a:t>data_type</a:t>
            </a:r>
            <a:r>
              <a:rPr lang="en-IN" i="1" dirty="0">
                <a:effectLst/>
                <a:highlight>
                  <a:srgbClr val="00FF00"/>
                </a:highlight>
                <a:latin typeface="Nunito" pitchFamily="2" charset="77"/>
              </a:rPr>
              <a:t> </a:t>
            </a:r>
            <a:r>
              <a:rPr lang="en-IN" i="1" dirty="0" err="1">
                <a:effectLst/>
                <a:highlight>
                  <a:srgbClr val="00FF00"/>
                </a:highlight>
                <a:latin typeface="Nunito" pitchFamily="2" charset="77"/>
              </a:rPr>
              <a:t>arr_name</a:t>
            </a:r>
            <a:r>
              <a:rPr lang="en-IN" i="1" dirty="0">
                <a:effectLst/>
                <a:highlight>
                  <a:srgbClr val="00FF00"/>
                </a:highlight>
                <a:latin typeface="Nunito" pitchFamily="2" charset="77"/>
              </a:rPr>
              <a:t> </a:t>
            </a:r>
            <a:r>
              <a:rPr lang="en-IN" dirty="0">
                <a:effectLst/>
                <a:highlight>
                  <a:srgbClr val="00FF00"/>
                </a:highlight>
                <a:latin typeface="Consolas" panose="020B0609020204030204" pitchFamily="49" charset="0"/>
              </a:rPr>
              <a:t>[size1]; // </a:t>
            </a:r>
            <a:r>
              <a:rPr lang="en-IN" b="1" dirty="0">
                <a:effectLst/>
                <a:highlight>
                  <a:srgbClr val="00FF00"/>
                </a:highlight>
                <a:latin typeface="Nunito" pitchFamily="2" charset="77"/>
              </a:rPr>
              <a:t>1D array</a:t>
            </a:r>
            <a:r>
              <a:rPr lang="en-IN" dirty="0">
                <a:effectLst/>
                <a:highlight>
                  <a:srgbClr val="00FF00"/>
                </a:highlight>
                <a:latin typeface="Consolas" panose="020B0609020204030204" pitchFamily="49" charset="0"/>
              </a:rPr>
              <a:t> </a:t>
            </a:r>
            <a:r>
              <a:rPr lang="en-IN" i="1" dirty="0" err="1">
                <a:effectLst/>
                <a:highlight>
                  <a:srgbClr val="00FF00"/>
                </a:highlight>
                <a:latin typeface="Nunito" pitchFamily="2" charset="77"/>
              </a:rPr>
              <a:t>data_type</a:t>
            </a:r>
            <a:r>
              <a:rPr lang="en-IN" i="1" dirty="0">
                <a:effectLst/>
                <a:highlight>
                  <a:srgbClr val="00FF00"/>
                </a:highlight>
                <a:latin typeface="Nunito" pitchFamily="2" charset="77"/>
              </a:rPr>
              <a:t> </a:t>
            </a:r>
            <a:r>
              <a:rPr lang="en-IN" i="1" dirty="0" err="1">
                <a:effectLst/>
                <a:highlight>
                  <a:srgbClr val="00FF00"/>
                </a:highlight>
                <a:latin typeface="Nunito" pitchFamily="2" charset="77"/>
              </a:rPr>
              <a:t>arr_name</a:t>
            </a:r>
            <a:r>
              <a:rPr lang="en-IN" dirty="0">
                <a:effectLst/>
                <a:highlight>
                  <a:srgbClr val="00FF00"/>
                </a:highlight>
                <a:latin typeface="Consolas" panose="020B0609020204030204" pitchFamily="49" charset="0"/>
              </a:rPr>
              <a:t> [size1][size2]; // </a:t>
            </a:r>
            <a:r>
              <a:rPr lang="en-IN" b="1" dirty="0">
                <a:effectLst/>
                <a:highlight>
                  <a:srgbClr val="00FF00"/>
                </a:highlight>
                <a:latin typeface="Nunito" pitchFamily="2" charset="77"/>
              </a:rPr>
              <a:t>2D array</a:t>
            </a:r>
            <a:r>
              <a:rPr lang="en-IN" dirty="0">
                <a:effectLst/>
                <a:highlight>
                  <a:srgbClr val="00FF00"/>
                </a:highlight>
                <a:latin typeface="Consolas" panose="020B0609020204030204" pitchFamily="49" charset="0"/>
              </a:rPr>
              <a:t> </a:t>
            </a:r>
            <a:r>
              <a:rPr lang="en-IN" i="1" dirty="0" err="1">
                <a:effectLst/>
                <a:highlight>
                  <a:srgbClr val="00FF00"/>
                </a:highlight>
                <a:latin typeface="Nunito" pitchFamily="2" charset="77"/>
              </a:rPr>
              <a:t>data_type</a:t>
            </a:r>
            <a:r>
              <a:rPr lang="en-IN" i="1" dirty="0">
                <a:effectLst/>
                <a:highlight>
                  <a:srgbClr val="00FF00"/>
                </a:highlight>
                <a:latin typeface="Nunito" pitchFamily="2" charset="77"/>
              </a:rPr>
              <a:t> </a:t>
            </a:r>
            <a:r>
              <a:rPr lang="en-IN" i="1" dirty="0" err="1">
                <a:effectLst/>
                <a:highlight>
                  <a:srgbClr val="00FF00"/>
                </a:highlight>
                <a:latin typeface="Nunito" pitchFamily="2" charset="77"/>
              </a:rPr>
              <a:t>arr_name</a:t>
            </a:r>
            <a:r>
              <a:rPr lang="en-IN" i="1" dirty="0">
                <a:effectLst/>
                <a:highlight>
                  <a:srgbClr val="00FF00"/>
                </a:highlight>
                <a:latin typeface="Nunito" pitchFamily="2" charset="77"/>
              </a:rPr>
              <a:t> </a:t>
            </a:r>
            <a:r>
              <a:rPr lang="en-IN" dirty="0">
                <a:effectLst/>
                <a:highlight>
                  <a:srgbClr val="00FF00"/>
                </a:highlight>
                <a:latin typeface="Consolas" panose="020B0609020204030204" pitchFamily="49" charset="0"/>
              </a:rPr>
              <a:t>[size1][size2][size3]; // </a:t>
            </a:r>
            <a:r>
              <a:rPr lang="en-IN" b="1" dirty="0">
                <a:effectLst/>
                <a:highlight>
                  <a:srgbClr val="00FF00"/>
                </a:highlight>
                <a:latin typeface="Nunito" pitchFamily="2" charset="77"/>
              </a:rPr>
              <a:t>3D array</a:t>
            </a:r>
            <a:endParaRPr lang="en-US" dirty="0">
              <a:highlight>
                <a:srgbClr val="00FF00"/>
              </a:highlight>
            </a:endParaRPr>
          </a:p>
        </p:txBody>
      </p:sp>
    </p:spTree>
    <p:extLst>
      <p:ext uri="{BB962C8B-B14F-4D97-AF65-F5344CB8AC3E}">
        <p14:creationId xmlns:p14="http://schemas.microsoft.com/office/powerpoint/2010/main" val="2798081121"/>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58A1FB-809D-4F5C-D78E-D1295B9C5A9A}"/>
              </a:ext>
            </a:extLst>
          </p:cNvPr>
          <p:cNvSpPr>
            <a:spLocks noGrp="1"/>
          </p:cNvSpPr>
          <p:nvPr>
            <p:ph idx="1"/>
          </p:nvPr>
        </p:nvSpPr>
        <p:spPr>
          <a:xfrm>
            <a:off x="838200" y="250521"/>
            <a:ext cx="10515600" cy="5926442"/>
          </a:xfrm>
        </p:spPr>
        <p:txBody>
          <a:bodyPr>
            <a:normAutofit fontScale="55000" lnSpcReduction="20000"/>
          </a:bodyPr>
          <a:lstStyle/>
          <a:p>
            <a:r>
              <a:rPr lang="en-US" dirty="0"/>
              <a:t>// C Program to demonstrate the use of array</a:t>
            </a:r>
          </a:p>
          <a:p>
            <a:r>
              <a:rPr lang="en-US" dirty="0"/>
              <a:t>#include &lt;</a:t>
            </a:r>
            <a:r>
              <a:rPr lang="en-US" dirty="0" err="1"/>
              <a:t>stdio.h</a:t>
            </a:r>
            <a:r>
              <a:rPr lang="en-US" dirty="0"/>
              <a:t>&gt;</a:t>
            </a:r>
          </a:p>
          <a:p>
            <a:endParaRPr lang="en-US" dirty="0"/>
          </a:p>
          <a:p>
            <a:r>
              <a:rPr lang="en-US" dirty="0"/>
              <a:t>int main()</a:t>
            </a:r>
          </a:p>
          <a:p>
            <a:r>
              <a:rPr lang="en-US" dirty="0"/>
              <a:t>{</a:t>
            </a:r>
          </a:p>
          <a:p>
            <a:r>
              <a:rPr lang="en-US" dirty="0"/>
              <a:t>    // array declaration and initialization</a:t>
            </a:r>
          </a:p>
          <a:p>
            <a:r>
              <a:rPr lang="en-US" dirty="0"/>
              <a:t>    int </a:t>
            </a:r>
            <a:r>
              <a:rPr lang="en-US" dirty="0" err="1"/>
              <a:t>arr</a:t>
            </a:r>
            <a:r>
              <a:rPr lang="en-US" dirty="0"/>
              <a:t>[5] = { 10, 20, 30, 40, 50 };</a:t>
            </a:r>
          </a:p>
          <a:p>
            <a:endParaRPr lang="en-US" dirty="0"/>
          </a:p>
          <a:p>
            <a:r>
              <a:rPr lang="en-US" dirty="0"/>
              <a:t>    // modifying element at index 2</a:t>
            </a:r>
          </a:p>
          <a:p>
            <a:r>
              <a:rPr lang="en-US" dirty="0"/>
              <a:t>    </a:t>
            </a:r>
            <a:r>
              <a:rPr lang="en-US" dirty="0" err="1"/>
              <a:t>arr</a:t>
            </a:r>
            <a:r>
              <a:rPr lang="en-US" dirty="0"/>
              <a:t>[2] = 100;</a:t>
            </a:r>
          </a:p>
          <a:p>
            <a:endParaRPr lang="en-US" dirty="0"/>
          </a:p>
          <a:p>
            <a:r>
              <a:rPr lang="en-US" dirty="0"/>
              <a:t>    // traversing array using for loop</a:t>
            </a:r>
          </a:p>
          <a:p>
            <a:r>
              <a:rPr lang="en-US" dirty="0"/>
              <a:t>    </a:t>
            </a:r>
            <a:r>
              <a:rPr lang="en-US" dirty="0" err="1"/>
              <a:t>printf</a:t>
            </a:r>
            <a:r>
              <a:rPr lang="en-US" dirty="0"/>
              <a:t>("Elements in Array: ");</a:t>
            </a:r>
          </a:p>
          <a:p>
            <a:r>
              <a:rPr lang="en-US" dirty="0"/>
              <a:t>    for (int </a:t>
            </a:r>
            <a:r>
              <a:rPr lang="en-US" dirty="0" err="1"/>
              <a:t>i</a:t>
            </a:r>
            <a:r>
              <a:rPr lang="en-US" dirty="0"/>
              <a:t> = 0; </a:t>
            </a:r>
            <a:r>
              <a:rPr lang="en-US" dirty="0" err="1"/>
              <a:t>i</a:t>
            </a:r>
            <a:r>
              <a:rPr lang="en-US" dirty="0"/>
              <a:t> &lt; 5; </a:t>
            </a:r>
            <a:r>
              <a:rPr lang="en-US" dirty="0" err="1"/>
              <a:t>i</a:t>
            </a:r>
            <a:r>
              <a:rPr lang="en-US" dirty="0"/>
              <a:t>++) {</a:t>
            </a:r>
          </a:p>
          <a:p>
            <a:r>
              <a:rPr lang="en-US" dirty="0"/>
              <a:t>        </a:t>
            </a:r>
            <a:r>
              <a:rPr lang="en-US" dirty="0" err="1"/>
              <a:t>printf</a:t>
            </a:r>
            <a:r>
              <a:rPr lang="en-US" dirty="0"/>
              <a:t>("%d ", </a:t>
            </a:r>
            <a:r>
              <a:rPr lang="en-US" dirty="0" err="1"/>
              <a:t>arr</a:t>
            </a:r>
            <a:r>
              <a:rPr lang="en-US" dirty="0"/>
              <a:t>[</a:t>
            </a:r>
            <a:r>
              <a:rPr lang="en-US" dirty="0" err="1"/>
              <a:t>i</a:t>
            </a:r>
            <a:r>
              <a:rPr lang="en-US" dirty="0"/>
              <a:t>]);</a:t>
            </a:r>
          </a:p>
          <a:p>
            <a:r>
              <a:rPr lang="en-US" dirty="0"/>
              <a:t>    }</a:t>
            </a:r>
          </a:p>
          <a:p>
            <a:endParaRPr lang="en-US" dirty="0"/>
          </a:p>
          <a:p>
            <a:r>
              <a:rPr lang="en-US" dirty="0"/>
              <a:t>    return 0;</a:t>
            </a:r>
          </a:p>
          <a:p>
            <a:r>
              <a:rPr lang="en-US" dirty="0"/>
              <a:t>}</a:t>
            </a:r>
          </a:p>
        </p:txBody>
      </p:sp>
    </p:spTree>
    <p:extLst>
      <p:ext uri="{BB962C8B-B14F-4D97-AF65-F5344CB8AC3E}">
        <p14:creationId xmlns:p14="http://schemas.microsoft.com/office/powerpoint/2010/main" val="418358301"/>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ADE01-A3B4-7F26-6699-B5ACA671B1CC}"/>
              </a:ext>
            </a:extLst>
          </p:cNvPr>
          <p:cNvSpPr>
            <a:spLocks noGrp="1"/>
          </p:cNvSpPr>
          <p:nvPr>
            <p:ph type="title"/>
          </p:nvPr>
        </p:nvSpPr>
        <p:spPr/>
        <p:txBody>
          <a:bodyPr/>
          <a:lstStyle/>
          <a:p>
            <a:r>
              <a:rPr lang="en-IN" b="1" i="0" dirty="0">
                <a:solidFill>
                  <a:srgbClr val="273239"/>
                </a:solidFill>
                <a:effectLst/>
                <a:latin typeface="Nunito" pitchFamily="2" charset="77"/>
              </a:rPr>
              <a:t>Strings</a:t>
            </a:r>
            <a:endParaRPr lang="en-US" dirty="0"/>
          </a:p>
        </p:txBody>
      </p:sp>
      <p:sp>
        <p:nvSpPr>
          <p:cNvPr id="3" name="Content Placeholder 2">
            <a:extLst>
              <a:ext uri="{FF2B5EF4-FFF2-40B4-BE49-F238E27FC236}">
                <a16:creationId xmlns:a16="http://schemas.microsoft.com/office/drawing/2014/main" id="{1DF0E07F-5575-AB41-E5C7-4B717084B795}"/>
              </a:ext>
            </a:extLst>
          </p:cNvPr>
          <p:cNvSpPr>
            <a:spLocks noGrp="1"/>
          </p:cNvSpPr>
          <p:nvPr>
            <p:ph idx="1"/>
          </p:nvPr>
        </p:nvSpPr>
        <p:spPr/>
        <p:txBody>
          <a:bodyPr/>
          <a:lstStyle/>
          <a:p>
            <a:pPr algn="l" rtl="0" fontAlgn="base"/>
            <a:r>
              <a:rPr lang="en-IN" b="0" i="0" dirty="0">
                <a:solidFill>
                  <a:srgbClr val="273239"/>
                </a:solidFill>
                <a:effectLst/>
                <a:latin typeface="Nunito" pitchFamily="2" charset="77"/>
              </a:rPr>
              <a:t>Strings are the sequence of characters terminated by a '\0' NULL character. It is stored as the array of characters in C.</a:t>
            </a:r>
          </a:p>
          <a:p>
            <a:pPr algn="l" fontAlgn="base"/>
            <a:r>
              <a:rPr lang="en-IN" b="1" i="0" dirty="0">
                <a:solidFill>
                  <a:srgbClr val="273239"/>
                </a:solidFill>
                <a:effectLst/>
                <a:latin typeface="Nunito" pitchFamily="2" charset="77"/>
              </a:rPr>
              <a:t>Syntax of Strings</a:t>
            </a:r>
          </a:p>
          <a:p>
            <a:r>
              <a:rPr lang="en-IN" dirty="0">
                <a:effectLst/>
                <a:highlight>
                  <a:srgbClr val="00FF00"/>
                </a:highlight>
                <a:latin typeface="Consolas" panose="020B0609020204030204" pitchFamily="49" charset="0"/>
              </a:rPr>
              <a:t>char </a:t>
            </a:r>
            <a:r>
              <a:rPr lang="en-IN" dirty="0" err="1">
                <a:effectLst/>
                <a:highlight>
                  <a:srgbClr val="00FF00"/>
                </a:highlight>
                <a:latin typeface="Consolas" panose="020B0609020204030204" pitchFamily="49" charset="0"/>
              </a:rPr>
              <a:t>string_name</a:t>
            </a:r>
            <a:r>
              <a:rPr lang="en-IN" i="1" dirty="0">
                <a:effectLst/>
                <a:highlight>
                  <a:srgbClr val="00FF00"/>
                </a:highlight>
                <a:latin typeface="Nunito" pitchFamily="2" charset="77"/>
              </a:rPr>
              <a:t> </a:t>
            </a:r>
            <a:r>
              <a:rPr lang="en-IN" dirty="0">
                <a:effectLst/>
                <a:highlight>
                  <a:srgbClr val="00FF00"/>
                </a:highlight>
                <a:latin typeface="Consolas" panose="020B0609020204030204" pitchFamily="49" charset="0"/>
              </a:rPr>
              <a:t>[] = "</a:t>
            </a:r>
            <a:r>
              <a:rPr lang="en-IN" i="1" dirty="0" err="1">
                <a:effectLst/>
                <a:highlight>
                  <a:srgbClr val="00FF00"/>
                </a:highlight>
                <a:latin typeface="Nunito" pitchFamily="2" charset="77"/>
              </a:rPr>
              <a:t>any_text</a:t>
            </a:r>
            <a:r>
              <a:rPr lang="en-IN" dirty="0">
                <a:effectLst/>
                <a:highlight>
                  <a:srgbClr val="00FF00"/>
                </a:highlight>
                <a:latin typeface="Consolas" panose="020B0609020204030204" pitchFamily="49" charset="0"/>
              </a:rPr>
              <a:t>";</a:t>
            </a:r>
            <a:endParaRPr lang="en-US" dirty="0">
              <a:highlight>
                <a:srgbClr val="00FF00"/>
              </a:highlight>
            </a:endParaRPr>
          </a:p>
        </p:txBody>
      </p:sp>
    </p:spTree>
    <p:extLst>
      <p:ext uri="{BB962C8B-B14F-4D97-AF65-F5344CB8AC3E}">
        <p14:creationId xmlns:p14="http://schemas.microsoft.com/office/powerpoint/2010/main" val="4166217182"/>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2DF0D9-7053-288B-B7F5-3093A72FC70E}"/>
              </a:ext>
            </a:extLst>
          </p:cNvPr>
          <p:cNvSpPr>
            <a:spLocks noGrp="1"/>
          </p:cNvSpPr>
          <p:nvPr>
            <p:ph idx="1"/>
          </p:nvPr>
        </p:nvSpPr>
        <p:spPr>
          <a:xfrm>
            <a:off x="838200" y="400833"/>
            <a:ext cx="10515600" cy="5776130"/>
          </a:xfrm>
        </p:spPr>
        <p:txBody>
          <a:bodyPr>
            <a:normAutofit fontScale="55000" lnSpcReduction="20000"/>
          </a:bodyPr>
          <a:lstStyle/>
          <a:p>
            <a:r>
              <a:rPr lang="en-US" dirty="0"/>
              <a:t>// C program to illustrate strings</a:t>
            </a:r>
          </a:p>
          <a:p>
            <a:r>
              <a:rPr lang="en-US" dirty="0"/>
              <a:t>#include &lt;</a:t>
            </a:r>
            <a:r>
              <a:rPr lang="en-US" dirty="0" err="1"/>
              <a:t>stdio.h</a:t>
            </a:r>
            <a:r>
              <a:rPr lang="en-US" dirty="0"/>
              <a:t>&gt;</a:t>
            </a:r>
          </a:p>
          <a:p>
            <a:r>
              <a:rPr lang="en-US" dirty="0"/>
              <a:t>#include &lt;</a:t>
            </a:r>
            <a:r>
              <a:rPr lang="en-US" dirty="0" err="1"/>
              <a:t>string.h</a:t>
            </a:r>
            <a:r>
              <a:rPr lang="en-US" dirty="0"/>
              <a:t>&gt;</a:t>
            </a:r>
          </a:p>
          <a:p>
            <a:endParaRPr lang="en-US" dirty="0"/>
          </a:p>
          <a:p>
            <a:r>
              <a:rPr lang="en-US" dirty="0"/>
              <a:t>int main()</a:t>
            </a:r>
          </a:p>
          <a:p>
            <a:r>
              <a:rPr lang="en-US" dirty="0"/>
              <a:t>{</a:t>
            </a:r>
          </a:p>
          <a:p>
            <a:r>
              <a:rPr lang="en-US" dirty="0"/>
              <a:t>    // declare and initialize string</a:t>
            </a:r>
          </a:p>
          <a:p>
            <a:r>
              <a:rPr lang="en-US" dirty="0"/>
              <a:t>    char str[] = "Geeks";</a:t>
            </a:r>
          </a:p>
          <a:p>
            <a:endParaRPr lang="en-US" dirty="0"/>
          </a:p>
          <a:p>
            <a:r>
              <a:rPr lang="en-US" dirty="0"/>
              <a:t>    // print string</a:t>
            </a:r>
          </a:p>
          <a:p>
            <a:r>
              <a:rPr lang="en-US" dirty="0"/>
              <a:t>    </a:t>
            </a:r>
            <a:r>
              <a:rPr lang="en-US" dirty="0" err="1"/>
              <a:t>printf</a:t>
            </a:r>
            <a:r>
              <a:rPr lang="en-US" dirty="0"/>
              <a:t>("%s\n", str);</a:t>
            </a:r>
          </a:p>
          <a:p>
            <a:endParaRPr lang="en-US" dirty="0"/>
          </a:p>
          <a:p>
            <a:r>
              <a:rPr lang="en-US" dirty="0"/>
              <a:t>    int length = 0;</a:t>
            </a:r>
          </a:p>
          <a:p>
            <a:r>
              <a:rPr lang="en-US" dirty="0"/>
              <a:t>    length = </a:t>
            </a:r>
            <a:r>
              <a:rPr lang="en-US" dirty="0" err="1"/>
              <a:t>strlen</a:t>
            </a:r>
            <a:r>
              <a:rPr lang="en-US" dirty="0"/>
              <a:t>(str);</a:t>
            </a:r>
          </a:p>
          <a:p>
            <a:endParaRPr lang="en-US" dirty="0"/>
          </a:p>
          <a:p>
            <a:r>
              <a:rPr lang="en-US" dirty="0"/>
              <a:t>    // displaying the length of string</a:t>
            </a:r>
          </a:p>
          <a:p>
            <a:r>
              <a:rPr lang="en-US" dirty="0"/>
              <a:t>    </a:t>
            </a:r>
            <a:r>
              <a:rPr lang="en-US" dirty="0" err="1"/>
              <a:t>printf</a:t>
            </a:r>
            <a:r>
              <a:rPr lang="en-US" dirty="0"/>
              <a:t>("Length of string str is %d", length);</a:t>
            </a:r>
          </a:p>
          <a:p>
            <a:endParaRPr lang="en-US" dirty="0"/>
          </a:p>
          <a:p>
            <a:r>
              <a:rPr lang="en-US" dirty="0"/>
              <a:t>    return 0;</a:t>
            </a:r>
          </a:p>
          <a:p>
            <a:r>
              <a:rPr lang="en-US" dirty="0"/>
              <a:t>}</a:t>
            </a:r>
          </a:p>
        </p:txBody>
      </p:sp>
    </p:spTree>
    <p:extLst>
      <p:ext uri="{BB962C8B-B14F-4D97-AF65-F5344CB8AC3E}">
        <p14:creationId xmlns:p14="http://schemas.microsoft.com/office/powerpoint/2010/main" val="2178194107"/>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6F2DA-9002-E81E-26A6-5BA3B36B22EB}"/>
              </a:ext>
            </a:extLst>
          </p:cNvPr>
          <p:cNvSpPr>
            <a:spLocks noGrp="1"/>
          </p:cNvSpPr>
          <p:nvPr>
            <p:ph type="title"/>
          </p:nvPr>
        </p:nvSpPr>
        <p:spPr/>
        <p:txBody>
          <a:bodyPr/>
          <a:lstStyle/>
          <a:p>
            <a:r>
              <a:rPr kumimoji="0" lang="en-US" altLang="en-US" sz="4400" b="1" i="0" u="none" strike="noStrike" cap="none" normalizeH="0" baseline="0" dirty="0">
                <a:ln>
                  <a:noFill/>
                </a:ln>
                <a:solidFill>
                  <a:srgbClr val="273239"/>
                </a:solidFill>
                <a:effectLst/>
                <a:latin typeface="Nunito" pitchFamily="2" charset="77"/>
              </a:rPr>
              <a:t>C String Functions</a:t>
            </a:r>
            <a:br>
              <a:rPr kumimoji="0" lang="en-US" altLang="en-US" sz="4400" b="1" i="0" u="none" strike="noStrike" cap="none" normalizeH="0" baseline="0" dirty="0">
                <a:ln>
                  <a:noFill/>
                </a:ln>
                <a:solidFill>
                  <a:srgbClr val="273239"/>
                </a:solidFill>
                <a:effectLst/>
                <a:latin typeface="Nunito" pitchFamily="2" charset="77"/>
              </a:rPr>
            </a:br>
            <a:endParaRPr lang="en-US" dirty="0"/>
          </a:p>
        </p:txBody>
      </p:sp>
      <p:graphicFrame>
        <p:nvGraphicFramePr>
          <p:cNvPr id="4" name="Content Placeholder 3">
            <a:extLst>
              <a:ext uri="{FF2B5EF4-FFF2-40B4-BE49-F238E27FC236}">
                <a16:creationId xmlns:a16="http://schemas.microsoft.com/office/drawing/2014/main" id="{C7B60FD5-9EAD-80EC-6009-F12217CB8283}"/>
              </a:ext>
            </a:extLst>
          </p:cNvPr>
          <p:cNvGraphicFramePr>
            <a:graphicFrameLocks noGrp="1"/>
          </p:cNvGraphicFramePr>
          <p:nvPr>
            <p:ph idx="1"/>
          </p:nvPr>
        </p:nvGraphicFramePr>
        <p:xfrm>
          <a:off x="838200" y="2427764"/>
          <a:ext cx="10515599" cy="3147060"/>
        </p:xfrm>
        <a:graphic>
          <a:graphicData uri="http://schemas.openxmlformats.org/drawingml/2006/table">
            <a:tbl>
              <a:tblPr/>
              <a:tblGrid>
                <a:gridCol w="2002971">
                  <a:extLst>
                    <a:ext uri="{9D8B030D-6E8A-4147-A177-3AD203B41FA5}">
                      <a16:colId xmlns:a16="http://schemas.microsoft.com/office/drawing/2014/main" val="1368001559"/>
                    </a:ext>
                  </a:extLst>
                </a:gridCol>
                <a:gridCol w="4256314">
                  <a:extLst>
                    <a:ext uri="{9D8B030D-6E8A-4147-A177-3AD203B41FA5}">
                      <a16:colId xmlns:a16="http://schemas.microsoft.com/office/drawing/2014/main" val="3157584994"/>
                    </a:ext>
                  </a:extLst>
                </a:gridCol>
                <a:gridCol w="4256314">
                  <a:extLst>
                    <a:ext uri="{9D8B030D-6E8A-4147-A177-3AD203B41FA5}">
                      <a16:colId xmlns:a16="http://schemas.microsoft.com/office/drawing/2014/main" val="3634952550"/>
                    </a:ext>
                  </a:extLst>
                </a:gridCol>
              </a:tblGrid>
              <a:tr h="0">
                <a:tc>
                  <a:txBody>
                    <a:bodyPr/>
                    <a:lstStyle/>
                    <a:p>
                      <a:pPr algn="ctr" rtl="0" fontAlgn="base"/>
                      <a:r>
                        <a:rPr lang="en-IN" sz="1400" b="1">
                          <a:effectLst/>
                          <a:latin typeface="Nunito" pitchFamily="2" charset="77"/>
                        </a:rPr>
                        <a:t>S. No.</a:t>
                      </a:r>
                      <a:endParaRPr lang="en-IN" sz="1400" b="0">
                        <a:effectLst/>
                        <a:latin typeface="Nunito" pitchFamily="2" charset="77"/>
                      </a:endParaRPr>
                    </a:p>
                  </a:txBody>
                  <a:tcPr marL="38100" marR="3810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IN" sz="1400" b="1" dirty="0">
                          <a:effectLst/>
                          <a:latin typeface="Nunito" pitchFamily="2" charset="77"/>
                        </a:rPr>
                        <a:t>Function</a:t>
                      </a:r>
                      <a:endParaRPr lang="en-IN" sz="1400" b="0" dirty="0">
                        <a:effectLst/>
                        <a:latin typeface="Nunito" pitchFamily="2" charset="77"/>
                      </a:endParaRP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IN" sz="1400" b="1">
                          <a:effectLst/>
                          <a:latin typeface="Nunito" pitchFamily="2" charset="77"/>
                        </a:rPr>
                        <a:t>Description</a:t>
                      </a:r>
                      <a:endParaRPr lang="en-IN" sz="1400" b="0">
                        <a:effectLst/>
                        <a:latin typeface="Nunito" pitchFamily="2" charset="77"/>
                      </a:endParaRP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1283010419"/>
                  </a:ext>
                </a:extLst>
              </a:tr>
              <a:tr h="0">
                <a:tc>
                  <a:txBody>
                    <a:bodyPr/>
                    <a:lstStyle/>
                    <a:p>
                      <a:pPr algn="ctr" fontAlgn="base"/>
                      <a:r>
                        <a:rPr lang="en-IN" b="1">
                          <a:effectLst/>
                          <a:latin typeface="Nunito" pitchFamily="2" charset="77"/>
                        </a:rPr>
                        <a:t>1.</a:t>
                      </a:r>
                      <a:endParaRPr lang="en-IN" b="0">
                        <a:effectLst/>
                        <a:latin typeface="Nunito" pitchFamily="2" charset="77"/>
                      </a:endParaRPr>
                    </a:p>
                  </a:txBody>
                  <a:tcPr marL="38100" marR="38100" marT="43653" marB="4365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IN" sz="1250" b="1" dirty="0" err="1">
                          <a:effectLst/>
                          <a:latin typeface="Nunito" pitchFamily="2" charset="77"/>
                        </a:rPr>
                        <a:t>strlen</a:t>
                      </a:r>
                      <a:r>
                        <a:rPr lang="en-IN" sz="1250" b="1" dirty="0">
                          <a:effectLst/>
                          <a:latin typeface="Nunito" pitchFamily="2" charset="77"/>
                        </a:rPr>
                        <a:t>()</a:t>
                      </a:r>
                      <a:endParaRPr lang="en-IN" sz="1250" b="0" dirty="0">
                        <a:effectLst/>
                        <a:latin typeface="Nunito" pitchFamily="2" charset="77"/>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latin typeface="Nunito" pitchFamily="2" charset="77"/>
                        </a:rPr>
                        <a:t>Find the length of the string</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755693887"/>
                  </a:ext>
                </a:extLst>
              </a:tr>
              <a:tr h="0">
                <a:tc>
                  <a:txBody>
                    <a:bodyPr/>
                    <a:lstStyle/>
                    <a:p>
                      <a:pPr algn="ctr" fontAlgn="base"/>
                      <a:r>
                        <a:rPr lang="en-IN" b="1">
                          <a:effectLst/>
                          <a:latin typeface="Nunito" pitchFamily="2" charset="77"/>
                        </a:rPr>
                        <a:t>2.</a:t>
                      </a:r>
                      <a:endParaRPr lang="en-IN" b="0">
                        <a:effectLst/>
                        <a:latin typeface="Nunito" pitchFamily="2" charset="77"/>
                      </a:endParaRPr>
                    </a:p>
                  </a:txBody>
                  <a:tcPr marL="38100" marR="38100" marT="43653" marB="4365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IN" sz="1250" b="1" dirty="0" err="1">
                          <a:effectLst/>
                          <a:latin typeface="Nunito" pitchFamily="2" charset="77"/>
                        </a:rPr>
                        <a:t>strcmp</a:t>
                      </a:r>
                      <a:r>
                        <a:rPr lang="en-IN" sz="1250" b="1" dirty="0">
                          <a:effectLst/>
                          <a:latin typeface="Nunito" pitchFamily="2" charset="77"/>
                        </a:rPr>
                        <a:t>()</a:t>
                      </a:r>
                      <a:endParaRPr lang="en-IN" sz="1250" b="0" dirty="0">
                        <a:effectLst/>
                        <a:latin typeface="Nunito" pitchFamily="2" charset="77"/>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latin typeface="Nunito" pitchFamily="2" charset="77"/>
                        </a:rPr>
                        <a:t>Compares two strings.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885681611"/>
                  </a:ext>
                </a:extLst>
              </a:tr>
              <a:tr h="0">
                <a:tc>
                  <a:txBody>
                    <a:bodyPr/>
                    <a:lstStyle/>
                    <a:p>
                      <a:pPr algn="ctr" fontAlgn="base"/>
                      <a:r>
                        <a:rPr lang="en-IN" b="1">
                          <a:effectLst/>
                          <a:latin typeface="Nunito" pitchFamily="2" charset="77"/>
                        </a:rPr>
                        <a:t>3.</a:t>
                      </a:r>
                      <a:endParaRPr lang="en-IN" b="0">
                        <a:effectLst/>
                        <a:latin typeface="Nunito" pitchFamily="2" charset="77"/>
                      </a:endParaRPr>
                    </a:p>
                  </a:txBody>
                  <a:tcPr marL="38100" marR="38100" marT="43653" marB="4365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IN" sz="1250" b="1">
                          <a:effectLst/>
                          <a:latin typeface="Nunito" pitchFamily="2" charset="77"/>
                        </a:rPr>
                        <a:t>strcpy()</a:t>
                      </a:r>
                      <a:endParaRPr lang="en-IN" sz="1250" b="0">
                        <a:effectLst/>
                        <a:latin typeface="Nunito" pitchFamily="2" charset="77"/>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latin typeface="Nunito" pitchFamily="2" charset="77"/>
                        </a:rPr>
                        <a:t>Copy one string to another.</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895938030"/>
                  </a:ext>
                </a:extLst>
              </a:tr>
              <a:tr h="0">
                <a:tc>
                  <a:txBody>
                    <a:bodyPr/>
                    <a:lstStyle/>
                    <a:p>
                      <a:pPr algn="ctr" fontAlgn="base"/>
                      <a:r>
                        <a:rPr lang="en-IN" b="1">
                          <a:effectLst/>
                          <a:latin typeface="Nunito" pitchFamily="2" charset="77"/>
                        </a:rPr>
                        <a:t>4.</a:t>
                      </a:r>
                      <a:endParaRPr lang="en-IN" b="0">
                        <a:effectLst/>
                        <a:latin typeface="Nunito" pitchFamily="2" charset="77"/>
                      </a:endParaRPr>
                    </a:p>
                  </a:txBody>
                  <a:tcPr marL="38100" marR="38100" marT="43653" marB="4365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IN" sz="1250" b="1">
                          <a:effectLst/>
                          <a:latin typeface="Nunito" pitchFamily="2" charset="77"/>
                        </a:rPr>
                        <a:t>strcat()</a:t>
                      </a:r>
                      <a:endParaRPr lang="en-IN" sz="1250" b="0">
                        <a:effectLst/>
                        <a:latin typeface="Nunito" pitchFamily="2" charset="77"/>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latin typeface="Nunito" pitchFamily="2" charset="77"/>
                        </a:rPr>
                        <a:t>Concatenate one string with another.</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16638562"/>
                  </a:ext>
                </a:extLst>
              </a:tr>
              <a:tr h="0">
                <a:tc>
                  <a:txBody>
                    <a:bodyPr/>
                    <a:lstStyle/>
                    <a:p>
                      <a:pPr algn="ctr" fontAlgn="base"/>
                      <a:r>
                        <a:rPr lang="en-IN" b="1">
                          <a:effectLst/>
                          <a:latin typeface="Nunito" pitchFamily="2" charset="77"/>
                        </a:rPr>
                        <a:t>5.</a:t>
                      </a:r>
                      <a:endParaRPr lang="en-IN" b="0">
                        <a:effectLst/>
                        <a:latin typeface="Nunito" pitchFamily="2" charset="77"/>
                      </a:endParaRPr>
                    </a:p>
                  </a:txBody>
                  <a:tcPr marL="38100" marR="38100" marT="43653" marB="4365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IN" sz="1250" b="1">
                          <a:effectLst/>
                          <a:latin typeface="Nunito" pitchFamily="2" charset="77"/>
                        </a:rPr>
                        <a:t>strchr()</a:t>
                      </a:r>
                      <a:endParaRPr lang="en-IN" sz="1250" b="0">
                        <a:effectLst/>
                        <a:latin typeface="Nunito" pitchFamily="2" charset="77"/>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latin typeface="Nunito" pitchFamily="2" charset="77"/>
                        </a:rPr>
                        <a:t>Find the given character in the string.</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417905852"/>
                  </a:ext>
                </a:extLst>
              </a:tr>
              <a:tr h="0">
                <a:tc>
                  <a:txBody>
                    <a:bodyPr/>
                    <a:lstStyle/>
                    <a:p>
                      <a:pPr algn="ctr" fontAlgn="base"/>
                      <a:r>
                        <a:rPr lang="en-IN" b="1">
                          <a:effectLst/>
                          <a:latin typeface="Nunito" pitchFamily="2" charset="77"/>
                        </a:rPr>
                        <a:t>6.</a:t>
                      </a:r>
                      <a:endParaRPr lang="en-IN" b="0">
                        <a:effectLst/>
                        <a:latin typeface="Nunito" pitchFamily="2" charset="77"/>
                      </a:endParaRPr>
                    </a:p>
                  </a:txBody>
                  <a:tcPr marL="38100" marR="38100" marT="43653" marB="4365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IN" sz="1250" b="1">
                          <a:effectLst/>
                          <a:latin typeface="Nunito" pitchFamily="2" charset="77"/>
                        </a:rPr>
                        <a:t>strstr()</a:t>
                      </a:r>
                      <a:endParaRPr lang="en-IN" sz="1250" b="0">
                        <a:effectLst/>
                        <a:latin typeface="Nunito" pitchFamily="2" charset="77"/>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dirty="0">
                          <a:effectLst/>
                          <a:latin typeface="Nunito" pitchFamily="2" charset="77"/>
                        </a:rPr>
                        <a:t>Find the given substring in the string.</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849604862"/>
                  </a:ext>
                </a:extLst>
              </a:tr>
            </a:tbl>
          </a:graphicData>
        </a:graphic>
      </p:graphicFrame>
      <p:sp>
        <p:nvSpPr>
          <p:cNvPr id="5" name="Rectangle 1">
            <a:extLst>
              <a:ext uri="{FF2B5EF4-FFF2-40B4-BE49-F238E27FC236}">
                <a16:creationId xmlns:a16="http://schemas.microsoft.com/office/drawing/2014/main" id="{65E876C2-9166-F20B-6EEE-3B8123288B80}"/>
              </a:ext>
            </a:extLst>
          </p:cNvPr>
          <p:cNvSpPr>
            <a:spLocks noChangeArrowheads="1"/>
          </p:cNvSpPr>
          <p:nvPr/>
        </p:nvSpPr>
        <p:spPr bwMode="auto">
          <a:xfrm>
            <a:off x="838200" y="1527306"/>
            <a:ext cx="9846501" cy="61555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Nunito" pitchFamily="2" charset="77"/>
              </a:rPr>
              <a:t>C language provides some useful functions for string manipulation in </a:t>
            </a:r>
            <a:r>
              <a:rPr kumimoji="0" lang="en-US" altLang="en-US" sz="2000" b="1" i="0" u="none" strike="noStrike" cap="none" normalizeH="0" baseline="0" dirty="0">
                <a:ln>
                  <a:noFill/>
                </a:ln>
                <a:solidFill>
                  <a:srgbClr val="273239"/>
                </a:solidFill>
                <a:effectLst/>
                <a:latin typeface="Nunito" pitchFamily="2" charset="77"/>
              </a:rPr>
              <a:t>&lt;</a:t>
            </a:r>
            <a:r>
              <a:rPr kumimoji="0" lang="en-US" altLang="en-US" sz="2000" b="1" i="0" u="none" strike="noStrike" cap="none" normalizeH="0" baseline="0" dirty="0" err="1">
                <a:ln>
                  <a:noFill/>
                </a:ln>
                <a:solidFill>
                  <a:srgbClr val="273239"/>
                </a:solidFill>
                <a:effectLst/>
                <a:latin typeface="Nunito" pitchFamily="2" charset="77"/>
              </a:rPr>
              <a:t>string.h</a:t>
            </a:r>
            <a:r>
              <a:rPr kumimoji="0" lang="en-US" altLang="en-US" sz="2000" b="1" i="0" u="none" strike="noStrike" cap="none" normalizeH="0" baseline="0" dirty="0">
                <a:ln>
                  <a:noFill/>
                </a:ln>
                <a:solidFill>
                  <a:srgbClr val="273239"/>
                </a:solidFill>
                <a:effectLst/>
                <a:latin typeface="Nunito" pitchFamily="2" charset="77"/>
              </a:rPr>
              <a:t>&gt; </a:t>
            </a:r>
            <a:r>
              <a:rPr kumimoji="0" lang="en-US" altLang="en-US" sz="2000" b="0" i="0" u="none" strike="noStrike" cap="none" normalizeH="0" baseline="0" dirty="0">
                <a:ln>
                  <a:noFill/>
                </a:ln>
                <a:solidFill>
                  <a:srgbClr val="273239"/>
                </a:solidFill>
                <a:effectLst/>
                <a:latin typeface="Nunito" pitchFamily="2" charset="77"/>
              </a:rPr>
              <a:t>header file. Some of them are as follows:</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00751758"/>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B783B-0C65-F602-E240-9FB4FCF5FC06}"/>
              </a:ext>
            </a:extLst>
          </p:cNvPr>
          <p:cNvSpPr>
            <a:spLocks noGrp="1"/>
          </p:cNvSpPr>
          <p:nvPr>
            <p:ph type="title"/>
          </p:nvPr>
        </p:nvSpPr>
        <p:spPr/>
        <p:txBody>
          <a:bodyPr/>
          <a:lstStyle/>
          <a:p>
            <a:r>
              <a:rPr lang="en-IN" b="1" i="0" dirty="0">
                <a:solidFill>
                  <a:srgbClr val="273239"/>
                </a:solidFill>
                <a:effectLst/>
                <a:latin typeface="Nunito" pitchFamily="2" charset="77"/>
              </a:rPr>
              <a:t>Pointers</a:t>
            </a:r>
            <a:endParaRPr lang="en-US" dirty="0"/>
          </a:p>
        </p:txBody>
      </p:sp>
      <p:sp>
        <p:nvSpPr>
          <p:cNvPr id="3" name="Content Placeholder 2">
            <a:extLst>
              <a:ext uri="{FF2B5EF4-FFF2-40B4-BE49-F238E27FC236}">
                <a16:creationId xmlns:a16="http://schemas.microsoft.com/office/drawing/2014/main" id="{DC4EAF85-7041-6DE1-2ABD-6376C912D618}"/>
              </a:ext>
            </a:extLst>
          </p:cNvPr>
          <p:cNvSpPr>
            <a:spLocks noGrp="1"/>
          </p:cNvSpPr>
          <p:nvPr>
            <p:ph idx="1"/>
          </p:nvPr>
        </p:nvSpPr>
        <p:spPr/>
        <p:txBody>
          <a:bodyPr>
            <a:normAutofit/>
          </a:bodyPr>
          <a:lstStyle/>
          <a:p>
            <a:pPr algn="l" rtl="0" fontAlgn="base"/>
            <a:r>
              <a:rPr lang="en-IN" b="0" i="0" dirty="0">
                <a:solidFill>
                  <a:srgbClr val="273239"/>
                </a:solidFill>
                <a:effectLst/>
                <a:latin typeface="Nunito" pitchFamily="2" charset="77"/>
              </a:rPr>
              <a:t>Pointers are the variables that store the address of another variable. They can point to any data type in C</a:t>
            </a:r>
          </a:p>
          <a:p>
            <a:pPr algn="l" fontAlgn="base"/>
            <a:r>
              <a:rPr lang="en-IN" b="1" i="0" dirty="0">
                <a:solidFill>
                  <a:srgbClr val="273239"/>
                </a:solidFill>
                <a:effectLst/>
                <a:latin typeface="Nunito" pitchFamily="2" charset="77"/>
              </a:rPr>
              <a:t>Syntax of Pointers</a:t>
            </a:r>
          </a:p>
          <a:p>
            <a:pPr rtl="0" fontAlgn="base"/>
            <a:r>
              <a:rPr lang="en-IN" i="1" dirty="0" err="1">
                <a:effectLst/>
                <a:highlight>
                  <a:srgbClr val="00FF00"/>
                </a:highlight>
                <a:latin typeface="Nunito" pitchFamily="2" charset="77"/>
              </a:rPr>
              <a:t>data_type</a:t>
            </a:r>
            <a:r>
              <a:rPr lang="en-IN" i="1" dirty="0">
                <a:effectLst/>
                <a:highlight>
                  <a:srgbClr val="00FF00"/>
                </a:highlight>
                <a:latin typeface="Nunito" pitchFamily="2" charset="77"/>
              </a:rPr>
              <a:t> </a:t>
            </a:r>
            <a:r>
              <a:rPr lang="en-IN" b="1" i="1" dirty="0">
                <a:effectLst/>
                <a:highlight>
                  <a:srgbClr val="00FF00"/>
                </a:highlight>
                <a:latin typeface="Nunito" pitchFamily="2" charset="77"/>
              </a:rPr>
              <a:t>* </a:t>
            </a:r>
            <a:r>
              <a:rPr lang="en-IN" b="1" i="1" dirty="0" err="1">
                <a:effectLst/>
                <a:highlight>
                  <a:srgbClr val="00FF00"/>
                </a:highlight>
                <a:latin typeface="Nunito" pitchFamily="2" charset="77"/>
              </a:rPr>
              <a:t>ptr_name</a:t>
            </a:r>
            <a:r>
              <a:rPr lang="en-IN" b="1" i="1" dirty="0">
                <a:effectLst/>
                <a:highlight>
                  <a:srgbClr val="00FF00"/>
                </a:highlight>
                <a:latin typeface="Nunito" pitchFamily="2" charset="77"/>
              </a:rPr>
              <a:t>;</a:t>
            </a:r>
          </a:p>
          <a:p>
            <a:pPr rtl="0" fontAlgn="base"/>
            <a:endParaRPr lang="en-IN" b="1" i="1" dirty="0">
              <a:latin typeface="Nunito" pitchFamily="2" charset="77"/>
            </a:endParaRPr>
          </a:p>
          <a:p>
            <a:pPr rtl="0" fontAlgn="base"/>
            <a:r>
              <a:rPr lang="en-IN" b="1" dirty="0">
                <a:effectLst/>
                <a:latin typeface="Nunito" pitchFamily="2" charset="77"/>
              </a:rPr>
              <a:t>Note:</a:t>
            </a:r>
            <a:r>
              <a:rPr lang="en-IN" b="0" dirty="0">
                <a:effectLst/>
                <a:latin typeface="Nunito" pitchFamily="2" charset="77"/>
              </a:rPr>
              <a:t> The </a:t>
            </a:r>
            <a:r>
              <a:rPr lang="en-IN" b="1" dirty="0" err="1">
                <a:effectLst/>
                <a:latin typeface="Nunito" pitchFamily="2" charset="77"/>
              </a:rPr>
              <a:t>addressof</a:t>
            </a:r>
            <a:r>
              <a:rPr lang="en-IN" b="1" dirty="0">
                <a:effectLst/>
                <a:latin typeface="Nunito" pitchFamily="2" charset="77"/>
              </a:rPr>
              <a:t> (&amp;)</a:t>
            </a:r>
            <a:r>
              <a:rPr lang="en-IN" b="0" dirty="0">
                <a:effectLst/>
                <a:latin typeface="Nunito" pitchFamily="2" charset="77"/>
              </a:rPr>
              <a:t> operator is used to get the address of a variable.</a:t>
            </a:r>
          </a:p>
          <a:p>
            <a:pPr algn="l" rtl="0" fontAlgn="base"/>
            <a:r>
              <a:rPr lang="en-IN" b="0" i="0" dirty="0">
                <a:solidFill>
                  <a:srgbClr val="273239"/>
                </a:solidFill>
                <a:effectLst/>
                <a:latin typeface="Nunito" pitchFamily="2" charset="77"/>
              </a:rPr>
              <a:t>We can dereference (access the value pointed by the pointer) using the same </a:t>
            </a:r>
            <a:r>
              <a:rPr lang="en-IN" b="1" i="0" dirty="0">
                <a:solidFill>
                  <a:srgbClr val="273239"/>
                </a:solidFill>
                <a:effectLst/>
                <a:latin typeface="Nunito" pitchFamily="2" charset="77"/>
              </a:rPr>
              <a:t>*</a:t>
            </a:r>
            <a:r>
              <a:rPr lang="en-IN" b="0" i="0" dirty="0">
                <a:solidFill>
                  <a:srgbClr val="273239"/>
                </a:solidFill>
                <a:effectLst/>
                <a:latin typeface="Nunito" pitchFamily="2" charset="77"/>
              </a:rPr>
              <a:t> operator.</a:t>
            </a:r>
          </a:p>
          <a:p>
            <a:endParaRPr lang="en-US" dirty="0"/>
          </a:p>
        </p:txBody>
      </p:sp>
    </p:spTree>
    <p:extLst>
      <p:ext uri="{BB962C8B-B14F-4D97-AF65-F5344CB8AC3E}">
        <p14:creationId xmlns:p14="http://schemas.microsoft.com/office/powerpoint/2010/main" val="3974575825"/>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F187F4-53B1-CE47-B635-6C808B852D03}"/>
              </a:ext>
            </a:extLst>
          </p:cNvPr>
          <p:cNvSpPr>
            <a:spLocks noGrp="1"/>
          </p:cNvSpPr>
          <p:nvPr>
            <p:ph idx="1"/>
          </p:nvPr>
        </p:nvSpPr>
        <p:spPr>
          <a:xfrm>
            <a:off x="838200" y="363255"/>
            <a:ext cx="10515600" cy="5813708"/>
          </a:xfrm>
        </p:spPr>
        <p:txBody>
          <a:bodyPr>
            <a:normAutofit fontScale="55000" lnSpcReduction="20000"/>
          </a:bodyPr>
          <a:lstStyle/>
          <a:p>
            <a:r>
              <a:rPr lang="en-US" dirty="0"/>
              <a:t>// C program to illustrate Pointers</a:t>
            </a:r>
          </a:p>
          <a:p>
            <a:r>
              <a:rPr lang="en-US" dirty="0"/>
              <a:t>#include &lt;</a:t>
            </a:r>
            <a:r>
              <a:rPr lang="en-US" dirty="0" err="1"/>
              <a:t>stdio.h</a:t>
            </a:r>
            <a:r>
              <a:rPr lang="en-US" dirty="0"/>
              <a:t>&gt;</a:t>
            </a:r>
          </a:p>
          <a:p>
            <a:r>
              <a:rPr lang="en-US" dirty="0"/>
              <a:t>// Driver program</a:t>
            </a:r>
          </a:p>
          <a:p>
            <a:r>
              <a:rPr lang="en-US" dirty="0"/>
              <a:t>int main()</a:t>
            </a:r>
          </a:p>
          <a:p>
            <a:r>
              <a:rPr lang="en-US" dirty="0"/>
              <a:t>{</a:t>
            </a:r>
          </a:p>
          <a:p>
            <a:r>
              <a:rPr lang="en-US" dirty="0"/>
              <a:t>    int var = 10;</a:t>
            </a:r>
          </a:p>
          <a:p>
            <a:endParaRPr lang="en-US" dirty="0"/>
          </a:p>
          <a:p>
            <a:r>
              <a:rPr lang="en-US" dirty="0"/>
              <a:t>    // declare pointer variable</a:t>
            </a:r>
          </a:p>
          <a:p>
            <a:r>
              <a:rPr lang="en-US" dirty="0"/>
              <a:t>    int* </a:t>
            </a:r>
            <a:r>
              <a:rPr lang="en-US" dirty="0" err="1"/>
              <a:t>ptr</a:t>
            </a:r>
            <a:r>
              <a:rPr lang="en-US" dirty="0"/>
              <a:t>;</a:t>
            </a:r>
          </a:p>
          <a:p>
            <a:endParaRPr lang="en-US" dirty="0"/>
          </a:p>
          <a:p>
            <a:r>
              <a:rPr lang="en-US" dirty="0"/>
              <a:t>    // note that data type of </a:t>
            </a:r>
            <a:r>
              <a:rPr lang="en-US" dirty="0" err="1"/>
              <a:t>ptr</a:t>
            </a:r>
            <a:r>
              <a:rPr lang="en-US" dirty="0"/>
              <a:t> and var must be same</a:t>
            </a:r>
          </a:p>
          <a:p>
            <a:r>
              <a:rPr lang="en-US" dirty="0"/>
              <a:t>    </a:t>
            </a:r>
            <a:r>
              <a:rPr lang="en-US" dirty="0" err="1"/>
              <a:t>ptr</a:t>
            </a:r>
            <a:r>
              <a:rPr lang="en-US" dirty="0"/>
              <a:t> = &amp;var;</a:t>
            </a:r>
          </a:p>
          <a:p>
            <a:endParaRPr lang="en-US" dirty="0"/>
          </a:p>
          <a:p>
            <a:r>
              <a:rPr lang="en-US" dirty="0"/>
              <a:t>    // assign the address of a variable to a pointer</a:t>
            </a:r>
          </a:p>
          <a:p>
            <a:r>
              <a:rPr lang="en-US" dirty="0"/>
              <a:t>    </a:t>
            </a:r>
            <a:r>
              <a:rPr lang="en-US" dirty="0" err="1"/>
              <a:t>printf</a:t>
            </a:r>
            <a:r>
              <a:rPr lang="en-US" dirty="0"/>
              <a:t>("Value at </a:t>
            </a:r>
            <a:r>
              <a:rPr lang="en-US" dirty="0" err="1"/>
              <a:t>ptr</a:t>
            </a:r>
            <a:r>
              <a:rPr lang="en-US" dirty="0"/>
              <a:t> = %p \n", </a:t>
            </a:r>
            <a:r>
              <a:rPr lang="en-US" dirty="0" err="1"/>
              <a:t>ptr</a:t>
            </a:r>
            <a:r>
              <a:rPr lang="en-US" dirty="0"/>
              <a:t>);</a:t>
            </a:r>
          </a:p>
          <a:p>
            <a:r>
              <a:rPr lang="en-US" dirty="0"/>
              <a:t>    </a:t>
            </a:r>
            <a:r>
              <a:rPr lang="en-US" dirty="0" err="1"/>
              <a:t>printf</a:t>
            </a:r>
            <a:r>
              <a:rPr lang="en-US" dirty="0"/>
              <a:t>("Value at var = %d \n", var);</a:t>
            </a:r>
          </a:p>
          <a:p>
            <a:r>
              <a:rPr lang="en-US" dirty="0"/>
              <a:t>    </a:t>
            </a:r>
            <a:r>
              <a:rPr lang="en-US" dirty="0" err="1"/>
              <a:t>printf</a:t>
            </a:r>
            <a:r>
              <a:rPr lang="en-US" dirty="0"/>
              <a:t>("Value at *</a:t>
            </a:r>
            <a:r>
              <a:rPr lang="en-US" dirty="0" err="1"/>
              <a:t>ptr</a:t>
            </a:r>
            <a:r>
              <a:rPr lang="en-US" dirty="0"/>
              <a:t> = %d \n", *</a:t>
            </a:r>
            <a:r>
              <a:rPr lang="en-US" dirty="0" err="1"/>
              <a:t>ptr</a:t>
            </a:r>
            <a:r>
              <a:rPr lang="en-US" dirty="0"/>
              <a:t>);</a:t>
            </a:r>
          </a:p>
          <a:p>
            <a:r>
              <a:rPr lang="en-US" dirty="0"/>
              <a:t>    return 0;</a:t>
            </a:r>
          </a:p>
          <a:p>
            <a:r>
              <a:rPr lang="en-US" dirty="0"/>
              <a:t>}</a:t>
            </a:r>
          </a:p>
        </p:txBody>
      </p:sp>
    </p:spTree>
    <p:extLst>
      <p:ext uri="{BB962C8B-B14F-4D97-AF65-F5344CB8AC3E}">
        <p14:creationId xmlns:p14="http://schemas.microsoft.com/office/powerpoint/2010/main" val="2364230958"/>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57F65-EB04-6BA8-6290-1E6055B532E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3E56DA1-AEA4-2450-5528-281F17787F77}"/>
              </a:ext>
            </a:extLst>
          </p:cNvPr>
          <p:cNvSpPr>
            <a:spLocks noGrp="1"/>
          </p:cNvSpPr>
          <p:nvPr>
            <p:ph idx="1"/>
          </p:nvPr>
        </p:nvSpPr>
        <p:spPr/>
        <p:txBody>
          <a:bodyPr/>
          <a:lstStyle/>
          <a:p>
            <a:pPr algn="l" rtl="0" fontAlgn="base"/>
            <a:r>
              <a:rPr lang="en-IN" b="0" i="0" dirty="0">
                <a:solidFill>
                  <a:srgbClr val="273239"/>
                </a:solidFill>
                <a:effectLst/>
                <a:latin typeface="Nunito" pitchFamily="2" charset="77"/>
              </a:rPr>
              <a:t>There are different types of pointers based on different classification parameters. Some of them are:</a:t>
            </a:r>
          </a:p>
          <a:p>
            <a:pPr algn="l" fontAlgn="base">
              <a:buFont typeface="+mj-lt"/>
              <a:buAutoNum type="arabicPeriod"/>
            </a:pPr>
            <a:r>
              <a:rPr lang="en-IN" b="0" i="0" dirty="0">
                <a:solidFill>
                  <a:srgbClr val="273239"/>
                </a:solidFill>
                <a:effectLst/>
                <a:latin typeface="Nunito" pitchFamily="2" charset="77"/>
              </a:rPr>
              <a:t>Double Pointers</a:t>
            </a:r>
          </a:p>
          <a:p>
            <a:pPr algn="l" fontAlgn="base">
              <a:buFont typeface="+mj-lt"/>
              <a:buAutoNum type="arabicPeriod" startAt="2"/>
            </a:pPr>
            <a:r>
              <a:rPr lang="en-IN" b="0" i="0" dirty="0">
                <a:solidFill>
                  <a:srgbClr val="273239"/>
                </a:solidFill>
                <a:effectLst/>
                <a:latin typeface="Nunito" pitchFamily="2" charset="77"/>
              </a:rPr>
              <a:t>Function Pointers</a:t>
            </a:r>
          </a:p>
          <a:p>
            <a:pPr algn="l" fontAlgn="base">
              <a:buFont typeface="+mj-lt"/>
              <a:buAutoNum type="arabicPeriod" startAt="3"/>
            </a:pPr>
            <a:r>
              <a:rPr lang="en-IN" b="0" i="0" dirty="0">
                <a:solidFill>
                  <a:srgbClr val="273239"/>
                </a:solidFill>
                <a:effectLst/>
                <a:latin typeface="Nunito" pitchFamily="2" charset="77"/>
              </a:rPr>
              <a:t>Structure Pointers</a:t>
            </a:r>
          </a:p>
          <a:p>
            <a:pPr algn="l" fontAlgn="base">
              <a:buFont typeface="+mj-lt"/>
              <a:buAutoNum type="arabicPeriod" startAt="4"/>
            </a:pPr>
            <a:r>
              <a:rPr lang="en-IN" b="0" i="0" dirty="0">
                <a:solidFill>
                  <a:srgbClr val="273239"/>
                </a:solidFill>
                <a:effectLst/>
                <a:latin typeface="Nunito" pitchFamily="2" charset="77"/>
              </a:rPr>
              <a:t>NULL Pointers</a:t>
            </a:r>
          </a:p>
          <a:p>
            <a:pPr algn="l" fontAlgn="base">
              <a:buFont typeface="+mj-lt"/>
              <a:buAutoNum type="arabicPeriod" startAt="5"/>
            </a:pPr>
            <a:r>
              <a:rPr lang="en-IN" b="0" i="0" dirty="0">
                <a:solidFill>
                  <a:srgbClr val="273239"/>
                </a:solidFill>
                <a:effectLst/>
                <a:latin typeface="Nunito" pitchFamily="2" charset="77"/>
              </a:rPr>
              <a:t>Dangling Pointers</a:t>
            </a:r>
          </a:p>
          <a:p>
            <a:pPr algn="l" fontAlgn="base">
              <a:buFont typeface="+mj-lt"/>
              <a:buAutoNum type="arabicPeriod" startAt="6"/>
            </a:pPr>
            <a:r>
              <a:rPr lang="en-IN" b="0" i="0" dirty="0">
                <a:solidFill>
                  <a:srgbClr val="273239"/>
                </a:solidFill>
                <a:effectLst/>
                <a:latin typeface="Nunito" pitchFamily="2" charset="77"/>
              </a:rPr>
              <a:t>Wild Pointers</a:t>
            </a:r>
          </a:p>
          <a:p>
            <a:endParaRPr lang="en-US" dirty="0"/>
          </a:p>
        </p:txBody>
      </p:sp>
    </p:spTree>
    <p:extLst>
      <p:ext uri="{BB962C8B-B14F-4D97-AF65-F5344CB8AC3E}">
        <p14:creationId xmlns:p14="http://schemas.microsoft.com/office/powerpoint/2010/main" val="2941311531"/>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7FE0C-4B73-E9A7-1DB3-0FB0D6C7350F}"/>
              </a:ext>
            </a:extLst>
          </p:cNvPr>
          <p:cNvSpPr>
            <a:spLocks noGrp="1"/>
          </p:cNvSpPr>
          <p:nvPr>
            <p:ph type="title"/>
          </p:nvPr>
        </p:nvSpPr>
        <p:spPr/>
        <p:txBody>
          <a:bodyPr/>
          <a:lstStyle/>
          <a:p>
            <a:r>
              <a:rPr lang="en-IN" b="1" i="0" dirty="0">
                <a:solidFill>
                  <a:srgbClr val="273239"/>
                </a:solidFill>
                <a:effectLst/>
                <a:latin typeface="Nunito" pitchFamily="2" charset="77"/>
              </a:rPr>
              <a:t>Functions</a:t>
            </a:r>
            <a:endParaRPr lang="en-US" dirty="0"/>
          </a:p>
        </p:txBody>
      </p:sp>
      <p:sp>
        <p:nvSpPr>
          <p:cNvPr id="3" name="Content Placeholder 2">
            <a:extLst>
              <a:ext uri="{FF2B5EF4-FFF2-40B4-BE49-F238E27FC236}">
                <a16:creationId xmlns:a16="http://schemas.microsoft.com/office/drawing/2014/main" id="{1314D0CC-E75B-8E23-3449-D5E1661EC64D}"/>
              </a:ext>
            </a:extLst>
          </p:cNvPr>
          <p:cNvSpPr>
            <a:spLocks noGrp="1"/>
          </p:cNvSpPr>
          <p:nvPr>
            <p:ph idx="1"/>
          </p:nvPr>
        </p:nvSpPr>
        <p:spPr/>
        <p:txBody>
          <a:bodyPr>
            <a:normAutofit fontScale="85000" lnSpcReduction="20000"/>
          </a:bodyPr>
          <a:lstStyle/>
          <a:p>
            <a:pPr algn="l" rtl="0" fontAlgn="base"/>
            <a:r>
              <a:rPr lang="en-IN" b="0" i="0" dirty="0">
                <a:solidFill>
                  <a:srgbClr val="273239"/>
                </a:solidFill>
                <a:effectLst/>
                <a:latin typeface="Nunito" pitchFamily="2" charset="77"/>
              </a:rPr>
              <a:t>Functions are the block of statements enclosed within </a:t>
            </a:r>
            <a:r>
              <a:rPr lang="en-IN" b="1" i="0" dirty="0">
                <a:solidFill>
                  <a:srgbClr val="273239"/>
                </a:solidFill>
                <a:effectLst/>
                <a:latin typeface="Nunito" pitchFamily="2" charset="77"/>
              </a:rPr>
              <a:t>{ }</a:t>
            </a:r>
            <a:r>
              <a:rPr lang="en-IN" b="0" i="0" dirty="0">
                <a:solidFill>
                  <a:srgbClr val="273239"/>
                </a:solidFill>
                <a:effectLst/>
                <a:latin typeface="Nunito" pitchFamily="2" charset="77"/>
              </a:rPr>
              <a:t> </a:t>
            </a:r>
            <a:r>
              <a:rPr lang="en-IN" b="1" i="0" dirty="0">
                <a:solidFill>
                  <a:srgbClr val="273239"/>
                </a:solidFill>
                <a:effectLst/>
                <a:latin typeface="Nunito" pitchFamily="2" charset="77"/>
              </a:rPr>
              <a:t>braces</a:t>
            </a:r>
            <a:r>
              <a:rPr lang="en-IN" b="0" i="0" dirty="0">
                <a:solidFill>
                  <a:srgbClr val="273239"/>
                </a:solidFill>
                <a:effectLst/>
                <a:latin typeface="Nunito" pitchFamily="2" charset="77"/>
              </a:rPr>
              <a:t> that perform some specific task. They provide code reusability and modularity to the program.</a:t>
            </a:r>
          </a:p>
          <a:p>
            <a:pPr algn="l" rtl="0" fontAlgn="base"/>
            <a:r>
              <a:rPr lang="en-IN" b="1" i="0" dirty="0">
                <a:solidFill>
                  <a:srgbClr val="273239"/>
                </a:solidFill>
                <a:effectLst/>
                <a:latin typeface="Nunito" pitchFamily="2" charset="77"/>
              </a:rPr>
              <a:t>Function Syntax is divided into three parts:</a:t>
            </a:r>
            <a:endParaRPr lang="en-IN" b="0" i="0" dirty="0">
              <a:solidFill>
                <a:srgbClr val="273239"/>
              </a:solidFill>
              <a:effectLst/>
              <a:latin typeface="Nunito" pitchFamily="2" charset="77"/>
            </a:endParaRPr>
          </a:p>
          <a:p>
            <a:pPr algn="l" fontAlgn="base"/>
            <a:r>
              <a:rPr lang="en-IN" b="1" i="0" dirty="0">
                <a:solidFill>
                  <a:srgbClr val="273239"/>
                </a:solidFill>
                <a:effectLst/>
                <a:latin typeface="Nunito" pitchFamily="2" charset="77"/>
              </a:rPr>
              <a:t>1. Function Prototype</a:t>
            </a:r>
          </a:p>
          <a:p>
            <a:pPr algn="l" rtl="0" fontAlgn="base"/>
            <a:r>
              <a:rPr lang="en-IN" b="0" i="0" dirty="0">
                <a:solidFill>
                  <a:srgbClr val="273239"/>
                </a:solidFill>
                <a:effectLst/>
                <a:latin typeface="Nunito" pitchFamily="2" charset="77"/>
              </a:rPr>
              <a:t>It tells the compiler about the existence of the function.</a:t>
            </a:r>
          </a:p>
          <a:p>
            <a:pPr algn="l" rtl="0" fontAlgn="base"/>
            <a:r>
              <a:rPr lang="en-IN" i="1" dirty="0" err="1">
                <a:effectLst/>
                <a:highlight>
                  <a:srgbClr val="00FF00"/>
                </a:highlight>
                <a:latin typeface="Nunito" pitchFamily="2" charset="77"/>
              </a:rPr>
              <a:t>return_type</a:t>
            </a:r>
            <a:r>
              <a:rPr lang="en-IN" dirty="0">
                <a:effectLst/>
                <a:highlight>
                  <a:srgbClr val="00FF00"/>
                </a:highlight>
                <a:latin typeface="Consolas" panose="020B0609020204030204" pitchFamily="49" charset="0"/>
              </a:rPr>
              <a:t> </a:t>
            </a:r>
            <a:r>
              <a:rPr lang="en-IN" dirty="0" err="1">
                <a:effectLst/>
                <a:highlight>
                  <a:srgbClr val="00FF00"/>
                </a:highlight>
                <a:latin typeface="Consolas" panose="020B0609020204030204" pitchFamily="49" charset="0"/>
              </a:rPr>
              <a:t>function_name</a:t>
            </a:r>
            <a:r>
              <a:rPr lang="en-IN" dirty="0">
                <a:effectLst/>
                <a:highlight>
                  <a:srgbClr val="00FF00"/>
                </a:highlight>
                <a:latin typeface="Consolas" panose="020B0609020204030204" pitchFamily="49" charset="0"/>
              </a:rPr>
              <a:t> ( </a:t>
            </a:r>
            <a:r>
              <a:rPr lang="en-IN" i="1" dirty="0" err="1">
                <a:effectLst/>
                <a:highlight>
                  <a:srgbClr val="00FF00"/>
                </a:highlight>
                <a:latin typeface="Nunito" pitchFamily="2" charset="77"/>
              </a:rPr>
              <a:t>parameter_type_list</a:t>
            </a:r>
            <a:r>
              <a:rPr lang="en-IN" dirty="0">
                <a:effectLst/>
                <a:highlight>
                  <a:srgbClr val="00FF00"/>
                </a:highlight>
                <a:latin typeface="Consolas" panose="020B0609020204030204" pitchFamily="49" charset="0"/>
              </a:rPr>
              <a:t>... );</a:t>
            </a:r>
          </a:p>
          <a:p>
            <a:pPr algn="l" rtl="0" fontAlgn="base"/>
            <a:endParaRPr lang="en-IN" b="0" i="0" dirty="0">
              <a:solidFill>
                <a:srgbClr val="273239"/>
              </a:solidFill>
              <a:effectLst/>
              <a:latin typeface="Nunito" pitchFamily="2" charset="77"/>
            </a:endParaRPr>
          </a:p>
          <a:p>
            <a:pPr algn="l" rtl="0" fontAlgn="base"/>
            <a:r>
              <a:rPr lang="en-IN" b="0" i="0" dirty="0">
                <a:solidFill>
                  <a:srgbClr val="273239"/>
                </a:solidFill>
                <a:effectLst/>
                <a:latin typeface="Nunito" pitchFamily="2" charset="77"/>
              </a:rPr>
              <a:t>where,</a:t>
            </a:r>
          </a:p>
          <a:p>
            <a:pPr algn="l" fontAlgn="base">
              <a:buFont typeface="+mj-lt"/>
              <a:buAutoNum type="arabicPeriod"/>
            </a:pPr>
            <a:r>
              <a:rPr lang="en-IN" b="1" i="0" dirty="0">
                <a:solidFill>
                  <a:srgbClr val="273239"/>
                </a:solidFill>
                <a:effectLst/>
                <a:latin typeface="Nunito" pitchFamily="2" charset="77"/>
              </a:rPr>
              <a:t>Return Type:</a:t>
            </a:r>
            <a:r>
              <a:rPr lang="en-IN" b="0" i="0" dirty="0">
                <a:solidFill>
                  <a:srgbClr val="273239"/>
                </a:solidFill>
                <a:effectLst/>
                <a:latin typeface="Nunito" pitchFamily="2" charset="77"/>
              </a:rPr>
              <a:t> It is the type of optional value returned by the function. Only one value can be returned.</a:t>
            </a:r>
          </a:p>
          <a:p>
            <a:pPr algn="l" fontAlgn="base">
              <a:buFont typeface="+mj-lt"/>
              <a:buAutoNum type="arabicPeriod" startAt="2"/>
            </a:pPr>
            <a:r>
              <a:rPr lang="en-IN" b="1" i="0" dirty="0">
                <a:solidFill>
                  <a:srgbClr val="273239"/>
                </a:solidFill>
                <a:effectLst/>
                <a:latin typeface="Nunito" pitchFamily="2" charset="77"/>
              </a:rPr>
              <a:t>Parameters:</a:t>
            </a:r>
            <a:r>
              <a:rPr lang="en-IN" b="0" i="0" dirty="0">
                <a:solidFill>
                  <a:srgbClr val="273239"/>
                </a:solidFill>
                <a:effectLst/>
                <a:latin typeface="Nunito" pitchFamily="2" charset="77"/>
              </a:rPr>
              <a:t> It is the data passed to the function by the caller.</a:t>
            </a:r>
          </a:p>
          <a:p>
            <a:endParaRPr lang="en-US" dirty="0"/>
          </a:p>
        </p:txBody>
      </p:sp>
    </p:spTree>
    <p:extLst>
      <p:ext uri="{BB962C8B-B14F-4D97-AF65-F5344CB8AC3E}">
        <p14:creationId xmlns:p14="http://schemas.microsoft.com/office/powerpoint/2010/main" val="1857503085"/>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DD831-7EFB-D042-3C48-1B2604DBD50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3E1CEEF-95C9-068E-D9B3-63248BF88BC0}"/>
              </a:ext>
            </a:extLst>
          </p:cNvPr>
          <p:cNvSpPr>
            <a:spLocks noGrp="1"/>
          </p:cNvSpPr>
          <p:nvPr>
            <p:ph idx="1"/>
          </p:nvPr>
        </p:nvSpPr>
        <p:spPr/>
        <p:txBody>
          <a:bodyPr/>
          <a:lstStyle/>
          <a:p>
            <a:pPr algn="l" fontAlgn="base"/>
            <a:r>
              <a:rPr lang="en-IN" b="1" i="0" dirty="0">
                <a:solidFill>
                  <a:srgbClr val="273239"/>
                </a:solidFill>
                <a:effectLst/>
                <a:latin typeface="Nunito" pitchFamily="2" charset="77"/>
              </a:rPr>
              <a:t>2. Function Definition</a:t>
            </a:r>
          </a:p>
          <a:p>
            <a:pPr algn="l" rtl="0" fontAlgn="base"/>
            <a:r>
              <a:rPr lang="en-IN" b="0" i="0" dirty="0">
                <a:solidFill>
                  <a:srgbClr val="273239"/>
                </a:solidFill>
                <a:effectLst/>
                <a:latin typeface="Nunito" pitchFamily="2" charset="77"/>
              </a:rPr>
              <a:t>It contains the actual statements to be executed when the function is called.</a:t>
            </a:r>
          </a:p>
          <a:p>
            <a:r>
              <a:rPr lang="en-IN" i="1" dirty="0" err="1">
                <a:effectLst/>
                <a:highlight>
                  <a:srgbClr val="00FF00"/>
                </a:highlight>
                <a:latin typeface="Nunito" pitchFamily="2" charset="77"/>
              </a:rPr>
              <a:t>return_type</a:t>
            </a:r>
            <a:r>
              <a:rPr lang="en-IN" dirty="0">
                <a:effectLst/>
                <a:highlight>
                  <a:srgbClr val="00FF00"/>
                </a:highlight>
                <a:latin typeface="Consolas" panose="020B0609020204030204" pitchFamily="49" charset="0"/>
              </a:rPr>
              <a:t> </a:t>
            </a:r>
            <a:r>
              <a:rPr lang="en-IN" dirty="0" err="1">
                <a:effectLst/>
                <a:highlight>
                  <a:srgbClr val="00FF00"/>
                </a:highlight>
                <a:latin typeface="Consolas" panose="020B0609020204030204" pitchFamily="49" charset="0"/>
              </a:rPr>
              <a:t>function_name</a:t>
            </a:r>
            <a:r>
              <a:rPr lang="en-IN" dirty="0">
                <a:effectLst/>
                <a:highlight>
                  <a:srgbClr val="00FF00"/>
                </a:highlight>
                <a:latin typeface="Consolas" panose="020B0609020204030204" pitchFamily="49" charset="0"/>
              </a:rPr>
              <a:t> ( </a:t>
            </a:r>
            <a:r>
              <a:rPr lang="en-IN" i="1" dirty="0" err="1">
                <a:effectLst/>
                <a:highlight>
                  <a:srgbClr val="00FF00"/>
                </a:highlight>
                <a:latin typeface="Nunito" pitchFamily="2" charset="77"/>
              </a:rPr>
              <a:t>parameter_type_name_list</a:t>
            </a:r>
            <a:r>
              <a:rPr lang="en-IN" i="1" dirty="0">
                <a:effectLst/>
                <a:highlight>
                  <a:srgbClr val="00FF00"/>
                </a:highlight>
                <a:latin typeface="Nunito" pitchFamily="2" charset="77"/>
              </a:rPr>
              <a:t>...</a:t>
            </a:r>
            <a:r>
              <a:rPr lang="en-IN" dirty="0">
                <a:effectLst/>
                <a:highlight>
                  <a:srgbClr val="00FF00"/>
                </a:highlight>
                <a:latin typeface="Consolas" panose="020B0609020204030204" pitchFamily="49" charset="0"/>
              </a:rPr>
              <a:t> ) { </a:t>
            </a:r>
            <a:r>
              <a:rPr lang="en-IN" i="1" dirty="0">
                <a:effectLst/>
                <a:highlight>
                  <a:srgbClr val="00FF00"/>
                </a:highlight>
                <a:latin typeface="Nunito" pitchFamily="2" charset="77"/>
              </a:rPr>
              <a:t>// block of statements</a:t>
            </a:r>
            <a:r>
              <a:rPr lang="en-IN" dirty="0">
                <a:effectLst/>
                <a:highlight>
                  <a:srgbClr val="00FF00"/>
                </a:highlight>
                <a:latin typeface="Consolas" panose="020B0609020204030204" pitchFamily="49" charset="0"/>
              </a:rPr>
              <a:t> </a:t>
            </a:r>
            <a:r>
              <a:rPr lang="en-IN" i="1" dirty="0">
                <a:effectLst/>
                <a:highlight>
                  <a:srgbClr val="00FF00"/>
                </a:highlight>
                <a:latin typeface="Nunito" pitchFamily="2" charset="77"/>
              </a:rPr>
              <a:t>.</a:t>
            </a:r>
            <a:r>
              <a:rPr lang="en-IN" dirty="0">
                <a:effectLst/>
                <a:highlight>
                  <a:srgbClr val="00FF00"/>
                </a:highlight>
                <a:latin typeface="Consolas" panose="020B0609020204030204" pitchFamily="49" charset="0"/>
              </a:rPr>
              <a:t> </a:t>
            </a:r>
            <a:r>
              <a:rPr lang="en-IN" i="1" dirty="0">
                <a:effectLst/>
                <a:highlight>
                  <a:srgbClr val="00FF00"/>
                </a:highlight>
                <a:latin typeface="Nunito" pitchFamily="2" charset="77"/>
              </a:rPr>
              <a:t>.</a:t>
            </a:r>
            <a:r>
              <a:rPr lang="en-IN" dirty="0">
                <a:effectLst/>
                <a:highlight>
                  <a:srgbClr val="00FF00"/>
                </a:highlight>
                <a:latin typeface="Consolas" panose="020B0609020204030204" pitchFamily="49" charset="0"/>
              </a:rPr>
              <a:t> }</a:t>
            </a:r>
            <a:endParaRPr lang="en-US" dirty="0">
              <a:highlight>
                <a:srgbClr val="00FF00"/>
              </a:highlight>
            </a:endParaRPr>
          </a:p>
        </p:txBody>
      </p:sp>
    </p:spTree>
    <p:extLst>
      <p:ext uri="{BB962C8B-B14F-4D97-AF65-F5344CB8AC3E}">
        <p14:creationId xmlns:p14="http://schemas.microsoft.com/office/powerpoint/2010/main" val="1467254386"/>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8FEC7-5B74-98F9-D26D-8F27CD6BE9C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975F93E-D625-C46C-7D05-FB9AD55263CA}"/>
              </a:ext>
            </a:extLst>
          </p:cNvPr>
          <p:cNvSpPr>
            <a:spLocks noGrp="1"/>
          </p:cNvSpPr>
          <p:nvPr>
            <p:ph idx="1"/>
          </p:nvPr>
        </p:nvSpPr>
        <p:spPr/>
        <p:txBody>
          <a:bodyPr/>
          <a:lstStyle/>
          <a:p>
            <a:pPr algn="l" fontAlgn="base"/>
            <a:r>
              <a:rPr lang="en-IN" b="1" i="0" dirty="0">
                <a:solidFill>
                  <a:srgbClr val="273239"/>
                </a:solidFill>
                <a:effectLst/>
                <a:latin typeface="Nunito" pitchFamily="2" charset="77"/>
              </a:rPr>
              <a:t>3. Function Call</a:t>
            </a:r>
          </a:p>
          <a:p>
            <a:pPr algn="l" rtl="0" fontAlgn="base"/>
            <a:r>
              <a:rPr lang="en-IN" b="0" i="0" dirty="0">
                <a:solidFill>
                  <a:srgbClr val="273239"/>
                </a:solidFill>
                <a:effectLst/>
                <a:latin typeface="Nunito" pitchFamily="2" charset="77"/>
              </a:rPr>
              <a:t>Calls the function by providing arguments. A function call must always be after either function definition or function prototype.</a:t>
            </a:r>
          </a:p>
          <a:p>
            <a:r>
              <a:rPr lang="en-IN" dirty="0" err="1">
                <a:effectLst/>
                <a:highlight>
                  <a:srgbClr val="00FF00"/>
                </a:highlight>
                <a:latin typeface="Consolas" panose="020B0609020204030204" pitchFamily="49" charset="0"/>
              </a:rPr>
              <a:t>function_name</a:t>
            </a:r>
            <a:r>
              <a:rPr lang="en-IN" dirty="0">
                <a:effectLst/>
                <a:highlight>
                  <a:srgbClr val="00FF00"/>
                </a:highlight>
                <a:latin typeface="Consolas" panose="020B0609020204030204" pitchFamily="49" charset="0"/>
              </a:rPr>
              <a:t> (</a:t>
            </a:r>
            <a:r>
              <a:rPr lang="en-IN" i="1" dirty="0">
                <a:effectLst/>
                <a:highlight>
                  <a:srgbClr val="00FF00"/>
                </a:highlight>
                <a:latin typeface="Nunito" pitchFamily="2" charset="77"/>
              </a:rPr>
              <a:t>arguments</a:t>
            </a:r>
            <a:r>
              <a:rPr lang="en-IN" dirty="0">
                <a:effectLst/>
                <a:highlight>
                  <a:srgbClr val="00FF00"/>
                </a:highlight>
                <a:latin typeface="Consolas" panose="020B0609020204030204" pitchFamily="49" charset="0"/>
              </a:rPr>
              <a:t>);</a:t>
            </a:r>
            <a:endParaRPr lang="en-US" dirty="0">
              <a:highlight>
                <a:srgbClr val="00FF00"/>
              </a:highlight>
            </a:endParaRPr>
          </a:p>
        </p:txBody>
      </p:sp>
    </p:spTree>
    <p:extLst>
      <p:ext uri="{BB962C8B-B14F-4D97-AF65-F5344CB8AC3E}">
        <p14:creationId xmlns:p14="http://schemas.microsoft.com/office/powerpoint/2010/main" val="224584109"/>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C068E7-35E8-FD21-E172-AF4F1DD64B42}"/>
              </a:ext>
            </a:extLst>
          </p:cNvPr>
          <p:cNvSpPr>
            <a:spLocks noGrp="1"/>
          </p:cNvSpPr>
          <p:nvPr>
            <p:ph idx="1"/>
          </p:nvPr>
        </p:nvSpPr>
        <p:spPr>
          <a:xfrm>
            <a:off x="838200" y="313151"/>
            <a:ext cx="10515600" cy="5863812"/>
          </a:xfrm>
        </p:spPr>
        <p:txBody>
          <a:bodyPr>
            <a:normAutofit fontScale="62500" lnSpcReduction="20000"/>
          </a:bodyPr>
          <a:lstStyle/>
          <a:p>
            <a:r>
              <a:rPr lang="en-US" dirty="0"/>
              <a:t>// C program to show function // call and definition</a:t>
            </a:r>
          </a:p>
          <a:p>
            <a:r>
              <a:rPr lang="en-US" dirty="0"/>
              <a:t>#include &lt;</a:t>
            </a:r>
            <a:r>
              <a:rPr lang="en-US" dirty="0" err="1"/>
              <a:t>stdio.h</a:t>
            </a:r>
            <a:r>
              <a:rPr lang="en-US" dirty="0"/>
              <a:t>&gt;</a:t>
            </a:r>
          </a:p>
          <a:p>
            <a:endParaRPr lang="en-US" dirty="0"/>
          </a:p>
          <a:p>
            <a:r>
              <a:rPr lang="en-US" dirty="0"/>
              <a:t>// Function that takes two parameters</a:t>
            </a:r>
          </a:p>
          <a:p>
            <a:r>
              <a:rPr lang="en-US" dirty="0"/>
              <a:t>// a and b as inputs and returns</a:t>
            </a:r>
          </a:p>
          <a:p>
            <a:r>
              <a:rPr lang="en-US" dirty="0"/>
              <a:t>// their sum</a:t>
            </a:r>
          </a:p>
          <a:p>
            <a:r>
              <a:rPr lang="en-US" dirty="0"/>
              <a:t>int sum(int a, int b) { return a + b; }</a:t>
            </a:r>
          </a:p>
          <a:p>
            <a:endParaRPr lang="en-US" dirty="0"/>
          </a:p>
          <a:p>
            <a:r>
              <a:rPr lang="en-US" dirty="0"/>
              <a:t>// Driver code</a:t>
            </a:r>
          </a:p>
          <a:p>
            <a:r>
              <a:rPr lang="en-US" dirty="0"/>
              <a:t>int main()</a:t>
            </a:r>
          </a:p>
          <a:p>
            <a:r>
              <a:rPr lang="en-US" dirty="0"/>
              <a:t>{</a:t>
            </a:r>
          </a:p>
          <a:p>
            <a:r>
              <a:rPr lang="en-US" dirty="0"/>
              <a:t>    // Calling sum function and</a:t>
            </a:r>
          </a:p>
          <a:p>
            <a:r>
              <a:rPr lang="en-US" dirty="0"/>
              <a:t>    // storing its value in add variable</a:t>
            </a:r>
          </a:p>
          <a:p>
            <a:r>
              <a:rPr lang="en-US" dirty="0"/>
              <a:t>    int add = sum(10, 30);</a:t>
            </a:r>
          </a:p>
          <a:p>
            <a:endParaRPr lang="en-US" dirty="0"/>
          </a:p>
          <a:p>
            <a:r>
              <a:rPr lang="en-US" dirty="0"/>
              <a:t>    </a:t>
            </a:r>
            <a:r>
              <a:rPr lang="en-US" dirty="0" err="1"/>
              <a:t>printf</a:t>
            </a:r>
            <a:r>
              <a:rPr lang="en-US" dirty="0"/>
              <a:t>("Sum is: %d", add);</a:t>
            </a:r>
          </a:p>
          <a:p>
            <a:r>
              <a:rPr lang="en-US" dirty="0"/>
              <a:t>    return 0;</a:t>
            </a:r>
          </a:p>
          <a:p>
            <a:r>
              <a:rPr lang="en-US" dirty="0"/>
              <a:t>}</a:t>
            </a:r>
          </a:p>
        </p:txBody>
      </p:sp>
    </p:spTree>
    <p:extLst>
      <p:ext uri="{BB962C8B-B14F-4D97-AF65-F5344CB8AC3E}">
        <p14:creationId xmlns:p14="http://schemas.microsoft.com/office/powerpoint/2010/main" val="3529778447"/>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1300D-FC9E-91F9-2ADD-EF984B1E9A2E}"/>
              </a:ext>
            </a:extLst>
          </p:cNvPr>
          <p:cNvSpPr>
            <a:spLocks noGrp="1"/>
          </p:cNvSpPr>
          <p:nvPr>
            <p:ph type="title"/>
          </p:nvPr>
        </p:nvSpPr>
        <p:spPr/>
        <p:txBody>
          <a:bodyPr/>
          <a:lstStyle/>
          <a:p>
            <a:r>
              <a:rPr lang="en-IN" b="1" i="0" dirty="0">
                <a:solidFill>
                  <a:srgbClr val="273239"/>
                </a:solidFill>
                <a:effectLst/>
                <a:latin typeface="Nunito" pitchFamily="2" charset="77"/>
              </a:rPr>
              <a:t>Type of Function</a:t>
            </a:r>
            <a:endParaRPr lang="en-US" dirty="0"/>
          </a:p>
        </p:txBody>
      </p:sp>
      <p:sp>
        <p:nvSpPr>
          <p:cNvPr id="3" name="Content Placeholder 2">
            <a:extLst>
              <a:ext uri="{FF2B5EF4-FFF2-40B4-BE49-F238E27FC236}">
                <a16:creationId xmlns:a16="http://schemas.microsoft.com/office/drawing/2014/main" id="{28E61757-FE44-B8A9-E77F-A4C631C3666C}"/>
              </a:ext>
            </a:extLst>
          </p:cNvPr>
          <p:cNvSpPr>
            <a:spLocks noGrp="1"/>
          </p:cNvSpPr>
          <p:nvPr>
            <p:ph idx="1"/>
          </p:nvPr>
        </p:nvSpPr>
        <p:spPr/>
        <p:txBody>
          <a:bodyPr>
            <a:normAutofit fontScale="92500" lnSpcReduction="10000"/>
          </a:bodyPr>
          <a:lstStyle/>
          <a:p>
            <a:pPr algn="l" rtl="0" fontAlgn="base"/>
            <a:r>
              <a:rPr lang="en-IN" b="0" i="0" dirty="0">
                <a:solidFill>
                  <a:srgbClr val="273239"/>
                </a:solidFill>
                <a:effectLst/>
                <a:latin typeface="Nunito" pitchFamily="2" charset="77"/>
              </a:rPr>
              <a:t>A function can be of 4 types based on return value and parameters:</a:t>
            </a:r>
          </a:p>
          <a:p>
            <a:pPr algn="l" fontAlgn="base">
              <a:buFont typeface="+mj-lt"/>
              <a:buAutoNum type="arabicPeriod"/>
            </a:pPr>
            <a:r>
              <a:rPr lang="en-IN" b="0" i="0" dirty="0">
                <a:solidFill>
                  <a:srgbClr val="273239"/>
                </a:solidFill>
                <a:effectLst/>
                <a:latin typeface="Nunito" pitchFamily="2" charset="77"/>
              </a:rPr>
              <a:t>Function with no return value and no parameters.</a:t>
            </a:r>
          </a:p>
          <a:p>
            <a:pPr algn="l" fontAlgn="base">
              <a:buFont typeface="+mj-lt"/>
              <a:buAutoNum type="arabicPeriod" startAt="2"/>
            </a:pPr>
            <a:r>
              <a:rPr lang="en-IN" b="0" i="0" dirty="0">
                <a:solidFill>
                  <a:srgbClr val="273239"/>
                </a:solidFill>
                <a:effectLst/>
                <a:latin typeface="Nunito" pitchFamily="2" charset="77"/>
              </a:rPr>
              <a:t>Function with no return value and parameters.</a:t>
            </a:r>
          </a:p>
          <a:p>
            <a:pPr algn="l" fontAlgn="base">
              <a:buFont typeface="+mj-lt"/>
              <a:buAutoNum type="arabicPeriod" startAt="3"/>
            </a:pPr>
            <a:r>
              <a:rPr lang="en-IN" b="0" i="0" dirty="0">
                <a:solidFill>
                  <a:srgbClr val="273239"/>
                </a:solidFill>
                <a:effectLst/>
                <a:latin typeface="Nunito" pitchFamily="2" charset="77"/>
              </a:rPr>
              <a:t>Function with return value and no parameters.</a:t>
            </a:r>
          </a:p>
          <a:p>
            <a:pPr algn="l" fontAlgn="base">
              <a:buFont typeface="+mj-lt"/>
              <a:buAutoNum type="arabicPeriod" startAt="4"/>
            </a:pPr>
            <a:r>
              <a:rPr lang="en-IN" b="0" i="0" dirty="0">
                <a:solidFill>
                  <a:srgbClr val="273239"/>
                </a:solidFill>
                <a:effectLst/>
                <a:latin typeface="Nunito" pitchFamily="2" charset="77"/>
              </a:rPr>
              <a:t>Function with return value and parameters.</a:t>
            </a:r>
          </a:p>
          <a:p>
            <a:pPr algn="l" fontAlgn="base">
              <a:buFont typeface="+mj-lt"/>
              <a:buAutoNum type="arabicPeriod" startAt="4"/>
            </a:pPr>
            <a:endParaRPr lang="en-IN" dirty="0">
              <a:solidFill>
                <a:srgbClr val="273239"/>
              </a:solidFill>
              <a:latin typeface="Nunito" pitchFamily="2" charset="77"/>
            </a:endParaRPr>
          </a:p>
          <a:p>
            <a:pPr algn="l" rtl="0" fontAlgn="base"/>
            <a:r>
              <a:rPr lang="en-IN" b="0" i="0" dirty="0">
                <a:solidFill>
                  <a:srgbClr val="273239"/>
                </a:solidFill>
                <a:effectLst/>
                <a:latin typeface="Nunito" pitchFamily="2" charset="77"/>
              </a:rPr>
              <a:t>There is another classification of function in which there are 2 types of functions:</a:t>
            </a:r>
          </a:p>
          <a:p>
            <a:pPr algn="l" fontAlgn="base">
              <a:buFont typeface="+mj-lt"/>
              <a:buAutoNum type="arabicPeriod"/>
            </a:pPr>
            <a:r>
              <a:rPr lang="en-IN" b="0" i="0" dirty="0">
                <a:solidFill>
                  <a:srgbClr val="273239"/>
                </a:solidFill>
                <a:effectLst/>
                <a:latin typeface="Nunito" pitchFamily="2" charset="77"/>
              </a:rPr>
              <a:t>Library Functions</a:t>
            </a:r>
          </a:p>
          <a:p>
            <a:pPr algn="l" fontAlgn="base">
              <a:buFont typeface="+mj-lt"/>
              <a:buAutoNum type="arabicPeriod" startAt="2"/>
            </a:pPr>
            <a:r>
              <a:rPr lang="en-IN" b="0" i="0" dirty="0">
                <a:solidFill>
                  <a:srgbClr val="273239"/>
                </a:solidFill>
                <a:effectLst/>
                <a:latin typeface="Nunito" pitchFamily="2" charset="77"/>
              </a:rPr>
              <a:t>User-Defined Functions</a:t>
            </a:r>
          </a:p>
        </p:txBody>
      </p:sp>
    </p:spTree>
    <p:extLst>
      <p:ext uri="{BB962C8B-B14F-4D97-AF65-F5344CB8AC3E}">
        <p14:creationId xmlns:p14="http://schemas.microsoft.com/office/powerpoint/2010/main" val="1274598192"/>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5B2FA-F7F2-7216-5167-CFB6E318DED4}"/>
              </a:ext>
            </a:extLst>
          </p:cNvPr>
          <p:cNvSpPr>
            <a:spLocks noGrp="1"/>
          </p:cNvSpPr>
          <p:nvPr>
            <p:ph type="title"/>
          </p:nvPr>
        </p:nvSpPr>
        <p:spPr/>
        <p:txBody>
          <a:bodyPr/>
          <a:lstStyle/>
          <a:p>
            <a:r>
              <a:rPr lang="en-IN" b="1" i="0" dirty="0">
                <a:solidFill>
                  <a:srgbClr val="273239"/>
                </a:solidFill>
                <a:effectLst/>
                <a:latin typeface="Nunito" pitchFamily="2" charset="77"/>
              </a:rPr>
              <a:t>Dynamic Memory Management</a:t>
            </a:r>
            <a:endParaRPr lang="en-US" dirty="0"/>
          </a:p>
        </p:txBody>
      </p:sp>
      <p:sp>
        <p:nvSpPr>
          <p:cNvPr id="3" name="Content Placeholder 2">
            <a:extLst>
              <a:ext uri="{FF2B5EF4-FFF2-40B4-BE49-F238E27FC236}">
                <a16:creationId xmlns:a16="http://schemas.microsoft.com/office/drawing/2014/main" id="{47431230-7494-FCB5-BB57-7CB51606A5D0}"/>
              </a:ext>
            </a:extLst>
          </p:cNvPr>
          <p:cNvSpPr>
            <a:spLocks noGrp="1"/>
          </p:cNvSpPr>
          <p:nvPr>
            <p:ph idx="1"/>
          </p:nvPr>
        </p:nvSpPr>
        <p:spPr>
          <a:xfrm>
            <a:off x="838200" y="1690688"/>
            <a:ext cx="10515600" cy="4351338"/>
          </a:xfrm>
        </p:spPr>
        <p:txBody>
          <a:bodyPr>
            <a:noAutofit/>
          </a:bodyPr>
          <a:lstStyle/>
          <a:p>
            <a:pPr algn="l" rtl="0" fontAlgn="base"/>
            <a:r>
              <a:rPr lang="en-IN" sz="1100" b="0" i="0" dirty="0">
                <a:solidFill>
                  <a:srgbClr val="273239"/>
                </a:solidFill>
                <a:effectLst/>
                <a:latin typeface="Nunito" pitchFamily="2" charset="77"/>
              </a:rPr>
              <a:t>Dynamic memory management allows the programmer to allocate the memory at the program's runtime. The C language provides four </a:t>
            </a:r>
            <a:r>
              <a:rPr lang="en-IN" sz="1100" i="0" dirty="0">
                <a:solidFill>
                  <a:srgbClr val="273239"/>
                </a:solidFill>
                <a:effectLst/>
                <a:latin typeface="Nunito" pitchFamily="2" charset="77"/>
              </a:rPr>
              <a:t>&lt;</a:t>
            </a:r>
            <a:r>
              <a:rPr lang="en-IN" sz="1100" i="0" dirty="0" err="1">
                <a:solidFill>
                  <a:srgbClr val="273239"/>
                </a:solidFill>
                <a:effectLst/>
                <a:latin typeface="Nunito" pitchFamily="2" charset="77"/>
              </a:rPr>
              <a:t>stdlib.h</a:t>
            </a:r>
            <a:r>
              <a:rPr lang="en-IN" sz="1100" i="0" dirty="0">
                <a:solidFill>
                  <a:srgbClr val="273239"/>
                </a:solidFill>
                <a:effectLst/>
                <a:latin typeface="Nunito" pitchFamily="2" charset="77"/>
              </a:rPr>
              <a:t>&gt; </a:t>
            </a:r>
            <a:r>
              <a:rPr lang="en-IN" sz="1100" b="0" i="0" dirty="0">
                <a:solidFill>
                  <a:srgbClr val="273239"/>
                </a:solidFill>
                <a:effectLst/>
                <a:latin typeface="Nunito" pitchFamily="2" charset="77"/>
              </a:rPr>
              <a:t>functions for dynamic memory management which are malloc(), </a:t>
            </a:r>
            <a:r>
              <a:rPr lang="en-IN" sz="1100" b="0" i="0" dirty="0" err="1">
                <a:solidFill>
                  <a:srgbClr val="273239"/>
                </a:solidFill>
                <a:effectLst/>
                <a:latin typeface="Nunito" pitchFamily="2" charset="77"/>
              </a:rPr>
              <a:t>calloc</a:t>
            </a:r>
            <a:r>
              <a:rPr lang="en-IN" sz="1100" b="0" i="0" dirty="0">
                <a:solidFill>
                  <a:srgbClr val="273239"/>
                </a:solidFill>
                <a:effectLst/>
                <a:latin typeface="Nunito" pitchFamily="2" charset="77"/>
              </a:rPr>
              <a:t>(), </a:t>
            </a:r>
            <a:r>
              <a:rPr lang="en-IN" sz="1100" b="0" i="0" dirty="0" err="1">
                <a:solidFill>
                  <a:srgbClr val="273239"/>
                </a:solidFill>
                <a:effectLst/>
                <a:latin typeface="Nunito" pitchFamily="2" charset="77"/>
              </a:rPr>
              <a:t>realloc</a:t>
            </a:r>
            <a:r>
              <a:rPr lang="en-IN" sz="1100" b="0" i="0" dirty="0">
                <a:solidFill>
                  <a:srgbClr val="273239"/>
                </a:solidFill>
                <a:effectLst/>
                <a:latin typeface="Nunito" pitchFamily="2" charset="77"/>
              </a:rPr>
              <a:t>() and free().</a:t>
            </a:r>
          </a:p>
          <a:p>
            <a:pPr algn="l" fontAlgn="base"/>
            <a:r>
              <a:rPr lang="en-IN" sz="1100" b="1" i="0" dirty="0">
                <a:solidFill>
                  <a:srgbClr val="273239"/>
                </a:solidFill>
                <a:effectLst/>
                <a:latin typeface="Nunito" pitchFamily="2" charset="77"/>
              </a:rPr>
              <a:t>1. malloc()</a:t>
            </a:r>
          </a:p>
          <a:p>
            <a:pPr algn="l" rtl="0" fontAlgn="base"/>
            <a:r>
              <a:rPr lang="en-IN" sz="1100" b="0" i="0" dirty="0">
                <a:solidFill>
                  <a:srgbClr val="273239"/>
                </a:solidFill>
                <a:effectLst/>
                <a:latin typeface="Nunito" pitchFamily="2" charset="77"/>
              </a:rPr>
              <a:t>The </a:t>
            </a:r>
            <a:r>
              <a:rPr lang="en-IN" sz="1100" b="1" i="0" dirty="0">
                <a:solidFill>
                  <a:srgbClr val="273239"/>
                </a:solidFill>
                <a:effectLst/>
                <a:latin typeface="Nunito" pitchFamily="2" charset="77"/>
              </a:rPr>
              <a:t>malloc() function</a:t>
            </a:r>
            <a:r>
              <a:rPr lang="en-IN" sz="1100" b="0" i="0" dirty="0">
                <a:solidFill>
                  <a:srgbClr val="273239"/>
                </a:solidFill>
                <a:effectLst/>
                <a:latin typeface="Nunito" pitchFamily="2" charset="77"/>
              </a:rPr>
              <a:t> allocates the block of a specific size in the memory. It returns the void pointer to the memory block. If the allocation is failed, it returns the null pointer.</a:t>
            </a:r>
          </a:p>
          <a:p>
            <a:pPr algn="l" rtl="0" fontAlgn="base"/>
            <a:r>
              <a:rPr lang="en-IN" sz="1100" b="1" i="0" dirty="0">
                <a:solidFill>
                  <a:srgbClr val="273239"/>
                </a:solidFill>
                <a:effectLst/>
                <a:latin typeface="Nunito" pitchFamily="2" charset="77"/>
              </a:rPr>
              <a:t>Syntax</a:t>
            </a:r>
            <a:endParaRPr lang="en-IN" sz="1100" b="0" i="0" dirty="0">
              <a:solidFill>
                <a:srgbClr val="273239"/>
              </a:solidFill>
              <a:effectLst/>
              <a:latin typeface="Nunito" pitchFamily="2" charset="77"/>
            </a:endParaRPr>
          </a:p>
          <a:p>
            <a:pPr algn="l" fontAlgn="base"/>
            <a:r>
              <a:rPr lang="en-IN" sz="1100" b="1" dirty="0">
                <a:effectLst/>
                <a:highlight>
                  <a:srgbClr val="00FF00"/>
                </a:highlight>
                <a:latin typeface="Nunito" pitchFamily="2" charset="77"/>
              </a:rPr>
              <a:t>malloc </a:t>
            </a:r>
            <a:r>
              <a:rPr lang="en-IN" sz="1100" dirty="0">
                <a:effectLst/>
                <a:highlight>
                  <a:srgbClr val="00FF00"/>
                </a:highlight>
                <a:latin typeface="Consolas" panose="020B0609020204030204" pitchFamily="49" charset="0"/>
              </a:rPr>
              <a:t>(</a:t>
            </a:r>
            <a:r>
              <a:rPr lang="en-IN" sz="1100" dirty="0" err="1">
                <a:effectLst/>
                <a:highlight>
                  <a:srgbClr val="00FF00"/>
                </a:highlight>
                <a:latin typeface="Consolas" panose="020B0609020204030204" pitchFamily="49" charset="0"/>
              </a:rPr>
              <a:t>size_t</a:t>
            </a:r>
            <a:r>
              <a:rPr lang="en-IN" sz="1100" dirty="0">
                <a:effectLst/>
                <a:highlight>
                  <a:srgbClr val="00FF00"/>
                </a:highlight>
                <a:latin typeface="Consolas" panose="020B0609020204030204" pitchFamily="49" charset="0"/>
              </a:rPr>
              <a:t> </a:t>
            </a:r>
            <a:r>
              <a:rPr lang="en-IN" sz="1100" i="1" dirty="0">
                <a:effectLst/>
                <a:highlight>
                  <a:srgbClr val="00FF00"/>
                </a:highlight>
                <a:latin typeface="Nunito" pitchFamily="2" charset="77"/>
              </a:rPr>
              <a:t>size</a:t>
            </a:r>
            <a:r>
              <a:rPr lang="en-IN" sz="1100" dirty="0">
                <a:effectLst/>
                <a:highlight>
                  <a:srgbClr val="00FF00"/>
                </a:highlight>
                <a:latin typeface="Consolas" panose="020B0609020204030204" pitchFamily="49" charset="0"/>
              </a:rPr>
              <a:t>);</a:t>
            </a:r>
          </a:p>
          <a:p>
            <a:pPr algn="l" fontAlgn="base"/>
            <a:r>
              <a:rPr lang="en-IN" sz="1100" b="1" i="0" dirty="0">
                <a:solidFill>
                  <a:srgbClr val="273239"/>
                </a:solidFill>
                <a:effectLst/>
                <a:latin typeface="Nunito" pitchFamily="2" charset="77"/>
              </a:rPr>
              <a:t>2. </a:t>
            </a:r>
            <a:r>
              <a:rPr lang="en-IN" sz="1100" b="1" i="0" dirty="0" err="1">
                <a:solidFill>
                  <a:srgbClr val="273239"/>
                </a:solidFill>
                <a:effectLst/>
                <a:latin typeface="Nunito" pitchFamily="2" charset="77"/>
              </a:rPr>
              <a:t>calloc</a:t>
            </a:r>
            <a:r>
              <a:rPr lang="en-IN" sz="1100" b="1" i="0" dirty="0">
                <a:solidFill>
                  <a:srgbClr val="273239"/>
                </a:solidFill>
                <a:effectLst/>
                <a:latin typeface="Nunito" pitchFamily="2" charset="77"/>
              </a:rPr>
              <a:t>()</a:t>
            </a:r>
          </a:p>
          <a:p>
            <a:pPr algn="l" rtl="0" fontAlgn="base"/>
            <a:r>
              <a:rPr lang="en-IN" sz="1100" b="0" i="0" dirty="0">
                <a:solidFill>
                  <a:srgbClr val="273239"/>
                </a:solidFill>
                <a:effectLst/>
                <a:latin typeface="Nunito" pitchFamily="2" charset="77"/>
              </a:rPr>
              <a:t>The </a:t>
            </a:r>
            <a:r>
              <a:rPr lang="en-IN" sz="1100" b="0" i="0" dirty="0" err="1">
                <a:solidFill>
                  <a:srgbClr val="273239"/>
                </a:solidFill>
                <a:effectLst/>
                <a:latin typeface="Nunito" pitchFamily="2" charset="77"/>
              </a:rPr>
              <a:t>calloc</a:t>
            </a:r>
            <a:r>
              <a:rPr lang="en-IN" sz="1100" b="0" i="0" dirty="0">
                <a:solidFill>
                  <a:srgbClr val="273239"/>
                </a:solidFill>
                <a:effectLst/>
                <a:latin typeface="Nunito" pitchFamily="2" charset="77"/>
              </a:rPr>
              <a:t>() function allocates the number of blocks of the specified size in the memory. It returns the void pointer to the memory block. If the allocation is failed, it returns the null pointer.</a:t>
            </a:r>
          </a:p>
          <a:p>
            <a:pPr algn="l" rtl="0" fontAlgn="base"/>
            <a:r>
              <a:rPr lang="en-IN" sz="1100" b="1" i="0" dirty="0">
                <a:solidFill>
                  <a:srgbClr val="273239"/>
                </a:solidFill>
                <a:effectLst/>
                <a:latin typeface="Nunito" pitchFamily="2" charset="77"/>
              </a:rPr>
              <a:t>Syntax</a:t>
            </a:r>
            <a:endParaRPr lang="en-IN" sz="1100" b="0" i="0" dirty="0">
              <a:solidFill>
                <a:srgbClr val="273239"/>
              </a:solidFill>
              <a:effectLst/>
              <a:latin typeface="Nunito" pitchFamily="2" charset="77"/>
            </a:endParaRPr>
          </a:p>
          <a:p>
            <a:pPr algn="l" fontAlgn="base"/>
            <a:r>
              <a:rPr lang="en-IN" sz="1100" b="1" dirty="0" err="1">
                <a:effectLst/>
                <a:highlight>
                  <a:srgbClr val="00FF00"/>
                </a:highlight>
                <a:latin typeface="Nunito" pitchFamily="2" charset="77"/>
              </a:rPr>
              <a:t>calloc</a:t>
            </a:r>
            <a:r>
              <a:rPr lang="en-IN" sz="1100" dirty="0">
                <a:effectLst/>
                <a:highlight>
                  <a:srgbClr val="00FF00"/>
                </a:highlight>
                <a:latin typeface="Consolas" panose="020B0609020204030204" pitchFamily="49" charset="0"/>
              </a:rPr>
              <a:t> (</a:t>
            </a:r>
            <a:r>
              <a:rPr lang="en-IN" sz="1100" dirty="0" err="1">
                <a:effectLst/>
                <a:highlight>
                  <a:srgbClr val="00FF00"/>
                </a:highlight>
                <a:latin typeface="Consolas" panose="020B0609020204030204" pitchFamily="49" charset="0"/>
              </a:rPr>
              <a:t>size_t</a:t>
            </a:r>
            <a:r>
              <a:rPr lang="en-IN" sz="1100" dirty="0">
                <a:effectLst/>
                <a:highlight>
                  <a:srgbClr val="00FF00"/>
                </a:highlight>
                <a:latin typeface="Consolas" panose="020B0609020204030204" pitchFamily="49" charset="0"/>
              </a:rPr>
              <a:t> </a:t>
            </a:r>
            <a:r>
              <a:rPr lang="en-IN" sz="1100" i="1" dirty="0" err="1">
                <a:effectLst/>
                <a:highlight>
                  <a:srgbClr val="00FF00"/>
                </a:highlight>
                <a:latin typeface="Nunito" pitchFamily="2" charset="77"/>
              </a:rPr>
              <a:t>num</a:t>
            </a:r>
            <a:r>
              <a:rPr lang="en-IN" sz="1100" dirty="0">
                <a:effectLst/>
                <a:highlight>
                  <a:srgbClr val="00FF00"/>
                </a:highlight>
                <a:latin typeface="Consolas" panose="020B0609020204030204" pitchFamily="49" charset="0"/>
              </a:rPr>
              <a:t>, </a:t>
            </a:r>
            <a:r>
              <a:rPr lang="en-IN" sz="1100" dirty="0" err="1">
                <a:effectLst/>
                <a:highlight>
                  <a:srgbClr val="00FF00"/>
                </a:highlight>
                <a:latin typeface="Consolas" panose="020B0609020204030204" pitchFamily="49" charset="0"/>
              </a:rPr>
              <a:t>size_t</a:t>
            </a:r>
            <a:r>
              <a:rPr lang="en-IN" sz="1100" dirty="0">
                <a:effectLst/>
                <a:highlight>
                  <a:srgbClr val="00FF00"/>
                </a:highlight>
                <a:latin typeface="Consolas" panose="020B0609020204030204" pitchFamily="49" charset="0"/>
              </a:rPr>
              <a:t> </a:t>
            </a:r>
            <a:r>
              <a:rPr lang="en-IN" sz="1100" i="1" dirty="0">
                <a:effectLst/>
                <a:highlight>
                  <a:srgbClr val="00FF00"/>
                </a:highlight>
                <a:latin typeface="Nunito" pitchFamily="2" charset="77"/>
              </a:rPr>
              <a:t>size</a:t>
            </a:r>
            <a:r>
              <a:rPr lang="en-IN" sz="1100" dirty="0">
                <a:effectLst/>
                <a:highlight>
                  <a:srgbClr val="00FF00"/>
                </a:highlight>
                <a:latin typeface="Consolas" panose="020B0609020204030204" pitchFamily="49" charset="0"/>
              </a:rPr>
              <a:t>);</a:t>
            </a:r>
          </a:p>
          <a:p>
            <a:pPr algn="l" fontAlgn="base"/>
            <a:r>
              <a:rPr lang="en-IN" sz="1100" b="1" i="0" dirty="0">
                <a:solidFill>
                  <a:srgbClr val="273239"/>
                </a:solidFill>
                <a:effectLst/>
                <a:latin typeface="Nunito" pitchFamily="2" charset="77"/>
              </a:rPr>
              <a:t>3. </a:t>
            </a:r>
            <a:r>
              <a:rPr lang="en-IN" sz="1100" b="1" i="0" dirty="0" err="1">
                <a:solidFill>
                  <a:srgbClr val="273239"/>
                </a:solidFill>
                <a:effectLst/>
                <a:latin typeface="Nunito" pitchFamily="2" charset="77"/>
              </a:rPr>
              <a:t>realloc</a:t>
            </a:r>
            <a:r>
              <a:rPr lang="en-IN" sz="1100" b="1" i="0" dirty="0">
                <a:solidFill>
                  <a:srgbClr val="273239"/>
                </a:solidFill>
                <a:effectLst/>
                <a:latin typeface="Nunito" pitchFamily="2" charset="77"/>
              </a:rPr>
              <a:t>()</a:t>
            </a:r>
          </a:p>
          <a:p>
            <a:pPr algn="l" rtl="0" fontAlgn="base"/>
            <a:r>
              <a:rPr lang="en-IN" sz="1100" b="0" i="0" dirty="0">
                <a:solidFill>
                  <a:srgbClr val="273239"/>
                </a:solidFill>
                <a:effectLst/>
                <a:latin typeface="Nunito" pitchFamily="2" charset="77"/>
              </a:rPr>
              <a:t>The </a:t>
            </a:r>
            <a:r>
              <a:rPr lang="en-IN" sz="1100" b="0" i="0" dirty="0" err="1">
                <a:solidFill>
                  <a:srgbClr val="273239"/>
                </a:solidFill>
                <a:effectLst/>
                <a:latin typeface="Nunito" pitchFamily="2" charset="77"/>
              </a:rPr>
              <a:t>realloc</a:t>
            </a:r>
            <a:r>
              <a:rPr lang="en-IN" sz="1100" b="0" i="0" dirty="0">
                <a:solidFill>
                  <a:srgbClr val="273239"/>
                </a:solidFill>
                <a:effectLst/>
                <a:latin typeface="Nunito" pitchFamily="2" charset="77"/>
              </a:rPr>
              <a:t>() function is used to change the size of the already allocated memory. It also returns the void pointer to the allocated memory.</a:t>
            </a:r>
          </a:p>
          <a:p>
            <a:pPr algn="l" rtl="0" fontAlgn="base"/>
            <a:r>
              <a:rPr lang="en-IN" sz="1100" b="1" i="0" dirty="0">
                <a:solidFill>
                  <a:srgbClr val="273239"/>
                </a:solidFill>
                <a:effectLst/>
                <a:latin typeface="Nunito" pitchFamily="2" charset="77"/>
              </a:rPr>
              <a:t>Syntax</a:t>
            </a:r>
            <a:endParaRPr lang="en-IN" sz="1100" b="0" i="0" dirty="0">
              <a:solidFill>
                <a:srgbClr val="273239"/>
              </a:solidFill>
              <a:effectLst/>
              <a:latin typeface="Nunito" pitchFamily="2" charset="77"/>
            </a:endParaRPr>
          </a:p>
          <a:p>
            <a:pPr algn="l" fontAlgn="base"/>
            <a:r>
              <a:rPr lang="en-IN" sz="1100" b="1" dirty="0" err="1">
                <a:effectLst/>
                <a:highlight>
                  <a:srgbClr val="00FF00"/>
                </a:highlight>
                <a:latin typeface="Nunito" pitchFamily="2" charset="77"/>
              </a:rPr>
              <a:t>realloc</a:t>
            </a:r>
            <a:r>
              <a:rPr lang="en-IN" sz="1100" dirty="0">
                <a:effectLst/>
                <a:highlight>
                  <a:srgbClr val="00FF00"/>
                </a:highlight>
                <a:latin typeface="Consolas" panose="020B0609020204030204" pitchFamily="49" charset="0"/>
              </a:rPr>
              <a:t> (void *</a:t>
            </a:r>
            <a:r>
              <a:rPr lang="en-IN" sz="1100" i="1" dirty="0" err="1">
                <a:effectLst/>
                <a:highlight>
                  <a:srgbClr val="00FF00"/>
                </a:highlight>
                <a:latin typeface="Nunito" pitchFamily="2" charset="77"/>
              </a:rPr>
              <a:t>ptr</a:t>
            </a:r>
            <a:r>
              <a:rPr lang="en-IN" sz="1100" dirty="0">
                <a:effectLst/>
                <a:highlight>
                  <a:srgbClr val="00FF00"/>
                </a:highlight>
                <a:latin typeface="Consolas" panose="020B0609020204030204" pitchFamily="49" charset="0"/>
              </a:rPr>
              <a:t>, </a:t>
            </a:r>
            <a:r>
              <a:rPr lang="en-IN" sz="1100" dirty="0" err="1">
                <a:effectLst/>
                <a:highlight>
                  <a:srgbClr val="00FF00"/>
                </a:highlight>
                <a:latin typeface="Consolas" panose="020B0609020204030204" pitchFamily="49" charset="0"/>
              </a:rPr>
              <a:t>size_t</a:t>
            </a:r>
            <a:r>
              <a:rPr lang="en-IN" sz="1100" dirty="0">
                <a:effectLst/>
                <a:highlight>
                  <a:srgbClr val="00FF00"/>
                </a:highlight>
                <a:latin typeface="Consolas" panose="020B0609020204030204" pitchFamily="49" charset="0"/>
              </a:rPr>
              <a:t> </a:t>
            </a:r>
            <a:r>
              <a:rPr lang="en-IN" sz="1100" i="1" dirty="0" err="1">
                <a:effectLst/>
                <a:highlight>
                  <a:srgbClr val="00FF00"/>
                </a:highlight>
                <a:latin typeface="Nunito" pitchFamily="2" charset="77"/>
              </a:rPr>
              <a:t>new_size</a:t>
            </a:r>
            <a:r>
              <a:rPr lang="en-IN" sz="1100" dirty="0">
                <a:effectLst/>
                <a:highlight>
                  <a:srgbClr val="00FF00"/>
                </a:highlight>
                <a:latin typeface="Consolas" panose="020B0609020204030204" pitchFamily="49" charset="0"/>
              </a:rPr>
              <a:t>);</a:t>
            </a:r>
          </a:p>
          <a:p>
            <a:pPr algn="l" fontAlgn="base"/>
            <a:r>
              <a:rPr lang="en-IN" sz="1100" b="1" i="0" dirty="0">
                <a:solidFill>
                  <a:srgbClr val="273239"/>
                </a:solidFill>
                <a:effectLst/>
                <a:latin typeface="Nunito" pitchFamily="2" charset="77"/>
              </a:rPr>
              <a:t>4. free()</a:t>
            </a:r>
          </a:p>
          <a:p>
            <a:pPr algn="l" rtl="0" fontAlgn="base"/>
            <a:r>
              <a:rPr lang="en-IN" sz="1100" b="0" i="0" dirty="0">
                <a:solidFill>
                  <a:srgbClr val="273239"/>
                </a:solidFill>
                <a:effectLst/>
                <a:latin typeface="Nunito" pitchFamily="2" charset="77"/>
              </a:rPr>
              <a:t>The free function is used to deallocate the already allocated memory.</a:t>
            </a:r>
          </a:p>
          <a:p>
            <a:pPr algn="l" rtl="0" fontAlgn="base"/>
            <a:r>
              <a:rPr lang="en-IN" sz="1100" b="1" i="0" dirty="0">
                <a:solidFill>
                  <a:srgbClr val="273239"/>
                </a:solidFill>
                <a:effectLst/>
                <a:latin typeface="Nunito" pitchFamily="2" charset="77"/>
              </a:rPr>
              <a:t>Syntax</a:t>
            </a:r>
            <a:endParaRPr lang="en-IN" sz="1100" b="0" i="0" dirty="0">
              <a:solidFill>
                <a:srgbClr val="273239"/>
              </a:solidFill>
              <a:effectLst/>
              <a:latin typeface="Nunito" pitchFamily="2" charset="77"/>
            </a:endParaRPr>
          </a:p>
          <a:p>
            <a:r>
              <a:rPr lang="en-IN" sz="1100" b="1" dirty="0">
                <a:effectLst/>
                <a:highlight>
                  <a:srgbClr val="00FF00"/>
                </a:highlight>
                <a:latin typeface="Nunito" pitchFamily="2" charset="77"/>
              </a:rPr>
              <a:t>free </a:t>
            </a:r>
            <a:r>
              <a:rPr lang="en-IN" sz="1100" dirty="0">
                <a:effectLst/>
                <a:highlight>
                  <a:srgbClr val="00FF00"/>
                </a:highlight>
                <a:latin typeface="Consolas" panose="020B0609020204030204" pitchFamily="49" charset="0"/>
              </a:rPr>
              <a:t>(</a:t>
            </a:r>
            <a:r>
              <a:rPr lang="en-IN" sz="1100" dirty="0" err="1">
                <a:effectLst/>
                <a:highlight>
                  <a:srgbClr val="00FF00"/>
                </a:highlight>
                <a:latin typeface="Consolas" panose="020B0609020204030204" pitchFamily="49" charset="0"/>
              </a:rPr>
              <a:t>ptr</a:t>
            </a:r>
            <a:r>
              <a:rPr lang="en-IN" sz="1100" dirty="0">
                <a:effectLst/>
                <a:highlight>
                  <a:srgbClr val="00FF00"/>
                </a:highlight>
                <a:latin typeface="Consolas" panose="020B0609020204030204" pitchFamily="49" charset="0"/>
              </a:rPr>
              <a:t>);</a:t>
            </a:r>
            <a:endParaRPr lang="en-US" sz="1100" dirty="0">
              <a:highlight>
                <a:srgbClr val="00FF00"/>
              </a:highlight>
            </a:endParaRPr>
          </a:p>
        </p:txBody>
      </p:sp>
    </p:spTree>
    <p:extLst>
      <p:ext uri="{BB962C8B-B14F-4D97-AF65-F5344CB8AC3E}">
        <p14:creationId xmlns:p14="http://schemas.microsoft.com/office/powerpoint/2010/main" val="3940313021"/>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E8BC9F-284F-6D23-6674-CE23A1D5C53B}"/>
              </a:ext>
            </a:extLst>
          </p:cNvPr>
          <p:cNvSpPr>
            <a:spLocks noGrp="1"/>
          </p:cNvSpPr>
          <p:nvPr>
            <p:ph idx="1"/>
          </p:nvPr>
        </p:nvSpPr>
        <p:spPr>
          <a:xfrm>
            <a:off x="838200" y="375781"/>
            <a:ext cx="10515600" cy="5801182"/>
          </a:xfrm>
        </p:spPr>
        <p:txBody>
          <a:bodyPr>
            <a:normAutofit fontScale="47500" lnSpcReduction="20000"/>
          </a:bodyPr>
          <a:lstStyle/>
          <a:p>
            <a:r>
              <a:rPr lang="en-US" dirty="0"/>
              <a:t>// C program to illustrate the dynamic memory allocation</a:t>
            </a:r>
          </a:p>
          <a:p>
            <a:r>
              <a:rPr lang="en-US" dirty="0"/>
              <a:t>#include &lt;</a:t>
            </a:r>
            <a:r>
              <a:rPr lang="en-US" dirty="0" err="1"/>
              <a:t>stdio.h</a:t>
            </a:r>
            <a:r>
              <a:rPr lang="en-US" dirty="0"/>
              <a:t>&gt;</a:t>
            </a:r>
          </a:p>
          <a:p>
            <a:r>
              <a:rPr lang="en-US" dirty="0"/>
              <a:t>#include &lt;</a:t>
            </a:r>
            <a:r>
              <a:rPr lang="en-US" dirty="0" err="1"/>
              <a:t>stdlib.h</a:t>
            </a:r>
            <a:r>
              <a:rPr lang="en-US" dirty="0"/>
              <a:t>&gt;</a:t>
            </a:r>
          </a:p>
          <a:p>
            <a:r>
              <a:rPr lang="en-US" dirty="0"/>
              <a:t>int main(){</a:t>
            </a:r>
          </a:p>
          <a:p>
            <a:r>
              <a:rPr lang="en-US" dirty="0"/>
              <a:t>    // using malloc to allocate the int array of size 10</a:t>
            </a:r>
          </a:p>
          <a:p>
            <a:r>
              <a:rPr lang="en-US" dirty="0"/>
              <a:t>    int* </a:t>
            </a:r>
            <a:r>
              <a:rPr lang="en-US" dirty="0" err="1"/>
              <a:t>ptr</a:t>
            </a:r>
            <a:r>
              <a:rPr lang="en-US" dirty="0"/>
              <a:t> = (int*)malloc(</a:t>
            </a:r>
            <a:r>
              <a:rPr lang="en-US" dirty="0" err="1"/>
              <a:t>sizeof</a:t>
            </a:r>
            <a:r>
              <a:rPr lang="en-US" dirty="0"/>
              <a:t>(int) * 10);</a:t>
            </a:r>
          </a:p>
          <a:p>
            <a:endParaRPr lang="en-US" dirty="0"/>
          </a:p>
          <a:p>
            <a:r>
              <a:rPr lang="en-US" dirty="0"/>
              <a:t>    // allocating same array using </a:t>
            </a:r>
            <a:r>
              <a:rPr lang="en-US" dirty="0" err="1"/>
              <a:t>calloc</a:t>
            </a:r>
            <a:endParaRPr lang="en-US" dirty="0"/>
          </a:p>
          <a:p>
            <a:r>
              <a:rPr lang="en-US" dirty="0"/>
              <a:t>    int* ptr2 = (int*)</a:t>
            </a:r>
            <a:r>
              <a:rPr lang="en-US" dirty="0" err="1"/>
              <a:t>calloc</a:t>
            </a:r>
            <a:r>
              <a:rPr lang="en-US" dirty="0"/>
              <a:t>(10, </a:t>
            </a:r>
            <a:r>
              <a:rPr lang="en-US" dirty="0" err="1"/>
              <a:t>sizeof</a:t>
            </a:r>
            <a:r>
              <a:rPr lang="en-US" dirty="0"/>
              <a:t>(int));</a:t>
            </a:r>
          </a:p>
          <a:p>
            <a:endParaRPr lang="en-US" dirty="0"/>
          </a:p>
          <a:p>
            <a:r>
              <a:rPr lang="en-US" dirty="0"/>
              <a:t>    </a:t>
            </a:r>
            <a:r>
              <a:rPr lang="en-US" dirty="0" err="1"/>
              <a:t>printf</a:t>
            </a:r>
            <a:r>
              <a:rPr lang="en-US" dirty="0"/>
              <a:t>("malloc Array Size: %d\n", 10);</a:t>
            </a:r>
          </a:p>
          <a:p>
            <a:r>
              <a:rPr lang="en-US" dirty="0"/>
              <a:t>    </a:t>
            </a:r>
            <a:r>
              <a:rPr lang="en-US" dirty="0" err="1"/>
              <a:t>printf</a:t>
            </a:r>
            <a:r>
              <a:rPr lang="en-US" dirty="0"/>
              <a:t>("</a:t>
            </a:r>
            <a:r>
              <a:rPr lang="en-US" dirty="0" err="1"/>
              <a:t>calloc</a:t>
            </a:r>
            <a:r>
              <a:rPr lang="en-US" dirty="0"/>
              <a:t> Array Size: %d\n", 10);</a:t>
            </a:r>
          </a:p>
          <a:p>
            <a:endParaRPr lang="en-US" dirty="0"/>
          </a:p>
          <a:p>
            <a:r>
              <a:rPr lang="en-US" dirty="0"/>
              <a:t>    // reallocating the size of first array</a:t>
            </a:r>
          </a:p>
          <a:p>
            <a:r>
              <a:rPr lang="en-US" dirty="0"/>
              <a:t>    </a:t>
            </a:r>
            <a:r>
              <a:rPr lang="en-US" dirty="0" err="1"/>
              <a:t>ptr</a:t>
            </a:r>
            <a:r>
              <a:rPr lang="en-US" dirty="0"/>
              <a:t> = </a:t>
            </a:r>
            <a:r>
              <a:rPr lang="en-US" dirty="0" err="1"/>
              <a:t>realloc</a:t>
            </a:r>
            <a:r>
              <a:rPr lang="en-US" dirty="0"/>
              <a:t>(</a:t>
            </a:r>
            <a:r>
              <a:rPr lang="en-US" dirty="0" err="1"/>
              <a:t>ptr</a:t>
            </a:r>
            <a:r>
              <a:rPr lang="en-US" dirty="0"/>
              <a:t>, </a:t>
            </a:r>
            <a:r>
              <a:rPr lang="en-US" dirty="0" err="1"/>
              <a:t>sizeof</a:t>
            </a:r>
            <a:r>
              <a:rPr lang="en-US" dirty="0"/>
              <a:t>(int) * 5);</a:t>
            </a:r>
          </a:p>
          <a:p>
            <a:r>
              <a:rPr lang="en-US" dirty="0"/>
              <a:t>    </a:t>
            </a:r>
            <a:r>
              <a:rPr lang="en-US" dirty="0" err="1"/>
              <a:t>printf</a:t>
            </a:r>
            <a:r>
              <a:rPr lang="en-US" dirty="0"/>
              <a:t>("malloc Array Size after using </a:t>
            </a:r>
            <a:r>
              <a:rPr lang="en-US" dirty="0" err="1"/>
              <a:t>realloc</a:t>
            </a:r>
            <a:r>
              <a:rPr lang="en-US" dirty="0"/>
              <a:t>: %d", 5);</a:t>
            </a:r>
          </a:p>
          <a:p>
            <a:endParaRPr lang="en-US" dirty="0"/>
          </a:p>
          <a:p>
            <a:r>
              <a:rPr lang="en-US" dirty="0"/>
              <a:t>    // freeing all memory</a:t>
            </a:r>
          </a:p>
          <a:p>
            <a:r>
              <a:rPr lang="en-US" dirty="0"/>
              <a:t>    free(</a:t>
            </a:r>
            <a:r>
              <a:rPr lang="en-US" dirty="0" err="1"/>
              <a:t>ptr</a:t>
            </a:r>
            <a:r>
              <a:rPr lang="en-US" dirty="0"/>
              <a:t>);</a:t>
            </a:r>
          </a:p>
          <a:p>
            <a:r>
              <a:rPr lang="en-US" dirty="0"/>
              <a:t>    return 0;</a:t>
            </a:r>
          </a:p>
          <a:p>
            <a:r>
              <a:rPr lang="en-US" dirty="0"/>
              <a:t>}</a:t>
            </a:r>
          </a:p>
        </p:txBody>
      </p:sp>
    </p:spTree>
    <p:extLst>
      <p:ext uri="{BB962C8B-B14F-4D97-AF65-F5344CB8AC3E}">
        <p14:creationId xmlns:p14="http://schemas.microsoft.com/office/powerpoint/2010/main" val="268268552"/>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B656D-2ADB-3657-EB80-A4A008B6D2F0}"/>
              </a:ext>
            </a:extLst>
          </p:cNvPr>
          <p:cNvSpPr>
            <a:spLocks noGrp="1"/>
          </p:cNvSpPr>
          <p:nvPr>
            <p:ph type="title"/>
          </p:nvPr>
        </p:nvSpPr>
        <p:spPr/>
        <p:txBody>
          <a:bodyPr/>
          <a:lstStyle/>
          <a:p>
            <a:r>
              <a:rPr lang="en-IN" b="1" i="0" dirty="0">
                <a:solidFill>
                  <a:srgbClr val="273239"/>
                </a:solidFill>
                <a:effectLst/>
                <a:latin typeface="Nunito" pitchFamily="2" charset="77"/>
              </a:rPr>
              <a:t>Structures</a:t>
            </a:r>
            <a:endParaRPr lang="en-US" dirty="0"/>
          </a:p>
        </p:txBody>
      </p:sp>
      <p:sp>
        <p:nvSpPr>
          <p:cNvPr id="3" name="Content Placeholder 2">
            <a:extLst>
              <a:ext uri="{FF2B5EF4-FFF2-40B4-BE49-F238E27FC236}">
                <a16:creationId xmlns:a16="http://schemas.microsoft.com/office/drawing/2014/main" id="{BD817840-761B-3B8A-192F-7BFF135B05D4}"/>
              </a:ext>
            </a:extLst>
          </p:cNvPr>
          <p:cNvSpPr>
            <a:spLocks noGrp="1"/>
          </p:cNvSpPr>
          <p:nvPr>
            <p:ph idx="1"/>
          </p:nvPr>
        </p:nvSpPr>
        <p:spPr/>
        <p:txBody>
          <a:bodyPr>
            <a:normAutofit lnSpcReduction="10000"/>
          </a:bodyPr>
          <a:lstStyle/>
          <a:p>
            <a:pPr algn="l" rtl="0" fontAlgn="base"/>
            <a:r>
              <a:rPr lang="en-IN" b="0" i="0" dirty="0">
                <a:solidFill>
                  <a:srgbClr val="273239"/>
                </a:solidFill>
                <a:effectLst/>
                <a:latin typeface="Nunito" pitchFamily="2" charset="77"/>
              </a:rPr>
              <a:t>A structure is a user-defined data type that can contain items of different types as its members. In C, struct keyword is used to declare structures and we can use </a:t>
            </a:r>
            <a:r>
              <a:rPr lang="en-IN" b="1" i="0" dirty="0">
                <a:solidFill>
                  <a:srgbClr val="273239"/>
                </a:solidFill>
                <a:effectLst/>
                <a:latin typeface="Nunito" pitchFamily="2" charset="77"/>
              </a:rPr>
              <a:t>( . ) dot operator</a:t>
            </a:r>
            <a:r>
              <a:rPr lang="en-IN" b="0" i="0" dirty="0">
                <a:solidFill>
                  <a:srgbClr val="273239"/>
                </a:solidFill>
                <a:effectLst/>
                <a:latin typeface="Nunito" pitchFamily="2" charset="77"/>
              </a:rPr>
              <a:t> to access structure members.</a:t>
            </a:r>
          </a:p>
          <a:p>
            <a:pPr algn="l" fontAlgn="base"/>
            <a:r>
              <a:rPr lang="en-IN" b="1" i="0" dirty="0">
                <a:solidFill>
                  <a:srgbClr val="273239"/>
                </a:solidFill>
                <a:effectLst/>
                <a:latin typeface="Nunito" pitchFamily="2" charset="77"/>
              </a:rPr>
              <a:t>Structure Template</a:t>
            </a:r>
          </a:p>
          <a:p>
            <a:pPr algn="l" rtl="0" fontAlgn="base"/>
            <a:r>
              <a:rPr lang="en-IN" b="0" i="0" dirty="0">
                <a:solidFill>
                  <a:srgbClr val="273239"/>
                </a:solidFill>
                <a:effectLst/>
                <a:latin typeface="Nunito" pitchFamily="2" charset="77"/>
              </a:rPr>
              <a:t>To use structure, we first have to define its template.</a:t>
            </a:r>
          </a:p>
          <a:p>
            <a:r>
              <a:rPr lang="en-IN" b="1" dirty="0">
                <a:effectLst/>
                <a:highlight>
                  <a:srgbClr val="00FF00"/>
                </a:highlight>
                <a:latin typeface="Nunito" pitchFamily="2" charset="77"/>
              </a:rPr>
              <a:t>struct</a:t>
            </a:r>
            <a:r>
              <a:rPr lang="en-IN" dirty="0">
                <a:effectLst/>
                <a:highlight>
                  <a:srgbClr val="00FF00"/>
                </a:highlight>
                <a:latin typeface="Consolas" panose="020B0609020204030204" pitchFamily="49" charset="0"/>
              </a:rPr>
              <a:t> </a:t>
            </a:r>
            <a:r>
              <a:rPr lang="en-IN" i="1" dirty="0" err="1">
                <a:effectLst/>
                <a:highlight>
                  <a:srgbClr val="00FF00"/>
                </a:highlight>
                <a:latin typeface="Nunito" pitchFamily="2" charset="77"/>
              </a:rPr>
              <a:t>struct_name</a:t>
            </a:r>
            <a:r>
              <a:rPr lang="en-IN" i="1" dirty="0">
                <a:effectLst/>
                <a:highlight>
                  <a:srgbClr val="00FF00"/>
                </a:highlight>
                <a:latin typeface="Nunito" pitchFamily="2" charset="77"/>
              </a:rPr>
              <a:t> </a:t>
            </a:r>
            <a:r>
              <a:rPr lang="en-IN" dirty="0">
                <a:effectLst/>
                <a:highlight>
                  <a:srgbClr val="00FF00"/>
                </a:highlight>
                <a:latin typeface="Consolas" panose="020B0609020204030204" pitchFamily="49" charset="0"/>
              </a:rPr>
              <a:t>{ </a:t>
            </a:r>
          </a:p>
          <a:p>
            <a:r>
              <a:rPr lang="en-IN" i="1" dirty="0">
                <a:effectLst/>
                <a:highlight>
                  <a:srgbClr val="00FF00"/>
                </a:highlight>
                <a:latin typeface="Nunito" pitchFamily="2" charset="77"/>
              </a:rPr>
              <a:t>member_type1 name1;</a:t>
            </a:r>
            <a:r>
              <a:rPr lang="en-IN" dirty="0">
                <a:effectLst/>
                <a:highlight>
                  <a:srgbClr val="00FF00"/>
                </a:highlight>
                <a:latin typeface="Consolas" panose="020B0609020204030204" pitchFamily="49" charset="0"/>
              </a:rPr>
              <a:t> </a:t>
            </a:r>
          </a:p>
          <a:p>
            <a:r>
              <a:rPr lang="en-IN" i="1" dirty="0">
                <a:effectLst/>
                <a:highlight>
                  <a:srgbClr val="00FF00"/>
                </a:highlight>
                <a:latin typeface="Nunito" pitchFamily="2" charset="77"/>
              </a:rPr>
              <a:t>member_type1 name1;</a:t>
            </a:r>
            <a:r>
              <a:rPr lang="en-IN" dirty="0">
                <a:effectLst/>
                <a:highlight>
                  <a:srgbClr val="00FF00"/>
                </a:highlight>
                <a:latin typeface="Consolas" panose="020B0609020204030204" pitchFamily="49" charset="0"/>
              </a:rPr>
              <a:t> . . </a:t>
            </a:r>
          </a:p>
          <a:p>
            <a:r>
              <a:rPr lang="en-IN" dirty="0">
                <a:effectLst/>
                <a:highlight>
                  <a:srgbClr val="00FF00"/>
                </a:highlight>
                <a:latin typeface="Consolas" panose="020B0609020204030204" pitchFamily="49" charset="0"/>
              </a:rPr>
              <a:t>};</a:t>
            </a:r>
            <a:endParaRPr lang="en-US" dirty="0">
              <a:highlight>
                <a:srgbClr val="00FF00"/>
              </a:highlight>
            </a:endParaRPr>
          </a:p>
        </p:txBody>
      </p:sp>
    </p:spTree>
    <p:extLst>
      <p:ext uri="{BB962C8B-B14F-4D97-AF65-F5344CB8AC3E}">
        <p14:creationId xmlns:p14="http://schemas.microsoft.com/office/powerpoint/2010/main" val="871706339"/>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420D0-B1A4-F568-3F85-7670D75141A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7176E27-629F-6299-1D5C-EB881F0BF3EF}"/>
              </a:ext>
            </a:extLst>
          </p:cNvPr>
          <p:cNvSpPr>
            <a:spLocks noGrp="1"/>
          </p:cNvSpPr>
          <p:nvPr>
            <p:ph idx="1"/>
          </p:nvPr>
        </p:nvSpPr>
        <p:spPr/>
        <p:txBody>
          <a:bodyPr/>
          <a:lstStyle/>
          <a:p>
            <a:pPr algn="l" fontAlgn="base"/>
            <a:r>
              <a:rPr lang="en-IN" b="1" i="0" dirty="0">
                <a:solidFill>
                  <a:srgbClr val="273239"/>
                </a:solidFill>
                <a:effectLst/>
                <a:latin typeface="Nunito" pitchFamily="2" charset="77"/>
              </a:rPr>
              <a:t>Structure Variable Syntax</a:t>
            </a:r>
          </a:p>
          <a:p>
            <a:r>
              <a:rPr lang="en-IN" i="1" dirty="0">
                <a:effectLst/>
                <a:latin typeface="Nunito" pitchFamily="2" charset="77"/>
              </a:rPr>
              <a:t>...{</a:t>
            </a:r>
            <a:r>
              <a:rPr lang="en-IN" dirty="0">
                <a:effectLst/>
                <a:latin typeface="Consolas" panose="020B0609020204030204" pitchFamily="49" charset="0"/>
              </a:rPr>
              <a:t> </a:t>
            </a:r>
            <a:r>
              <a:rPr lang="en-IN" i="1" dirty="0">
                <a:effectLst/>
                <a:latin typeface="Nunito" pitchFamily="2" charset="77"/>
              </a:rPr>
              <a:t>...structure template...</a:t>
            </a:r>
            <a:r>
              <a:rPr lang="en-IN" dirty="0">
                <a:effectLst/>
                <a:latin typeface="Consolas" panose="020B0609020204030204" pitchFamily="49" charset="0"/>
              </a:rPr>
              <a:t> </a:t>
            </a:r>
            <a:r>
              <a:rPr lang="en-IN" i="1" dirty="0">
                <a:effectLst/>
                <a:latin typeface="Nunito" pitchFamily="2" charset="77"/>
              </a:rPr>
              <a:t>}</a:t>
            </a:r>
            <a:r>
              <a:rPr lang="en-IN" dirty="0">
                <a:effectLst/>
                <a:latin typeface="Consolas" panose="020B0609020204030204" pitchFamily="49" charset="0"/>
              </a:rPr>
              <a:t>var1, var2..., </a:t>
            </a:r>
            <a:r>
              <a:rPr lang="en-IN" dirty="0" err="1">
                <a:effectLst/>
                <a:latin typeface="Consolas" panose="020B0609020204030204" pitchFamily="49" charset="0"/>
              </a:rPr>
              <a:t>varN</a:t>
            </a:r>
            <a:r>
              <a:rPr lang="en-IN" dirty="0">
                <a:effectLst/>
                <a:latin typeface="Consolas" panose="020B0609020204030204" pitchFamily="49" charset="0"/>
              </a:rPr>
              <a:t>;</a:t>
            </a:r>
          </a:p>
          <a:p>
            <a:r>
              <a:rPr lang="en-IN" dirty="0">
                <a:latin typeface="Consolas" panose="020B0609020204030204" pitchFamily="49" charset="0"/>
              </a:rPr>
              <a:t>Or</a:t>
            </a:r>
          </a:p>
          <a:p>
            <a:r>
              <a:rPr lang="en-IN" b="1" dirty="0" err="1">
                <a:effectLst/>
                <a:latin typeface="Nunito" pitchFamily="2" charset="77"/>
              </a:rPr>
              <a:t>strcut</a:t>
            </a:r>
            <a:r>
              <a:rPr lang="en-IN" dirty="0">
                <a:effectLst/>
                <a:latin typeface="Consolas" panose="020B0609020204030204" pitchFamily="49" charset="0"/>
              </a:rPr>
              <a:t> </a:t>
            </a:r>
            <a:r>
              <a:rPr lang="en-IN" i="1" dirty="0" err="1">
                <a:effectLst/>
                <a:latin typeface="Nunito" pitchFamily="2" charset="77"/>
              </a:rPr>
              <a:t>str_name</a:t>
            </a:r>
            <a:r>
              <a:rPr lang="en-IN" dirty="0">
                <a:effectLst/>
                <a:latin typeface="Consolas" panose="020B0609020204030204" pitchFamily="49" charset="0"/>
              </a:rPr>
              <a:t> var1, var2,...</a:t>
            </a:r>
            <a:r>
              <a:rPr lang="en-IN" dirty="0" err="1">
                <a:effectLst/>
                <a:latin typeface="Consolas" panose="020B0609020204030204" pitchFamily="49" charset="0"/>
              </a:rPr>
              <a:t>varN</a:t>
            </a:r>
            <a:r>
              <a:rPr lang="en-IN" dirty="0">
                <a:effectLst/>
                <a:latin typeface="Consolas" panose="020B0609020204030204" pitchFamily="49" charset="0"/>
              </a:rPr>
              <a:t>;</a:t>
            </a:r>
            <a:endParaRPr lang="en-US" dirty="0"/>
          </a:p>
        </p:txBody>
      </p:sp>
    </p:spTree>
    <p:extLst>
      <p:ext uri="{BB962C8B-B14F-4D97-AF65-F5344CB8AC3E}">
        <p14:creationId xmlns:p14="http://schemas.microsoft.com/office/powerpoint/2010/main" val="1313885772"/>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15C385-AE7F-264B-C605-F270456CF7AF}"/>
              </a:ext>
            </a:extLst>
          </p:cNvPr>
          <p:cNvSpPr>
            <a:spLocks noGrp="1"/>
          </p:cNvSpPr>
          <p:nvPr>
            <p:ph idx="1"/>
          </p:nvPr>
        </p:nvSpPr>
        <p:spPr>
          <a:xfrm>
            <a:off x="838200" y="275573"/>
            <a:ext cx="5257800" cy="5901390"/>
          </a:xfrm>
        </p:spPr>
        <p:txBody>
          <a:bodyPr>
            <a:normAutofit fontScale="62500" lnSpcReduction="20000"/>
          </a:bodyPr>
          <a:lstStyle/>
          <a:p>
            <a:r>
              <a:rPr lang="en-US" dirty="0"/>
              <a:t>// C program to illustrate the use of structures</a:t>
            </a:r>
          </a:p>
          <a:p>
            <a:r>
              <a:rPr lang="en-US" dirty="0"/>
              <a:t>#include &lt;</a:t>
            </a:r>
            <a:r>
              <a:rPr lang="en-US" dirty="0" err="1"/>
              <a:t>stdio.h</a:t>
            </a:r>
            <a:r>
              <a:rPr lang="en-US" dirty="0"/>
              <a:t>&gt;</a:t>
            </a:r>
          </a:p>
          <a:p>
            <a:endParaRPr lang="en-US" dirty="0"/>
          </a:p>
          <a:p>
            <a:r>
              <a:rPr lang="en-US" dirty="0"/>
              <a:t>// declaring structure with name str1</a:t>
            </a:r>
          </a:p>
          <a:p>
            <a:r>
              <a:rPr lang="en-US" dirty="0"/>
              <a:t>struct str1 {</a:t>
            </a:r>
          </a:p>
          <a:p>
            <a:r>
              <a:rPr lang="en-US" dirty="0"/>
              <a:t>    int </a:t>
            </a:r>
            <a:r>
              <a:rPr lang="en-US" dirty="0" err="1"/>
              <a:t>i</a:t>
            </a:r>
            <a:r>
              <a:rPr lang="en-US" dirty="0"/>
              <a:t>;</a:t>
            </a:r>
          </a:p>
          <a:p>
            <a:r>
              <a:rPr lang="en-US" dirty="0"/>
              <a:t>    char c;</a:t>
            </a:r>
          </a:p>
          <a:p>
            <a:r>
              <a:rPr lang="en-US" dirty="0"/>
              <a:t>    float f;</a:t>
            </a:r>
          </a:p>
          <a:p>
            <a:r>
              <a:rPr lang="en-US" dirty="0"/>
              <a:t>    char s[30];</a:t>
            </a:r>
          </a:p>
          <a:p>
            <a:r>
              <a:rPr lang="en-US" dirty="0"/>
              <a:t>};</a:t>
            </a:r>
          </a:p>
          <a:p>
            <a:endParaRPr lang="en-US" dirty="0"/>
          </a:p>
          <a:p>
            <a:r>
              <a:rPr lang="en-US" dirty="0"/>
              <a:t>// declaring structure with name str2</a:t>
            </a:r>
          </a:p>
          <a:p>
            <a:r>
              <a:rPr lang="en-US" dirty="0"/>
              <a:t>struct str2 {</a:t>
            </a:r>
          </a:p>
          <a:p>
            <a:r>
              <a:rPr lang="en-US" dirty="0"/>
              <a:t>    int ii;</a:t>
            </a:r>
          </a:p>
          <a:p>
            <a:r>
              <a:rPr lang="en-US" dirty="0"/>
              <a:t>    char cc;</a:t>
            </a:r>
          </a:p>
          <a:p>
            <a:r>
              <a:rPr lang="en-US" dirty="0"/>
              <a:t>    float ff;</a:t>
            </a:r>
          </a:p>
          <a:p>
            <a:r>
              <a:rPr lang="en-US" dirty="0"/>
              <a:t>} var;  // variable declaration with structure template</a:t>
            </a:r>
          </a:p>
          <a:p>
            <a:endParaRPr lang="en-US" dirty="0"/>
          </a:p>
        </p:txBody>
      </p:sp>
      <p:sp>
        <p:nvSpPr>
          <p:cNvPr id="4" name="Content Placeholder 2">
            <a:extLst>
              <a:ext uri="{FF2B5EF4-FFF2-40B4-BE49-F238E27FC236}">
                <a16:creationId xmlns:a16="http://schemas.microsoft.com/office/drawing/2014/main" id="{F607D745-7F21-BCDF-E28C-63460FDE72BD}"/>
              </a:ext>
            </a:extLst>
          </p:cNvPr>
          <p:cNvSpPr txBox="1">
            <a:spLocks/>
          </p:cNvSpPr>
          <p:nvPr/>
        </p:nvSpPr>
        <p:spPr>
          <a:xfrm>
            <a:off x="5661764" y="275573"/>
            <a:ext cx="5692036" cy="5901390"/>
          </a:xfrm>
          <a:prstGeom prst="rect">
            <a:avLst/>
          </a:prstGeom>
        </p:spPr>
        <p:txBody>
          <a:bodyPr vert="horz" lIns="91440" tIns="45720" rIns="91440" bIns="45720" rtlCol="0">
            <a:normAutofit fontScale="4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a:p>
            <a:r>
              <a:rPr lang="en-US" dirty="0"/>
              <a:t>    // Driver code</a:t>
            </a:r>
          </a:p>
          <a:p>
            <a:r>
              <a:rPr lang="en-US" dirty="0"/>
              <a:t>int main()</a:t>
            </a:r>
          </a:p>
          <a:p>
            <a:r>
              <a:rPr lang="en-US" dirty="0"/>
              <a:t>{</a:t>
            </a:r>
          </a:p>
          <a:p>
            <a:r>
              <a:rPr lang="en-US" dirty="0"/>
              <a:t>    // variable declaration after structure template</a:t>
            </a:r>
          </a:p>
          <a:p>
            <a:r>
              <a:rPr lang="en-US" dirty="0"/>
              <a:t>    // initialization with initializer list and designated</a:t>
            </a:r>
          </a:p>
          <a:p>
            <a:r>
              <a:rPr lang="en-US" dirty="0"/>
              <a:t>    // initializer list</a:t>
            </a:r>
          </a:p>
          <a:p>
            <a:r>
              <a:rPr lang="en-US" dirty="0"/>
              <a:t>    struct str1 var1 = { 1, 'A', 1.00, "</a:t>
            </a:r>
            <a:r>
              <a:rPr lang="en-US" dirty="0" err="1"/>
              <a:t>GeeksforGeeks</a:t>
            </a:r>
            <a:r>
              <a:rPr lang="en-US" dirty="0"/>
              <a:t>" },</a:t>
            </a:r>
          </a:p>
          <a:p>
            <a:r>
              <a:rPr lang="en-US" dirty="0"/>
              <a:t>                var2;</a:t>
            </a:r>
          </a:p>
          <a:p>
            <a:r>
              <a:rPr lang="en-US" dirty="0"/>
              <a:t>    struct str2 var3 = { .ff = 5.00, .ii = 5, .cc = 'a' };</a:t>
            </a:r>
          </a:p>
          <a:p>
            <a:r>
              <a:rPr lang="en-US" dirty="0"/>
              <a:t>// copying structure using assignment operator</a:t>
            </a:r>
          </a:p>
          <a:p>
            <a:r>
              <a:rPr lang="en-US" dirty="0"/>
              <a:t>    var2 = var1;</a:t>
            </a:r>
          </a:p>
          <a:p>
            <a:endParaRPr lang="en-US" dirty="0"/>
          </a:p>
          <a:p>
            <a:r>
              <a:rPr lang="en-US" dirty="0"/>
              <a:t>    </a:t>
            </a:r>
            <a:r>
              <a:rPr lang="en-US" dirty="0" err="1"/>
              <a:t>printf</a:t>
            </a:r>
            <a:r>
              <a:rPr lang="en-US" dirty="0"/>
              <a:t>("Struct 1:\n\</a:t>
            </a:r>
            <a:r>
              <a:rPr lang="en-US" dirty="0" err="1"/>
              <a:t>ti</a:t>
            </a:r>
            <a:r>
              <a:rPr lang="en-US" dirty="0"/>
              <a:t> = %d, c = %c, f = %f, s = %s\n",</a:t>
            </a:r>
          </a:p>
          <a:p>
            <a:r>
              <a:rPr lang="en-US" dirty="0"/>
              <a:t>           var1.i, var1.c, var1.f, var1.s);</a:t>
            </a:r>
          </a:p>
          <a:p>
            <a:r>
              <a:rPr lang="en-US" dirty="0"/>
              <a:t>    </a:t>
            </a:r>
            <a:r>
              <a:rPr lang="en-US" dirty="0" err="1"/>
              <a:t>printf</a:t>
            </a:r>
            <a:r>
              <a:rPr lang="en-US" dirty="0"/>
              <a:t>("Struct 2:\n\</a:t>
            </a:r>
            <a:r>
              <a:rPr lang="en-US" dirty="0" err="1"/>
              <a:t>ti</a:t>
            </a:r>
            <a:r>
              <a:rPr lang="en-US" dirty="0"/>
              <a:t> = %d, c = %c, f = %f, s = %s\n",</a:t>
            </a:r>
          </a:p>
          <a:p>
            <a:r>
              <a:rPr lang="en-US" dirty="0"/>
              <a:t>           var2.i, var2.c, var2.f, var2.s);</a:t>
            </a:r>
          </a:p>
          <a:p>
            <a:r>
              <a:rPr lang="en-US" dirty="0"/>
              <a:t>    </a:t>
            </a:r>
            <a:r>
              <a:rPr lang="en-US" dirty="0" err="1"/>
              <a:t>printf</a:t>
            </a:r>
            <a:r>
              <a:rPr lang="en-US" dirty="0"/>
              <a:t>("Struct 3\n\</a:t>
            </a:r>
            <a:r>
              <a:rPr lang="en-US" dirty="0" err="1"/>
              <a:t>ti</a:t>
            </a:r>
            <a:r>
              <a:rPr lang="en-US" dirty="0"/>
              <a:t> = %d, c = %c, f = %f\n", var3.ii,</a:t>
            </a:r>
          </a:p>
          <a:p>
            <a:r>
              <a:rPr lang="en-US" dirty="0"/>
              <a:t>           var3.cc, var3.ff);</a:t>
            </a:r>
          </a:p>
          <a:p>
            <a:endParaRPr lang="en-US" dirty="0"/>
          </a:p>
          <a:p>
            <a:r>
              <a:rPr lang="en-US" dirty="0"/>
              <a:t>    return 0;</a:t>
            </a:r>
          </a:p>
          <a:p>
            <a:r>
              <a:rPr lang="en-US" dirty="0"/>
              <a:t>}</a:t>
            </a:r>
          </a:p>
        </p:txBody>
      </p:sp>
    </p:spTree>
    <p:extLst>
      <p:ext uri="{BB962C8B-B14F-4D97-AF65-F5344CB8AC3E}">
        <p14:creationId xmlns:p14="http://schemas.microsoft.com/office/powerpoint/2010/main" val="2652476317"/>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CEBBD-4001-B3CF-9ACE-206D1D1243CA}"/>
              </a:ext>
            </a:extLst>
          </p:cNvPr>
          <p:cNvSpPr>
            <a:spLocks noGrp="1"/>
          </p:cNvSpPr>
          <p:nvPr>
            <p:ph type="title"/>
          </p:nvPr>
        </p:nvSpPr>
        <p:spPr/>
        <p:txBody>
          <a:bodyPr/>
          <a:lstStyle/>
          <a:p>
            <a:r>
              <a:rPr lang="en-IN" b="1" i="0" dirty="0">
                <a:solidFill>
                  <a:srgbClr val="273239"/>
                </a:solidFill>
                <a:effectLst/>
                <a:latin typeface="Nunito" pitchFamily="2" charset="77"/>
              </a:rPr>
              <a:t>Union</a:t>
            </a:r>
            <a:endParaRPr lang="en-US" dirty="0"/>
          </a:p>
        </p:txBody>
      </p:sp>
      <p:sp>
        <p:nvSpPr>
          <p:cNvPr id="3" name="Content Placeholder 2">
            <a:extLst>
              <a:ext uri="{FF2B5EF4-FFF2-40B4-BE49-F238E27FC236}">
                <a16:creationId xmlns:a16="http://schemas.microsoft.com/office/drawing/2014/main" id="{769A9E27-F651-E24E-6B36-4F2B64294424}"/>
              </a:ext>
            </a:extLst>
          </p:cNvPr>
          <p:cNvSpPr>
            <a:spLocks noGrp="1"/>
          </p:cNvSpPr>
          <p:nvPr>
            <p:ph idx="1"/>
          </p:nvPr>
        </p:nvSpPr>
        <p:spPr/>
        <p:txBody>
          <a:bodyPr>
            <a:normAutofit fontScale="92500"/>
          </a:bodyPr>
          <a:lstStyle/>
          <a:p>
            <a:pPr algn="l" rtl="0" fontAlgn="base"/>
            <a:r>
              <a:rPr lang="en-IN" b="0" i="0" dirty="0">
                <a:solidFill>
                  <a:srgbClr val="273239"/>
                </a:solidFill>
                <a:effectLst/>
                <a:latin typeface="Nunito" pitchFamily="2" charset="77"/>
              </a:rPr>
              <a:t>A union is also a user-defined data type that can contain elements of different types. However, unlike structure, a union stores its members in a shared memory location rather than having separate memory for each member.</a:t>
            </a:r>
          </a:p>
          <a:p>
            <a:pPr algn="l" fontAlgn="base"/>
            <a:r>
              <a:rPr lang="en-IN" b="1" i="0" dirty="0">
                <a:solidFill>
                  <a:srgbClr val="273239"/>
                </a:solidFill>
                <a:effectLst/>
                <a:latin typeface="Nunito" pitchFamily="2" charset="77"/>
              </a:rPr>
              <a:t>Syntax of Union</a:t>
            </a:r>
          </a:p>
          <a:p>
            <a:pPr algn="l" rtl="0" fontAlgn="base"/>
            <a:r>
              <a:rPr lang="en-IN" b="1" dirty="0">
                <a:effectLst/>
                <a:highlight>
                  <a:srgbClr val="00FF00"/>
                </a:highlight>
                <a:latin typeface="Nunito" pitchFamily="2" charset="77"/>
              </a:rPr>
              <a:t>union </a:t>
            </a:r>
            <a:r>
              <a:rPr lang="en-IN" dirty="0" err="1">
                <a:effectLst/>
                <a:highlight>
                  <a:srgbClr val="00FF00"/>
                </a:highlight>
                <a:latin typeface="Consolas" panose="020B0609020204030204" pitchFamily="49" charset="0"/>
              </a:rPr>
              <a:t>union_name</a:t>
            </a:r>
            <a:r>
              <a:rPr lang="en-IN" i="1" dirty="0">
                <a:effectLst/>
                <a:highlight>
                  <a:srgbClr val="00FF00"/>
                </a:highlight>
                <a:latin typeface="Nunito" pitchFamily="2" charset="77"/>
              </a:rPr>
              <a:t> </a:t>
            </a:r>
          </a:p>
          <a:p>
            <a:pPr algn="l" rtl="0" fontAlgn="base"/>
            <a:r>
              <a:rPr lang="en-IN" dirty="0">
                <a:effectLst/>
                <a:highlight>
                  <a:srgbClr val="00FF00"/>
                </a:highlight>
                <a:latin typeface="Consolas" panose="020B0609020204030204" pitchFamily="49" charset="0"/>
              </a:rPr>
              <a:t>{ </a:t>
            </a:r>
            <a:r>
              <a:rPr lang="en-IN" i="1" dirty="0">
                <a:effectLst/>
                <a:highlight>
                  <a:srgbClr val="00FF00"/>
                </a:highlight>
                <a:latin typeface="Nunito" pitchFamily="2" charset="77"/>
              </a:rPr>
              <a:t>// members</a:t>
            </a:r>
            <a:r>
              <a:rPr lang="en-IN" dirty="0">
                <a:effectLst/>
                <a:highlight>
                  <a:srgbClr val="00FF00"/>
                </a:highlight>
                <a:latin typeface="Consolas" panose="020B0609020204030204" pitchFamily="49" charset="0"/>
              </a:rPr>
              <a:t> . . }</a:t>
            </a:r>
          </a:p>
          <a:p>
            <a:pPr algn="l" rtl="0" fontAlgn="base"/>
            <a:endParaRPr lang="en-IN" b="0" i="0" dirty="0">
              <a:solidFill>
                <a:srgbClr val="273239"/>
              </a:solidFill>
              <a:effectLst/>
              <a:latin typeface="Nunito" pitchFamily="2" charset="77"/>
            </a:endParaRPr>
          </a:p>
          <a:p>
            <a:pPr algn="l" rtl="0" fontAlgn="base"/>
            <a:r>
              <a:rPr lang="en-IN" b="0" i="0" dirty="0">
                <a:solidFill>
                  <a:srgbClr val="273239"/>
                </a:solidFill>
                <a:effectLst/>
                <a:latin typeface="Nunito" pitchFamily="2" charset="77"/>
              </a:rPr>
              <a:t>Union members can be accessed using </a:t>
            </a:r>
            <a:r>
              <a:rPr lang="en-IN" b="1" i="0" dirty="0">
                <a:solidFill>
                  <a:srgbClr val="273239"/>
                </a:solidFill>
                <a:effectLst/>
                <a:latin typeface="Nunito" pitchFamily="2" charset="77"/>
              </a:rPr>
              <a:t>dot operator ( . )</a:t>
            </a:r>
            <a:r>
              <a:rPr lang="en-IN" b="0" i="0" dirty="0">
                <a:solidFill>
                  <a:srgbClr val="273239"/>
                </a:solidFill>
                <a:effectLst/>
                <a:latin typeface="Nunito" pitchFamily="2" charset="77"/>
              </a:rPr>
              <a:t> but only one member can store the data at a particular instance in time.</a:t>
            </a:r>
          </a:p>
          <a:p>
            <a:endParaRPr lang="en-US" dirty="0"/>
          </a:p>
        </p:txBody>
      </p:sp>
    </p:spTree>
    <p:extLst>
      <p:ext uri="{BB962C8B-B14F-4D97-AF65-F5344CB8AC3E}">
        <p14:creationId xmlns:p14="http://schemas.microsoft.com/office/powerpoint/2010/main" val="88288579"/>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9958FC-64F0-4F52-E5C5-E6AF8A8956F6}"/>
              </a:ext>
            </a:extLst>
          </p:cNvPr>
          <p:cNvSpPr>
            <a:spLocks noGrp="1"/>
          </p:cNvSpPr>
          <p:nvPr>
            <p:ph idx="1"/>
          </p:nvPr>
        </p:nvSpPr>
        <p:spPr>
          <a:xfrm>
            <a:off x="838200" y="275573"/>
            <a:ext cx="10515600" cy="5901390"/>
          </a:xfrm>
        </p:spPr>
        <p:txBody>
          <a:bodyPr>
            <a:normAutofit fontScale="92500" lnSpcReduction="10000"/>
          </a:bodyPr>
          <a:lstStyle/>
          <a:p>
            <a:r>
              <a:rPr lang="en-US" sz="1000" dirty="0"/>
              <a:t>// C Program to demonstrate how to use union</a:t>
            </a:r>
          </a:p>
          <a:p>
            <a:r>
              <a:rPr lang="en-US" sz="1000" dirty="0"/>
              <a:t>#include &lt;</a:t>
            </a:r>
            <a:r>
              <a:rPr lang="en-US" sz="1000" dirty="0" err="1"/>
              <a:t>stdio.h</a:t>
            </a:r>
            <a:r>
              <a:rPr lang="en-US" sz="1000" dirty="0"/>
              <a:t>&gt;</a:t>
            </a:r>
          </a:p>
          <a:p>
            <a:r>
              <a:rPr lang="en-US" sz="1000" dirty="0"/>
              <a:t>// union template or declaration</a:t>
            </a:r>
          </a:p>
          <a:p>
            <a:r>
              <a:rPr lang="en-US" sz="1000" dirty="0"/>
              <a:t>union un {</a:t>
            </a:r>
          </a:p>
          <a:p>
            <a:r>
              <a:rPr lang="en-US" sz="1000" dirty="0"/>
              <a:t>    int member1;</a:t>
            </a:r>
          </a:p>
          <a:p>
            <a:r>
              <a:rPr lang="en-US" sz="1000" dirty="0"/>
              <a:t>    char member2;</a:t>
            </a:r>
          </a:p>
          <a:p>
            <a:r>
              <a:rPr lang="en-US" sz="1000" dirty="0"/>
              <a:t>    float member3;</a:t>
            </a:r>
          </a:p>
          <a:p>
            <a:r>
              <a:rPr lang="en-US" sz="1000" dirty="0"/>
              <a:t>};</a:t>
            </a:r>
          </a:p>
          <a:p>
            <a:endParaRPr lang="en-US" sz="1000" dirty="0"/>
          </a:p>
          <a:p>
            <a:r>
              <a:rPr lang="en-US" sz="1000" dirty="0"/>
              <a:t>// driver code</a:t>
            </a:r>
          </a:p>
          <a:p>
            <a:r>
              <a:rPr lang="en-US" sz="1000" dirty="0"/>
              <a:t>int main()</a:t>
            </a:r>
          </a:p>
          <a:p>
            <a:r>
              <a:rPr lang="en-US" sz="1000" dirty="0"/>
              <a:t>{</a:t>
            </a:r>
          </a:p>
          <a:p>
            <a:endParaRPr lang="en-US" sz="1000" dirty="0"/>
          </a:p>
          <a:p>
            <a:r>
              <a:rPr lang="en-US" sz="1000" dirty="0"/>
              <a:t>    // defining a union variable</a:t>
            </a:r>
          </a:p>
          <a:p>
            <a:r>
              <a:rPr lang="en-US" sz="1000" dirty="0"/>
              <a:t>    union un var1;</a:t>
            </a:r>
          </a:p>
          <a:p>
            <a:endParaRPr lang="en-US" sz="1000" dirty="0"/>
          </a:p>
          <a:p>
            <a:r>
              <a:rPr lang="en-US" sz="1000" dirty="0"/>
              <a:t>    // initializing the union member</a:t>
            </a:r>
          </a:p>
          <a:p>
            <a:r>
              <a:rPr lang="en-US" sz="1000" dirty="0"/>
              <a:t>    var1.member1 = 15;</a:t>
            </a:r>
          </a:p>
          <a:p>
            <a:endParaRPr lang="en-US" sz="1000" dirty="0"/>
          </a:p>
          <a:p>
            <a:r>
              <a:rPr lang="en-US" sz="1000" dirty="0"/>
              <a:t>    </a:t>
            </a:r>
            <a:r>
              <a:rPr lang="en-US" sz="1000" dirty="0" err="1"/>
              <a:t>printf</a:t>
            </a:r>
            <a:r>
              <a:rPr lang="en-US" sz="1000" dirty="0"/>
              <a:t>("The value stored in member1 = %d",</a:t>
            </a:r>
          </a:p>
          <a:p>
            <a:r>
              <a:rPr lang="en-US" sz="1000" dirty="0"/>
              <a:t>           var1.member1);</a:t>
            </a:r>
          </a:p>
          <a:p>
            <a:endParaRPr lang="en-US" sz="1000" dirty="0"/>
          </a:p>
          <a:p>
            <a:r>
              <a:rPr lang="en-US" sz="1000" dirty="0"/>
              <a:t>    return 0;</a:t>
            </a:r>
          </a:p>
          <a:p>
            <a:r>
              <a:rPr lang="en-US" sz="1000" dirty="0"/>
              <a:t>}</a:t>
            </a:r>
          </a:p>
        </p:txBody>
      </p:sp>
    </p:spTree>
    <p:extLst>
      <p:ext uri="{BB962C8B-B14F-4D97-AF65-F5344CB8AC3E}">
        <p14:creationId xmlns:p14="http://schemas.microsoft.com/office/powerpoint/2010/main" val="2691812903"/>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05B62-14EA-12A6-BF7E-8201563EF9E0}"/>
              </a:ext>
            </a:extLst>
          </p:cNvPr>
          <p:cNvSpPr>
            <a:spLocks noGrp="1"/>
          </p:cNvSpPr>
          <p:nvPr>
            <p:ph type="title"/>
          </p:nvPr>
        </p:nvSpPr>
        <p:spPr/>
        <p:txBody>
          <a:bodyPr/>
          <a:lstStyle/>
          <a:p>
            <a:r>
              <a:rPr lang="en-IN" b="1" i="0" dirty="0">
                <a:solidFill>
                  <a:srgbClr val="273239"/>
                </a:solidFill>
                <a:effectLst/>
                <a:latin typeface="Nunito" pitchFamily="2" charset="77"/>
              </a:rPr>
              <a:t>Enumeration (</a:t>
            </a:r>
            <a:r>
              <a:rPr lang="en-IN" b="1" i="0" dirty="0" err="1">
                <a:solidFill>
                  <a:srgbClr val="273239"/>
                </a:solidFill>
                <a:effectLst/>
                <a:latin typeface="Nunito" pitchFamily="2" charset="77"/>
              </a:rPr>
              <a:t>enum</a:t>
            </a:r>
            <a:r>
              <a:rPr lang="en-IN" b="1" i="0" dirty="0">
                <a:solidFill>
                  <a:srgbClr val="273239"/>
                </a:solidFill>
                <a:effectLst/>
                <a:latin typeface="Nunito" pitchFamily="2" charset="77"/>
              </a:rPr>
              <a:t>)</a:t>
            </a:r>
            <a:endParaRPr lang="en-US" dirty="0"/>
          </a:p>
        </p:txBody>
      </p:sp>
      <p:sp>
        <p:nvSpPr>
          <p:cNvPr id="3" name="Content Placeholder 2">
            <a:extLst>
              <a:ext uri="{FF2B5EF4-FFF2-40B4-BE49-F238E27FC236}">
                <a16:creationId xmlns:a16="http://schemas.microsoft.com/office/drawing/2014/main" id="{1CA83204-4123-8E64-FAFD-30A2A9524F88}"/>
              </a:ext>
            </a:extLst>
          </p:cNvPr>
          <p:cNvSpPr>
            <a:spLocks noGrp="1"/>
          </p:cNvSpPr>
          <p:nvPr>
            <p:ph idx="1"/>
          </p:nvPr>
        </p:nvSpPr>
        <p:spPr/>
        <p:txBody>
          <a:bodyPr/>
          <a:lstStyle/>
          <a:p>
            <a:pPr algn="l" rtl="0" fontAlgn="base"/>
            <a:r>
              <a:rPr lang="en-IN" b="0" i="0" dirty="0">
                <a:solidFill>
                  <a:srgbClr val="273239"/>
                </a:solidFill>
                <a:effectLst/>
                <a:latin typeface="Nunito" pitchFamily="2" charset="77"/>
              </a:rPr>
              <a:t>Enumeration, also known as </a:t>
            </a:r>
            <a:r>
              <a:rPr lang="en-IN" b="0" i="0" dirty="0" err="1">
                <a:solidFill>
                  <a:srgbClr val="273239"/>
                </a:solidFill>
                <a:effectLst/>
                <a:latin typeface="Nunito" pitchFamily="2" charset="77"/>
              </a:rPr>
              <a:t>enum</a:t>
            </a:r>
            <a:r>
              <a:rPr lang="en-IN" b="0" i="0" dirty="0">
                <a:solidFill>
                  <a:srgbClr val="273239"/>
                </a:solidFill>
                <a:effectLst/>
                <a:latin typeface="Nunito" pitchFamily="2" charset="77"/>
              </a:rPr>
              <a:t> is a user-defined data type that is used to assign some name to the integral constant. By default, the </a:t>
            </a:r>
            <a:r>
              <a:rPr lang="en-IN" b="0" i="0" dirty="0" err="1">
                <a:solidFill>
                  <a:srgbClr val="273239"/>
                </a:solidFill>
                <a:effectLst/>
                <a:latin typeface="Nunito" pitchFamily="2" charset="77"/>
              </a:rPr>
              <a:t>enum</a:t>
            </a:r>
            <a:r>
              <a:rPr lang="en-IN" b="0" i="0" dirty="0">
                <a:solidFill>
                  <a:srgbClr val="273239"/>
                </a:solidFill>
                <a:effectLst/>
                <a:latin typeface="Nunito" pitchFamily="2" charset="77"/>
              </a:rPr>
              <a:t> members are assigned values starting from 0 but we can also assign values manually.</a:t>
            </a:r>
          </a:p>
          <a:p>
            <a:pPr algn="l" fontAlgn="base"/>
            <a:r>
              <a:rPr lang="en-IN" b="1" i="0" dirty="0">
                <a:solidFill>
                  <a:srgbClr val="273239"/>
                </a:solidFill>
                <a:effectLst/>
                <a:latin typeface="Nunito" pitchFamily="2" charset="77"/>
              </a:rPr>
              <a:t>Syntax of </a:t>
            </a:r>
            <a:r>
              <a:rPr lang="en-IN" b="1" i="0" dirty="0" err="1">
                <a:solidFill>
                  <a:srgbClr val="273239"/>
                </a:solidFill>
                <a:effectLst/>
                <a:latin typeface="Nunito" pitchFamily="2" charset="77"/>
              </a:rPr>
              <a:t>enum</a:t>
            </a:r>
            <a:endParaRPr lang="en-IN" b="1" i="0" dirty="0">
              <a:solidFill>
                <a:srgbClr val="273239"/>
              </a:solidFill>
              <a:effectLst/>
              <a:latin typeface="Nunito" pitchFamily="2" charset="77"/>
            </a:endParaRPr>
          </a:p>
          <a:p>
            <a:r>
              <a:rPr lang="en-IN" b="1" dirty="0" err="1">
                <a:effectLst/>
                <a:highlight>
                  <a:srgbClr val="00FF00"/>
                </a:highlight>
                <a:latin typeface="Nunito" pitchFamily="2" charset="77"/>
              </a:rPr>
              <a:t>enum</a:t>
            </a:r>
            <a:r>
              <a:rPr lang="en-IN" b="1" dirty="0">
                <a:effectLst/>
                <a:highlight>
                  <a:srgbClr val="00FF00"/>
                </a:highlight>
                <a:latin typeface="Nunito" pitchFamily="2" charset="77"/>
              </a:rPr>
              <a:t> </a:t>
            </a:r>
            <a:r>
              <a:rPr lang="en-IN" dirty="0">
                <a:effectLst/>
                <a:highlight>
                  <a:srgbClr val="00FF00"/>
                </a:highlight>
                <a:latin typeface="Consolas" panose="020B0609020204030204" pitchFamily="49" charset="0"/>
              </a:rPr>
              <a:t>{ name1, name2, name3 = </a:t>
            </a:r>
            <a:r>
              <a:rPr lang="en-IN" i="1" dirty="0">
                <a:effectLst/>
                <a:highlight>
                  <a:srgbClr val="00FF00"/>
                </a:highlight>
                <a:latin typeface="Nunito" pitchFamily="2" charset="77"/>
              </a:rPr>
              <a:t>value</a:t>
            </a:r>
            <a:r>
              <a:rPr lang="en-IN" dirty="0">
                <a:effectLst/>
                <a:highlight>
                  <a:srgbClr val="00FF00"/>
                </a:highlight>
                <a:latin typeface="Consolas" panose="020B0609020204030204" pitchFamily="49" charset="0"/>
              </a:rPr>
              <a:t> };</a:t>
            </a:r>
            <a:endParaRPr lang="en-US" dirty="0">
              <a:highlight>
                <a:srgbClr val="00FF00"/>
              </a:highlight>
            </a:endParaRPr>
          </a:p>
        </p:txBody>
      </p:sp>
    </p:spTree>
    <p:extLst>
      <p:ext uri="{BB962C8B-B14F-4D97-AF65-F5344CB8AC3E}">
        <p14:creationId xmlns:p14="http://schemas.microsoft.com/office/powerpoint/2010/main" val="2959606824"/>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79306-3E04-CB30-A9AC-74DF5EA61FB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DAD28F6-41E1-0110-2D62-08CBB7A837C7}"/>
              </a:ext>
            </a:extLst>
          </p:cNvPr>
          <p:cNvSpPr>
            <a:spLocks noGrp="1"/>
          </p:cNvSpPr>
          <p:nvPr>
            <p:ph idx="1"/>
          </p:nvPr>
        </p:nvSpPr>
        <p:spPr/>
        <p:txBody>
          <a:bodyPr>
            <a:normAutofit fontScale="62500" lnSpcReduction="20000"/>
          </a:bodyPr>
          <a:lstStyle/>
          <a:p>
            <a:r>
              <a:rPr lang="en-US" dirty="0"/>
              <a:t>// An example program to demonstrate working</a:t>
            </a:r>
          </a:p>
          <a:p>
            <a:r>
              <a:rPr lang="en-US" dirty="0"/>
              <a:t>// of </a:t>
            </a:r>
            <a:r>
              <a:rPr lang="en-US" dirty="0" err="1"/>
              <a:t>enum</a:t>
            </a:r>
            <a:r>
              <a:rPr lang="en-US" dirty="0"/>
              <a:t> in C</a:t>
            </a:r>
          </a:p>
          <a:p>
            <a:r>
              <a:rPr lang="en-US" dirty="0"/>
              <a:t>#include &lt;</a:t>
            </a:r>
            <a:r>
              <a:rPr lang="en-US" dirty="0" err="1"/>
              <a:t>stdio.h</a:t>
            </a:r>
            <a:r>
              <a:rPr lang="en-US" dirty="0"/>
              <a:t>&gt;</a:t>
            </a:r>
          </a:p>
          <a:p>
            <a:endParaRPr lang="en-US" dirty="0"/>
          </a:p>
          <a:p>
            <a:r>
              <a:rPr lang="en-US" dirty="0" err="1"/>
              <a:t>enum</a:t>
            </a:r>
            <a:r>
              <a:rPr lang="en-US" dirty="0"/>
              <a:t> week { Mon, Tue, Wed, </a:t>
            </a:r>
            <a:r>
              <a:rPr lang="en-US" dirty="0" err="1"/>
              <a:t>Thur</a:t>
            </a:r>
            <a:r>
              <a:rPr lang="en-US" dirty="0"/>
              <a:t>, Fri, Sat, Sun };</a:t>
            </a:r>
          </a:p>
          <a:p>
            <a:endParaRPr lang="en-US" dirty="0"/>
          </a:p>
          <a:p>
            <a:r>
              <a:rPr lang="en-US" dirty="0"/>
              <a:t>int main()</a:t>
            </a:r>
          </a:p>
          <a:p>
            <a:r>
              <a:rPr lang="en-US" dirty="0"/>
              <a:t>{</a:t>
            </a:r>
          </a:p>
          <a:p>
            <a:r>
              <a:rPr lang="en-US" dirty="0"/>
              <a:t>    </a:t>
            </a:r>
            <a:r>
              <a:rPr lang="en-US" dirty="0" err="1"/>
              <a:t>enum</a:t>
            </a:r>
            <a:r>
              <a:rPr lang="en-US" dirty="0"/>
              <a:t> week day;</a:t>
            </a:r>
          </a:p>
          <a:p>
            <a:r>
              <a:rPr lang="en-US" dirty="0"/>
              <a:t>    day = Wed;</a:t>
            </a:r>
          </a:p>
          <a:p>
            <a:r>
              <a:rPr lang="en-US" dirty="0"/>
              <a:t>    </a:t>
            </a:r>
            <a:r>
              <a:rPr lang="en-US" dirty="0" err="1"/>
              <a:t>printf</a:t>
            </a:r>
            <a:r>
              <a:rPr lang="en-US" dirty="0"/>
              <a:t>("%d", day);</a:t>
            </a:r>
          </a:p>
          <a:p>
            <a:r>
              <a:rPr lang="en-US" dirty="0"/>
              <a:t>    return 0;</a:t>
            </a:r>
          </a:p>
          <a:p>
            <a:r>
              <a:rPr lang="en-US" dirty="0"/>
              <a:t>}</a:t>
            </a:r>
          </a:p>
        </p:txBody>
      </p:sp>
    </p:spTree>
    <p:extLst>
      <p:ext uri="{BB962C8B-B14F-4D97-AF65-F5344CB8AC3E}">
        <p14:creationId xmlns:p14="http://schemas.microsoft.com/office/powerpoint/2010/main" val="1771977276"/>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FDC9F-98A4-4B22-2900-4FBCE35ACAC9}"/>
              </a:ext>
            </a:extLst>
          </p:cNvPr>
          <p:cNvSpPr>
            <a:spLocks noGrp="1"/>
          </p:cNvSpPr>
          <p:nvPr>
            <p:ph type="title"/>
          </p:nvPr>
        </p:nvSpPr>
        <p:spPr/>
        <p:txBody>
          <a:bodyPr/>
          <a:lstStyle/>
          <a:p>
            <a:r>
              <a:rPr kumimoji="0" lang="en-US" altLang="en-US" sz="4400" b="1" i="0" u="none" strike="noStrike" cap="none" normalizeH="0" baseline="0" dirty="0">
                <a:ln>
                  <a:noFill/>
                </a:ln>
                <a:solidFill>
                  <a:srgbClr val="273239"/>
                </a:solidFill>
                <a:effectLst/>
                <a:latin typeface="Nunito" pitchFamily="2" charset="77"/>
              </a:rPr>
              <a:t>C Math Functions</a:t>
            </a:r>
            <a:endParaRPr lang="en-US" dirty="0"/>
          </a:p>
        </p:txBody>
      </p:sp>
      <p:graphicFrame>
        <p:nvGraphicFramePr>
          <p:cNvPr id="4" name="Content Placeholder 3">
            <a:extLst>
              <a:ext uri="{FF2B5EF4-FFF2-40B4-BE49-F238E27FC236}">
                <a16:creationId xmlns:a16="http://schemas.microsoft.com/office/drawing/2014/main" id="{FFBE9C28-9B19-79AB-E957-1351146BB37E}"/>
              </a:ext>
            </a:extLst>
          </p:cNvPr>
          <p:cNvGraphicFramePr>
            <a:graphicFrameLocks noGrp="1"/>
          </p:cNvGraphicFramePr>
          <p:nvPr>
            <p:ph idx="1"/>
          </p:nvPr>
        </p:nvGraphicFramePr>
        <p:xfrm>
          <a:off x="2596672" y="1825627"/>
          <a:ext cx="6998655" cy="4351334"/>
        </p:xfrm>
        <a:graphic>
          <a:graphicData uri="http://schemas.openxmlformats.org/drawingml/2006/table">
            <a:tbl>
              <a:tblPr/>
              <a:tblGrid>
                <a:gridCol w="1333077">
                  <a:extLst>
                    <a:ext uri="{9D8B030D-6E8A-4147-A177-3AD203B41FA5}">
                      <a16:colId xmlns:a16="http://schemas.microsoft.com/office/drawing/2014/main" val="81969516"/>
                    </a:ext>
                  </a:extLst>
                </a:gridCol>
                <a:gridCol w="2832789">
                  <a:extLst>
                    <a:ext uri="{9D8B030D-6E8A-4147-A177-3AD203B41FA5}">
                      <a16:colId xmlns:a16="http://schemas.microsoft.com/office/drawing/2014/main" val="3590016697"/>
                    </a:ext>
                  </a:extLst>
                </a:gridCol>
                <a:gridCol w="2832789">
                  <a:extLst>
                    <a:ext uri="{9D8B030D-6E8A-4147-A177-3AD203B41FA5}">
                      <a16:colId xmlns:a16="http://schemas.microsoft.com/office/drawing/2014/main" val="3668580146"/>
                    </a:ext>
                  </a:extLst>
                </a:gridCol>
              </a:tblGrid>
              <a:tr h="268789">
                <a:tc>
                  <a:txBody>
                    <a:bodyPr/>
                    <a:lstStyle/>
                    <a:p>
                      <a:pPr algn="ctr" fontAlgn="base"/>
                      <a:r>
                        <a:rPr lang="en-IN" sz="900" b="1">
                          <a:effectLst/>
                          <a:latin typeface="Nunito" pitchFamily="2" charset="77"/>
                        </a:rPr>
                        <a:t>S.No.</a:t>
                      </a:r>
                    </a:p>
                  </a:txBody>
                  <a:tcPr marL="25357" marR="25357" marT="63394" marB="6339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IN" sz="900" b="1">
                          <a:effectLst/>
                          <a:latin typeface="Nunito" pitchFamily="2" charset="77"/>
                        </a:rPr>
                        <a:t>Function Name</a:t>
                      </a:r>
                      <a:endParaRPr lang="en-IN" sz="900" b="0">
                        <a:effectLst/>
                        <a:latin typeface="Nunito" pitchFamily="2" charset="77"/>
                      </a:endParaRPr>
                    </a:p>
                  </a:txBody>
                  <a:tcPr marL="63394" marR="63394" marT="63394" marB="6339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IN" sz="900" b="1">
                          <a:effectLst/>
                          <a:latin typeface="Nunito" pitchFamily="2" charset="77"/>
                        </a:rPr>
                        <a:t>Function Description</a:t>
                      </a:r>
                      <a:endParaRPr lang="en-IN" sz="900" b="0">
                        <a:effectLst/>
                        <a:latin typeface="Nunito" pitchFamily="2" charset="77"/>
                      </a:endParaRPr>
                    </a:p>
                  </a:txBody>
                  <a:tcPr marL="63394" marR="63394" marT="63394" marB="6339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3309015972"/>
                  </a:ext>
                </a:extLst>
              </a:tr>
              <a:tr h="304289">
                <a:tc>
                  <a:txBody>
                    <a:bodyPr/>
                    <a:lstStyle/>
                    <a:p>
                      <a:pPr algn="ctr" fontAlgn="base"/>
                      <a:r>
                        <a:rPr lang="en-IN" sz="1200" b="1">
                          <a:effectLst/>
                          <a:latin typeface="Nunito" pitchFamily="2" charset="77"/>
                        </a:rPr>
                        <a:t>1.</a:t>
                      </a:r>
                      <a:endParaRPr lang="en-IN" sz="1200" b="0">
                        <a:effectLst/>
                        <a:latin typeface="Nunito" pitchFamily="2" charset="77"/>
                      </a:endParaRPr>
                    </a:p>
                  </a:txBody>
                  <a:tcPr marL="25357" marR="25357" marT="43913" marB="439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IN" sz="800" b="1">
                          <a:effectLst/>
                          <a:latin typeface="Nunito" pitchFamily="2" charset="77"/>
                        </a:rPr>
                        <a:t>ceil(x)</a:t>
                      </a:r>
                      <a:endParaRPr lang="en-IN" sz="800" b="0">
                        <a:effectLst/>
                        <a:latin typeface="Nunito" pitchFamily="2" charset="77"/>
                      </a:endParaRP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800" b="0">
                          <a:effectLst/>
                          <a:latin typeface="Nunito" pitchFamily="2" charset="77"/>
                        </a:rPr>
                        <a:t>Returns the smallest integer larger than or equal to x.</a:t>
                      </a: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383212163"/>
                  </a:ext>
                </a:extLst>
              </a:tr>
              <a:tr h="304289">
                <a:tc>
                  <a:txBody>
                    <a:bodyPr/>
                    <a:lstStyle/>
                    <a:p>
                      <a:pPr algn="ctr" fontAlgn="base"/>
                      <a:r>
                        <a:rPr lang="en-IN" sz="1200" b="1">
                          <a:effectLst/>
                          <a:latin typeface="Nunito" pitchFamily="2" charset="77"/>
                        </a:rPr>
                        <a:t>2.</a:t>
                      </a:r>
                      <a:endParaRPr lang="en-IN" sz="1200" b="0">
                        <a:effectLst/>
                        <a:latin typeface="Nunito" pitchFamily="2" charset="77"/>
                      </a:endParaRPr>
                    </a:p>
                  </a:txBody>
                  <a:tcPr marL="25357" marR="25357" marT="43913" marB="439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IN" sz="800" b="1">
                          <a:effectLst/>
                          <a:latin typeface="Nunito" pitchFamily="2" charset="77"/>
                        </a:rPr>
                        <a:t>floor(x)</a:t>
                      </a:r>
                      <a:endParaRPr lang="en-IN" sz="800" b="0">
                        <a:effectLst/>
                        <a:latin typeface="Nunito" pitchFamily="2" charset="77"/>
                      </a:endParaRP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800" b="0">
                          <a:effectLst/>
                          <a:latin typeface="Nunito" pitchFamily="2" charset="77"/>
                        </a:rPr>
                        <a:t>Returns the largest integer smaller than or equal to x.</a:t>
                      </a: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030712522"/>
                  </a:ext>
                </a:extLst>
              </a:tr>
              <a:tr h="304289">
                <a:tc>
                  <a:txBody>
                    <a:bodyPr/>
                    <a:lstStyle/>
                    <a:p>
                      <a:pPr algn="ctr" fontAlgn="base"/>
                      <a:r>
                        <a:rPr lang="en-IN" sz="1200" b="1">
                          <a:effectLst/>
                          <a:latin typeface="Nunito" pitchFamily="2" charset="77"/>
                        </a:rPr>
                        <a:t>3.</a:t>
                      </a:r>
                      <a:endParaRPr lang="en-IN" sz="1200" b="0">
                        <a:effectLst/>
                        <a:latin typeface="Nunito" pitchFamily="2" charset="77"/>
                      </a:endParaRPr>
                    </a:p>
                  </a:txBody>
                  <a:tcPr marL="25357" marR="25357" marT="43913" marB="439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IN" sz="800" b="1" u="sng">
                          <a:solidFill>
                            <a:srgbClr val="357960"/>
                          </a:solidFill>
                          <a:effectLst/>
                          <a:latin typeface="Nunito" pitchFamily="2" charset="77"/>
                          <a:hlinkClick r:id="rId2"/>
                        </a:rPr>
                        <a:t>fabs(x)</a:t>
                      </a:r>
                      <a:endParaRPr lang="en-IN" sz="800" b="0">
                        <a:effectLst/>
                        <a:latin typeface="Nunito" pitchFamily="2" charset="77"/>
                      </a:endParaRP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800" b="0">
                          <a:effectLst/>
                          <a:latin typeface="Nunito" pitchFamily="2" charset="77"/>
                        </a:rPr>
                        <a:t>Returns the absolute value of x.</a:t>
                      </a: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935987020"/>
                  </a:ext>
                </a:extLst>
              </a:tr>
              <a:tr h="304289">
                <a:tc>
                  <a:txBody>
                    <a:bodyPr/>
                    <a:lstStyle/>
                    <a:p>
                      <a:pPr algn="ctr" fontAlgn="base"/>
                      <a:r>
                        <a:rPr lang="en-IN" sz="1200" b="1" dirty="0">
                          <a:effectLst/>
                          <a:latin typeface="Nunito" pitchFamily="2" charset="77"/>
                        </a:rPr>
                        <a:t>4.</a:t>
                      </a:r>
                      <a:endParaRPr lang="en-IN" sz="1200" b="0" dirty="0">
                        <a:effectLst/>
                        <a:latin typeface="Nunito" pitchFamily="2" charset="77"/>
                      </a:endParaRPr>
                    </a:p>
                  </a:txBody>
                  <a:tcPr marL="25357" marR="25357" marT="43913" marB="439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IN" sz="800" b="1">
                          <a:effectLst/>
                          <a:latin typeface="Nunito" pitchFamily="2" charset="77"/>
                        </a:rPr>
                        <a:t>sqrt(x)</a:t>
                      </a:r>
                      <a:endParaRPr lang="en-IN" sz="800" b="0">
                        <a:effectLst/>
                        <a:latin typeface="Nunito" pitchFamily="2" charset="77"/>
                      </a:endParaRP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800" b="0">
                          <a:effectLst/>
                          <a:latin typeface="Nunito" pitchFamily="2" charset="77"/>
                        </a:rPr>
                        <a:t>Returns the square root of x.</a:t>
                      </a: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668686711"/>
                  </a:ext>
                </a:extLst>
              </a:tr>
              <a:tr h="304289">
                <a:tc>
                  <a:txBody>
                    <a:bodyPr/>
                    <a:lstStyle/>
                    <a:p>
                      <a:pPr algn="ctr" fontAlgn="base"/>
                      <a:r>
                        <a:rPr lang="en-IN" sz="1200" b="1">
                          <a:effectLst/>
                          <a:latin typeface="Nunito" pitchFamily="2" charset="77"/>
                        </a:rPr>
                        <a:t>5.</a:t>
                      </a:r>
                      <a:endParaRPr lang="en-IN" sz="1200" b="0">
                        <a:effectLst/>
                        <a:latin typeface="Nunito" pitchFamily="2" charset="77"/>
                      </a:endParaRPr>
                    </a:p>
                  </a:txBody>
                  <a:tcPr marL="25357" marR="25357" marT="43913" marB="439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IN" sz="800" b="1">
                          <a:effectLst/>
                          <a:latin typeface="Nunito" pitchFamily="2" charset="77"/>
                        </a:rPr>
                        <a:t>cbrt(x)</a:t>
                      </a:r>
                      <a:endParaRPr lang="en-IN" sz="800" b="0">
                        <a:effectLst/>
                        <a:latin typeface="Nunito" pitchFamily="2" charset="77"/>
                      </a:endParaRP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800" b="0">
                          <a:effectLst/>
                          <a:latin typeface="Nunito" pitchFamily="2" charset="77"/>
                        </a:rPr>
                        <a:t>Returns the cube root of x.</a:t>
                      </a: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525036569"/>
                  </a:ext>
                </a:extLst>
              </a:tr>
              <a:tr h="304289">
                <a:tc>
                  <a:txBody>
                    <a:bodyPr/>
                    <a:lstStyle/>
                    <a:p>
                      <a:pPr algn="ctr" fontAlgn="base"/>
                      <a:r>
                        <a:rPr lang="en-IN" sz="1200" b="1">
                          <a:effectLst/>
                          <a:latin typeface="Nunito" pitchFamily="2" charset="77"/>
                        </a:rPr>
                        <a:t>6.</a:t>
                      </a:r>
                      <a:endParaRPr lang="en-IN" sz="1200" b="0">
                        <a:effectLst/>
                        <a:latin typeface="Nunito" pitchFamily="2" charset="77"/>
                      </a:endParaRPr>
                    </a:p>
                  </a:txBody>
                  <a:tcPr marL="25357" marR="25357" marT="43913" marB="439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IN" sz="800" b="1">
                          <a:effectLst/>
                          <a:latin typeface="Nunito" pitchFamily="2" charset="77"/>
                        </a:rPr>
                        <a:t>pow(x , y)</a:t>
                      </a:r>
                      <a:endParaRPr lang="en-IN" sz="800" b="0">
                        <a:effectLst/>
                        <a:latin typeface="Nunito" pitchFamily="2" charset="77"/>
                      </a:endParaRP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800" b="0">
                          <a:effectLst/>
                          <a:latin typeface="Nunito" pitchFamily="2" charset="77"/>
                        </a:rPr>
                        <a:t>Returns the value of x raised to the power y.</a:t>
                      </a: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96538110"/>
                  </a:ext>
                </a:extLst>
              </a:tr>
              <a:tr h="431077">
                <a:tc>
                  <a:txBody>
                    <a:bodyPr/>
                    <a:lstStyle/>
                    <a:p>
                      <a:pPr algn="ctr" fontAlgn="base"/>
                      <a:r>
                        <a:rPr lang="en-IN" sz="1200" b="1">
                          <a:effectLst/>
                          <a:latin typeface="Nunito" pitchFamily="2" charset="77"/>
                        </a:rPr>
                        <a:t>7.</a:t>
                      </a:r>
                      <a:endParaRPr lang="en-IN" sz="1200" b="0">
                        <a:effectLst/>
                        <a:latin typeface="Nunito" pitchFamily="2" charset="77"/>
                      </a:endParaRPr>
                    </a:p>
                  </a:txBody>
                  <a:tcPr marL="25357" marR="25357" marT="43913" marB="439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IN" sz="800" b="1">
                          <a:effectLst/>
                          <a:latin typeface="Nunito" pitchFamily="2" charset="77"/>
                        </a:rPr>
                        <a:t>exp(x)</a:t>
                      </a:r>
                      <a:endParaRPr lang="en-IN" sz="800" b="0">
                        <a:effectLst/>
                        <a:latin typeface="Nunito" pitchFamily="2" charset="77"/>
                      </a:endParaRP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800" b="0">
                          <a:effectLst/>
                          <a:latin typeface="Nunito" pitchFamily="2" charset="77"/>
                        </a:rPr>
                        <a:t>Returns the value of e(Euler’s Number) raised to the power x.</a:t>
                      </a: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819567362"/>
                  </a:ext>
                </a:extLst>
              </a:tr>
              <a:tr h="304289">
                <a:tc>
                  <a:txBody>
                    <a:bodyPr/>
                    <a:lstStyle/>
                    <a:p>
                      <a:pPr algn="ctr" fontAlgn="base"/>
                      <a:r>
                        <a:rPr lang="en-IN" sz="1200" b="1">
                          <a:effectLst/>
                          <a:latin typeface="Nunito" pitchFamily="2" charset="77"/>
                        </a:rPr>
                        <a:t>8.</a:t>
                      </a:r>
                      <a:endParaRPr lang="en-IN" sz="1200" b="0">
                        <a:effectLst/>
                        <a:latin typeface="Nunito" pitchFamily="2" charset="77"/>
                      </a:endParaRPr>
                    </a:p>
                  </a:txBody>
                  <a:tcPr marL="25357" marR="25357" marT="43913" marB="439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IN" sz="800" b="1">
                          <a:effectLst/>
                          <a:latin typeface="Nunito" pitchFamily="2" charset="77"/>
                        </a:rPr>
                        <a:t>fmod(x , y)</a:t>
                      </a:r>
                      <a:endParaRPr lang="en-IN" sz="800" b="0">
                        <a:effectLst/>
                        <a:latin typeface="Nunito" pitchFamily="2" charset="77"/>
                      </a:endParaRP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800" b="0">
                          <a:effectLst/>
                          <a:latin typeface="Nunito" pitchFamily="2" charset="77"/>
                        </a:rPr>
                        <a:t>Returns the remainder of x divided by y.</a:t>
                      </a: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723769695"/>
                  </a:ext>
                </a:extLst>
              </a:tr>
              <a:tr h="304289">
                <a:tc>
                  <a:txBody>
                    <a:bodyPr/>
                    <a:lstStyle/>
                    <a:p>
                      <a:pPr algn="ctr" fontAlgn="base"/>
                      <a:r>
                        <a:rPr lang="en-IN" sz="1200" b="1">
                          <a:effectLst/>
                          <a:latin typeface="Nunito" pitchFamily="2" charset="77"/>
                        </a:rPr>
                        <a:t>9.</a:t>
                      </a:r>
                      <a:endParaRPr lang="en-IN" sz="1200" b="0">
                        <a:effectLst/>
                        <a:latin typeface="Nunito" pitchFamily="2" charset="77"/>
                      </a:endParaRPr>
                    </a:p>
                  </a:txBody>
                  <a:tcPr marL="25357" marR="25357" marT="43913" marB="439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IN" sz="800" b="1">
                          <a:effectLst/>
                          <a:latin typeface="Nunito" pitchFamily="2" charset="77"/>
                        </a:rPr>
                        <a:t>log(x)</a:t>
                      </a:r>
                      <a:endParaRPr lang="en-IN" sz="800" b="0">
                        <a:effectLst/>
                        <a:latin typeface="Nunito" pitchFamily="2" charset="77"/>
                      </a:endParaRP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800" b="0">
                          <a:effectLst/>
                          <a:latin typeface="Nunito" pitchFamily="2" charset="77"/>
                        </a:rPr>
                        <a:t>Returns the natural logarithm of x.</a:t>
                      </a: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368759552"/>
                  </a:ext>
                </a:extLst>
              </a:tr>
              <a:tr h="304289">
                <a:tc>
                  <a:txBody>
                    <a:bodyPr/>
                    <a:lstStyle/>
                    <a:p>
                      <a:pPr algn="ctr" fontAlgn="base"/>
                      <a:r>
                        <a:rPr lang="en-IN" sz="1200" b="1">
                          <a:effectLst/>
                          <a:latin typeface="Nunito" pitchFamily="2" charset="77"/>
                        </a:rPr>
                        <a:t>10.</a:t>
                      </a:r>
                      <a:endParaRPr lang="en-IN" sz="1200" b="0">
                        <a:effectLst/>
                        <a:latin typeface="Nunito" pitchFamily="2" charset="77"/>
                      </a:endParaRPr>
                    </a:p>
                  </a:txBody>
                  <a:tcPr marL="25357" marR="25357" marT="43913" marB="439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IN" sz="800" b="1">
                          <a:effectLst/>
                          <a:latin typeface="Nunito" pitchFamily="2" charset="77"/>
                        </a:rPr>
                        <a:t>log10(x)</a:t>
                      </a:r>
                      <a:endParaRPr lang="en-IN" sz="800" b="0">
                        <a:effectLst/>
                        <a:latin typeface="Nunito" pitchFamily="2" charset="77"/>
                      </a:endParaRP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800" b="0">
                          <a:effectLst/>
                          <a:latin typeface="Nunito" pitchFamily="2" charset="77"/>
                        </a:rPr>
                        <a:t>Returns the common logarithm of x.</a:t>
                      </a: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4133563826"/>
                  </a:ext>
                </a:extLst>
              </a:tr>
              <a:tr h="304289">
                <a:tc>
                  <a:txBody>
                    <a:bodyPr/>
                    <a:lstStyle/>
                    <a:p>
                      <a:pPr algn="ctr" fontAlgn="base"/>
                      <a:r>
                        <a:rPr lang="en-IN" sz="1200" b="1">
                          <a:effectLst/>
                          <a:latin typeface="Nunito" pitchFamily="2" charset="77"/>
                        </a:rPr>
                        <a:t>11.</a:t>
                      </a:r>
                      <a:endParaRPr lang="en-IN" sz="1200" b="0">
                        <a:effectLst/>
                        <a:latin typeface="Nunito" pitchFamily="2" charset="77"/>
                      </a:endParaRPr>
                    </a:p>
                  </a:txBody>
                  <a:tcPr marL="25357" marR="25357" marT="43913" marB="439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IN" sz="800" b="1">
                          <a:effectLst/>
                          <a:latin typeface="Nunito" pitchFamily="2" charset="77"/>
                        </a:rPr>
                        <a:t>cos(x)</a:t>
                      </a:r>
                      <a:endParaRPr lang="en-IN" sz="800" b="0">
                        <a:effectLst/>
                        <a:latin typeface="Nunito" pitchFamily="2" charset="77"/>
                      </a:endParaRP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800" b="0">
                          <a:effectLst/>
                          <a:latin typeface="Nunito" pitchFamily="2" charset="77"/>
                        </a:rPr>
                        <a:t>Returns the cosine of radian angle x.</a:t>
                      </a: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87270310"/>
                  </a:ext>
                </a:extLst>
              </a:tr>
              <a:tr h="304289">
                <a:tc>
                  <a:txBody>
                    <a:bodyPr/>
                    <a:lstStyle/>
                    <a:p>
                      <a:pPr algn="ctr" fontAlgn="base"/>
                      <a:r>
                        <a:rPr lang="en-IN" sz="1200" b="1">
                          <a:effectLst/>
                          <a:latin typeface="Nunito" pitchFamily="2" charset="77"/>
                        </a:rPr>
                        <a:t>12.</a:t>
                      </a:r>
                      <a:endParaRPr lang="en-IN" sz="1200" b="0">
                        <a:effectLst/>
                        <a:latin typeface="Nunito" pitchFamily="2" charset="77"/>
                      </a:endParaRPr>
                    </a:p>
                  </a:txBody>
                  <a:tcPr marL="25357" marR="25357" marT="43913" marB="439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IN" sz="800" b="1">
                          <a:effectLst/>
                          <a:latin typeface="Nunito" pitchFamily="2" charset="77"/>
                        </a:rPr>
                        <a:t>sin(x)</a:t>
                      </a:r>
                      <a:endParaRPr lang="en-IN" sz="800" b="0">
                        <a:effectLst/>
                        <a:latin typeface="Nunito" pitchFamily="2" charset="77"/>
                      </a:endParaRP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800" b="0">
                          <a:effectLst/>
                          <a:latin typeface="Nunito" pitchFamily="2" charset="77"/>
                        </a:rPr>
                        <a:t>Returns the sine of radian angle x.</a:t>
                      </a: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369253491"/>
                  </a:ext>
                </a:extLst>
              </a:tr>
              <a:tr h="304289">
                <a:tc>
                  <a:txBody>
                    <a:bodyPr/>
                    <a:lstStyle/>
                    <a:p>
                      <a:pPr algn="ctr" fontAlgn="base"/>
                      <a:r>
                        <a:rPr lang="en-IN" sz="1200" b="1">
                          <a:effectLst/>
                          <a:latin typeface="Nunito" pitchFamily="2" charset="77"/>
                        </a:rPr>
                        <a:t>13.</a:t>
                      </a:r>
                      <a:endParaRPr lang="en-IN" sz="1200" b="0">
                        <a:effectLst/>
                        <a:latin typeface="Nunito" pitchFamily="2" charset="77"/>
                      </a:endParaRPr>
                    </a:p>
                  </a:txBody>
                  <a:tcPr marL="25357" marR="25357" marT="43913" marB="439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IN" sz="800" b="1">
                          <a:effectLst/>
                          <a:latin typeface="Nunito" pitchFamily="2" charset="77"/>
                        </a:rPr>
                        <a:t>tan(x)</a:t>
                      </a:r>
                      <a:endParaRPr lang="en-IN" sz="800" b="0">
                        <a:effectLst/>
                        <a:latin typeface="Nunito" pitchFamily="2" charset="77"/>
                      </a:endParaRP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800" b="0" dirty="0">
                          <a:effectLst/>
                          <a:latin typeface="Nunito" pitchFamily="2" charset="77"/>
                        </a:rPr>
                        <a:t>Returns the tangent of radian angle x.</a:t>
                      </a: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472259696"/>
                  </a:ext>
                </a:extLst>
              </a:tr>
            </a:tbl>
          </a:graphicData>
        </a:graphic>
      </p:graphicFrame>
    </p:spTree>
    <p:extLst>
      <p:ext uri="{BB962C8B-B14F-4D97-AF65-F5344CB8AC3E}">
        <p14:creationId xmlns:p14="http://schemas.microsoft.com/office/powerpoint/2010/main" val="1599382403"/>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0B794-65D4-CEE4-F30B-A45FD2CD69E6}"/>
              </a:ext>
            </a:extLst>
          </p:cNvPr>
          <p:cNvSpPr>
            <a:spLocks noGrp="1"/>
          </p:cNvSpPr>
          <p:nvPr>
            <p:ph type="title"/>
          </p:nvPr>
        </p:nvSpPr>
        <p:spPr/>
        <p:txBody>
          <a:bodyPr/>
          <a:lstStyle/>
          <a:p>
            <a:r>
              <a:rPr lang="en-US" dirty="0"/>
              <a:t>Stack</a:t>
            </a:r>
          </a:p>
        </p:txBody>
      </p:sp>
      <p:sp>
        <p:nvSpPr>
          <p:cNvPr id="3" name="Content Placeholder 2">
            <a:extLst>
              <a:ext uri="{FF2B5EF4-FFF2-40B4-BE49-F238E27FC236}">
                <a16:creationId xmlns:a16="http://schemas.microsoft.com/office/drawing/2014/main" id="{35EAAE1D-D460-DCE4-AA0A-4DF432AEA6B9}"/>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257650786"/>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07D5E-05F0-0CD9-9773-440CB9907285}"/>
              </a:ext>
            </a:extLst>
          </p:cNvPr>
          <p:cNvSpPr>
            <a:spLocks noGrp="1"/>
          </p:cNvSpPr>
          <p:nvPr>
            <p:ph type="title"/>
          </p:nvPr>
        </p:nvSpPr>
        <p:spPr/>
        <p:txBody>
          <a:bodyPr/>
          <a:lstStyle/>
          <a:p>
            <a:r>
              <a:rPr lang="en-IN" b="0" i="0" dirty="0">
                <a:effectLst/>
                <a:latin typeface="Google Sans"/>
              </a:rPr>
              <a:t>Theoretical Questions</a:t>
            </a:r>
            <a:endParaRPr lang="en-US" dirty="0"/>
          </a:p>
        </p:txBody>
      </p:sp>
      <p:sp>
        <p:nvSpPr>
          <p:cNvPr id="3" name="Content Placeholder 2">
            <a:extLst>
              <a:ext uri="{FF2B5EF4-FFF2-40B4-BE49-F238E27FC236}">
                <a16:creationId xmlns:a16="http://schemas.microsoft.com/office/drawing/2014/main" id="{792871B4-D03C-3678-2588-FE50ECE0669F}"/>
              </a:ext>
            </a:extLst>
          </p:cNvPr>
          <p:cNvSpPr>
            <a:spLocks noGrp="1"/>
          </p:cNvSpPr>
          <p:nvPr>
            <p:ph idx="1"/>
          </p:nvPr>
        </p:nvSpPr>
        <p:spPr/>
        <p:txBody>
          <a:bodyPr>
            <a:normAutofit fontScale="47500" lnSpcReduction="20000"/>
          </a:bodyPr>
          <a:lstStyle/>
          <a:p>
            <a:pPr algn="l"/>
            <a:r>
              <a:rPr lang="en-IN" b="0" i="0" dirty="0">
                <a:effectLst/>
                <a:latin typeface="Arial" panose="020B0604020202020204" pitchFamily="34" charset="0"/>
              </a:rPr>
              <a:t>These questions assess your understanding of the core concepts.</a:t>
            </a:r>
          </a:p>
          <a:p>
            <a:pPr algn="l">
              <a:buFont typeface="Arial" panose="020B0604020202020204" pitchFamily="34" charset="0"/>
              <a:buChar char="•"/>
            </a:pPr>
            <a:r>
              <a:rPr lang="en-IN" b="1" i="0" dirty="0">
                <a:effectLst/>
                <a:latin typeface="Arial" panose="020B0604020202020204" pitchFamily="34" charset="0"/>
              </a:rPr>
              <a:t>What is a stack and the LIFO principle?</a:t>
            </a:r>
            <a:r>
              <a:rPr lang="en-IN" b="0" i="0" dirty="0">
                <a:effectLst/>
                <a:latin typeface="Arial" panose="020B0604020202020204" pitchFamily="34" charset="0"/>
              </a:rPr>
              <a:t> </a:t>
            </a:r>
          </a:p>
          <a:p>
            <a:pPr algn="l">
              <a:buFont typeface="Arial" panose="020B0604020202020204" pitchFamily="34" charset="0"/>
              <a:buChar char="•"/>
            </a:pPr>
            <a:r>
              <a:rPr lang="en-IN" b="0" i="0" dirty="0">
                <a:effectLst/>
                <a:latin typeface="Arial" panose="020B0604020202020204" pitchFamily="34" charset="0"/>
              </a:rPr>
              <a:t>A stack is a linear data structure that follows the Last-In, First-Out (LIFO) principle, meaning the last element added is the first one to be removed.</a:t>
            </a:r>
          </a:p>
          <a:p>
            <a:pPr algn="l">
              <a:buFont typeface="Arial" panose="020B0604020202020204" pitchFamily="34" charset="0"/>
              <a:buChar char="•"/>
            </a:pPr>
            <a:r>
              <a:rPr lang="en-IN" b="1" i="0" dirty="0">
                <a:effectLst/>
                <a:latin typeface="Arial" panose="020B0604020202020204" pitchFamily="34" charset="0"/>
              </a:rPr>
              <a:t>What are the primary operations on a stack and their time complexities?</a:t>
            </a:r>
            <a:r>
              <a:rPr lang="en-IN" b="0" i="0" dirty="0">
                <a:effectLst/>
                <a:latin typeface="Arial" panose="020B0604020202020204" pitchFamily="34" charset="0"/>
              </a:rPr>
              <a:t> </a:t>
            </a:r>
          </a:p>
          <a:p>
            <a:pPr algn="l">
              <a:buFont typeface="Arial" panose="020B0604020202020204" pitchFamily="34" charset="0"/>
              <a:buChar char="•"/>
            </a:pPr>
            <a:r>
              <a:rPr lang="en-IN" b="0" i="0" dirty="0">
                <a:effectLst/>
                <a:latin typeface="Arial" panose="020B0604020202020204" pitchFamily="34" charset="0"/>
              </a:rPr>
              <a:t>The main operations are push (add an element), pop (remove the top element), peek or top (view the top element without removing it), and </a:t>
            </a:r>
            <a:r>
              <a:rPr lang="en-IN" b="0" i="0" dirty="0" err="1">
                <a:effectLst/>
                <a:latin typeface="Arial" panose="020B0604020202020204" pitchFamily="34" charset="0"/>
              </a:rPr>
              <a:t>isEmpty</a:t>
            </a:r>
            <a:r>
              <a:rPr lang="en-IN" b="0" i="0" dirty="0">
                <a:effectLst/>
                <a:latin typeface="Arial" panose="020B0604020202020204" pitchFamily="34" charset="0"/>
              </a:rPr>
              <a:t> (check if the stack is empty). All these operations typically have a time complexity of O(1).</a:t>
            </a:r>
          </a:p>
          <a:p>
            <a:pPr algn="l">
              <a:buFont typeface="Arial" panose="020B0604020202020204" pitchFamily="34" charset="0"/>
              <a:buChar char="•"/>
            </a:pPr>
            <a:r>
              <a:rPr lang="en-IN" b="1" i="0" dirty="0">
                <a:effectLst/>
                <a:latin typeface="Arial" panose="020B0604020202020204" pitchFamily="34" charset="0"/>
              </a:rPr>
              <a:t>What are some real-world applications of a stack?</a:t>
            </a:r>
            <a:r>
              <a:rPr lang="en-IN" b="0" i="0" dirty="0">
                <a:effectLst/>
                <a:latin typeface="Arial" panose="020B0604020202020204" pitchFamily="34" charset="0"/>
              </a:rPr>
              <a:t> </a:t>
            </a:r>
          </a:p>
          <a:p>
            <a:pPr algn="l">
              <a:buFont typeface="Arial" panose="020B0604020202020204" pitchFamily="34" charset="0"/>
              <a:buChar char="•"/>
            </a:pPr>
            <a:r>
              <a:rPr lang="en-IN" b="0" i="0" dirty="0">
                <a:effectLst/>
                <a:latin typeface="Arial" panose="020B0604020202020204" pitchFamily="34" charset="0"/>
              </a:rPr>
              <a:t>Common applications include managing function calls in program execution (the call stack), the undo/redo functionality in text editors, browser history (the back button), and expression evaluation/parentheses checking.</a:t>
            </a:r>
          </a:p>
          <a:p>
            <a:pPr algn="l">
              <a:buFont typeface="Arial" panose="020B0604020202020204" pitchFamily="34" charset="0"/>
              <a:buChar char="•"/>
            </a:pPr>
            <a:r>
              <a:rPr lang="en-IN" b="1" i="0" dirty="0">
                <a:effectLst/>
                <a:latin typeface="Arial" panose="020B0604020202020204" pitchFamily="34" charset="0"/>
              </a:rPr>
              <a:t>Explain "stack overflow" and "stack underflow".</a:t>
            </a:r>
            <a:r>
              <a:rPr lang="en-IN" b="0" i="0" dirty="0">
                <a:effectLst/>
                <a:latin typeface="Arial" panose="020B0604020202020204" pitchFamily="34" charset="0"/>
              </a:rPr>
              <a:t> </a:t>
            </a:r>
          </a:p>
          <a:p>
            <a:pPr algn="l">
              <a:buFont typeface="Arial" panose="020B0604020202020204" pitchFamily="34" charset="0"/>
              <a:buChar char="•"/>
            </a:pPr>
            <a:r>
              <a:rPr lang="en-IN" b="0" i="0" dirty="0">
                <a:effectLst/>
                <a:latin typeface="Arial" panose="020B0604020202020204" pitchFamily="34" charset="0"/>
              </a:rPr>
              <a:t>An underflow occurs when you try to perform a pop or peek operation on an empty stack. An overflow occurs (typically in fixed-size implementations) when you try to push an element onto a full stack.</a:t>
            </a:r>
          </a:p>
          <a:p>
            <a:pPr algn="l">
              <a:buFont typeface="Arial" panose="020B0604020202020204" pitchFamily="34" charset="0"/>
              <a:buChar char="•"/>
            </a:pPr>
            <a:r>
              <a:rPr lang="en-IN" b="1" i="0" dirty="0">
                <a:effectLst/>
                <a:latin typeface="Arial" panose="020B0604020202020204" pitchFamily="34" charset="0"/>
              </a:rPr>
              <a:t>How is memory managed during function calls?</a:t>
            </a:r>
            <a:r>
              <a:rPr lang="en-IN" b="0" i="0" dirty="0">
                <a:effectLst/>
                <a:latin typeface="Arial" panose="020B0604020202020204" pitchFamily="34" charset="0"/>
              </a:rPr>
              <a:t> </a:t>
            </a:r>
          </a:p>
          <a:p>
            <a:pPr algn="l">
              <a:buFont typeface="Arial" panose="020B0604020202020204" pitchFamily="34" charset="0"/>
              <a:buChar char="•"/>
            </a:pPr>
            <a:r>
              <a:rPr lang="en-IN" b="0" i="0" dirty="0">
                <a:effectLst/>
                <a:latin typeface="Arial" panose="020B0604020202020204" pitchFamily="34" charset="0"/>
              </a:rPr>
              <a:t>The system uses a call stack to store "stack frames," which hold local variables, parameters, and the return address for each active function. The LIFO nature ensures that the most recently called function is the first to complete and be removed from the stack.</a:t>
            </a:r>
          </a:p>
          <a:p>
            <a:pPr algn="l">
              <a:buFont typeface="Arial" panose="020B0604020202020204" pitchFamily="34" charset="0"/>
              <a:buChar char="•"/>
            </a:pPr>
            <a:r>
              <a:rPr lang="en-IN" b="1" i="0" dirty="0">
                <a:effectLst/>
                <a:latin typeface="Arial" panose="020B0604020202020204" pitchFamily="34" charset="0"/>
              </a:rPr>
              <a:t>When would you use a stack instead of an array or linked list?</a:t>
            </a:r>
            <a:r>
              <a:rPr lang="en-IN" b="0" i="0" dirty="0">
                <a:effectLst/>
                <a:latin typeface="Arial" panose="020B0604020202020204" pitchFamily="34" charset="0"/>
              </a:rPr>
              <a:t> </a:t>
            </a:r>
          </a:p>
          <a:p>
            <a:pPr algn="l">
              <a:buFont typeface="Arial" panose="020B0604020202020204" pitchFamily="34" charset="0"/>
              <a:buChar char="•"/>
            </a:pPr>
            <a:r>
              <a:rPr lang="en-IN" b="0" i="0" dirty="0">
                <a:effectLst/>
                <a:latin typeface="Arial" panose="020B0604020202020204" pitchFamily="34" charset="0"/>
              </a:rPr>
              <a:t>A stack is preferred when the problem requires data to be processed in a strict LIFO order, whereas arrays/lists offer random access, which is not a characteristic of a stack. </a:t>
            </a:r>
          </a:p>
        </p:txBody>
      </p:sp>
    </p:spTree>
    <p:extLst>
      <p:ext uri="{BB962C8B-B14F-4D97-AF65-F5344CB8AC3E}">
        <p14:creationId xmlns:p14="http://schemas.microsoft.com/office/powerpoint/2010/main" val="193173672"/>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8A3A8-D20C-7298-BD54-7DF7458EE5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86D77A-AE06-0A0A-5854-1C230D3293FC}"/>
              </a:ext>
            </a:extLst>
          </p:cNvPr>
          <p:cNvSpPr>
            <a:spLocks noGrp="1"/>
          </p:cNvSpPr>
          <p:nvPr>
            <p:ph type="title"/>
          </p:nvPr>
        </p:nvSpPr>
        <p:spPr/>
        <p:txBody>
          <a:bodyPr/>
          <a:lstStyle/>
          <a:p>
            <a:r>
              <a:rPr lang="en-IN" b="0" i="0" dirty="0">
                <a:effectLst/>
                <a:latin typeface="Google Sans"/>
              </a:rPr>
              <a:t>Implementation and Design Questions</a:t>
            </a:r>
            <a:endParaRPr lang="en-US" dirty="0"/>
          </a:p>
        </p:txBody>
      </p:sp>
      <p:sp>
        <p:nvSpPr>
          <p:cNvPr id="3" name="Content Placeholder 2">
            <a:extLst>
              <a:ext uri="{FF2B5EF4-FFF2-40B4-BE49-F238E27FC236}">
                <a16:creationId xmlns:a16="http://schemas.microsoft.com/office/drawing/2014/main" id="{F8A0B158-41A8-6A03-113F-CF8532ECAED7}"/>
              </a:ext>
            </a:extLst>
          </p:cNvPr>
          <p:cNvSpPr>
            <a:spLocks noGrp="1"/>
          </p:cNvSpPr>
          <p:nvPr>
            <p:ph idx="1"/>
          </p:nvPr>
        </p:nvSpPr>
        <p:spPr/>
        <p:txBody>
          <a:bodyPr>
            <a:normAutofit fontScale="85000" lnSpcReduction="20000"/>
          </a:bodyPr>
          <a:lstStyle/>
          <a:p>
            <a:pPr algn="l"/>
            <a:r>
              <a:rPr lang="en-IN" b="0" i="0" dirty="0">
                <a:effectLst/>
                <a:latin typeface="Arial" panose="020B0604020202020204" pitchFamily="34" charset="0"/>
              </a:rPr>
              <a:t>These questions test your ability to implement or modify the data structure. </a:t>
            </a:r>
          </a:p>
          <a:p>
            <a:pPr algn="l">
              <a:buFont typeface="Arial" panose="020B0604020202020204" pitchFamily="34" charset="0"/>
              <a:buChar char="•"/>
            </a:pPr>
            <a:r>
              <a:rPr lang="en-IN" b="1" i="0" dirty="0">
                <a:effectLst/>
                <a:latin typeface="Arial" panose="020B0604020202020204" pitchFamily="34" charset="0"/>
              </a:rPr>
              <a:t>How can you implement a stack using an array versus a linked list? Compare their pros and cons.</a:t>
            </a:r>
            <a:endParaRPr lang="en-IN" b="0" i="0" dirty="0">
              <a:effectLst/>
              <a:latin typeface="Arial" panose="020B0604020202020204" pitchFamily="34" charset="0"/>
            </a:endParaRPr>
          </a:p>
          <a:p>
            <a:pPr marL="742950" lvl="1" indent="-285750" algn="l">
              <a:buFont typeface="Arial" panose="020B0604020202020204" pitchFamily="34" charset="0"/>
              <a:buChar char="•"/>
            </a:pPr>
            <a:r>
              <a:rPr lang="en-IN" b="1" i="0" dirty="0">
                <a:effectLst/>
                <a:latin typeface="Arial" panose="020B0604020202020204" pitchFamily="34" charset="0"/>
              </a:rPr>
              <a:t>Array-based:</a:t>
            </a:r>
            <a:r>
              <a:rPr lang="en-IN" b="0" i="0" dirty="0">
                <a:effectLst/>
                <a:latin typeface="Arial" panose="020B0604020202020204" pitchFamily="34" charset="0"/>
              </a:rPr>
              <a:t> Uses contiguous memory, efficient due to cache locality, but has a fixed size (unless dynamically resized, which adds overhead).</a:t>
            </a:r>
          </a:p>
          <a:p>
            <a:pPr marL="742950" lvl="1" indent="-285750" algn="l">
              <a:buFont typeface="Arial" panose="020B0604020202020204" pitchFamily="34" charset="0"/>
              <a:buChar char="•"/>
            </a:pPr>
            <a:r>
              <a:rPr lang="en-IN" b="1" i="0" dirty="0">
                <a:effectLst/>
                <a:latin typeface="Arial" panose="020B0604020202020204" pitchFamily="34" charset="0"/>
              </a:rPr>
              <a:t>Linked list-based:</a:t>
            </a:r>
            <a:r>
              <a:rPr lang="en-IN" b="0" i="0" dirty="0">
                <a:effectLst/>
                <a:latin typeface="Arial" panose="020B0604020202020204" pitchFamily="34" charset="0"/>
              </a:rPr>
              <a:t> Uses dynamic memory allocation, handles fluctuating size well, but has extra memory overhead for pointers.</a:t>
            </a:r>
          </a:p>
          <a:p>
            <a:pPr algn="l">
              <a:buFont typeface="Arial" panose="020B0604020202020204" pitchFamily="34" charset="0"/>
              <a:buChar char="•"/>
            </a:pPr>
            <a:r>
              <a:rPr lang="en-IN" b="1" i="0" dirty="0">
                <a:effectLst/>
                <a:latin typeface="Arial" panose="020B0604020202020204" pitchFamily="34" charset="0"/>
              </a:rPr>
              <a:t>How do you implement a queue using two stacks (or a stack using two queues)?</a:t>
            </a:r>
            <a:r>
              <a:rPr lang="en-IN" b="0" i="0" dirty="0">
                <a:effectLst/>
                <a:latin typeface="Arial" panose="020B0604020202020204" pitchFamily="34" charset="0"/>
              </a:rPr>
              <a:t> These are classic problems that require understanding how to invert the natural LIFO/FIFO order using the operations of the other data structure.</a:t>
            </a:r>
          </a:p>
          <a:p>
            <a:pPr algn="l">
              <a:buFont typeface="Arial" panose="020B0604020202020204" pitchFamily="34" charset="0"/>
              <a:buChar char="•"/>
            </a:pPr>
            <a:r>
              <a:rPr lang="en-IN" b="1" i="0" dirty="0">
                <a:effectLst/>
                <a:latin typeface="Arial" panose="020B0604020202020204" pitchFamily="34" charset="0"/>
              </a:rPr>
              <a:t>Design a stack that supports retrieving the minimum element in O(1) time.</a:t>
            </a:r>
            <a:r>
              <a:rPr lang="en-IN" b="0" i="0" dirty="0">
                <a:effectLst/>
                <a:latin typeface="Arial" panose="020B0604020202020204" pitchFamily="34" charset="0"/>
              </a:rPr>
              <a:t> This usually involves using an auxiliary stack to keep track of the minimum value encountered so far. </a:t>
            </a:r>
          </a:p>
          <a:p>
            <a:pPr algn="l"/>
            <a:endParaRPr lang="en-IN" b="0" i="0" dirty="0">
              <a:effectLst/>
              <a:latin typeface="Arial" panose="020B0604020202020204" pitchFamily="34" charset="0"/>
            </a:endParaRPr>
          </a:p>
          <a:p>
            <a:endParaRPr lang="en-US" dirty="0"/>
          </a:p>
        </p:txBody>
      </p:sp>
    </p:spTree>
    <p:extLst>
      <p:ext uri="{BB962C8B-B14F-4D97-AF65-F5344CB8AC3E}">
        <p14:creationId xmlns:p14="http://schemas.microsoft.com/office/powerpoint/2010/main" val="1930583469"/>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15B3B-24D7-B942-1D80-593251D57A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0299D0-47E0-2B32-931A-2635D062B99F}"/>
              </a:ext>
            </a:extLst>
          </p:cNvPr>
          <p:cNvSpPr>
            <a:spLocks noGrp="1"/>
          </p:cNvSpPr>
          <p:nvPr>
            <p:ph type="title"/>
          </p:nvPr>
        </p:nvSpPr>
        <p:spPr/>
        <p:txBody>
          <a:bodyPr/>
          <a:lstStyle/>
          <a:p>
            <a:r>
              <a:rPr lang="en-IN" b="0" i="0" dirty="0">
                <a:effectLst/>
                <a:latin typeface="Google Sans"/>
              </a:rPr>
              <a:t>Coding Challenges</a:t>
            </a:r>
            <a:endParaRPr lang="en-US" dirty="0"/>
          </a:p>
        </p:txBody>
      </p:sp>
      <p:sp>
        <p:nvSpPr>
          <p:cNvPr id="3" name="Content Placeholder 2">
            <a:extLst>
              <a:ext uri="{FF2B5EF4-FFF2-40B4-BE49-F238E27FC236}">
                <a16:creationId xmlns:a16="http://schemas.microsoft.com/office/drawing/2014/main" id="{867688F7-8A14-CEA7-930A-B5CFDDF230CD}"/>
              </a:ext>
            </a:extLst>
          </p:cNvPr>
          <p:cNvSpPr>
            <a:spLocks noGrp="1"/>
          </p:cNvSpPr>
          <p:nvPr>
            <p:ph idx="1"/>
          </p:nvPr>
        </p:nvSpPr>
        <p:spPr/>
        <p:txBody>
          <a:bodyPr>
            <a:normAutofit lnSpcReduction="10000"/>
          </a:bodyPr>
          <a:lstStyle/>
          <a:p>
            <a:pPr algn="l"/>
            <a:r>
              <a:rPr lang="en-IN" b="0" i="0" dirty="0">
                <a:effectLst/>
                <a:latin typeface="Arial" panose="020B0604020202020204" pitchFamily="34" charset="0"/>
              </a:rPr>
              <a:t>These focus on using a stack to solve algorithmic problems. </a:t>
            </a:r>
          </a:p>
          <a:p>
            <a:pPr algn="l">
              <a:buFont typeface="Arial" panose="020B0604020202020204" pitchFamily="34" charset="0"/>
              <a:buChar char="•"/>
            </a:pPr>
            <a:r>
              <a:rPr lang="en-IN" b="1" i="0" dirty="0">
                <a:effectLst/>
                <a:latin typeface="Arial" panose="020B0604020202020204" pitchFamily="34" charset="0"/>
              </a:rPr>
              <a:t>Check if an expression has balanced parentheses/brackets.</a:t>
            </a:r>
            <a:r>
              <a:rPr lang="en-IN" b="0" i="0" dirty="0">
                <a:effectLst/>
                <a:latin typeface="Arial" panose="020B0604020202020204" pitchFamily="34" charset="0"/>
              </a:rPr>
              <a:t> Use a stack to push opening brackets and pop them when the corresponding closing bracket is found.</a:t>
            </a:r>
          </a:p>
          <a:p>
            <a:pPr algn="l">
              <a:buFont typeface="Arial" panose="020B0604020202020204" pitchFamily="34" charset="0"/>
              <a:buChar char="•"/>
            </a:pPr>
            <a:r>
              <a:rPr lang="en-IN" b="1" i="0" dirty="0">
                <a:effectLst/>
                <a:latin typeface="Arial" panose="020B0604020202020204" pitchFamily="34" charset="0"/>
              </a:rPr>
              <a:t>Reverse a string using a stack.</a:t>
            </a:r>
            <a:r>
              <a:rPr lang="en-IN" b="0" i="0" dirty="0">
                <a:effectLst/>
                <a:latin typeface="Arial" panose="020B0604020202020204" pitchFamily="34" charset="0"/>
              </a:rPr>
              <a:t> Push all characters onto a stack and then pop them off into a new string.</a:t>
            </a:r>
          </a:p>
          <a:p>
            <a:pPr algn="l">
              <a:buFont typeface="Arial" panose="020B0604020202020204" pitchFamily="34" charset="0"/>
              <a:buChar char="•"/>
            </a:pPr>
            <a:r>
              <a:rPr lang="en-IN" b="1" i="0" dirty="0">
                <a:effectLst/>
                <a:latin typeface="Arial" panose="020B0604020202020204" pitchFamily="34" charset="0"/>
              </a:rPr>
              <a:t>Evaluate a postfix or prefix expression.</a:t>
            </a:r>
            <a:r>
              <a:rPr lang="en-IN" b="0" i="0" dirty="0">
                <a:effectLst/>
                <a:latin typeface="Arial" panose="020B0604020202020204" pitchFamily="34" charset="0"/>
              </a:rPr>
              <a:t> The stack is used to hold operands and apply operators as they are encountered.</a:t>
            </a:r>
          </a:p>
          <a:p>
            <a:pPr algn="l">
              <a:buFont typeface="Arial" panose="020B0604020202020204" pitchFamily="34" charset="0"/>
              <a:buChar char="•"/>
            </a:pPr>
            <a:r>
              <a:rPr lang="en-IN" b="1" i="0" dirty="0">
                <a:effectLst/>
                <a:latin typeface="Arial" panose="020B0604020202020204" pitchFamily="34" charset="0"/>
              </a:rPr>
              <a:t>Implement an "undo" feature in a text editor.</a:t>
            </a:r>
            <a:r>
              <a:rPr lang="en-IN" b="0" i="0" dirty="0">
                <a:effectLst/>
                <a:latin typeface="Arial" panose="020B0604020202020204" pitchFamily="34" charset="0"/>
              </a:rPr>
              <a:t> Use one stack for actions performed and another for "redo" actions.</a:t>
            </a:r>
          </a:p>
          <a:p>
            <a:endParaRPr lang="en-US" dirty="0"/>
          </a:p>
        </p:txBody>
      </p:sp>
    </p:spTree>
    <p:extLst>
      <p:ext uri="{BB962C8B-B14F-4D97-AF65-F5344CB8AC3E}">
        <p14:creationId xmlns:p14="http://schemas.microsoft.com/office/powerpoint/2010/main" val="2059561673"/>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DA845-BC06-5201-E3AE-59347B4AB659}"/>
              </a:ext>
            </a:extLst>
          </p:cNvPr>
          <p:cNvSpPr>
            <a:spLocks noGrp="1"/>
          </p:cNvSpPr>
          <p:nvPr>
            <p:ph type="title"/>
          </p:nvPr>
        </p:nvSpPr>
        <p:spPr/>
        <p:txBody>
          <a:bodyPr/>
          <a:lstStyle/>
          <a:p>
            <a:r>
              <a:rPr lang="en-US" dirty="0"/>
              <a:t>Queue</a:t>
            </a:r>
          </a:p>
        </p:txBody>
      </p:sp>
      <p:sp>
        <p:nvSpPr>
          <p:cNvPr id="3" name="Content Placeholder 2">
            <a:extLst>
              <a:ext uri="{FF2B5EF4-FFF2-40B4-BE49-F238E27FC236}">
                <a16:creationId xmlns:a16="http://schemas.microsoft.com/office/drawing/2014/main" id="{9520CFED-284C-D4BB-AF33-7ECDB34FA9E8}"/>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1210164883"/>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3F955-7FB0-5CF5-88BB-0916CA5FFA7A}"/>
              </a:ext>
            </a:extLst>
          </p:cNvPr>
          <p:cNvSpPr>
            <a:spLocks noGrp="1"/>
          </p:cNvSpPr>
          <p:nvPr>
            <p:ph type="title"/>
          </p:nvPr>
        </p:nvSpPr>
        <p:spPr/>
        <p:txBody>
          <a:bodyPr/>
          <a:lstStyle/>
          <a:p>
            <a:r>
              <a:rPr lang="en-IN" b="0" i="0" dirty="0">
                <a:effectLst/>
                <a:latin typeface="Google Sans"/>
              </a:rPr>
              <a:t>Conceptual and Theoretical Questions</a:t>
            </a:r>
            <a:endParaRPr lang="en-US" dirty="0"/>
          </a:p>
        </p:txBody>
      </p:sp>
      <p:sp>
        <p:nvSpPr>
          <p:cNvPr id="3" name="Content Placeholder 2">
            <a:extLst>
              <a:ext uri="{FF2B5EF4-FFF2-40B4-BE49-F238E27FC236}">
                <a16:creationId xmlns:a16="http://schemas.microsoft.com/office/drawing/2014/main" id="{9B79D921-F148-6210-B1BD-F886D8E13663}"/>
              </a:ext>
            </a:extLst>
          </p:cNvPr>
          <p:cNvSpPr>
            <a:spLocks noGrp="1"/>
          </p:cNvSpPr>
          <p:nvPr>
            <p:ph idx="1"/>
          </p:nvPr>
        </p:nvSpPr>
        <p:spPr/>
        <p:txBody>
          <a:bodyPr>
            <a:normAutofit fontScale="47500" lnSpcReduction="20000"/>
          </a:bodyPr>
          <a:lstStyle/>
          <a:p>
            <a:pPr algn="l">
              <a:buFont typeface="Arial" panose="020B0604020202020204" pitchFamily="34" charset="0"/>
              <a:buChar char="•"/>
            </a:pPr>
            <a:r>
              <a:rPr lang="en-IN" b="1" i="0" dirty="0">
                <a:effectLst/>
                <a:latin typeface="Arial" panose="020B0604020202020204" pitchFamily="34" charset="0"/>
              </a:rPr>
              <a:t>What is a Queue?</a:t>
            </a:r>
            <a:br>
              <a:rPr lang="en-IN" b="0" i="0" dirty="0">
                <a:effectLst/>
                <a:latin typeface="Arial" panose="020B0604020202020204" pitchFamily="34" charset="0"/>
              </a:rPr>
            </a:br>
            <a:r>
              <a:rPr lang="en-IN" b="0" i="0" dirty="0">
                <a:effectLst/>
                <a:latin typeface="Arial" panose="020B0604020202020204" pitchFamily="34" charset="0"/>
              </a:rPr>
              <a:t>A queue is a linear data structure that follows the </a:t>
            </a:r>
            <a:r>
              <a:rPr lang="en-IN" b="1" i="0" dirty="0">
                <a:effectLst/>
                <a:latin typeface="Arial" panose="020B0604020202020204" pitchFamily="34" charset="0"/>
              </a:rPr>
              <a:t>FIFO (First-In, First-Out)</a:t>
            </a:r>
            <a:r>
              <a:rPr lang="en-IN" b="0" i="0" dirty="0">
                <a:effectLst/>
                <a:latin typeface="Arial" panose="020B0604020202020204" pitchFamily="34" charset="0"/>
              </a:rPr>
              <a:t> principle, meaning the first element added is the first one to be removed. Elements are added at the rear and removed from the front.</a:t>
            </a:r>
          </a:p>
          <a:p>
            <a:pPr algn="l">
              <a:buFont typeface="Arial" panose="020B0604020202020204" pitchFamily="34" charset="0"/>
              <a:buChar char="•"/>
            </a:pPr>
            <a:r>
              <a:rPr lang="en-IN" b="1" i="0" dirty="0">
                <a:effectLst/>
                <a:latin typeface="Arial" panose="020B0604020202020204" pitchFamily="34" charset="0"/>
              </a:rPr>
              <a:t>What are the basic operations of a Queue?</a:t>
            </a:r>
            <a:br>
              <a:rPr lang="en-IN" b="0" i="0" dirty="0">
                <a:effectLst/>
                <a:latin typeface="Arial" panose="020B0604020202020204" pitchFamily="34" charset="0"/>
              </a:rPr>
            </a:br>
            <a:r>
              <a:rPr lang="en-IN" b="0" i="0" dirty="0">
                <a:effectLst/>
                <a:latin typeface="Arial" panose="020B0604020202020204" pitchFamily="34" charset="0"/>
              </a:rPr>
              <a:t>The primary operations are enqueue (add element to the rear), dequeue (remove element from the front), peek or front (view the front element without removing it), </a:t>
            </a:r>
            <a:r>
              <a:rPr lang="en-IN" b="0" i="0" dirty="0" err="1">
                <a:effectLst/>
                <a:latin typeface="Arial" panose="020B0604020202020204" pitchFamily="34" charset="0"/>
              </a:rPr>
              <a:t>isEmpty</a:t>
            </a:r>
            <a:r>
              <a:rPr lang="en-IN" b="0" i="0" dirty="0">
                <a:effectLst/>
                <a:latin typeface="Arial" panose="020B0604020202020204" pitchFamily="34" charset="0"/>
              </a:rPr>
              <a:t> (check if the queue is empty), and </a:t>
            </a:r>
            <a:r>
              <a:rPr lang="en-IN" b="0" i="0" dirty="0" err="1">
                <a:effectLst/>
                <a:latin typeface="Arial" panose="020B0604020202020204" pitchFamily="34" charset="0"/>
              </a:rPr>
              <a:t>isFull</a:t>
            </a:r>
            <a:r>
              <a:rPr lang="en-IN" b="0" i="0" dirty="0">
                <a:effectLst/>
                <a:latin typeface="Arial" panose="020B0604020202020204" pitchFamily="34" charset="0"/>
              </a:rPr>
              <a:t> (check if the queue has reached capacity).</a:t>
            </a:r>
          </a:p>
          <a:p>
            <a:pPr algn="l">
              <a:buFont typeface="Arial" panose="020B0604020202020204" pitchFamily="34" charset="0"/>
              <a:buChar char="•"/>
            </a:pPr>
            <a:r>
              <a:rPr lang="en-IN" b="1" i="0" dirty="0">
                <a:effectLst/>
                <a:latin typeface="Arial" panose="020B0604020202020204" pitchFamily="34" charset="0"/>
              </a:rPr>
              <a:t>What are some real-world applications of Queues?</a:t>
            </a:r>
            <a:br>
              <a:rPr lang="en-IN" b="0" i="0" dirty="0">
                <a:effectLst/>
                <a:latin typeface="Arial" panose="020B0604020202020204" pitchFamily="34" charset="0"/>
              </a:rPr>
            </a:br>
            <a:r>
              <a:rPr lang="en-IN" b="0" i="0" dirty="0">
                <a:effectLst/>
                <a:latin typeface="Arial" panose="020B0604020202020204" pitchFamily="34" charset="0"/>
              </a:rPr>
              <a:t>Common applications include CPU task scheduling in operating systems, printer queues, call </a:t>
            </a:r>
            <a:r>
              <a:rPr lang="en-IN" b="0" i="0" dirty="0" err="1">
                <a:effectLst/>
                <a:latin typeface="Arial" panose="020B0604020202020204" pitchFamily="34" charset="0"/>
              </a:rPr>
              <a:t>center</a:t>
            </a:r>
            <a:r>
              <a:rPr lang="en-IN" b="0" i="0" dirty="0">
                <a:effectLst/>
                <a:latin typeface="Arial" panose="020B0604020202020204" pitchFamily="34" charset="0"/>
              </a:rPr>
              <a:t> systems, and the Breadth-First Search (BFS) algorithm in graphs.</a:t>
            </a:r>
          </a:p>
          <a:p>
            <a:pPr algn="l">
              <a:buFont typeface="Arial" panose="020B0604020202020204" pitchFamily="34" charset="0"/>
              <a:buChar char="•"/>
            </a:pPr>
            <a:r>
              <a:rPr lang="en-IN" b="1" i="0" dirty="0">
                <a:effectLst/>
                <a:latin typeface="Arial" panose="020B0604020202020204" pitchFamily="34" charset="0"/>
              </a:rPr>
              <a:t>What is the difference between a Queue and a Stack?</a:t>
            </a:r>
            <a:br>
              <a:rPr lang="en-IN" b="0" i="0" dirty="0">
                <a:effectLst/>
                <a:latin typeface="Arial" panose="020B0604020202020204" pitchFamily="34" charset="0"/>
              </a:rPr>
            </a:br>
            <a:r>
              <a:rPr lang="en-IN" b="0" i="0" dirty="0">
                <a:effectLst/>
                <a:latin typeface="Arial" panose="020B0604020202020204" pitchFamily="34" charset="0"/>
              </a:rPr>
              <a:t>A queue follows the FIFO principle, while a stack follows the Last-In-First-Out (LIFO) principle. Queues use two pointers (front and rear), while a stack uses a single pointer (top).</a:t>
            </a:r>
          </a:p>
          <a:p>
            <a:pPr algn="l">
              <a:buFont typeface="Arial" panose="020B0604020202020204" pitchFamily="34" charset="0"/>
              <a:buChar char="•"/>
            </a:pPr>
            <a:r>
              <a:rPr lang="en-IN" b="1" i="0" dirty="0">
                <a:effectLst/>
                <a:latin typeface="Arial" panose="020B0604020202020204" pitchFamily="34" charset="0"/>
              </a:rPr>
              <a:t>Name some different types of Queues.</a:t>
            </a:r>
            <a:br>
              <a:rPr lang="en-IN" b="0" i="0" dirty="0">
                <a:effectLst/>
                <a:latin typeface="Arial" panose="020B0604020202020204" pitchFamily="34" charset="0"/>
              </a:rPr>
            </a:br>
            <a:r>
              <a:rPr lang="en-IN" b="0" i="0" dirty="0">
                <a:effectLst/>
                <a:latin typeface="Arial" panose="020B0604020202020204" pitchFamily="34" charset="0"/>
              </a:rPr>
              <a:t>Types include Simple Queue, Circular Queue, Priority Queue, and Double-Ended Queue (Deque).</a:t>
            </a:r>
          </a:p>
          <a:p>
            <a:pPr algn="l">
              <a:buFont typeface="Arial" panose="020B0604020202020204" pitchFamily="34" charset="0"/>
              <a:buChar char="•"/>
            </a:pPr>
            <a:r>
              <a:rPr lang="en-IN" b="1" i="0" dirty="0">
                <a:effectLst/>
                <a:latin typeface="Arial" panose="020B0604020202020204" pitchFamily="34" charset="0"/>
              </a:rPr>
              <a:t>What is a Circular Queue and why is it useful?</a:t>
            </a:r>
            <a:br>
              <a:rPr lang="en-IN" b="0" i="0" dirty="0">
                <a:effectLst/>
                <a:latin typeface="Arial" panose="020B0604020202020204" pitchFamily="34" charset="0"/>
              </a:rPr>
            </a:br>
            <a:r>
              <a:rPr lang="en-IN" b="0" i="0" dirty="0">
                <a:effectLst/>
                <a:latin typeface="Arial" panose="020B0604020202020204" pitchFamily="34" charset="0"/>
              </a:rPr>
              <a:t>A circular queue is a queue implemented in a fixed-size array where the last element points back to the first element, forming a circle. This efficiently reuses empty space created by dequeue operations, solving the "false full" problem of a linear array-based queue.</a:t>
            </a:r>
          </a:p>
          <a:p>
            <a:pPr algn="l">
              <a:buFont typeface="Arial" panose="020B0604020202020204" pitchFamily="34" charset="0"/>
              <a:buChar char="•"/>
            </a:pPr>
            <a:r>
              <a:rPr lang="en-IN" b="1" i="0" dirty="0">
                <a:effectLst/>
                <a:latin typeface="Arial" panose="020B0604020202020204" pitchFamily="34" charset="0"/>
              </a:rPr>
              <a:t>What is a Priority Queue?</a:t>
            </a:r>
            <a:br>
              <a:rPr lang="en-IN" b="0" i="0" dirty="0">
                <a:effectLst/>
                <a:latin typeface="Arial" panose="020B0604020202020204" pitchFamily="34" charset="0"/>
              </a:rPr>
            </a:br>
            <a:r>
              <a:rPr lang="en-IN" b="0" i="0" dirty="0">
                <a:effectLst/>
                <a:latin typeface="Arial" panose="020B0604020202020204" pitchFamily="34" charset="0"/>
              </a:rPr>
              <a:t>A priority queue is a special type of queue where elements are dequeued based on an assigned priority, not necessarily their arrival order. It is often implemented using a binary heap. </a:t>
            </a:r>
          </a:p>
        </p:txBody>
      </p:sp>
    </p:spTree>
    <p:extLst>
      <p:ext uri="{BB962C8B-B14F-4D97-AF65-F5344CB8AC3E}">
        <p14:creationId xmlns:p14="http://schemas.microsoft.com/office/powerpoint/2010/main" val="3069723818"/>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19D4B-4A94-0634-B0FD-0AE273F04C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9D340A-EB7B-E2BF-9696-31FE525479B7}"/>
              </a:ext>
            </a:extLst>
          </p:cNvPr>
          <p:cNvSpPr>
            <a:spLocks noGrp="1"/>
          </p:cNvSpPr>
          <p:nvPr>
            <p:ph type="title"/>
          </p:nvPr>
        </p:nvSpPr>
        <p:spPr/>
        <p:txBody>
          <a:bodyPr>
            <a:normAutofit/>
          </a:bodyPr>
          <a:lstStyle/>
          <a:p>
            <a:r>
              <a:rPr lang="en-IN" b="0" i="0" dirty="0">
                <a:effectLst/>
                <a:latin typeface="Google Sans"/>
              </a:rPr>
              <a:t>Implementation and Problem-Solving Questions</a:t>
            </a:r>
            <a:endParaRPr lang="en-US" dirty="0"/>
          </a:p>
        </p:txBody>
      </p:sp>
      <p:sp>
        <p:nvSpPr>
          <p:cNvPr id="3" name="Content Placeholder 2">
            <a:extLst>
              <a:ext uri="{FF2B5EF4-FFF2-40B4-BE49-F238E27FC236}">
                <a16:creationId xmlns:a16="http://schemas.microsoft.com/office/drawing/2014/main" id="{00CFB1AF-30A1-C490-3CD2-8BE6A355C470}"/>
              </a:ext>
            </a:extLst>
          </p:cNvPr>
          <p:cNvSpPr>
            <a:spLocks noGrp="1"/>
          </p:cNvSpPr>
          <p:nvPr>
            <p:ph idx="1"/>
          </p:nvPr>
        </p:nvSpPr>
        <p:spPr/>
        <p:txBody>
          <a:bodyPr>
            <a:normAutofit fontScale="47500" lnSpcReduction="20000"/>
          </a:bodyPr>
          <a:lstStyle/>
          <a:p>
            <a:pPr algn="l">
              <a:buFont typeface="Arial" panose="020B0604020202020204" pitchFamily="34" charset="0"/>
              <a:buChar char="•"/>
            </a:pPr>
            <a:r>
              <a:rPr lang="en-IN" b="1" i="0" dirty="0">
                <a:effectLst/>
                <a:latin typeface="Arial" panose="020B0604020202020204" pitchFamily="34" charset="0"/>
              </a:rPr>
              <a:t>How can a Queue be implemented?</a:t>
            </a:r>
            <a:br>
              <a:rPr lang="en-IN" b="0" i="0" dirty="0">
                <a:effectLst/>
                <a:latin typeface="Arial" panose="020B0604020202020204" pitchFamily="34" charset="0"/>
              </a:rPr>
            </a:br>
            <a:r>
              <a:rPr lang="en-IN" b="0" i="0" dirty="0">
                <a:effectLst/>
                <a:latin typeface="Arial" panose="020B0604020202020204" pitchFamily="34" charset="0"/>
              </a:rPr>
              <a:t>Queues can be implemented using arrays (static or dynamic, and circular) or linked lists. Linked list implementations are generally more efficient for dynamic resizing.</a:t>
            </a:r>
          </a:p>
          <a:p>
            <a:pPr algn="l">
              <a:buFont typeface="Arial" panose="020B0604020202020204" pitchFamily="34" charset="0"/>
              <a:buChar char="•"/>
            </a:pPr>
            <a:r>
              <a:rPr lang="en-IN" b="1" i="0" dirty="0">
                <a:effectLst/>
                <a:latin typeface="Arial" panose="020B0604020202020204" pitchFamily="34" charset="0"/>
              </a:rPr>
              <a:t>What is the time complexity of Queue operations?</a:t>
            </a:r>
            <a:br>
              <a:rPr lang="en-IN" b="0" i="0" dirty="0">
                <a:effectLst/>
                <a:latin typeface="Arial" panose="020B0604020202020204" pitchFamily="34" charset="0"/>
              </a:rPr>
            </a:br>
            <a:r>
              <a:rPr lang="en-IN" b="0" i="0" dirty="0">
                <a:effectLst/>
                <a:latin typeface="Arial" panose="020B0604020202020204" pitchFamily="34" charset="0"/>
              </a:rPr>
              <a:t>For an optimized implementation (linked list or circular array):</a:t>
            </a:r>
          </a:p>
          <a:p>
            <a:pPr marL="742950" lvl="1" indent="-285750" algn="l">
              <a:buFont typeface="Arial" panose="020B0604020202020204" pitchFamily="34" charset="0"/>
              <a:buChar char="•"/>
            </a:pPr>
            <a:r>
              <a:rPr lang="en-IN" b="0" i="0" dirty="0">
                <a:effectLst/>
                <a:latin typeface="Arial" panose="020B0604020202020204" pitchFamily="34" charset="0"/>
              </a:rPr>
              <a:t>Enqueue: O(1)</a:t>
            </a:r>
          </a:p>
          <a:p>
            <a:pPr marL="742950" lvl="1" indent="-285750" algn="l">
              <a:buFont typeface="Arial" panose="020B0604020202020204" pitchFamily="34" charset="0"/>
              <a:buChar char="•"/>
            </a:pPr>
            <a:r>
              <a:rPr lang="en-IN" b="0" i="0" dirty="0">
                <a:effectLst/>
                <a:latin typeface="Arial" panose="020B0604020202020204" pitchFamily="34" charset="0"/>
              </a:rPr>
              <a:t>Dequeue: O(1)</a:t>
            </a:r>
          </a:p>
          <a:p>
            <a:pPr marL="742950" lvl="1" indent="-285750" algn="l">
              <a:buFont typeface="Arial" panose="020B0604020202020204" pitchFamily="34" charset="0"/>
              <a:buChar char="•"/>
            </a:pPr>
            <a:r>
              <a:rPr lang="en-IN" b="0" i="0" dirty="0">
                <a:effectLst/>
                <a:latin typeface="Arial" panose="020B0604020202020204" pitchFamily="34" charset="0"/>
              </a:rPr>
              <a:t>Peek: O(1)</a:t>
            </a:r>
          </a:p>
          <a:p>
            <a:pPr marL="742950" lvl="1" indent="-285750" algn="l">
              <a:buFont typeface="Arial" panose="020B0604020202020204" pitchFamily="34" charset="0"/>
              <a:buChar char="•"/>
            </a:pPr>
            <a:r>
              <a:rPr lang="en-IN" b="0" i="0" dirty="0">
                <a:effectLst/>
                <a:latin typeface="Arial" panose="020B0604020202020204" pitchFamily="34" charset="0"/>
              </a:rPr>
              <a:t>Search: O(n) (linear scan required)</a:t>
            </a:r>
          </a:p>
          <a:p>
            <a:pPr algn="l">
              <a:buFont typeface="Arial" panose="020B0604020202020204" pitchFamily="34" charset="0"/>
              <a:buChar char="•"/>
            </a:pPr>
            <a:r>
              <a:rPr lang="en-IN" b="1" i="0" dirty="0">
                <a:effectLst/>
                <a:latin typeface="Arial" panose="020B0604020202020204" pitchFamily="34" charset="0"/>
              </a:rPr>
              <a:t>How would you implement a Queue using two Stacks?</a:t>
            </a:r>
            <a:br>
              <a:rPr lang="en-IN" b="0" i="0" dirty="0">
                <a:effectLst/>
                <a:latin typeface="Arial" panose="020B0604020202020204" pitchFamily="34" charset="0"/>
              </a:rPr>
            </a:br>
            <a:r>
              <a:rPr lang="en-IN" b="0" i="0" dirty="0">
                <a:effectLst/>
                <a:latin typeface="Arial" panose="020B0604020202020204" pitchFamily="34" charset="0"/>
              </a:rPr>
              <a:t>This classic problem can be solved by making either the enqueue or dequeue operation costly (O(n) complexity for that specific operation, O(1) for the other).</a:t>
            </a:r>
          </a:p>
          <a:p>
            <a:pPr algn="l">
              <a:buFont typeface="Arial" panose="020B0604020202020204" pitchFamily="34" charset="0"/>
              <a:buChar char="•"/>
            </a:pPr>
            <a:r>
              <a:rPr lang="en-IN" b="1" i="0" dirty="0">
                <a:effectLst/>
                <a:latin typeface="Arial" panose="020B0604020202020204" pitchFamily="34" charset="0"/>
              </a:rPr>
              <a:t>How do you reverse a Queue?</a:t>
            </a:r>
            <a:br>
              <a:rPr lang="en-IN" b="0" i="0" dirty="0">
                <a:effectLst/>
                <a:latin typeface="Arial" panose="020B0604020202020204" pitchFamily="34" charset="0"/>
              </a:rPr>
            </a:br>
            <a:r>
              <a:rPr lang="en-IN" b="0" i="0" dirty="0">
                <a:effectLst/>
                <a:latin typeface="Arial" panose="020B0604020202020204" pitchFamily="34" charset="0"/>
              </a:rPr>
              <a:t>A queue can be reversed using an auxiliary stack or through recursion, both typically with O(n) time and space complexity.</a:t>
            </a:r>
          </a:p>
          <a:p>
            <a:pPr algn="l">
              <a:buFont typeface="Arial" panose="020B0604020202020204" pitchFamily="34" charset="0"/>
              <a:buChar char="•"/>
            </a:pPr>
            <a:r>
              <a:rPr lang="en-IN" b="1" i="0" dirty="0">
                <a:effectLst/>
                <a:latin typeface="Arial" panose="020B0604020202020204" pitchFamily="34" charset="0"/>
              </a:rPr>
              <a:t>Coding Challenge: Implement a Queue with O(1) time complexity for enqueue, dequeue, and finding the maximum element.</a:t>
            </a:r>
            <a:br>
              <a:rPr lang="en-IN" b="0" i="0" dirty="0">
                <a:effectLst/>
                <a:latin typeface="Arial" panose="020B0604020202020204" pitchFamily="34" charset="0"/>
              </a:rPr>
            </a:br>
            <a:r>
              <a:rPr lang="en-IN" b="0" i="0" dirty="0">
                <a:effectLst/>
                <a:latin typeface="Arial" panose="020B0604020202020204" pitchFamily="34" charset="0"/>
              </a:rPr>
              <a:t>This advanced problem requires using an auxiliary data structure, like a monotonic deque, alongside the main queue to track the maximum element efficiently.</a:t>
            </a:r>
          </a:p>
          <a:p>
            <a:pPr algn="l">
              <a:buFont typeface="Arial" panose="020B0604020202020204" pitchFamily="34" charset="0"/>
              <a:buChar char="•"/>
            </a:pPr>
            <a:r>
              <a:rPr lang="en-IN" b="1" i="0" dirty="0">
                <a:effectLst/>
                <a:latin typeface="Arial" panose="020B0604020202020204" pitchFamily="34" charset="0"/>
              </a:rPr>
              <a:t>What problem does the "Sliding Window Maximum" problem solve, and how are queues involved?</a:t>
            </a:r>
            <a:br>
              <a:rPr lang="en-IN" b="0" i="0" dirty="0">
                <a:effectLst/>
                <a:latin typeface="Arial" panose="020B0604020202020204" pitchFamily="34" charset="0"/>
              </a:rPr>
            </a:br>
            <a:r>
              <a:rPr lang="en-IN" b="0" i="0" dirty="0">
                <a:effectLst/>
                <a:latin typeface="Arial" panose="020B0604020202020204" pitchFamily="34" charset="0"/>
              </a:rPr>
              <a:t>This problem (a common hard coding question) involves finding the maximum element in a fixed-size window as it slides across an array. A deque is used to efficiently keep track of potential maximums within the current window in O(1) average time. </a:t>
            </a:r>
          </a:p>
          <a:p>
            <a:endParaRPr lang="en-US" dirty="0"/>
          </a:p>
        </p:txBody>
      </p:sp>
    </p:spTree>
    <p:extLst>
      <p:ext uri="{BB962C8B-B14F-4D97-AF65-F5344CB8AC3E}">
        <p14:creationId xmlns:p14="http://schemas.microsoft.com/office/powerpoint/2010/main" val="1623604602"/>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A1BF6-0875-E399-E3A2-78767146E1F4}"/>
              </a:ext>
            </a:extLst>
          </p:cNvPr>
          <p:cNvSpPr>
            <a:spLocks noGrp="1"/>
          </p:cNvSpPr>
          <p:nvPr>
            <p:ph type="title"/>
          </p:nvPr>
        </p:nvSpPr>
        <p:spPr/>
        <p:txBody>
          <a:bodyPr/>
          <a:lstStyle/>
          <a:p>
            <a:r>
              <a:rPr lang="en-US" dirty="0"/>
              <a:t>Linked List</a:t>
            </a:r>
          </a:p>
        </p:txBody>
      </p:sp>
      <p:sp>
        <p:nvSpPr>
          <p:cNvPr id="3" name="Content Placeholder 2">
            <a:extLst>
              <a:ext uri="{FF2B5EF4-FFF2-40B4-BE49-F238E27FC236}">
                <a16:creationId xmlns:a16="http://schemas.microsoft.com/office/drawing/2014/main" id="{2C595E66-A6A0-C3E4-67B7-9E09CEA7D03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821255958"/>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29EB8-22C5-D4EB-D33D-63932A650F79}"/>
              </a:ext>
            </a:extLst>
          </p:cNvPr>
          <p:cNvSpPr>
            <a:spLocks noGrp="1"/>
          </p:cNvSpPr>
          <p:nvPr>
            <p:ph type="title"/>
          </p:nvPr>
        </p:nvSpPr>
        <p:spPr/>
        <p:txBody>
          <a:bodyPr/>
          <a:lstStyle/>
          <a:p>
            <a:r>
              <a:rPr lang="en-IN" b="0" i="0" dirty="0">
                <a:effectLst/>
                <a:latin typeface="Google Sans"/>
              </a:rPr>
              <a:t>Foundational Questions</a:t>
            </a:r>
            <a:endParaRPr lang="en-US" dirty="0"/>
          </a:p>
        </p:txBody>
      </p:sp>
      <p:sp>
        <p:nvSpPr>
          <p:cNvPr id="3" name="Content Placeholder 2">
            <a:extLst>
              <a:ext uri="{FF2B5EF4-FFF2-40B4-BE49-F238E27FC236}">
                <a16:creationId xmlns:a16="http://schemas.microsoft.com/office/drawing/2014/main" id="{B32B5FEA-214F-F19F-4873-AED07D580EB9}"/>
              </a:ext>
            </a:extLst>
          </p:cNvPr>
          <p:cNvSpPr>
            <a:spLocks noGrp="1"/>
          </p:cNvSpPr>
          <p:nvPr>
            <p:ph idx="1"/>
          </p:nvPr>
        </p:nvSpPr>
        <p:spPr/>
        <p:txBody>
          <a:bodyPr>
            <a:normAutofit fontScale="62500" lnSpcReduction="20000"/>
          </a:bodyPr>
          <a:lstStyle/>
          <a:p>
            <a:pPr algn="l">
              <a:buFont typeface="Arial" panose="020B0604020202020204" pitchFamily="34" charset="0"/>
              <a:buChar char="•"/>
            </a:pPr>
            <a:r>
              <a:rPr lang="en-IN" b="1" i="0" dirty="0">
                <a:effectLst/>
                <a:latin typeface="Arial" panose="020B0604020202020204" pitchFamily="34" charset="0"/>
              </a:rPr>
              <a:t>What is a linked list, and how does it differ from an array?</a:t>
            </a:r>
            <a:endParaRPr lang="en-IN" b="0" i="0" dirty="0">
              <a:effectLst/>
              <a:latin typeface="Arial" panose="020B0604020202020204" pitchFamily="34" charset="0"/>
            </a:endParaRPr>
          </a:p>
          <a:p>
            <a:pPr marL="742950" lvl="1" indent="-285750" algn="l">
              <a:buFont typeface="Arial" panose="020B0604020202020204" pitchFamily="34" charset="0"/>
              <a:buChar char="•"/>
            </a:pPr>
            <a:r>
              <a:rPr lang="en-IN" b="0" i="0" dirty="0">
                <a:effectLst/>
                <a:latin typeface="Arial" panose="020B0604020202020204" pitchFamily="34" charset="0"/>
              </a:rPr>
              <a:t>A linked list is a sequence of nodes, where each node contains data and a pointer (or reference) to the next node.</a:t>
            </a:r>
          </a:p>
          <a:p>
            <a:pPr marL="742950" lvl="1" indent="-285750" algn="l">
              <a:buFont typeface="Arial" panose="020B0604020202020204" pitchFamily="34" charset="0"/>
              <a:buChar char="•"/>
            </a:pPr>
            <a:r>
              <a:rPr lang="en-IN" b="0" i="0" dirty="0">
                <a:effectLst/>
                <a:latin typeface="Arial" panose="020B0604020202020204" pitchFamily="34" charset="0"/>
              </a:rPr>
              <a:t>Unlike arrays, linked lists use </a:t>
            </a:r>
            <a:r>
              <a:rPr lang="en-IN" b="1" i="0" dirty="0">
                <a:effectLst/>
                <a:latin typeface="Arial" panose="020B0604020202020204" pitchFamily="34" charset="0"/>
              </a:rPr>
              <a:t>dynamic memory allocation</a:t>
            </a:r>
            <a:r>
              <a:rPr lang="en-IN" b="0" i="0" dirty="0">
                <a:effectLst/>
                <a:latin typeface="Arial" panose="020B0604020202020204" pitchFamily="34" charset="0"/>
              </a:rPr>
              <a:t> (nodes can be stored anywhere in memory, not in contiguous blocks) and do not require pre-allocation of a fixed size.</a:t>
            </a:r>
          </a:p>
          <a:p>
            <a:pPr marL="742950" lvl="1" indent="-285750" algn="l">
              <a:buFont typeface="Arial" panose="020B0604020202020204" pitchFamily="34" charset="0"/>
              <a:buChar char="•"/>
            </a:pPr>
            <a:r>
              <a:rPr lang="en-IN" b="1" i="0" dirty="0">
                <a:effectLst/>
                <a:latin typeface="Arial" panose="020B0604020202020204" pitchFamily="34" charset="0"/>
              </a:rPr>
              <a:t>Insertion and deletion</a:t>
            </a:r>
            <a:r>
              <a:rPr lang="en-IN" b="0" i="0" dirty="0">
                <a:effectLst/>
                <a:latin typeface="Arial" panose="020B0604020202020204" pitchFamily="34" charset="0"/>
              </a:rPr>
              <a:t> are more efficient in linked lists (O(1) at the head, O(n) in the middle/end) than in arrays, which often require shifting elements.</a:t>
            </a:r>
          </a:p>
          <a:p>
            <a:pPr marL="742950" lvl="1" indent="-285750" algn="l">
              <a:buFont typeface="Arial" panose="020B0604020202020204" pitchFamily="34" charset="0"/>
              <a:buChar char="•"/>
            </a:pPr>
            <a:r>
              <a:rPr lang="en-IN" b="1" i="0" dirty="0">
                <a:effectLst/>
                <a:latin typeface="Arial" panose="020B0604020202020204" pitchFamily="34" charset="0"/>
              </a:rPr>
              <a:t>Random access</a:t>
            </a:r>
            <a:r>
              <a:rPr lang="en-IN" b="0" i="0" dirty="0">
                <a:effectLst/>
                <a:latin typeface="Arial" panose="020B0604020202020204" pitchFamily="34" charset="0"/>
              </a:rPr>
              <a:t> to an element is O(n) for a linked list (requiring traversal from the head), while it is O(1) for an array.</a:t>
            </a:r>
          </a:p>
          <a:p>
            <a:pPr algn="l">
              <a:buFont typeface="Arial" panose="020B0604020202020204" pitchFamily="34" charset="0"/>
              <a:buChar char="•"/>
            </a:pPr>
            <a:r>
              <a:rPr lang="en-IN" b="1" i="0" dirty="0">
                <a:effectLst/>
                <a:latin typeface="Arial" panose="020B0604020202020204" pitchFamily="34" charset="0"/>
              </a:rPr>
              <a:t>What are the different types of linked lists?</a:t>
            </a:r>
            <a:endParaRPr lang="en-IN" b="0" i="0" dirty="0">
              <a:effectLst/>
              <a:latin typeface="Arial" panose="020B0604020202020204" pitchFamily="34" charset="0"/>
            </a:endParaRPr>
          </a:p>
          <a:p>
            <a:pPr marL="742950" lvl="1" indent="-285750" algn="l">
              <a:buFont typeface="Arial" panose="020B0604020202020204" pitchFamily="34" charset="0"/>
              <a:buChar char="•"/>
            </a:pPr>
            <a:r>
              <a:rPr lang="en-IN" b="1" i="0" dirty="0">
                <a:effectLst/>
                <a:latin typeface="Arial" panose="020B0604020202020204" pitchFamily="34" charset="0"/>
              </a:rPr>
              <a:t>Singly Linked List</a:t>
            </a:r>
            <a:r>
              <a:rPr lang="en-IN" b="0" i="0" dirty="0">
                <a:effectLst/>
                <a:latin typeface="Arial" panose="020B0604020202020204" pitchFamily="34" charset="0"/>
              </a:rPr>
              <a:t>: Nodes have a single pointer to the next node.</a:t>
            </a:r>
          </a:p>
          <a:p>
            <a:pPr marL="742950" lvl="1" indent="-285750" algn="l">
              <a:buFont typeface="Arial" panose="020B0604020202020204" pitchFamily="34" charset="0"/>
              <a:buChar char="•"/>
            </a:pPr>
            <a:r>
              <a:rPr lang="en-IN" b="1" i="0" dirty="0">
                <a:effectLst/>
                <a:latin typeface="Arial" panose="020B0604020202020204" pitchFamily="34" charset="0"/>
              </a:rPr>
              <a:t>Doubly Linked List</a:t>
            </a:r>
            <a:r>
              <a:rPr lang="en-IN" b="0" i="0" dirty="0">
                <a:effectLst/>
                <a:latin typeface="Arial" panose="020B0604020202020204" pitchFamily="34" charset="0"/>
              </a:rPr>
              <a:t>: Nodes have pointers to both the next and the previous node, allowing for traversal in both directions.</a:t>
            </a:r>
          </a:p>
          <a:p>
            <a:pPr marL="742950" lvl="1" indent="-285750" algn="l">
              <a:buFont typeface="Arial" panose="020B0604020202020204" pitchFamily="34" charset="0"/>
              <a:buChar char="•"/>
            </a:pPr>
            <a:r>
              <a:rPr lang="en-IN" b="1" i="0" dirty="0">
                <a:effectLst/>
                <a:latin typeface="Arial" panose="020B0604020202020204" pitchFamily="34" charset="0"/>
              </a:rPr>
              <a:t>Circular Linked List</a:t>
            </a:r>
            <a:r>
              <a:rPr lang="en-IN" b="0" i="0" dirty="0">
                <a:effectLst/>
                <a:latin typeface="Arial" panose="020B0604020202020204" pitchFamily="34" charset="0"/>
              </a:rPr>
              <a:t>: The last node points back to the first (head) node, forming a loop.</a:t>
            </a:r>
          </a:p>
          <a:p>
            <a:pPr marL="742950" lvl="1" indent="-285750" algn="l">
              <a:buFont typeface="Arial" panose="020B0604020202020204" pitchFamily="34" charset="0"/>
              <a:buChar char="•"/>
            </a:pPr>
            <a:r>
              <a:rPr lang="en-IN" b="1" i="0" dirty="0">
                <a:effectLst/>
                <a:latin typeface="Arial" panose="020B0604020202020204" pitchFamily="34" charset="0"/>
              </a:rPr>
              <a:t>Doubly Circular Linked List</a:t>
            </a:r>
            <a:r>
              <a:rPr lang="en-IN" b="0" i="0" dirty="0">
                <a:effectLst/>
                <a:latin typeface="Arial" panose="020B0604020202020204" pitchFamily="34" charset="0"/>
              </a:rPr>
              <a:t>: Combines the properties of both doubly linked lists and circular linked lists.</a:t>
            </a:r>
          </a:p>
          <a:p>
            <a:pPr algn="l">
              <a:buFont typeface="Arial" panose="020B0604020202020204" pitchFamily="34" charset="0"/>
              <a:buChar char="•"/>
            </a:pPr>
            <a:r>
              <a:rPr lang="en-IN" b="1" i="0" dirty="0">
                <a:effectLst/>
                <a:latin typeface="Arial" panose="020B0604020202020204" pitchFamily="34" charset="0"/>
              </a:rPr>
              <a:t>What are some common applications of linked lists?</a:t>
            </a:r>
            <a:endParaRPr lang="en-IN" b="0" i="0" dirty="0">
              <a:effectLst/>
              <a:latin typeface="Arial" panose="020B0604020202020204" pitchFamily="34" charset="0"/>
            </a:endParaRPr>
          </a:p>
          <a:p>
            <a:pPr marL="742950" lvl="1" indent="-285750" algn="l">
              <a:buFont typeface="Arial" panose="020B0604020202020204" pitchFamily="34" charset="0"/>
              <a:buChar char="•"/>
            </a:pPr>
            <a:r>
              <a:rPr lang="en-IN" b="0" i="0" dirty="0">
                <a:effectLst/>
                <a:latin typeface="Arial" panose="020B0604020202020204" pitchFamily="34" charset="0"/>
              </a:rPr>
              <a:t>Implementing other data structures like </a:t>
            </a:r>
            <a:r>
              <a:rPr lang="en-IN" b="1" i="0" dirty="0">
                <a:effectLst/>
                <a:latin typeface="Arial" panose="020B0604020202020204" pitchFamily="34" charset="0"/>
              </a:rPr>
              <a:t>stacks and queues</a:t>
            </a:r>
            <a:r>
              <a:rPr lang="en-IN" b="0" i="0" dirty="0">
                <a:effectLst/>
                <a:latin typeface="Arial" panose="020B0604020202020204" pitchFamily="34" charset="0"/>
              </a:rPr>
              <a:t>.</a:t>
            </a:r>
          </a:p>
          <a:p>
            <a:pPr marL="742950" lvl="1" indent="-285750" algn="l">
              <a:buFont typeface="Arial" panose="020B0604020202020204" pitchFamily="34" charset="0"/>
              <a:buChar char="•"/>
            </a:pPr>
            <a:r>
              <a:rPr lang="en-IN" b="0" i="0" dirty="0">
                <a:effectLst/>
                <a:latin typeface="Arial" panose="020B0604020202020204" pitchFamily="34" charset="0"/>
              </a:rPr>
              <a:t>Managing dynamic memory allocation in operating systems.</a:t>
            </a:r>
          </a:p>
          <a:p>
            <a:pPr marL="742950" lvl="1" indent="-285750" algn="l">
              <a:buFont typeface="Arial" panose="020B0604020202020204" pitchFamily="34" charset="0"/>
              <a:buChar char="•"/>
            </a:pPr>
            <a:r>
              <a:rPr lang="en-IN" b="0" i="0" dirty="0">
                <a:effectLst/>
                <a:latin typeface="Arial" panose="020B0604020202020204" pitchFamily="34" charset="0"/>
              </a:rPr>
              <a:t>Storing browser history for forward and backward navigation.</a:t>
            </a:r>
          </a:p>
          <a:p>
            <a:pPr marL="742950" lvl="1" indent="-285750" algn="l">
              <a:buFont typeface="Arial" panose="020B0604020202020204" pitchFamily="34" charset="0"/>
              <a:buChar char="•"/>
            </a:pPr>
            <a:r>
              <a:rPr lang="en-IN" b="0" i="0" dirty="0">
                <a:effectLst/>
                <a:latin typeface="Arial" panose="020B0604020202020204" pitchFamily="34" charset="0"/>
              </a:rPr>
              <a:t>Representing polynomials and sparse matrices. </a:t>
            </a:r>
          </a:p>
        </p:txBody>
      </p:sp>
    </p:spTree>
    <p:extLst>
      <p:ext uri="{BB962C8B-B14F-4D97-AF65-F5344CB8AC3E}">
        <p14:creationId xmlns:p14="http://schemas.microsoft.com/office/powerpoint/2010/main" val="898344362"/>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FFFAD-8AF0-5A05-A518-24EE6479F3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5A1A85-AEB0-98E8-020B-972EE82F782B}"/>
              </a:ext>
            </a:extLst>
          </p:cNvPr>
          <p:cNvSpPr>
            <a:spLocks noGrp="1"/>
          </p:cNvSpPr>
          <p:nvPr>
            <p:ph type="title"/>
          </p:nvPr>
        </p:nvSpPr>
        <p:spPr/>
        <p:txBody>
          <a:bodyPr/>
          <a:lstStyle/>
          <a:p>
            <a:r>
              <a:rPr lang="en-IN" b="0" i="0" dirty="0">
                <a:effectLst/>
                <a:latin typeface="Google Sans"/>
              </a:rPr>
              <a:t>Problem-Solving Questions</a:t>
            </a:r>
            <a:endParaRPr lang="en-US" dirty="0"/>
          </a:p>
        </p:txBody>
      </p:sp>
      <p:sp>
        <p:nvSpPr>
          <p:cNvPr id="3" name="Content Placeholder 2">
            <a:extLst>
              <a:ext uri="{FF2B5EF4-FFF2-40B4-BE49-F238E27FC236}">
                <a16:creationId xmlns:a16="http://schemas.microsoft.com/office/drawing/2014/main" id="{921277A2-2FC3-E57A-869A-1F34E9113014}"/>
              </a:ext>
            </a:extLst>
          </p:cNvPr>
          <p:cNvSpPr>
            <a:spLocks noGrp="1"/>
          </p:cNvSpPr>
          <p:nvPr>
            <p:ph idx="1"/>
          </p:nvPr>
        </p:nvSpPr>
        <p:spPr/>
        <p:txBody>
          <a:bodyPr>
            <a:normAutofit fontScale="55000" lnSpcReduction="20000"/>
          </a:bodyPr>
          <a:lstStyle/>
          <a:p>
            <a:pPr algn="l">
              <a:buFont typeface="Arial" panose="020B0604020202020204" pitchFamily="34" charset="0"/>
              <a:buChar char="•"/>
            </a:pPr>
            <a:r>
              <a:rPr lang="en-IN" b="1" i="0" dirty="0">
                <a:effectLst/>
                <a:latin typeface="Arial" panose="020B0604020202020204" pitchFamily="34" charset="0"/>
              </a:rPr>
              <a:t>How do you find the middle element of a singly linked list in a single pass?</a:t>
            </a:r>
            <a:endParaRPr lang="en-IN" b="0" i="0" dirty="0">
              <a:effectLst/>
              <a:latin typeface="Arial" panose="020B0604020202020204" pitchFamily="34" charset="0"/>
            </a:endParaRPr>
          </a:p>
          <a:p>
            <a:pPr marL="742950" lvl="1" indent="-285750" algn="l">
              <a:buFont typeface="Arial" panose="020B0604020202020204" pitchFamily="34" charset="0"/>
              <a:buChar char="•"/>
            </a:pPr>
            <a:r>
              <a:rPr lang="en-IN" b="0" i="0" dirty="0">
                <a:effectLst/>
                <a:latin typeface="Arial" panose="020B0604020202020204" pitchFamily="34" charset="0"/>
              </a:rPr>
              <a:t>Use the </a:t>
            </a:r>
            <a:r>
              <a:rPr lang="en-IN" b="1" i="0" dirty="0">
                <a:effectLst/>
                <a:latin typeface="Arial" panose="020B0604020202020204" pitchFamily="34" charset="0"/>
              </a:rPr>
              <a:t>two-pointer (tortoise and hare) method</a:t>
            </a:r>
            <a:r>
              <a:rPr lang="en-IN" b="0" i="0" dirty="0">
                <a:effectLst/>
                <a:latin typeface="Arial" panose="020B0604020202020204" pitchFamily="34" charset="0"/>
              </a:rPr>
              <a:t>.</a:t>
            </a:r>
          </a:p>
          <a:p>
            <a:pPr marL="742950" lvl="1" indent="-285750" algn="l">
              <a:buFont typeface="Arial" panose="020B0604020202020204" pitchFamily="34" charset="0"/>
              <a:buChar char="•"/>
            </a:pPr>
            <a:r>
              <a:rPr lang="en-IN" b="0" i="0" dirty="0">
                <a:effectLst/>
                <a:latin typeface="Arial" panose="020B0604020202020204" pitchFamily="34" charset="0"/>
              </a:rPr>
              <a:t>Initialize two pointers, slow and fast, to the head.</a:t>
            </a:r>
          </a:p>
          <a:p>
            <a:pPr marL="742950" lvl="1" indent="-285750" algn="l">
              <a:buFont typeface="Arial" panose="020B0604020202020204" pitchFamily="34" charset="0"/>
              <a:buChar char="•"/>
            </a:pPr>
            <a:r>
              <a:rPr lang="en-IN" b="0" i="0" dirty="0">
                <a:effectLst/>
                <a:latin typeface="Arial" panose="020B0604020202020204" pitchFamily="34" charset="0"/>
              </a:rPr>
              <a:t>Move slow one step at a time, and fast two steps at a time.</a:t>
            </a:r>
          </a:p>
          <a:p>
            <a:pPr marL="742950" lvl="1" indent="-285750" algn="l">
              <a:buFont typeface="Arial" panose="020B0604020202020204" pitchFamily="34" charset="0"/>
              <a:buChar char="•"/>
            </a:pPr>
            <a:r>
              <a:rPr lang="en-IN" b="0" i="0" dirty="0">
                <a:effectLst/>
                <a:latin typeface="Arial" panose="020B0604020202020204" pitchFamily="34" charset="0"/>
              </a:rPr>
              <a:t>When fast reaches the end of the list (or fast-&gt;next is NULL for odd-length lists), slow will be at the middle node.</a:t>
            </a:r>
          </a:p>
          <a:p>
            <a:pPr algn="l">
              <a:buFont typeface="Arial" panose="020B0604020202020204" pitchFamily="34" charset="0"/>
              <a:buChar char="•"/>
            </a:pPr>
            <a:r>
              <a:rPr lang="en-IN" b="1" i="0" dirty="0">
                <a:effectLst/>
                <a:latin typeface="Arial" panose="020B0604020202020204" pitchFamily="34" charset="0"/>
              </a:rPr>
              <a:t>How do you reverse a singly linked list?</a:t>
            </a:r>
            <a:endParaRPr lang="en-IN" b="0" i="0" dirty="0">
              <a:effectLst/>
              <a:latin typeface="Arial" panose="020B0604020202020204" pitchFamily="34" charset="0"/>
            </a:endParaRPr>
          </a:p>
          <a:p>
            <a:pPr marL="742950" lvl="1" indent="-285750" algn="l">
              <a:buFont typeface="Arial" panose="020B0604020202020204" pitchFamily="34" charset="0"/>
              <a:buChar char="•"/>
            </a:pPr>
            <a:r>
              <a:rPr lang="en-IN" b="0" i="0" dirty="0">
                <a:effectLst/>
                <a:latin typeface="Arial" panose="020B0604020202020204" pitchFamily="34" charset="0"/>
              </a:rPr>
              <a:t>Use three pointers (</a:t>
            </a:r>
            <a:r>
              <a:rPr lang="en-IN" b="0" i="0" dirty="0" err="1">
                <a:effectLst/>
                <a:latin typeface="Arial" panose="020B0604020202020204" pitchFamily="34" charset="0"/>
              </a:rPr>
              <a:t>prev</a:t>
            </a:r>
            <a:r>
              <a:rPr lang="en-IN" b="0" i="0" dirty="0">
                <a:effectLst/>
                <a:latin typeface="Arial" panose="020B0604020202020204" pitchFamily="34" charset="0"/>
              </a:rPr>
              <a:t>, </a:t>
            </a:r>
            <a:r>
              <a:rPr lang="en-IN" b="0" i="0" dirty="0" err="1">
                <a:effectLst/>
                <a:latin typeface="Arial" panose="020B0604020202020204" pitchFamily="34" charset="0"/>
              </a:rPr>
              <a:t>curr</a:t>
            </a:r>
            <a:r>
              <a:rPr lang="en-IN" b="0" i="0" dirty="0">
                <a:effectLst/>
                <a:latin typeface="Arial" panose="020B0604020202020204" pitchFamily="34" charset="0"/>
              </a:rPr>
              <a:t>, next) to iterate through the list, changing the direction of the next pointer at each node.</a:t>
            </a:r>
          </a:p>
          <a:p>
            <a:pPr algn="l">
              <a:buFont typeface="Arial" panose="020B0604020202020204" pitchFamily="34" charset="0"/>
              <a:buChar char="•"/>
            </a:pPr>
            <a:r>
              <a:rPr lang="en-IN" b="1" i="0" dirty="0">
                <a:effectLst/>
                <a:latin typeface="Arial" panose="020B0604020202020204" pitchFamily="34" charset="0"/>
              </a:rPr>
              <a:t>How do you detect a cycle (loop) in a linked list, and find the starting node of the cycle?</a:t>
            </a:r>
            <a:endParaRPr lang="en-IN" b="0" i="0" dirty="0">
              <a:effectLst/>
              <a:latin typeface="Arial" panose="020B0604020202020204" pitchFamily="34" charset="0"/>
            </a:endParaRPr>
          </a:p>
          <a:p>
            <a:pPr marL="742950" lvl="1" indent="-285750" algn="l">
              <a:buFont typeface="Arial" panose="020B0604020202020204" pitchFamily="34" charset="0"/>
              <a:buChar char="•"/>
            </a:pPr>
            <a:r>
              <a:rPr lang="en-IN" b="0" i="0" dirty="0">
                <a:effectLst/>
                <a:latin typeface="Arial" panose="020B0604020202020204" pitchFamily="34" charset="0"/>
              </a:rPr>
              <a:t>Use Floyd's Cycle Detection Algorithm (two pointers at different speeds) to detect the cycle.</a:t>
            </a:r>
          </a:p>
          <a:p>
            <a:pPr marL="742950" lvl="1" indent="-285750" algn="l">
              <a:buFont typeface="Arial" panose="020B0604020202020204" pitchFamily="34" charset="0"/>
              <a:buChar char="•"/>
            </a:pPr>
            <a:r>
              <a:rPr lang="en-IN" b="0" i="0" dirty="0">
                <a:effectLst/>
                <a:latin typeface="Arial" panose="020B0604020202020204" pitchFamily="34" charset="0"/>
              </a:rPr>
              <a:t>To find the start of the cycle, move one pointer back to the head and then advance both pointers at the same speed. The point where they meet again is the start of the loop.</a:t>
            </a:r>
          </a:p>
          <a:p>
            <a:pPr algn="l">
              <a:buFont typeface="Arial" panose="020B0604020202020204" pitchFamily="34" charset="0"/>
              <a:buChar char="•"/>
            </a:pPr>
            <a:r>
              <a:rPr lang="en-IN" b="1" i="0" dirty="0">
                <a:effectLst/>
                <a:latin typeface="Arial" panose="020B0604020202020204" pitchFamily="34" charset="0"/>
              </a:rPr>
              <a:t>How do you find the intersection point of two linked lists (which may be of different lengths)?</a:t>
            </a:r>
            <a:endParaRPr lang="en-IN" b="0" i="0" dirty="0">
              <a:effectLst/>
              <a:latin typeface="Arial" panose="020B0604020202020204" pitchFamily="34" charset="0"/>
            </a:endParaRPr>
          </a:p>
          <a:p>
            <a:pPr marL="742950" lvl="1" indent="-285750" algn="l">
              <a:buFont typeface="Arial" panose="020B0604020202020204" pitchFamily="34" charset="0"/>
              <a:buChar char="•"/>
            </a:pPr>
            <a:r>
              <a:rPr lang="en-IN" b="0" i="0" dirty="0">
                <a:effectLst/>
                <a:latin typeface="Arial" panose="020B0604020202020204" pitchFamily="34" charset="0"/>
              </a:rPr>
              <a:t>Calculate the lengths of both lists. Move the pointer of the longer list forward by the difference in lengths. Then, move both pointers simultaneously; the node where they meet is the intersection point.</a:t>
            </a:r>
          </a:p>
          <a:p>
            <a:pPr algn="l">
              <a:buFont typeface="Arial" panose="020B0604020202020204" pitchFamily="34" charset="0"/>
              <a:buChar char="•"/>
            </a:pPr>
            <a:r>
              <a:rPr lang="en-IN" b="1" i="0" dirty="0">
                <a:effectLst/>
                <a:latin typeface="Arial" panose="020B0604020202020204" pitchFamily="34" charset="0"/>
              </a:rPr>
              <a:t>Why is Merge Sort generally preferred over Quick Sort for sorting a linked list?</a:t>
            </a:r>
            <a:endParaRPr lang="en-IN" b="0" i="0" dirty="0">
              <a:effectLst/>
              <a:latin typeface="Arial" panose="020B0604020202020204" pitchFamily="34" charset="0"/>
            </a:endParaRPr>
          </a:p>
          <a:p>
            <a:pPr marL="742950" lvl="1" indent="-285750" algn="l">
              <a:buFont typeface="Arial" panose="020B0604020202020204" pitchFamily="34" charset="0"/>
              <a:buChar char="•"/>
            </a:pPr>
            <a:r>
              <a:rPr lang="en-IN" b="0" i="0" dirty="0">
                <a:effectLst/>
                <a:latin typeface="Arial" panose="020B0604020202020204" pitchFamily="34" charset="0"/>
              </a:rPr>
              <a:t>Merge Sort accesses data sequentially, which works well with linked lists where random access is inefficient (O(n)). Quick Sort requires frequent random access to elements for partitioning, making it perform poorly on linked lists.</a:t>
            </a:r>
          </a:p>
          <a:p>
            <a:pPr algn="l">
              <a:buFont typeface="Arial" panose="020B0604020202020204" pitchFamily="34" charset="0"/>
              <a:buChar char="•"/>
            </a:pPr>
            <a:r>
              <a:rPr lang="en-IN" b="1" i="0" dirty="0">
                <a:effectLst/>
                <a:latin typeface="Arial" panose="020B0604020202020204" pitchFamily="34" charset="0"/>
              </a:rPr>
              <a:t>How do you delete a node with only a pointer to that node (and no head pointer)?</a:t>
            </a:r>
            <a:endParaRPr lang="en-IN" b="0" i="0" dirty="0">
              <a:effectLst/>
              <a:latin typeface="Arial" panose="020B0604020202020204" pitchFamily="34" charset="0"/>
            </a:endParaRPr>
          </a:p>
          <a:p>
            <a:pPr marL="742950" lvl="1" indent="-285750" algn="l">
              <a:buFont typeface="Arial" panose="020B0604020202020204" pitchFamily="34" charset="0"/>
              <a:buChar char="•"/>
            </a:pPr>
            <a:r>
              <a:rPr lang="en-IN" b="0" i="0" dirty="0">
                <a:effectLst/>
                <a:latin typeface="Arial" panose="020B0604020202020204" pitchFamily="34" charset="0"/>
              </a:rPr>
              <a:t>Copy the data from the </a:t>
            </a:r>
            <a:r>
              <a:rPr lang="en-IN" b="0" i="1" dirty="0">
                <a:effectLst/>
                <a:latin typeface="Arial" panose="020B0604020202020204" pitchFamily="34" charset="0"/>
              </a:rPr>
              <a:t>next</a:t>
            </a:r>
            <a:r>
              <a:rPr lang="en-IN" b="0" i="0" dirty="0">
                <a:effectLst/>
                <a:latin typeface="Arial" panose="020B0604020202020204" pitchFamily="34" charset="0"/>
              </a:rPr>
              <a:t> node into the current node, then delete the </a:t>
            </a:r>
            <a:r>
              <a:rPr lang="en-IN" b="0" i="1" dirty="0">
                <a:effectLst/>
                <a:latin typeface="Arial" panose="020B0604020202020204" pitchFamily="34" charset="0"/>
              </a:rPr>
              <a:t>next</a:t>
            </a:r>
            <a:r>
              <a:rPr lang="en-IN" b="0" i="0" dirty="0">
                <a:effectLst/>
                <a:latin typeface="Arial" panose="020B0604020202020204" pitchFamily="34" charset="0"/>
              </a:rPr>
              <a:t> node (adjusting the pointers to skip it). This approach doesn't work if the node to be deleted is the last one in the list.</a:t>
            </a:r>
          </a:p>
          <a:p>
            <a:endParaRPr lang="en-US" dirty="0"/>
          </a:p>
        </p:txBody>
      </p:sp>
    </p:spTree>
    <p:extLst>
      <p:ext uri="{BB962C8B-B14F-4D97-AF65-F5344CB8AC3E}">
        <p14:creationId xmlns:p14="http://schemas.microsoft.com/office/powerpoint/2010/main" val="1841688016"/>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C07EA-E70D-53C2-4782-A6AFD5F0763D}"/>
              </a:ext>
            </a:extLst>
          </p:cNvPr>
          <p:cNvSpPr>
            <a:spLocks noGrp="1"/>
          </p:cNvSpPr>
          <p:nvPr>
            <p:ph type="title"/>
          </p:nvPr>
        </p:nvSpPr>
        <p:spPr/>
        <p:txBody>
          <a:bodyPr/>
          <a:lstStyle/>
          <a:p>
            <a:r>
              <a:rPr lang="en-US" dirty="0"/>
              <a:t>Tree Data Structure</a:t>
            </a:r>
          </a:p>
        </p:txBody>
      </p:sp>
      <p:sp>
        <p:nvSpPr>
          <p:cNvPr id="3" name="Content Placeholder 2">
            <a:extLst>
              <a:ext uri="{FF2B5EF4-FFF2-40B4-BE49-F238E27FC236}">
                <a16:creationId xmlns:a16="http://schemas.microsoft.com/office/drawing/2014/main" id="{98825A4E-C734-6DF8-58C3-35D5FE6DC1DB}"/>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865645206"/>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D6DEF-CF72-5C15-A259-EAA0D9200FEE}"/>
              </a:ext>
            </a:extLst>
          </p:cNvPr>
          <p:cNvSpPr>
            <a:spLocks noGrp="1"/>
          </p:cNvSpPr>
          <p:nvPr>
            <p:ph type="title"/>
          </p:nvPr>
        </p:nvSpPr>
        <p:spPr/>
        <p:txBody>
          <a:bodyPr/>
          <a:lstStyle/>
          <a:p>
            <a:r>
              <a:rPr lang="en-IN" b="0" i="0" dirty="0">
                <a:effectLst/>
                <a:latin typeface="Google Sans"/>
              </a:rPr>
              <a:t>Conceptual &amp; Theoretical Questions</a:t>
            </a:r>
            <a:endParaRPr lang="en-US" dirty="0"/>
          </a:p>
        </p:txBody>
      </p:sp>
      <p:sp>
        <p:nvSpPr>
          <p:cNvPr id="3" name="Content Placeholder 2">
            <a:extLst>
              <a:ext uri="{FF2B5EF4-FFF2-40B4-BE49-F238E27FC236}">
                <a16:creationId xmlns:a16="http://schemas.microsoft.com/office/drawing/2014/main" id="{3333AF15-CD85-708E-9FE8-64115086D21F}"/>
              </a:ext>
            </a:extLst>
          </p:cNvPr>
          <p:cNvSpPr>
            <a:spLocks noGrp="1"/>
          </p:cNvSpPr>
          <p:nvPr>
            <p:ph idx="1"/>
          </p:nvPr>
        </p:nvSpPr>
        <p:spPr/>
        <p:txBody>
          <a:bodyPr>
            <a:normAutofit fontScale="47500" lnSpcReduction="20000"/>
          </a:bodyPr>
          <a:lstStyle/>
          <a:p>
            <a:pPr algn="l"/>
            <a:r>
              <a:rPr lang="en-IN" b="0" i="0" dirty="0">
                <a:effectLst/>
                <a:latin typeface="Arial" panose="020B0604020202020204" pitchFamily="34" charset="0"/>
              </a:rPr>
              <a:t>These questions test your foundational knowledge of tree data structures:</a:t>
            </a:r>
          </a:p>
          <a:p>
            <a:pPr algn="l">
              <a:buFont typeface="Arial" panose="020B0604020202020204" pitchFamily="34" charset="0"/>
              <a:buChar char="•"/>
            </a:pPr>
            <a:r>
              <a:rPr lang="en-IN" b="1" i="0" dirty="0">
                <a:effectLst/>
                <a:latin typeface="Arial" panose="020B0604020202020204" pitchFamily="34" charset="0"/>
              </a:rPr>
              <a:t>What is a tree data structure?</a:t>
            </a:r>
            <a:endParaRPr lang="en-IN" b="0" i="0" dirty="0">
              <a:effectLst/>
              <a:latin typeface="Arial" panose="020B0604020202020204" pitchFamily="34" charset="0"/>
            </a:endParaRPr>
          </a:p>
          <a:p>
            <a:pPr marL="742950" lvl="1" indent="-285750" algn="l">
              <a:buFont typeface="Arial" panose="020B0604020202020204" pitchFamily="34" charset="0"/>
              <a:buChar char="•"/>
            </a:pPr>
            <a:r>
              <a:rPr lang="en-IN" b="0" i="0" dirty="0">
                <a:effectLst/>
                <a:latin typeface="Arial" panose="020B0604020202020204" pitchFamily="34" charset="0"/>
              </a:rPr>
              <a:t>Explain that it is a hierarchical, non-linear data structure consisting of nodes connected by edges, with a single </a:t>
            </a:r>
            <a:r>
              <a:rPr lang="en-IN" b="0" i="1" dirty="0">
                <a:effectLst/>
                <a:latin typeface="Arial" panose="020B0604020202020204" pitchFamily="34" charset="0"/>
              </a:rPr>
              <a:t>root</a:t>
            </a:r>
            <a:r>
              <a:rPr lang="en-IN" b="0" i="0" dirty="0">
                <a:effectLst/>
                <a:latin typeface="Arial" panose="020B0604020202020204" pitchFamily="34" charset="0"/>
              </a:rPr>
              <a:t> node at the top and </a:t>
            </a:r>
            <a:r>
              <a:rPr lang="en-IN" b="0" i="1" dirty="0">
                <a:effectLst/>
                <a:latin typeface="Arial" panose="020B0604020202020204" pitchFamily="34" charset="0"/>
              </a:rPr>
              <a:t>leaf</a:t>
            </a:r>
            <a:r>
              <a:rPr lang="en-IN" b="0" i="0" dirty="0">
                <a:effectLst/>
                <a:latin typeface="Arial" panose="020B0604020202020204" pitchFamily="34" charset="0"/>
              </a:rPr>
              <a:t> nodes at the bottom (nodes without children).</a:t>
            </a:r>
          </a:p>
          <a:p>
            <a:pPr algn="l">
              <a:buFont typeface="Arial" panose="020B0604020202020204" pitchFamily="34" charset="0"/>
              <a:buChar char="•"/>
            </a:pPr>
            <a:r>
              <a:rPr lang="en-IN" b="1" i="0" dirty="0">
                <a:effectLst/>
                <a:latin typeface="Arial" panose="020B0604020202020204" pitchFamily="34" charset="0"/>
              </a:rPr>
              <a:t>What is the difference between a tree and a graph?</a:t>
            </a:r>
            <a:endParaRPr lang="en-IN" b="0" i="0" dirty="0">
              <a:effectLst/>
              <a:latin typeface="Arial" panose="020B0604020202020204" pitchFamily="34" charset="0"/>
            </a:endParaRPr>
          </a:p>
          <a:p>
            <a:pPr marL="742950" lvl="1" indent="-285750" algn="l">
              <a:buFont typeface="Arial" panose="020B0604020202020204" pitchFamily="34" charset="0"/>
              <a:buChar char="•"/>
            </a:pPr>
            <a:r>
              <a:rPr lang="en-IN" b="0" i="0" dirty="0">
                <a:effectLst/>
                <a:latin typeface="Arial" panose="020B0604020202020204" pitchFamily="34" charset="0"/>
              </a:rPr>
              <a:t>A tree is a specialized form of a graph that does not contain cycles, and there is only one path between any two nodes.</a:t>
            </a:r>
          </a:p>
          <a:p>
            <a:pPr algn="l">
              <a:buFont typeface="Arial" panose="020B0604020202020204" pitchFamily="34" charset="0"/>
              <a:buChar char="•"/>
            </a:pPr>
            <a:r>
              <a:rPr lang="en-IN" b="1" i="0" dirty="0">
                <a:effectLst/>
                <a:latin typeface="Arial" panose="020B0604020202020204" pitchFamily="34" charset="0"/>
              </a:rPr>
              <a:t>Explain the different types of binary trees.</a:t>
            </a:r>
            <a:endParaRPr lang="en-IN" b="0" i="0" dirty="0">
              <a:effectLst/>
              <a:latin typeface="Arial" panose="020B0604020202020204" pitchFamily="34" charset="0"/>
            </a:endParaRPr>
          </a:p>
          <a:p>
            <a:pPr marL="742950" lvl="1" indent="-285750" algn="l">
              <a:buFont typeface="Arial" panose="020B0604020202020204" pitchFamily="34" charset="0"/>
              <a:buChar char="•"/>
            </a:pPr>
            <a:r>
              <a:rPr lang="en-IN" b="0" i="0" dirty="0">
                <a:effectLst/>
                <a:latin typeface="Arial" panose="020B0604020202020204" pitchFamily="34" charset="0"/>
              </a:rPr>
              <a:t>Discuss </a:t>
            </a:r>
            <a:r>
              <a:rPr lang="en-IN" b="1" i="0" dirty="0">
                <a:effectLst/>
                <a:latin typeface="Arial" panose="020B0604020202020204" pitchFamily="34" charset="0"/>
              </a:rPr>
              <a:t>full</a:t>
            </a:r>
            <a:r>
              <a:rPr lang="en-IN" b="0" i="0" dirty="0">
                <a:effectLst/>
                <a:latin typeface="Arial" panose="020B0604020202020204" pitchFamily="34" charset="0"/>
              </a:rPr>
              <a:t> (every node has 0 or 2 children), </a:t>
            </a:r>
            <a:r>
              <a:rPr lang="en-IN" b="1" i="0" dirty="0">
                <a:effectLst/>
                <a:latin typeface="Arial" panose="020B0604020202020204" pitchFamily="34" charset="0"/>
              </a:rPr>
              <a:t>perfect</a:t>
            </a:r>
            <a:r>
              <a:rPr lang="en-IN" b="0" i="0" dirty="0">
                <a:effectLst/>
                <a:latin typeface="Arial" panose="020B0604020202020204" pitchFamily="34" charset="0"/>
              </a:rPr>
              <a:t> (all internal nodes have 2 children and all leaves are at the same level), </a:t>
            </a:r>
            <a:r>
              <a:rPr lang="en-IN" b="1" i="0" dirty="0">
                <a:effectLst/>
                <a:latin typeface="Arial" panose="020B0604020202020204" pitchFamily="34" charset="0"/>
              </a:rPr>
              <a:t>complete</a:t>
            </a:r>
            <a:r>
              <a:rPr lang="en-IN" b="0" i="0" dirty="0">
                <a:effectLst/>
                <a:latin typeface="Arial" panose="020B0604020202020204" pitchFamily="34" charset="0"/>
              </a:rPr>
              <a:t> (every level is filled except possibly the last, which is filled from left to right), and </a:t>
            </a:r>
            <a:r>
              <a:rPr lang="en-IN" b="1" i="0" dirty="0">
                <a:effectLst/>
                <a:latin typeface="Arial" panose="020B0604020202020204" pitchFamily="34" charset="0"/>
              </a:rPr>
              <a:t>balanced</a:t>
            </a:r>
            <a:r>
              <a:rPr lang="en-IN" b="0" i="0" dirty="0">
                <a:effectLst/>
                <a:latin typeface="Arial" panose="020B0604020202020204" pitchFamily="34" charset="0"/>
              </a:rPr>
              <a:t> (height difference of left/right subtrees is at most 1, e.g., AVL, Red-Black) binary trees.</a:t>
            </a:r>
          </a:p>
          <a:p>
            <a:pPr algn="l">
              <a:buFont typeface="Arial" panose="020B0604020202020204" pitchFamily="34" charset="0"/>
              <a:buChar char="•"/>
            </a:pPr>
            <a:r>
              <a:rPr lang="en-IN" b="1" i="0" dirty="0">
                <a:effectLst/>
                <a:latin typeface="Arial" panose="020B0604020202020204" pitchFamily="34" charset="0"/>
              </a:rPr>
              <a:t>What is a Binary Search Tree (BST) and its properties?</a:t>
            </a:r>
            <a:endParaRPr lang="en-IN" b="0" i="0" dirty="0">
              <a:effectLst/>
              <a:latin typeface="Arial" panose="020B0604020202020204" pitchFamily="34" charset="0"/>
            </a:endParaRPr>
          </a:p>
          <a:p>
            <a:pPr marL="742950" lvl="1" indent="-285750" algn="l">
              <a:buFont typeface="Arial" panose="020B0604020202020204" pitchFamily="34" charset="0"/>
              <a:buChar char="•"/>
            </a:pPr>
            <a:r>
              <a:rPr lang="en-IN" b="0" i="0" dirty="0">
                <a:effectLst/>
                <a:latin typeface="Arial" panose="020B0604020202020204" pitchFamily="34" charset="0"/>
              </a:rPr>
              <a:t>Explain that a BST is a binary tree where all elements in the left subtree of a node have a value less than or equal to the parent node's value, and all elements in the right subtree have a value greater than or equal to the parent node's value.</a:t>
            </a:r>
          </a:p>
          <a:p>
            <a:pPr algn="l">
              <a:buFont typeface="Arial" panose="020B0604020202020204" pitchFamily="34" charset="0"/>
              <a:buChar char="•"/>
            </a:pPr>
            <a:r>
              <a:rPr lang="en-IN" b="1" i="0" dirty="0">
                <a:effectLst/>
                <a:latin typeface="Arial" panose="020B0604020202020204" pitchFamily="34" charset="0"/>
              </a:rPr>
              <a:t>What are tree traversals?</a:t>
            </a:r>
            <a:endParaRPr lang="en-IN" b="0" i="0" dirty="0">
              <a:effectLst/>
              <a:latin typeface="Arial" panose="020B0604020202020204" pitchFamily="34" charset="0"/>
            </a:endParaRPr>
          </a:p>
          <a:p>
            <a:pPr marL="742950" lvl="1" indent="-285750" algn="l">
              <a:buFont typeface="Arial" panose="020B0604020202020204" pitchFamily="34" charset="0"/>
              <a:buChar char="•"/>
            </a:pPr>
            <a:r>
              <a:rPr lang="en-IN" b="0" i="0" dirty="0">
                <a:effectLst/>
                <a:latin typeface="Arial" panose="020B0604020202020204" pitchFamily="34" charset="0"/>
              </a:rPr>
              <a:t>Describe the three main types of Depth-First Search (DFS) traversals:</a:t>
            </a:r>
          </a:p>
          <a:p>
            <a:pPr marL="1143000" lvl="2" indent="-228600" algn="l">
              <a:buFont typeface="Arial" panose="020B0604020202020204" pitchFamily="34" charset="0"/>
              <a:buChar char="•"/>
            </a:pPr>
            <a:r>
              <a:rPr lang="en-IN" b="1" i="0" dirty="0">
                <a:effectLst/>
                <a:latin typeface="Arial" panose="020B0604020202020204" pitchFamily="34" charset="0"/>
              </a:rPr>
              <a:t>In-order:</a:t>
            </a:r>
            <a:r>
              <a:rPr lang="en-IN" b="0" i="0" dirty="0">
                <a:effectLst/>
                <a:latin typeface="Arial" panose="020B0604020202020204" pitchFamily="34" charset="0"/>
              </a:rPr>
              <a:t> Left, Root, Right (yields sorted elements in a BST).</a:t>
            </a:r>
          </a:p>
          <a:p>
            <a:pPr marL="1143000" lvl="2" indent="-228600" algn="l">
              <a:buFont typeface="Arial" panose="020B0604020202020204" pitchFamily="34" charset="0"/>
              <a:buChar char="•"/>
            </a:pPr>
            <a:r>
              <a:rPr lang="en-IN" b="1" i="0" dirty="0">
                <a:effectLst/>
                <a:latin typeface="Arial" panose="020B0604020202020204" pitchFamily="34" charset="0"/>
              </a:rPr>
              <a:t>Pre-order:</a:t>
            </a:r>
            <a:r>
              <a:rPr lang="en-IN" b="0" i="0" dirty="0">
                <a:effectLst/>
                <a:latin typeface="Arial" panose="020B0604020202020204" pitchFamily="34" charset="0"/>
              </a:rPr>
              <a:t> Root, Left, Right.</a:t>
            </a:r>
          </a:p>
          <a:p>
            <a:pPr marL="1143000" lvl="2" indent="-228600" algn="l">
              <a:buFont typeface="Arial" panose="020B0604020202020204" pitchFamily="34" charset="0"/>
              <a:buChar char="•"/>
            </a:pPr>
            <a:r>
              <a:rPr lang="en-IN" b="1" i="0" dirty="0">
                <a:effectLst/>
                <a:latin typeface="Arial" panose="020B0604020202020204" pitchFamily="34" charset="0"/>
              </a:rPr>
              <a:t>Post-order:</a:t>
            </a:r>
            <a:r>
              <a:rPr lang="en-IN" b="0" i="0" dirty="0">
                <a:effectLst/>
                <a:latin typeface="Arial" panose="020B0604020202020204" pitchFamily="34" charset="0"/>
              </a:rPr>
              <a:t> Left, Right, Root.</a:t>
            </a:r>
          </a:p>
          <a:p>
            <a:pPr marL="742950" lvl="1" indent="-285750" algn="l">
              <a:buFont typeface="Arial" panose="020B0604020202020204" pitchFamily="34" charset="0"/>
              <a:buChar char="•"/>
            </a:pPr>
            <a:r>
              <a:rPr lang="en-IN" b="0" i="0" dirty="0">
                <a:effectLst/>
                <a:latin typeface="Arial" panose="020B0604020202020204" pitchFamily="34" charset="0"/>
              </a:rPr>
              <a:t>Mention Breadth-First Search (BFS), also known as Level-Order Traversal, which uses a queue to visit nodes level by level.</a:t>
            </a:r>
          </a:p>
          <a:p>
            <a:pPr algn="l">
              <a:buFont typeface="Arial" panose="020B0604020202020204" pitchFamily="34" charset="0"/>
              <a:buChar char="•"/>
            </a:pPr>
            <a:r>
              <a:rPr lang="en-IN" b="1" i="0" dirty="0">
                <a:effectLst/>
                <a:latin typeface="Arial" panose="020B0604020202020204" pitchFamily="34" charset="0"/>
              </a:rPr>
              <a:t>What are the applications of tree data structures in real life?</a:t>
            </a:r>
            <a:endParaRPr lang="en-IN" b="0" i="0" dirty="0">
              <a:effectLst/>
              <a:latin typeface="Arial" panose="020B0604020202020204" pitchFamily="34" charset="0"/>
            </a:endParaRPr>
          </a:p>
          <a:p>
            <a:pPr marL="742950" lvl="1" indent="-285750" algn="l">
              <a:buFont typeface="Arial" panose="020B0604020202020204" pitchFamily="34" charset="0"/>
              <a:buChar char="•"/>
            </a:pPr>
            <a:r>
              <a:rPr lang="en-IN" b="0" i="0" dirty="0">
                <a:effectLst/>
                <a:latin typeface="Arial" panose="020B0604020202020204" pitchFamily="34" charset="0"/>
              </a:rPr>
              <a:t>Examples include file systems, database indexing, expression evaluation in compilers, and routing algorithms in networking. </a:t>
            </a:r>
          </a:p>
        </p:txBody>
      </p:sp>
    </p:spTree>
    <p:extLst>
      <p:ext uri="{BB962C8B-B14F-4D97-AF65-F5344CB8AC3E}">
        <p14:creationId xmlns:p14="http://schemas.microsoft.com/office/powerpoint/2010/main" val="3320107356"/>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DBCB7-2DEE-3364-1D5A-4482DAADA3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F34F0E-7560-32E5-F512-A68D58C1C4EB}"/>
              </a:ext>
            </a:extLst>
          </p:cNvPr>
          <p:cNvSpPr>
            <a:spLocks noGrp="1"/>
          </p:cNvSpPr>
          <p:nvPr>
            <p:ph type="title"/>
          </p:nvPr>
        </p:nvSpPr>
        <p:spPr/>
        <p:txBody>
          <a:bodyPr/>
          <a:lstStyle/>
          <a:p>
            <a:pPr algn="l"/>
            <a:r>
              <a:rPr lang="en-IN" b="0" i="0" dirty="0">
                <a:effectLst/>
                <a:latin typeface="Google Sans"/>
              </a:rPr>
              <a:t>Problem-Solving &amp; Coding Questions</a:t>
            </a:r>
          </a:p>
        </p:txBody>
      </p:sp>
      <p:sp>
        <p:nvSpPr>
          <p:cNvPr id="3" name="Content Placeholder 2">
            <a:extLst>
              <a:ext uri="{FF2B5EF4-FFF2-40B4-BE49-F238E27FC236}">
                <a16:creationId xmlns:a16="http://schemas.microsoft.com/office/drawing/2014/main" id="{D78BE2A5-31E1-EE09-36B5-BBD164CE0FC7}"/>
              </a:ext>
            </a:extLst>
          </p:cNvPr>
          <p:cNvSpPr>
            <a:spLocks noGrp="1"/>
          </p:cNvSpPr>
          <p:nvPr>
            <p:ph idx="1"/>
          </p:nvPr>
        </p:nvSpPr>
        <p:spPr/>
        <p:txBody>
          <a:bodyPr>
            <a:normAutofit fontScale="77500" lnSpcReduction="20000"/>
          </a:bodyPr>
          <a:lstStyle/>
          <a:p>
            <a:pPr algn="l"/>
            <a:r>
              <a:rPr lang="en-IN" b="0" i="0" dirty="0">
                <a:effectLst/>
                <a:latin typeface="Arial" panose="020B0604020202020204" pitchFamily="34" charset="0"/>
              </a:rPr>
              <a:t>These questions require you to write or explain algorithms:</a:t>
            </a:r>
          </a:p>
          <a:p>
            <a:pPr algn="l">
              <a:buFont typeface="Arial" panose="020B0604020202020204" pitchFamily="34" charset="0"/>
              <a:buChar char="•"/>
            </a:pPr>
            <a:r>
              <a:rPr lang="en-IN" b="1" i="0" dirty="0">
                <a:effectLst/>
                <a:latin typeface="Arial" panose="020B0604020202020204" pitchFamily="34" charset="0"/>
              </a:rPr>
              <a:t>Calculate the height or depth of a binary tree.</a:t>
            </a:r>
            <a:endParaRPr lang="en-IN" b="0" i="0" dirty="0">
              <a:effectLst/>
              <a:latin typeface="Arial" panose="020B0604020202020204" pitchFamily="34" charset="0"/>
            </a:endParaRPr>
          </a:p>
          <a:p>
            <a:pPr algn="l">
              <a:buFont typeface="Arial" panose="020B0604020202020204" pitchFamily="34" charset="0"/>
              <a:buChar char="•"/>
            </a:pPr>
            <a:r>
              <a:rPr lang="en-IN" b="1" i="0" dirty="0">
                <a:effectLst/>
                <a:latin typeface="Arial" panose="020B0604020202020204" pitchFamily="34" charset="0"/>
              </a:rPr>
              <a:t>Write a function to perform an in-order, pre-order, or post-order traversal (both recursively and iteratively).</a:t>
            </a:r>
            <a:endParaRPr lang="en-IN" b="0" i="0" dirty="0">
              <a:effectLst/>
              <a:latin typeface="Arial" panose="020B0604020202020204" pitchFamily="34" charset="0"/>
            </a:endParaRPr>
          </a:p>
          <a:p>
            <a:pPr algn="l">
              <a:buFont typeface="Arial" panose="020B0604020202020204" pitchFamily="34" charset="0"/>
              <a:buChar char="•"/>
            </a:pPr>
            <a:r>
              <a:rPr lang="en-IN" b="1" i="0" dirty="0">
                <a:effectLst/>
                <a:latin typeface="Arial" panose="020B0604020202020204" pitchFamily="34" charset="0"/>
              </a:rPr>
              <a:t>Implement Breadth-First Search (level-order traversal).</a:t>
            </a:r>
            <a:endParaRPr lang="en-IN" b="0" i="0" dirty="0">
              <a:effectLst/>
              <a:latin typeface="Arial" panose="020B0604020202020204" pitchFamily="34" charset="0"/>
            </a:endParaRPr>
          </a:p>
          <a:p>
            <a:pPr algn="l">
              <a:buFont typeface="Arial" panose="020B0604020202020204" pitchFamily="34" charset="0"/>
              <a:buChar char="•"/>
            </a:pPr>
            <a:r>
              <a:rPr lang="en-IN" b="1" i="0" dirty="0">
                <a:effectLst/>
                <a:latin typeface="Arial" panose="020B0604020202020204" pitchFamily="34" charset="0"/>
              </a:rPr>
              <a:t>Determine if a binary tree is balanced or a valid BST.</a:t>
            </a:r>
            <a:endParaRPr lang="en-IN" b="0" i="0" dirty="0">
              <a:effectLst/>
              <a:latin typeface="Arial" panose="020B0604020202020204" pitchFamily="34" charset="0"/>
            </a:endParaRPr>
          </a:p>
          <a:p>
            <a:pPr algn="l">
              <a:buFont typeface="Arial" panose="020B0604020202020204" pitchFamily="34" charset="0"/>
              <a:buChar char="•"/>
            </a:pPr>
            <a:r>
              <a:rPr lang="en-IN" b="1" i="0" dirty="0">
                <a:effectLst/>
                <a:latin typeface="Arial" panose="020B0604020202020204" pitchFamily="34" charset="0"/>
              </a:rPr>
              <a:t>Find the Lowest Common Ancestor (LCA) of two nodes in a binary tree.</a:t>
            </a:r>
            <a:endParaRPr lang="en-IN" b="0" i="0" dirty="0">
              <a:effectLst/>
              <a:latin typeface="Arial" panose="020B0604020202020204" pitchFamily="34" charset="0"/>
            </a:endParaRPr>
          </a:p>
          <a:p>
            <a:pPr algn="l">
              <a:buFont typeface="Arial" panose="020B0604020202020204" pitchFamily="34" charset="0"/>
              <a:buChar char="•"/>
            </a:pPr>
            <a:r>
              <a:rPr lang="en-IN" b="1" i="0" dirty="0">
                <a:effectLst/>
                <a:latin typeface="Arial" panose="020B0604020202020204" pitchFamily="34" charset="0"/>
              </a:rPr>
              <a:t>Find the diameter of a binary tree.</a:t>
            </a:r>
            <a:endParaRPr lang="en-IN" b="0" i="0" dirty="0">
              <a:effectLst/>
              <a:latin typeface="Arial" panose="020B0604020202020204" pitchFamily="34" charset="0"/>
            </a:endParaRPr>
          </a:p>
          <a:p>
            <a:pPr algn="l">
              <a:buFont typeface="Arial" panose="020B0604020202020204" pitchFamily="34" charset="0"/>
              <a:buChar char="•"/>
            </a:pPr>
            <a:r>
              <a:rPr lang="en-IN" b="1" i="0" dirty="0">
                <a:effectLst/>
                <a:latin typeface="Arial" panose="020B0604020202020204" pitchFamily="34" charset="0"/>
              </a:rPr>
              <a:t>Connect nodes at the same level of a binary tree (using a queue for BFS is a common approach).</a:t>
            </a:r>
            <a:endParaRPr lang="en-IN" b="0" i="0" dirty="0">
              <a:effectLst/>
              <a:latin typeface="Arial" panose="020B0604020202020204" pitchFamily="34" charset="0"/>
            </a:endParaRPr>
          </a:p>
          <a:p>
            <a:pPr algn="l">
              <a:buFont typeface="Arial" panose="020B0604020202020204" pitchFamily="34" charset="0"/>
              <a:buChar char="•"/>
            </a:pPr>
            <a:r>
              <a:rPr lang="en-IN" b="1" i="0" dirty="0">
                <a:effectLst/>
                <a:latin typeface="Arial" panose="020B0604020202020204" pitchFamily="34" charset="0"/>
              </a:rPr>
              <a:t>Convert a sorted array or linked list into a balanced BST.</a:t>
            </a:r>
            <a:endParaRPr lang="en-IN" b="0" i="0" dirty="0">
              <a:effectLst/>
              <a:latin typeface="Arial" panose="020B0604020202020204" pitchFamily="34" charset="0"/>
            </a:endParaRPr>
          </a:p>
          <a:p>
            <a:pPr algn="l">
              <a:buFont typeface="Arial" panose="020B0604020202020204" pitchFamily="34" charset="0"/>
              <a:buChar char="•"/>
            </a:pPr>
            <a:r>
              <a:rPr lang="en-IN" b="1" i="0" dirty="0">
                <a:effectLst/>
                <a:latin typeface="Arial" panose="020B0604020202020204" pitchFamily="34" charset="0"/>
              </a:rPr>
              <a:t>Serialize and Deserialize a binary tree.</a:t>
            </a:r>
            <a:r>
              <a:rPr lang="en-IN" b="0" i="0" dirty="0">
                <a:effectLst/>
                <a:latin typeface="Arial" panose="020B0604020202020204" pitchFamily="34" charset="0"/>
              </a:rPr>
              <a:t> </a:t>
            </a:r>
          </a:p>
          <a:p>
            <a:pPr algn="l"/>
            <a:endParaRPr lang="en-IN" b="0" i="0" dirty="0">
              <a:effectLst/>
              <a:latin typeface="Arial" panose="020B0604020202020204" pitchFamily="34" charset="0"/>
            </a:endParaRPr>
          </a:p>
          <a:p>
            <a:endParaRPr lang="en-US" dirty="0"/>
          </a:p>
        </p:txBody>
      </p:sp>
    </p:spTree>
    <p:extLst>
      <p:ext uri="{BB962C8B-B14F-4D97-AF65-F5344CB8AC3E}">
        <p14:creationId xmlns:p14="http://schemas.microsoft.com/office/powerpoint/2010/main" val="4221713531"/>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FA981-3D81-B3FD-977C-70E012007C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78F006-E5CE-0E51-F347-2563BE6C3FE1}"/>
              </a:ext>
            </a:extLst>
          </p:cNvPr>
          <p:cNvSpPr>
            <a:spLocks noGrp="1"/>
          </p:cNvSpPr>
          <p:nvPr>
            <p:ph type="title"/>
          </p:nvPr>
        </p:nvSpPr>
        <p:spPr/>
        <p:txBody>
          <a:bodyPr/>
          <a:lstStyle/>
          <a:p>
            <a:pPr algn="l"/>
            <a:r>
              <a:rPr lang="en-IN" b="0" i="0" dirty="0">
                <a:effectLst/>
                <a:latin typeface="Google Sans"/>
              </a:rPr>
              <a:t>Advanced &amp; Specialized Questions</a:t>
            </a:r>
          </a:p>
        </p:txBody>
      </p:sp>
      <p:sp>
        <p:nvSpPr>
          <p:cNvPr id="3" name="Content Placeholder 2">
            <a:extLst>
              <a:ext uri="{FF2B5EF4-FFF2-40B4-BE49-F238E27FC236}">
                <a16:creationId xmlns:a16="http://schemas.microsoft.com/office/drawing/2014/main" id="{E3C60D78-2836-BDD6-8043-6F4382E59ECC}"/>
              </a:ext>
            </a:extLst>
          </p:cNvPr>
          <p:cNvSpPr>
            <a:spLocks noGrp="1"/>
          </p:cNvSpPr>
          <p:nvPr>
            <p:ph idx="1"/>
          </p:nvPr>
        </p:nvSpPr>
        <p:spPr/>
        <p:txBody>
          <a:bodyPr>
            <a:normAutofit/>
          </a:bodyPr>
          <a:lstStyle/>
          <a:p>
            <a:pPr algn="l"/>
            <a:r>
              <a:rPr lang="en-IN" b="0" i="0" dirty="0">
                <a:effectLst/>
                <a:latin typeface="Arial" panose="020B0604020202020204" pitchFamily="34" charset="0"/>
              </a:rPr>
              <a:t>For more experienced candidates, interviewers might ask about:</a:t>
            </a:r>
          </a:p>
          <a:p>
            <a:pPr algn="l">
              <a:buFont typeface="Arial" panose="020B0604020202020204" pitchFamily="34" charset="0"/>
              <a:buChar char="•"/>
            </a:pPr>
            <a:r>
              <a:rPr lang="en-IN" b="1" i="0" dirty="0">
                <a:effectLst/>
                <a:latin typeface="Arial" panose="020B0604020202020204" pitchFamily="34" charset="0"/>
              </a:rPr>
              <a:t>AVL Trees, Red-Black Trees, B-Trees, Tries, and Heaps:</a:t>
            </a:r>
            <a:r>
              <a:rPr lang="en-IN" b="0" i="0" dirty="0">
                <a:effectLst/>
                <a:latin typeface="Arial" panose="020B0604020202020204" pitchFamily="34" charset="0"/>
              </a:rPr>
              <a:t> Explain their properties, operations (insertion, deletion), and specific use cases.</a:t>
            </a:r>
          </a:p>
          <a:p>
            <a:pPr algn="l">
              <a:buFont typeface="Arial" panose="020B0604020202020204" pitchFamily="34" charset="0"/>
              <a:buChar char="•"/>
            </a:pPr>
            <a:r>
              <a:rPr lang="en-IN" b="1" i="0" dirty="0">
                <a:effectLst/>
                <a:latin typeface="Arial" panose="020B0604020202020204" pitchFamily="34" charset="0"/>
              </a:rPr>
              <a:t>How does a HashMap handle collisions using chaining (which often involves linked lists or potentially balanced trees in Java 8+ for large chains)?</a:t>
            </a:r>
            <a:endParaRPr lang="en-IN" b="0" i="0" dirty="0">
              <a:effectLst/>
              <a:latin typeface="Arial" panose="020B0604020202020204" pitchFamily="34" charset="0"/>
            </a:endParaRPr>
          </a:p>
          <a:p>
            <a:pPr algn="l">
              <a:buFont typeface="Arial" panose="020B0604020202020204" pitchFamily="34" charset="0"/>
              <a:buChar char="•"/>
            </a:pPr>
            <a:r>
              <a:rPr lang="en-IN" b="1" i="0" dirty="0">
                <a:effectLst/>
                <a:latin typeface="Arial" panose="020B0604020202020204" pitchFamily="34" charset="0"/>
              </a:rPr>
              <a:t>Implement an LRU cache (often uses a combination of a hash map and a doubly linked list).</a:t>
            </a:r>
            <a:endParaRPr lang="en-IN" b="0" i="0" dirty="0">
              <a:effectLst/>
              <a:latin typeface="Arial" panose="020B0604020202020204" pitchFamily="34" charset="0"/>
            </a:endParaRPr>
          </a:p>
          <a:p>
            <a:endParaRPr lang="en-US" dirty="0"/>
          </a:p>
        </p:txBody>
      </p:sp>
    </p:spTree>
    <p:extLst>
      <p:ext uri="{BB962C8B-B14F-4D97-AF65-F5344CB8AC3E}">
        <p14:creationId xmlns:p14="http://schemas.microsoft.com/office/powerpoint/2010/main" val="1743346382"/>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1863F-472B-3D55-6B6C-3F724583A74F}"/>
              </a:ext>
            </a:extLst>
          </p:cNvPr>
          <p:cNvSpPr>
            <a:spLocks noGrp="1"/>
          </p:cNvSpPr>
          <p:nvPr>
            <p:ph type="title"/>
          </p:nvPr>
        </p:nvSpPr>
        <p:spPr/>
        <p:txBody>
          <a:bodyPr/>
          <a:lstStyle/>
          <a:p>
            <a:r>
              <a:rPr lang="en-US" dirty="0"/>
              <a:t>Binary Tree Data Structure</a:t>
            </a:r>
          </a:p>
        </p:txBody>
      </p:sp>
      <p:sp>
        <p:nvSpPr>
          <p:cNvPr id="3" name="Content Placeholder 2">
            <a:extLst>
              <a:ext uri="{FF2B5EF4-FFF2-40B4-BE49-F238E27FC236}">
                <a16:creationId xmlns:a16="http://schemas.microsoft.com/office/drawing/2014/main" id="{C0C8D695-5E95-2599-2AF9-A8807D460503}"/>
              </a:ext>
            </a:extLst>
          </p:cNvPr>
          <p:cNvSpPr>
            <a:spLocks noGrp="1"/>
          </p:cNvSpPr>
          <p:nvPr>
            <p:ph idx="1"/>
          </p:nvPr>
        </p:nvSpPr>
        <p:spPr/>
        <p:txBody>
          <a:bodyPr>
            <a:normAutofit/>
          </a:bodyPr>
          <a:lstStyle/>
          <a:p>
            <a:endParaRPr lang="en-US" dirty="0"/>
          </a:p>
        </p:txBody>
      </p:sp>
    </p:spTree>
    <p:extLst>
      <p:ext uri="{BB962C8B-B14F-4D97-AF65-F5344CB8AC3E}">
        <p14:creationId xmlns:p14="http://schemas.microsoft.com/office/powerpoint/2010/main" val="3785426547"/>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8DE49-2C41-6E04-CFB3-E88E74702D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AE6E61-0FE8-93FA-238A-816E4058C2F5}"/>
              </a:ext>
            </a:extLst>
          </p:cNvPr>
          <p:cNvSpPr>
            <a:spLocks noGrp="1"/>
          </p:cNvSpPr>
          <p:nvPr>
            <p:ph type="title"/>
          </p:nvPr>
        </p:nvSpPr>
        <p:spPr/>
        <p:txBody>
          <a:bodyPr/>
          <a:lstStyle/>
          <a:p>
            <a:pPr algn="l"/>
            <a:r>
              <a:rPr lang="en-IN" b="0" i="0" dirty="0">
                <a:effectLst/>
                <a:latin typeface="Google Sans"/>
              </a:rPr>
              <a:t>Conceptual Questions</a:t>
            </a:r>
          </a:p>
        </p:txBody>
      </p:sp>
      <p:sp>
        <p:nvSpPr>
          <p:cNvPr id="3" name="Content Placeholder 2">
            <a:extLst>
              <a:ext uri="{FF2B5EF4-FFF2-40B4-BE49-F238E27FC236}">
                <a16:creationId xmlns:a16="http://schemas.microsoft.com/office/drawing/2014/main" id="{347C0CC7-1ED1-EAD4-07B3-5BDB10AAC051}"/>
              </a:ext>
            </a:extLst>
          </p:cNvPr>
          <p:cNvSpPr>
            <a:spLocks noGrp="1"/>
          </p:cNvSpPr>
          <p:nvPr>
            <p:ph idx="1"/>
          </p:nvPr>
        </p:nvSpPr>
        <p:spPr/>
        <p:txBody>
          <a:bodyPr>
            <a:normAutofit fontScale="62500" lnSpcReduction="20000"/>
          </a:bodyPr>
          <a:lstStyle/>
          <a:p>
            <a:pPr algn="l">
              <a:buFont typeface="Arial" panose="020B0604020202020204" pitchFamily="34" charset="0"/>
              <a:buChar char="•"/>
            </a:pPr>
            <a:r>
              <a:rPr lang="en-IN" b="1" i="0" dirty="0">
                <a:effectLst/>
                <a:latin typeface="Arial" panose="020B0604020202020204" pitchFamily="34" charset="0"/>
              </a:rPr>
              <a:t>What is a Binary Tree?</a:t>
            </a:r>
            <a:r>
              <a:rPr lang="en-IN" b="0" i="0" dirty="0">
                <a:effectLst/>
                <a:latin typeface="Arial" panose="020B0604020202020204" pitchFamily="34" charset="0"/>
              </a:rPr>
              <a:t> A hierarchical data structure where each node has at most two children (a left and a right child).</a:t>
            </a:r>
          </a:p>
          <a:p>
            <a:pPr algn="l">
              <a:buFont typeface="Arial" panose="020B0604020202020204" pitchFamily="34" charset="0"/>
              <a:buChar char="•"/>
            </a:pPr>
            <a:r>
              <a:rPr lang="en-IN" b="1" i="0" dirty="0">
                <a:effectLst/>
                <a:latin typeface="Arial" panose="020B0604020202020204" pitchFamily="34" charset="0"/>
              </a:rPr>
              <a:t>Explain the difference between a Binary Tree and a Binary Search Tree (BST).</a:t>
            </a:r>
            <a:r>
              <a:rPr lang="en-IN" b="0" i="0" dirty="0">
                <a:effectLst/>
                <a:latin typeface="Arial" panose="020B0604020202020204" pitchFamily="34" charset="0"/>
              </a:rPr>
              <a:t> A BST is a specific type of binary tree where all nodes in the left subtree have values less than the parent node, and all nodes in the right subtree have values greater than the parent node.</a:t>
            </a:r>
          </a:p>
          <a:p>
            <a:pPr algn="l">
              <a:buFont typeface="Arial" panose="020B0604020202020204" pitchFamily="34" charset="0"/>
              <a:buChar char="•"/>
            </a:pPr>
            <a:r>
              <a:rPr lang="en-IN" b="1" i="0" dirty="0">
                <a:effectLst/>
                <a:latin typeface="Arial" panose="020B0604020202020204" pitchFamily="34" charset="0"/>
              </a:rPr>
              <a:t>Define key terms:</a:t>
            </a:r>
            <a:endParaRPr lang="en-IN" b="0" i="0" dirty="0">
              <a:effectLst/>
              <a:latin typeface="Arial" panose="020B0604020202020204" pitchFamily="34" charset="0"/>
            </a:endParaRPr>
          </a:p>
          <a:p>
            <a:pPr marL="742950" lvl="1" indent="-285750" algn="l">
              <a:buFont typeface="Arial" panose="020B0604020202020204" pitchFamily="34" charset="0"/>
              <a:buChar char="•"/>
            </a:pPr>
            <a:r>
              <a:rPr lang="en-IN" b="1" i="0" dirty="0">
                <a:effectLst/>
                <a:latin typeface="Arial" panose="020B0604020202020204" pitchFamily="34" charset="0"/>
              </a:rPr>
              <a:t>Root:</a:t>
            </a:r>
            <a:r>
              <a:rPr lang="en-IN" b="0" i="0" dirty="0">
                <a:effectLst/>
                <a:latin typeface="Arial" panose="020B0604020202020204" pitchFamily="34" charset="0"/>
              </a:rPr>
              <a:t> The topmost node in the tree.</a:t>
            </a:r>
          </a:p>
          <a:p>
            <a:pPr marL="742950" lvl="1" indent="-285750" algn="l">
              <a:buFont typeface="Arial" panose="020B0604020202020204" pitchFamily="34" charset="0"/>
              <a:buChar char="•"/>
            </a:pPr>
            <a:r>
              <a:rPr lang="en-IN" b="1" i="0" dirty="0">
                <a:effectLst/>
                <a:latin typeface="Arial" panose="020B0604020202020204" pitchFamily="34" charset="0"/>
              </a:rPr>
              <a:t>Leaf Node:</a:t>
            </a:r>
            <a:r>
              <a:rPr lang="en-IN" b="0" i="0" dirty="0">
                <a:effectLst/>
                <a:latin typeface="Arial" panose="020B0604020202020204" pitchFamily="34" charset="0"/>
              </a:rPr>
              <a:t> A node with no children.</a:t>
            </a:r>
          </a:p>
          <a:p>
            <a:pPr marL="742950" lvl="1" indent="-285750" algn="l">
              <a:buFont typeface="Arial" panose="020B0604020202020204" pitchFamily="34" charset="0"/>
              <a:buChar char="•"/>
            </a:pPr>
            <a:r>
              <a:rPr lang="en-IN" b="1" i="0" dirty="0">
                <a:effectLst/>
                <a:latin typeface="Arial" panose="020B0604020202020204" pitchFamily="34" charset="0"/>
              </a:rPr>
              <a:t>Height/Depth:</a:t>
            </a:r>
            <a:r>
              <a:rPr lang="en-IN" b="0" i="0" dirty="0">
                <a:effectLst/>
                <a:latin typeface="Arial" panose="020B0604020202020204" pitchFamily="34" charset="0"/>
              </a:rPr>
              <a:t> The height of a tree is the number of edges on the longest path from the root to a leaf, while the depth of a node is its distance from the root.</a:t>
            </a:r>
          </a:p>
          <a:p>
            <a:pPr algn="l">
              <a:buFont typeface="Arial" panose="020B0604020202020204" pitchFamily="34" charset="0"/>
              <a:buChar char="•"/>
            </a:pPr>
            <a:r>
              <a:rPr lang="en-IN" b="1" i="0" dirty="0">
                <a:effectLst/>
                <a:latin typeface="Arial" panose="020B0604020202020204" pitchFamily="34" charset="0"/>
              </a:rPr>
              <a:t>What are the different types of binary trees?</a:t>
            </a:r>
            <a:r>
              <a:rPr lang="en-IN" b="0" i="0" dirty="0">
                <a:effectLst/>
                <a:latin typeface="Arial" panose="020B0604020202020204" pitchFamily="34" charset="0"/>
              </a:rPr>
              <a:t> Full, complete, perfect, and balanced binary trees, each with specific structural properties.</a:t>
            </a:r>
          </a:p>
          <a:p>
            <a:pPr algn="l">
              <a:buFont typeface="Arial" panose="020B0604020202020204" pitchFamily="34" charset="0"/>
              <a:buChar char="•"/>
            </a:pPr>
            <a:r>
              <a:rPr lang="en-IN" b="1" i="0" dirty="0">
                <a:effectLst/>
                <a:latin typeface="Arial" panose="020B0604020202020204" pitchFamily="34" charset="0"/>
              </a:rPr>
              <a:t>Why is balancing important in a BST?</a:t>
            </a:r>
            <a:r>
              <a:rPr lang="en-IN" b="0" i="0" dirty="0">
                <a:effectLst/>
                <a:latin typeface="Arial" panose="020B0604020202020204" pitchFamily="34" charset="0"/>
              </a:rPr>
              <a:t> Balancing ensures that operations like search, insertion, and deletion run in optimal O(log n) time complexity, preventing the tree from degenerating into a linked list structure with O(n) complexity.</a:t>
            </a:r>
          </a:p>
          <a:p>
            <a:pPr algn="l">
              <a:buFont typeface="Arial" panose="020B0604020202020204" pitchFamily="34" charset="0"/>
              <a:buChar char="•"/>
            </a:pPr>
            <a:r>
              <a:rPr lang="en-IN" b="1" i="0" dirty="0">
                <a:effectLst/>
                <a:latin typeface="Arial" panose="020B0604020202020204" pitchFamily="34" charset="0"/>
              </a:rPr>
              <a:t>Name some applications of binary trees.</a:t>
            </a:r>
            <a:r>
              <a:rPr lang="en-IN" b="0" i="0" dirty="0">
                <a:effectLst/>
                <a:latin typeface="Arial" panose="020B0604020202020204" pitchFamily="34" charset="0"/>
              </a:rPr>
              <a:t> File systems, expression evaluation, decision-making algorithms, and database indexing often use tree structures. </a:t>
            </a:r>
          </a:p>
        </p:txBody>
      </p:sp>
    </p:spTree>
    <p:extLst>
      <p:ext uri="{BB962C8B-B14F-4D97-AF65-F5344CB8AC3E}">
        <p14:creationId xmlns:p14="http://schemas.microsoft.com/office/powerpoint/2010/main" val="12784442"/>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A3CA6-9BDF-F0C0-4F1E-27730CC7C7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9BCA1F-A800-8928-0ABC-7A2C62DBEE14}"/>
              </a:ext>
            </a:extLst>
          </p:cNvPr>
          <p:cNvSpPr>
            <a:spLocks noGrp="1"/>
          </p:cNvSpPr>
          <p:nvPr>
            <p:ph type="title"/>
          </p:nvPr>
        </p:nvSpPr>
        <p:spPr/>
        <p:txBody>
          <a:bodyPr/>
          <a:lstStyle/>
          <a:p>
            <a:pPr algn="l"/>
            <a:r>
              <a:rPr lang="en-IN" b="0" i="0" dirty="0">
                <a:effectLst/>
                <a:latin typeface="Google Sans"/>
              </a:rPr>
              <a:t>Algorithm &amp; Coding Questions</a:t>
            </a:r>
          </a:p>
        </p:txBody>
      </p:sp>
      <p:sp>
        <p:nvSpPr>
          <p:cNvPr id="3" name="Content Placeholder 2">
            <a:extLst>
              <a:ext uri="{FF2B5EF4-FFF2-40B4-BE49-F238E27FC236}">
                <a16:creationId xmlns:a16="http://schemas.microsoft.com/office/drawing/2014/main" id="{9F812F5F-FD15-3472-ECC4-10EB38018927}"/>
              </a:ext>
            </a:extLst>
          </p:cNvPr>
          <p:cNvSpPr>
            <a:spLocks noGrp="1"/>
          </p:cNvSpPr>
          <p:nvPr>
            <p:ph idx="1"/>
          </p:nvPr>
        </p:nvSpPr>
        <p:spPr/>
        <p:txBody>
          <a:bodyPr>
            <a:normAutofit fontScale="55000" lnSpcReduction="20000"/>
          </a:bodyPr>
          <a:lstStyle/>
          <a:p>
            <a:pPr algn="l">
              <a:buFont typeface="Arial" panose="020B0604020202020204" pitchFamily="34" charset="0"/>
              <a:buChar char="•"/>
            </a:pPr>
            <a:r>
              <a:rPr lang="en-IN" b="1" i="0" dirty="0">
                <a:effectLst/>
                <a:latin typeface="Arial" panose="020B0604020202020204" pitchFamily="34" charset="0"/>
              </a:rPr>
              <a:t>Implement tree traversals (Pre-order, In-order, Post-order, Level-order).</a:t>
            </a:r>
            <a:r>
              <a:rPr lang="en-IN" b="0" i="0" dirty="0">
                <a:effectLst/>
                <a:latin typeface="Arial" panose="020B0604020202020204" pitchFamily="34" charset="0"/>
              </a:rPr>
              <a:t> Be prepared to implement these both recursively (which is more common for DFS) and iteratively (which typically requires using a stack or queue).</a:t>
            </a:r>
          </a:p>
          <a:p>
            <a:pPr algn="l">
              <a:buFont typeface="Arial" panose="020B0604020202020204" pitchFamily="34" charset="0"/>
              <a:buChar char="•"/>
            </a:pPr>
            <a:r>
              <a:rPr lang="en-IN" b="1" i="0" dirty="0">
                <a:effectLst/>
                <a:latin typeface="Arial" panose="020B0604020202020204" pitchFamily="34" charset="0"/>
              </a:rPr>
              <a:t>Find the height or maximum depth of a binary tree.</a:t>
            </a:r>
            <a:r>
              <a:rPr lang="en-IN" b="0" i="0" dirty="0">
                <a:effectLst/>
                <a:latin typeface="Arial" panose="020B0604020202020204" pitchFamily="34" charset="0"/>
              </a:rPr>
              <a:t> This is a classic recursive problem.</a:t>
            </a:r>
          </a:p>
          <a:p>
            <a:pPr algn="l">
              <a:buFont typeface="Arial" panose="020B0604020202020204" pitchFamily="34" charset="0"/>
              <a:buChar char="•"/>
            </a:pPr>
            <a:r>
              <a:rPr lang="en-IN" b="1" i="0" dirty="0">
                <a:effectLst/>
                <a:latin typeface="Arial" panose="020B0604020202020204" pitchFamily="34" charset="0"/>
              </a:rPr>
              <a:t>Determine if a binary tree is a valid Binary Search Tree.</a:t>
            </a:r>
            <a:r>
              <a:rPr lang="en-IN" b="0" i="0" dirty="0">
                <a:effectLst/>
                <a:latin typeface="Arial" panose="020B0604020202020204" pitchFamily="34" charset="0"/>
              </a:rPr>
              <a:t> A common approach is to use an in-order traversal and check if the elements are sorted, or a recursive approach with min and max bounds.</a:t>
            </a:r>
          </a:p>
          <a:p>
            <a:pPr algn="l">
              <a:buFont typeface="Arial" panose="020B0604020202020204" pitchFamily="34" charset="0"/>
              <a:buChar char="•"/>
            </a:pPr>
            <a:r>
              <a:rPr lang="en-IN" b="1" i="0" dirty="0">
                <a:effectLst/>
                <a:latin typeface="Arial" panose="020B0604020202020204" pitchFamily="34" charset="0"/>
              </a:rPr>
              <a:t>Find the Lowest Common Ancestor (LCA) of two nodes.</a:t>
            </a:r>
            <a:r>
              <a:rPr lang="en-IN" b="0" i="0" dirty="0">
                <a:effectLst/>
                <a:latin typeface="Arial" panose="020B0604020202020204" pitchFamily="34" charset="0"/>
              </a:rPr>
              <a:t> This problem requires traversing the tree to find the node that is the parent to both target nodes at the lowest possible level.</a:t>
            </a:r>
          </a:p>
          <a:p>
            <a:pPr algn="l">
              <a:buFont typeface="Arial" panose="020B0604020202020204" pitchFamily="34" charset="0"/>
              <a:buChar char="•"/>
            </a:pPr>
            <a:r>
              <a:rPr lang="en-IN" b="1" i="0" dirty="0">
                <a:effectLst/>
                <a:latin typeface="Arial" panose="020B0604020202020204" pitchFamily="34" charset="0"/>
              </a:rPr>
              <a:t>Check if two binary trees are identical or a mirror image of each other (Symmetric Tree).</a:t>
            </a:r>
            <a:r>
              <a:rPr lang="en-IN" b="0" i="0" dirty="0">
                <a:effectLst/>
                <a:latin typeface="Arial" panose="020B0604020202020204" pitchFamily="34" charset="0"/>
              </a:rPr>
              <a:t> These problems test your ability to compare structures and values recursively.</a:t>
            </a:r>
          </a:p>
          <a:p>
            <a:pPr algn="l">
              <a:buFont typeface="Arial" panose="020B0604020202020204" pitchFamily="34" charset="0"/>
              <a:buChar char="•"/>
            </a:pPr>
            <a:r>
              <a:rPr lang="en-IN" b="1" i="0" dirty="0">
                <a:effectLst/>
                <a:latin typeface="Arial" panose="020B0604020202020204" pitchFamily="34" charset="0"/>
              </a:rPr>
              <a:t>Calculate the diameter of a binary tree.</a:t>
            </a:r>
            <a:r>
              <a:rPr lang="en-IN" b="0" i="0" dirty="0">
                <a:effectLst/>
                <a:latin typeface="Arial" panose="020B0604020202020204" pitchFamily="34" charset="0"/>
              </a:rPr>
              <a:t> This is the length of the longest path between any two nodes in the tree, which may or may not pass through the root.</a:t>
            </a:r>
          </a:p>
          <a:p>
            <a:pPr algn="l">
              <a:buFont typeface="Arial" panose="020B0604020202020204" pitchFamily="34" charset="0"/>
              <a:buChar char="•"/>
            </a:pPr>
            <a:r>
              <a:rPr lang="en-IN" b="1" i="0" dirty="0">
                <a:effectLst/>
                <a:latin typeface="Arial" panose="020B0604020202020204" pitchFamily="34" charset="0"/>
              </a:rPr>
              <a:t>Convert a Binary Search Tree into a Sorted Doubly Linked List</a:t>
            </a:r>
            <a:r>
              <a:rPr lang="en-IN" b="0" i="0" dirty="0">
                <a:effectLst/>
                <a:latin typeface="Arial" panose="020B0604020202020204" pitchFamily="34" charset="0"/>
              </a:rPr>
              <a:t>.</a:t>
            </a:r>
          </a:p>
          <a:p>
            <a:pPr algn="l">
              <a:buFont typeface="Arial" panose="020B0604020202020204" pitchFamily="34" charset="0"/>
              <a:buChar char="•"/>
            </a:pPr>
            <a:r>
              <a:rPr lang="en-IN" b="1" i="0" dirty="0">
                <a:effectLst/>
                <a:latin typeface="Arial" panose="020B0604020202020204" pitchFamily="34" charset="0"/>
              </a:rPr>
              <a:t>Construct a binary tree from its given </a:t>
            </a:r>
            <a:r>
              <a:rPr lang="en-IN" b="1" i="0" dirty="0" err="1">
                <a:effectLst/>
                <a:latin typeface="Arial" panose="020B0604020202020204" pitchFamily="34" charset="0"/>
              </a:rPr>
              <a:t>inorder</a:t>
            </a:r>
            <a:r>
              <a:rPr lang="en-IN" b="1" i="0" dirty="0">
                <a:effectLst/>
                <a:latin typeface="Arial" panose="020B0604020202020204" pitchFamily="34" charset="0"/>
              </a:rPr>
              <a:t> and preorder (or </a:t>
            </a:r>
            <a:r>
              <a:rPr lang="en-IN" b="1" i="0" dirty="0" err="1">
                <a:effectLst/>
                <a:latin typeface="Arial" panose="020B0604020202020204" pitchFamily="34" charset="0"/>
              </a:rPr>
              <a:t>postorder</a:t>
            </a:r>
            <a:r>
              <a:rPr lang="en-IN" b="1" i="0" dirty="0">
                <a:effectLst/>
                <a:latin typeface="Arial" panose="020B0604020202020204" pitchFamily="34" charset="0"/>
              </a:rPr>
              <a:t>) traversals</a:t>
            </a:r>
            <a:r>
              <a:rPr lang="en-IN" b="0" i="0" dirty="0">
                <a:effectLst/>
                <a:latin typeface="Arial" panose="020B0604020202020204" pitchFamily="34" charset="0"/>
              </a:rPr>
              <a:t>.</a:t>
            </a:r>
          </a:p>
          <a:p>
            <a:pPr algn="l">
              <a:buFont typeface="Arial" panose="020B0604020202020204" pitchFamily="34" charset="0"/>
              <a:buChar char="•"/>
            </a:pPr>
            <a:r>
              <a:rPr lang="en-IN" b="1" i="0" dirty="0">
                <a:effectLst/>
                <a:latin typeface="Arial" panose="020B0604020202020204" pitchFamily="34" charset="0"/>
              </a:rPr>
              <a:t>Serialize and Deserialize a binary tree.</a:t>
            </a:r>
            <a:r>
              <a:rPr lang="en-IN" b="0" i="0" dirty="0">
                <a:effectLst/>
                <a:latin typeface="Arial" panose="020B0604020202020204" pitchFamily="34" charset="0"/>
              </a:rPr>
              <a:t> This involves converting the tree into a storable format (like a string) and reconstructing it later. </a:t>
            </a:r>
            <a:endParaRPr lang="en-US" dirty="0"/>
          </a:p>
        </p:txBody>
      </p:sp>
    </p:spTree>
    <p:extLst>
      <p:ext uri="{BB962C8B-B14F-4D97-AF65-F5344CB8AC3E}">
        <p14:creationId xmlns:p14="http://schemas.microsoft.com/office/powerpoint/2010/main" val="3250678351"/>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02637-912D-7C99-AEDB-4921ECEA47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5A4FE5-23C4-80C1-622C-F5ACA6F480E4}"/>
              </a:ext>
            </a:extLst>
          </p:cNvPr>
          <p:cNvSpPr>
            <a:spLocks noGrp="1"/>
          </p:cNvSpPr>
          <p:nvPr>
            <p:ph type="title"/>
          </p:nvPr>
        </p:nvSpPr>
        <p:spPr/>
        <p:txBody>
          <a:bodyPr/>
          <a:lstStyle/>
          <a:p>
            <a:pPr algn="l"/>
            <a:r>
              <a:rPr lang="en-IN" b="0" i="0" dirty="0">
                <a:effectLst/>
                <a:latin typeface="Google Sans"/>
              </a:rPr>
              <a:t>Advanced &amp; Specialized Topics</a:t>
            </a:r>
          </a:p>
        </p:txBody>
      </p:sp>
      <p:sp>
        <p:nvSpPr>
          <p:cNvPr id="3" name="Content Placeholder 2">
            <a:extLst>
              <a:ext uri="{FF2B5EF4-FFF2-40B4-BE49-F238E27FC236}">
                <a16:creationId xmlns:a16="http://schemas.microsoft.com/office/drawing/2014/main" id="{C8ABD028-C8C7-145F-A3D0-5C1921F3A3B3}"/>
              </a:ext>
            </a:extLst>
          </p:cNvPr>
          <p:cNvSpPr>
            <a:spLocks noGrp="1"/>
          </p:cNvSpPr>
          <p:nvPr>
            <p:ph idx="1"/>
          </p:nvPr>
        </p:nvSpPr>
        <p:spPr/>
        <p:txBody>
          <a:bodyPr>
            <a:normAutofit/>
          </a:bodyPr>
          <a:lstStyle/>
          <a:p>
            <a:pPr algn="l">
              <a:buFont typeface="Arial" panose="020B0604020202020204" pitchFamily="34" charset="0"/>
              <a:buChar char="•"/>
            </a:pPr>
            <a:r>
              <a:rPr lang="en-IN" b="1" i="0" dirty="0">
                <a:effectLst/>
                <a:latin typeface="Arial" panose="020B0604020202020204" pitchFamily="34" charset="0"/>
              </a:rPr>
              <a:t>Explain how self-balancing trees like AVL or Red-Black trees work.</a:t>
            </a:r>
            <a:r>
              <a:rPr lang="en-IN" b="0" i="0" dirty="0">
                <a:effectLst/>
                <a:latin typeface="Arial" panose="020B0604020202020204" pitchFamily="34" charset="0"/>
              </a:rPr>
              <a:t> Be familiar with the concepts of balance factors and rotations (left, right, etc.) used to maintain O(log n) time complexity.</a:t>
            </a:r>
          </a:p>
          <a:p>
            <a:pPr algn="l">
              <a:buFont typeface="Arial" panose="020B0604020202020204" pitchFamily="34" charset="0"/>
              <a:buChar char="•"/>
            </a:pPr>
            <a:r>
              <a:rPr lang="en-IN" b="1" i="0" dirty="0">
                <a:effectLst/>
                <a:latin typeface="Arial" panose="020B0604020202020204" pitchFamily="34" charset="0"/>
              </a:rPr>
              <a:t>Discuss B-Trees and their use in databases and file systems.</a:t>
            </a:r>
            <a:r>
              <a:rPr lang="en-IN" b="0" i="0" dirty="0">
                <a:effectLst/>
                <a:latin typeface="Arial" panose="020B0604020202020204" pitchFamily="34" charset="0"/>
              </a:rPr>
              <a:t> B-trees are multi-way trees optimized for disk storage to minimize I/O operations, which is a common system design question.</a:t>
            </a:r>
          </a:p>
          <a:p>
            <a:endParaRPr lang="en-US" dirty="0"/>
          </a:p>
        </p:txBody>
      </p:sp>
    </p:spTree>
    <p:extLst>
      <p:ext uri="{BB962C8B-B14F-4D97-AF65-F5344CB8AC3E}">
        <p14:creationId xmlns:p14="http://schemas.microsoft.com/office/powerpoint/2010/main" val="1115516792"/>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E15C9-CDBF-4FEE-9D5B-255FCDD169A6}"/>
              </a:ext>
            </a:extLst>
          </p:cNvPr>
          <p:cNvSpPr>
            <a:spLocks noGrp="1"/>
          </p:cNvSpPr>
          <p:nvPr>
            <p:ph type="title"/>
          </p:nvPr>
        </p:nvSpPr>
        <p:spPr/>
        <p:txBody>
          <a:bodyPr/>
          <a:lstStyle/>
          <a:p>
            <a:r>
              <a:rPr lang="en-US" dirty="0"/>
              <a:t>Binary Search Tree </a:t>
            </a:r>
          </a:p>
        </p:txBody>
      </p:sp>
      <p:sp>
        <p:nvSpPr>
          <p:cNvPr id="3" name="Content Placeholder 2">
            <a:extLst>
              <a:ext uri="{FF2B5EF4-FFF2-40B4-BE49-F238E27FC236}">
                <a16:creationId xmlns:a16="http://schemas.microsoft.com/office/drawing/2014/main" id="{3D5AA8F7-8BCD-A22A-FB9E-63FECEA976D3}"/>
              </a:ext>
            </a:extLst>
          </p:cNvPr>
          <p:cNvSpPr>
            <a:spLocks noGrp="1"/>
          </p:cNvSpPr>
          <p:nvPr>
            <p:ph idx="1"/>
          </p:nvPr>
        </p:nvSpPr>
        <p:spPr/>
        <p:txBody>
          <a:bodyPr>
            <a:normAutofit fontScale="25000" lnSpcReduction="20000"/>
          </a:bodyPr>
          <a:lstStyle/>
          <a:p>
            <a:pPr algn="l"/>
            <a:r>
              <a:rPr lang="en-IN" b="0" i="0" dirty="0">
                <a:effectLst/>
                <a:latin typeface="Google Sans"/>
              </a:rPr>
              <a:t>Conceptual &amp; Theoretical Questions</a:t>
            </a:r>
          </a:p>
          <a:p>
            <a:pPr algn="l">
              <a:buFont typeface="Arial" panose="020B0604020202020204" pitchFamily="34" charset="0"/>
              <a:buChar char="•"/>
            </a:pPr>
            <a:r>
              <a:rPr lang="en-IN" b="1" i="0" dirty="0">
                <a:effectLst/>
                <a:latin typeface="Arial" panose="020B0604020202020204" pitchFamily="34" charset="0"/>
              </a:rPr>
              <a:t>What is a Binary Search Tree (BST)?</a:t>
            </a:r>
            <a:r>
              <a:rPr lang="en-IN" b="0" i="0" dirty="0">
                <a:effectLst/>
                <a:latin typeface="Arial" panose="020B0604020202020204" pitchFamily="34" charset="0"/>
              </a:rPr>
              <a:t> Explain that it is a binary tree with the property that for any given node, all values in its left subtree are less than the node's value, and all values in its right subtree are greater.</a:t>
            </a:r>
          </a:p>
          <a:p>
            <a:pPr algn="l">
              <a:buFont typeface="Arial" panose="020B0604020202020204" pitchFamily="34" charset="0"/>
              <a:buChar char="•"/>
            </a:pPr>
            <a:r>
              <a:rPr lang="en-IN" b="1" i="0" dirty="0">
                <a:effectLst/>
                <a:latin typeface="Arial" panose="020B0604020202020204" pitchFamily="34" charset="0"/>
              </a:rPr>
              <a:t>What is the difference between a Binary Tree and a BST?</a:t>
            </a:r>
            <a:r>
              <a:rPr lang="en-IN" b="0" i="0" dirty="0">
                <a:effectLst/>
                <a:latin typeface="Arial" panose="020B0604020202020204" pitchFamily="34" charset="0"/>
              </a:rPr>
              <a:t> The key difference is the ordering property in a BST, which allows for efficient searching, insertion, and deletion operations (average time complexity of O(log </a:t>
            </a:r>
            <a:r>
              <a:rPr lang="en-IN" b="0" i="1" dirty="0">
                <a:effectLst/>
                <a:latin typeface="Arial" panose="020B0604020202020204" pitchFamily="34" charset="0"/>
              </a:rPr>
              <a:t>n</a:t>
            </a:r>
            <a:r>
              <a:rPr lang="en-IN" b="0" i="0" dirty="0">
                <a:effectLst/>
                <a:latin typeface="Arial" panose="020B0604020202020204" pitchFamily="34" charset="0"/>
              </a:rPr>
              <a:t>)). A general binary tree has no specific ordering.</a:t>
            </a:r>
          </a:p>
          <a:p>
            <a:pPr algn="l">
              <a:buFont typeface="Arial" panose="020B0604020202020204" pitchFamily="34" charset="0"/>
              <a:buChar char="•"/>
            </a:pPr>
            <a:r>
              <a:rPr lang="en-IN" b="1" i="0" dirty="0">
                <a:effectLst/>
                <a:latin typeface="Arial" panose="020B0604020202020204" pitchFamily="34" charset="0"/>
              </a:rPr>
              <a:t>What are the time complexities for search, insert, and delete operations in a balanced BST vs. a skewed BST?</a:t>
            </a:r>
            <a:endParaRPr lang="en-IN" b="0" i="0" dirty="0">
              <a:effectLst/>
              <a:latin typeface="Arial" panose="020B0604020202020204" pitchFamily="34" charset="0"/>
            </a:endParaRPr>
          </a:p>
          <a:p>
            <a:pPr marL="742950" lvl="1" indent="-285750" algn="l">
              <a:buFont typeface="Arial" panose="020B0604020202020204" pitchFamily="34" charset="0"/>
              <a:buChar char="•"/>
            </a:pPr>
            <a:r>
              <a:rPr lang="en-IN" b="1" i="0" dirty="0">
                <a:effectLst/>
                <a:latin typeface="Arial" panose="020B0604020202020204" pitchFamily="34" charset="0"/>
              </a:rPr>
              <a:t>Balanced BST:</a:t>
            </a:r>
            <a:r>
              <a:rPr lang="en-IN" b="0" i="0" dirty="0">
                <a:effectLst/>
                <a:latin typeface="Arial" panose="020B0604020202020204" pitchFamily="34" charset="0"/>
              </a:rPr>
              <a:t> O(log </a:t>
            </a:r>
            <a:r>
              <a:rPr lang="en-IN" b="0" i="1" dirty="0">
                <a:effectLst/>
                <a:latin typeface="Arial" panose="020B0604020202020204" pitchFamily="34" charset="0"/>
              </a:rPr>
              <a:t>n</a:t>
            </a:r>
            <a:r>
              <a:rPr lang="en-IN" b="0" i="0" dirty="0">
                <a:effectLst/>
                <a:latin typeface="Arial" panose="020B0604020202020204" pitchFamily="34" charset="0"/>
              </a:rPr>
              <a:t>) for all three operations.</a:t>
            </a:r>
          </a:p>
          <a:p>
            <a:pPr marL="742950" lvl="1" indent="-285750" algn="l">
              <a:buFont typeface="Arial" panose="020B0604020202020204" pitchFamily="34" charset="0"/>
              <a:buChar char="•"/>
            </a:pPr>
            <a:r>
              <a:rPr lang="en-IN" b="1" i="0" dirty="0">
                <a:effectLst/>
                <a:latin typeface="Arial" panose="020B0604020202020204" pitchFamily="34" charset="0"/>
              </a:rPr>
              <a:t>Skewed BST:</a:t>
            </a:r>
            <a:r>
              <a:rPr lang="en-IN" b="0" i="0" dirty="0">
                <a:effectLst/>
                <a:latin typeface="Arial" panose="020B0604020202020204" pitchFamily="34" charset="0"/>
              </a:rPr>
              <a:t> O(</a:t>
            </a:r>
            <a:r>
              <a:rPr lang="en-IN" b="0" i="1" dirty="0">
                <a:effectLst/>
                <a:latin typeface="Arial" panose="020B0604020202020204" pitchFamily="34" charset="0"/>
              </a:rPr>
              <a:t>n</a:t>
            </a:r>
            <a:r>
              <a:rPr lang="en-IN" b="0" i="0" dirty="0">
                <a:effectLst/>
                <a:latin typeface="Arial" panose="020B0604020202020204" pitchFamily="34" charset="0"/>
              </a:rPr>
              <a:t>) in the worst case, as it degenerates into a linked list.</a:t>
            </a:r>
          </a:p>
          <a:p>
            <a:pPr algn="l">
              <a:buFont typeface="Arial" panose="020B0604020202020204" pitchFamily="34" charset="0"/>
              <a:buChar char="•"/>
            </a:pPr>
            <a:r>
              <a:rPr lang="en-IN" b="1" i="0" dirty="0">
                <a:effectLst/>
                <a:latin typeface="Arial" panose="020B0604020202020204" pitchFamily="34" charset="0"/>
              </a:rPr>
              <a:t>What is a self-balancing BST (e.g., AVL tree, Red-Black tree) and why is it important?</a:t>
            </a:r>
            <a:r>
              <a:rPr lang="en-IN" b="0" i="0" dirty="0">
                <a:effectLst/>
                <a:latin typeface="Arial" panose="020B0604020202020204" pitchFamily="34" charset="0"/>
              </a:rPr>
              <a:t> Self-balancing trees automatically adjust their structure (using rotations) to maintain a minimal height, ensuring that operations consistently run in O(log </a:t>
            </a:r>
            <a:r>
              <a:rPr lang="en-IN" b="0" i="1" dirty="0">
                <a:effectLst/>
                <a:latin typeface="Arial" panose="020B0604020202020204" pitchFamily="34" charset="0"/>
              </a:rPr>
              <a:t>n</a:t>
            </a:r>
            <a:r>
              <a:rPr lang="en-IN" b="0" i="0" dirty="0">
                <a:effectLst/>
                <a:latin typeface="Arial" panose="020B0604020202020204" pitchFamily="34" charset="0"/>
              </a:rPr>
              <a:t>) time, preventing the worst-case O(</a:t>
            </a:r>
            <a:r>
              <a:rPr lang="en-IN" b="0" i="1" dirty="0">
                <a:effectLst/>
                <a:latin typeface="Arial" panose="020B0604020202020204" pitchFamily="34" charset="0"/>
              </a:rPr>
              <a:t>n</a:t>
            </a:r>
            <a:r>
              <a:rPr lang="en-IN" b="0" i="0" dirty="0">
                <a:effectLst/>
                <a:latin typeface="Arial" panose="020B0604020202020204" pitchFamily="34" charset="0"/>
              </a:rPr>
              <a:t>) scenario of a skewed tree.</a:t>
            </a:r>
          </a:p>
          <a:p>
            <a:pPr algn="l">
              <a:buFont typeface="Arial" panose="020B0604020202020204" pitchFamily="34" charset="0"/>
              <a:buChar char="•"/>
            </a:pPr>
            <a:r>
              <a:rPr lang="en-IN" b="1" i="0" dirty="0">
                <a:effectLst/>
                <a:latin typeface="Arial" panose="020B0604020202020204" pitchFamily="34" charset="0"/>
              </a:rPr>
              <a:t>Can a BST contain duplicate values?</a:t>
            </a:r>
            <a:r>
              <a:rPr lang="en-IN" b="0" i="0" dirty="0">
                <a:effectLst/>
                <a:latin typeface="Arial" panose="020B0604020202020204" pitchFamily="34" charset="0"/>
              </a:rPr>
              <a:t> Clarify with the interviewer how duplicates should be handled, as standard BST implementations typically assume unique values. Variations might place them in the left or right subtree. </a:t>
            </a:r>
          </a:p>
          <a:p>
            <a:pPr algn="l"/>
            <a:r>
              <a:rPr lang="en-IN" b="0" i="0" dirty="0">
                <a:effectLst/>
                <a:latin typeface="Google Sans"/>
              </a:rPr>
              <a:t>Core Operations &amp; Implementation Questions</a:t>
            </a:r>
          </a:p>
          <a:p>
            <a:pPr algn="l">
              <a:buFont typeface="Arial" panose="020B0604020202020204" pitchFamily="34" charset="0"/>
              <a:buChar char="•"/>
            </a:pPr>
            <a:r>
              <a:rPr lang="en-IN" b="1" i="0" dirty="0">
                <a:effectLst/>
                <a:latin typeface="Arial" panose="020B0604020202020204" pitchFamily="34" charset="0"/>
              </a:rPr>
              <a:t>How do you implement the insert() and search() functions in a BST?</a:t>
            </a:r>
            <a:r>
              <a:rPr lang="en-IN" b="0" i="0" dirty="0">
                <a:effectLst/>
                <a:latin typeface="Arial" panose="020B0604020202020204" pitchFamily="34" charset="0"/>
              </a:rPr>
              <a:t> Be prepared to write the recursive or iterative code for these basic operations.</a:t>
            </a:r>
          </a:p>
          <a:p>
            <a:pPr algn="l">
              <a:buFont typeface="Arial" panose="020B0604020202020204" pitchFamily="34" charset="0"/>
              <a:buChar char="•"/>
            </a:pPr>
            <a:r>
              <a:rPr lang="en-IN" b="1" i="0" dirty="0">
                <a:effectLst/>
                <a:latin typeface="Arial" panose="020B0604020202020204" pitchFamily="34" charset="0"/>
              </a:rPr>
              <a:t>How do you delete a node from a BST?</a:t>
            </a:r>
            <a:r>
              <a:rPr lang="en-IN" b="0" i="0" dirty="0">
                <a:effectLst/>
                <a:latin typeface="Arial" panose="020B0604020202020204" pitchFamily="34" charset="0"/>
              </a:rPr>
              <a:t> Explain the three main cases for deletion:</a:t>
            </a:r>
          </a:p>
          <a:p>
            <a:pPr marL="742950" lvl="1" indent="-285750" algn="l">
              <a:buFont typeface="Arial" panose="020B0604020202020204" pitchFamily="34" charset="0"/>
              <a:buChar char="•"/>
            </a:pPr>
            <a:r>
              <a:rPr lang="en-IN" b="1" i="0" dirty="0">
                <a:effectLst/>
                <a:latin typeface="Arial" panose="020B0604020202020204" pitchFamily="34" charset="0"/>
              </a:rPr>
              <a:t>Node has no children:</a:t>
            </a:r>
            <a:r>
              <a:rPr lang="en-IN" b="0" i="0" dirty="0">
                <a:effectLst/>
                <a:latin typeface="Arial" panose="020B0604020202020204" pitchFamily="34" charset="0"/>
              </a:rPr>
              <a:t> Simply remove the node.</a:t>
            </a:r>
          </a:p>
          <a:p>
            <a:pPr marL="742950" lvl="1" indent="-285750" algn="l">
              <a:buFont typeface="Arial" panose="020B0604020202020204" pitchFamily="34" charset="0"/>
              <a:buChar char="•"/>
            </a:pPr>
            <a:r>
              <a:rPr lang="en-IN" b="1" i="0" dirty="0">
                <a:effectLst/>
                <a:latin typeface="Arial" panose="020B0604020202020204" pitchFamily="34" charset="0"/>
              </a:rPr>
              <a:t>Node has one child:</a:t>
            </a:r>
            <a:r>
              <a:rPr lang="en-IN" b="0" i="0" dirty="0">
                <a:effectLst/>
                <a:latin typeface="Arial" panose="020B0604020202020204" pitchFamily="34" charset="0"/>
              </a:rPr>
              <a:t> Replace the node with its only child.</a:t>
            </a:r>
          </a:p>
          <a:p>
            <a:pPr marL="742950" lvl="1" indent="-285750" algn="l">
              <a:buFont typeface="Arial" panose="020B0604020202020204" pitchFamily="34" charset="0"/>
              <a:buChar char="•"/>
            </a:pPr>
            <a:r>
              <a:rPr lang="en-IN" b="1" i="0" dirty="0">
                <a:effectLst/>
                <a:latin typeface="Arial" panose="020B0604020202020204" pitchFamily="34" charset="0"/>
              </a:rPr>
              <a:t>Node has two children:</a:t>
            </a:r>
            <a:r>
              <a:rPr lang="en-IN" b="0" i="0" dirty="0">
                <a:effectLst/>
                <a:latin typeface="Arial" panose="020B0604020202020204" pitchFamily="34" charset="0"/>
              </a:rPr>
              <a:t> Replace the node with its </a:t>
            </a:r>
            <a:r>
              <a:rPr lang="en-IN" b="0" i="0" dirty="0" err="1">
                <a:effectLst/>
                <a:latin typeface="Arial" panose="020B0604020202020204" pitchFamily="34" charset="0"/>
              </a:rPr>
              <a:t>inorder</a:t>
            </a:r>
            <a:r>
              <a:rPr lang="en-IN" b="0" i="0" dirty="0">
                <a:effectLst/>
                <a:latin typeface="Arial" panose="020B0604020202020204" pitchFamily="34" charset="0"/>
              </a:rPr>
              <a:t> successor (smallest node in the right subtree) or predecessor, and then delete the successor/predecessor node.</a:t>
            </a:r>
          </a:p>
          <a:p>
            <a:pPr algn="l">
              <a:buFont typeface="Arial" panose="020B0604020202020204" pitchFamily="34" charset="0"/>
              <a:buChar char="•"/>
            </a:pPr>
            <a:r>
              <a:rPr lang="en-IN" b="1" i="0" dirty="0">
                <a:effectLst/>
                <a:latin typeface="Arial" panose="020B0604020202020204" pitchFamily="34" charset="0"/>
              </a:rPr>
              <a:t>Explain the different tree traversal methods and when to use them.</a:t>
            </a:r>
            <a:endParaRPr lang="en-IN" b="0" i="0" dirty="0">
              <a:effectLst/>
              <a:latin typeface="Arial" panose="020B0604020202020204" pitchFamily="34" charset="0"/>
            </a:endParaRPr>
          </a:p>
          <a:p>
            <a:pPr marL="742950" lvl="1" indent="-285750" algn="l">
              <a:buFont typeface="Arial" panose="020B0604020202020204" pitchFamily="34" charset="0"/>
              <a:buChar char="•"/>
            </a:pPr>
            <a:r>
              <a:rPr lang="en-IN" b="1" i="0" dirty="0" err="1">
                <a:effectLst/>
                <a:latin typeface="Arial" panose="020B0604020202020204" pitchFamily="34" charset="0"/>
              </a:rPr>
              <a:t>Inorder</a:t>
            </a:r>
            <a:r>
              <a:rPr lang="en-IN" b="1" i="0" dirty="0">
                <a:effectLst/>
                <a:latin typeface="Arial" panose="020B0604020202020204" pitchFamily="34" charset="0"/>
              </a:rPr>
              <a:t> Traversal:</a:t>
            </a:r>
            <a:r>
              <a:rPr lang="en-IN" b="0" i="0" dirty="0">
                <a:effectLst/>
                <a:latin typeface="Arial" panose="020B0604020202020204" pitchFamily="34" charset="0"/>
              </a:rPr>
              <a:t> Visits the left subtree, then the root, then the right subtree. It yields the nodes in sorted order in a BST.</a:t>
            </a:r>
          </a:p>
          <a:p>
            <a:pPr marL="742950" lvl="1" indent="-285750" algn="l">
              <a:buFont typeface="Arial" panose="020B0604020202020204" pitchFamily="34" charset="0"/>
              <a:buChar char="•"/>
            </a:pPr>
            <a:r>
              <a:rPr lang="en-IN" b="1" i="0" dirty="0">
                <a:effectLst/>
                <a:latin typeface="Arial" panose="020B0604020202020204" pitchFamily="34" charset="0"/>
              </a:rPr>
              <a:t>Preorder Traversal:</a:t>
            </a:r>
            <a:r>
              <a:rPr lang="en-IN" b="0" i="0" dirty="0">
                <a:effectLst/>
                <a:latin typeface="Arial" panose="020B0604020202020204" pitchFamily="34" charset="0"/>
              </a:rPr>
              <a:t> Visits the root, then the left subtree, then the right subtree.</a:t>
            </a:r>
          </a:p>
          <a:p>
            <a:pPr marL="742950" lvl="1" indent="-285750" algn="l">
              <a:buFont typeface="Arial" panose="020B0604020202020204" pitchFamily="34" charset="0"/>
              <a:buChar char="•"/>
            </a:pPr>
            <a:r>
              <a:rPr lang="en-IN" b="1" i="0" dirty="0" err="1">
                <a:effectLst/>
                <a:latin typeface="Arial" panose="020B0604020202020204" pitchFamily="34" charset="0"/>
              </a:rPr>
              <a:t>Postorder</a:t>
            </a:r>
            <a:r>
              <a:rPr lang="en-IN" b="1" i="0" dirty="0">
                <a:effectLst/>
                <a:latin typeface="Arial" panose="020B0604020202020204" pitchFamily="34" charset="0"/>
              </a:rPr>
              <a:t> Traversal:</a:t>
            </a:r>
            <a:r>
              <a:rPr lang="en-IN" b="0" i="0" dirty="0">
                <a:effectLst/>
                <a:latin typeface="Arial" panose="020B0604020202020204" pitchFamily="34" charset="0"/>
              </a:rPr>
              <a:t> Visits the left subtree, then the right subtree, then the root.</a:t>
            </a:r>
          </a:p>
          <a:p>
            <a:pPr marL="742950" lvl="1" indent="-285750" algn="l">
              <a:buFont typeface="Arial" panose="020B0604020202020204" pitchFamily="34" charset="0"/>
              <a:buChar char="•"/>
            </a:pPr>
            <a:r>
              <a:rPr lang="en-IN" b="1" i="0" dirty="0">
                <a:effectLst/>
                <a:latin typeface="Arial" panose="020B0604020202020204" pitchFamily="34" charset="0"/>
              </a:rPr>
              <a:t>Level Order Traversal (BFS):</a:t>
            </a:r>
            <a:r>
              <a:rPr lang="en-IN" b="0" i="0" dirty="0">
                <a:effectLst/>
                <a:latin typeface="Arial" panose="020B0604020202020204" pitchFamily="34" charset="0"/>
              </a:rPr>
              <a:t> Visits nodes level by level using a queue data structure. </a:t>
            </a:r>
          </a:p>
          <a:p>
            <a:pPr algn="l"/>
            <a:r>
              <a:rPr lang="en-IN" b="0" i="0" dirty="0">
                <a:effectLst/>
                <a:latin typeface="Google Sans"/>
              </a:rPr>
              <a:t>Advanced Problems &amp; Coding Challenges</a:t>
            </a:r>
          </a:p>
          <a:p>
            <a:pPr algn="l">
              <a:buFont typeface="Arial" panose="020B0604020202020204" pitchFamily="34" charset="0"/>
              <a:buChar char="•"/>
            </a:pPr>
            <a:r>
              <a:rPr lang="en-IN" b="1" i="0" dirty="0">
                <a:effectLst/>
                <a:latin typeface="Arial" panose="020B0604020202020204" pitchFamily="34" charset="0"/>
              </a:rPr>
              <a:t>Given a binary tree, determine if it is a valid Binary Search Tree.</a:t>
            </a:r>
            <a:r>
              <a:rPr lang="en-IN" b="0" i="0" dirty="0">
                <a:effectLst/>
                <a:latin typeface="Arial" panose="020B0604020202020204" pitchFamily="34" charset="0"/>
              </a:rPr>
              <a:t> This is a common problem, often solved by an in-order traversal and checking if the resulting sequence is sorted, or by passing valid range limits down the recursive calls.</a:t>
            </a:r>
          </a:p>
          <a:p>
            <a:pPr algn="l">
              <a:buFont typeface="Arial" panose="020B0604020202020204" pitchFamily="34" charset="0"/>
              <a:buChar char="•"/>
            </a:pPr>
            <a:r>
              <a:rPr lang="en-IN" b="1" i="0" dirty="0">
                <a:effectLst/>
                <a:latin typeface="Arial" panose="020B0604020202020204" pitchFamily="34" charset="0"/>
              </a:rPr>
              <a:t>Find the Lowest Common Ancestor (LCA) of two given nodes in a BST.</a:t>
            </a:r>
            <a:r>
              <a:rPr lang="en-IN" b="0" i="0" dirty="0">
                <a:effectLst/>
                <a:latin typeface="Arial" panose="020B0604020202020204" pitchFamily="34" charset="0"/>
              </a:rPr>
              <a:t> The solution leverages the BST property to efficiently narrow down the search.</a:t>
            </a:r>
          </a:p>
          <a:p>
            <a:pPr algn="l">
              <a:buFont typeface="Arial" panose="020B0604020202020204" pitchFamily="34" charset="0"/>
              <a:buChar char="•"/>
            </a:pPr>
            <a:r>
              <a:rPr lang="en-IN" b="1" i="0" dirty="0">
                <a:effectLst/>
                <a:latin typeface="Arial" panose="020B0604020202020204" pitchFamily="34" charset="0"/>
              </a:rPr>
              <a:t>Find the </a:t>
            </a:r>
            <a:r>
              <a:rPr lang="en-IN" b="1" i="1" dirty="0">
                <a:effectLst/>
                <a:latin typeface="Arial" panose="020B0604020202020204" pitchFamily="34" charset="0"/>
              </a:rPr>
              <a:t>K</a:t>
            </a:r>
            <a:r>
              <a:rPr lang="en-IN" b="1" i="0" dirty="0">
                <a:effectLst/>
                <a:latin typeface="Arial" panose="020B0604020202020204" pitchFamily="34" charset="0"/>
              </a:rPr>
              <a:t>th smallest element in a BST.</a:t>
            </a:r>
            <a:r>
              <a:rPr lang="en-IN" b="0" i="0" dirty="0">
                <a:effectLst/>
                <a:latin typeface="Arial" panose="020B0604020202020204" pitchFamily="34" charset="0"/>
              </a:rPr>
              <a:t> This can be solved efficiently using in-order traversal.</a:t>
            </a:r>
          </a:p>
          <a:p>
            <a:pPr algn="l">
              <a:buFont typeface="Arial" panose="020B0604020202020204" pitchFamily="34" charset="0"/>
              <a:buChar char="•"/>
            </a:pPr>
            <a:r>
              <a:rPr lang="en-IN" b="1" i="0" dirty="0">
                <a:effectLst/>
                <a:latin typeface="Arial" panose="020B0604020202020204" pitchFamily="34" charset="0"/>
              </a:rPr>
              <a:t>Convert a sorted array or sorted linked list into a balanced BST.</a:t>
            </a:r>
            <a:r>
              <a:rPr lang="en-IN" b="0" i="0" dirty="0">
                <a:effectLst/>
                <a:latin typeface="Arial" panose="020B0604020202020204" pitchFamily="34" charset="0"/>
              </a:rPr>
              <a:t> This tests your ability to construct an optimal tree structure from ordered data.</a:t>
            </a:r>
          </a:p>
          <a:p>
            <a:pPr algn="l">
              <a:buFont typeface="Arial" panose="020B0604020202020204" pitchFamily="34" charset="0"/>
              <a:buChar char="•"/>
            </a:pPr>
            <a:r>
              <a:rPr lang="en-IN" b="1" i="0" dirty="0">
                <a:effectLst/>
                <a:latin typeface="Arial" panose="020B0604020202020204" pitchFamily="34" charset="0"/>
              </a:rPr>
              <a:t>Find the height or diameter of a binary tree.</a:t>
            </a:r>
            <a:r>
              <a:rPr lang="en-IN" b="0" i="0" dirty="0">
                <a:effectLst/>
                <a:latin typeface="Arial" panose="020B0604020202020204" pitchFamily="34" charset="0"/>
              </a:rPr>
              <a:t> These problems test recursive thinking and understanding of tree dimensions.</a:t>
            </a:r>
          </a:p>
          <a:p>
            <a:pPr algn="l">
              <a:buFont typeface="Arial" panose="020B0604020202020204" pitchFamily="34" charset="0"/>
              <a:buChar char="•"/>
            </a:pPr>
            <a:r>
              <a:rPr lang="en-IN" b="1" i="0" dirty="0">
                <a:effectLst/>
                <a:latin typeface="Arial" panose="020B0604020202020204" pitchFamily="34" charset="0"/>
              </a:rPr>
              <a:t>Serialize and Deserialize a BST.</a:t>
            </a:r>
            <a:r>
              <a:rPr lang="en-IN" b="0" i="0" dirty="0">
                <a:effectLst/>
                <a:latin typeface="Arial" panose="020B0604020202020204" pitchFamily="34" charset="0"/>
              </a:rPr>
              <a:t> This involves converting the tree into a storable format (like a string or array) and reconstructing it later.</a:t>
            </a:r>
          </a:p>
          <a:p>
            <a:pPr algn="l">
              <a:buFont typeface="Arial" panose="020B0604020202020204" pitchFamily="34" charset="0"/>
              <a:buChar char="•"/>
            </a:pPr>
            <a:r>
              <a:rPr lang="en-IN" b="1" i="0" dirty="0">
                <a:effectLst/>
                <a:latin typeface="Arial" panose="020B0604020202020204" pitchFamily="34" charset="0"/>
              </a:rPr>
              <a:t>Recover a BST where two nodes are swapped.</a:t>
            </a:r>
            <a:r>
              <a:rPr lang="en-IN" b="0" i="0" dirty="0">
                <a:effectLst/>
                <a:latin typeface="Arial" panose="020B0604020202020204" pitchFamily="34" charset="0"/>
              </a:rPr>
              <a:t> A classic problem that involves leveraging the properties of in-order traversal to identify the misplaced nodes. </a:t>
            </a:r>
          </a:p>
          <a:p>
            <a:endParaRPr lang="en-US" dirty="0"/>
          </a:p>
        </p:txBody>
      </p:sp>
    </p:spTree>
    <p:extLst>
      <p:ext uri="{BB962C8B-B14F-4D97-AF65-F5344CB8AC3E}">
        <p14:creationId xmlns:p14="http://schemas.microsoft.com/office/powerpoint/2010/main" val="3012901585"/>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A5420-CE9D-40F1-6A0A-4E180DD89DC7}"/>
              </a:ext>
            </a:extLst>
          </p:cNvPr>
          <p:cNvSpPr>
            <a:spLocks noGrp="1"/>
          </p:cNvSpPr>
          <p:nvPr>
            <p:ph type="title"/>
          </p:nvPr>
        </p:nvSpPr>
        <p:spPr/>
        <p:txBody>
          <a:bodyPr/>
          <a:lstStyle/>
          <a:p>
            <a:r>
              <a:rPr lang="en-US" dirty="0"/>
              <a:t>AVL Tree</a:t>
            </a:r>
          </a:p>
        </p:txBody>
      </p:sp>
      <p:sp>
        <p:nvSpPr>
          <p:cNvPr id="3" name="Content Placeholder 2">
            <a:extLst>
              <a:ext uri="{FF2B5EF4-FFF2-40B4-BE49-F238E27FC236}">
                <a16:creationId xmlns:a16="http://schemas.microsoft.com/office/drawing/2014/main" id="{7F6CB85C-E02F-49C7-6A33-0BFFBEB18E0A}"/>
              </a:ext>
            </a:extLst>
          </p:cNvPr>
          <p:cNvSpPr>
            <a:spLocks noGrp="1"/>
          </p:cNvSpPr>
          <p:nvPr>
            <p:ph idx="1"/>
          </p:nvPr>
        </p:nvSpPr>
        <p:spPr/>
        <p:txBody>
          <a:bodyPr/>
          <a:lstStyle/>
          <a:p>
            <a:endParaRPr lang="en-US" dirty="0"/>
          </a:p>
        </p:txBody>
      </p:sp>
      <p:sp>
        <p:nvSpPr>
          <p:cNvPr id="6" name="Rectangle 15">
            <a:extLst>
              <a:ext uri="{FF2B5EF4-FFF2-40B4-BE49-F238E27FC236}">
                <a16:creationId xmlns:a16="http://schemas.microsoft.com/office/drawing/2014/main" id="{1375B5FD-0159-A152-4AC1-8C396FF84EE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Conceptual Questions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is an AVL Tree?</a:t>
            </a:r>
            <a:endParaRPr kumimoji="0" lang="en-US" altLang="en-US" sz="1800" b="0" i="0" u="none" strike="noStrike" cap="none" normalizeH="0" baseline="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An AVL tree is a self-balancing Binary Search Tree (BST) where the heights of the two child subtrees of any node differ by at most one.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is the "balance factor," and what are its possible values in a valid AVL tree?</a:t>
            </a:r>
            <a:endParaRPr kumimoji="0" lang="en-US" altLang="en-US" sz="1800" b="0" i="0" u="none" strike="noStrike" cap="none" normalizeH="0" baseline="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The balance factor is the height of the left subtree minus the height of the right subtree. In a valid AVL tree, the balance factor for every node must be -1, 0, or 1.</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Why is self-balancing important, and what problem does it solve?</a:t>
            </a:r>
            <a:endParaRPr kumimoji="0" lang="en-US" altLang="en-US" sz="1800" b="0" i="0" u="none" strike="noStrike" cap="none" normalizeH="0" baseline="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Self-balancing ensures that the tree's height remains logarithmic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a:t>
            </a:r>
            <a:r>
              <a:rPr kumimoji="0" lang="en-US" altLang="en-US" b="0" i="0" u="none" strike="noStrike" cap="none" normalizeH="0" baseline="0">
                <a:ln>
                  <a:noFill/>
                </a:ln>
                <a:solidFill>
                  <a:schemeClr val="tx1"/>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O(logn)cap O open paren log n close paren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𝑂(log𝑛)</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even with sequential insertions/deletions, thus preventing the degradation to a skewed tree (which has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a:t>
            </a:r>
            <a:r>
              <a:rPr kumimoji="0" lang="en-US" altLang="en-US" b="0" i="0" u="none" strike="noStrike" cap="none" normalizeH="0" baseline="0">
                <a:ln>
                  <a:noFill/>
                </a:ln>
                <a:solidFill>
                  <a:schemeClr val="tx1"/>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O(n)cap O open paren n close paren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𝑂(𝑛)</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time complexity for operations).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Can an AVL tree have duplicate keys?</a:t>
            </a:r>
            <a:endParaRPr kumimoji="0" lang="en-US" altLang="en-US" sz="1800" b="0" i="0" u="none" strike="noStrike" cap="none" normalizeH="0" baseline="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Generally, no; standard AVL trees do not allow duplicates, though variations can be implemented to handle them.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Operational and Implementation Questions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Explain the different types of rotations used in AVL trees.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Left-Left (LL) Case:</a:t>
            </a:r>
            <a:r>
              <a:rPr kumimoji="0" lang="en-US" altLang="en-US" sz="1800" b="0" i="0" u="none" strike="noStrike" cap="none" normalizeH="0" baseline="0">
                <a:ln>
                  <a:noFill/>
                </a:ln>
                <a:solidFill>
                  <a:schemeClr val="tx1"/>
                </a:solidFill>
                <a:effectLst/>
                <a:latin typeface="Arial" panose="020B0604020202020204" pitchFamily="34" charset="0"/>
              </a:rPr>
              <a:t> Handled by a single right rotation.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Right-Right (RR) Case:</a:t>
            </a:r>
            <a:r>
              <a:rPr kumimoji="0" lang="en-US" altLang="en-US" sz="1800" b="0" i="0" u="none" strike="noStrike" cap="none" normalizeH="0" baseline="0">
                <a:ln>
                  <a:noFill/>
                </a:ln>
                <a:solidFill>
                  <a:schemeClr val="tx1"/>
                </a:solidFill>
                <a:effectLst/>
                <a:latin typeface="Arial" panose="020B0604020202020204" pitchFamily="34" charset="0"/>
              </a:rPr>
              <a:t> Handled by a single left rotation.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Left-Right (LR) Case:</a:t>
            </a:r>
            <a:r>
              <a:rPr kumimoji="0" lang="en-US" altLang="en-US" sz="1800" b="0" i="0" u="none" strike="noStrike" cap="none" normalizeH="0" baseline="0">
                <a:ln>
                  <a:noFill/>
                </a:ln>
                <a:solidFill>
                  <a:schemeClr val="tx1"/>
                </a:solidFill>
                <a:effectLst/>
                <a:latin typeface="Arial" panose="020B0604020202020204" pitchFamily="34" charset="0"/>
              </a:rPr>
              <a:t> Handled by a left rotation on the child, followed by a right rotation on the node.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Right-Left (RL) Case:</a:t>
            </a:r>
            <a:r>
              <a:rPr kumimoji="0" lang="en-US" altLang="en-US" sz="1800" b="0" i="0" u="none" strike="noStrike" cap="none" normalizeH="0" baseline="0">
                <a:ln>
                  <a:noFill/>
                </a:ln>
                <a:solidFill>
                  <a:schemeClr val="tx1"/>
                </a:solidFill>
                <a:effectLst/>
                <a:latin typeface="Arial" panose="020B0604020202020204" pitchFamily="34" charset="0"/>
              </a:rPr>
              <a:t> Handled by a right rotation on the child, followed by a left rotation on the node.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When do rotations occur during insertion or deletion?</a:t>
            </a:r>
            <a:endParaRPr kumimoji="0" lang="en-US" altLang="en-US" sz="1800" b="0" i="0" u="none" strike="noStrike" cap="none" normalizeH="0" baseline="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Rotations occur after an insertion or deletion operation, starting from the affected node and moving up the path to the root, whenever the balance factor of an ancestor node becomes greater than 1 or less than -1.</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Describe the process of inserting a node into an AVL tree.</a:t>
            </a:r>
            <a:endParaRPr kumimoji="0" lang="en-US" altLang="en-US" sz="1800" b="0" i="0" u="none" strike="noStrike" cap="none" normalizeH="0" baseline="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First, perform standard BST insertion. Then, traverse back up the path to the root, checking the balance factor at each node and performing the appropriate rotations (LL, RR, LR, or RL) if an imbalance is detected.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How does deletion in an AVL tree work?</a:t>
            </a:r>
            <a:endParaRPr kumimoji="0" lang="en-US" altLang="en-US" sz="1800" b="0" i="0" u="none" strike="noStrike" cap="none" normalizeH="0" baseline="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It uses standard BST deletion logic, followed by a process of rebalancing the tree from the point of deletion up to the root, similar to the insertion process.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Complexity and Application Questions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is the time complexity for search, insertion, and deletion operations in an AVL tree?</a:t>
            </a:r>
            <a:endParaRPr kumimoji="0" lang="en-US" altLang="en-US" sz="1800" b="0" i="0" u="none" strike="noStrike" cap="none" normalizeH="0" baseline="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All three operations have a time complexity of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a:t>
            </a:r>
            <a:r>
              <a:rPr kumimoji="0" lang="en-US" altLang="en-US" b="0" i="0" u="none" strike="noStrike" cap="none" normalizeH="0" baseline="0">
                <a:ln>
                  <a:noFill/>
                </a:ln>
                <a:solidFill>
                  <a:schemeClr val="tx1"/>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O(logn)cap O open paren log n close paren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𝑂(log𝑛)</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where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a:t>
            </a:r>
            <a:r>
              <a:rPr kumimoji="0" lang="en-US" altLang="en-US" b="0" i="0" u="none" strike="noStrike" cap="none" normalizeH="0" baseline="0">
                <a:ln>
                  <a:noFill/>
                </a:ln>
                <a:solidFill>
                  <a:schemeClr val="tx1"/>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nn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𝑛</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is the number of nodes, due to the tree's balanced height.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How does an AVL tree differ from a Red-Black tree?</a:t>
            </a:r>
            <a:endParaRPr kumimoji="0" lang="en-US" altLang="en-US" sz="1800" b="0" i="0" u="none" strike="noStrike" cap="none" normalizeH="0" baseline="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AVL trees are more strictly balanced, which results in faster read (search) operations. Red-Black trees are more lenient in their balance, requiring fewer rotations during write (insert/delete) operations, making them a better choice for applications with frequent updates.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some real-world applications of AVL trees?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AVL trees are used in applications requiring frequent lookups and efficient, predictable search performance, such as in-memory databases, file systems, and symbol tables in compilers.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is the maximum height of an AVL tree with </a:t>
            </a:r>
            <a:r>
              <a:rPr kumimoji="0" lang="en-US" altLang="en-US" sz="1000" b="1" i="0" u="none" strike="noStrike" cap="none" normalizeH="0" baseline="0">
                <a:ln>
                  <a:noFill/>
                </a:ln>
                <a:solidFill>
                  <a:schemeClr val="tx1"/>
                </a:solidFill>
                <a:effectLst/>
                <a:latin typeface="Arial Unicode MS" panose="020B0604020202020204" pitchFamily="34" charset="-128"/>
              </a:rPr>
              <a:t>n</a:t>
            </a:r>
            <a:r>
              <a:rPr kumimoji="0" lang="en-US" altLang="en-US" sz="1000" b="1" i="0" u="none" strike="noStrike" cap="none" normalizeH="0" baseline="0">
                <a:ln>
                  <a:noFill/>
                </a:ln>
                <a:solidFill>
                  <a:schemeClr val="tx1"/>
                </a:solidFill>
                <a:effectLst/>
              </a:rPr>
              <a:t> nodes in the worst case?</a:t>
            </a:r>
            <a:endParaRPr kumimoji="0" lang="en-US" altLang="en-US" sz="1800" b="0" i="0" u="none" strike="noStrike" cap="none" normalizeH="0" baseline="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The maximum height of an AVL tree with </a:t>
            </a:r>
            <a:r>
              <a:rPr kumimoji="0" lang="en-US" altLang="en-US" sz="1000" b="0" i="0" u="none" strike="noStrike" cap="none" normalizeH="0" baseline="0">
                <a:ln>
                  <a:noFill/>
                </a:ln>
                <a:solidFill>
                  <a:schemeClr val="tx1"/>
                </a:solidFill>
                <a:effectLst/>
                <a:latin typeface="Arial Unicode MS" panose="020B0604020202020204" pitchFamily="34" charset="-128"/>
              </a:rPr>
              <a:t>n</a:t>
            </a:r>
            <a:r>
              <a:rPr kumimoji="0" lang="en-US" altLang="en-US" sz="1000" b="0" i="0" u="none" strike="noStrike" cap="none" normalizeH="0" baseline="0">
                <a:ln>
                  <a:noFill/>
                </a:ln>
                <a:solidFill>
                  <a:schemeClr val="tx1"/>
                </a:solidFill>
                <a:effectLst/>
              </a:rPr>
              <a:t> nodes is approximately </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a:t>
            </a:r>
            <a:r>
              <a:rPr kumimoji="0" lang="en-US" altLang="en-US" b="0" i="0" u="none" strike="noStrike" cap="none" normalizeH="0" baseline="0">
                <a:ln>
                  <a:noFill/>
                </a:ln>
                <a:solidFill>
                  <a:schemeClr val="tx1"/>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1.44×log2(n)1.44 cross log base 2 of 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1.44×log2(𝑛)</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which is a stricter bound than the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a:t>
            </a:r>
            <a:r>
              <a:rPr kumimoji="0" lang="en-US" altLang="en-US" b="0" i="0" u="none" strike="noStrike" cap="none" normalizeH="0" baseline="0">
                <a:ln>
                  <a:noFill/>
                </a:ln>
                <a:solidFill>
                  <a:schemeClr val="tx1"/>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O(logn)cap O open paren log n close paren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𝑂(log𝑛)</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for red-black trees.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Coding Challenges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Implement the </a:t>
            </a:r>
            <a:r>
              <a:rPr kumimoji="0" lang="en-US" altLang="en-US" sz="1000" b="0" i="0" u="none" strike="noStrike" cap="none" normalizeH="0" baseline="0">
                <a:ln>
                  <a:noFill/>
                </a:ln>
                <a:solidFill>
                  <a:schemeClr val="tx1"/>
                </a:solidFill>
                <a:effectLst/>
                <a:latin typeface="Arial Unicode MS" panose="020B0604020202020204" pitchFamily="34" charset="-128"/>
              </a:rPr>
              <a:t>insert</a:t>
            </a:r>
            <a:r>
              <a:rPr kumimoji="0" lang="en-US" altLang="en-US" sz="1000" b="0" i="0" u="none" strike="noStrike" cap="none" normalizeH="0" baseline="0">
                <a:ln>
                  <a:noFill/>
                </a:ln>
                <a:solidFill>
                  <a:schemeClr val="tx1"/>
                </a:solidFill>
                <a:effectLst/>
              </a:rPr>
              <a:t> function for an AVL tree, including the logic for all four types of rotations.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Write a function to check if a given binary tree is a valid AVL tree (i.e., verifying the BST property and the balance factor at every node).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Given a set of numbers, how would you construct an optimal AVL tree without performing any rotations during the initial build? (Hint: sort the numbers and find the median recursively to build a perfectly balanced tree).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040" name="Picture 16">
            <a:extLst>
              <a:ext uri="{FF2B5EF4-FFF2-40B4-BE49-F238E27FC236}">
                <a16:creationId xmlns:a16="http://schemas.microsoft.com/office/drawing/2014/main" id="{46D6454B-9B84-35DD-E2B1-E7B122B719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 y="-6035675"/>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41" name="Picture 17">
            <a:extLst>
              <a:ext uri="{FF2B5EF4-FFF2-40B4-BE49-F238E27FC236}">
                <a16:creationId xmlns:a16="http://schemas.microsoft.com/office/drawing/2014/main" id="{766B506E-4C6C-7C95-22BD-FA431DDF3D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 y="-4937125"/>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a:extLst>
              <a:ext uri="{FF2B5EF4-FFF2-40B4-BE49-F238E27FC236}">
                <a16:creationId xmlns:a16="http://schemas.microsoft.com/office/drawing/2014/main" id="{4AC0BD42-31D9-042A-4AE8-73B32B2D8D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 y="822325"/>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43" name="Picture 19">
            <a:extLst>
              <a:ext uri="{FF2B5EF4-FFF2-40B4-BE49-F238E27FC236}">
                <a16:creationId xmlns:a16="http://schemas.microsoft.com/office/drawing/2014/main" id="{CB920B88-70DC-0EDF-4B98-1F6D930810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 y="1920875"/>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a:extLst>
              <a:ext uri="{FF2B5EF4-FFF2-40B4-BE49-F238E27FC236}">
                <a16:creationId xmlns:a16="http://schemas.microsoft.com/office/drawing/2014/main" id="{3E581A20-AA85-8343-082A-1E853798F4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 y="4664075"/>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45" name="Picture 21">
            <a:extLst>
              <a:ext uri="{FF2B5EF4-FFF2-40B4-BE49-F238E27FC236}">
                <a16:creationId xmlns:a16="http://schemas.microsoft.com/office/drawing/2014/main" id="{0A2BD4EF-01B4-037E-E8A3-393CBC9DAD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 y="5761038"/>
            <a:ext cx="12700" cy="12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157141"/>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5DACB-6DAD-E84A-DC8D-97C2B9B44FF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7946B40-25A8-0B3B-095D-023B359F9767}"/>
              </a:ext>
            </a:extLst>
          </p:cNvPr>
          <p:cNvSpPr>
            <a:spLocks noGrp="1"/>
          </p:cNvSpPr>
          <p:nvPr>
            <p:ph idx="1"/>
          </p:nvPr>
        </p:nvSpPr>
        <p:spPr/>
        <p:txBody>
          <a:bodyPr/>
          <a:lstStyle/>
          <a:p>
            <a:r>
              <a:rPr lang="en-IN" b="0" i="0" dirty="0">
                <a:solidFill>
                  <a:srgbClr val="3A3A3A"/>
                </a:solidFill>
                <a:effectLst/>
                <a:latin typeface="Open Sans" panose="020B0606030504020204" pitchFamily="34" charset="0"/>
              </a:rPr>
              <a:t>1. Process of inserting an element in stack is called ____________</a:t>
            </a:r>
            <a:br>
              <a:rPr lang="en-IN" dirty="0"/>
            </a:br>
            <a:r>
              <a:rPr lang="en-IN" b="0" i="0" dirty="0">
                <a:solidFill>
                  <a:srgbClr val="3A3A3A"/>
                </a:solidFill>
                <a:effectLst/>
                <a:latin typeface="Open Sans" panose="020B0606030504020204" pitchFamily="34" charset="0"/>
              </a:rPr>
              <a:t>a) Create</a:t>
            </a:r>
            <a:br>
              <a:rPr lang="en-IN" dirty="0"/>
            </a:br>
            <a:r>
              <a:rPr lang="en-IN" b="0" i="0" dirty="0">
                <a:solidFill>
                  <a:srgbClr val="3A3A3A"/>
                </a:solidFill>
                <a:effectLst/>
                <a:latin typeface="Open Sans" panose="020B0606030504020204" pitchFamily="34" charset="0"/>
              </a:rPr>
              <a:t>b) Push</a:t>
            </a:r>
            <a:br>
              <a:rPr lang="en-IN" dirty="0"/>
            </a:br>
            <a:r>
              <a:rPr lang="en-IN" b="0" i="0" dirty="0">
                <a:solidFill>
                  <a:srgbClr val="3A3A3A"/>
                </a:solidFill>
                <a:effectLst/>
                <a:latin typeface="Open Sans" panose="020B0606030504020204" pitchFamily="34" charset="0"/>
              </a:rPr>
              <a:t>c) Evaluation</a:t>
            </a:r>
            <a:br>
              <a:rPr lang="en-IN" dirty="0"/>
            </a:br>
            <a:r>
              <a:rPr lang="en-IN" b="0" i="0" dirty="0">
                <a:solidFill>
                  <a:srgbClr val="3A3A3A"/>
                </a:solidFill>
                <a:effectLst/>
                <a:latin typeface="Open Sans" panose="020B0606030504020204" pitchFamily="34" charset="0"/>
              </a:rPr>
              <a:t>d) Pop</a:t>
            </a:r>
            <a:endParaRPr lang="en-US" dirty="0"/>
          </a:p>
        </p:txBody>
      </p:sp>
    </p:spTree>
    <p:extLst>
      <p:ext uri="{BB962C8B-B14F-4D97-AF65-F5344CB8AC3E}">
        <p14:creationId xmlns:p14="http://schemas.microsoft.com/office/powerpoint/2010/main" val="1998044254"/>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F6DA-AAEA-8168-AE20-6B51D961B6A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0652C3E-6891-3906-BA76-3F0A0092C1F8}"/>
              </a:ext>
            </a:extLst>
          </p:cNvPr>
          <p:cNvSpPr>
            <a:spLocks noGrp="1"/>
          </p:cNvSpPr>
          <p:nvPr>
            <p:ph idx="1"/>
          </p:nvPr>
        </p:nvSpPr>
        <p:spPr/>
        <p:txBody>
          <a:bodyPr/>
          <a:lstStyle/>
          <a:p>
            <a:r>
              <a:rPr lang="en-IN" b="0" i="0" dirty="0">
                <a:solidFill>
                  <a:srgbClr val="3A3A3A"/>
                </a:solidFill>
                <a:effectLst/>
                <a:latin typeface="Open Sans" panose="020B0606030504020204" pitchFamily="34" charset="0"/>
              </a:rPr>
              <a:t>2. Process of removing an element from stack is called __________</a:t>
            </a:r>
            <a:br>
              <a:rPr lang="en-IN" dirty="0"/>
            </a:br>
            <a:r>
              <a:rPr lang="en-IN" b="0" i="0" dirty="0">
                <a:solidFill>
                  <a:srgbClr val="3A3A3A"/>
                </a:solidFill>
                <a:effectLst/>
                <a:latin typeface="Open Sans" panose="020B0606030504020204" pitchFamily="34" charset="0"/>
              </a:rPr>
              <a:t>a) Create</a:t>
            </a:r>
            <a:br>
              <a:rPr lang="en-IN" dirty="0"/>
            </a:br>
            <a:r>
              <a:rPr lang="en-IN" b="0" i="0" dirty="0">
                <a:solidFill>
                  <a:srgbClr val="3A3A3A"/>
                </a:solidFill>
                <a:effectLst/>
                <a:latin typeface="Open Sans" panose="020B0606030504020204" pitchFamily="34" charset="0"/>
              </a:rPr>
              <a:t>b) Push</a:t>
            </a:r>
            <a:br>
              <a:rPr lang="en-IN" dirty="0"/>
            </a:br>
            <a:r>
              <a:rPr lang="en-IN" b="0" i="0" dirty="0">
                <a:solidFill>
                  <a:srgbClr val="3A3A3A"/>
                </a:solidFill>
                <a:effectLst/>
                <a:latin typeface="Open Sans" panose="020B0606030504020204" pitchFamily="34" charset="0"/>
              </a:rPr>
              <a:t>c) Evaluation</a:t>
            </a:r>
            <a:br>
              <a:rPr lang="en-IN" dirty="0"/>
            </a:br>
            <a:r>
              <a:rPr lang="en-IN" b="0" i="0" dirty="0">
                <a:solidFill>
                  <a:srgbClr val="3A3A3A"/>
                </a:solidFill>
                <a:effectLst/>
                <a:latin typeface="Open Sans" panose="020B0606030504020204" pitchFamily="34" charset="0"/>
              </a:rPr>
              <a:t>d) Pop</a:t>
            </a:r>
            <a:endParaRPr lang="en-US" dirty="0"/>
          </a:p>
        </p:txBody>
      </p:sp>
    </p:spTree>
    <p:extLst>
      <p:ext uri="{BB962C8B-B14F-4D97-AF65-F5344CB8AC3E}">
        <p14:creationId xmlns:p14="http://schemas.microsoft.com/office/powerpoint/2010/main" val="4097910181"/>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65771-359D-2DF2-7268-DA359D33F14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D70AEC1-4B0C-DC7A-C9A4-425A0C48685D}"/>
              </a:ext>
            </a:extLst>
          </p:cNvPr>
          <p:cNvSpPr>
            <a:spLocks noGrp="1"/>
          </p:cNvSpPr>
          <p:nvPr>
            <p:ph idx="1"/>
          </p:nvPr>
        </p:nvSpPr>
        <p:spPr/>
        <p:txBody>
          <a:bodyPr/>
          <a:lstStyle/>
          <a:p>
            <a:r>
              <a:rPr lang="en-IN" b="0" i="0" dirty="0">
                <a:solidFill>
                  <a:srgbClr val="3A3A3A"/>
                </a:solidFill>
                <a:effectLst/>
                <a:latin typeface="Open Sans" panose="020B0606030504020204" pitchFamily="34" charset="0"/>
              </a:rPr>
              <a:t>3. In a stack, if a user tries to remove an element from an empty stack it is called _________</a:t>
            </a:r>
            <a:br>
              <a:rPr lang="en-IN" dirty="0"/>
            </a:br>
            <a:r>
              <a:rPr lang="en-IN" b="0" i="0" dirty="0">
                <a:solidFill>
                  <a:srgbClr val="3A3A3A"/>
                </a:solidFill>
                <a:effectLst/>
                <a:latin typeface="Open Sans" panose="020B0606030504020204" pitchFamily="34" charset="0"/>
              </a:rPr>
              <a:t>a) Underflow</a:t>
            </a:r>
            <a:br>
              <a:rPr lang="en-IN" dirty="0"/>
            </a:br>
            <a:r>
              <a:rPr lang="en-IN" b="0" i="0" dirty="0">
                <a:solidFill>
                  <a:srgbClr val="3A3A3A"/>
                </a:solidFill>
                <a:effectLst/>
                <a:latin typeface="Open Sans" panose="020B0606030504020204" pitchFamily="34" charset="0"/>
              </a:rPr>
              <a:t>b) Empty collection</a:t>
            </a:r>
            <a:br>
              <a:rPr lang="en-IN" dirty="0"/>
            </a:br>
            <a:r>
              <a:rPr lang="en-IN" b="0" i="0" dirty="0">
                <a:solidFill>
                  <a:srgbClr val="3A3A3A"/>
                </a:solidFill>
                <a:effectLst/>
                <a:latin typeface="Open Sans" panose="020B0606030504020204" pitchFamily="34" charset="0"/>
              </a:rPr>
              <a:t>c) Overflow</a:t>
            </a:r>
            <a:br>
              <a:rPr lang="en-IN" dirty="0"/>
            </a:br>
            <a:r>
              <a:rPr lang="en-IN" b="0" i="0" dirty="0">
                <a:solidFill>
                  <a:srgbClr val="3A3A3A"/>
                </a:solidFill>
                <a:effectLst/>
                <a:latin typeface="Open Sans" panose="020B0606030504020204" pitchFamily="34" charset="0"/>
              </a:rPr>
              <a:t>d) Garbage Collection</a:t>
            </a:r>
            <a:endParaRPr lang="en-US" dirty="0"/>
          </a:p>
        </p:txBody>
      </p:sp>
    </p:spTree>
    <p:extLst>
      <p:ext uri="{BB962C8B-B14F-4D97-AF65-F5344CB8AC3E}">
        <p14:creationId xmlns:p14="http://schemas.microsoft.com/office/powerpoint/2010/main" val="2278184790"/>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4B3AD-22CC-D394-6F25-EFB32D1FDFE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E356CBA-6AD8-F085-87D7-6BDF458E9718}"/>
              </a:ext>
            </a:extLst>
          </p:cNvPr>
          <p:cNvSpPr>
            <a:spLocks noGrp="1"/>
          </p:cNvSpPr>
          <p:nvPr>
            <p:ph idx="1"/>
          </p:nvPr>
        </p:nvSpPr>
        <p:spPr/>
        <p:txBody>
          <a:bodyPr/>
          <a:lstStyle/>
          <a:p>
            <a:r>
              <a:rPr lang="en-IN" b="0" i="0" dirty="0">
                <a:solidFill>
                  <a:srgbClr val="3A3A3A"/>
                </a:solidFill>
                <a:effectLst/>
                <a:latin typeface="Open Sans" panose="020B0606030504020204" pitchFamily="34" charset="0"/>
              </a:rPr>
              <a:t>4. Pushing an element into stack already having five elements and stack size of 5, then stack becomes ___________</a:t>
            </a:r>
            <a:br>
              <a:rPr lang="en-IN" dirty="0"/>
            </a:br>
            <a:r>
              <a:rPr lang="en-IN" b="0" i="0" dirty="0">
                <a:solidFill>
                  <a:srgbClr val="3A3A3A"/>
                </a:solidFill>
                <a:effectLst/>
                <a:latin typeface="Open Sans" panose="020B0606030504020204" pitchFamily="34" charset="0"/>
              </a:rPr>
              <a:t>a) Overflow</a:t>
            </a:r>
            <a:br>
              <a:rPr lang="en-IN" dirty="0"/>
            </a:br>
            <a:r>
              <a:rPr lang="en-IN" b="0" i="0" dirty="0">
                <a:solidFill>
                  <a:srgbClr val="3A3A3A"/>
                </a:solidFill>
                <a:effectLst/>
                <a:latin typeface="Open Sans" panose="020B0606030504020204" pitchFamily="34" charset="0"/>
              </a:rPr>
              <a:t>b) Crash</a:t>
            </a:r>
            <a:br>
              <a:rPr lang="en-IN" dirty="0"/>
            </a:br>
            <a:r>
              <a:rPr lang="en-IN" b="0" i="0" dirty="0">
                <a:solidFill>
                  <a:srgbClr val="3A3A3A"/>
                </a:solidFill>
                <a:effectLst/>
                <a:latin typeface="Open Sans" panose="020B0606030504020204" pitchFamily="34" charset="0"/>
              </a:rPr>
              <a:t>c) Underflow</a:t>
            </a:r>
            <a:br>
              <a:rPr lang="en-IN" dirty="0"/>
            </a:br>
            <a:r>
              <a:rPr lang="en-IN" b="0" i="0" dirty="0">
                <a:solidFill>
                  <a:srgbClr val="3A3A3A"/>
                </a:solidFill>
                <a:effectLst/>
                <a:latin typeface="Open Sans" panose="020B0606030504020204" pitchFamily="34" charset="0"/>
              </a:rPr>
              <a:t>d) User flow</a:t>
            </a:r>
            <a:endParaRPr lang="en-US" dirty="0"/>
          </a:p>
        </p:txBody>
      </p:sp>
    </p:spTree>
    <p:extLst>
      <p:ext uri="{BB962C8B-B14F-4D97-AF65-F5344CB8AC3E}">
        <p14:creationId xmlns:p14="http://schemas.microsoft.com/office/powerpoint/2010/main" val="1328136898"/>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D5E7E-36DA-4FA9-B475-1EC23B8B6EF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6FA48D9-6901-DDD6-B64B-8BFBCA143CAF}"/>
              </a:ext>
            </a:extLst>
          </p:cNvPr>
          <p:cNvSpPr>
            <a:spLocks noGrp="1"/>
          </p:cNvSpPr>
          <p:nvPr>
            <p:ph idx="1"/>
          </p:nvPr>
        </p:nvSpPr>
        <p:spPr/>
        <p:txBody>
          <a:bodyPr/>
          <a:lstStyle/>
          <a:p>
            <a:r>
              <a:rPr lang="en-IN" b="0" i="0" dirty="0">
                <a:solidFill>
                  <a:srgbClr val="3A3A3A"/>
                </a:solidFill>
                <a:effectLst/>
                <a:latin typeface="Open Sans" panose="020B0606030504020204" pitchFamily="34" charset="0"/>
              </a:rPr>
              <a:t>5. Entries in a stack are “ordered”. What is the meaning of this statement?</a:t>
            </a:r>
            <a:br>
              <a:rPr lang="en-IN" dirty="0"/>
            </a:br>
            <a:r>
              <a:rPr lang="en-IN" b="0" i="0" dirty="0">
                <a:solidFill>
                  <a:srgbClr val="3A3A3A"/>
                </a:solidFill>
                <a:effectLst/>
                <a:latin typeface="Open Sans" panose="020B0606030504020204" pitchFamily="34" charset="0"/>
              </a:rPr>
              <a:t>a) A collection of stacks is sortable</a:t>
            </a:r>
            <a:br>
              <a:rPr lang="en-IN" dirty="0"/>
            </a:br>
            <a:r>
              <a:rPr lang="en-IN" b="0" i="0" dirty="0">
                <a:solidFill>
                  <a:srgbClr val="3A3A3A"/>
                </a:solidFill>
                <a:effectLst/>
                <a:latin typeface="Open Sans" panose="020B0606030504020204" pitchFamily="34" charset="0"/>
              </a:rPr>
              <a:t>b) Stack entries may be compared with the ‘&lt;‘ operation</a:t>
            </a:r>
            <a:br>
              <a:rPr lang="en-IN" dirty="0"/>
            </a:br>
            <a:r>
              <a:rPr lang="en-IN" b="0" i="0" dirty="0">
                <a:solidFill>
                  <a:srgbClr val="3A3A3A"/>
                </a:solidFill>
                <a:effectLst/>
                <a:latin typeface="Open Sans" panose="020B0606030504020204" pitchFamily="34" charset="0"/>
              </a:rPr>
              <a:t>c) The entries are stored in a linked list</a:t>
            </a:r>
            <a:br>
              <a:rPr lang="en-IN" dirty="0"/>
            </a:br>
            <a:r>
              <a:rPr lang="en-IN" b="0" i="0" dirty="0">
                <a:solidFill>
                  <a:srgbClr val="3A3A3A"/>
                </a:solidFill>
                <a:effectLst/>
                <a:latin typeface="Open Sans" panose="020B0606030504020204" pitchFamily="34" charset="0"/>
              </a:rPr>
              <a:t>d) There is a Sequential entry that is one by one</a:t>
            </a:r>
            <a:endParaRPr lang="en-US" dirty="0"/>
          </a:p>
        </p:txBody>
      </p:sp>
    </p:spTree>
    <p:extLst>
      <p:ext uri="{BB962C8B-B14F-4D97-AF65-F5344CB8AC3E}">
        <p14:creationId xmlns:p14="http://schemas.microsoft.com/office/powerpoint/2010/main" val="3038236178"/>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FCF6F-CD2B-BC45-41C2-11E33871D70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FC9559B-42CC-A83C-B8C8-B4D699DFCD7F}"/>
              </a:ext>
            </a:extLst>
          </p:cNvPr>
          <p:cNvSpPr>
            <a:spLocks noGrp="1"/>
          </p:cNvSpPr>
          <p:nvPr>
            <p:ph idx="1"/>
          </p:nvPr>
        </p:nvSpPr>
        <p:spPr/>
        <p:txBody>
          <a:bodyPr/>
          <a:lstStyle/>
          <a:p>
            <a:r>
              <a:rPr lang="en-IN" b="0" i="0" dirty="0">
                <a:solidFill>
                  <a:srgbClr val="3A3A3A"/>
                </a:solidFill>
                <a:effectLst/>
                <a:latin typeface="Open Sans" panose="020B0606030504020204" pitchFamily="34" charset="0"/>
              </a:rPr>
              <a:t>6. Which of the following is not the application of stack?</a:t>
            </a:r>
            <a:br>
              <a:rPr lang="en-IN" dirty="0"/>
            </a:br>
            <a:r>
              <a:rPr lang="en-IN" b="0" i="0" dirty="0">
                <a:solidFill>
                  <a:srgbClr val="3A3A3A"/>
                </a:solidFill>
                <a:effectLst/>
                <a:latin typeface="Open Sans" panose="020B0606030504020204" pitchFamily="34" charset="0"/>
              </a:rPr>
              <a:t>a) A parentheses balancing program</a:t>
            </a:r>
            <a:br>
              <a:rPr lang="en-IN" dirty="0"/>
            </a:br>
            <a:r>
              <a:rPr lang="en-IN" b="0" i="0" dirty="0">
                <a:solidFill>
                  <a:srgbClr val="3A3A3A"/>
                </a:solidFill>
                <a:effectLst/>
                <a:latin typeface="Open Sans" panose="020B0606030504020204" pitchFamily="34" charset="0"/>
              </a:rPr>
              <a:t>b) Tracking of local variables at run time</a:t>
            </a:r>
            <a:br>
              <a:rPr lang="en-IN" dirty="0"/>
            </a:br>
            <a:r>
              <a:rPr lang="en-IN" b="0" i="0" dirty="0">
                <a:solidFill>
                  <a:srgbClr val="3A3A3A"/>
                </a:solidFill>
                <a:effectLst/>
                <a:latin typeface="Open Sans" panose="020B0606030504020204" pitchFamily="34" charset="0"/>
              </a:rPr>
              <a:t>c) Compiler Syntax Analyzer</a:t>
            </a:r>
            <a:br>
              <a:rPr lang="en-IN" dirty="0"/>
            </a:br>
            <a:r>
              <a:rPr lang="en-IN" b="0" i="0" dirty="0">
                <a:solidFill>
                  <a:srgbClr val="3A3A3A"/>
                </a:solidFill>
                <a:effectLst/>
                <a:latin typeface="Open Sans" panose="020B0606030504020204" pitchFamily="34" charset="0"/>
              </a:rPr>
              <a:t>d) Data Transfer between two asynchronous process</a:t>
            </a:r>
            <a:endParaRPr lang="en-US" dirty="0"/>
          </a:p>
        </p:txBody>
      </p:sp>
    </p:spTree>
    <p:extLst>
      <p:ext uri="{BB962C8B-B14F-4D97-AF65-F5344CB8AC3E}">
        <p14:creationId xmlns:p14="http://schemas.microsoft.com/office/powerpoint/2010/main" val="710311985"/>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5A970-5C36-74DE-0707-539A5F5C313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BBA3629-44D4-02F1-9B64-9EFED425370A}"/>
              </a:ext>
            </a:extLst>
          </p:cNvPr>
          <p:cNvSpPr>
            <a:spLocks noGrp="1"/>
          </p:cNvSpPr>
          <p:nvPr>
            <p:ph idx="1"/>
          </p:nvPr>
        </p:nvSpPr>
        <p:spPr/>
        <p:txBody>
          <a:bodyPr/>
          <a:lstStyle/>
          <a:p>
            <a:r>
              <a:rPr lang="en-IN" b="0" i="0" dirty="0">
                <a:solidFill>
                  <a:srgbClr val="3A3A3A"/>
                </a:solidFill>
                <a:effectLst/>
                <a:latin typeface="Open Sans" panose="020B0606030504020204" pitchFamily="34" charset="0"/>
              </a:rPr>
              <a:t>7. Consider the usual algorithm for determining whether a sequence of parentheses is balanced. The maximum number of parentheses that appear on the stack AT ANY ONE TIME when the algorithm </a:t>
            </a:r>
            <a:r>
              <a:rPr lang="en-IN" b="0" i="0" dirty="0" err="1">
                <a:solidFill>
                  <a:srgbClr val="3A3A3A"/>
                </a:solidFill>
                <a:effectLst/>
                <a:latin typeface="Open Sans" panose="020B0606030504020204" pitchFamily="34" charset="0"/>
              </a:rPr>
              <a:t>analyzes</a:t>
            </a:r>
            <a:r>
              <a:rPr lang="en-IN" b="0" i="0" dirty="0">
                <a:solidFill>
                  <a:srgbClr val="3A3A3A"/>
                </a:solidFill>
                <a:effectLst/>
                <a:latin typeface="Open Sans" panose="020B0606030504020204" pitchFamily="34" charset="0"/>
              </a:rPr>
              <a:t>: (()(())(()))?</a:t>
            </a:r>
            <a:br>
              <a:rPr lang="en-IN" dirty="0"/>
            </a:br>
            <a:r>
              <a:rPr lang="en-IN" b="0" i="0" dirty="0">
                <a:solidFill>
                  <a:srgbClr val="3A3A3A"/>
                </a:solidFill>
                <a:effectLst/>
                <a:latin typeface="Open Sans" panose="020B0606030504020204" pitchFamily="34" charset="0"/>
              </a:rPr>
              <a:t>a) 1</a:t>
            </a:r>
            <a:br>
              <a:rPr lang="en-IN" dirty="0"/>
            </a:br>
            <a:r>
              <a:rPr lang="en-IN" b="0" i="0" dirty="0">
                <a:solidFill>
                  <a:srgbClr val="3A3A3A"/>
                </a:solidFill>
                <a:effectLst/>
                <a:latin typeface="Open Sans" panose="020B0606030504020204" pitchFamily="34" charset="0"/>
              </a:rPr>
              <a:t>b) 2</a:t>
            </a:r>
            <a:br>
              <a:rPr lang="en-IN" dirty="0"/>
            </a:br>
            <a:r>
              <a:rPr lang="en-IN" b="0" i="0" dirty="0">
                <a:solidFill>
                  <a:srgbClr val="3A3A3A"/>
                </a:solidFill>
                <a:effectLst/>
                <a:latin typeface="Open Sans" panose="020B0606030504020204" pitchFamily="34" charset="0"/>
              </a:rPr>
              <a:t>c) 3</a:t>
            </a:r>
            <a:br>
              <a:rPr lang="en-IN" dirty="0"/>
            </a:br>
            <a:r>
              <a:rPr lang="en-IN" b="0" i="0" dirty="0">
                <a:solidFill>
                  <a:srgbClr val="3A3A3A"/>
                </a:solidFill>
                <a:effectLst/>
                <a:latin typeface="Open Sans" panose="020B0606030504020204" pitchFamily="34" charset="0"/>
              </a:rPr>
              <a:t>d) 4 or more</a:t>
            </a:r>
            <a:endParaRPr lang="en-US" dirty="0"/>
          </a:p>
        </p:txBody>
      </p:sp>
    </p:spTree>
    <p:extLst>
      <p:ext uri="{BB962C8B-B14F-4D97-AF65-F5344CB8AC3E}">
        <p14:creationId xmlns:p14="http://schemas.microsoft.com/office/powerpoint/2010/main" val="3486720683"/>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3B006-113F-506B-F4F0-FA6613BA088D}"/>
              </a:ext>
            </a:extLst>
          </p:cNvPr>
          <p:cNvSpPr>
            <a:spLocks noGrp="1"/>
          </p:cNvSpPr>
          <p:nvPr>
            <p:ph type="title"/>
          </p:nvPr>
        </p:nvSpPr>
        <p:spPr/>
        <p:txBody>
          <a:bodyPr/>
          <a:lstStyle/>
          <a:p>
            <a:r>
              <a:rPr lang="en-US" dirty="0"/>
              <a:t>Algorithm</a:t>
            </a:r>
          </a:p>
        </p:txBody>
      </p:sp>
      <p:sp>
        <p:nvSpPr>
          <p:cNvPr id="3" name="Content Placeholder 2">
            <a:extLst>
              <a:ext uri="{FF2B5EF4-FFF2-40B4-BE49-F238E27FC236}">
                <a16:creationId xmlns:a16="http://schemas.microsoft.com/office/drawing/2014/main" id="{56E7C51A-346D-92D9-CE19-536BE0602C94}"/>
              </a:ext>
            </a:extLst>
          </p:cNvPr>
          <p:cNvSpPr>
            <a:spLocks noGrp="1"/>
          </p:cNvSpPr>
          <p:nvPr>
            <p:ph idx="1"/>
          </p:nvPr>
        </p:nvSpPr>
        <p:spPr/>
        <p:txBody>
          <a:bodyPr/>
          <a:lstStyle/>
          <a:p>
            <a:pPr algn="ctr"/>
            <a:r>
              <a:rPr lang="en-IN" b="1" i="0" dirty="0">
                <a:solidFill>
                  <a:srgbClr val="333333"/>
                </a:solidFill>
                <a:effectLst/>
                <a:latin typeface="Open Sans" panose="020B0606030504020204" pitchFamily="34" charset="0"/>
              </a:rPr>
              <a:t>An algorithm is a sequence of unambiguous instructions used for solving a problem, which can be implemented (as a program) on a computer.</a:t>
            </a:r>
          </a:p>
          <a:p>
            <a:br>
              <a:rPr lang="en-IN" dirty="0"/>
            </a:br>
            <a:endParaRPr lang="en-US" dirty="0"/>
          </a:p>
        </p:txBody>
      </p:sp>
      <p:pic>
        <p:nvPicPr>
          <p:cNvPr id="3074" name="Picture 2" descr="algorithms">
            <a:extLst>
              <a:ext uri="{FF2B5EF4-FFF2-40B4-BE49-F238E27FC236}">
                <a16:creationId xmlns:a16="http://schemas.microsoft.com/office/drawing/2014/main" id="{BC44E57F-A9C1-C5C6-722B-E4DC982916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12000" y="2864285"/>
            <a:ext cx="508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951619"/>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B893A-A8F0-822D-7811-4D8C022B09B4}"/>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Specifications of Algorithms</a:t>
            </a:r>
            <a:endParaRPr lang="en-US" dirty="0"/>
          </a:p>
        </p:txBody>
      </p:sp>
      <p:sp>
        <p:nvSpPr>
          <p:cNvPr id="3" name="Content Placeholder 2">
            <a:extLst>
              <a:ext uri="{FF2B5EF4-FFF2-40B4-BE49-F238E27FC236}">
                <a16:creationId xmlns:a16="http://schemas.microsoft.com/office/drawing/2014/main" id="{C2FA4985-A36E-2147-B399-181DB2F372AE}"/>
              </a:ext>
            </a:extLst>
          </p:cNvPr>
          <p:cNvSpPr>
            <a:spLocks noGrp="1"/>
          </p:cNvSpPr>
          <p:nvPr>
            <p:ph idx="1"/>
          </p:nvPr>
        </p:nvSpPr>
        <p:spPr/>
        <p:txBody>
          <a:bodyPr>
            <a:normAutofit lnSpcReduction="10000"/>
          </a:bodyPr>
          <a:lstStyle/>
          <a:p>
            <a:pPr algn="just"/>
            <a:r>
              <a:rPr lang="en-IN" b="0" i="0" dirty="0">
                <a:solidFill>
                  <a:srgbClr val="333333"/>
                </a:solidFill>
                <a:effectLst/>
                <a:latin typeface="Open Sans" panose="020B0606030504020204" pitchFamily="34" charset="0"/>
              </a:rPr>
              <a:t>Every algorithm must satisfy the following specifications:</a:t>
            </a:r>
          </a:p>
          <a:p>
            <a:pPr algn="just">
              <a:buFont typeface="+mj-lt"/>
              <a:buAutoNum type="arabicPeriod"/>
            </a:pPr>
            <a:r>
              <a:rPr lang="en-IN" b="1" i="0" dirty="0">
                <a:solidFill>
                  <a:srgbClr val="333333"/>
                </a:solidFill>
                <a:effectLst/>
                <a:latin typeface="Open Sans" panose="020B0606030504020204" pitchFamily="34" charset="0"/>
              </a:rPr>
              <a:t>Input -</a:t>
            </a:r>
            <a:r>
              <a:rPr lang="en-IN" b="0" i="0" dirty="0">
                <a:solidFill>
                  <a:srgbClr val="333333"/>
                </a:solidFill>
                <a:effectLst/>
                <a:latin typeface="Open Sans" panose="020B0606030504020204" pitchFamily="34" charset="0"/>
              </a:rPr>
              <a:t> Every algorithm must take zero or more number of input values from external.</a:t>
            </a:r>
          </a:p>
          <a:p>
            <a:pPr algn="just">
              <a:buFont typeface="+mj-lt"/>
              <a:buAutoNum type="arabicPeriod"/>
            </a:pPr>
            <a:r>
              <a:rPr lang="en-IN" b="1" i="0" dirty="0">
                <a:solidFill>
                  <a:srgbClr val="333333"/>
                </a:solidFill>
                <a:effectLst/>
                <a:latin typeface="Open Sans" panose="020B0606030504020204" pitchFamily="34" charset="0"/>
              </a:rPr>
              <a:t>Output -</a:t>
            </a:r>
            <a:r>
              <a:rPr lang="en-IN" b="0" i="0" dirty="0">
                <a:solidFill>
                  <a:srgbClr val="333333"/>
                </a:solidFill>
                <a:effectLst/>
                <a:latin typeface="Open Sans" panose="020B0606030504020204" pitchFamily="34" charset="0"/>
              </a:rPr>
              <a:t> Every algorithm must produce an output as result.</a:t>
            </a:r>
          </a:p>
          <a:p>
            <a:pPr algn="just">
              <a:buFont typeface="+mj-lt"/>
              <a:buAutoNum type="arabicPeriod"/>
            </a:pPr>
            <a:r>
              <a:rPr lang="en-IN" b="1" i="0" dirty="0">
                <a:solidFill>
                  <a:srgbClr val="333333"/>
                </a:solidFill>
                <a:effectLst/>
                <a:latin typeface="Open Sans" panose="020B0606030504020204" pitchFamily="34" charset="0"/>
              </a:rPr>
              <a:t>Definiteness -</a:t>
            </a:r>
            <a:r>
              <a:rPr lang="en-IN" b="0" i="0" dirty="0">
                <a:solidFill>
                  <a:srgbClr val="333333"/>
                </a:solidFill>
                <a:effectLst/>
                <a:latin typeface="Open Sans" panose="020B0606030504020204" pitchFamily="34" charset="0"/>
              </a:rPr>
              <a:t> Every statement/instruction in an algorithm must be clear and unambiguous (only one interpretation).</a:t>
            </a:r>
          </a:p>
          <a:p>
            <a:pPr algn="just">
              <a:buFont typeface="+mj-lt"/>
              <a:buAutoNum type="arabicPeriod"/>
            </a:pPr>
            <a:r>
              <a:rPr lang="en-IN" b="1" i="0" dirty="0">
                <a:solidFill>
                  <a:srgbClr val="333333"/>
                </a:solidFill>
                <a:effectLst/>
                <a:latin typeface="Open Sans" panose="020B0606030504020204" pitchFamily="34" charset="0"/>
              </a:rPr>
              <a:t>Finiteness -</a:t>
            </a:r>
            <a:r>
              <a:rPr lang="en-IN" b="0" i="0" dirty="0">
                <a:solidFill>
                  <a:srgbClr val="333333"/>
                </a:solidFill>
                <a:effectLst/>
                <a:latin typeface="Open Sans" panose="020B0606030504020204" pitchFamily="34" charset="0"/>
              </a:rPr>
              <a:t> For all different cases, the algorithm must produce result within a finite number of steps.</a:t>
            </a:r>
          </a:p>
          <a:p>
            <a:pPr algn="just">
              <a:buFont typeface="+mj-lt"/>
              <a:buAutoNum type="arabicPeriod"/>
            </a:pPr>
            <a:r>
              <a:rPr lang="en-IN" b="1" i="0" dirty="0">
                <a:solidFill>
                  <a:srgbClr val="333333"/>
                </a:solidFill>
                <a:effectLst/>
                <a:latin typeface="Open Sans" panose="020B0606030504020204" pitchFamily="34" charset="0"/>
              </a:rPr>
              <a:t>Effectiveness -</a:t>
            </a:r>
            <a:r>
              <a:rPr lang="en-IN" b="0" i="0" dirty="0">
                <a:solidFill>
                  <a:srgbClr val="333333"/>
                </a:solidFill>
                <a:effectLst/>
                <a:latin typeface="Open Sans" panose="020B0606030504020204" pitchFamily="34" charset="0"/>
              </a:rPr>
              <a:t> Every instruction must be basic enough to be carried out and it also must be feasible.</a:t>
            </a:r>
          </a:p>
          <a:p>
            <a:endParaRPr lang="en-US" dirty="0"/>
          </a:p>
        </p:txBody>
      </p:sp>
    </p:spTree>
    <p:extLst>
      <p:ext uri="{BB962C8B-B14F-4D97-AF65-F5344CB8AC3E}">
        <p14:creationId xmlns:p14="http://schemas.microsoft.com/office/powerpoint/2010/main" val="1060333582"/>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BE41C-1EBB-0737-C53C-9401B3224535}"/>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Recursive Algorithm</a:t>
            </a:r>
            <a:endParaRPr lang="en-US" dirty="0"/>
          </a:p>
        </p:txBody>
      </p:sp>
      <p:sp>
        <p:nvSpPr>
          <p:cNvPr id="3" name="Content Placeholder 2">
            <a:extLst>
              <a:ext uri="{FF2B5EF4-FFF2-40B4-BE49-F238E27FC236}">
                <a16:creationId xmlns:a16="http://schemas.microsoft.com/office/drawing/2014/main" id="{01494FF3-D0CA-5F02-6418-DE0E3DF9C4E7}"/>
              </a:ext>
            </a:extLst>
          </p:cNvPr>
          <p:cNvSpPr>
            <a:spLocks noGrp="1"/>
          </p:cNvSpPr>
          <p:nvPr>
            <p:ph idx="1"/>
          </p:nvPr>
        </p:nvSpPr>
        <p:spPr/>
        <p:txBody>
          <a:bodyPr/>
          <a:lstStyle/>
          <a:p>
            <a:r>
              <a:rPr lang="en-IN" b="1" i="0" dirty="0">
                <a:solidFill>
                  <a:srgbClr val="333333"/>
                </a:solidFill>
                <a:effectLst/>
                <a:latin typeface="Open Sans" panose="020B0606030504020204" pitchFamily="34" charset="0"/>
              </a:rPr>
              <a:t>The function which is called by itself is known as Direct Recursive function (or Recursive function).</a:t>
            </a:r>
          </a:p>
          <a:p>
            <a:endParaRPr lang="en-IN" b="1" dirty="0">
              <a:solidFill>
                <a:srgbClr val="333333"/>
              </a:solidFill>
              <a:latin typeface="Open Sans" panose="020B0606030504020204" pitchFamily="34" charset="0"/>
            </a:endParaRPr>
          </a:p>
          <a:p>
            <a:r>
              <a:rPr lang="en-IN" b="1" i="0" dirty="0">
                <a:solidFill>
                  <a:srgbClr val="333333"/>
                </a:solidFill>
                <a:effectLst/>
                <a:latin typeface="Open Sans" panose="020B0606030504020204" pitchFamily="34" charset="0"/>
              </a:rPr>
              <a:t>The function which calls a function and that function calls its called function is known Indirect Recursive function (or Recursive function).</a:t>
            </a:r>
          </a:p>
          <a:p>
            <a:br>
              <a:rPr lang="en-IN" dirty="0"/>
            </a:br>
            <a:br>
              <a:rPr lang="en-IN" dirty="0"/>
            </a:br>
            <a:endParaRPr lang="en-US" dirty="0"/>
          </a:p>
        </p:txBody>
      </p:sp>
    </p:spTree>
    <p:extLst>
      <p:ext uri="{BB962C8B-B14F-4D97-AF65-F5344CB8AC3E}">
        <p14:creationId xmlns:p14="http://schemas.microsoft.com/office/powerpoint/2010/main" val="3845716066"/>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23761-4CC1-4DAD-109D-19BB9FA1FF4E}"/>
              </a:ext>
            </a:extLst>
          </p:cNvPr>
          <p:cNvSpPr>
            <a:spLocks noGrp="1"/>
          </p:cNvSpPr>
          <p:nvPr>
            <p:ph type="title"/>
          </p:nvPr>
        </p:nvSpPr>
        <p:spPr/>
        <p:txBody>
          <a:bodyPr>
            <a:normAutofit/>
          </a:bodyPr>
          <a:lstStyle/>
          <a:p>
            <a:r>
              <a:rPr lang="en-IN" b="1" i="0" dirty="0">
                <a:solidFill>
                  <a:srgbClr val="333333"/>
                </a:solidFill>
                <a:effectLst/>
                <a:latin typeface="Comfortaa"/>
              </a:rPr>
              <a:t>Performance Analysis</a:t>
            </a:r>
            <a:endParaRPr lang="en-US" dirty="0"/>
          </a:p>
        </p:txBody>
      </p:sp>
      <p:sp>
        <p:nvSpPr>
          <p:cNvPr id="3" name="Content Placeholder 2">
            <a:extLst>
              <a:ext uri="{FF2B5EF4-FFF2-40B4-BE49-F238E27FC236}">
                <a16:creationId xmlns:a16="http://schemas.microsoft.com/office/drawing/2014/main" id="{D5EFE620-7053-0FE3-B9F5-0E545D8455D7}"/>
              </a:ext>
            </a:extLst>
          </p:cNvPr>
          <p:cNvSpPr>
            <a:spLocks noGrp="1"/>
          </p:cNvSpPr>
          <p:nvPr>
            <p:ph idx="1"/>
          </p:nvPr>
        </p:nvSpPr>
        <p:spPr/>
        <p:txBody>
          <a:bodyPr>
            <a:normAutofit fontScale="92500" lnSpcReduction="10000"/>
          </a:bodyPr>
          <a:lstStyle/>
          <a:p>
            <a:r>
              <a:rPr lang="en-IN" sz="1600" b="1" i="0" dirty="0">
                <a:solidFill>
                  <a:srgbClr val="333333"/>
                </a:solidFill>
                <a:effectLst/>
                <a:latin typeface="Open Sans" panose="020B0606030504020204" pitchFamily="34" charset="0"/>
              </a:rPr>
              <a:t>Performance of an algorithm is a process of making evaluative judgement about algorithms.</a:t>
            </a:r>
          </a:p>
          <a:p>
            <a:endParaRPr lang="en-IN" sz="1600" b="1" i="0" dirty="0">
              <a:solidFill>
                <a:srgbClr val="333333"/>
              </a:solidFill>
              <a:effectLst/>
              <a:latin typeface="Open Sans" panose="020B0606030504020204" pitchFamily="34" charset="0"/>
            </a:endParaRPr>
          </a:p>
          <a:p>
            <a:r>
              <a:rPr lang="en-IN" sz="1600" b="1" i="0" dirty="0">
                <a:solidFill>
                  <a:srgbClr val="333333"/>
                </a:solidFill>
                <a:effectLst/>
                <a:latin typeface="Open Sans" panose="020B0606030504020204" pitchFamily="34" charset="0"/>
              </a:rPr>
              <a:t>Performance of an algorithm means predicting the resources which are required to an algorithm to perform its task.</a:t>
            </a:r>
          </a:p>
          <a:p>
            <a:endParaRPr lang="en-IN" sz="1600" dirty="0"/>
          </a:p>
          <a:p>
            <a:r>
              <a:rPr lang="en-IN" sz="1600" b="1" i="0" dirty="0">
                <a:solidFill>
                  <a:srgbClr val="333333"/>
                </a:solidFill>
                <a:effectLst/>
                <a:latin typeface="Open Sans" panose="020B0606030504020204" pitchFamily="34" charset="0"/>
              </a:rPr>
              <a:t>Performance analysis of an algorithm is the process of calculating space and time required by that algorithm.</a:t>
            </a:r>
          </a:p>
          <a:p>
            <a:endParaRPr lang="en-IN" sz="1600" b="1" i="0" dirty="0">
              <a:solidFill>
                <a:srgbClr val="333333"/>
              </a:solidFill>
              <a:effectLst/>
              <a:latin typeface="Comfortaa"/>
            </a:endParaRPr>
          </a:p>
          <a:p>
            <a:r>
              <a:rPr lang="en-IN" sz="1600" b="1" i="0" dirty="0">
                <a:solidFill>
                  <a:srgbClr val="333333"/>
                </a:solidFill>
                <a:effectLst/>
                <a:latin typeface="Comfortaa"/>
              </a:rPr>
              <a:t>Space Complexity: </a:t>
            </a:r>
            <a:r>
              <a:rPr lang="en-IN" sz="1600" b="1" i="0" dirty="0">
                <a:solidFill>
                  <a:srgbClr val="333333"/>
                </a:solidFill>
                <a:effectLst/>
                <a:latin typeface="Open Sans" panose="020B0606030504020204" pitchFamily="34" charset="0"/>
              </a:rPr>
              <a:t>Total amount of computer memory required by an algorithm to complete its execution is called as space complexity of that algorithm.</a:t>
            </a:r>
          </a:p>
          <a:p>
            <a:endParaRPr lang="en-IN" sz="1600" b="1" i="0" dirty="0">
              <a:solidFill>
                <a:srgbClr val="333333"/>
              </a:solidFill>
              <a:effectLst/>
              <a:latin typeface="Comfortaa"/>
            </a:endParaRPr>
          </a:p>
          <a:p>
            <a:r>
              <a:rPr lang="en-IN" sz="1600" b="1" i="0" dirty="0">
                <a:solidFill>
                  <a:srgbClr val="333333"/>
                </a:solidFill>
                <a:effectLst/>
                <a:latin typeface="Open Sans" panose="020B0606030504020204" pitchFamily="34" charset="0"/>
              </a:rPr>
              <a:t>If any algorithm requires a fixed amount of space for all input values then that space complexity is said to be Constant Space Complexity.</a:t>
            </a:r>
            <a:endParaRPr lang="en-IN" sz="1600" b="0" i="0" dirty="0">
              <a:solidFill>
                <a:srgbClr val="333333"/>
              </a:solidFill>
              <a:effectLst/>
              <a:latin typeface="Open Sans" panose="020B0606030504020204" pitchFamily="34" charset="0"/>
            </a:endParaRPr>
          </a:p>
          <a:p>
            <a:endParaRPr lang="en-US" sz="1600" dirty="0"/>
          </a:p>
          <a:p>
            <a:r>
              <a:rPr lang="en-IN" sz="1600" b="1" i="0" dirty="0">
                <a:solidFill>
                  <a:srgbClr val="333333"/>
                </a:solidFill>
                <a:effectLst/>
                <a:latin typeface="Open Sans" panose="020B0606030504020204" pitchFamily="34" charset="0"/>
              </a:rPr>
              <a:t>If the amount of space required by an algorithm is increased with the increase of input value, then that space complexity is said to be Linear Space Complexity.</a:t>
            </a:r>
          </a:p>
        </p:txBody>
      </p:sp>
    </p:spTree>
    <p:extLst>
      <p:ext uri="{BB962C8B-B14F-4D97-AF65-F5344CB8AC3E}">
        <p14:creationId xmlns:p14="http://schemas.microsoft.com/office/powerpoint/2010/main" val="3283601636"/>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EEC07-AB4A-4F2D-F840-59E74264649F}"/>
              </a:ext>
            </a:extLst>
          </p:cNvPr>
          <p:cNvSpPr>
            <a:spLocks noGrp="1"/>
          </p:cNvSpPr>
          <p:nvPr>
            <p:ph type="title"/>
          </p:nvPr>
        </p:nvSpPr>
        <p:spPr/>
        <p:txBody>
          <a:bodyPr>
            <a:normAutofit/>
          </a:bodyPr>
          <a:lstStyle/>
          <a:p>
            <a:r>
              <a:rPr lang="en-IN" b="1" i="0" dirty="0">
                <a:solidFill>
                  <a:srgbClr val="333333"/>
                </a:solidFill>
                <a:effectLst/>
                <a:latin typeface="Comfortaa"/>
              </a:rPr>
              <a:t>Time Complexity</a:t>
            </a:r>
            <a:endParaRPr lang="en-US" dirty="0"/>
          </a:p>
        </p:txBody>
      </p:sp>
      <p:sp>
        <p:nvSpPr>
          <p:cNvPr id="3" name="Content Placeholder 2">
            <a:extLst>
              <a:ext uri="{FF2B5EF4-FFF2-40B4-BE49-F238E27FC236}">
                <a16:creationId xmlns:a16="http://schemas.microsoft.com/office/drawing/2014/main" id="{185D7151-460C-3C29-D6A4-DF6C28057160}"/>
              </a:ext>
            </a:extLst>
          </p:cNvPr>
          <p:cNvSpPr>
            <a:spLocks noGrp="1"/>
          </p:cNvSpPr>
          <p:nvPr>
            <p:ph idx="1"/>
          </p:nvPr>
        </p:nvSpPr>
        <p:spPr/>
        <p:txBody>
          <a:bodyPr>
            <a:normAutofit fontScale="92500" lnSpcReduction="10000"/>
          </a:bodyPr>
          <a:lstStyle/>
          <a:p>
            <a:r>
              <a:rPr lang="en-IN" b="1" i="0" dirty="0">
                <a:solidFill>
                  <a:srgbClr val="333333"/>
                </a:solidFill>
                <a:effectLst/>
                <a:latin typeface="Open Sans" panose="020B0606030504020204" pitchFamily="34" charset="0"/>
              </a:rPr>
              <a:t>The time complexity of an algorithm is the total amount of time required by an algorithm to complete its execution.</a:t>
            </a:r>
          </a:p>
          <a:p>
            <a:endParaRPr lang="en-IN" b="1" i="0" dirty="0">
              <a:solidFill>
                <a:srgbClr val="333333"/>
              </a:solidFill>
              <a:effectLst/>
              <a:latin typeface="Open Sans" panose="020B0606030504020204" pitchFamily="34" charset="0"/>
            </a:endParaRPr>
          </a:p>
          <a:p>
            <a:r>
              <a:rPr lang="en-IN" b="1" i="0" dirty="0">
                <a:solidFill>
                  <a:srgbClr val="333333"/>
                </a:solidFill>
                <a:effectLst/>
                <a:latin typeface="Open Sans" panose="020B0606030504020204" pitchFamily="34" charset="0"/>
              </a:rPr>
              <a:t>If any program requires a fixed amount of time for all input values then its time complexity is said to be Constant Time Complexity.</a:t>
            </a:r>
          </a:p>
          <a:p>
            <a:endParaRPr lang="en-IN" b="1" i="0" dirty="0">
              <a:solidFill>
                <a:srgbClr val="333333"/>
              </a:solidFill>
              <a:effectLst/>
              <a:latin typeface="Open Sans" panose="020B0606030504020204" pitchFamily="34" charset="0"/>
            </a:endParaRPr>
          </a:p>
          <a:p>
            <a:r>
              <a:rPr lang="en-IN" b="1" i="0" dirty="0">
                <a:solidFill>
                  <a:srgbClr val="333333"/>
                </a:solidFill>
                <a:effectLst/>
                <a:latin typeface="Open Sans" panose="020B0606030504020204" pitchFamily="34" charset="0"/>
              </a:rPr>
              <a:t>If the amount of time required by an algorithm is increased with the increase of input value then that time complexity is said to be Linear Time Complexity.</a:t>
            </a:r>
            <a:br>
              <a:rPr lang="en-IN" dirty="0"/>
            </a:br>
            <a:endParaRPr lang="en-US" dirty="0"/>
          </a:p>
        </p:txBody>
      </p:sp>
    </p:spTree>
    <p:extLst>
      <p:ext uri="{BB962C8B-B14F-4D97-AF65-F5344CB8AC3E}">
        <p14:creationId xmlns:p14="http://schemas.microsoft.com/office/powerpoint/2010/main" val="1790430779"/>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4B57F-8127-63F3-2F1C-51FFEEFBAD2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6F4A149-390A-D5FC-78A2-4540707D09EF}"/>
              </a:ext>
            </a:extLst>
          </p:cNvPr>
          <p:cNvSpPr>
            <a:spLocks noGrp="1"/>
          </p:cNvSpPr>
          <p:nvPr>
            <p:ph idx="1"/>
          </p:nvPr>
        </p:nvSpPr>
        <p:spPr/>
        <p:txBody>
          <a:bodyPr/>
          <a:lstStyle/>
          <a:p>
            <a:endParaRPr lang="en-US"/>
          </a:p>
        </p:txBody>
      </p:sp>
      <p:pic>
        <p:nvPicPr>
          <p:cNvPr id="4098" name="Picture 2" descr="time complexity of an algorithms">
            <a:extLst>
              <a:ext uri="{FF2B5EF4-FFF2-40B4-BE49-F238E27FC236}">
                <a16:creationId xmlns:a16="http://schemas.microsoft.com/office/drawing/2014/main" id="{DF85D3F8-D885-0432-03BC-A94ACEB4CB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84263"/>
            <a:ext cx="12192000" cy="4689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9799419"/>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D3617-B9DB-1177-21EA-BD01EBBDB08F}"/>
              </a:ext>
            </a:extLst>
          </p:cNvPr>
          <p:cNvSpPr>
            <a:spLocks noGrp="1"/>
          </p:cNvSpPr>
          <p:nvPr>
            <p:ph type="title"/>
          </p:nvPr>
        </p:nvSpPr>
        <p:spPr/>
        <p:txBody>
          <a:bodyPr>
            <a:normAutofit/>
          </a:bodyPr>
          <a:lstStyle/>
          <a:p>
            <a:r>
              <a:rPr lang="en-IN" b="1" i="0" dirty="0">
                <a:solidFill>
                  <a:srgbClr val="333333"/>
                </a:solidFill>
                <a:effectLst/>
                <a:latin typeface="Comfortaa"/>
              </a:rPr>
              <a:t>Asymptotic Notations</a:t>
            </a:r>
            <a:endParaRPr lang="en-US" dirty="0"/>
          </a:p>
        </p:txBody>
      </p:sp>
      <p:sp>
        <p:nvSpPr>
          <p:cNvPr id="3" name="Content Placeholder 2">
            <a:extLst>
              <a:ext uri="{FF2B5EF4-FFF2-40B4-BE49-F238E27FC236}">
                <a16:creationId xmlns:a16="http://schemas.microsoft.com/office/drawing/2014/main" id="{7473B3F3-1C25-B661-25FC-A8EE3EA372E8}"/>
              </a:ext>
            </a:extLst>
          </p:cNvPr>
          <p:cNvSpPr>
            <a:spLocks noGrp="1"/>
          </p:cNvSpPr>
          <p:nvPr>
            <p:ph idx="1"/>
          </p:nvPr>
        </p:nvSpPr>
        <p:spPr/>
        <p:txBody>
          <a:bodyPr>
            <a:normAutofit fontScale="92500" lnSpcReduction="20000"/>
          </a:bodyPr>
          <a:lstStyle/>
          <a:p>
            <a:r>
              <a:rPr lang="en-IN" b="1" i="0" dirty="0">
                <a:solidFill>
                  <a:srgbClr val="333333"/>
                </a:solidFill>
                <a:effectLst/>
                <a:latin typeface="Open Sans" panose="020B0606030504020204" pitchFamily="34" charset="0"/>
              </a:rPr>
              <a:t>Asymptotic notation of an algorithm is a mathematical representation of its complexity.</a:t>
            </a:r>
          </a:p>
          <a:p>
            <a:pPr algn="just"/>
            <a:r>
              <a:rPr lang="en-IN" b="1" i="0" dirty="0">
                <a:solidFill>
                  <a:srgbClr val="E00D50"/>
                </a:solidFill>
                <a:effectLst/>
                <a:latin typeface="Open Sans" panose="020B0606030504020204" pitchFamily="34" charset="0"/>
              </a:rPr>
              <a:t>Big - Oh Notation (O)</a:t>
            </a:r>
          </a:p>
          <a:p>
            <a:r>
              <a:rPr lang="en-IN" b="1" i="0" dirty="0">
                <a:solidFill>
                  <a:srgbClr val="333333"/>
                </a:solidFill>
                <a:effectLst/>
                <a:latin typeface="Open Sans" panose="020B0606030504020204" pitchFamily="34" charset="0"/>
              </a:rPr>
              <a:t>Consider function f(n) as time complexity of an algorithm and g(n) is the most significant term. If f(n) &lt;= C g(n) for all n &gt;= n</a:t>
            </a:r>
            <a:r>
              <a:rPr lang="en-IN" b="1" i="0" baseline="-25000" dirty="0">
                <a:solidFill>
                  <a:srgbClr val="333333"/>
                </a:solidFill>
                <a:effectLst/>
                <a:latin typeface="Open Sans" panose="020B0606030504020204" pitchFamily="34" charset="0"/>
              </a:rPr>
              <a:t>0</a:t>
            </a:r>
            <a:r>
              <a:rPr lang="en-IN" b="1" i="0" dirty="0">
                <a:solidFill>
                  <a:srgbClr val="333333"/>
                </a:solidFill>
                <a:effectLst/>
                <a:latin typeface="Open Sans" panose="020B0606030504020204" pitchFamily="34" charset="0"/>
              </a:rPr>
              <a:t>, C &gt; 0 and n</a:t>
            </a:r>
            <a:r>
              <a:rPr lang="en-IN" b="1" i="0" baseline="-25000" dirty="0">
                <a:solidFill>
                  <a:srgbClr val="333333"/>
                </a:solidFill>
                <a:effectLst/>
                <a:latin typeface="Open Sans" panose="020B0606030504020204" pitchFamily="34" charset="0"/>
              </a:rPr>
              <a:t>0</a:t>
            </a:r>
            <a:r>
              <a:rPr lang="en-IN" b="1" i="0" dirty="0">
                <a:solidFill>
                  <a:srgbClr val="333333"/>
                </a:solidFill>
                <a:effectLst/>
                <a:latin typeface="Open Sans" panose="020B0606030504020204" pitchFamily="34" charset="0"/>
              </a:rPr>
              <a:t> &gt;= 1. Then we can represent f(n) as O(g(n)). </a:t>
            </a:r>
            <a:r>
              <a:rPr lang="en-IN" b="1" i="0" dirty="0">
                <a:solidFill>
                  <a:srgbClr val="162F59"/>
                </a:solidFill>
                <a:effectLst/>
                <a:latin typeface="Open Sans" panose="020B0606030504020204" pitchFamily="34" charset="0"/>
              </a:rPr>
              <a:t>f(n) = O(g(n))</a:t>
            </a:r>
          </a:p>
          <a:p>
            <a:br>
              <a:rPr lang="en-IN" dirty="0"/>
            </a:br>
            <a:endParaRPr lang="en-IN" b="1" i="0" dirty="0">
              <a:solidFill>
                <a:srgbClr val="333333"/>
              </a:solidFill>
              <a:effectLst/>
              <a:latin typeface="Open Sans" panose="020B0606030504020204" pitchFamily="34" charset="0"/>
            </a:endParaRPr>
          </a:p>
          <a:p>
            <a:br>
              <a:rPr lang="en-IN" dirty="0"/>
            </a:br>
            <a:br>
              <a:rPr lang="en-IN" dirty="0"/>
            </a:br>
            <a:br>
              <a:rPr lang="en-IN" dirty="0"/>
            </a:br>
            <a:endParaRPr lang="en-US" dirty="0"/>
          </a:p>
        </p:txBody>
      </p:sp>
      <p:pic>
        <p:nvPicPr>
          <p:cNvPr id="5122" name="Picture 2" descr="time complexity of an algorithms">
            <a:extLst>
              <a:ext uri="{FF2B5EF4-FFF2-40B4-BE49-F238E27FC236}">
                <a16:creationId xmlns:a16="http://schemas.microsoft.com/office/drawing/2014/main" id="{6052DB6C-3E3B-4CEF-9B8E-913D6FB5BB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5999" y="3758098"/>
            <a:ext cx="4105275" cy="30999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7020357"/>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C674D-73CE-CB41-AD71-5E4C88C08487}"/>
              </a:ext>
            </a:extLst>
          </p:cNvPr>
          <p:cNvSpPr>
            <a:spLocks noGrp="1"/>
          </p:cNvSpPr>
          <p:nvPr>
            <p:ph type="title"/>
          </p:nvPr>
        </p:nvSpPr>
        <p:spPr/>
        <p:txBody>
          <a:bodyPr/>
          <a:lstStyle/>
          <a:p>
            <a:r>
              <a:rPr lang="en-IN" b="1" i="0" dirty="0">
                <a:solidFill>
                  <a:srgbClr val="333333"/>
                </a:solidFill>
                <a:effectLst/>
                <a:latin typeface="Comfortaa"/>
              </a:rPr>
              <a:t>Asymptotic Notations</a:t>
            </a:r>
            <a:endParaRPr lang="en-US" dirty="0"/>
          </a:p>
        </p:txBody>
      </p:sp>
      <p:sp>
        <p:nvSpPr>
          <p:cNvPr id="3" name="Content Placeholder 2">
            <a:extLst>
              <a:ext uri="{FF2B5EF4-FFF2-40B4-BE49-F238E27FC236}">
                <a16:creationId xmlns:a16="http://schemas.microsoft.com/office/drawing/2014/main" id="{E858334C-F8A1-8E76-029A-9B3CF0A00DB7}"/>
              </a:ext>
            </a:extLst>
          </p:cNvPr>
          <p:cNvSpPr>
            <a:spLocks noGrp="1"/>
          </p:cNvSpPr>
          <p:nvPr>
            <p:ph idx="1"/>
          </p:nvPr>
        </p:nvSpPr>
        <p:spPr/>
        <p:txBody>
          <a:bodyPr/>
          <a:lstStyle/>
          <a:p>
            <a:r>
              <a:rPr lang="en-IN" b="1" i="0" dirty="0">
                <a:solidFill>
                  <a:srgbClr val="E00D50"/>
                </a:solidFill>
                <a:effectLst/>
                <a:latin typeface="Open Sans" panose="020B0606030504020204" pitchFamily="34" charset="0"/>
              </a:rPr>
              <a:t>Big - </a:t>
            </a:r>
            <a:r>
              <a:rPr lang="en-IN" b="1" i="0" dirty="0" err="1">
                <a:solidFill>
                  <a:srgbClr val="E00D50"/>
                </a:solidFill>
                <a:effectLst/>
                <a:latin typeface="Open Sans" panose="020B0606030504020204" pitchFamily="34" charset="0"/>
              </a:rPr>
              <a:t>Omege</a:t>
            </a:r>
            <a:r>
              <a:rPr lang="en-IN" b="1" i="0" dirty="0">
                <a:solidFill>
                  <a:srgbClr val="E00D50"/>
                </a:solidFill>
                <a:effectLst/>
                <a:latin typeface="Open Sans" panose="020B0606030504020204" pitchFamily="34" charset="0"/>
              </a:rPr>
              <a:t> Notation (</a:t>
            </a:r>
            <a:r>
              <a:rPr lang="el-GR" b="1" i="0" dirty="0">
                <a:solidFill>
                  <a:srgbClr val="E00D50"/>
                </a:solidFill>
                <a:effectLst/>
                <a:latin typeface="Open Sans" panose="020B0606030504020204" pitchFamily="34" charset="0"/>
              </a:rPr>
              <a:t>Ω)</a:t>
            </a:r>
          </a:p>
          <a:p>
            <a:r>
              <a:rPr lang="en-IN" b="1" i="0" dirty="0">
                <a:solidFill>
                  <a:srgbClr val="333333"/>
                </a:solidFill>
                <a:effectLst/>
                <a:latin typeface="Open Sans" panose="020B0606030504020204" pitchFamily="34" charset="0"/>
              </a:rPr>
              <a:t>Consider function f(n) as time complexity of an algorithm and g(n) is the most significant term. If f(n) &gt;= C g(n) for all n &gt;= n</a:t>
            </a:r>
            <a:r>
              <a:rPr lang="en-IN" b="1" i="0" baseline="-25000" dirty="0">
                <a:solidFill>
                  <a:srgbClr val="333333"/>
                </a:solidFill>
                <a:effectLst/>
                <a:latin typeface="Open Sans" panose="020B0606030504020204" pitchFamily="34" charset="0"/>
              </a:rPr>
              <a:t>0</a:t>
            </a:r>
            <a:r>
              <a:rPr lang="en-IN" b="1" i="0" dirty="0">
                <a:solidFill>
                  <a:srgbClr val="333333"/>
                </a:solidFill>
                <a:effectLst/>
                <a:latin typeface="Open Sans" panose="020B0606030504020204" pitchFamily="34" charset="0"/>
              </a:rPr>
              <a:t>, C &gt; 0 and n</a:t>
            </a:r>
            <a:r>
              <a:rPr lang="en-IN" b="1" i="0" baseline="-25000" dirty="0">
                <a:solidFill>
                  <a:srgbClr val="333333"/>
                </a:solidFill>
                <a:effectLst/>
                <a:latin typeface="Open Sans" panose="020B0606030504020204" pitchFamily="34" charset="0"/>
              </a:rPr>
              <a:t>0</a:t>
            </a:r>
            <a:r>
              <a:rPr lang="en-IN" b="1" i="0" dirty="0">
                <a:solidFill>
                  <a:srgbClr val="333333"/>
                </a:solidFill>
                <a:effectLst/>
                <a:latin typeface="Open Sans" panose="020B0606030504020204" pitchFamily="34" charset="0"/>
              </a:rPr>
              <a:t> &gt;= 1. Then we can represent f(n) as </a:t>
            </a:r>
            <a:r>
              <a:rPr lang="el-GR" b="1" i="0" dirty="0">
                <a:solidFill>
                  <a:srgbClr val="333333"/>
                </a:solidFill>
                <a:effectLst/>
                <a:latin typeface="Open Sans" panose="020B0606030504020204" pitchFamily="34" charset="0"/>
              </a:rPr>
              <a:t>Ω(</a:t>
            </a:r>
            <a:r>
              <a:rPr lang="en-IN" b="1" i="0" dirty="0">
                <a:solidFill>
                  <a:srgbClr val="333333"/>
                </a:solidFill>
                <a:effectLst/>
                <a:latin typeface="Open Sans" panose="020B0606030504020204" pitchFamily="34" charset="0"/>
              </a:rPr>
              <a:t>g(n)). </a:t>
            </a:r>
            <a:r>
              <a:rPr lang="en-IN" b="1" i="0" dirty="0">
                <a:solidFill>
                  <a:srgbClr val="162F59"/>
                </a:solidFill>
                <a:effectLst/>
                <a:latin typeface="Open Sans" panose="020B0606030504020204" pitchFamily="34" charset="0"/>
              </a:rPr>
              <a:t>f(n) = </a:t>
            </a:r>
            <a:r>
              <a:rPr lang="el-GR" b="1" i="0" dirty="0">
                <a:solidFill>
                  <a:srgbClr val="162F59"/>
                </a:solidFill>
                <a:effectLst/>
                <a:latin typeface="Open Sans" panose="020B0606030504020204" pitchFamily="34" charset="0"/>
              </a:rPr>
              <a:t>Ω(</a:t>
            </a:r>
            <a:r>
              <a:rPr lang="en-IN" b="1" i="0" dirty="0">
                <a:solidFill>
                  <a:srgbClr val="162F59"/>
                </a:solidFill>
                <a:effectLst/>
                <a:latin typeface="Open Sans" panose="020B0606030504020204" pitchFamily="34" charset="0"/>
              </a:rPr>
              <a:t>g(n))</a:t>
            </a:r>
          </a:p>
          <a:p>
            <a:br>
              <a:rPr lang="en-IN" dirty="0"/>
            </a:br>
            <a:endParaRPr lang="en-IN" b="1" i="0" dirty="0">
              <a:solidFill>
                <a:srgbClr val="333333"/>
              </a:solidFill>
              <a:effectLst/>
              <a:latin typeface="Open Sans" panose="020B0606030504020204" pitchFamily="34" charset="0"/>
            </a:endParaRPr>
          </a:p>
          <a:p>
            <a:br>
              <a:rPr lang="en-IN" dirty="0"/>
            </a:br>
            <a:br>
              <a:rPr lang="el-GR" dirty="0"/>
            </a:br>
            <a:endParaRPr lang="en-US" dirty="0"/>
          </a:p>
        </p:txBody>
      </p:sp>
      <p:pic>
        <p:nvPicPr>
          <p:cNvPr id="6146" name="Picture 2" descr="time complexity of an algorithms">
            <a:extLst>
              <a:ext uri="{FF2B5EF4-FFF2-40B4-BE49-F238E27FC236}">
                <a16:creationId xmlns:a16="http://schemas.microsoft.com/office/drawing/2014/main" id="{74947956-A9B2-004C-4AC9-A41578AC63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8175" y="3887561"/>
            <a:ext cx="3933825" cy="29704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6141332"/>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CBE9A-D9A3-2FE9-F81F-E21DE72CFBB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1780995-9663-EC6A-C93D-EEE7F10BCCFA}"/>
              </a:ext>
            </a:extLst>
          </p:cNvPr>
          <p:cNvSpPr>
            <a:spLocks noGrp="1"/>
          </p:cNvSpPr>
          <p:nvPr>
            <p:ph idx="1"/>
          </p:nvPr>
        </p:nvSpPr>
        <p:spPr/>
        <p:txBody>
          <a:bodyPr/>
          <a:lstStyle/>
          <a:p>
            <a:pPr algn="just"/>
            <a:r>
              <a:rPr lang="en-IN" b="1" i="0" dirty="0">
                <a:solidFill>
                  <a:srgbClr val="E00D50"/>
                </a:solidFill>
                <a:effectLst/>
                <a:latin typeface="Open Sans" panose="020B0606030504020204" pitchFamily="34" charset="0"/>
              </a:rPr>
              <a:t>Big - Theta Notation (</a:t>
            </a:r>
            <a:r>
              <a:rPr lang="el-GR" b="1" i="0" dirty="0">
                <a:solidFill>
                  <a:srgbClr val="E00D50"/>
                </a:solidFill>
                <a:effectLst/>
                <a:latin typeface="Open Sans" panose="020B0606030504020204" pitchFamily="34" charset="0"/>
              </a:rPr>
              <a:t>Θ)</a:t>
            </a:r>
          </a:p>
          <a:p>
            <a:r>
              <a:rPr lang="en-IN" b="1" i="0" dirty="0">
                <a:solidFill>
                  <a:srgbClr val="333333"/>
                </a:solidFill>
                <a:effectLst/>
                <a:latin typeface="Open Sans" panose="020B0606030504020204" pitchFamily="34" charset="0"/>
              </a:rPr>
              <a:t>Consider function f(n) as time complexity of an algorithm and g(n) is the most significant term. If C</a:t>
            </a:r>
            <a:r>
              <a:rPr lang="en-IN" b="1" i="0" baseline="-25000" dirty="0">
                <a:solidFill>
                  <a:srgbClr val="333333"/>
                </a:solidFill>
                <a:effectLst/>
                <a:latin typeface="Open Sans" panose="020B0606030504020204" pitchFamily="34" charset="0"/>
              </a:rPr>
              <a:t>1</a:t>
            </a:r>
            <a:r>
              <a:rPr lang="en-IN" b="1" i="0" dirty="0">
                <a:solidFill>
                  <a:srgbClr val="333333"/>
                </a:solidFill>
                <a:effectLst/>
                <a:latin typeface="Open Sans" panose="020B0606030504020204" pitchFamily="34" charset="0"/>
              </a:rPr>
              <a:t> g(n) &lt;= f(n) &lt;= C</a:t>
            </a:r>
            <a:r>
              <a:rPr lang="en-IN" b="1" i="0" baseline="-25000" dirty="0">
                <a:solidFill>
                  <a:srgbClr val="333333"/>
                </a:solidFill>
                <a:effectLst/>
                <a:latin typeface="Open Sans" panose="020B0606030504020204" pitchFamily="34" charset="0"/>
              </a:rPr>
              <a:t>2</a:t>
            </a:r>
            <a:r>
              <a:rPr lang="en-IN" b="1" i="0" dirty="0">
                <a:solidFill>
                  <a:srgbClr val="333333"/>
                </a:solidFill>
                <a:effectLst/>
                <a:latin typeface="Open Sans" panose="020B0606030504020204" pitchFamily="34" charset="0"/>
              </a:rPr>
              <a:t> g(n) for all n &gt;= n</a:t>
            </a:r>
            <a:r>
              <a:rPr lang="en-IN" b="1" i="0" baseline="-25000" dirty="0">
                <a:solidFill>
                  <a:srgbClr val="333333"/>
                </a:solidFill>
                <a:effectLst/>
                <a:latin typeface="Open Sans" panose="020B0606030504020204" pitchFamily="34" charset="0"/>
              </a:rPr>
              <a:t>0</a:t>
            </a:r>
            <a:r>
              <a:rPr lang="en-IN" b="1" i="0" dirty="0">
                <a:solidFill>
                  <a:srgbClr val="333333"/>
                </a:solidFill>
                <a:effectLst/>
                <a:latin typeface="Open Sans" panose="020B0606030504020204" pitchFamily="34" charset="0"/>
              </a:rPr>
              <a:t>, C</a:t>
            </a:r>
            <a:r>
              <a:rPr lang="en-IN" b="1" i="0" baseline="-25000" dirty="0">
                <a:solidFill>
                  <a:srgbClr val="333333"/>
                </a:solidFill>
                <a:effectLst/>
                <a:latin typeface="Open Sans" panose="020B0606030504020204" pitchFamily="34" charset="0"/>
              </a:rPr>
              <a:t>1</a:t>
            </a:r>
            <a:r>
              <a:rPr lang="en-IN" b="1" i="0" dirty="0">
                <a:solidFill>
                  <a:srgbClr val="333333"/>
                </a:solidFill>
                <a:effectLst/>
                <a:latin typeface="Open Sans" panose="020B0606030504020204" pitchFamily="34" charset="0"/>
              </a:rPr>
              <a:t> &gt; 0, C</a:t>
            </a:r>
            <a:r>
              <a:rPr lang="en-IN" b="1" i="0" baseline="-25000" dirty="0">
                <a:solidFill>
                  <a:srgbClr val="333333"/>
                </a:solidFill>
                <a:effectLst/>
                <a:latin typeface="Open Sans" panose="020B0606030504020204" pitchFamily="34" charset="0"/>
              </a:rPr>
              <a:t>2</a:t>
            </a:r>
            <a:r>
              <a:rPr lang="en-IN" b="1" i="0" dirty="0">
                <a:solidFill>
                  <a:srgbClr val="333333"/>
                </a:solidFill>
                <a:effectLst/>
                <a:latin typeface="Open Sans" panose="020B0606030504020204" pitchFamily="34" charset="0"/>
              </a:rPr>
              <a:t> &gt; 0 and n</a:t>
            </a:r>
            <a:r>
              <a:rPr lang="en-IN" b="1" i="0" baseline="-25000" dirty="0">
                <a:solidFill>
                  <a:srgbClr val="333333"/>
                </a:solidFill>
                <a:effectLst/>
                <a:latin typeface="Open Sans" panose="020B0606030504020204" pitchFamily="34" charset="0"/>
              </a:rPr>
              <a:t>0</a:t>
            </a:r>
            <a:r>
              <a:rPr lang="en-IN" b="1" i="0" dirty="0">
                <a:solidFill>
                  <a:srgbClr val="333333"/>
                </a:solidFill>
                <a:effectLst/>
                <a:latin typeface="Open Sans" panose="020B0606030504020204" pitchFamily="34" charset="0"/>
              </a:rPr>
              <a:t> &gt;= 1. Then we can represent f(n) as </a:t>
            </a:r>
            <a:r>
              <a:rPr lang="el-GR" b="1" i="0" dirty="0">
                <a:solidFill>
                  <a:srgbClr val="333333"/>
                </a:solidFill>
                <a:effectLst/>
                <a:latin typeface="Open Sans" panose="020B0606030504020204" pitchFamily="34" charset="0"/>
              </a:rPr>
              <a:t>Θ(</a:t>
            </a:r>
            <a:r>
              <a:rPr lang="en-IN" b="1" i="0" dirty="0">
                <a:solidFill>
                  <a:srgbClr val="333333"/>
                </a:solidFill>
                <a:effectLst/>
                <a:latin typeface="Open Sans" panose="020B0606030504020204" pitchFamily="34" charset="0"/>
              </a:rPr>
              <a:t>g(n)). </a:t>
            </a:r>
            <a:r>
              <a:rPr lang="en-IN" b="1" i="0" dirty="0">
                <a:solidFill>
                  <a:srgbClr val="162F59"/>
                </a:solidFill>
                <a:effectLst/>
                <a:latin typeface="Open Sans" panose="020B0606030504020204" pitchFamily="34" charset="0"/>
              </a:rPr>
              <a:t>f(n) = </a:t>
            </a:r>
            <a:r>
              <a:rPr lang="el-GR" b="1" i="0" dirty="0">
                <a:solidFill>
                  <a:srgbClr val="162F59"/>
                </a:solidFill>
                <a:effectLst/>
                <a:latin typeface="Open Sans" panose="020B0606030504020204" pitchFamily="34" charset="0"/>
              </a:rPr>
              <a:t>Θ(</a:t>
            </a:r>
            <a:r>
              <a:rPr lang="en-IN" b="1" i="0" dirty="0">
                <a:solidFill>
                  <a:srgbClr val="162F59"/>
                </a:solidFill>
                <a:effectLst/>
                <a:latin typeface="Open Sans" panose="020B0606030504020204" pitchFamily="34" charset="0"/>
              </a:rPr>
              <a:t>g(n))</a:t>
            </a:r>
            <a:br>
              <a:rPr lang="en-IN" dirty="0"/>
            </a:br>
            <a:br>
              <a:rPr lang="el-GR" dirty="0"/>
            </a:br>
            <a:endParaRPr lang="en-US" dirty="0"/>
          </a:p>
        </p:txBody>
      </p:sp>
      <p:pic>
        <p:nvPicPr>
          <p:cNvPr id="7170" name="Picture 2" descr="time complexity of an algorithms">
            <a:extLst>
              <a:ext uri="{FF2B5EF4-FFF2-40B4-BE49-F238E27FC236}">
                <a16:creationId xmlns:a16="http://schemas.microsoft.com/office/drawing/2014/main" id="{033C8A94-AF72-8AE7-1202-3722B170A1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15325" y="3930715"/>
            <a:ext cx="3876675" cy="29272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0175010"/>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B9032-C2E2-8E0A-F60C-65AC8A8387DA}"/>
              </a:ext>
            </a:extLst>
          </p:cNvPr>
          <p:cNvSpPr>
            <a:spLocks noGrp="1"/>
          </p:cNvSpPr>
          <p:nvPr>
            <p:ph type="title"/>
          </p:nvPr>
        </p:nvSpPr>
        <p:spPr/>
        <p:txBody>
          <a:bodyPr>
            <a:normAutofit/>
          </a:bodyPr>
          <a:lstStyle/>
          <a:p>
            <a:r>
              <a:rPr lang="en-IN" b="1" i="0" dirty="0">
                <a:solidFill>
                  <a:srgbClr val="333333"/>
                </a:solidFill>
                <a:effectLst/>
                <a:latin typeface="Comfortaa"/>
              </a:rPr>
              <a:t>Linear &amp; Non-Linear Data Structures</a:t>
            </a:r>
            <a:endParaRPr lang="en-US" dirty="0"/>
          </a:p>
        </p:txBody>
      </p:sp>
      <p:sp>
        <p:nvSpPr>
          <p:cNvPr id="3" name="Content Placeholder 2">
            <a:extLst>
              <a:ext uri="{FF2B5EF4-FFF2-40B4-BE49-F238E27FC236}">
                <a16:creationId xmlns:a16="http://schemas.microsoft.com/office/drawing/2014/main" id="{DEA0F4BF-7F6E-27D0-70E7-0725A847807B}"/>
              </a:ext>
            </a:extLst>
          </p:cNvPr>
          <p:cNvSpPr>
            <a:spLocks noGrp="1"/>
          </p:cNvSpPr>
          <p:nvPr>
            <p:ph idx="1"/>
          </p:nvPr>
        </p:nvSpPr>
        <p:spPr>
          <a:xfrm>
            <a:off x="838200" y="1690688"/>
            <a:ext cx="10515600" cy="4486275"/>
          </a:xfrm>
        </p:spPr>
        <p:txBody>
          <a:bodyPr>
            <a:noAutofit/>
          </a:bodyPr>
          <a:lstStyle/>
          <a:p>
            <a:r>
              <a:rPr lang="en-IN" sz="1800" b="1" i="0" dirty="0">
                <a:solidFill>
                  <a:srgbClr val="E00D50"/>
                </a:solidFill>
                <a:effectLst/>
                <a:latin typeface="Open Sans" panose="020B0606030504020204" pitchFamily="34" charset="0"/>
              </a:rPr>
              <a:t>Data Structure</a:t>
            </a:r>
            <a:r>
              <a:rPr lang="en-IN" sz="1800" b="1" i="0" dirty="0">
                <a:solidFill>
                  <a:srgbClr val="333333"/>
                </a:solidFill>
                <a:effectLst/>
                <a:latin typeface="Open Sans" panose="020B0606030504020204" pitchFamily="34" charset="0"/>
              </a:rPr>
              <a:t> is a method of organizing a large amount of data more efficiently so that any operation on that data becomes easy</a:t>
            </a:r>
          </a:p>
          <a:p>
            <a:r>
              <a:rPr lang="en-IN" sz="1800" b="1" i="0" dirty="0">
                <a:solidFill>
                  <a:srgbClr val="E00D50"/>
                </a:solidFill>
                <a:effectLst/>
                <a:latin typeface="Open Sans" panose="020B0606030504020204" pitchFamily="34" charset="0"/>
              </a:rPr>
              <a:t>Linear Data Structures: </a:t>
            </a:r>
            <a:r>
              <a:rPr lang="en-IN" sz="1800" b="1" i="0" dirty="0">
                <a:solidFill>
                  <a:srgbClr val="333333"/>
                </a:solidFill>
                <a:effectLst/>
                <a:latin typeface="Open Sans" panose="020B0606030504020204" pitchFamily="34" charset="0"/>
              </a:rPr>
              <a:t>If a data structure organizes the data in sequential order, then that data structure is called a Linear Data Structure.</a:t>
            </a:r>
          </a:p>
          <a:p>
            <a:pPr algn="just">
              <a:buFont typeface="+mj-lt"/>
              <a:buAutoNum type="arabicPeriod"/>
            </a:pPr>
            <a:r>
              <a:rPr lang="en-IN" sz="1800" b="0" i="0" dirty="0">
                <a:solidFill>
                  <a:srgbClr val="333333"/>
                </a:solidFill>
                <a:effectLst/>
                <a:latin typeface="Open Sans" panose="020B0606030504020204" pitchFamily="34" charset="0"/>
              </a:rPr>
              <a:t>Arrays</a:t>
            </a:r>
          </a:p>
          <a:p>
            <a:pPr algn="just">
              <a:buFont typeface="+mj-lt"/>
              <a:buAutoNum type="arabicPeriod"/>
            </a:pPr>
            <a:r>
              <a:rPr lang="en-IN" sz="1800" b="0" i="0" dirty="0">
                <a:solidFill>
                  <a:srgbClr val="333333"/>
                </a:solidFill>
                <a:effectLst/>
                <a:latin typeface="Open Sans" panose="020B0606030504020204" pitchFamily="34" charset="0"/>
              </a:rPr>
              <a:t>List (Linked List)</a:t>
            </a:r>
          </a:p>
          <a:p>
            <a:pPr algn="just">
              <a:buFont typeface="+mj-lt"/>
              <a:buAutoNum type="arabicPeriod"/>
            </a:pPr>
            <a:r>
              <a:rPr lang="en-IN" sz="1800" b="0" i="0" dirty="0">
                <a:solidFill>
                  <a:srgbClr val="333333"/>
                </a:solidFill>
                <a:effectLst/>
                <a:latin typeface="Open Sans" panose="020B0606030504020204" pitchFamily="34" charset="0"/>
              </a:rPr>
              <a:t>Stack</a:t>
            </a:r>
          </a:p>
          <a:p>
            <a:pPr algn="just">
              <a:buFont typeface="+mj-lt"/>
              <a:buAutoNum type="arabicPeriod"/>
            </a:pPr>
            <a:r>
              <a:rPr lang="en-IN" sz="1800" b="0" i="0" dirty="0">
                <a:solidFill>
                  <a:srgbClr val="333333"/>
                </a:solidFill>
                <a:effectLst/>
                <a:latin typeface="Open Sans" panose="020B0606030504020204" pitchFamily="34" charset="0"/>
              </a:rPr>
              <a:t>Queue</a:t>
            </a:r>
            <a:endParaRPr lang="en-IN" sz="1800" b="1" i="0" dirty="0">
              <a:solidFill>
                <a:srgbClr val="333333"/>
              </a:solidFill>
              <a:effectLst/>
              <a:latin typeface="Open Sans" panose="020B0606030504020204" pitchFamily="34" charset="0"/>
            </a:endParaRPr>
          </a:p>
          <a:p>
            <a:r>
              <a:rPr lang="en-IN" sz="1800" b="1" i="0" dirty="0">
                <a:solidFill>
                  <a:srgbClr val="E00D50"/>
                </a:solidFill>
                <a:effectLst/>
                <a:latin typeface="Open Sans" panose="020B0606030504020204" pitchFamily="34" charset="0"/>
              </a:rPr>
              <a:t>Non - Linear Data Structures: </a:t>
            </a:r>
            <a:r>
              <a:rPr lang="en-IN" sz="1800" b="1" i="0" dirty="0">
                <a:solidFill>
                  <a:srgbClr val="333333"/>
                </a:solidFill>
                <a:effectLst/>
                <a:latin typeface="Open Sans" panose="020B0606030504020204" pitchFamily="34" charset="0"/>
              </a:rPr>
              <a:t>If a data structure organizes the data in random order, then that data structure is called as Non-Linear Data Structure.</a:t>
            </a:r>
          </a:p>
          <a:p>
            <a:pPr algn="just">
              <a:buFont typeface="+mj-lt"/>
              <a:buAutoNum type="arabicPeriod"/>
            </a:pPr>
            <a:r>
              <a:rPr lang="en-IN" sz="1800" b="0" i="0" dirty="0">
                <a:solidFill>
                  <a:srgbClr val="333333"/>
                </a:solidFill>
                <a:effectLst/>
                <a:latin typeface="Open Sans" panose="020B0606030504020204" pitchFamily="34" charset="0"/>
              </a:rPr>
              <a:t>Tree</a:t>
            </a:r>
          </a:p>
          <a:p>
            <a:pPr algn="just">
              <a:buFont typeface="+mj-lt"/>
              <a:buAutoNum type="arabicPeriod"/>
            </a:pPr>
            <a:r>
              <a:rPr lang="en-IN" sz="1800" b="0" i="0" dirty="0">
                <a:solidFill>
                  <a:srgbClr val="333333"/>
                </a:solidFill>
                <a:effectLst/>
                <a:latin typeface="Open Sans" panose="020B0606030504020204" pitchFamily="34" charset="0"/>
              </a:rPr>
              <a:t>Graph</a:t>
            </a:r>
          </a:p>
          <a:p>
            <a:pPr algn="just">
              <a:buFont typeface="+mj-lt"/>
              <a:buAutoNum type="arabicPeriod"/>
            </a:pPr>
            <a:r>
              <a:rPr lang="en-IN" sz="1800" b="0" i="0" dirty="0">
                <a:solidFill>
                  <a:srgbClr val="333333"/>
                </a:solidFill>
                <a:effectLst/>
                <a:latin typeface="Open Sans" panose="020B0606030504020204" pitchFamily="34" charset="0"/>
              </a:rPr>
              <a:t>Dictionaries</a:t>
            </a:r>
          </a:p>
          <a:p>
            <a:pPr algn="just">
              <a:buFont typeface="+mj-lt"/>
              <a:buAutoNum type="arabicPeriod"/>
            </a:pPr>
            <a:r>
              <a:rPr lang="en-IN" sz="1800" b="0" i="0" dirty="0">
                <a:solidFill>
                  <a:srgbClr val="333333"/>
                </a:solidFill>
                <a:effectLst/>
                <a:latin typeface="Open Sans" panose="020B0606030504020204" pitchFamily="34" charset="0"/>
              </a:rPr>
              <a:t>Heaps</a:t>
            </a:r>
          </a:p>
          <a:p>
            <a:pPr algn="just">
              <a:buFont typeface="+mj-lt"/>
              <a:buAutoNum type="arabicPeriod"/>
            </a:pPr>
            <a:r>
              <a:rPr lang="en-IN" sz="1800" b="0" i="0" dirty="0">
                <a:solidFill>
                  <a:srgbClr val="333333"/>
                </a:solidFill>
                <a:effectLst/>
                <a:latin typeface="Open Sans" panose="020B0606030504020204" pitchFamily="34" charset="0"/>
              </a:rPr>
              <a:t>Tries, Etc.,</a:t>
            </a:r>
          </a:p>
        </p:txBody>
      </p:sp>
    </p:spTree>
    <p:extLst>
      <p:ext uri="{BB962C8B-B14F-4D97-AF65-F5344CB8AC3E}">
        <p14:creationId xmlns:p14="http://schemas.microsoft.com/office/powerpoint/2010/main" val="1497934579"/>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0667C-953D-5570-5776-9E143C6C11DA}"/>
              </a:ext>
            </a:extLst>
          </p:cNvPr>
          <p:cNvSpPr>
            <a:spLocks noGrp="1"/>
          </p:cNvSpPr>
          <p:nvPr>
            <p:ph type="title"/>
          </p:nvPr>
        </p:nvSpPr>
        <p:spPr/>
        <p:txBody>
          <a:bodyPr>
            <a:normAutofit/>
          </a:bodyPr>
          <a:lstStyle/>
          <a:p>
            <a:r>
              <a:rPr lang="en-IN" b="1" i="0" dirty="0">
                <a:solidFill>
                  <a:srgbClr val="333333"/>
                </a:solidFill>
                <a:effectLst/>
                <a:latin typeface="Comfortaa"/>
              </a:rPr>
              <a:t>Single Linked List</a:t>
            </a:r>
            <a:endParaRPr lang="en-US" dirty="0"/>
          </a:p>
        </p:txBody>
      </p:sp>
      <p:sp>
        <p:nvSpPr>
          <p:cNvPr id="3" name="Content Placeholder 2">
            <a:extLst>
              <a:ext uri="{FF2B5EF4-FFF2-40B4-BE49-F238E27FC236}">
                <a16:creationId xmlns:a16="http://schemas.microsoft.com/office/drawing/2014/main" id="{0481FEA1-4D96-5729-105B-53127B559EEF}"/>
              </a:ext>
            </a:extLst>
          </p:cNvPr>
          <p:cNvSpPr>
            <a:spLocks noGrp="1"/>
          </p:cNvSpPr>
          <p:nvPr>
            <p:ph idx="1"/>
          </p:nvPr>
        </p:nvSpPr>
        <p:spPr/>
        <p:txBody>
          <a:bodyPr/>
          <a:lstStyle/>
          <a:p>
            <a:r>
              <a:rPr lang="en-IN" b="1" i="0" dirty="0">
                <a:solidFill>
                  <a:srgbClr val="333333"/>
                </a:solidFill>
                <a:effectLst/>
                <a:latin typeface="Open Sans" panose="020B0606030504020204" pitchFamily="34" charset="0"/>
              </a:rPr>
              <a:t>Single linked list is a sequence of elements in which every element has link to its next element in the sequence.</a:t>
            </a:r>
          </a:p>
        </p:txBody>
      </p:sp>
      <p:pic>
        <p:nvPicPr>
          <p:cNvPr id="8194" name="Picture 2" descr="single linked list">
            <a:extLst>
              <a:ext uri="{FF2B5EF4-FFF2-40B4-BE49-F238E27FC236}">
                <a16:creationId xmlns:a16="http://schemas.microsoft.com/office/drawing/2014/main" id="{B6D09B47-05C6-67AB-A052-81A07CBEAD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9363" y="3571875"/>
            <a:ext cx="8001000" cy="2413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2081579"/>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15850-3B20-7992-2B2F-063D96D320F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21E2463-FBD0-06D3-CD05-55DE39E2A34F}"/>
              </a:ext>
            </a:extLst>
          </p:cNvPr>
          <p:cNvSpPr>
            <a:spLocks noGrp="1"/>
          </p:cNvSpPr>
          <p:nvPr>
            <p:ph idx="1"/>
          </p:nvPr>
        </p:nvSpPr>
        <p:spPr/>
        <p:txBody>
          <a:bodyPr/>
          <a:lstStyle/>
          <a:p>
            <a:endParaRPr lang="en-US"/>
          </a:p>
        </p:txBody>
      </p:sp>
      <p:pic>
        <p:nvPicPr>
          <p:cNvPr id="9218" name="Picture 2" descr="example of single linked list">
            <a:extLst>
              <a:ext uri="{FF2B5EF4-FFF2-40B4-BE49-F238E27FC236}">
                <a16:creationId xmlns:a16="http://schemas.microsoft.com/office/drawing/2014/main" id="{224275C0-2BE5-898A-5FE2-C0FFA8B52F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000249"/>
            <a:ext cx="11315700" cy="2828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3150190"/>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16241-E838-CF83-1B70-C0445B50F4A7}"/>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Operations on Single Linked List</a:t>
            </a:r>
            <a:endParaRPr lang="en-US" dirty="0"/>
          </a:p>
        </p:txBody>
      </p:sp>
      <p:sp>
        <p:nvSpPr>
          <p:cNvPr id="3" name="Content Placeholder 2">
            <a:extLst>
              <a:ext uri="{FF2B5EF4-FFF2-40B4-BE49-F238E27FC236}">
                <a16:creationId xmlns:a16="http://schemas.microsoft.com/office/drawing/2014/main" id="{EE17946E-26D8-0137-D033-91B1798664EF}"/>
              </a:ext>
            </a:extLst>
          </p:cNvPr>
          <p:cNvSpPr>
            <a:spLocks noGrp="1"/>
          </p:cNvSpPr>
          <p:nvPr>
            <p:ph idx="1"/>
          </p:nvPr>
        </p:nvSpPr>
        <p:spPr/>
        <p:txBody>
          <a:bodyPr/>
          <a:lstStyle/>
          <a:p>
            <a:pPr algn="just"/>
            <a:r>
              <a:rPr lang="en-IN" b="0" i="0" dirty="0">
                <a:solidFill>
                  <a:srgbClr val="333333"/>
                </a:solidFill>
                <a:effectLst/>
                <a:latin typeface="Open Sans" panose="020B0606030504020204" pitchFamily="34" charset="0"/>
              </a:rPr>
              <a:t>The following operations are performed on a Single Linked List</a:t>
            </a:r>
          </a:p>
          <a:p>
            <a:pPr algn="just">
              <a:buFont typeface="Arial" panose="020B0604020202020204" pitchFamily="34" charset="0"/>
              <a:buChar char="•"/>
            </a:pPr>
            <a:r>
              <a:rPr lang="en-IN" b="1" i="0" dirty="0">
                <a:solidFill>
                  <a:srgbClr val="333333"/>
                </a:solidFill>
                <a:effectLst/>
                <a:latin typeface="Open Sans" panose="020B0606030504020204" pitchFamily="34" charset="0"/>
              </a:rPr>
              <a:t>Insertion</a:t>
            </a:r>
            <a:endParaRPr lang="en-IN" b="0" i="0" dirty="0">
              <a:solidFill>
                <a:srgbClr val="333333"/>
              </a:solidFill>
              <a:effectLst/>
              <a:latin typeface="Open Sans" panose="020B0606030504020204" pitchFamily="34" charset="0"/>
            </a:endParaRPr>
          </a:p>
          <a:p>
            <a:pPr algn="just">
              <a:buFont typeface="Arial" panose="020B0604020202020204" pitchFamily="34" charset="0"/>
              <a:buChar char="•"/>
            </a:pPr>
            <a:r>
              <a:rPr lang="en-IN" b="1" i="0" dirty="0">
                <a:solidFill>
                  <a:srgbClr val="333333"/>
                </a:solidFill>
                <a:effectLst/>
                <a:latin typeface="Open Sans" panose="020B0606030504020204" pitchFamily="34" charset="0"/>
              </a:rPr>
              <a:t>Deletion</a:t>
            </a:r>
            <a:endParaRPr lang="en-IN" b="0" i="0" dirty="0">
              <a:solidFill>
                <a:srgbClr val="333333"/>
              </a:solidFill>
              <a:effectLst/>
              <a:latin typeface="Open Sans" panose="020B0606030504020204" pitchFamily="34" charset="0"/>
            </a:endParaRPr>
          </a:p>
          <a:p>
            <a:pPr algn="just">
              <a:buFont typeface="Arial" panose="020B0604020202020204" pitchFamily="34" charset="0"/>
              <a:buChar char="•"/>
            </a:pPr>
            <a:r>
              <a:rPr lang="en-IN" b="1" i="0" dirty="0">
                <a:solidFill>
                  <a:srgbClr val="333333"/>
                </a:solidFill>
                <a:effectLst/>
                <a:latin typeface="Open Sans" panose="020B0606030504020204" pitchFamily="34" charset="0"/>
              </a:rPr>
              <a:t>Display</a:t>
            </a:r>
            <a:endParaRPr lang="en-IN" b="0" i="0" dirty="0">
              <a:solidFill>
                <a:srgbClr val="333333"/>
              </a:solidFill>
              <a:effectLst/>
              <a:latin typeface="Open Sans" panose="020B0606030504020204" pitchFamily="34" charset="0"/>
            </a:endParaRPr>
          </a:p>
          <a:p>
            <a:endParaRPr lang="en-US" dirty="0"/>
          </a:p>
        </p:txBody>
      </p:sp>
    </p:spTree>
    <p:extLst>
      <p:ext uri="{BB962C8B-B14F-4D97-AF65-F5344CB8AC3E}">
        <p14:creationId xmlns:p14="http://schemas.microsoft.com/office/powerpoint/2010/main" val="3499659231"/>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2512F-7AC1-55CC-9636-0080D9BAAF91}"/>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Insertion</a:t>
            </a:r>
            <a:endParaRPr lang="en-US" dirty="0"/>
          </a:p>
        </p:txBody>
      </p:sp>
      <p:sp>
        <p:nvSpPr>
          <p:cNvPr id="3" name="Content Placeholder 2">
            <a:extLst>
              <a:ext uri="{FF2B5EF4-FFF2-40B4-BE49-F238E27FC236}">
                <a16:creationId xmlns:a16="http://schemas.microsoft.com/office/drawing/2014/main" id="{A57BCA95-6BF8-9F29-D52C-EE74EE217D73}"/>
              </a:ext>
            </a:extLst>
          </p:cNvPr>
          <p:cNvSpPr>
            <a:spLocks noGrp="1"/>
          </p:cNvSpPr>
          <p:nvPr>
            <p:ph idx="1"/>
          </p:nvPr>
        </p:nvSpPr>
        <p:spPr/>
        <p:txBody>
          <a:bodyPr>
            <a:normAutofit/>
          </a:bodyPr>
          <a:lstStyle/>
          <a:p>
            <a:pPr algn="just"/>
            <a:r>
              <a:rPr lang="en-IN" b="1" i="0" dirty="0">
                <a:solidFill>
                  <a:srgbClr val="E00D50"/>
                </a:solidFill>
                <a:effectLst/>
                <a:latin typeface="Open Sans" panose="020B0606030504020204" pitchFamily="34" charset="0"/>
              </a:rPr>
              <a:t>Inserting At Beginning of the list</a:t>
            </a:r>
          </a:p>
          <a:p>
            <a:pPr marL="0" indent="0" algn="just">
              <a:buNone/>
            </a:pPr>
            <a:endParaRPr lang="en-IN" b="0" i="0" dirty="0">
              <a:solidFill>
                <a:srgbClr val="333333"/>
              </a:solidFill>
              <a:effectLst/>
              <a:latin typeface="Open Sans" panose="020B0606030504020204" pitchFamily="34" charset="0"/>
            </a:endParaRPr>
          </a:p>
          <a:p>
            <a:pPr algn="just"/>
            <a:r>
              <a:rPr lang="en-IN" b="1" i="0" dirty="0">
                <a:solidFill>
                  <a:srgbClr val="E00D50"/>
                </a:solidFill>
                <a:effectLst/>
                <a:latin typeface="Open Sans" panose="020B0606030504020204" pitchFamily="34" charset="0"/>
              </a:rPr>
              <a:t>Inserting At End of the list</a:t>
            </a:r>
          </a:p>
          <a:p>
            <a:pPr algn="just"/>
            <a:endParaRPr lang="en-IN" b="0" i="0" dirty="0">
              <a:solidFill>
                <a:srgbClr val="333333"/>
              </a:solidFill>
              <a:effectLst/>
              <a:latin typeface="Open Sans" panose="020B0606030504020204" pitchFamily="34" charset="0"/>
            </a:endParaRPr>
          </a:p>
          <a:p>
            <a:pPr algn="just"/>
            <a:r>
              <a:rPr lang="en-IN" b="1" i="0" dirty="0">
                <a:solidFill>
                  <a:srgbClr val="E00D50"/>
                </a:solidFill>
                <a:effectLst/>
                <a:latin typeface="Open Sans" panose="020B0606030504020204" pitchFamily="34" charset="0"/>
              </a:rPr>
              <a:t>Inserting At Specific location in the list (Before a Note/ After a Node)</a:t>
            </a:r>
          </a:p>
          <a:p>
            <a:pPr algn="just"/>
            <a:endParaRPr lang="en-IN" b="0" i="0" dirty="0">
              <a:solidFill>
                <a:srgbClr val="333333"/>
              </a:solidFill>
              <a:effectLst/>
              <a:latin typeface="Open Sans" panose="020B0606030504020204" pitchFamily="34" charset="0"/>
            </a:endParaRPr>
          </a:p>
          <a:p>
            <a:endParaRPr lang="en-US" dirty="0"/>
          </a:p>
        </p:txBody>
      </p:sp>
    </p:spTree>
    <p:extLst>
      <p:ext uri="{BB962C8B-B14F-4D97-AF65-F5344CB8AC3E}">
        <p14:creationId xmlns:p14="http://schemas.microsoft.com/office/powerpoint/2010/main" val="3526655374"/>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ECCA8-E37A-ACB5-457C-6850F04B4B10}"/>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Inserting At Beginning of the list</a:t>
            </a:r>
            <a:endParaRPr lang="en-US" dirty="0"/>
          </a:p>
        </p:txBody>
      </p:sp>
      <p:sp>
        <p:nvSpPr>
          <p:cNvPr id="3" name="Content Placeholder 2">
            <a:extLst>
              <a:ext uri="{FF2B5EF4-FFF2-40B4-BE49-F238E27FC236}">
                <a16:creationId xmlns:a16="http://schemas.microsoft.com/office/drawing/2014/main" id="{3B6B1AC9-BA48-439B-AD74-098FEE8228CA}"/>
              </a:ext>
            </a:extLst>
          </p:cNvPr>
          <p:cNvSpPr>
            <a:spLocks noGrp="1"/>
          </p:cNvSpPr>
          <p:nvPr>
            <p:ph idx="1"/>
          </p:nvPr>
        </p:nvSpPr>
        <p:spPr/>
        <p:txBody>
          <a:bodyPr>
            <a:normAutofit/>
          </a:bodyPr>
          <a:lstStyle/>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Create a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with given value.</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Check whether list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set </a:t>
            </a:r>
            <a:r>
              <a:rPr lang="en-IN" b="1" i="0" dirty="0" err="1">
                <a:solidFill>
                  <a:srgbClr val="333333"/>
                </a:solidFill>
                <a:effectLst/>
                <a:latin typeface="Open Sans" panose="020B0606030504020204" pitchFamily="34" charset="0"/>
              </a:rPr>
              <a:t>newNode→next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 and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set </a:t>
            </a:r>
            <a:r>
              <a:rPr lang="en-IN" b="1" i="0" dirty="0" err="1">
                <a:solidFill>
                  <a:srgbClr val="333333"/>
                </a:solidFill>
                <a:effectLst/>
                <a:latin typeface="Open Sans" panose="020B0606030504020204" pitchFamily="34" charset="0"/>
              </a:rPr>
              <a:t>newNode→next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and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a:t>
            </a:r>
          </a:p>
          <a:p>
            <a:endParaRPr lang="en-IN" b="0" i="0" dirty="0">
              <a:solidFill>
                <a:srgbClr val="333333"/>
              </a:solidFill>
              <a:effectLst/>
              <a:latin typeface="Open Sans" panose="020B0606030504020204" pitchFamily="34" charset="0"/>
            </a:endParaRPr>
          </a:p>
          <a:p>
            <a:endParaRPr lang="en-US" dirty="0"/>
          </a:p>
        </p:txBody>
      </p:sp>
    </p:spTree>
    <p:extLst>
      <p:ext uri="{BB962C8B-B14F-4D97-AF65-F5344CB8AC3E}">
        <p14:creationId xmlns:p14="http://schemas.microsoft.com/office/powerpoint/2010/main" val="3617907943"/>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76CC8-1E55-0CC9-A319-0B642534D3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98CFE6-C3FF-3112-CEF6-688CAF9B4E32}"/>
              </a:ext>
            </a:extLst>
          </p:cNvPr>
          <p:cNvSpPr>
            <a:spLocks noGrp="1"/>
          </p:cNvSpPr>
          <p:nvPr>
            <p:ph type="title"/>
          </p:nvPr>
        </p:nvSpPr>
        <p:spPr/>
        <p:txBody>
          <a:bodyPr/>
          <a:lstStyle/>
          <a:p>
            <a:pPr algn="just"/>
            <a:r>
              <a:rPr lang="en-IN" b="1" i="0" dirty="0">
                <a:solidFill>
                  <a:srgbClr val="E00D50"/>
                </a:solidFill>
                <a:effectLst/>
                <a:latin typeface="Open Sans" panose="020B0606030504020204" pitchFamily="34" charset="0"/>
              </a:rPr>
              <a:t>Inserting At End of the list</a:t>
            </a:r>
          </a:p>
        </p:txBody>
      </p:sp>
      <p:sp>
        <p:nvSpPr>
          <p:cNvPr id="3" name="Content Placeholder 2">
            <a:extLst>
              <a:ext uri="{FF2B5EF4-FFF2-40B4-BE49-F238E27FC236}">
                <a16:creationId xmlns:a16="http://schemas.microsoft.com/office/drawing/2014/main" id="{17C2C090-CA43-45AF-2548-E47DBED385CC}"/>
              </a:ext>
            </a:extLst>
          </p:cNvPr>
          <p:cNvSpPr>
            <a:spLocks noGrp="1"/>
          </p:cNvSpPr>
          <p:nvPr>
            <p:ph idx="1"/>
          </p:nvPr>
        </p:nvSpPr>
        <p:spPr/>
        <p:txBody>
          <a:bodyPr>
            <a:normAutofit fontScale="92500" lnSpcReduction="10000"/>
          </a:bodyPr>
          <a:lstStyle/>
          <a:p>
            <a:r>
              <a:rPr lang="en-IN" b="0" i="0" dirty="0">
                <a:solidFill>
                  <a:srgbClr val="333333"/>
                </a:solidFill>
                <a:effectLst/>
                <a:latin typeface="Open Sans" panose="020B0606030504020204" pitchFamily="34" charset="0"/>
              </a:rPr>
              <a:t>We can use the following steps to insert a new node at end of the single linked list...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Create a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with given value and </a:t>
            </a:r>
            <a:r>
              <a:rPr lang="en-IN" b="1" i="0" dirty="0" err="1">
                <a:solidFill>
                  <a:srgbClr val="333333"/>
                </a:solidFill>
                <a:effectLst/>
                <a:latin typeface="Open Sans" panose="020B0606030504020204" pitchFamily="34" charset="0"/>
              </a:rPr>
              <a:t>newNode</a:t>
            </a:r>
            <a:r>
              <a:rPr lang="en-IN" b="1" i="0" dirty="0">
                <a:solidFill>
                  <a:srgbClr val="333333"/>
                </a:solidFill>
                <a:effectLst/>
                <a:latin typeface="Open Sans" panose="020B0606030504020204" pitchFamily="34" charset="0"/>
              </a:rPr>
              <a:t> → next</a:t>
            </a:r>
            <a:r>
              <a:rPr lang="en-IN" b="0" i="0" dirty="0">
                <a:solidFill>
                  <a:srgbClr val="333333"/>
                </a:solidFill>
                <a:effectLst/>
                <a:latin typeface="Open Sans" panose="020B0606030504020204" pitchFamily="34" charset="0"/>
              </a:rPr>
              <a:t> as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Check whether list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set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define a node pointer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and initialize with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Keep moving the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to its next node until it reaches to the last node in the list (until </a:t>
            </a:r>
            <a:r>
              <a:rPr lang="en-IN" b="1" i="0" dirty="0">
                <a:solidFill>
                  <a:srgbClr val="333333"/>
                </a:solidFill>
                <a:effectLst/>
                <a:latin typeface="Open Sans" panose="020B0606030504020204" pitchFamily="34" charset="0"/>
              </a:rPr>
              <a:t>temp → next</a:t>
            </a:r>
            <a:r>
              <a:rPr lang="en-IN" b="0" i="0" dirty="0">
                <a:solidFill>
                  <a:srgbClr val="333333"/>
                </a:solidFill>
                <a:effectLst/>
                <a:latin typeface="Open Sans" panose="020B0606030504020204" pitchFamily="34" charset="0"/>
              </a:rPr>
              <a:t> is equal to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6 - </a:t>
            </a:r>
            <a:r>
              <a:rPr lang="en-IN" b="0" i="0" dirty="0">
                <a:solidFill>
                  <a:srgbClr val="333333"/>
                </a:solidFill>
                <a:effectLst/>
                <a:latin typeface="Open Sans" panose="020B0606030504020204" pitchFamily="34" charset="0"/>
              </a:rPr>
              <a:t>Set </a:t>
            </a:r>
            <a:r>
              <a:rPr lang="en-IN" b="1" i="0" dirty="0">
                <a:solidFill>
                  <a:srgbClr val="333333"/>
                </a:solidFill>
                <a:effectLst/>
                <a:latin typeface="Open Sans" panose="020B0606030504020204" pitchFamily="34" charset="0"/>
              </a:rPr>
              <a:t>temp → next</a:t>
            </a:r>
            <a:r>
              <a:rPr lang="en-IN" b="0" i="0" dirty="0">
                <a:solidFill>
                  <a:srgbClr val="333333"/>
                </a:solidFill>
                <a:effectLst/>
                <a:latin typeface="Open Sans" panose="020B0606030504020204" pitchFamily="34" charset="0"/>
              </a:rPr>
              <a:t> =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a:t>
            </a:r>
          </a:p>
          <a:p>
            <a:endParaRPr lang="en-IN" b="0" i="0" dirty="0">
              <a:solidFill>
                <a:srgbClr val="333333"/>
              </a:solidFill>
              <a:effectLst/>
              <a:latin typeface="Open Sans" panose="020B0606030504020204" pitchFamily="34" charset="0"/>
            </a:endParaRPr>
          </a:p>
          <a:p>
            <a:endParaRPr lang="en-US" dirty="0"/>
          </a:p>
        </p:txBody>
      </p:sp>
    </p:spTree>
    <p:extLst>
      <p:ext uri="{BB962C8B-B14F-4D97-AF65-F5344CB8AC3E}">
        <p14:creationId xmlns:p14="http://schemas.microsoft.com/office/powerpoint/2010/main" val="3607442597"/>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F3E7C-3467-DA6C-CB0E-CAE79F1F63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6FE02C-E85B-296D-8943-801273AF5CDD}"/>
              </a:ext>
            </a:extLst>
          </p:cNvPr>
          <p:cNvSpPr>
            <a:spLocks noGrp="1"/>
          </p:cNvSpPr>
          <p:nvPr>
            <p:ph type="title"/>
          </p:nvPr>
        </p:nvSpPr>
        <p:spPr/>
        <p:txBody>
          <a:bodyPr/>
          <a:lstStyle/>
          <a:p>
            <a:pPr algn="just"/>
            <a:r>
              <a:rPr lang="en-IN" b="1" i="0" dirty="0">
                <a:solidFill>
                  <a:srgbClr val="E00D50"/>
                </a:solidFill>
                <a:effectLst/>
                <a:latin typeface="Open Sans" panose="020B0606030504020204" pitchFamily="34" charset="0"/>
              </a:rPr>
              <a:t>Inserting At Specific location in the list (After a Node)</a:t>
            </a:r>
          </a:p>
        </p:txBody>
      </p:sp>
      <p:sp>
        <p:nvSpPr>
          <p:cNvPr id="3" name="Content Placeholder 2">
            <a:extLst>
              <a:ext uri="{FF2B5EF4-FFF2-40B4-BE49-F238E27FC236}">
                <a16:creationId xmlns:a16="http://schemas.microsoft.com/office/drawing/2014/main" id="{59EAFC8A-1292-5DD0-4FAB-8C07AB57419B}"/>
              </a:ext>
            </a:extLst>
          </p:cNvPr>
          <p:cNvSpPr>
            <a:spLocks noGrp="1"/>
          </p:cNvSpPr>
          <p:nvPr>
            <p:ph idx="1"/>
          </p:nvPr>
        </p:nvSpPr>
        <p:spPr/>
        <p:txBody>
          <a:bodyPr>
            <a:normAutofit fontScale="70000" lnSpcReduction="20000"/>
          </a:bodyPr>
          <a:lstStyle/>
          <a:p>
            <a:r>
              <a:rPr lang="en-IN" b="0" i="0" dirty="0">
                <a:solidFill>
                  <a:srgbClr val="333333"/>
                </a:solidFill>
                <a:effectLst/>
                <a:latin typeface="Open Sans" panose="020B0606030504020204" pitchFamily="34" charset="0"/>
              </a:rPr>
              <a:t>We can use the following steps to insert a new node after a node in the single linked list...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Create a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with given value.</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Check whether list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set </a:t>
            </a:r>
            <a:r>
              <a:rPr lang="en-IN" b="1" i="0" dirty="0" err="1">
                <a:solidFill>
                  <a:srgbClr val="333333"/>
                </a:solidFill>
                <a:effectLst/>
                <a:latin typeface="Open Sans" panose="020B0606030504020204" pitchFamily="34" charset="0"/>
              </a:rPr>
              <a:t>newNode</a:t>
            </a:r>
            <a:r>
              <a:rPr lang="en-IN" b="1" i="0" dirty="0">
                <a:solidFill>
                  <a:srgbClr val="333333"/>
                </a:solidFill>
                <a:effectLst/>
                <a:latin typeface="Open Sans" panose="020B0606030504020204" pitchFamily="34" charset="0"/>
              </a:rPr>
              <a:t>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 and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define a node pointer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and initialize with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Keep moving the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to its next node until it reaches to the node after which we want to insert the </a:t>
            </a:r>
            <a:r>
              <a:rPr lang="en-IN" b="0"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(until </a:t>
            </a:r>
            <a:r>
              <a:rPr lang="en-IN" b="1" i="0" dirty="0">
                <a:solidFill>
                  <a:srgbClr val="333333"/>
                </a:solidFill>
                <a:effectLst/>
                <a:latin typeface="Open Sans" panose="020B0606030504020204" pitchFamily="34" charset="0"/>
              </a:rPr>
              <a:t>temp1 → data</a:t>
            </a:r>
            <a:r>
              <a:rPr lang="en-IN" b="0" i="0" dirty="0">
                <a:solidFill>
                  <a:srgbClr val="333333"/>
                </a:solidFill>
                <a:effectLst/>
                <a:latin typeface="Open Sans" panose="020B0606030504020204" pitchFamily="34" charset="0"/>
              </a:rPr>
              <a:t> is equal to </a:t>
            </a:r>
            <a:r>
              <a:rPr lang="en-IN" b="1" i="0" dirty="0">
                <a:solidFill>
                  <a:srgbClr val="333333"/>
                </a:solidFill>
                <a:effectLst/>
                <a:latin typeface="Open Sans" panose="020B0606030504020204" pitchFamily="34" charset="0"/>
              </a:rPr>
              <a:t>location</a:t>
            </a:r>
            <a:r>
              <a:rPr lang="en-IN" b="0" i="0" dirty="0">
                <a:solidFill>
                  <a:srgbClr val="333333"/>
                </a:solidFill>
                <a:effectLst/>
                <a:latin typeface="Open Sans" panose="020B0606030504020204" pitchFamily="34" charset="0"/>
              </a:rPr>
              <a:t>, here location is the node value after which we want to insert the </a:t>
            </a:r>
            <a:r>
              <a:rPr lang="en-IN" b="0"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6 - </a:t>
            </a:r>
            <a:r>
              <a:rPr lang="en-IN" b="0" i="0" dirty="0">
                <a:solidFill>
                  <a:srgbClr val="333333"/>
                </a:solidFill>
                <a:effectLst/>
                <a:latin typeface="Open Sans" panose="020B0606030504020204" pitchFamily="34" charset="0"/>
              </a:rPr>
              <a:t>Every time check whether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is reached to last node or not. If it is reached to last node then display </a:t>
            </a:r>
            <a:r>
              <a:rPr lang="en-IN" b="1" i="0" dirty="0">
                <a:solidFill>
                  <a:srgbClr val="333333"/>
                </a:solidFill>
                <a:effectLst/>
                <a:latin typeface="Open Sans" panose="020B0606030504020204" pitchFamily="34" charset="0"/>
              </a:rPr>
              <a:t>'Given node is not found in the list!!! Insertion not possible!!!'</a:t>
            </a:r>
            <a:r>
              <a:rPr lang="en-IN" b="0" i="0" dirty="0">
                <a:solidFill>
                  <a:srgbClr val="333333"/>
                </a:solidFill>
                <a:effectLst/>
                <a:latin typeface="Open Sans" panose="020B0606030504020204" pitchFamily="34" charset="0"/>
              </a:rPr>
              <a:t> and terminate the function. Otherwise move the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to next node.</a:t>
            </a:r>
          </a:p>
          <a:p>
            <a:pPr>
              <a:buFont typeface="Arial" panose="020B0604020202020204" pitchFamily="34" charset="0"/>
              <a:buChar char="•"/>
            </a:pPr>
            <a:r>
              <a:rPr lang="en-IN" b="1" i="0" dirty="0">
                <a:solidFill>
                  <a:srgbClr val="162F59"/>
                </a:solidFill>
                <a:effectLst/>
                <a:latin typeface="Open Sans" panose="020B0606030504020204" pitchFamily="34" charset="0"/>
              </a:rPr>
              <a:t>Step 7 - </a:t>
            </a:r>
            <a:r>
              <a:rPr lang="en-IN" b="0" i="0" dirty="0">
                <a:solidFill>
                  <a:srgbClr val="333333"/>
                </a:solidFill>
                <a:effectLst/>
                <a:latin typeface="Open Sans" panose="020B0606030504020204" pitchFamily="34" charset="0"/>
              </a:rPr>
              <a:t>Finally, Set '</a:t>
            </a:r>
            <a:r>
              <a:rPr lang="en-IN" b="1" i="0" dirty="0" err="1">
                <a:solidFill>
                  <a:srgbClr val="333333"/>
                </a:solidFill>
                <a:effectLst/>
                <a:latin typeface="Open Sans" panose="020B0606030504020204" pitchFamily="34" charset="0"/>
              </a:rPr>
              <a:t>newNode</a:t>
            </a:r>
            <a:r>
              <a:rPr lang="en-IN" b="1" i="0" dirty="0">
                <a:solidFill>
                  <a:srgbClr val="333333"/>
                </a:solidFill>
                <a:effectLst/>
                <a:latin typeface="Open Sans" panose="020B0606030504020204" pitchFamily="34" charset="0"/>
              </a:rPr>
              <a:t>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temp → next</a:t>
            </a:r>
            <a:r>
              <a:rPr lang="en-IN" b="0" i="0" dirty="0">
                <a:solidFill>
                  <a:srgbClr val="333333"/>
                </a:solidFill>
                <a:effectLst/>
                <a:latin typeface="Open Sans" panose="020B0606030504020204" pitchFamily="34" charset="0"/>
              </a:rPr>
              <a:t>' and '</a:t>
            </a:r>
            <a:r>
              <a:rPr lang="en-IN" b="1" i="0" dirty="0">
                <a:solidFill>
                  <a:srgbClr val="333333"/>
                </a:solidFill>
                <a:effectLst/>
                <a:latin typeface="Open Sans" panose="020B0606030504020204" pitchFamily="34" charset="0"/>
              </a:rPr>
              <a:t>temp → next</a:t>
            </a:r>
            <a:r>
              <a:rPr lang="en-IN" b="0" i="0" dirty="0">
                <a:solidFill>
                  <a:srgbClr val="333333"/>
                </a:solidFill>
                <a:effectLst/>
                <a:latin typeface="Open Sans" panose="020B0606030504020204" pitchFamily="34" charset="0"/>
              </a:rPr>
              <a:t> =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a:t>
            </a:r>
          </a:p>
          <a:p>
            <a:endParaRPr lang="en-US" dirty="0"/>
          </a:p>
        </p:txBody>
      </p:sp>
    </p:spTree>
    <p:extLst>
      <p:ext uri="{BB962C8B-B14F-4D97-AF65-F5344CB8AC3E}">
        <p14:creationId xmlns:p14="http://schemas.microsoft.com/office/powerpoint/2010/main" val="136451631"/>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D1D1B-F24F-23CD-E3B7-D7EB64682CE1}"/>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Deletion</a:t>
            </a:r>
            <a:endParaRPr lang="en-US" dirty="0"/>
          </a:p>
        </p:txBody>
      </p:sp>
      <p:sp>
        <p:nvSpPr>
          <p:cNvPr id="3" name="Content Placeholder 2">
            <a:extLst>
              <a:ext uri="{FF2B5EF4-FFF2-40B4-BE49-F238E27FC236}">
                <a16:creationId xmlns:a16="http://schemas.microsoft.com/office/drawing/2014/main" id="{90F1EE62-B1EF-AD95-A8E8-31266B972BCA}"/>
              </a:ext>
            </a:extLst>
          </p:cNvPr>
          <p:cNvSpPr>
            <a:spLocks noGrp="1"/>
          </p:cNvSpPr>
          <p:nvPr>
            <p:ph idx="1"/>
          </p:nvPr>
        </p:nvSpPr>
        <p:spPr/>
        <p:txBody>
          <a:bodyPr>
            <a:normAutofit/>
          </a:bodyPr>
          <a:lstStyle/>
          <a:p>
            <a:pPr algn="just"/>
            <a:r>
              <a:rPr lang="en-IN" b="1" i="0" dirty="0">
                <a:solidFill>
                  <a:srgbClr val="E00D50"/>
                </a:solidFill>
                <a:effectLst/>
                <a:latin typeface="Open Sans" panose="020B0606030504020204" pitchFamily="34" charset="0"/>
              </a:rPr>
              <a:t>Deleting from Beginning of the list</a:t>
            </a:r>
          </a:p>
          <a:p>
            <a:pPr algn="just"/>
            <a:endParaRPr lang="en-IN" b="0" i="0" dirty="0">
              <a:solidFill>
                <a:srgbClr val="333333"/>
              </a:solidFill>
              <a:effectLst/>
              <a:latin typeface="Open Sans" panose="020B0606030504020204" pitchFamily="34" charset="0"/>
            </a:endParaRPr>
          </a:p>
          <a:p>
            <a:pPr algn="just"/>
            <a:r>
              <a:rPr lang="en-IN" b="1" i="0" dirty="0">
                <a:solidFill>
                  <a:srgbClr val="E00D50"/>
                </a:solidFill>
                <a:effectLst/>
                <a:latin typeface="Open Sans" panose="020B0606030504020204" pitchFamily="34" charset="0"/>
              </a:rPr>
              <a:t>Deleting from End of the list</a:t>
            </a:r>
          </a:p>
          <a:p>
            <a:pPr algn="just"/>
            <a:endParaRPr lang="en-IN" b="0" i="0" dirty="0">
              <a:solidFill>
                <a:srgbClr val="333333"/>
              </a:solidFill>
              <a:effectLst/>
              <a:latin typeface="Open Sans" panose="020B0606030504020204" pitchFamily="34" charset="0"/>
            </a:endParaRPr>
          </a:p>
          <a:p>
            <a:pPr algn="just"/>
            <a:r>
              <a:rPr lang="en-IN" b="1" i="0" dirty="0">
                <a:solidFill>
                  <a:srgbClr val="E00D50"/>
                </a:solidFill>
                <a:effectLst/>
                <a:latin typeface="Open Sans" panose="020B0606030504020204" pitchFamily="34" charset="0"/>
              </a:rPr>
              <a:t>Deleting a Specific Node from the list</a:t>
            </a:r>
            <a:endParaRPr lang="en-IN" b="0" i="0" dirty="0">
              <a:solidFill>
                <a:srgbClr val="333333"/>
              </a:solidFill>
              <a:effectLst/>
              <a:latin typeface="Open Sans" panose="020B0606030504020204" pitchFamily="34" charset="0"/>
            </a:endParaRPr>
          </a:p>
          <a:p>
            <a:endParaRPr lang="en-US" dirty="0"/>
          </a:p>
        </p:txBody>
      </p:sp>
    </p:spTree>
    <p:extLst>
      <p:ext uri="{BB962C8B-B14F-4D97-AF65-F5344CB8AC3E}">
        <p14:creationId xmlns:p14="http://schemas.microsoft.com/office/powerpoint/2010/main" val="1415329073"/>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0FAD8-BE60-AFDA-0893-F9F2271017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97D9BE-A8D6-6556-9B35-C1FFB01416B0}"/>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Deleting from Beginning of the list</a:t>
            </a:r>
            <a:endParaRPr lang="en-US" dirty="0"/>
          </a:p>
        </p:txBody>
      </p:sp>
      <p:sp>
        <p:nvSpPr>
          <p:cNvPr id="3" name="Content Placeholder 2">
            <a:extLst>
              <a:ext uri="{FF2B5EF4-FFF2-40B4-BE49-F238E27FC236}">
                <a16:creationId xmlns:a16="http://schemas.microsoft.com/office/drawing/2014/main" id="{051A7F47-A3CD-E462-6551-5C0F4DA998E9}"/>
              </a:ext>
            </a:extLst>
          </p:cNvPr>
          <p:cNvSpPr>
            <a:spLocks noGrp="1"/>
          </p:cNvSpPr>
          <p:nvPr>
            <p:ph idx="1"/>
          </p:nvPr>
        </p:nvSpPr>
        <p:spPr/>
        <p:txBody>
          <a:bodyPr>
            <a:normAutofit fontScale="85000" lnSpcReduction="20000"/>
          </a:bodyPr>
          <a:lstStyle/>
          <a:p>
            <a:r>
              <a:rPr lang="en-IN" b="0" i="0" dirty="0">
                <a:solidFill>
                  <a:srgbClr val="333333"/>
                </a:solidFill>
                <a:effectLst/>
                <a:latin typeface="Open Sans" panose="020B0606030504020204" pitchFamily="34" charset="0"/>
              </a:rPr>
              <a:t>We can use the following steps to delete a node from beginning of the single linked list...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list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'List is Empty!!! Deletion is not possible'</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define a Node pointer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and initialize with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Check whether list is having only one node (</a:t>
            </a:r>
            <a:r>
              <a:rPr lang="en-IN" b="1" i="0" dirty="0">
                <a:solidFill>
                  <a:srgbClr val="333333"/>
                </a:solidFill>
                <a:effectLst/>
                <a:latin typeface="Open Sans" panose="020B0606030504020204" pitchFamily="34" charset="0"/>
              </a:rPr>
              <a:t>temp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TRUE</a:t>
            </a:r>
            <a:r>
              <a:rPr lang="en-IN" b="0" i="0" dirty="0">
                <a:solidFill>
                  <a:srgbClr val="333333"/>
                </a:solidFill>
                <a:effectLst/>
                <a:latin typeface="Open Sans" panose="020B0606030504020204" pitchFamily="34" charset="0"/>
              </a:rPr>
              <a:t> then set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(Setting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list conditions)</a:t>
            </a:r>
          </a:p>
          <a:p>
            <a:pPr>
              <a:buFont typeface="Arial" panose="020B0604020202020204" pitchFamily="34" charset="0"/>
              <a:buChar char="•"/>
            </a:pPr>
            <a:r>
              <a:rPr lang="en-IN" b="1" i="0" dirty="0">
                <a:solidFill>
                  <a:srgbClr val="162F59"/>
                </a:solidFill>
                <a:effectLst/>
                <a:latin typeface="Open Sans" panose="020B0606030504020204" pitchFamily="34" charset="0"/>
              </a:rPr>
              <a:t>Step 6 -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FALSE</a:t>
            </a:r>
            <a:r>
              <a:rPr lang="en-IN" b="0" i="0" dirty="0">
                <a:solidFill>
                  <a:srgbClr val="333333"/>
                </a:solidFill>
                <a:effectLst/>
                <a:latin typeface="Open Sans" panose="020B0606030504020204" pitchFamily="34" charset="0"/>
              </a:rPr>
              <a:t> then set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temp → next</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a:t>
            </a:r>
          </a:p>
        </p:txBody>
      </p:sp>
    </p:spTree>
    <p:extLst>
      <p:ext uri="{BB962C8B-B14F-4D97-AF65-F5344CB8AC3E}">
        <p14:creationId xmlns:p14="http://schemas.microsoft.com/office/powerpoint/2010/main" val="1374619948"/>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EDD9F-76F6-6610-1CE8-A7E859D8B8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AD420E-EB79-F10D-A57C-7C97AAAD1CCD}"/>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Deleting from End of the list</a:t>
            </a:r>
            <a:endParaRPr lang="en-US" dirty="0"/>
          </a:p>
        </p:txBody>
      </p:sp>
      <p:sp>
        <p:nvSpPr>
          <p:cNvPr id="3" name="Content Placeholder 2">
            <a:extLst>
              <a:ext uri="{FF2B5EF4-FFF2-40B4-BE49-F238E27FC236}">
                <a16:creationId xmlns:a16="http://schemas.microsoft.com/office/drawing/2014/main" id="{B5624F4B-4F5C-5308-769C-5BEC221BDC94}"/>
              </a:ext>
            </a:extLst>
          </p:cNvPr>
          <p:cNvSpPr>
            <a:spLocks noGrp="1"/>
          </p:cNvSpPr>
          <p:nvPr>
            <p:ph idx="1"/>
          </p:nvPr>
        </p:nvSpPr>
        <p:spPr/>
        <p:txBody>
          <a:bodyPr>
            <a:normAutofit fontScale="77500" lnSpcReduction="20000"/>
          </a:bodyPr>
          <a:lstStyle/>
          <a:p>
            <a:r>
              <a:rPr lang="en-IN" b="0" i="0" dirty="0">
                <a:solidFill>
                  <a:srgbClr val="333333"/>
                </a:solidFill>
                <a:effectLst/>
                <a:latin typeface="Open Sans" panose="020B0606030504020204" pitchFamily="34" charset="0"/>
              </a:rPr>
              <a:t>We can use the following steps to delete a node from end of the single linked list...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list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'List is Empty!!! Deletion is not possible'</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define two Node pointers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and '</a:t>
            </a:r>
            <a:r>
              <a:rPr lang="en-IN" b="1" i="0" dirty="0">
                <a:solidFill>
                  <a:srgbClr val="333333"/>
                </a:solidFill>
                <a:effectLst/>
                <a:latin typeface="Open Sans" panose="020B0606030504020204" pitchFamily="34" charset="0"/>
              </a:rPr>
              <a:t>temp2'</a:t>
            </a:r>
            <a:r>
              <a:rPr lang="en-IN" b="0" i="0" dirty="0">
                <a:solidFill>
                  <a:srgbClr val="333333"/>
                </a:solidFill>
                <a:effectLst/>
                <a:latin typeface="Open Sans" panose="020B0606030504020204" pitchFamily="34" charset="0"/>
              </a:rPr>
              <a:t> and initialize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with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Check whether list has only one Node (</a:t>
            </a:r>
            <a:r>
              <a:rPr lang="en-IN" b="1" i="0" dirty="0">
                <a:solidFill>
                  <a:srgbClr val="333333"/>
                </a:solidFill>
                <a:effectLst/>
                <a:latin typeface="Open Sans" panose="020B0606030504020204" pitchFamily="34" charset="0"/>
              </a:rPr>
              <a:t>temp1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TRUE</a:t>
            </a:r>
            <a:r>
              <a:rPr lang="en-IN" b="0" i="0" dirty="0">
                <a:solidFill>
                  <a:srgbClr val="333333"/>
                </a:solidFill>
                <a:effectLst/>
                <a:latin typeface="Open Sans" panose="020B0606030504020204" pitchFamily="34" charset="0"/>
              </a:rPr>
              <a:t>. Then, set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And terminate the function. (Setting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list condition)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6 -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FALSE</a:t>
            </a:r>
            <a:r>
              <a:rPr lang="en-IN" b="0" i="0" dirty="0">
                <a:solidFill>
                  <a:srgbClr val="333333"/>
                </a:solidFill>
                <a:effectLst/>
                <a:latin typeface="Open Sans" panose="020B0606030504020204" pitchFamily="34" charset="0"/>
              </a:rPr>
              <a:t>. Then, set '</a:t>
            </a:r>
            <a:r>
              <a:rPr lang="en-IN" b="1" i="0" dirty="0">
                <a:solidFill>
                  <a:srgbClr val="333333"/>
                </a:solidFill>
                <a:effectLst/>
                <a:latin typeface="Open Sans" panose="020B0606030504020204" pitchFamily="34" charset="0"/>
              </a:rPr>
              <a:t>temp2 = temp1 </a:t>
            </a:r>
            <a:r>
              <a:rPr lang="en-IN" b="0" i="0" dirty="0">
                <a:solidFill>
                  <a:srgbClr val="333333"/>
                </a:solidFill>
                <a:effectLst/>
                <a:latin typeface="Open Sans" panose="020B0606030504020204" pitchFamily="34" charset="0"/>
              </a:rPr>
              <a:t>' and move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to its next node. Repeat the same until it reaches to the last node in the list. (until </a:t>
            </a:r>
            <a:r>
              <a:rPr lang="en-IN" b="1" i="0" dirty="0">
                <a:solidFill>
                  <a:srgbClr val="333333"/>
                </a:solidFill>
                <a:effectLst/>
                <a:latin typeface="Open Sans" panose="020B0606030504020204" pitchFamily="34" charset="0"/>
              </a:rPr>
              <a:t>temp1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7 - </a:t>
            </a:r>
            <a:r>
              <a:rPr lang="en-IN" b="0" i="0" dirty="0">
                <a:solidFill>
                  <a:srgbClr val="333333"/>
                </a:solidFill>
                <a:effectLst/>
                <a:latin typeface="Open Sans" panose="020B0606030504020204" pitchFamily="34" charset="0"/>
              </a:rPr>
              <a:t>Finally, Set </a:t>
            </a:r>
            <a:r>
              <a:rPr lang="en-IN" b="1" i="0" dirty="0">
                <a:solidFill>
                  <a:srgbClr val="333333"/>
                </a:solidFill>
                <a:effectLst/>
                <a:latin typeface="Open Sans" panose="020B0606030504020204" pitchFamily="34" charset="0"/>
              </a:rPr>
              <a:t>temp2 → next </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a:t>
            </a:r>
          </a:p>
        </p:txBody>
      </p:sp>
    </p:spTree>
    <p:extLst>
      <p:ext uri="{BB962C8B-B14F-4D97-AF65-F5344CB8AC3E}">
        <p14:creationId xmlns:p14="http://schemas.microsoft.com/office/powerpoint/2010/main" val="1047627522"/>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92232-6A01-5032-E054-58F9270522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850FA7-0AB9-8C1D-33BA-77040C0F66ED}"/>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Deleting a Specific Node from the list</a:t>
            </a:r>
            <a:endParaRPr lang="en-US" dirty="0"/>
          </a:p>
        </p:txBody>
      </p:sp>
      <p:sp>
        <p:nvSpPr>
          <p:cNvPr id="3" name="Content Placeholder 2">
            <a:extLst>
              <a:ext uri="{FF2B5EF4-FFF2-40B4-BE49-F238E27FC236}">
                <a16:creationId xmlns:a16="http://schemas.microsoft.com/office/drawing/2014/main" id="{60EC0295-4F9D-A8C8-5551-742EC981BB60}"/>
              </a:ext>
            </a:extLst>
          </p:cNvPr>
          <p:cNvSpPr>
            <a:spLocks noGrp="1"/>
          </p:cNvSpPr>
          <p:nvPr>
            <p:ph idx="1"/>
          </p:nvPr>
        </p:nvSpPr>
        <p:spPr/>
        <p:txBody>
          <a:bodyPr>
            <a:normAutofit fontScale="47500" lnSpcReduction="20000"/>
          </a:bodyPr>
          <a:lstStyle/>
          <a:p>
            <a:r>
              <a:rPr lang="en-IN" b="0" i="0" dirty="0">
                <a:solidFill>
                  <a:srgbClr val="333333"/>
                </a:solidFill>
                <a:effectLst/>
                <a:latin typeface="Open Sans" panose="020B0606030504020204" pitchFamily="34" charset="0"/>
              </a:rPr>
              <a:t>We can use the following steps to delete a specific node from the single linked list...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list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'List is Empty!!! Deletion is not possible'</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define two Node pointers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and '</a:t>
            </a:r>
            <a:r>
              <a:rPr lang="en-IN" b="1" i="0" dirty="0">
                <a:solidFill>
                  <a:srgbClr val="333333"/>
                </a:solidFill>
                <a:effectLst/>
                <a:latin typeface="Open Sans" panose="020B0606030504020204" pitchFamily="34" charset="0"/>
              </a:rPr>
              <a:t>temp2</a:t>
            </a:r>
            <a:r>
              <a:rPr lang="en-IN" b="0" i="0" dirty="0">
                <a:solidFill>
                  <a:srgbClr val="333333"/>
                </a:solidFill>
                <a:effectLst/>
                <a:latin typeface="Open Sans" panose="020B0606030504020204" pitchFamily="34" charset="0"/>
              </a:rPr>
              <a:t>' and initialize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with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Keep moving the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until it reaches to the exact node to be deleted or to the last node. And every time set '</a:t>
            </a:r>
            <a:r>
              <a:rPr lang="en-IN" b="1" i="0" dirty="0">
                <a:solidFill>
                  <a:srgbClr val="333333"/>
                </a:solidFill>
                <a:effectLst/>
                <a:latin typeface="Open Sans" panose="020B0606030504020204" pitchFamily="34" charset="0"/>
              </a:rPr>
              <a:t>temp2 = temp1</a:t>
            </a:r>
            <a:r>
              <a:rPr lang="en-IN" b="0" i="0" dirty="0">
                <a:solidFill>
                  <a:srgbClr val="333333"/>
                </a:solidFill>
                <a:effectLst/>
                <a:latin typeface="Open Sans" panose="020B0606030504020204" pitchFamily="34" charset="0"/>
              </a:rPr>
              <a:t>' before moving the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to its next node.</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If it is reached to the last node then display </a:t>
            </a:r>
            <a:r>
              <a:rPr lang="en-IN" b="1" i="0" dirty="0">
                <a:solidFill>
                  <a:srgbClr val="333333"/>
                </a:solidFill>
                <a:effectLst/>
                <a:latin typeface="Open Sans" panose="020B0606030504020204" pitchFamily="34" charset="0"/>
              </a:rPr>
              <a:t>'Given node not found in the list! Deletion not possible!!!'</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6 - </a:t>
            </a:r>
            <a:r>
              <a:rPr lang="en-IN" b="0" i="0" dirty="0">
                <a:solidFill>
                  <a:srgbClr val="333333"/>
                </a:solidFill>
                <a:effectLst/>
                <a:latin typeface="Open Sans" panose="020B0606030504020204" pitchFamily="34" charset="0"/>
              </a:rPr>
              <a:t>If it is reached to the exact node which we want to delete, then check whether list is having only one node or not</a:t>
            </a:r>
          </a:p>
          <a:p>
            <a:pPr>
              <a:buFont typeface="Arial" panose="020B0604020202020204" pitchFamily="34" charset="0"/>
              <a:buChar char="•"/>
            </a:pPr>
            <a:r>
              <a:rPr lang="en-IN" b="1" i="0" dirty="0">
                <a:solidFill>
                  <a:srgbClr val="162F59"/>
                </a:solidFill>
                <a:effectLst/>
                <a:latin typeface="Open Sans" panose="020B0606030504020204" pitchFamily="34" charset="0"/>
              </a:rPr>
              <a:t>Step 7 - </a:t>
            </a:r>
            <a:r>
              <a:rPr lang="en-IN" b="0" i="0" dirty="0">
                <a:solidFill>
                  <a:srgbClr val="333333"/>
                </a:solidFill>
                <a:effectLst/>
                <a:latin typeface="Open Sans" panose="020B0606030504020204" pitchFamily="34" charset="0"/>
              </a:rPr>
              <a:t>If list has only one node and that is the node to be deleted, then set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free(temp1)</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8 - </a:t>
            </a:r>
            <a:r>
              <a:rPr lang="en-IN" b="0" i="0" dirty="0">
                <a:solidFill>
                  <a:srgbClr val="333333"/>
                </a:solidFill>
                <a:effectLst/>
                <a:latin typeface="Open Sans" panose="020B0606030504020204" pitchFamily="34" charset="0"/>
              </a:rPr>
              <a:t>If list contains multiple nodes, then check whether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is the first node in the list (</a:t>
            </a:r>
            <a:r>
              <a:rPr lang="en-IN" b="1" i="0" dirty="0">
                <a:solidFill>
                  <a:srgbClr val="333333"/>
                </a:solidFill>
                <a:effectLst/>
                <a:latin typeface="Open Sans" panose="020B0606030504020204" pitchFamily="34" charset="0"/>
              </a:rPr>
              <a:t>temp1 == 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9 - </a:t>
            </a:r>
            <a:r>
              <a:rPr lang="en-IN" b="0" i="0" dirty="0">
                <a:solidFill>
                  <a:srgbClr val="333333"/>
                </a:solidFill>
                <a:effectLst/>
                <a:latin typeface="Open Sans" panose="020B0606030504020204" pitchFamily="34" charset="0"/>
              </a:rPr>
              <a:t>If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is the first node then move the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to the next node (</a:t>
            </a:r>
            <a:r>
              <a:rPr lang="en-IN" b="1" i="0" dirty="0">
                <a:solidFill>
                  <a:srgbClr val="333333"/>
                </a:solidFill>
                <a:effectLst/>
                <a:latin typeface="Open Sans" panose="020B0606030504020204" pitchFamily="34" charset="0"/>
              </a:rPr>
              <a:t>head = head → next</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10 - </a:t>
            </a:r>
            <a:r>
              <a:rPr lang="en-IN" b="0" i="0" dirty="0">
                <a:solidFill>
                  <a:srgbClr val="333333"/>
                </a:solidFill>
                <a:effectLst/>
                <a:latin typeface="Open Sans" panose="020B0606030504020204" pitchFamily="34" charset="0"/>
              </a:rPr>
              <a:t>If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is not first node then check whether it is last node in the list (</a:t>
            </a:r>
            <a:r>
              <a:rPr lang="en-IN" b="1" i="0" dirty="0">
                <a:solidFill>
                  <a:srgbClr val="333333"/>
                </a:solidFill>
                <a:effectLst/>
                <a:latin typeface="Open Sans" panose="020B0606030504020204" pitchFamily="34" charset="0"/>
              </a:rPr>
              <a:t>temp1 → next == 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11 - </a:t>
            </a:r>
            <a:r>
              <a:rPr lang="en-IN" b="0" i="0" dirty="0">
                <a:solidFill>
                  <a:srgbClr val="333333"/>
                </a:solidFill>
                <a:effectLst/>
                <a:latin typeface="Open Sans" panose="020B0606030504020204" pitchFamily="34" charset="0"/>
              </a:rPr>
              <a:t>If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is last node then set </a:t>
            </a:r>
            <a:r>
              <a:rPr lang="en-IN" b="1" i="0" dirty="0">
                <a:solidFill>
                  <a:srgbClr val="333333"/>
                </a:solidFill>
                <a:effectLst/>
                <a:latin typeface="Open Sans" panose="020B0606030504020204" pitchFamily="34" charset="0"/>
              </a:rPr>
              <a:t>temp2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free(temp1)</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12 - </a:t>
            </a:r>
            <a:r>
              <a:rPr lang="en-IN" b="0" i="0" dirty="0">
                <a:solidFill>
                  <a:srgbClr val="333333"/>
                </a:solidFill>
                <a:effectLst/>
                <a:latin typeface="Open Sans" panose="020B0606030504020204" pitchFamily="34" charset="0"/>
              </a:rPr>
              <a:t>If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is not first node and not last node then set </a:t>
            </a:r>
            <a:r>
              <a:rPr lang="en-IN" b="1" i="0" dirty="0">
                <a:solidFill>
                  <a:srgbClr val="333333"/>
                </a:solidFill>
                <a:effectLst/>
                <a:latin typeface="Open Sans" panose="020B0606030504020204" pitchFamily="34" charset="0"/>
              </a:rPr>
              <a:t>temp2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temp1 → next</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free(temp1)</a:t>
            </a:r>
            <a:r>
              <a:rPr lang="en-IN" b="0" i="0" dirty="0">
                <a:solidFill>
                  <a:srgbClr val="333333"/>
                </a:solidFill>
                <a:effectLst/>
                <a:latin typeface="Open Sans" panose="020B0606030504020204" pitchFamily="34" charset="0"/>
              </a:rPr>
              <a:t>).</a:t>
            </a:r>
          </a:p>
        </p:txBody>
      </p:sp>
    </p:spTree>
    <p:extLst>
      <p:ext uri="{BB962C8B-B14F-4D97-AF65-F5344CB8AC3E}">
        <p14:creationId xmlns:p14="http://schemas.microsoft.com/office/powerpoint/2010/main" val="480143425"/>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94F94-A810-1CA6-C4BC-E97C800245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4A80A8-58AB-B649-3CF7-2A1B244EEB35}"/>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Displaying a Single Linked List</a:t>
            </a:r>
            <a:endParaRPr lang="en-US" dirty="0"/>
          </a:p>
        </p:txBody>
      </p:sp>
      <p:sp>
        <p:nvSpPr>
          <p:cNvPr id="3" name="Content Placeholder 2">
            <a:extLst>
              <a:ext uri="{FF2B5EF4-FFF2-40B4-BE49-F238E27FC236}">
                <a16:creationId xmlns:a16="http://schemas.microsoft.com/office/drawing/2014/main" id="{7C670C05-4A7E-4513-69AC-722C50E754F8}"/>
              </a:ext>
            </a:extLst>
          </p:cNvPr>
          <p:cNvSpPr>
            <a:spLocks noGrp="1"/>
          </p:cNvSpPr>
          <p:nvPr>
            <p:ph idx="1"/>
          </p:nvPr>
        </p:nvSpPr>
        <p:spPr/>
        <p:txBody>
          <a:bodyPr>
            <a:normAutofit fontScale="92500" lnSpcReduction="10000"/>
          </a:bodyPr>
          <a:lstStyle/>
          <a:p>
            <a:r>
              <a:rPr lang="en-IN" b="0" i="0" dirty="0">
                <a:solidFill>
                  <a:srgbClr val="333333"/>
                </a:solidFill>
                <a:effectLst/>
                <a:latin typeface="Open Sans" panose="020B0606030504020204" pitchFamily="34" charset="0"/>
              </a:rPr>
              <a:t>We can use the following steps to display the elements of a single linked list...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list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'List is Empty!!!'</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define a Node pointer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and initialize with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Keep displaying </a:t>
            </a:r>
            <a:r>
              <a:rPr lang="en-IN" b="1" i="0" dirty="0">
                <a:solidFill>
                  <a:srgbClr val="333333"/>
                </a:solidFill>
                <a:effectLst/>
                <a:latin typeface="Open Sans" panose="020B0606030504020204" pitchFamily="34" charset="0"/>
              </a:rPr>
              <a:t>temp → data</a:t>
            </a:r>
            <a:r>
              <a:rPr lang="en-IN" b="0" i="0" dirty="0">
                <a:solidFill>
                  <a:srgbClr val="333333"/>
                </a:solidFill>
                <a:effectLst/>
                <a:latin typeface="Open Sans" panose="020B0606030504020204" pitchFamily="34" charset="0"/>
              </a:rPr>
              <a:t> with an arrow (</a:t>
            </a:r>
            <a:r>
              <a:rPr lang="en-IN" b="1" i="0" dirty="0">
                <a:solidFill>
                  <a:srgbClr val="333333"/>
                </a:solidFill>
                <a:effectLst/>
                <a:latin typeface="Open Sans" panose="020B0606030504020204" pitchFamily="34" charset="0"/>
              </a:rPr>
              <a:t>---&gt;</a:t>
            </a:r>
            <a:r>
              <a:rPr lang="en-IN" b="0" i="0" dirty="0">
                <a:solidFill>
                  <a:srgbClr val="333333"/>
                </a:solidFill>
                <a:effectLst/>
                <a:latin typeface="Open Sans" panose="020B0606030504020204" pitchFamily="34" charset="0"/>
              </a:rPr>
              <a:t>) until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reaches to the last node</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Finally display </a:t>
            </a:r>
            <a:r>
              <a:rPr lang="en-IN" b="1" i="0" dirty="0">
                <a:solidFill>
                  <a:srgbClr val="333333"/>
                </a:solidFill>
                <a:effectLst/>
                <a:latin typeface="Open Sans" panose="020B0606030504020204" pitchFamily="34" charset="0"/>
              </a:rPr>
              <a:t>temp → data</a:t>
            </a:r>
            <a:r>
              <a:rPr lang="en-IN" b="0" i="0" dirty="0">
                <a:solidFill>
                  <a:srgbClr val="333333"/>
                </a:solidFill>
                <a:effectLst/>
                <a:latin typeface="Open Sans" panose="020B0606030504020204" pitchFamily="34" charset="0"/>
              </a:rPr>
              <a:t> with arrow pointing to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temp → data ---&gt; NULL</a:t>
            </a:r>
            <a:r>
              <a:rPr lang="en-IN" b="0" i="0" dirty="0">
                <a:solidFill>
                  <a:srgbClr val="333333"/>
                </a:solidFill>
                <a:effectLst/>
                <a:latin typeface="Open Sans" panose="020B0606030504020204" pitchFamily="34" charset="0"/>
              </a:rPr>
              <a:t>).</a:t>
            </a:r>
          </a:p>
          <a:p>
            <a:endParaRPr lang="en-US" dirty="0"/>
          </a:p>
        </p:txBody>
      </p:sp>
    </p:spTree>
    <p:extLst>
      <p:ext uri="{BB962C8B-B14F-4D97-AF65-F5344CB8AC3E}">
        <p14:creationId xmlns:p14="http://schemas.microsoft.com/office/powerpoint/2010/main" val="125019981"/>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E8B46-7C4E-4E9A-CB10-E9B28D6C4810}"/>
              </a:ext>
            </a:extLst>
          </p:cNvPr>
          <p:cNvSpPr>
            <a:spLocks noGrp="1"/>
          </p:cNvSpPr>
          <p:nvPr>
            <p:ph type="title"/>
          </p:nvPr>
        </p:nvSpPr>
        <p:spPr/>
        <p:txBody>
          <a:bodyPr>
            <a:normAutofit/>
          </a:bodyPr>
          <a:lstStyle/>
          <a:p>
            <a:r>
              <a:rPr lang="en-IN" b="1" i="0" dirty="0">
                <a:solidFill>
                  <a:srgbClr val="333333"/>
                </a:solidFill>
                <a:effectLst/>
                <a:latin typeface="Comfortaa"/>
              </a:rPr>
              <a:t>Circular Linked List</a:t>
            </a:r>
            <a:endParaRPr lang="en-US" dirty="0"/>
          </a:p>
        </p:txBody>
      </p:sp>
      <p:sp>
        <p:nvSpPr>
          <p:cNvPr id="3" name="Content Placeholder 2">
            <a:extLst>
              <a:ext uri="{FF2B5EF4-FFF2-40B4-BE49-F238E27FC236}">
                <a16:creationId xmlns:a16="http://schemas.microsoft.com/office/drawing/2014/main" id="{8296DC0F-C514-1364-E2E4-18933160AF14}"/>
              </a:ext>
            </a:extLst>
          </p:cNvPr>
          <p:cNvSpPr>
            <a:spLocks noGrp="1"/>
          </p:cNvSpPr>
          <p:nvPr>
            <p:ph idx="1"/>
          </p:nvPr>
        </p:nvSpPr>
        <p:spPr/>
        <p:txBody>
          <a:bodyPr/>
          <a:lstStyle/>
          <a:p>
            <a:r>
              <a:rPr lang="en-IN" b="1" i="0" dirty="0">
                <a:solidFill>
                  <a:srgbClr val="333333"/>
                </a:solidFill>
                <a:effectLst/>
                <a:latin typeface="Open Sans" panose="020B0606030504020204" pitchFamily="34" charset="0"/>
              </a:rPr>
              <a:t>A circular linked list is a sequence of elements in which every element has a link to its next element in the sequence and the last element has a link to the first element.</a:t>
            </a:r>
          </a:p>
          <a:p>
            <a:pPr marL="0" indent="0">
              <a:buNone/>
            </a:pPr>
            <a:br>
              <a:rPr lang="en-IN" dirty="0"/>
            </a:br>
            <a:endParaRPr lang="en-US" dirty="0"/>
          </a:p>
        </p:txBody>
      </p:sp>
      <p:pic>
        <p:nvPicPr>
          <p:cNvPr id="10242" name="Picture 2" descr="Circular Linked List">
            <a:extLst>
              <a:ext uri="{FF2B5EF4-FFF2-40B4-BE49-F238E27FC236}">
                <a16:creationId xmlns:a16="http://schemas.microsoft.com/office/drawing/2014/main" id="{88D21692-CE78-C608-3B22-721ABCAE96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106738"/>
            <a:ext cx="12192000" cy="33861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8432390"/>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C47B2-CE6D-AD48-22E6-7E37CA907FCB}"/>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Operations</a:t>
            </a:r>
            <a:endParaRPr lang="en-US" dirty="0"/>
          </a:p>
        </p:txBody>
      </p:sp>
      <p:sp>
        <p:nvSpPr>
          <p:cNvPr id="3" name="Content Placeholder 2">
            <a:extLst>
              <a:ext uri="{FF2B5EF4-FFF2-40B4-BE49-F238E27FC236}">
                <a16:creationId xmlns:a16="http://schemas.microsoft.com/office/drawing/2014/main" id="{2EDC2591-8B94-A5E2-DB75-49C68827E7EC}"/>
              </a:ext>
            </a:extLst>
          </p:cNvPr>
          <p:cNvSpPr>
            <a:spLocks noGrp="1"/>
          </p:cNvSpPr>
          <p:nvPr>
            <p:ph idx="1"/>
          </p:nvPr>
        </p:nvSpPr>
        <p:spPr/>
        <p:txBody>
          <a:bodyPr/>
          <a:lstStyle/>
          <a:p>
            <a:pPr algn="just"/>
            <a:r>
              <a:rPr lang="en-IN" b="0" i="0" dirty="0">
                <a:solidFill>
                  <a:srgbClr val="333333"/>
                </a:solidFill>
                <a:effectLst/>
                <a:latin typeface="Open Sans" panose="020B0606030504020204" pitchFamily="34" charset="0"/>
              </a:rPr>
              <a:t>In a circular linked list, we perform the following operations...</a:t>
            </a:r>
          </a:p>
          <a:p>
            <a:pPr algn="just">
              <a:buFont typeface="+mj-lt"/>
              <a:buAutoNum type="arabicPeriod"/>
            </a:pPr>
            <a:r>
              <a:rPr lang="en-IN" b="0" i="0" dirty="0">
                <a:solidFill>
                  <a:srgbClr val="333333"/>
                </a:solidFill>
                <a:effectLst/>
                <a:latin typeface="Open Sans" panose="020B0606030504020204" pitchFamily="34" charset="0"/>
              </a:rPr>
              <a:t>Insertion</a:t>
            </a:r>
          </a:p>
          <a:p>
            <a:pPr algn="just">
              <a:buFont typeface="+mj-lt"/>
              <a:buAutoNum type="arabicPeriod"/>
            </a:pPr>
            <a:r>
              <a:rPr lang="en-IN" b="0" i="0" dirty="0">
                <a:solidFill>
                  <a:srgbClr val="333333"/>
                </a:solidFill>
                <a:effectLst/>
                <a:latin typeface="Open Sans" panose="020B0606030504020204" pitchFamily="34" charset="0"/>
              </a:rPr>
              <a:t>Deletion</a:t>
            </a:r>
          </a:p>
          <a:p>
            <a:pPr algn="just">
              <a:buFont typeface="+mj-lt"/>
              <a:buAutoNum type="arabicPeriod"/>
            </a:pPr>
            <a:r>
              <a:rPr lang="en-IN" b="0" i="0" dirty="0">
                <a:solidFill>
                  <a:srgbClr val="333333"/>
                </a:solidFill>
                <a:effectLst/>
                <a:latin typeface="Open Sans" panose="020B0606030504020204" pitchFamily="34" charset="0"/>
              </a:rPr>
              <a:t>Display</a:t>
            </a:r>
          </a:p>
          <a:p>
            <a:endParaRPr lang="en-US" dirty="0"/>
          </a:p>
        </p:txBody>
      </p:sp>
    </p:spTree>
    <p:extLst>
      <p:ext uri="{BB962C8B-B14F-4D97-AF65-F5344CB8AC3E}">
        <p14:creationId xmlns:p14="http://schemas.microsoft.com/office/powerpoint/2010/main" val="348631053"/>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FD9AA-4EDC-F25A-9024-17A25C735424}"/>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Insertion</a:t>
            </a:r>
            <a:endParaRPr lang="en-US" dirty="0"/>
          </a:p>
        </p:txBody>
      </p:sp>
      <p:sp>
        <p:nvSpPr>
          <p:cNvPr id="3" name="Content Placeholder 2">
            <a:extLst>
              <a:ext uri="{FF2B5EF4-FFF2-40B4-BE49-F238E27FC236}">
                <a16:creationId xmlns:a16="http://schemas.microsoft.com/office/drawing/2014/main" id="{B3271F1F-53A9-A465-7842-CD836D48287A}"/>
              </a:ext>
            </a:extLst>
          </p:cNvPr>
          <p:cNvSpPr>
            <a:spLocks noGrp="1"/>
          </p:cNvSpPr>
          <p:nvPr>
            <p:ph idx="1"/>
          </p:nvPr>
        </p:nvSpPr>
        <p:spPr/>
        <p:txBody>
          <a:bodyPr>
            <a:normAutofit/>
          </a:bodyPr>
          <a:lstStyle/>
          <a:p>
            <a:pPr algn="just"/>
            <a:r>
              <a:rPr lang="en-IN" b="1" i="0" dirty="0">
                <a:solidFill>
                  <a:srgbClr val="E00D50"/>
                </a:solidFill>
                <a:effectLst/>
                <a:latin typeface="Open Sans" panose="020B0606030504020204" pitchFamily="34" charset="0"/>
              </a:rPr>
              <a:t>Inserting At Beginning of the list</a:t>
            </a:r>
          </a:p>
          <a:p>
            <a:pPr algn="just"/>
            <a:endParaRPr lang="en-IN" b="1" i="0" dirty="0">
              <a:solidFill>
                <a:srgbClr val="E00D50"/>
              </a:solidFill>
              <a:effectLst/>
              <a:latin typeface="Open Sans" panose="020B0606030504020204" pitchFamily="34" charset="0"/>
            </a:endParaRPr>
          </a:p>
          <a:p>
            <a:pPr algn="just"/>
            <a:r>
              <a:rPr lang="en-IN" b="1" i="0" dirty="0">
                <a:solidFill>
                  <a:srgbClr val="E00D50"/>
                </a:solidFill>
                <a:effectLst/>
                <a:latin typeface="Open Sans" panose="020B0606030504020204" pitchFamily="34" charset="0"/>
              </a:rPr>
              <a:t>Inserting At End of the list</a:t>
            </a:r>
          </a:p>
          <a:p>
            <a:pPr algn="just"/>
            <a:endParaRPr lang="en-IN" b="1" i="0" dirty="0">
              <a:solidFill>
                <a:srgbClr val="E00D50"/>
              </a:solidFill>
              <a:effectLst/>
              <a:latin typeface="Open Sans" panose="020B0606030504020204" pitchFamily="34" charset="0"/>
            </a:endParaRPr>
          </a:p>
          <a:p>
            <a:pPr algn="just"/>
            <a:r>
              <a:rPr lang="en-IN" b="1" i="0" dirty="0">
                <a:solidFill>
                  <a:srgbClr val="E00D50"/>
                </a:solidFill>
                <a:effectLst/>
                <a:latin typeface="Open Sans" panose="020B0606030504020204" pitchFamily="34" charset="0"/>
              </a:rPr>
              <a:t>Inserting At Specific location in the list (After a Node)</a:t>
            </a:r>
          </a:p>
        </p:txBody>
      </p:sp>
    </p:spTree>
    <p:extLst>
      <p:ext uri="{BB962C8B-B14F-4D97-AF65-F5344CB8AC3E}">
        <p14:creationId xmlns:p14="http://schemas.microsoft.com/office/powerpoint/2010/main" val="1190303488"/>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A3D37-5A4E-FE00-5364-25077BA431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C42C5A-A916-218C-60FF-5E13F82C9FCA}"/>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Inserting At Beginning of the list</a:t>
            </a:r>
            <a:br>
              <a:rPr lang="en-IN" b="1" i="0" dirty="0">
                <a:solidFill>
                  <a:srgbClr val="E00D50"/>
                </a:solidFill>
                <a:effectLst/>
                <a:latin typeface="Open Sans" panose="020B0606030504020204" pitchFamily="34" charset="0"/>
              </a:rPr>
            </a:br>
            <a:endParaRPr lang="en-US" dirty="0"/>
          </a:p>
        </p:txBody>
      </p:sp>
      <p:sp>
        <p:nvSpPr>
          <p:cNvPr id="3" name="Content Placeholder 2">
            <a:extLst>
              <a:ext uri="{FF2B5EF4-FFF2-40B4-BE49-F238E27FC236}">
                <a16:creationId xmlns:a16="http://schemas.microsoft.com/office/drawing/2014/main" id="{1BFA26EA-625C-E857-24E5-7CBEBF723FA3}"/>
              </a:ext>
            </a:extLst>
          </p:cNvPr>
          <p:cNvSpPr>
            <a:spLocks noGrp="1"/>
          </p:cNvSpPr>
          <p:nvPr>
            <p:ph idx="1"/>
          </p:nvPr>
        </p:nvSpPr>
        <p:spPr/>
        <p:txBody>
          <a:bodyPr>
            <a:normAutofit fontScale="85000" lnSpcReduction="20000"/>
          </a:bodyPr>
          <a:lstStyle/>
          <a:p>
            <a:r>
              <a:rPr lang="en-IN" b="0" i="0" dirty="0">
                <a:solidFill>
                  <a:srgbClr val="333333"/>
                </a:solidFill>
                <a:effectLst/>
                <a:latin typeface="Open Sans" panose="020B0606030504020204" pitchFamily="34" charset="0"/>
              </a:rPr>
              <a:t>We can use the following steps to insert a new node at beginning of the circular linked list...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Create a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with given value.</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Check whether list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set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and </a:t>
            </a:r>
            <a:r>
              <a:rPr lang="en-IN" b="1" i="0" dirty="0" err="1">
                <a:solidFill>
                  <a:srgbClr val="333333"/>
                </a:solidFill>
                <a:effectLst/>
                <a:latin typeface="Open Sans" panose="020B0606030504020204" pitchFamily="34" charset="0"/>
              </a:rPr>
              <a:t>newNode→next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define a Node pointer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and initialize with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Keep moving the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to its next node until it reaches to the last node (until '</a:t>
            </a:r>
            <a:r>
              <a:rPr lang="en-IN" b="1" i="0" dirty="0">
                <a:solidFill>
                  <a:srgbClr val="333333"/>
                </a:solidFill>
                <a:effectLst/>
                <a:latin typeface="Open Sans" panose="020B0606030504020204" pitchFamily="34" charset="0"/>
              </a:rPr>
              <a:t>temp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6 - </a:t>
            </a:r>
            <a:r>
              <a:rPr lang="en-IN" b="0" i="0" dirty="0">
                <a:solidFill>
                  <a:srgbClr val="333333"/>
                </a:solidFill>
                <a:effectLst/>
                <a:latin typeface="Open Sans" panose="020B0606030504020204" pitchFamily="34" charset="0"/>
              </a:rPr>
              <a:t>Set '</a:t>
            </a:r>
            <a:r>
              <a:rPr lang="en-IN" b="1" i="0" dirty="0" err="1">
                <a:solidFill>
                  <a:srgbClr val="333333"/>
                </a:solidFill>
                <a:effectLst/>
                <a:latin typeface="Open Sans" panose="020B0606030504020204" pitchFamily="34" charset="0"/>
              </a:rPr>
              <a:t>newNode</a:t>
            </a:r>
            <a:r>
              <a:rPr lang="en-IN" b="1" i="0" dirty="0">
                <a:solidFill>
                  <a:srgbClr val="333333"/>
                </a:solidFill>
                <a:effectLst/>
                <a:latin typeface="Open Sans" panose="020B0606030504020204" pitchFamily="34" charset="0"/>
              </a:rPr>
              <a:t> → next</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and '</a:t>
            </a:r>
            <a:r>
              <a:rPr lang="en-IN" b="1" i="0" dirty="0">
                <a:solidFill>
                  <a:srgbClr val="333333"/>
                </a:solidFill>
                <a:effectLst/>
                <a:latin typeface="Open Sans" panose="020B0606030504020204" pitchFamily="34" charset="0"/>
              </a:rPr>
              <a:t>temp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p:txBody>
      </p:sp>
    </p:spTree>
    <p:extLst>
      <p:ext uri="{BB962C8B-B14F-4D97-AF65-F5344CB8AC3E}">
        <p14:creationId xmlns:p14="http://schemas.microsoft.com/office/powerpoint/2010/main" val="2568132572"/>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636AF-9092-E101-36F7-A9C37436B6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336635-6F93-4C23-14A2-A08626CF26E8}"/>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Inserting At End of the list</a:t>
            </a:r>
            <a:endParaRPr lang="en-US" dirty="0"/>
          </a:p>
        </p:txBody>
      </p:sp>
      <p:sp>
        <p:nvSpPr>
          <p:cNvPr id="3" name="Content Placeholder 2">
            <a:extLst>
              <a:ext uri="{FF2B5EF4-FFF2-40B4-BE49-F238E27FC236}">
                <a16:creationId xmlns:a16="http://schemas.microsoft.com/office/drawing/2014/main" id="{2B3F7D27-1B49-7713-2833-72774DF85685}"/>
              </a:ext>
            </a:extLst>
          </p:cNvPr>
          <p:cNvSpPr>
            <a:spLocks noGrp="1"/>
          </p:cNvSpPr>
          <p:nvPr>
            <p:ph idx="1"/>
          </p:nvPr>
        </p:nvSpPr>
        <p:spPr/>
        <p:txBody>
          <a:bodyPr>
            <a:normAutofit fontScale="92500" lnSpcReduction="20000"/>
          </a:bodyPr>
          <a:lstStyle/>
          <a:p>
            <a:r>
              <a:rPr lang="en-IN" b="0" i="0" dirty="0">
                <a:solidFill>
                  <a:srgbClr val="333333"/>
                </a:solidFill>
                <a:effectLst/>
                <a:latin typeface="Open Sans" panose="020B0606030504020204" pitchFamily="34" charset="0"/>
              </a:rPr>
              <a:t>We can use the following steps to insert a new node at end of the circular linked list...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Create a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with given value.</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Check whether list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set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and </a:t>
            </a:r>
            <a:r>
              <a:rPr lang="en-IN" b="1" i="0" dirty="0" err="1">
                <a:solidFill>
                  <a:srgbClr val="333333"/>
                </a:solidFill>
                <a:effectLst/>
                <a:latin typeface="Open Sans" panose="020B0606030504020204" pitchFamily="34" charset="0"/>
              </a:rPr>
              <a:t>newNode</a:t>
            </a:r>
            <a:r>
              <a:rPr lang="en-IN" b="1" i="0" dirty="0">
                <a:solidFill>
                  <a:srgbClr val="333333"/>
                </a:solidFill>
                <a:effectLst/>
                <a:latin typeface="Open Sans" panose="020B0606030504020204" pitchFamily="34" charset="0"/>
              </a:rPr>
              <a:t>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define a node pointer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and initialize with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Keep moving the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to its next node until it reaches to the last node in the list (until </a:t>
            </a:r>
            <a:r>
              <a:rPr lang="en-IN" b="1" i="0" dirty="0">
                <a:solidFill>
                  <a:srgbClr val="333333"/>
                </a:solidFill>
                <a:effectLst/>
                <a:latin typeface="Open Sans" panose="020B0606030504020204" pitchFamily="34" charset="0"/>
              </a:rPr>
              <a:t>temp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6 - </a:t>
            </a:r>
            <a:r>
              <a:rPr lang="en-IN" b="0" i="0" dirty="0">
                <a:solidFill>
                  <a:srgbClr val="333333"/>
                </a:solidFill>
                <a:effectLst/>
                <a:latin typeface="Open Sans" panose="020B0606030504020204" pitchFamily="34" charset="0"/>
              </a:rPr>
              <a:t>Set </a:t>
            </a:r>
            <a:r>
              <a:rPr lang="en-IN" b="1" i="0" dirty="0">
                <a:solidFill>
                  <a:srgbClr val="333333"/>
                </a:solidFill>
                <a:effectLst/>
                <a:latin typeface="Open Sans" panose="020B0606030504020204" pitchFamily="34" charset="0"/>
              </a:rPr>
              <a:t>temp → next</a:t>
            </a:r>
            <a:r>
              <a:rPr lang="en-IN" b="0" i="0" dirty="0">
                <a:solidFill>
                  <a:srgbClr val="333333"/>
                </a:solidFill>
                <a:effectLst/>
                <a:latin typeface="Open Sans" panose="020B0606030504020204" pitchFamily="34" charset="0"/>
              </a:rPr>
              <a:t> =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and </a:t>
            </a:r>
            <a:r>
              <a:rPr lang="en-IN" b="1" i="0" dirty="0" err="1">
                <a:solidFill>
                  <a:srgbClr val="333333"/>
                </a:solidFill>
                <a:effectLst/>
                <a:latin typeface="Open Sans" panose="020B0606030504020204" pitchFamily="34" charset="0"/>
              </a:rPr>
              <a:t>newNode</a:t>
            </a:r>
            <a:r>
              <a:rPr lang="en-IN" b="1" i="0" dirty="0">
                <a:solidFill>
                  <a:srgbClr val="333333"/>
                </a:solidFill>
                <a:effectLst/>
                <a:latin typeface="Open Sans" panose="020B0606030504020204" pitchFamily="34" charset="0"/>
              </a:rPr>
              <a:t>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p:txBody>
      </p:sp>
    </p:spTree>
    <p:extLst>
      <p:ext uri="{BB962C8B-B14F-4D97-AF65-F5344CB8AC3E}">
        <p14:creationId xmlns:p14="http://schemas.microsoft.com/office/powerpoint/2010/main" val="4162316297"/>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C8D2E-C1AE-6249-AAE3-E566E6BA7C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B61A83-2A5E-397F-E244-8D007AEA3834}"/>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Inserting At Specific location in the list (After a Node)</a:t>
            </a:r>
            <a:endParaRPr lang="en-US" dirty="0"/>
          </a:p>
        </p:txBody>
      </p:sp>
      <p:sp>
        <p:nvSpPr>
          <p:cNvPr id="3" name="Content Placeholder 2">
            <a:extLst>
              <a:ext uri="{FF2B5EF4-FFF2-40B4-BE49-F238E27FC236}">
                <a16:creationId xmlns:a16="http://schemas.microsoft.com/office/drawing/2014/main" id="{45275256-3F2B-0518-2C69-CC66FADEF622}"/>
              </a:ext>
            </a:extLst>
          </p:cNvPr>
          <p:cNvSpPr>
            <a:spLocks noGrp="1"/>
          </p:cNvSpPr>
          <p:nvPr>
            <p:ph idx="1"/>
          </p:nvPr>
        </p:nvSpPr>
        <p:spPr/>
        <p:txBody>
          <a:bodyPr>
            <a:normAutofit fontScale="62500" lnSpcReduction="20000"/>
          </a:bodyPr>
          <a:lstStyle/>
          <a:p>
            <a:r>
              <a:rPr lang="en-IN" b="0" i="0" dirty="0">
                <a:solidFill>
                  <a:srgbClr val="333333"/>
                </a:solidFill>
                <a:effectLst/>
                <a:latin typeface="Open Sans" panose="020B0606030504020204" pitchFamily="34" charset="0"/>
              </a:rPr>
              <a:t>We can use the following steps to insert a new node after a node in the circular linked list...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Create a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with given value.</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Check whether list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set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and </a:t>
            </a:r>
            <a:r>
              <a:rPr lang="en-IN" b="1" i="0" dirty="0" err="1">
                <a:solidFill>
                  <a:srgbClr val="333333"/>
                </a:solidFill>
                <a:effectLst/>
                <a:latin typeface="Open Sans" panose="020B0606030504020204" pitchFamily="34" charset="0"/>
              </a:rPr>
              <a:t>newNode</a:t>
            </a:r>
            <a:r>
              <a:rPr lang="en-IN" b="1" i="0" dirty="0">
                <a:solidFill>
                  <a:srgbClr val="333333"/>
                </a:solidFill>
                <a:effectLst/>
                <a:latin typeface="Open Sans" panose="020B0606030504020204" pitchFamily="34" charset="0"/>
              </a:rPr>
              <a:t>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define a node pointer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and initialize with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Keep moving the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to its next node until it reaches to the node after which we want to insert the </a:t>
            </a:r>
            <a:r>
              <a:rPr lang="en-IN" b="0"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(until </a:t>
            </a:r>
            <a:r>
              <a:rPr lang="en-IN" b="1" i="0" dirty="0">
                <a:solidFill>
                  <a:srgbClr val="333333"/>
                </a:solidFill>
                <a:effectLst/>
                <a:latin typeface="Open Sans" panose="020B0606030504020204" pitchFamily="34" charset="0"/>
              </a:rPr>
              <a:t>temp1 → data</a:t>
            </a:r>
            <a:r>
              <a:rPr lang="en-IN" b="0" i="0" dirty="0">
                <a:solidFill>
                  <a:srgbClr val="333333"/>
                </a:solidFill>
                <a:effectLst/>
                <a:latin typeface="Open Sans" panose="020B0606030504020204" pitchFamily="34" charset="0"/>
              </a:rPr>
              <a:t> is equal to </a:t>
            </a:r>
            <a:r>
              <a:rPr lang="en-IN" b="1" i="0" dirty="0">
                <a:solidFill>
                  <a:srgbClr val="333333"/>
                </a:solidFill>
                <a:effectLst/>
                <a:latin typeface="Open Sans" panose="020B0606030504020204" pitchFamily="34" charset="0"/>
              </a:rPr>
              <a:t>location</a:t>
            </a:r>
            <a:r>
              <a:rPr lang="en-IN" b="0" i="0" dirty="0">
                <a:solidFill>
                  <a:srgbClr val="333333"/>
                </a:solidFill>
                <a:effectLst/>
                <a:latin typeface="Open Sans" panose="020B0606030504020204" pitchFamily="34" charset="0"/>
              </a:rPr>
              <a:t>, here location is the node value after which we want to insert the </a:t>
            </a:r>
            <a:r>
              <a:rPr lang="en-IN" b="0"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6 - </a:t>
            </a:r>
            <a:r>
              <a:rPr lang="en-IN" b="0" i="0" dirty="0">
                <a:solidFill>
                  <a:srgbClr val="333333"/>
                </a:solidFill>
                <a:effectLst/>
                <a:latin typeface="Open Sans" panose="020B0606030504020204" pitchFamily="34" charset="0"/>
              </a:rPr>
              <a:t>Every time check whether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is reached to the last node or not. If it is reached to last node then display </a:t>
            </a:r>
            <a:r>
              <a:rPr lang="en-IN" b="1" i="0" dirty="0">
                <a:solidFill>
                  <a:srgbClr val="333333"/>
                </a:solidFill>
                <a:effectLst/>
                <a:latin typeface="Open Sans" panose="020B0606030504020204" pitchFamily="34" charset="0"/>
              </a:rPr>
              <a:t>'Given node is not found in the list!!! Insertion not possible!!!'</a:t>
            </a:r>
            <a:r>
              <a:rPr lang="en-IN" b="0" i="0" dirty="0">
                <a:solidFill>
                  <a:srgbClr val="333333"/>
                </a:solidFill>
                <a:effectLst/>
                <a:latin typeface="Open Sans" panose="020B0606030504020204" pitchFamily="34" charset="0"/>
              </a:rPr>
              <a:t> and terminate the function. Otherwise move the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to next node.</a:t>
            </a:r>
          </a:p>
          <a:p>
            <a:pPr>
              <a:buFont typeface="Arial" panose="020B0604020202020204" pitchFamily="34" charset="0"/>
              <a:buChar char="•"/>
            </a:pPr>
            <a:r>
              <a:rPr lang="en-IN" b="1" i="0" dirty="0">
                <a:solidFill>
                  <a:srgbClr val="162F59"/>
                </a:solidFill>
                <a:effectLst/>
                <a:latin typeface="Open Sans" panose="020B0606030504020204" pitchFamily="34" charset="0"/>
              </a:rPr>
              <a:t>Step 7 - </a:t>
            </a:r>
            <a:r>
              <a:rPr lang="en-IN" b="0" i="0" dirty="0">
                <a:solidFill>
                  <a:srgbClr val="333333"/>
                </a:solidFill>
                <a:effectLst/>
                <a:latin typeface="Open Sans" panose="020B0606030504020204" pitchFamily="34" charset="0"/>
              </a:rPr>
              <a:t>If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is reached to the exact node after which we want to insert the </a:t>
            </a:r>
            <a:r>
              <a:rPr lang="en-IN" b="0"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then check whether it is last node (temp → next == head).</a:t>
            </a:r>
          </a:p>
          <a:p>
            <a:pPr>
              <a:buFont typeface="Arial" panose="020B0604020202020204" pitchFamily="34" charset="0"/>
              <a:buChar char="•"/>
            </a:pPr>
            <a:r>
              <a:rPr lang="en-IN" b="1" i="0" dirty="0">
                <a:solidFill>
                  <a:srgbClr val="162F59"/>
                </a:solidFill>
                <a:effectLst/>
                <a:latin typeface="Open Sans" panose="020B0606030504020204" pitchFamily="34" charset="0"/>
              </a:rPr>
              <a:t>Step 8 - </a:t>
            </a:r>
            <a:r>
              <a:rPr lang="en-IN" b="0" i="0" dirty="0">
                <a:solidFill>
                  <a:srgbClr val="333333"/>
                </a:solidFill>
                <a:effectLst/>
                <a:latin typeface="Open Sans" panose="020B0606030504020204" pitchFamily="34" charset="0"/>
              </a:rPr>
              <a:t>If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is last node then set </a:t>
            </a:r>
            <a:r>
              <a:rPr lang="en-IN" b="1" i="0" dirty="0">
                <a:solidFill>
                  <a:srgbClr val="333333"/>
                </a:solidFill>
                <a:effectLst/>
                <a:latin typeface="Open Sans" panose="020B0606030504020204" pitchFamily="34" charset="0"/>
              </a:rPr>
              <a:t>temp → next</a:t>
            </a:r>
            <a:r>
              <a:rPr lang="en-IN" b="0" i="0" dirty="0">
                <a:solidFill>
                  <a:srgbClr val="333333"/>
                </a:solidFill>
                <a:effectLst/>
                <a:latin typeface="Open Sans" panose="020B0606030504020204" pitchFamily="34" charset="0"/>
              </a:rPr>
              <a:t> =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and </a:t>
            </a:r>
            <a:r>
              <a:rPr lang="en-IN" b="1" i="0" dirty="0" err="1">
                <a:solidFill>
                  <a:srgbClr val="333333"/>
                </a:solidFill>
                <a:effectLst/>
                <a:latin typeface="Open Sans" panose="020B0606030504020204" pitchFamily="34" charset="0"/>
              </a:rPr>
              <a:t>newNode</a:t>
            </a:r>
            <a:r>
              <a:rPr lang="en-IN" b="1" i="0" dirty="0">
                <a:solidFill>
                  <a:srgbClr val="333333"/>
                </a:solidFill>
                <a:effectLst/>
                <a:latin typeface="Open Sans" panose="020B0606030504020204" pitchFamily="34" charset="0"/>
              </a:rPr>
              <a:t>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8 - </a:t>
            </a:r>
            <a:r>
              <a:rPr lang="en-IN" b="0" i="0" dirty="0">
                <a:solidFill>
                  <a:srgbClr val="333333"/>
                </a:solidFill>
                <a:effectLst/>
                <a:latin typeface="Open Sans" panose="020B0606030504020204" pitchFamily="34" charset="0"/>
              </a:rPr>
              <a:t>If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is not last node then set </a:t>
            </a:r>
            <a:r>
              <a:rPr lang="en-IN" b="1" i="0" dirty="0" err="1">
                <a:solidFill>
                  <a:srgbClr val="333333"/>
                </a:solidFill>
                <a:effectLst/>
                <a:latin typeface="Open Sans" panose="020B0606030504020204" pitchFamily="34" charset="0"/>
              </a:rPr>
              <a:t>newNode</a:t>
            </a:r>
            <a:r>
              <a:rPr lang="en-IN" b="1" i="0" dirty="0">
                <a:solidFill>
                  <a:srgbClr val="333333"/>
                </a:solidFill>
                <a:effectLst/>
                <a:latin typeface="Open Sans" panose="020B0606030504020204" pitchFamily="34" charset="0"/>
              </a:rPr>
              <a:t>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temp → next</a:t>
            </a:r>
            <a:r>
              <a:rPr lang="en-IN" b="0" i="0" dirty="0">
                <a:solidFill>
                  <a:srgbClr val="333333"/>
                </a:solidFill>
                <a:effectLst/>
                <a:latin typeface="Open Sans" panose="020B0606030504020204" pitchFamily="34" charset="0"/>
              </a:rPr>
              <a:t> and </a:t>
            </a:r>
            <a:r>
              <a:rPr lang="en-IN" b="1" i="0" dirty="0">
                <a:solidFill>
                  <a:srgbClr val="333333"/>
                </a:solidFill>
                <a:effectLst/>
                <a:latin typeface="Open Sans" panose="020B0606030504020204" pitchFamily="34" charset="0"/>
              </a:rPr>
              <a:t>temp → next</a:t>
            </a:r>
            <a:r>
              <a:rPr lang="en-IN" b="0" i="0" dirty="0">
                <a:solidFill>
                  <a:srgbClr val="333333"/>
                </a:solidFill>
                <a:effectLst/>
                <a:latin typeface="Open Sans" panose="020B0606030504020204" pitchFamily="34" charset="0"/>
              </a:rPr>
              <a:t> =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a:t>
            </a:r>
          </a:p>
          <a:p>
            <a:endParaRPr lang="en-US" dirty="0"/>
          </a:p>
        </p:txBody>
      </p:sp>
    </p:spTree>
    <p:extLst>
      <p:ext uri="{BB962C8B-B14F-4D97-AF65-F5344CB8AC3E}">
        <p14:creationId xmlns:p14="http://schemas.microsoft.com/office/powerpoint/2010/main" val="4235112161"/>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FA0B1-EC1E-2DD8-18A9-ACEDAD5F8302}"/>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Deletion</a:t>
            </a:r>
            <a:endParaRPr lang="en-US" dirty="0"/>
          </a:p>
        </p:txBody>
      </p:sp>
      <p:sp>
        <p:nvSpPr>
          <p:cNvPr id="3" name="Content Placeholder 2">
            <a:extLst>
              <a:ext uri="{FF2B5EF4-FFF2-40B4-BE49-F238E27FC236}">
                <a16:creationId xmlns:a16="http://schemas.microsoft.com/office/drawing/2014/main" id="{C1C4F7EB-854C-6AF9-DD08-9563C10FFB92}"/>
              </a:ext>
            </a:extLst>
          </p:cNvPr>
          <p:cNvSpPr>
            <a:spLocks noGrp="1"/>
          </p:cNvSpPr>
          <p:nvPr>
            <p:ph idx="1"/>
          </p:nvPr>
        </p:nvSpPr>
        <p:spPr/>
        <p:txBody>
          <a:bodyPr>
            <a:normAutofit/>
          </a:bodyPr>
          <a:lstStyle/>
          <a:p>
            <a:pPr algn="just"/>
            <a:r>
              <a:rPr lang="en-IN" b="1" i="0" dirty="0">
                <a:solidFill>
                  <a:srgbClr val="E00D50"/>
                </a:solidFill>
                <a:effectLst/>
                <a:latin typeface="Open Sans" panose="020B0606030504020204" pitchFamily="34" charset="0"/>
              </a:rPr>
              <a:t>Deleting from Beginning of the list</a:t>
            </a:r>
          </a:p>
          <a:p>
            <a:pPr algn="just"/>
            <a:endParaRPr lang="en-IN" b="1" i="0" dirty="0">
              <a:solidFill>
                <a:srgbClr val="E00D50"/>
              </a:solidFill>
              <a:effectLst/>
              <a:latin typeface="Open Sans" panose="020B0606030504020204" pitchFamily="34" charset="0"/>
            </a:endParaRPr>
          </a:p>
          <a:p>
            <a:pPr algn="just"/>
            <a:r>
              <a:rPr lang="en-IN" b="1" i="0" dirty="0">
                <a:solidFill>
                  <a:srgbClr val="E00D50"/>
                </a:solidFill>
                <a:effectLst/>
                <a:latin typeface="Open Sans" panose="020B0606030504020204" pitchFamily="34" charset="0"/>
              </a:rPr>
              <a:t>Deleting from End of the list</a:t>
            </a:r>
          </a:p>
          <a:p>
            <a:pPr algn="just"/>
            <a:endParaRPr lang="en-IN" b="0" i="0" dirty="0">
              <a:solidFill>
                <a:srgbClr val="333333"/>
              </a:solidFill>
              <a:effectLst/>
              <a:latin typeface="Open Sans" panose="020B0606030504020204" pitchFamily="34" charset="0"/>
            </a:endParaRPr>
          </a:p>
          <a:p>
            <a:pPr algn="just"/>
            <a:r>
              <a:rPr lang="en-IN" b="1" i="0" dirty="0">
                <a:solidFill>
                  <a:srgbClr val="E00D50"/>
                </a:solidFill>
                <a:effectLst/>
                <a:latin typeface="Open Sans" panose="020B0606030504020204" pitchFamily="34" charset="0"/>
              </a:rPr>
              <a:t>Deleting a Specific Node from the list</a:t>
            </a:r>
          </a:p>
        </p:txBody>
      </p:sp>
    </p:spTree>
    <p:extLst>
      <p:ext uri="{BB962C8B-B14F-4D97-AF65-F5344CB8AC3E}">
        <p14:creationId xmlns:p14="http://schemas.microsoft.com/office/powerpoint/2010/main" val="1933317788"/>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5E560-2F5F-83CB-D0DC-B08F0DDB54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9612FB-616F-B20F-DA52-C9F4978867AF}"/>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Deleting from Beginning of the list</a:t>
            </a:r>
            <a:endParaRPr lang="en-US" dirty="0"/>
          </a:p>
        </p:txBody>
      </p:sp>
      <p:sp>
        <p:nvSpPr>
          <p:cNvPr id="3" name="Content Placeholder 2">
            <a:extLst>
              <a:ext uri="{FF2B5EF4-FFF2-40B4-BE49-F238E27FC236}">
                <a16:creationId xmlns:a16="http://schemas.microsoft.com/office/drawing/2014/main" id="{C8F8635F-D8E6-C414-AB5E-610F7673ABF9}"/>
              </a:ext>
            </a:extLst>
          </p:cNvPr>
          <p:cNvSpPr>
            <a:spLocks noGrp="1"/>
          </p:cNvSpPr>
          <p:nvPr>
            <p:ph idx="1"/>
          </p:nvPr>
        </p:nvSpPr>
        <p:spPr/>
        <p:txBody>
          <a:bodyPr>
            <a:normAutofit fontScale="77500" lnSpcReduction="20000"/>
          </a:bodyPr>
          <a:lstStyle/>
          <a:p>
            <a:r>
              <a:rPr lang="en-IN" b="0" i="0" dirty="0">
                <a:solidFill>
                  <a:srgbClr val="333333"/>
                </a:solidFill>
                <a:effectLst/>
                <a:latin typeface="Open Sans" panose="020B0606030504020204" pitchFamily="34" charset="0"/>
              </a:rPr>
              <a:t>We can use the following steps to delete a node from beginning of the circular linked list...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list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'List is Empty!!! Deletion is not possible'</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define two Node pointers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and '</a:t>
            </a:r>
            <a:r>
              <a:rPr lang="en-IN" b="1" i="0" dirty="0">
                <a:solidFill>
                  <a:srgbClr val="333333"/>
                </a:solidFill>
                <a:effectLst/>
                <a:latin typeface="Open Sans" panose="020B0606030504020204" pitchFamily="34" charset="0"/>
              </a:rPr>
              <a:t>temp2</a:t>
            </a:r>
            <a:r>
              <a:rPr lang="en-IN" b="0" i="0" dirty="0">
                <a:solidFill>
                  <a:srgbClr val="333333"/>
                </a:solidFill>
                <a:effectLst/>
                <a:latin typeface="Open Sans" panose="020B0606030504020204" pitchFamily="34" charset="0"/>
              </a:rPr>
              <a:t>' and initialize both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and '</a:t>
            </a:r>
            <a:r>
              <a:rPr lang="en-IN" b="1" i="0" dirty="0">
                <a:solidFill>
                  <a:srgbClr val="333333"/>
                </a:solidFill>
                <a:effectLst/>
                <a:latin typeface="Open Sans" panose="020B0606030504020204" pitchFamily="34" charset="0"/>
              </a:rPr>
              <a:t>temp2</a:t>
            </a:r>
            <a:r>
              <a:rPr lang="en-IN" b="0" i="0" dirty="0">
                <a:solidFill>
                  <a:srgbClr val="333333"/>
                </a:solidFill>
                <a:effectLst/>
                <a:latin typeface="Open Sans" panose="020B0606030504020204" pitchFamily="34" charset="0"/>
              </a:rPr>
              <a:t>' with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Check whether list is having only one node (</a:t>
            </a:r>
            <a:r>
              <a:rPr lang="en-IN" b="1" i="0" dirty="0">
                <a:solidFill>
                  <a:srgbClr val="333333"/>
                </a:solidFill>
                <a:effectLst/>
                <a:latin typeface="Open Sans" panose="020B0606030504020204" pitchFamily="34" charset="0"/>
              </a:rPr>
              <a:t>temp1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TRUE</a:t>
            </a:r>
            <a:r>
              <a:rPr lang="en-IN" b="0" i="0" dirty="0">
                <a:solidFill>
                  <a:srgbClr val="333333"/>
                </a:solidFill>
                <a:effectLst/>
                <a:latin typeface="Open Sans" panose="020B0606030504020204" pitchFamily="34" charset="0"/>
              </a:rPr>
              <a:t> then set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(Setting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list conditions)</a:t>
            </a:r>
          </a:p>
          <a:p>
            <a:pPr>
              <a:buFont typeface="Arial" panose="020B0604020202020204" pitchFamily="34" charset="0"/>
              <a:buChar char="•"/>
            </a:pPr>
            <a:r>
              <a:rPr lang="en-IN" b="1" i="0" dirty="0">
                <a:solidFill>
                  <a:srgbClr val="162F59"/>
                </a:solidFill>
                <a:effectLst/>
                <a:latin typeface="Open Sans" panose="020B0606030504020204" pitchFamily="34" charset="0"/>
              </a:rPr>
              <a:t>Step 6 -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FALSE</a:t>
            </a:r>
            <a:r>
              <a:rPr lang="en-IN" b="0" i="0" dirty="0">
                <a:solidFill>
                  <a:srgbClr val="333333"/>
                </a:solidFill>
                <a:effectLst/>
                <a:latin typeface="Open Sans" panose="020B0606030504020204" pitchFamily="34" charset="0"/>
              </a:rPr>
              <a:t> move the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until it reaches to the last node. (until </a:t>
            </a:r>
            <a:r>
              <a:rPr lang="en-IN" b="1" i="0" dirty="0">
                <a:solidFill>
                  <a:srgbClr val="333333"/>
                </a:solidFill>
                <a:effectLst/>
                <a:latin typeface="Open Sans" panose="020B0606030504020204" pitchFamily="34" charset="0"/>
              </a:rPr>
              <a:t>temp1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a:t>
            </a:r>
          </a:p>
          <a:p>
            <a:pPr>
              <a:buFont typeface="Arial" panose="020B0604020202020204" pitchFamily="34" charset="0"/>
              <a:buChar char="•"/>
            </a:pPr>
            <a:r>
              <a:rPr lang="en-IN" b="1" i="0" dirty="0">
                <a:solidFill>
                  <a:srgbClr val="162F59"/>
                </a:solidFill>
                <a:effectLst/>
                <a:latin typeface="Open Sans" panose="020B0606030504020204" pitchFamily="34" charset="0"/>
              </a:rPr>
              <a:t>Step 7 - </a:t>
            </a:r>
            <a:r>
              <a:rPr lang="en-IN" b="0" i="0" dirty="0">
                <a:solidFill>
                  <a:srgbClr val="333333"/>
                </a:solidFill>
                <a:effectLst/>
                <a:latin typeface="Open Sans" panose="020B0606030504020204" pitchFamily="34" charset="0"/>
              </a:rPr>
              <a:t>Then set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temp2 → next</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temp1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temp2</a:t>
            </a:r>
            <a:r>
              <a:rPr lang="en-IN" b="0" i="0" dirty="0">
                <a:solidFill>
                  <a:srgbClr val="333333"/>
                </a:solidFill>
                <a:effectLst/>
                <a:latin typeface="Open Sans" panose="020B0606030504020204" pitchFamily="34" charset="0"/>
              </a:rPr>
              <a:t>.</a:t>
            </a:r>
          </a:p>
        </p:txBody>
      </p:sp>
    </p:spTree>
    <p:extLst>
      <p:ext uri="{BB962C8B-B14F-4D97-AF65-F5344CB8AC3E}">
        <p14:creationId xmlns:p14="http://schemas.microsoft.com/office/powerpoint/2010/main" val="3062921463"/>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65A9F-96C7-F203-7E71-48F53212E8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588B17-7BF0-EE4E-3BB0-478AB161B258}"/>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Deleting from End of the list</a:t>
            </a:r>
            <a:endParaRPr lang="en-US" dirty="0"/>
          </a:p>
        </p:txBody>
      </p:sp>
      <p:sp>
        <p:nvSpPr>
          <p:cNvPr id="3" name="Content Placeholder 2">
            <a:extLst>
              <a:ext uri="{FF2B5EF4-FFF2-40B4-BE49-F238E27FC236}">
                <a16:creationId xmlns:a16="http://schemas.microsoft.com/office/drawing/2014/main" id="{6E5ECB63-06F8-431C-B123-FD20A7E4E157}"/>
              </a:ext>
            </a:extLst>
          </p:cNvPr>
          <p:cNvSpPr>
            <a:spLocks noGrp="1"/>
          </p:cNvSpPr>
          <p:nvPr>
            <p:ph idx="1"/>
          </p:nvPr>
        </p:nvSpPr>
        <p:spPr/>
        <p:txBody>
          <a:bodyPr>
            <a:normAutofit fontScale="77500" lnSpcReduction="20000"/>
          </a:bodyPr>
          <a:lstStyle/>
          <a:p>
            <a:r>
              <a:rPr lang="en-IN" b="0" i="0" dirty="0">
                <a:solidFill>
                  <a:srgbClr val="333333"/>
                </a:solidFill>
                <a:effectLst/>
                <a:latin typeface="Open Sans" panose="020B0606030504020204" pitchFamily="34" charset="0"/>
              </a:rPr>
              <a:t>We can use the following steps to delete a node from end of the circular linked list...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list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'List is Empty!!! Deletion is not possible'</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define two Node pointers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and '</a:t>
            </a:r>
            <a:r>
              <a:rPr lang="en-IN" b="1" i="0" dirty="0">
                <a:solidFill>
                  <a:srgbClr val="333333"/>
                </a:solidFill>
                <a:effectLst/>
                <a:latin typeface="Open Sans" panose="020B0606030504020204" pitchFamily="34" charset="0"/>
              </a:rPr>
              <a:t>temp2'</a:t>
            </a:r>
            <a:r>
              <a:rPr lang="en-IN" b="0" i="0" dirty="0">
                <a:solidFill>
                  <a:srgbClr val="333333"/>
                </a:solidFill>
                <a:effectLst/>
                <a:latin typeface="Open Sans" panose="020B0606030504020204" pitchFamily="34" charset="0"/>
              </a:rPr>
              <a:t> and initialize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with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Check whether list has only one Node (</a:t>
            </a:r>
            <a:r>
              <a:rPr lang="en-IN" b="1" i="0" dirty="0">
                <a:solidFill>
                  <a:srgbClr val="333333"/>
                </a:solidFill>
                <a:effectLst/>
                <a:latin typeface="Open Sans" panose="020B0606030504020204" pitchFamily="34" charset="0"/>
              </a:rPr>
              <a:t>temp1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TRUE</a:t>
            </a:r>
            <a:r>
              <a:rPr lang="en-IN" b="0" i="0" dirty="0">
                <a:solidFill>
                  <a:srgbClr val="333333"/>
                </a:solidFill>
                <a:effectLst/>
                <a:latin typeface="Open Sans" panose="020B0606030504020204" pitchFamily="34" charset="0"/>
              </a:rPr>
              <a:t>. Then, set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And terminate from the function. (Setting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list condition)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6 -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FALSE</a:t>
            </a:r>
            <a:r>
              <a:rPr lang="en-IN" b="0" i="0" dirty="0">
                <a:solidFill>
                  <a:srgbClr val="333333"/>
                </a:solidFill>
                <a:effectLst/>
                <a:latin typeface="Open Sans" panose="020B0606030504020204" pitchFamily="34" charset="0"/>
              </a:rPr>
              <a:t>. Then, set '</a:t>
            </a:r>
            <a:r>
              <a:rPr lang="en-IN" b="1" i="0" dirty="0">
                <a:solidFill>
                  <a:srgbClr val="333333"/>
                </a:solidFill>
                <a:effectLst/>
                <a:latin typeface="Open Sans" panose="020B0606030504020204" pitchFamily="34" charset="0"/>
              </a:rPr>
              <a:t>temp2 = temp1 </a:t>
            </a:r>
            <a:r>
              <a:rPr lang="en-IN" b="0" i="0" dirty="0">
                <a:solidFill>
                  <a:srgbClr val="333333"/>
                </a:solidFill>
                <a:effectLst/>
                <a:latin typeface="Open Sans" panose="020B0606030504020204" pitchFamily="34" charset="0"/>
              </a:rPr>
              <a:t>' and move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to its next node. Repeat the same until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reaches to the last node in the list. (until </a:t>
            </a:r>
            <a:r>
              <a:rPr lang="en-IN" b="1" i="0" dirty="0">
                <a:solidFill>
                  <a:srgbClr val="333333"/>
                </a:solidFill>
                <a:effectLst/>
                <a:latin typeface="Open Sans" panose="020B0606030504020204" pitchFamily="34" charset="0"/>
              </a:rPr>
              <a:t>temp1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7 - </a:t>
            </a:r>
            <a:r>
              <a:rPr lang="en-IN" b="0" i="0" dirty="0">
                <a:solidFill>
                  <a:srgbClr val="333333"/>
                </a:solidFill>
                <a:effectLst/>
                <a:latin typeface="Open Sans" panose="020B0606030504020204" pitchFamily="34" charset="0"/>
              </a:rPr>
              <a:t>Set </a:t>
            </a:r>
            <a:r>
              <a:rPr lang="en-IN" b="1" i="0" dirty="0">
                <a:solidFill>
                  <a:srgbClr val="333333"/>
                </a:solidFill>
                <a:effectLst/>
                <a:latin typeface="Open Sans" panose="020B0606030504020204" pitchFamily="34" charset="0"/>
              </a:rPr>
              <a:t>temp2 → next </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a:t>
            </a:r>
          </a:p>
        </p:txBody>
      </p:sp>
    </p:spTree>
    <p:extLst>
      <p:ext uri="{BB962C8B-B14F-4D97-AF65-F5344CB8AC3E}">
        <p14:creationId xmlns:p14="http://schemas.microsoft.com/office/powerpoint/2010/main" val="1779225415"/>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664D4-AC77-2936-85F9-E255E0DBA1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68C46B-BA9A-69D4-B286-4804C4EB774E}"/>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Deleting a Specific Node from the list</a:t>
            </a:r>
            <a:endParaRPr lang="en-US" dirty="0"/>
          </a:p>
        </p:txBody>
      </p:sp>
      <p:sp>
        <p:nvSpPr>
          <p:cNvPr id="3" name="Content Placeholder 2">
            <a:extLst>
              <a:ext uri="{FF2B5EF4-FFF2-40B4-BE49-F238E27FC236}">
                <a16:creationId xmlns:a16="http://schemas.microsoft.com/office/drawing/2014/main" id="{F1E273CB-EAC8-D2B3-48AE-CAAE74E2C0D5}"/>
              </a:ext>
            </a:extLst>
          </p:cNvPr>
          <p:cNvSpPr>
            <a:spLocks noGrp="1"/>
          </p:cNvSpPr>
          <p:nvPr>
            <p:ph idx="1"/>
          </p:nvPr>
        </p:nvSpPr>
        <p:spPr/>
        <p:txBody>
          <a:bodyPr>
            <a:normAutofit fontScale="47500" lnSpcReduction="20000"/>
          </a:bodyPr>
          <a:lstStyle/>
          <a:p>
            <a:r>
              <a:rPr lang="en-IN" b="0" i="0" dirty="0">
                <a:solidFill>
                  <a:srgbClr val="333333"/>
                </a:solidFill>
                <a:effectLst/>
                <a:latin typeface="Open Sans" panose="020B0606030504020204" pitchFamily="34" charset="0"/>
              </a:rPr>
              <a:t>We can use the following steps to delete a specific node from the circular linked list...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list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'List is Empty!!! Deletion is not possible'</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define two Node pointers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and '</a:t>
            </a:r>
            <a:r>
              <a:rPr lang="en-IN" b="1" i="0" dirty="0">
                <a:solidFill>
                  <a:srgbClr val="333333"/>
                </a:solidFill>
                <a:effectLst/>
                <a:latin typeface="Open Sans" panose="020B0606030504020204" pitchFamily="34" charset="0"/>
              </a:rPr>
              <a:t>temp2</a:t>
            </a:r>
            <a:r>
              <a:rPr lang="en-IN" b="0" i="0" dirty="0">
                <a:solidFill>
                  <a:srgbClr val="333333"/>
                </a:solidFill>
                <a:effectLst/>
                <a:latin typeface="Open Sans" panose="020B0606030504020204" pitchFamily="34" charset="0"/>
              </a:rPr>
              <a:t>' and initialize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with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Keep moving the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until it reaches to the exact node to be deleted or to the last node. And every time set '</a:t>
            </a:r>
            <a:r>
              <a:rPr lang="en-IN" b="1" i="0" dirty="0">
                <a:solidFill>
                  <a:srgbClr val="333333"/>
                </a:solidFill>
                <a:effectLst/>
                <a:latin typeface="Open Sans" panose="020B0606030504020204" pitchFamily="34" charset="0"/>
              </a:rPr>
              <a:t>temp2 = temp1</a:t>
            </a:r>
            <a:r>
              <a:rPr lang="en-IN" b="0" i="0" dirty="0">
                <a:solidFill>
                  <a:srgbClr val="333333"/>
                </a:solidFill>
                <a:effectLst/>
                <a:latin typeface="Open Sans" panose="020B0606030504020204" pitchFamily="34" charset="0"/>
              </a:rPr>
              <a:t>' before moving the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to its next node.</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If it is reached to the last node then display </a:t>
            </a:r>
            <a:r>
              <a:rPr lang="en-IN" b="1" i="0" dirty="0">
                <a:solidFill>
                  <a:srgbClr val="333333"/>
                </a:solidFill>
                <a:effectLst/>
                <a:latin typeface="Open Sans" panose="020B0606030504020204" pitchFamily="34" charset="0"/>
              </a:rPr>
              <a:t>'Given node not found in the list! Deletion not possible!!!'</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6 - </a:t>
            </a:r>
            <a:r>
              <a:rPr lang="en-IN" b="0" i="0" dirty="0">
                <a:solidFill>
                  <a:srgbClr val="333333"/>
                </a:solidFill>
                <a:effectLst/>
                <a:latin typeface="Open Sans" panose="020B0606030504020204" pitchFamily="34" charset="0"/>
              </a:rPr>
              <a:t>If it is reached to the exact node which we want to delete, then check whether list is having only one node (</a:t>
            </a:r>
            <a:r>
              <a:rPr lang="en-IN" b="1" i="0" dirty="0">
                <a:solidFill>
                  <a:srgbClr val="333333"/>
                </a:solidFill>
                <a:effectLst/>
                <a:latin typeface="Open Sans" panose="020B0606030504020204" pitchFamily="34" charset="0"/>
              </a:rPr>
              <a:t>temp1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7 - </a:t>
            </a:r>
            <a:r>
              <a:rPr lang="en-IN" b="0" i="0" dirty="0">
                <a:solidFill>
                  <a:srgbClr val="333333"/>
                </a:solidFill>
                <a:effectLst/>
                <a:latin typeface="Open Sans" panose="020B0606030504020204" pitchFamily="34" charset="0"/>
              </a:rPr>
              <a:t>If list has only one node and that is the node to be deleted then set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free(temp1)</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8 - </a:t>
            </a:r>
            <a:r>
              <a:rPr lang="en-IN" b="0" i="0" dirty="0">
                <a:solidFill>
                  <a:srgbClr val="333333"/>
                </a:solidFill>
                <a:effectLst/>
                <a:latin typeface="Open Sans" panose="020B0606030504020204" pitchFamily="34" charset="0"/>
              </a:rPr>
              <a:t>If list contains multiple nodes then check whether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is the first node in the list (</a:t>
            </a:r>
            <a:r>
              <a:rPr lang="en-IN" b="1" i="0" dirty="0">
                <a:solidFill>
                  <a:srgbClr val="333333"/>
                </a:solidFill>
                <a:effectLst/>
                <a:latin typeface="Open Sans" panose="020B0606030504020204" pitchFamily="34" charset="0"/>
              </a:rPr>
              <a:t>temp1 == 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9 - </a:t>
            </a:r>
            <a:r>
              <a:rPr lang="en-IN" b="0" i="0" dirty="0">
                <a:solidFill>
                  <a:srgbClr val="333333"/>
                </a:solidFill>
                <a:effectLst/>
                <a:latin typeface="Open Sans" panose="020B0606030504020204" pitchFamily="34" charset="0"/>
              </a:rPr>
              <a:t>If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is the first node then set </a:t>
            </a:r>
            <a:r>
              <a:rPr lang="en-IN" b="1" i="0" dirty="0">
                <a:solidFill>
                  <a:srgbClr val="333333"/>
                </a:solidFill>
                <a:effectLst/>
                <a:latin typeface="Open Sans" panose="020B0606030504020204" pitchFamily="34" charset="0"/>
              </a:rPr>
              <a:t>temp2</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and keep moving </a:t>
            </a:r>
            <a:r>
              <a:rPr lang="en-IN" b="1" i="0" dirty="0">
                <a:solidFill>
                  <a:srgbClr val="333333"/>
                </a:solidFill>
                <a:effectLst/>
                <a:latin typeface="Open Sans" panose="020B0606030504020204" pitchFamily="34" charset="0"/>
              </a:rPr>
              <a:t>temp2</a:t>
            </a:r>
            <a:r>
              <a:rPr lang="en-IN" b="0" i="0" dirty="0">
                <a:solidFill>
                  <a:srgbClr val="333333"/>
                </a:solidFill>
                <a:effectLst/>
                <a:latin typeface="Open Sans" panose="020B0606030504020204" pitchFamily="34" charset="0"/>
              </a:rPr>
              <a:t> to its next node until </a:t>
            </a:r>
            <a:r>
              <a:rPr lang="en-IN" b="1" i="0" dirty="0">
                <a:solidFill>
                  <a:srgbClr val="333333"/>
                </a:solidFill>
                <a:effectLst/>
                <a:latin typeface="Open Sans" panose="020B0606030504020204" pitchFamily="34" charset="0"/>
              </a:rPr>
              <a:t>temp2</a:t>
            </a:r>
            <a:r>
              <a:rPr lang="en-IN" b="0" i="0" dirty="0">
                <a:solidFill>
                  <a:srgbClr val="333333"/>
                </a:solidFill>
                <a:effectLst/>
                <a:latin typeface="Open Sans" panose="020B0606030504020204" pitchFamily="34" charset="0"/>
              </a:rPr>
              <a:t> reaches to the last node. Then set </a:t>
            </a:r>
            <a:r>
              <a:rPr lang="en-IN" b="1" i="0" dirty="0">
                <a:solidFill>
                  <a:srgbClr val="333333"/>
                </a:solidFill>
                <a:effectLst/>
                <a:latin typeface="Open Sans" panose="020B0606030504020204" pitchFamily="34" charset="0"/>
              </a:rPr>
              <a:t>head = head → next</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temp2 → nex</a:t>
            </a:r>
            <a:r>
              <a:rPr lang="en-IN" b="0" i="0" dirty="0">
                <a:solidFill>
                  <a:srgbClr val="333333"/>
                </a:solidFill>
                <a:effectLst/>
                <a:latin typeface="Open Sans" panose="020B0606030504020204" pitchFamily="34" charset="0"/>
              </a:rPr>
              <a:t>t =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10 - </a:t>
            </a:r>
            <a:r>
              <a:rPr lang="en-IN" b="0" i="0" dirty="0">
                <a:solidFill>
                  <a:srgbClr val="333333"/>
                </a:solidFill>
                <a:effectLst/>
                <a:latin typeface="Open Sans" panose="020B0606030504020204" pitchFamily="34" charset="0"/>
              </a:rPr>
              <a:t>If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is not first node then check whether it is last node in the list (</a:t>
            </a:r>
            <a:r>
              <a:rPr lang="en-IN" b="1" i="0" dirty="0">
                <a:solidFill>
                  <a:srgbClr val="333333"/>
                </a:solidFill>
                <a:effectLst/>
                <a:latin typeface="Open Sans" panose="020B0606030504020204" pitchFamily="34" charset="0"/>
              </a:rPr>
              <a:t>temp1 → next == 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1 1- </a:t>
            </a:r>
            <a:r>
              <a:rPr lang="en-IN" b="0" i="0" dirty="0">
                <a:solidFill>
                  <a:srgbClr val="333333"/>
                </a:solidFill>
                <a:effectLst/>
                <a:latin typeface="Open Sans" panose="020B0606030504020204" pitchFamily="34" charset="0"/>
              </a:rPr>
              <a:t>If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is last node then set </a:t>
            </a:r>
            <a:r>
              <a:rPr lang="en-IN" b="1" i="0" dirty="0">
                <a:solidFill>
                  <a:srgbClr val="333333"/>
                </a:solidFill>
                <a:effectLst/>
                <a:latin typeface="Open Sans" panose="020B0606030504020204" pitchFamily="34" charset="0"/>
              </a:rPr>
              <a:t>temp2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free(temp1)</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12 - </a:t>
            </a:r>
            <a:r>
              <a:rPr lang="en-IN" b="0" i="0" dirty="0">
                <a:solidFill>
                  <a:srgbClr val="333333"/>
                </a:solidFill>
                <a:effectLst/>
                <a:latin typeface="Open Sans" panose="020B0606030504020204" pitchFamily="34" charset="0"/>
              </a:rPr>
              <a:t>If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is not first node and not last node then set </a:t>
            </a:r>
            <a:r>
              <a:rPr lang="en-IN" b="1" i="0" dirty="0">
                <a:solidFill>
                  <a:srgbClr val="333333"/>
                </a:solidFill>
                <a:effectLst/>
                <a:latin typeface="Open Sans" panose="020B0606030504020204" pitchFamily="34" charset="0"/>
              </a:rPr>
              <a:t>temp2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temp1 → next</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free(temp1)</a:t>
            </a:r>
            <a:r>
              <a:rPr lang="en-IN" b="0" i="0" dirty="0">
                <a:solidFill>
                  <a:srgbClr val="333333"/>
                </a:solidFill>
                <a:effectLst/>
                <a:latin typeface="Open Sans" panose="020B0606030504020204" pitchFamily="34" charset="0"/>
              </a:rPr>
              <a:t>).</a:t>
            </a:r>
          </a:p>
        </p:txBody>
      </p:sp>
    </p:spTree>
    <p:extLst>
      <p:ext uri="{BB962C8B-B14F-4D97-AF65-F5344CB8AC3E}">
        <p14:creationId xmlns:p14="http://schemas.microsoft.com/office/powerpoint/2010/main" val="3037444855"/>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183C0-F7EB-EC10-1ECF-C86B03855A2D}"/>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Displaying a circular Linked List</a:t>
            </a:r>
            <a:endParaRPr lang="en-US" dirty="0"/>
          </a:p>
        </p:txBody>
      </p:sp>
      <p:sp>
        <p:nvSpPr>
          <p:cNvPr id="3" name="Content Placeholder 2">
            <a:extLst>
              <a:ext uri="{FF2B5EF4-FFF2-40B4-BE49-F238E27FC236}">
                <a16:creationId xmlns:a16="http://schemas.microsoft.com/office/drawing/2014/main" id="{EA541DC2-7D37-B39E-1F64-2762F26D088F}"/>
              </a:ext>
            </a:extLst>
          </p:cNvPr>
          <p:cNvSpPr>
            <a:spLocks noGrp="1"/>
          </p:cNvSpPr>
          <p:nvPr>
            <p:ph idx="1"/>
          </p:nvPr>
        </p:nvSpPr>
        <p:spPr/>
        <p:txBody>
          <a:bodyPr>
            <a:normAutofit fontScale="92500" lnSpcReduction="10000"/>
          </a:bodyPr>
          <a:lstStyle/>
          <a:p>
            <a:r>
              <a:rPr lang="en-IN" b="0" i="0" dirty="0">
                <a:solidFill>
                  <a:srgbClr val="333333"/>
                </a:solidFill>
                <a:effectLst/>
                <a:latin typeface="Open Sans" panose="020B0606030504020204" pitchFamily="34" charset="0"/>
              </a:rPr>
              <a:t>We can use the following steps to display the elements of a circular linked list...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list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'List is Empty!!!'</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define a Node pointer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and initialize with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Keep displaying </a:t>
            </a:r>
            <a:r>
              <a:rPr lang="en-IN" b="1" i="0" dirty="0">
                <a:solidFill>
                  <a:srgbClr val="333333"/>
                </a:solidFill>
                <a:effectLst/>
                <a:latin typeface="Open Sans" panose="020B0606030504020204" pitchFamily="34" charset="0"/>
              </a:rPr>
              <a:t>temp → data</a:t>
            </a:r>
            <a:r>
              <a:rPr lang="en-IN" b="0" i="0" dirty="0">
                <a:solidFill>
                  <a:srgbClr val="333333"/>
                </a:solidFill>
                <a:effectLst/>
                <a:latin typeface="Open Sans" panose="020B0606030504020204" pitchFamily="34" charset="0"/>
              </a:rPr>
              <a:t> with an arrow (</a:t>
            </a:r>
            <a:r>
              <a:rPr lang="en-IN" b="1" i="0" dirty="0">
                <a:solidFill>
                  <a:srgbClr val="333333"/>
                </a:solidFill>
                <a:effectLst/>
                <a:latin typeface="Open Sans" panose="020B0606030504020204" pitchFamily="34" charset="0"/>
              </a:rPr>
              <a:t>---&gt;</a:t>
            </a:r>
            <a:r>
              <a:rPr lang="en-IN" b="0" i="0" dirty="0">
                <a:solidFill>
                  <a:srgbClr val="333333"/>
                </a:solidFill>
                <a:effectLst/>
                <a:latin typeface="Open Sans" panose="020B0606030504020204" pitchFamily="34" charset="0"/>
              </a:rPr>
              <a:t>) until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reaches to the last node</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Finally display </a:t>
            </a:r>
            <a:r>
              <a:rPr lang="en-IN" b="1" i="0" dirty="0">
                <a:solidFill>
                  <a:srgbClr val="333333"/>
                </a:solidFill>
                <a:effectLst/>
                <a:latin typeface="Open Sans" panose="020B0606030504020204" pitchFamily="34" charset="0"/>
              </a:rPr>
              <a:t>temp → data</a:t>
            </a:r>
            <a:r>
              <a:rPr lang="en-IN" b="0" i="0" dirty="0">
                <a:solidFill>
                  <a:srgbClr val="333333"/>
                </a:solidFill>
                <a:effectLst/>
                <a:latin typeface="Open Sans" panose="020B0606030504020204" pitchFamily="34" charset="0"/>
              </a:rPr>
              <a:t> with arrow pointing to </a:t>
            </a:r>
            <a:r>
              <a:rPr lang="en-IN" b="1" i="0" dirty="0">
                <a:solidFill>
                  <a:srgbClr val="333333"/>
                </a:solidFill>
                <a:effectLst/>
                <a:latin typeface="Open Sans" panose="020B0606030504020204" pitchFamily="34" charset="0"/>
              </a:rPr>
              <a:t>head → data</a:t>
            </a:r>
            <a:r>
              <a:rPr lang="en-IN" b="0" i="0" dirty="0">
                <a:solidFill>
                  <a:srgbClr val="333333"/>
                </a:solidFill>
                <a:effectLst/>
                <a:latin typeface="Open Sans" panose="020B0606030504020204" pitchFamily="34" charset="0"/>
              </a:rPr>
              <a:t>.</a:t>
            </a:r>
          </a:p>
          <a:p>
            <a:endParaRPr lang="en-US" dirty="0"/>
          </a:p>
        </p:txBody>
      </p:sp>
    </p:spTree>
    <p:extLst>
      <p:ext uri="{BB962C8B-B14F-4D97-AF65-F5344CB8AC3E}">
        <p14:creationId xmlns:p14="http://schemas.microsoft.com/office/powerpoint/2010/main" val="1160760607"/>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A6E2F-7665-747E-4DC3-9DB4926637C7}"/>
              </a:ext>
            </a:extLst>
          </p:cNvPr>
          <p:cNvSpPr>
            <a:spLocks noGrp="1"/>
          </p:cNvSpPr>
          <p:nvPr>
            <p:ph type="title"/>
          </p:nvPr>
        </p:nvSpPr>
        <p:spPr/>
        <p:txBody>
          <a:bodyPr>
            <a:normAutofit/>
          </a:bodyPr>
          <a:lstStyle/>
          <a:p>
            <a:r>
              <a:rPr lang="en-IN" b="1" i="0" dirty="0">
                <a:solidFill>
                  <a:srgbClr val="333333"/>
                </a:solidFill>
                <a:effectLst/>
                <a:latin typeface="Comfortaa"/>
              </a:rPr>
              <a:t>Double Linked List</a:t>
            </a:r>
            <a:endParaRPr lang="en-US" dirty="0"/>
          </a:p>
        </p:txBody>
      </p:sp>
      <p:sp>
        <p:nvSpPr>
          <p:cNvPr id="3" name="Content Placeholder 2">
            <a:extLst>
              <a:ext uri="{FF2B5EF4-FFF2-40B4-BE49-F238E27FC236}">
                <a16:creationId xmlns:a16="http://schemas.microsoft.com/office/drawing/2014/main" id="{E9B9A7F8-013D-3EC4-8C7D-6F79A8B2E3B4}"/>
              </a:ext>
            </a:extLst>
          </p:cNvPr>
          <p:cNvSpPr>
            <a:spLocks noGrp="1"/>
          </p:cNvSpPr>
          <p:nvPr>
            <p:ph idx="1"/>
          </p:nvPr>
        </p:nvSpPr>
        <p:spPr/>
        <p:txBody>
          <a:bodyPr/>
          <a:lstStyle/>
          <a:p>
            <a:r>
              <a:rPr lang="en-IN" b="1" i="0" dirty="0">
                <a:solidFill>
                  <a:srgbClr val="333333"/>
                </a:solidFill>
                <a:effectLst/>
                <a:latin typeface="Open Sans" panose="020B0606030504020204" pitchFamily="34" charset="0"/>
              </a:rPr>
              <a:t>Double linked list is a sequence of elements in which every element has links to its previous element and next element in the sequence.</a:t>
            </a:r>
          </a:p>
          <a:p>
            <a:br>
              <a:rPr lang="en-IN" dirty="0"/>
            </a:br>
            <a:endParaRPr lang="en-US" dirty="0"/>
          </a:p>
        </p:txBody>
      </p:sp>
      <p:pic>
        <p:nvPicPr>
          <p:cNvPr id="11266" name="Picture 2" descr="double linked list">
            <a:extLst>
              <a:ext uri="{FF2B5EF4-FFF2-40B4-BE49-F238E27FC236}">
                <a16:creationId xmlns:a16="http://schemas.microsoft.com/office/drawing/2014/main" id="{731C13FB-6FE8-BDA9-4938-80AB552500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7429" y="2985294"/>
            <a:ext cx="6350000" cy="2032000"/>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double linked list example">
            <a:extLst>
              <a:ext uri="{FF2B5EF4-FFF2-40B4-BE49-F238E27FC236}">
                <a16:creationId xmlns:a16="http://schemas.microsoft.com/office/drawing/2014/main" id="{F6803DB0-E5B2-5E80-EC6F-C7F0DDF4FF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5124450"/>
            <a:ext cx="11088602" cy="147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4033836"/>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4BBB1-4E01-30B6-2135-22D50A149B52}"/>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Operations on Double Linked List</a:t>
            </a:r>
            <a:endParaRPr lang="en-US" dirty="0"/>
          </a:p>
        </p:txBody>
      </p:sp>
      <p:sp>
        <p:nvSpPr>
          <p:cNvPr id="3" name="Content Placeholder 2">
            <a:extLst>
              <a:ext uri="{FF2B5EF4-FFF2-40B4-BE49-F238E27FC236}">
                <a16:creationId xmlns:a16="http://schemas.microsoft.com/office/drawing/2014/main" id="{2805535F-DD27-7A62-D413-E25A52CA3F31}"/>
              </a:ext>
            </a:extLst>
          </p:cNvPr>
          <p:cNvSpPr>
            <a:spLocks noGrp="1"/>
          </p:cNvSpPr>
          <p:nvPr>
            <p:ph idx="1"/>
          </p:nvPr>
        </p:nvSpPr>
        <p:spPr/>
        <p:txBody>
          <a:bodyPr>
            <a:normAutofit/>
          </a:bodyPr>
          <a:lstStyle/>
          <a:p>
            <a:pPr algn="just"/>
            <a:r>
              <a:rPr lang="en-IN" b="0" i="0" dirty="0">
                <a:solidFill>
                  <a:srgbClr val="333333"/>
                </a:solidFill>
                <a:effectLst/>
                <a:latin typeface="Open Sans" panose="020B0606030504020204" pitchFamily="34" charset="0"/>
              </a:rPr>
              <a:t>In a double linked list, we perform the following operations...</a:t>
            </a:r>
          </a:p>
          <a:p>
            <a:pPr algn="just">
              <a:buFont typeface="+mj-lt"/>
              <a:buAutoNum type="arabicPeriod"/>
            </a:pPr>
            <a:r>
              <a:rPr lang="en-IN" b="0" i="0" dirty="0">
                <a:solidFill>
                  <a:srgbClr val="333333"/>
                </a:solidFill>
                <a:effectLst/>
                <a:latin typeface="Open Sans" panose="020B0606030504020204" pitchFamily="34" charset="0"/>
              </a:rPr>
              <a:t>Insertion</a:t>
            </a:r>
          </a:p>
          <a:p>
            <a:pPr algn="just">
              <a:buFont typeface="+mj-lt"/>
              <a:buAutoNum type="arabicPeriod"/>
            </a:pPr>
            <a:r>
              <a:rPr lang="en-IN" b="0" i="0" dirty="0">
                <a:solidFill>
                  <a:srgbClr val="333333"/>
                </a:solidFill>
                <a:effectLst/>
                <a:latin typeface="Open Sans" panose="020B0606030504020204" pitchFamily="34" charset="0"/>
              </a:rPr>
              <a:t>Deletion</a:t>
            </a:r>
          </a:p>
          <a:p>
            <a:pPr algn="just">
              <a:buFont typeface="+mj-lt"/>
              <a:buAutoNum type="arabicPeriod"/>
            </a:pPr>
            <a:r>
              <a:rPr lang="en-IN" b="0" i="0" dirty="0">
                <a:solidFill>
                  <a:srgbClr val="333333"/>
                </a:solidFill>
                <a:effectLst/>
                <a:latin typeface="Open Sans" panose="020B0606030504020204" pitchFamily="34" charset="0"/>
              </a:rPr>
              <a:t>Display</a:t>
            </a:r>
          </a:p>
        </p:txBody>
      </p:sp>
    </p:spTree>
    <p:extLst>
      <p:ext uri="{BB962C8B-B14F-4D97-AF65-F5344CB8AC3E}">
        <p14:creationId xmlns:p14="http://schemas.microsoft.com/office/powerpoint/2010/main" val="3166795345"/>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4C5A6-1338-50A7-86A8-A1824EA6A4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82C88E-B7E9-4407-8B12-0CE7A701BA29}"/>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Insertion</a:t>
            </a:r>
            <a:endParaRPr lang="en-US" dirty="0"/>
          </a:p>
        </p:txBody>
      </p:sp>
      <p:sp>
        <p:nvSpPr>
          <p:cNvPr id="3" name="Content Placeholder 2">
            <a:extLst>
              <a:ext uri="{FF2B5EF4-FFF2-40B4-BE49-F238E27FC236}">
                <a16:creationId xmlns:a16="http://schemas.microsoft.com/office/drawing/2014/main" id="{3448C9CB-2DA3-567F-CB79-9307EEE5E8D8}"/>
              </a:ext>
            </a:extLst>
          </p:cNvPr>
          <p:cNvSpPr>
            <a:spLocks noGrp="1"/>
          </p:cNvSpPr>
          <p:nvPr>
            <p:ph idx="1"/>
          </p:nvPr>
        </p:nvSpPr>
        <p:spPr/>
        <p:txBody>
          <a:bodyPr>
            <a:normAutofit/>
          </a:bodyPr>
          <a:lstStyle/>
          <a:p>
            <a:pPr algn="just"/>
            <a:r>
              <a:rPr lang="en-IN" b="1" i="0" dirty="0">
                <a:solidFill>
                  <a:srgbClr val="E00D50"/>
                </a:solidFill>
                <a:effectLst/>
                <a:latin typeface="Open Sans" panose="020B0606030504020204" pitchFamily="34" charset="0"/>
              </a:rPr>
              <a:t>Inserting At Beginning of the list</a:t>
            </a:r>
          </a:p>
          <a:p>
            <a:pPr algn="just">
              <a:buFont typeface="Arial" panose="020B0604020202020204" pitchFamily="34" charset="0"/>
              <a:buChar char="•"/>
            </a:pPr>
            <a:endParaRPr lang="en-IN" b="0" i="0" dirty="0">
              <a:solidFill>
                <a:srgbClr val="333333"/>
              </a:solidFill>
              <a:effectLst/>
              <a:latin typeface="Open Sans" panose="020B0606030504020204" pitchFamily="34" charset="0"/>
            </a:endParaRPr>
          </a:p>
          <a:p>
            <a:pPr algn="just"/>
            <a:r>
              <a:rPr lang="en-IN" b="1" i="0" dirty="0">
                <a:solidFill>
                  <a:srgbClr val="E00D50"/>
                </a:solidFill>
                <a:effectLst/>
                <a:latin typeface="Open Sans" panose="020B0606030504020204" pitchFamily="34" charset="0"/>
              </a:rPr>
              <a:t>Inserting At End of the list</a:t>
            </a:r>
          </a:p>
          <a:p>
            <a:pPr marL="0" indent="0" algn="just">
              <a:buNone/>
            </a:pPr>
            <a:endParaRPr lang="en-IN" b="0" i="0" dirty="0">
              <a:solidFill>
                <a:srgbClr val="333333"/>
              </a:solidFill>
              <a:effectLst/>
              <a:latin typeface="Open Sans" panose="020B0606030504020204" pitchFamily="34" charset="0"/>
            </a:endParaRPr>
          </a:p>
          <a:p>
            <a:pPr algn="just"/>
            <a:r>
              <a:rPr lang="en-IN" b="1" i="0" dirty="0">
                <a:solidFill>
                  <a:srgbClr val="E00D50"/>
                </a:solidFill>
                <a:effectLst/>
                <a:latin typeface="Open Sans" panose="020B0606030504020204" pitchFamily="34" charset="0"/>
              </a:rPr>
              <a:t>Inserting At Specific location in the list (After a Node)</a:t>
            </a:r>
          </a:p>
        </p:txBody>
      </p:sp>
    </p:spTree>
    <p:extLst>
      <p:ext uri="{BB962C8B-B14F-4D97-AF65-F5344CB8AC3E}">
        <p14:creationId xmlns:p14="http://schemas.microsoft.com/office/powerpoint/2010/main" val="2232119318"/>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007BF-4FD5-4BFC-C071-48110BA4BC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31054A-87E4-B1B4-BF1F-24C03A3B1935}"/>
              </a:ext>
            </a:extLst>
          </p:cNvPr>
          <p:cNvSpPr>
            <a:spLocks noGrp="1"/>
          </p:cNvSpPr>
          <p:nvPr>
            <p:ph type="title"/>
          </p:nvPr>
        </p:nvSpPr>
        <p:spPr/>
        <p:txBody>
          <a:bodyPr/>
          <a:lstStyle/>
          <a:p>
            <a:pPr algn="just"/>
            <a:r>
              <a:rPr lang="en-IN" b="1" i="0" dirty="0">
                <a:solidFill>
                  <a:srgbClr val="E00D50"/>
                </a:solidFill>
                <a:effectLst/>
                <a:latin typeface="Open Sans" panose="020B0606030504020204" pitchFamily="34" charset="0"/>
              </a:rPr>
              <a:t>Inserting At Beginning of the list</a:t>
            </a:r>
          </a:p>
        </p:txBody>
      </p:sp>
      <p:sp>
        <p:nvSpPr>
          <p:cNvPr id="3" name="Content Placeholder 2">
            <a:extLst>
              <a:ext uri="{FF2B5EF4-FFF2-40B4-BE49-F238E27FC236}">
                <a16:creationId xmlns:a16="http://schemas.microsoft.com/office/drawing/2014/main" id="{8B4FA405-2807-8465-E0EE-3AD5D745A05E}"/>
              </a:ext>
            </a:extLst>
          </p:cNvPr>
          <p:cNvSpPr>
            <a:spLocks noGrp="1"/>
          </p:cNvSpPr>
          <p:nvPr>
            <p:ph idx="1"/>
          </p:nvPr>
        </p:nvSpPr>
        <p:spPr/>
        <p:txBody>
          <a:bodyPr>
            <a:normAutofit/>
          </a:bodyPr>
          <a:lstStyle/>
          <a:p>
            <a:r>
              <a:rPr lang="en-IN" b="0" i="0" dirty="0">
                <a:solidFill>
                  <a:srgbClr val="333333"/>
                </a:solidFill>
                <a:effectLst/>
                <a:latin typeface="Open Sans" panose="020B0606030504020204" pitchFamily="34" charset="0"/>
              </a:rPr>
              <a:t>We can use the following steps to insert a new node at beginning of the double linked list...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Create a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with given value and </a:t>
            </a:r>
            <a:r>
              <a:rPr lang="en-IN" b="1" i="0" dirty="0" err="1">
                <a:solidFill>
                  <a:srgbClr val="333333"/>
                </a:solidFill>
                <a:effectLst/>
                <a:latin typeface="Open Sans" panose="020B0606030504020204" pitchFamily="34" charset="0"/>
              </a:rPr>
              <a:t>newNode</a:t>
            </a:r>
            <a:r>
              <a:rPr lang="en-IN" b="1" i="0" dirty="0">
                <a:solidFill>
                  <a:srgbClr val="333333"/>
                </a:solidFill>
                <a:effectLst/>
                <a:latin typeface="Open Sans" panose="020B0606030504020204" pitchFamily="34" charset="0"/>
              </a:rPr>
              <a:t> → previous</a:t>
            </a:r>
            <a:r>
              <a:rPr lang="en-IN" b="0" i="0" dirty="0">
                <a:solidFill>
                  <a:srgbClr val="333333"/>
                </a:solidFill>
                <a:effectLst/>
                <a:latin typeface="Open Sans" panose="020B0606030504020204" pitchFamily="34" charset="0"/>
              </a:rPr>
              <a:t> as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Check whether list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assign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 to </a:t>
            </a:r>
            <a:r>
              <a:rPr lang="en-IN" b="1" i="0" dirty="0" err="1">
                <a:solidFill>
                  <a:srgbClr val="333333"/>
                </a:solidFill>
                <a:effectLst/>
                <a:latin typeface="Open Sans" panose="020B0606030504020204" pitchFamily="34" charset="0"/>
              </a:rPr>
              <a:t>newNode</a:t>
            </a:r>
            <a:r>
              <a:rPr lang="en-IN" b="1" i="0" dirty="0">
                <a:solidFill>
                  <a:srgbClr val="333333"/>
                </a:solidFill>
                <a:effectLst/>
                <a:latin typeface="Open Sans" panose="020B0606030504020204" pitchFamily="34" charset="0"/>
              </a:rPr>
              <a:t> → next</a:t>
            </a:r>
            <a:r>
              <a:rPr lang="en-IN" b="0" i="0" dirty="0">
                <a:solidFill>
                  <a:srgbClr val="333333"/>
                </a:solidFill>
                <a:effectLst/>
                <a:latin typeface="Open Sans" panose="020B0606030504020204" pitchFamily="34" charset="0"/>
              </a:rPr>
              <a:t> and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assign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to </a:t>
            </a:r>
            <a:r>
              <a:rPr lang="en-IN" b="1" i="0" dirty="0" err="1">
                <a:solidFill>
                  <a:srgbClr val="333333"/>
                </a:solidFill>
                <a:effectLst/>
                <a:latin typeface="Open Sans" panose="020B0606030504020204" pitchFamily="34" charset="0"/>
              </a:rPr>
              <a:t>newNode</a:t>
            </a:r>
            <a:r>
              <a:rPr lang="en-IN" b="1" i="0" dirty="0">
                <a:solidFill>
                  <a:srgbClr val="333333"/>
                </a:solidFill>
                <a:effectLst/>
                <a:latin typeface="Open Sans" panose="020B0606030504020204" pitchFamily="34" charset="0"/>
              </a:rPr>
              <a:t> → next</a:t>
            </a:r>
            <a:r>
              <a:rPr lang="en-IN" b="0" i="0" dirty="0">
                <a:solidFill>
                  <a:srgbClr val="333333"/>
                </a:solidFill>
                <a:effectLst/>
                <a:latin typeface="Open Sans" panose="020B0606030504020204" pitchFamily="34" charset="0"/>
              </a:rPr>
              <a:t> and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p:txBody>
      </p:sp>
    </p:spTree>
    <p:extLst>
      <p:ext uri="{BB962C8B-B14F-4D97-AF65-F5344CB8AC3E}">
        <p14:creationId xmlns:p14="http://schemas.microsoft.com/office/powerpoint/2010/main" val="4194900519"/>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D9546-5E0B-4613-4943-B3F44C0E80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5BA315-BBA0-B429-3F05-150F21DE1644}"/>
              </a:ext>
            </a:extLst>
          </p:cNvPr>
          <p:cNvSpPr>
            <a:spLocks noGrp="1"/>
          </p:cNvSpPr>
          <p:nvPr>
            <p:ph type="title"/>
          </p:nvPr>
        </p:nvSpPr>
        <p:spPr/>
        <p:txBody>
          <a:bodyPr/>
          <a:lstStyle/>
          <a:p>
            <a:pPr algn="just"/>
            <a:r>
              <a:rPr lang="en-IN" b="1" i="0" dirty="0">
                <a:solidFill>
                  <a:srgbClr val="E00D50"/>
                </a:solidFill>
                <a:effectLst/>
                <a:latin typeface="Open Sans" panose="020B0606030504020204" pitchFamily="34" charset="0"/>
              </a:rPr>
              <a:t>Inserting At End of the list</a:t>
            </a:r>
          </a:p>
        </p:txBody>
      </p:sp>
      <p:sp>
        <p:nvSpPr>
          <p:cNvPr id="3" name="Content Placeholder 2">
            <a:extLst>
              <a:ext uri="{FF2B5EF4-FFF2-40B4-BE49-F238E27FC236}">
                <a16:creationId xmlns:a16="http://schemas.microsoft.com/office/drawing/2014/main" id="{5D0B7CEE-BE2D-7809-3BF5-5BEE2B421625}"/>
              </a:ext>
            </a:extLst>
          </p:cNvPr>
          <p:cNvSpPr>
            <a:spLocks noGrp="1"/>
          </p:cNvSpPr>
          <p:nvPr>
            <p:ph idx="1"/>
          </p:nvPr>
        </p:nvSpPr>
        <p:spPr/>
        <p:txBody>
          <a:bodyPr>
            <a:normAutofit fontScale="85000" lnSpcReduction="20000"/>
          </a:bodyPr>
          <a:lstStyle/>
          <a:p>
            <a:r>
              <a:rPr lang="en-IN" b="0" i="0" dirty="0">
                <a:solidFill>
                  <a:srgbClr val="333333"/>
                </a:solidFill>
                <a:effectLst/>
                <a:latin typeface="Open Sans" panose="020B0606030504020204" pitchFamily="34" charset="0"/>
              </a:rPr>
              <a:t>We can use the following steps to insert a new node at end of the double linked list...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Create a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with given value and </a:t>
            </a:r>
            <a:r>
              <a:rPr lang="en-IN" b="1" i="0" dirty="0" err="1">
                <a:solidFill>
                  <a:srgbClr val="333333"/>
                </a:solidFill>
                <a:effectLst/>
                <a:latin typeface="Open Sans" panose="020B0606030504020204" pitchFamily="34" charset="0"/>
              </a:rPr>
              <a:t>newNode</a:t>
            </a:r>
            <a:r>
              <a:rPr lang="en-IN" b="1" i="0" dirty="0">
                <a:solidFill>
                  <a:srgbClr val="333333"/>
                </a:solidFill>
                <a:effectLst/>
                <a:latin typeface="Open Sans" panose="020B0606030504020204" pitchFamily="34" charset="0"/>
              </a:rPr>
              <a:t> → next</a:t>
            </a:r>
            <a:r>
              <a:rPr lang="en-IN" b="0" i="0" dirty="0">
                <a:solidFill>
                  <a:srgbClr val="333333"/>
                </a:solidFill>
                <a:effectLst/>
                <a:latin typeface="Open Sans" panose="020B0606030504020204" pitchFamily="34" charset="0"/>
              </a:rPr>
              <a:t> as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Check whether list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assign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 to </a:t>
            </a:r>
            <a:r>
              <a:rPr lang="en-IN" b="1" i="0" dirty="0" err="1">
                <a:solidFill>
                  <a:srgbClr val="333333"/>
                </a:solidFill>
                <a:effectLst/>
                <a:latin typeface="Open Sans" panose="020B0606030504020204" pitchFamily="34" charset="0"/>
              </a:rPr>
              <a:t>newNode</a:t>
            </a:r>
            <a:r>
              <a:rPr lang="en-IN" b="1" i="0" dirty="0">
                <a:solidFill>
                  <a:srgbClr val="333333"/>
                </a:solidFill>
                <a:effectLst/>
                <a:latin typeface="Open Sans" panose="020B0606030504020204" pitchFamily="34" charset="0"/>
              </a:rPr>
              <a:t> → previous</a:t>
            </a:r>
            <a:r>
              <a:rPr lang="en-IN" b="0" i="0" dirty="0">
                <a:solidFill>
                  <a:srgbClr val="333333"/>
                </a:solidFill>
                <a:effectLst/>
                <a:latin typeface="Open Sans" panose="020B0606030504020204" pitchFamily="34" charset="0"/>
              </a:rPr>
              <a:t> and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define a node pointer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and initialize with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Keep moving the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to its next node until it reaches to the last node in the list (until </a:t>
            </a:r>
            <a:r>
              <a:rPr lang="en-IN" b="1" i="0" dirty="0">
                <a:solidFill>
                  <a:srgbClr val="333333"/>
                </a:solidFill>
                <a:effectLst/>
                <a:latin typeface="Open Sans" panose="020B0606030504020204" pitchFamily="34" charset="0"/>
              </a:rPr>
              <a:t>temp → next</a:t>
            </a:r>
            <a:r>
              <a:rPr lang="en-IN" b="0" i="0" dirty="0">
                <a:solidFill>
                  <a:srgbClr val="333333"/>
                </a:solidFill>
                <a:effectLst/>
                <a:latin typeface="Open Sans" panose="020B0606030504020204" pitchFamily="34" charset="0"/>
              </a:rPr>
              <a:t> is equal to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6 - </a:t>
            </a:r>
            <a:r>
              <a:rPr lang="en-IN" b="0" i="0" dirty="0">
                <a:solidFill>
                  <a:srgbClr val="333333"/>
                </a:solidFill>
                <a:effectLst/>
                <a:latin typeface="Open Sans" panose="020B0606030504020204" pitchFamily="34" charset="0"/>
              </a:rPr>
              <a:t>Assign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temp → next</a:t>
            </a:r>
            <a:r>
              <a:rPr lang="en-IN" b="0" i="0" dirty="0">
                <a:solidFill>
                  <a:srgbClr val="333333"/>
                </a:solidFill>
                <a:effectLst/>
                <a:latin typeface="Open Sans" panose="020B0606030504020204" pitchFamily="34" charset="0"/>
              </a:rPr>
              <a:t> and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to </a:t>
            </a:r>
            <a:r>
              <a:rPr lang="en-IN" b="1" i="0" dirty="0" err="1">
                <a:solidFill>
                  <a:srgbClr val="333333"/>
                </a:solidFill>
                <a:effectLst/>
                <a:latin typeface="Open Sans" panose="020B0606030504020204" pitchFamily="34" charset="0"/>
              </a:rPr>
              <a:t>newNode</a:t>
            </a:r>
            <a:r>
              <a:rPr lang="en-IN" b="1" i="0" dirty="0">
                <a:solidFill>
                  <a:srgbClr val="333333"/>
                </a:solidFill>
                <a:effectLst/>
                <a:latin typeface="Open Sans" panose="020B0606030504020204" pitchFamily="34" charset="0"/>
              </a:rPr>
              <a:t> → previous</a:t>
            </a:r>
            <a:r>
              <a:rPr lang="en-IN" b="0" i="0" dirty="0">
                <a:solidFill>
                  <a:srgbClr val="333333"/>
                </a:solidFill>
                <a:effectLst/>
                <a:latin typeface="Open Sans" panose="020B0606030504020204" pitchFamily="34" charset="0"/>
              </a:rPr>
              <a:t>.</a:t>
            </a:r>
          </a:p>
        </p:txBody>
      </p:sp>
    </p:spTree>
    <p:extLst>
      <p:ext uri="{BB962C8B-B14F-4D97-AF65-F5344CB8AC3E}">
        <p14:creationId xmlns:p14="http://schemas.microsoft.com/office/powerpoint/2010/main" val="3297809470"/>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5886F-92B6-BEF3-7BC5-D49C6BEF6C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D13742-A3A8-5BA5-D4E9-30EDFF77E6C7}"/>
              </a:ext>
            </a:extLst>
          </p:cNvPr>
          <p:cNvSpPr>
            <a:spLocks noGrp="1"/>
          </p:cNvSpPr>
          <p:nvPr>
            <p:ph type="title"/>
          </p:nvPr>
        </p:nvSpPr>
        <p:spPr/>
        <p:txBody>
          <a:bodyPr/>
          <a:lstStyle/>
          <a:p>
            <a:pPr algn="just"/>
            <a:r>
              <a:rPr lang="en-IN" b="1" i="0" dirty="0">
                <a:solidFill>
                  <a:srgbClr val="E00D50"/>
                </a:solidFill>
                <a:effectLst/>
                <a:latin typeface="Open Sans" panose="020B0606030504020204" pitchFamily="34" charset="0"/>
              </a:rPr>
              <a:t>Inserting At Specific location in the list (After a Node)</a:t>
            </a:r>
          </a:p>
        </p:txBody>
      </p:sp>
      <p:sp>
        <p:nvSpPr>
          <p:cNvPr id="3" name="Content Placeholder 2">
            <a:extLst>
              <a:ext uri="{FF2B5EF4-FFF2-40B4-BE49-F238E27FC236}">
                <a16:creationId xmlns:a16="http://schemas.microsoft.com/office/drawing/2014/main" id="{92B55E09-3DEE-8FD8-4B6F-AA00D1FA11B0}"/>
              </a:ext>
            </a:extLst>
          </p:cNvPr>
          <p:cNvSpPr>
            <a:spLocks noGrp="1"/>
          </p:cNvSpPr>
          <p:nvPr>
            <p:ph idx="1"/>
          </p:nvPr>
        </p:nvSpPr>
        <p:spPr/>
        <p:txBody>
          <a:bodyPr>
            <a:normAutofit fontScale="62500" lnSpcReduction="20000"/>
          </a:bodyPr>
          <a:lstStyle/>
          <a:p>
            <a:r>
              <a:rPr lang="en-IN" b="0" i="0" dirty="0">
                <a:solidFill>
                  <a:srgbClr val="333333"/>
                </a:solidFill>
                <a:effectLst/>
                <a:latin typeface="Open Sans" panose="020B0606030504020204" pitchFamily="34" charset="0"/>
              </a:rPr>
              <a:t>We can use the following steps to insert a new node after a node in the double linked list...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Create a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with given value.</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Check whether list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assign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 to both </a:t>
            </a:r>
            <a:r>
              <a:rPr lang="en-IN" b="1" i="0" dirty="0" err="1">
                <a:solidFill>
                  <a:srgbClr val="333333"/>
                </a:solidFill>
                <a:effectLst/>
                <a:latin typeface="Open Sans" panose="020B0606030504020204" pitchFamily="34" charset="0"/>
              </a:rPr>
              <a:t>newNode</a:t>
            </a:r>
            <a:r>
              <a:rPr lang="en-IN" b="1" i="0" dirty="0">
                <a:solidFill>
                  <a:srgbClr val="333333"/>
                </a:solidFill>
                <a:effectLst/>
                <a:latin typeface="Open Sans" panose="020B0606030504020204" pitchFamily="34" charset="0"/>
              </a:rPr>
              <a:t> → previous</a:t>
            </a:r>
            <a:r>
              <a:rPr lang="en-IN" b="0" i="0" dirty="0">
                <a:solidFill>
                  <a:srgbClr val="333333"/>
                </a:solidFill>
                <a:effectLst/>
                <a:latin typeface="Open Sans" panose="020B0606030504020204" pitchFamily="34" charset="0"/>
              </a:rPr>
              <a:t> &amp; </a:t>
            </a:r>
            <a:r>
              <a:rPr lang="en-IN" b="1" i="0" dirty="0" err="1">
                <a:solidFill>
                  <a:srgbClr val="333333"/>
                </a:solidFill>
                <a:effectLst/>
                <a:latin typeface="Open Sans" panose="020B0606030504020204" pitchFamily="34" charset="0"/>
              </a:rPr>
              <a:t>newNode</a:t>
            </a:r>
            <a:r>
              <a:rPr lang="en-IN" b="1" i="0" dirty="0">
                <a:solidFill>
                  <a:srgbClr val="333333"/>
                </a:solidFill>
                <a:effectLst/>
                <a:latin typeface="Open Sans" panose="020B0606030504020204" pitchFamily="34" charset="0"/>
              </a:rPr>
              <a:t> → next</a:t>
            </a:r>
            <a:r>
              <a:rPr lang="en-IN" b="0" i="0" dirty="0">
                <a:solidFill>
                  <a:srgbClr val="333333"/>
                </a:solidFill>
                <a:effectLst/>
                <a:latin typeface="Open Sans" panose="020B0606030504020204" pitchFamily="34" charset="0"/>
              </a:rPr>
              <a:t> and set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define two node pointers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&amp; </a:t>
            </a:r>
            <a:r>
              <a:rPr lang="en-IN" b="1" i="0" dirty="0">
                <a:solidFill>
                  <a:srgbClr val="333333"/>
                </a:solidFill>
                <a:effectLst/>
                <a:latin typeface="Open Sans" panose="020B0606030504020204" pitchFamily="34" charset="0"/>
              </a:rPr>
              <a:t>temp2</a:t>
            </a:r>
            <a:r>
              <a:rPr lang="en-IN" b="0" i="0" dirty="0">
                <a:solidFill>
                  <a:srgbClr val="333333"/>
                </a:solidFill>
                <a:effectLst/>
                <a:latin typeface="Open Sans" panose="020B0606030504020204" pitchFamily="34" charset="0"/>
              </a:rPr>
              <a:t> and initialize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with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Keep moving the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to its next node until it reaches to the node after which we want to insert the </a:t>
            </a:r>
            <a:r>
              <a:rPr lang="en-IN" b="0"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(until </a:t>
            </a:r>
            <a:r>
              <a:rPr lang="en-IN" b="1" i="0" dirty="0">
                <a:solidFill>
                  <a:srgbClr val="333333"/>
                </a:solidFill>
                <a:effectLst/>
                <a:latin typeface="Open Sans" panose="020B0606030504020204" pitchFamily="34" charset="0"/>
              </a:rPr>
              <a:t>temp1 → data</a:t>
            </a:r>
            <a:r>
              <a:rPr lang="en-IN" b="0" i="0" dirty="0">
                <a:solidFill>
                  <a:srgbClr val="333333"/>
                </a:solidFill>
                <a:effectLst/>
                <a:latin typeface="Open Sans" panose="020B0606030504020204" pitchFamily="34" charset="0"/>
              </a:rPr>
              <a:t> is equal to </a:t>
            </a:r>
            <a:r>
              <a:rPr lang="en-IN" b="1" i="0" dirty="0">
                <a:solidFill>
                  <a:srgbClr val="333333"/>
                </a:solidFill>
                <a:effectLst/>
                <a:latin typeface="Open Sans" panose="020B0606030504020204" pitchFamily="34" charset="0"/>
              </a:rPr>
              <a:t>location</a:t>
            </a:r>
            <a:r>
              <a:rPr lang="en-IN" b="0" i="0" dirty="0">
                <a:solidFill>
                  <a:srgbClr val="333333"/>
                </a:solidFill>
                <a:effectLst/>
                <a:latin typeface="Open Sans" panose="020B0606030504020204" pitchFamily="34" charset="0"/>
              </a:rPr>
              <a:t>, here location is the node value after which we want to insert the </a:t>
            </a:r>
            <a:r>
              <a:rPr lang="en-IN" b="0"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6 - </a:t>
            </a:r>
            <a:r>
              <a:rPr lang="en-IN" b="0" i="0" dirty="0">
                <a:solidFill>
                  <a:srgbClr val="333333"/>
                </a:solidFill>
                <a:effectLst/>
                <a:latin typeface="Open Sans" panose="020B0606030504020204" pitchFamily="34" charset="0"/>
              </a:rPr>
              <a:t>Every time check whether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is reached to the last node. If it is reached to the last node then display </a:t>
            </a:r>
            <a:r>
              <a:rPr lang="en-IN" b="1" i="0" dirty="0">
                <a:solidFill>
                  <a:srgbClr val="333333"/>
                </a:solidFill>
                <a:effectLst/>
                <a:latin typeface="Open Sans" panose="020B0606030504020204" pitchFamily="34" charset="0"/>
              </a:rPr>
              <a:t>'Given node is not found in the list!!! Insertion not possible!!!'</a:t>
            </a:r>
            <a:r>
              <a:rPr lang="en-IN" b="0" i="0" dirty="0">
                <a:solidFill>
                  <a:srgbClr val="333333"/>
                </a:solidFill>
                <a:effectLst/>
                <a:latin typeface="Open Sans" panose="020B0606030504020204" pitchFamily="34" charset="0"/>
              </a:rPr>
              <a:t> and terminate the function. Otherwise move the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to next node.</a:t>
            </a:r>
          </a:p>
          <a:p>
            <a:pPr>
              <a:buFont typeface="Arial" panose="020B0604020202020204" pitchFamily="34" charset="0"/>
              <a:buChar char="•"/>
            </a:pPr>
            <a:r>
              <a:rPr lang="en-IN" b="1" i="0" dirty="0">
                <a:solidFill>
                  <a:srgbClr val="162F59"/>
                </a:solidFill>
                <a:effectLst/>
                <a:latin typeface="Open Sans" panose="020B0606030504020204" pitchFamily="34" charset="0"/>
              </a:rPr>
              <a:t>Step 7 - </a:t>
            </a:r>
            <a:r>
              <a:rPr lang="en-IN" b="0" i="0" dirty="0">
                <a:solidFill>
                  <a:srgbClr val="333333"/>
                </a:solidFill>
                <a:effectLst/>
                <a:latin typeface="Open Sans" panose="020B0606030504020204" pitchFamily="34" charset="0"/>
              </a:rPr>
              <a:t>Assign </a:t>
            </a:r>
            <a:r>
              <a:rPr lang="en-IN" b="1" i="0" dirty="0">
                <a:solidFill>
                  <a:srgbClr val="333333"/>
                </a:solidFill>
                <a:effectLst/>
                <a:latin typeface="Open Sans" panose="020B0606030504020204" pitchFamily="34" charset="0"/>
              </a:rPr>
              <a:t>temp1 → next</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temp2</a:t>
            </a:r>
            <a:r>
              <a:rPr lang="en-IN" b="0" i="0" dirty="0">
                <a:solidFill>
                  <a:srgbClr val="333333"/>
                </a:solidFill>
                <a:effectLst/>
                <a:latin typeface="Open Sans" panose="020B0606030504020204" pitchFamily="34" charset="0"/>
              </a:rPr>
              <a:t>,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temp1 → next</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to </a:t>
            </a:r>
            <a:r>
              <a:rPr lang="en-IN" b="1" i="0" dirty="0" err="1">
                <a:solidFill>
                  <a:srgbClr val="333333"/>
                </a:solidFill>
                <a:effectLst/>
                <a:latin typeface="Open Sans" panose="020B0606030504020204" pitchFamily="34" charset="0"/>
              </a:rPr>
              <a:t>newNode</a:t>
            </a:r>
            <a:r>
              <a:rPr lang="en-IN" b="1" i="0" dirty="0">
                <a:solidFill>
                  <a:srgbClr val="333333"/>
                </a:solidFill>
                <a:effectLst/>
                <a:latin typeface="Open Sans" panose="020B0606030504020204" pitchFamily="34" charset="0"/>
              </a:rPr>
              <a:t> → previous</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temp2</a:t>
            </a:r>
            <a:r>
              <a:rPr lang="en-IN" b="0" i="0" dirty="0">
                <a:solidFill>
                  <a:srgbClr val="333333"/>
                </a:solidFill>
                <a:effectLst/>
                <a:latin typeface="Open Sans" panose="020B0606030504020204" pitchFamily="34" charset="0"/>
              </a:rPr>
              <a:t> to </a:t>
            </a:r>
            <a:r>
              <a:rPr lang="en-IN" b="1" i="0" dirty="0" err="1">
                <a:solidFill>
                  <a:srgbClr val="333333"/>
                </a:solidFill>
                <a:effectLst/>
                <a:latin typeface="Open Sans" panose="020B0606030504020204" pitchFamily="34" charset="0"/>
              </a:rPr>
              <a:t>newNode</a:t>
            </a:r>
            <a:r>
              <a:rPr lang="en-IN" b="1" i="0" dirty="0">
                <a:solidFill>
                  <a:srgbClr val="333333"/>
                </a:solidFill>
                <a:effectLst/>
                <a:latin typeface="Open Sans" panose="020B0606030504020204" pitchFamily="34" charset="0"/>
              </a:rPr>
              <a:t> → next</a:t>
            </a:r>
            <a:r>
              <a:rPr lang="en-IN" b="0" i="0" dirty="0">
                <a:solidFill>
                  <a:srgbClr val="333333"/>
                </a:solidFill>
                <a:effectLst/>
                <a:latin typeface="Open Sans" panose="020B0606030504020204" pitchFamily="34" charset="0"/>
              </a:rPr>
              <a:t> and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temp2 → previous</a:t>
            </a:r>
            <a:r>
              <a:rPr lang="en-IN" b="0" i="0" dirty="0">
                <a:solidFill>
                  <a:srgbClr val="333333"/>
                </a:solidFill>
                <a:effectLst/>
                <a:latin typeface="Open Sans" panose="020B0606030504020204" pitchFamily="34" charset="0"/>
              </a:rPr>
              <a:t>.</a:t>
            </a:r>
          </a:p>
        </p:txBody>
      </p:sp>
    </p:spTree>
    <p:extLst>
      <p:ext uri="{BB962C8B-B14F-4D97-AF65-F5344CB8AC3E}">
        <p14:creationId xmlns:p14="http://schemas.microsoft.com/office/powerpoint/2010/main" val="1649131317"/>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74379-1AD0-E824-61DC-CA442EF0EF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D7036C-D8F8-4F21-447D-168971138B68}"/>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Deletion</a:t>
            </a:r>
            <a:endParaRPr lang="en-US" dirty="0"/>
          </a:p>
        </p:txBody>
      </p:sp>
      <p:sp>
        <p:nvSpPr>
          <p:cNvPr id="3" name="Content Placeholder 2">
            <a:extLst>
              <a:ext uri="{FF2B5EF4-FFF2-40B4-BE49-F238E27FC236}">
                <a16:creationId xmlns:a16="http://schemas.microsoft.com/office/drawing/2014/main" id="{54271AFC-F436-6CD6-D9E1-F466F0C27678}"/>
              </a:ext>
            </a:extLst>
          </p:cNvPr>
          <p:cNvSpPr>
            <a:spLocks noGrp="1"/>
          </p:cNvSpPr>
          <p:nvPr>
            <p:ph idx="1"/>
          </p:nvPr>
        </p:nvSpPr>
        <p:spPr/>
        <p:txBody>
          <a:bodyPr>
            <a:normAutofit/>
          </a:bodyPr>
          <a:lstStyle/>
          <a:p>
            <a:pPr algn="just"/>
            <a:r>
              <a:rPr lang="en-IN" b="1" i="0" dirty="0">
                <a:solidFill>
                  <a:srgbClr val="E00D50"/>
                </a:solidFill>
                <a:effectLst/>
                <a:latin typeface="Open Sans" panose="020B0606030504020204" pitchFamily="34" charset="0"/>
              </a:rPr>
              <a:t>Deleting from Beginning of the list</a:t>
            </a:r>
          </a:p>
          <a:p>
            <a:pPr algn="just"/>
            <a:endParaRPr lang="en-IN" b="1" i="0" dirty="0">
              <a:solidFill>
                <a:srgbClr val="E00D50"/>
              </a:solidFill>
              <a:effectLst/>
              <a:latin typeface="Open Sans" panose="020B0606030504020204" pitchFamily="34" charset="0"/>
            </a:endParaRPr>
          </a:p>
          <a:p>
            <a:pPr algn="just"/>
            <a:r>
              <a:rPr lang="en-IN" b="1" i="0" dirty="0">
                <a:solidFill>
                  <a:srgbClr val="E00D50"/>
                </a:solidFill>
                <a:effectLst/>
                <a:latin typeface="Open Sans" panose="020B0606030504020204" pitchFamily="34" charset="0"/>
              </a:rPr>
              <a:t>Deleting from End of the list</a:t>
            </a:r>
          </a:p>
          <a:p>
            <a:pPr algn="just"/>
            <a:endParaRPr lang="en-IN" b="0" i="0" dirty="0">
              <a:solidFill>
                <a:srgbClr val="333333"/>
              </a:solidFill>
              <a:effectLst/>
              <a:latin typeface="Open Sans" panose="020B0606030504020204" pitchFamily="34" charset="0"/>
            </a:endParaRPr>
          </a:p>
          <a:p>
            <a:pPr algn="just"/>
            <a:r>
              <a:rPr lang="en-IN" b="1" i="0" dirty="0">
                <a:solidFill>
                  <a:srgbClr val="E00D50"/>
                </a:solidFill>
                <a:effectLst/>
                <a:latin typeface="Open Sans" panose="020B0606030504020204" pitchFamily="34" charset="0"/>
              </a:rPr>
              <a:t>Deleting a Specific Node from the list</a:t>
            </a:r>
          </a:p>
        </p:txBody>
      </p:sp>
    </p:spTree>
    <p:extLst>
      <p:ext uri="{BB962C8B-B14F-4D97-AF65-F5344CB8AC3E}">
        <p14:creationId xmlns:p14="http://schemas.microsoft.com/office/powerpoint/2010/main" val="1745134671"/>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D8E0C-5399-AE8F-BA9E-8FFBC04296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E59995-FED0-9AD7-7956-DBC5363993EB}"/>
              </a:ext>
            </a:extLst>
          </p:cNvPr>
          <p:cNvSpPr>
            <a:spLocks noGrp="1"/>
          </p:cNvSpPr>
          <p:nvPr>
            <p:ph type="title"/>
          </p:nvPr>
        </p:nvSpPr>
        <p:spPr/>
        <p:txBody>
          <a:bodyPr/>
          <a:lstStyle/>
          <a:p>
            <a:pPr algn="just"/>
            <a:r>
              <a:rPr lang="en-IN" b="1" i="0" dirty="0">
                <a:solidFill>
                  <a:srgbClr val="E00D50"/>
                </a:solidFill>
                <a:effectLst/>
                <a:latin typeface="Open Sans" panose="020B0606030504020204" pitchFamily="34" charset="0"/>
              </a:rPr>
              <a:t>Deleting from Beginning of the list</a:t>
            </a:r>
          </a:p>
        </p:txBody>
      </p:sp>
      <p:sp>
        <p:nvSpPr>
          <p:cNvPr id="3" name="Content Placeholder 2">
            <a:extLst>
              <a:ext uri="{FF2B5EF4-FFF2-40B4-BE49-F238E27FC236}">
                <a16:creationId xmlns:a16="http://schemas.microsoft.com/office/drawing/2014/main" id="{98543505-326E-C86F-B1C5-7DC24DEC13E1}"/>
              </a:ext>
            </a:extLst>
          </p:cNvPr>
          <p:cNvSpPr>
            <a:spLocks noGrp="1"/>
          </p:cNvSpPr>
          <p:nvPr>
            <p:ph idx="1"/>
          </p:nvPr>
        </p:nvSpPr>
        <p:spPr/>
        <p:txBody>
          <a:bodyPr>
            <a:normAutofit fontScale="85000" lnSpcReduction="20000"/>
          </a:bodyPr>
          <a:lstStyle/>
          <a:p>
            <a:r>
              <a:rPr lang="en-IN" b="0" i="0" dirty="0">
                <a:solidFill>
                  <a:srgbClr val="333333"/>
                </a:solidFill>
                <a:effectLst/>
                <a:latin typeface="Open Sans" panose="020B0606030504020204" pitchFamily="34" charset="0"/>
              </a:rPr>
              <a:t>We can use the following steps to delete a node from beginning of the double linked list...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list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'List is Empty!!! Deletion is not possible'</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not Empty then, define a Node pointer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and initialize with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Check whether list is having only one node (</a:t>
            </a:r>
            <a:r>
              <a:rPr lang="en-IN" b="1" i="0" dirty="0">
                <a:solidFill>
                  <a:srgbClr val="333333"/>
                </a:solidFill>
                <a:effectLst/>
                <a:latin typeface="Open Sans" panose="020B0606030504020204" pitchFamily="34" charset="0"/>
              </a:rPr>
              <a:t>temp → previous</a:t>
            </a:r>
            <a:r>
              <a:rPr lang="en-IN" b="0" i="0" dirty="0">
                <a:solidFill>
                  <a:srgbClr val="333333"/>
                </a:solidFill>
                <a:effectLst/>
                <a:latin typeface="Open Sans" panose="020B0606030504020204" pitchFamily="34" charset="0"/>
              </a:rPr>
              <a:t> is equal to </a:t>
            </a:r>
            <a:r>
              <a:rPr lang="en-IN" b="1" i="0" dirty="0">
                <a:solidFill>
                  <a:srgbClr val="333333"/>
                </a:solidFill>
                <a:effectLst/>
                <a:latin typeface="Open Sans" panose="020B0606030504020204" pitchFamily="34" charset="0"/>
              </a:rPr>
              <a:t>temp → next</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TRUE</a:t>
            </a:r>
            <a:r>
              <a:rPr lang="en-IN" b="0" i="0" dirty="0">
                <a:solidFill>
                  <a:srgbClr val="333333"/>
                </a:solidFill>
                <a:effectLst/>
                <a:latin typeface="Open Sans" panose="020B0606030504020204" pitchFamily="34" charset="0"/>
              </a:rPr>
              <a:t>, then set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(Setting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list conditions)</a:t>
            </a:r>
          </a:p>
          <a:p>
            <a:pPr>
              <a:buFont typeface="Arial" panose="020B0604020202020204" pitchFamily="34" charset="0"/>
              <a:buChar char="•"/>
            </a:pPr>
            <a:r>
              <a:rPr lang="en-IN" b="1" i="0" dirty="0">
                <a:solidFill>
                  <a:srgbClr val="162F59"/>
                </a:solidFill>
                <a:effectLst/>
                <a:latin typeface="Open Sans" panose="020B0606030504020204" pitchFamily="34" charset="0"/>
              </a:rPr>
              <a:t>Step 6 -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FALSE</a:t>
            </a:r>
            <a:r>
              <a:rPr lang="en-IN" b="0" i="0" dirty="0">
                <a:solidFill>
                  <a:srgbClr val="333333"/>
                </a:solidFill>
                <a:effectLst/>
                <a:latin typeface="Open Sans" panose="020B0606030504020204" pitchFamily="34" charset="0"/>
              </a:rPr>
              <a:t>, then assign </a:t>
            </a:r>
            <a:r>
              <a:rPr lang="en-IN" b="1" i="0" dirty="0">
                <a:solidFill>
                  <a:srgbClr val="333333"/>
                </a:solidFill>
                <a:effectLst/>
                <a:latin typeface="Open Sans" panose="020B0606030504020204" pitchFamily="34" charset="0"/>
              </a:rPr>
              <a:t>temp → next</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head → previous</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a:t>
            </a:r>
          </a:p>
        </p:txBody>
      </p:sp>
    </p:spTree>
    <p:extLst>
      <p:ext uri="{BB962C8B-B14F-4D97-AF65-F5344CB8AC3E}">
        <p14:creationId xmlns:p14="http://schemas.microsoft.com/office/powerpoint/2010/main" val="1070361676"/>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C412F-F294-BD75-6A87-032A6B801A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6DA3A7-9D72-6A74-E1DC-814E2142E057}"/>
              </a:ext>
            </a:extLst>
          </p:cNvPr>
          <p:cNvSpPr>
            <a:spLocks noGrp="1"/>
          </p:cNvSpPr>
          <p:nvPr>
            <p:ph type="title"/>
          </p:nvPr>
        </p:nvSpPr>
        <p:spPr/>
        <p:txBody>
          <a:bodyPr/>
          <a:lstStyle/>
          <a:p>
            <a:pPr algn="just"/>
            <a:r>
              <a:rPr lang="en-IN" b="1" i="0" dirty="0">
                <a:solidFill>
                  <a:srgbClr val="E00D50"/>
                </a:solidFill>
                <a:effectLst/>
                <a:latin typeface="Open Sans" panose="020B0606030504020204" pitchFamily="34" charset="0"/>
              </a:rPr>
              <a:t>Deleting from End of the list</a:t>
            </a:r>
          </a:p>
        </p:txBody>
      </p:sp>
      <p:sp>
        <p:nvSpPr>
          <p:cNvPr id="3" name="Content Placeholder 2">
            <a:extLst>
              <a:ext uri="{FF2B5EF4-FFF2-40B4-BE49-F238E27FC236}">
                <a16:creationId xmlns:a16="http://schemas.microsoft.com/office/drawing/2014/main" id="{FDAE77ED-0BC8-E899-B808-ADC9A17FA1F2}"/>
              </a:ext>
            </a:extLst>
          </p:cNvPr>
          <p:cNvSpPr>
            <a:spLocks noGrp="1"/>
          </p:cNvSpPr>
          <p:nvPr>
            <p:ph idx="1"/>
          </p:nvPr>
        </p:nvSpPr>
        <p:spPr/>
        <p:txBody>
          <a:bodyPr>
            <a:normAutofit fontScale="77500" lnSpcReduction="20000"/>
          </a:bodyPr>
          <a:lstStyle/>
          <a:p>
            <a:r>
              <a:rPr lang="en-IN" b="0" i="0" dirty="0">
                <a:solidFill>
                  <a:srgbClr val="333333"/>
                </a:solidFill>
                <a:effectLst/>
                <a:latin typeface="Open Sans" panose="020B0606030504020204" pitchFamily="34" charset="0"/>
              </a:rPr>
              <a:t>We can use the following steps to delete a node from end of the double linked list...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list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'List is Empty!!! Deletion is not possible'</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not Empty then, define a Node pointer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and initialize with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Check whether list has only one Node (</a:t>
            </a:r>
            <a:r>
              <a:rPr lang="en-IN" b="1" i="0" dirty="0">
                <a:solidFill>
                  <a:srgbClr val="333333"/>
                </a:solidFill>
                <a:effectLst/>
                <a:latin typeface="Open Sans" panose="020B0606030504020204" pitchFamily="34" charset="0"/>
              </a:rPr>
              <a:t>temp → previous</a:t>
            </a:r>
            <a:r>
              <a:rPr lang="en-IN" b="0" i="0" dirty="0">
                <a:solidFill>
                  <a:srgbClr val="333333"/>
                </a:solidFill>
                <a:effectLst/>
                <a:latin typeface="Open Sans" panose="020B0606030504020204" pitchFamily="34" charset="0"/>
              </a:rPr>
              <a:t> and </a:t>
            </a:r>
            <a:r>
              <a:rPr lang="en-IN" b="1" i="0" dirty="0">
                <a:solidFill>
                  <a:srgbClr val="333333"/>
                </a:solidFill>
                <a:effectLst/>
                <a:latin typeface="Open Sans" panose="020B0606030504020204" pitchFamily="34" charset="0"/>
              </a:rPr>
              <a:t>temp → next</a:t>
            </a:r>
            <a:r>
              <a:rPr lang="en-IN" b="0" i="0" dirty="0">
                <a:solidFill>
                  <a:srgbClr val="333333"/>
                </a:solidFill>
                <a:effectLst/>
                <a:latin typeface="Open Sans" panose="020B0606030504020204" pitchFamily="34" charset="0"/>
              </a:rPr>
              <a:t> both are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TRUE</a:t>
            </a:r>
            <a:r>
              <a:rPr lang="en-IN" b="0" i="0" dirty="0">
                <a:solidFill>
                  <a:srgbClr val="333333"/>
                </a:solidFill>
                <a:effectLst/>
                <a:latin typeface="Open Sans" panose="020B0606030504020204" pitchFamily="34" charset="0"/>
              </a:rPr>
              <a:t>, then assign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And terminate from the function. (Setting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list condition)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6 -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FALSE</a:t>
            </a:r>
            <a:r>
              <a:rPr lang="en-IN" b="0" i="0" dirty="0">
                <a:solidFill>
                  <a:srgbClr val="333333"/>
                </a:solidFill>
                <a:effectLst/>
                <a:latin typeface="Open Sans" panose="020B0606030504020204" pitchFamily="34" charset="0"/>
              </a:rPr>
              <a:t>, then keep moving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until it reaches to the last node in the list. (until </a:t>
            </a:r>
            <a:r>
              <a:rPr lang="en-IN" b="1" i="0" dirty="0">
                <a:solidFill>
                  <a:srgbClr val="333333"/>
                </a:solidFill>
                <a:effectLst/>
                <a:latin typeface="Open Sans" panose="020B0606030504020204" pitchFamily="34" charset="0"/>
              </a:rPr>
              <a:t>temp → next</a:t>
            </a:r>
            <a:r>
              <a:rPr lang="en-IN" b="0" i="0" dirty="0">
                <a:solidFill>
                  <a:srgbClr val="333333"/>
                </a:solidFill>
                <a:effectLst/>
                <a:latin typeface="Open Sans" panose="020B0606030504020204" pitchFamily="34" charset="0"/>
              </a:rPr>
              <a:t> is equal to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7 - </a:t>
            </a:r>
            <a:r>
              <a:rPr lang="en-IN" b="0" i="0" dirty="0">
                <a:solidFill>
                  <a:srgbClr val="333333"/>
                </a:solidFill>
                <a:effectLst/>
                <a:latin typeface="Open Sans" panose="020B0606030504020204" pitchFamily="34" charset="0"/>
              </a:rPr>
              <a:t>Assign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temp → previous → next</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a:t>
            </a:r>
          </a:p>
        </p:txBody>
      </p:sp>
    </p:spTree>
    <p:extLst>
      <p:ext uri="{BB962C8B-B14F-4D97-AF65-F5344CB8AC3E}">
        <p14:creationId xmlns:p14="http://schemas.microsoft.com/office/powerpoint/2010/main" val="2363416822"/>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993A3-50CD-C24D-990A-8A6BC854FE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192F94-CC8C-9265-E2CF-2E7B580D3660}"/>
              </a:ext>
            </a:extLst>
          </p:cNvPr>
          <p:cNvSpPr>
            <a:spLocks noGrp="1"/>
          </p:cNvSpPr>
          <p:nvPr>
            <p:ph type="title"/>
          </p:nvPr>
        </p:nvSpPr>
        <p:spPr/>
        <p:txBody>
          <a:bodyPr/>
          <a:lstStyle/>
          <a:p>
            <a:pPr algn="just"/>
            <a:r>
              <a:rPr lang="en-IN" b="1" i="0" dirty="0">
                <a:solidFill>
                  <a:srgbClr val="E00D50"/>
                </a:solidFill>
                <a:effectLst/>
                <a:latin typeface="Open Sans" panose="020B0606030504020204" pitchFamily="34" charset="0"/>
              </a:rPr>
              <a:t>Deleting a Specific Node from the list</a:t>
            </a:r>
          </a:p>
        </p:txBody>
      </p:sp>
      <p:sp>
        <p:nvSpPr>
          <p:cNvPr id="3" name="Content Placeholder 2">
            <a:extLst>
              <a:ext uri="{FF2B5EF4-FFF2-40B4-BE49-F238E27FC236}">
                <a16:creationId xmlns:a16="http://schemas.microsoft.com/office/drawing/2014/main" id="{612EC9B9-2624-1740-C57B-0F24FD8E7139}"/>
              </a:ext>
            </a:extLst>
          </p:cNvPr>
          <p:cNvSpPr>
            <a:spLocks noGrp="1"/>
          </p:cNvSpPr>
          <p:nvPr>
            <p:ph idx="1"/>
          </p:nvPr>
        </p:nvSpPr>
        <p:spPr/>
        <p:txBody>
          <a:bodyPr>
            <a:normAutofit fontScale="47500" lnSpcReduction="20000"/>
          </a:bodyPr>
          <a:lstStyle/>
          <a:p>
            <a:r>
              <a:rPr lang="en-IN" b="0" i="0" dirty="0">
                <a:solidFill>
                  <a:srgbClr val="333333"/>
                </a:solidFill>
                <a:effectLst/>
                <a:latin typeface="Open Sans" panose="020B0606030504020204" pitchFamily="34" charset="0"/>
              </a:rPr>
              <a:t>We can use the following steps to delete a specific node from the double linked list...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list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'List is Empty!!! Deletion is not possible'</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not Empty, then define a Node pointer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and initialize with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Keep moving the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until it reaches to the exact node to be deleted or to the last node.</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If it is reached to the last node, then display </a:t>
            </a:r>
            <a:r>
              <a:rPr lang="en-IN" b="1" i="0" dirty="0">
                <a:solidFill>
                  <a:srgbClr val="333333"/>
                </a:solidFill>
                <a:effectLst/>
                <a:latin typeface="Open Sans" panose="020B0606030504020204" pitchFamily="34" charset="0"/>
              </a:rPr>
              <a:t>'Given node not found in the list! Deletion not possible!!!'</a:t>
            </a:r>
            <a:r>
              <a:rPr lang="en-IN" b="0" i="0" dirty="0">
                <a:solidFill>
                  <a:srgbClr val="333333"/>
                </a:solidFill>
                <a:effectLst/>
                <a:latin typeface="Open Sans" panose="020B0606030504020204" pitchFamily="34" charset="0"/>
              </a:rPr>
              <a:t> and terminate the </a:t>
            </a:r>
            <a:r>
              <a:rPr lang="en-IN" b="0" i="0" dirty="0" err="1">
                <a:solidFill>
                  <a:srgbClr val="333333"/>
                </a:solidFill>
                <a:effectLst/>
                <a:latin typeface="Open Sans" panose="020B0606030504020204" pitchFamily="34" charset="0"/>
              </a:rPr>
              <a:t>fuction</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6 - </a:t>
            </a:r>
            <a:r>
              <a:rPr lang="en-IN" b="0" i="0" dirty="0">
                <a:solidFill>
                  <a:srgbClr val="333333"/>
                </a:solidFill>
                <a:effectLst/>
                <a:latin typeface="Open Sans" panose="020B0606030504020204" pitchFamily="34" charset="0"/>
              </a:rPr>
              <a:t>If it is reached to the exact node which we want to delete, then check whether list is having only one node or not</a:t>
            </a:r>
          </a:p>
          <a:p>
            <a:pPr>
              <a:buFont typeface="Arial" panose="020B0604020202020204" pitchFamily="34" charset="0"/>
              <a:buChar char="•"/>
            </a:pPr>
            <a:r>
              <a:rPr lang="en-IN" b="1" i="0" dirty="0">
                <a:solidFill>
                  <a:srgbClr val="162F59"/>
                </a:solidFill>
                <a:effectLst/>
                <a:latin typeface="Open Sans" panose="020B0606030504020204" pitchFamily="34" charset="0"/>
              </a:rPr>
              <a:t>Step 7 - </a:t>
            </a:r>
            <a:r>
              <a:rPr lang="en-IN" b="0" i="0" dirty="0">
                <a:solidFill>
                  <a:srgbClr val="333333"/>
                </a:solidFill>
                <a:effectLst/>
                <a:latin typeface="Open Sans" panose="020B0606030504020204" pitchFamily="34" charset="0"/>
              </a:rPr>
              <a:t>If list has only one node and that is the node which is to be deleted then set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free(temp)</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8 - </a:t>
            </a:r>
            <a:r>
              <a:rPr lang="en-IN" b="0" i="0" dirty="0">
                <a:solidFill>
                  <a:srgbClr val="333333"/>
                </a:solidFill>
                <a:effectLst/>
                <a:latin typeface="Open Sans" panose="020B0606030504020204" pitchFamily="34" charset="0"/>
              </a:rPr>
              <a:t>If list contains multiple nodes, then check whether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is the first node in the list (</a:t>
            </a:r>
            <a:r>
              <a:rPr lang="en-IN" b="1" i="0" dirty="0">
                <a:solidFill>
                  <a:srgbClr val="333333"/>
                </a:solidFill>
                <a:effectLst/>
                <a:latin typeface="Open Sans" panose="020B0606030504020204" pitchFamily="34" charset="0"/>
              </a:rPr>
              <a:t>temp == 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9 - </a:t>
            </a:r>
            <a:r>
              <a:rPr lang="en-IN" b="0" i="0" dirty="0">
                <a:solidFill>
                  <a:srgbClr val="333333"/>
                </a:solidFill>
                <a:effectLst/>
                <a:latin typeface="Open Sans" panose="020B0606030504020204" pitchFamily="34" charset="0"/>
              </a:rPr>
              <a:t>If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is the first node, then move the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to the next node (</a:t>
            </a:r>
            <a:r>
              <a:rPr lang="en-IN" b="1" i="0" dirty="0">
                <a:solidFill>
                  <a:srgbClr val="333333"/>
                </a:solidFill>
                <a:effectLst/>
                <a:latin typeface="Open Sans" panose="020B0606030504020204" pitchFamily="34" charset="0"/>
              </a:rPr>
              <a:t>head = head → next</a:t>
            </a:r>
            <a:r>
              <a:rPr lang="en-IN" b="0" i="0" dirty="0">
                <a:solidFill>
                  <a:srgbClr val="333333"/>
                </a:solidFill>
                <a:effectLst/>
                <a:latin typeface="Open Sans" panose="020B0606030504020204" pitchFamily="34" charset="0"/>
              </a:rPr>
              <a:t>), set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of </a:t>
            </a:r>
            <a:r>
              <a:rPr lang="en-IN" b="1" i="0" dirty="0">
                <a:solidFill>
                  <a:srgbClr val="333333"/>
                </a:solidFill>
                <a:effectLst/>
                <a:latin typeface="Open Sans" panose="020B0606030504020204" pitchFamily="34" charset="0"/>
              </a:rPr>
              <a:t>previous</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 → previous = NULL</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10 - </a:t>
            </a:r>
            <a:r>
              <a:rPr lang="en-IN" b="0" i="0" dirty="0">
                <a:solidFill>
                  <a:srgbClr val="333333"/>
                </a:solidFill>
                <a:effectLst/>
                <a:latin typeface="Open Sans" panose="020B0606030504020204" pitchFamily="34" charset="0"/>
              </a:rPr>
              <a:t>If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is not the first node, then check whether it is the last node in the list (</a:t>
            </a:r>
            <a:r>
              <a:rPr lang="en-IN" b="1" i="0" dirty="0">
                <a:solidFill>
                  <a:srgbClr val="333333"/>
                </a:solidFill>
                <a:effectLst/>
                <a:latin typeface="Open Sans" panose="020B0606030504020204" pitchFamily="34" charset="0"/>
              </a:rPr>
              <a:t>temp → next == 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11 - </a:t>
            </a:r>
            <a:r>
              <a:rPr lang="en-IN" b="0" i="0" dirty="0">
                <a:solidFill>
                  <a:srgbClr val="333333"/>
                </a:solidFill>
                <a:effectLst/>
                <a:latin typeface="Open Sans" panose="020B0606030504020204" pitchFamily="34" charset="0"/>
              </a:rPr>
              <a:t>If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is the last node then set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of </a:t>
            </a:r>
            <a:r>
              <a:rPr lang="en-IN" b="1" i="0" dirty="0">
                <a:solidFill>
                  <a:srgbClr val="333333"/>
                </a:solidFill>
                <a:effectLst/>
                <a:latin typeface="Open Sans" panose="020B0606030504020204" pitchFamily="34" charset="0"/>
              </a:rPr>
              <a:t>previous</a:t>
            </a:r>
            <a:r>
              <a:rPr lang="en-IN" b="0" i="0" dirty="0">
                <a:solidFill>
                  <a:srgbClr val="333333"/>
                </a:solidFill>
                <a:effectLst/>
                <a:latin typeface="Open Sans" panose="020B0606030504020204" pitchFamily="34" charset="0"/>
              </a:rPr>
              <a:t> of </a:t>
            </a:r>
            <a:r>
              <a:rPr lang="en-IN" b="1" i="0" dirty="0">
                <a:solidFill>
                  <a:srgbClr val="333333"/>
                </a:solidFill>
                <a:effectLst/>
                <a:latin typeface="Open Sans" panose="020B0606030504020204" pitchFamily="34" charset="0"/>
              </a:rPr>
              <a:t>next</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temp → previous → next = NULL</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free(temp</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12 - </a:t>
            </a:r>
            <a:r>
              <a:rPr lang="en-IN" b="0" i="0" dirty="0">
                <a:solidFill>
                  <a:srgbClr val="333333"/>
                </a:solidFill>
                <a:effectLst/>
                <a:latin typeface="Open Sans" panose="020B0606030504020204" pitchFamily="34" charset="0"/>
              </a:rPr>
              <a:t>If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is not the first node and not the last node, then set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of </a:t>
            </a:r>
            <a:r>
              <a:rPr lang="en-IN" b="1" i="0" dirty="0">
                <a:solidFill>
                  <a:srgbClr val="333333"/>
                </a:solidFill>
                <a:effectLst/>
                <a:latin typeface="Open Sans" panose="020B0606030504020204" pitchFamily="34" charset="0"/>
              </a:rPr>
              <a:t>previous</a:t>
            </a:r>
            <a:r>
              <a:rPr lang="en-IN" b="0" i="0" dirty="0">
                <a:solidFill>
                  <a:srgbClr val="333333"/>
                </a:solidFill>
                <a:effectLst/>
                <a:latin typeface="Open Sans" panose="020B0606030504020204" pitchFamily="34" charset="0"/>
              </a:rPr>
              <a:t> of </a:t>
            </a:r>
            <a:r>
              <a:rPr lang="en-IN" b="1" i="0" dirty="0">
                <a:solidFill>
                  <a:srgbClr val="333333"/>
                </a:solidFill>
                <a:effectLst/>
                <a:latin typeface="Open Sans" panose="020B0606030504020204" pitchFamily="34" charset="0"/>
              </a:rPr>
              <a:t>next</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of </a:t>
            </a:r>
            <a:r>
              <a:rPr lang="en-IN" b="1" i="0" dirty="0">
                <a:solidFill>
                  <a:srgbClr val="333333"/>
                </a:solidFill>
                <a:effectLst/>
                <a:latin typeface="Open Sans" panose="020B0606030504020204" pitchFamily="34" charset="0"/>
              </a:rPr>
              <a:t>next</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temp → previous → next = temp → next</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of </a:t>
            </a:r>
            <a:r>
              <a:rPr lang="en-IN" b="1" i="0" dirty="0">
                <a:solidFill>
                  <a:srgbClr val="333333"/>
                </a:solidFill>
                <a:effectLst/>
                <a:latin typeface="Open Sans" panose="020B0606030504020204" pitchFamily="34" charset="0"/>
              </a:rPr>
              <a:t>next</a:t>
            </a:r>
            <a:r>
              <a:rPr lang="en-IN" b="0" i="0" dirty="0">
                <a:solidFill>
                  <a:srgbClr val="333333"/>
                </a:solidFill>
                <a:effectLst/>
                <a:latin typeface="Open Sans" panose="020B0606030504020204" pitchFamily="34" charset="0"/>
              </a:rPr>
              <a:t> of </a:t>
            </a:r>
            <a:r>
              <a:rPr lang="en-IN" b="1" i="0" dirty="0">
                <a:solidFill>
                  <a:srgbClr val="333333"/>
                </a:solidFill>
                <a:effectLst/>
                <a:latin typeface="Open Sans" panose="020B0606030504020204" pitchFamily="34" charset="0"/>
              </a:rPr>
              <a:t>previous</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of </a:t>
            </a:r>
            <a:r>
              <a:rPr lang="en-IN" b="1" i="0" dirty="0">
                <a:solidFill>
                  <a:srgbClr val="333333"/>
                </a:solidFill>
                <a:effectLst/>
                <a:latin typeface="Open Sans" panose="020B0606030504020204" pitchFamily="34" charset="0"/>
              </a:rPr>
              <a:t>previous</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temp → next → previous = temp → previous</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free(temp)</a:t>
            </a:r>
            <a:r>
              <a:rPr lang="en-IN" b="0" i="0" dirty="0">
                <a:solidFill>
                  <a:srgbClr val="333333"/>
                </a:solidFill>
                <a:effectLst/>
                <a:latin typeface="Open Sans" panose="020B0606030504020204" pitchFamily="34" charset="0"/>
              </a:rPr>
              <a:t>).</a:t>
            </a:r>
          </a:p>
          <a:p>
            <a:endParaRPr lang="en-US" dirty="0"/>
          </a:p>
        </p:txBody>
      </p:sp>
    </p:spTree>
    <p:extLst>
      <p:ext uri="{BB962C8B-B14F-4D97-AF65-F5344CB8AC3E}">
        <p14:creationId xmlns:p14="http://schemas.microsoft.com/office/powerpoint/2010/main" val="253782156"/>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5ABB6-B928-6BA2-7770-1A14D7F22E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B75CBF-9488-31A4-40DA-D07C6D4A6B38}"/>
              </a:ext>
            </a:extLst>
          </p:cNvPr>
          <p:cNvSpPr>
            <a:spLocks noGrp="1"/>
          </p:cNvSpPr>
          <p:nvPr>
            <p:ph type="title"/>
          </p:nvPr>
        </p:nvSpPr>
        <p:spPr/>
        <p:txBody>
          <a:bodyPr/>
          <a:lstStyle/>
          <a:p>
            <a:pPr algn="just"/>
            <a:r>
              <a:rPr lang="en-IN" b="1" i="0" dirty="0">
                <a:solidFill>
                  <a:srgbClr val="E00D50"/>
                </a:solidFill>
                <a:effectLst/>
                <a:latin typeface="Open Sans" panose="020B0606030504020204" pitchFamily="34" charset="0"/>
              </a:rPr>
              <a:t>Displaying a Double Linked List</a:t>
            </a:r>
          </a:p>
        </p:txBody>
      </p:sp>
      <p:sp>
        <p:nvSpPr>
          <p:cNvPr id="3" name="Content Placeholder 2">
            <a:extLst>
              <a:ext uri="{FF2B5EF4-FFF2-40B4-BE49-F238E27FC236}">
                <a16:creationId xmlns:a16="http://schemas.microsoft.com/office/drawing/2014/main" id="{E6CC9C18-F59A-7B74-BDF3-6AD68BC8BA80}"/>
              </a:ext>
            </a:extLst>
          </p:cNvPr>
          <p:cNvSpPr>
            <a:spLocks noGrp="1"/>
          </p:cNvSpPr>
          <p:nvPr>
            <p:ph idx="1"/>
          </p:nvPr>
        </p:nvSpPr>
        <p:spPr/>
        <p:txBody>
          <a:bodyPr>
            <a:normAutofit fontScale="85000" lnSpcReduction="20000"/>
          </a:bodyPr>
          <a:lstStyle/>
          <a:p>
            <a:r>
              <a:rPr lang="en-IN" b="0" i="0" dirty="0">
                <a:solidFill>
                  <a:srgbClr val="333333"/>
                </a:solidFill>
                <a:effectLst/>
                <a:latin typeface="Open Sans" panose="020B0606030504020204" pitchFamily="34" charset="0"/>
              </a:rPr>
              <a:t>We can use the following steps to display the elements of a double linked list...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list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'List is Empty!!!'</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not Empty, then define a Node pointer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and initialize with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Display </a:t>
            </a:r>
            <a:r>
              <a:rPr lang="en-IN" b="1" i="0" dirty="0">
                <a:solidFill>
                  <a:srgbClr val="333333"/>
                </a:solidFill>
                <a:effectLst/>
                <a:latin typeface="Open Sans" panose="020B0606030504020204" pitchFamily="34" charset="0"/>
              </a:rPr>
              <a:t>'NULL &lt;--- '</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Keep displaying </a:t>
            </a:r>
            <a:r>
              <a:rPr lang="en-IN" b="1" i="0" dirty="0">
                <a:solidFill>
                  <a:srgbClr val="333333"/>
                </a:solidFill>
                <a:effectLst/>
                <a:latin typeface="Open Sans" panose="020B0606030504020204" pitchFamily="34" charset="0"/>
              </a:rPr>
              <a:t>temp → data</a:t>
            </a:r>
            <a:r>
              <a:rPr lang="en-IN" b="0" i="0" dirty="0">
                <a:solidFill>
                  <a:srgbClr val="333333"/>
                </a:solidFill>
                <a:effectLst/>
                <a:latin typeface="Open Sans" panose="020B0606030504020204" pitchFamily="34" charset="0"/>
              </a:rPr>
              <a:t> with an arrow (</a:t>
            </a:r>
            <a:r>
              <a:rPr lang="en-IN" b="1" i="0" dirty="0">
                <a:solidFill>
                  <a:srgbClr val="333333"/>
                </a:solidFill>
                <a:effectLst/>
                <a:latin typeface="Open Sans" panose="020B0606030504020204" pitchFamily="34" charset="0"/>
              </a:rPr>
              <a:t>&lt;===&gt;</a:t>
            </a:r>
            <a:r>
              <a:rPr lang="en-IN" b="0" i="0" dirty="0">
                <a:solidFill>
                  <a:srgbClr val="333333"/>
                </a:solidFill>
                <a:effectLst/>
                <a:latin typeface="Open Sans" panose="020B0606030504020204" pitchFamily="34" charset="0"/>
              </a:rPr>
              <a:t>) until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reaches to the last node</a:t>
            </a:r>
          </a:p>
          <a:p>
            <a:pPr>
              <a:buFont typeface="Arial" panose="020B0604020202020204" pitchFamily="34" charset="0"/>
              <a:buChar char="•"/>
            </a:pPr>
            <a:r>
              <a:rPr lang="en-IN" b="1" i="0" dirty="0">
                <a:solidFill>
                  <a:srgbClr val="162F59"/>
                </a:solidFill>
                <a:effectLst/>
                <a:latin typeface="Open Sans" panose="020B0606030504020204" pitchFamily="34" charset="0"/>
              </a:rPr>
              <a:t>Step 6 - </a:t>
            </a:r>
            <a:r>
              <a:rPr lang="en-IN" b="0" i="0" dirty="0">
                <a:solidFill>
                  <a:srgbClr val="333333"/>
                </a:solidFill>
                <a:effectLst/>
                <a:latin typeface="Open Sans" panose="020B0606030504020204" pitchFamily="34" charset="0"/>
              </a:rPr>
              <a:t>Finally, display </a:t>
            </a:r>
            <a:r>
              <a:rPr lang="en-IN" b="1" i="0" dirty="0">
                <a:solidFill>
                  <a:srgbClr val="333333"/>
                </a:solidFill>
                <a:effectLst/>
                <a:latin typeface="Open Sans" panose="020B0606030504020204" pitchFamily="34" charset="0"/>
              </a:rPr>
              <a:t>temp → data</a:t>
            </a:r>
            <a:r>
              <a:rPr lang="en-IN" b="0" i="0" dirty="0">
                <a:solidFill>
                  <a:srgbClr val="333333"/>
                </a:solidFill>
                <a:effectLst/>
                <a:latin typeface="Open Sans" panose="020B0606030504020204" pitchFamily="34" charset="0"/>
              </a:rPr>
              <a:t> with arrow pointing to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temp → data ---&gt; NULL</a:t>
            </a:r>
            <a:r>
              <a:rPr lang="en-IN" b="0" i="0" dirty="0">
                <a:solidFill>
                  <a:srgbClr val="333333"/>
                </a:solidFill>
                <a:effectLst/>
                <a:latin typeface="Open Sans" panose="020B0606030504020204" pitchFamily="34" charset="0"/>
              </a:rPr>
              <a:t>).</a:t>
            </a:r>
          </a:p>
          <a:p>
            <a:endParaRPr lang="en-US" dirty="0"/>
          </a:p>
        </p:txBody>
      </p:sp>
    </p:spTree>
    <p:extLst>
      <p:ext uri="{BB962C8B-B14F-4D97-AF65-F5344CB8AC3E}">
        <p14:creationId xmlns:p14="http://schemas.microsoft.com/office/powerpoint/2010/main" val="3337917071"/>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3DD02-94AB-2BEA-E9C7-0A79CD798859}"/>
              </a:ext>
            </a:extLst>
          </p:cNvPr>
          <p:cNvSpPr>
            <a:spLocks noGrp="1"/>
          </p:cNvSpPr>
          <p:nvPr>
            <p:ph type="title"/>
          </p:nvPr>
        </p:nvSpPr>
        <p:spPr/>
        <p:txBody>
          <a:bodyPr>
            <a:normAutofit/>
          </a:bodyPr>
          <a:lstStyle/>
          <a:p>
            <a:r>
              <a:rPr lang="en-IN" b="1" i="0" dirty="0">
                <a:solidFill>
                  <a:srgbClr val="333333"/>
                </a:solidFill>
                <a:effectLst/>
                <a:latin typeface="Comfortaa"/>
              </a:rPr>
              <a:t>Arrays</a:t>
            </a:r>
            <a:endParaRPr lang="en-US" dirty="0"/>
          </a:p>
        </p:txBody>
      </p:sp>
      <p:sp>
        <p:nvSpPr>
          <p:cNvPr id="3" name="Content Placeholder 2">
            <a:extLst>
              <a:ext uri="{FF2B5EF4-FFF2-40B4-BE49-F238E27FC236}">
                <a16:creationId xmlns:a16="http://schemas.microsoft.com/office/drawing/2014/main" id="{848BCF1C-87D9-C35B-10F5-243E5D7F1784}"/>
              </a:ext>
            </a:extLst>
          </p:cNvPr>
          <p:cNvSpPr>
            <a:spLocks noGrp="1"/>
          </p:cNvSpPr>
          <p:nvPr>
            <p:ph idx="1"/>
          </p:nvPr>
        </p:nvSpPr>
        <p:spPr/>
        <p:txBody>
          <a:bodyPr/>
          <a:lstStyle/>
          <a:p>
            <a:r>
              <a:rPr lang="en-IN" b="1" i="0" dirty="0">
                <a:solidFill>
                  <a:srgbClr val="333333"/>
                </a:solidFill>
                <a:effectLst/>
                <a:latin typeface="Open Sans" panose="020B0606030504020204" pitchFamily="34" charset="0"/>
              </a:rPr>
              <a:t>An array is a variable which can store multiple values of same data type at a time.</a:t>
            </a:r>
          </a:p>
          <a:p>
            <a:r>
              <a:rPr lang="en-IN" b="1" i="0" dirty="0">
                <a:solidFill>
                  <a:srgbClr val="333333"/>
                </a:solidFill>
                <a:effectLst/>
                <a:latin typeface="Open Sans" panose="020B0606030504020204" pitchFamily="34" charset="0"/>
              </a:rPr>
              <a:t>"Collection of similar data items stored in continuous memory locations with single name".</a:t>
            </a:r>
          </a:p>
          <a:p>
            <a:br>
              <a:rPr lang="en-IN" dirty="0"/>
            </a:br>
            <a:endParaRPr lang="en-US" dirty="0"/>
          </a:p>
        </p:txBody>
      </p:sp>
      <p:pic>
        <p:nvPicPr>
          <p:cNvPr id="12290" name="Picture 2" descr="memory allocation of variables">
            <a:extLst>
              <a:ext uri="{FF2B5EF4-FFF2-40B4-BE49-F238E27FC236}">
                <a16:creationId xmlns:a16="http://schemas.microsoft.com/office/drawing/2014/main" id="{02879029-0429-51A7-A0F3-76A905351D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1701" y="3532782"/>
            <a:ext cx="7342752" cy="33252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465366"/>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CFBC4-EC93-B1BF-7C3A-6D5E406884E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35F4640-0292-AFFE-7937-ED4385324618}"/>
              </a:ext>
            </a:extLst>
          </p:cNvPr>
          <p:cNvSpPr>
            <a:spLocks noGrp="1"/>
          </p:cNvSpPr>
          <p:nvPr>
            <p:ph idx="1"/>
          </p:nvPr>
        </p:nvSpPr>
        <p:spPr/>
        <p:txBody>
          <a:bodyPr/>
          <a:lstStyle/>
          <a:p>
            <a:endParaRPr lang="en-US"/>
          </a:p>
        </p:txBody>
      </p:sp>
      <p:pic>
        <p:nvPicPr>
          <p:cNvPr id="13314" name="Picture 2">
            <a:extLst>
              <a:ext uri="{FF2B5EF4-FFF2-40B4-BE49-F238E27FC236}">
                <a16:creationId xmlns:a16="http://schemas.microsoft.com/office/drawing/2014/main" id="{09033E9D-7509-E897-0823-4292FB9BBA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5738"/>
            <a:ext cx="7061200" cy="3009900"/>
          </a:xfrm>
          <a:prstGeom prst="rect">
            <a:avLst/>
          </a:prstGeom>
          <a:noFill/>
          <a:extLst>
            <a:ext uri="{909E8E84-426E-40DD-AFC4-6F175D3DCCD1}">
              <a14:hiddenFill xmlns:a14="http://schemas.microsoft.com/office/drawing/2010/main">
                <a:solidFill>
                  <a:srgbClr val="FFFFFF"/>
                </a:solidFill>
              </a14:hiddenFill>
            </a:ext>
          </a:extLst>
        </p:spPr>
      </p:pic>
      <p:pic>
        <p:nvPicPr>
          <p:cNvPr id="13316" name="Picture 4">
            <a:extLst>
              <a:ext uri="{FF2B5EF4-FFF2-40B4-BE49-F238E27FC236}">
                <a16:creationId xmlns:a16="http://schemas.microsoft.com/office/drawing/2014/main" id="{A72DB091-85D5-CD81-132D-390719EE6D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30800" y="3662363"/>
            <a:ext cx="7061200" cy="3009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0039441"/>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409E3-CEDD-73D7-73AF-FFB1745C6DEE}"/>
              </a:ext>
            </a:extLst>
          </p:cNvPr>
          <p:cNvSpPr>
            <a:spLocks noGrp="1"/>
          </p:cNvSpPr>
          <p:nvPr>
            <p:ph type="title"/>
          </p:nvPr>
        </p:nvSpPr>
        <p:spPr/>
        <p:txBody>
          <a:bodyPr>
            <a:normAutofit/>
          </a:bodyPr>
          <a:lstStyle/>
          <a:p>
            <a:r>
              <a:rPr lang="en-IN" b="1" i="0" dirty="0">
                <a:solidFill>
                  <a:srgbClr val="333333"/>
                </a:solidFill>
                <a:effectLst/>
                <a:latin typeface="Comfortaa"/>
              </a:rPr>
              <a:t>Types of Arrays</a:t>
            </a:r>
            <a:endParaRPr lang="en-US" dirty="0"/>
          </a:p>
        </p:txBody>
      </p:sp>
      <p:sp>
        <p:nvSpPr>
          <p:cNvPr id="3" name="Content Placeholder 2">
            <a:extLst>
              <a:ext uri="{FF2B5EF4-FFF2-40B4-BE49-F238E27FC236}">
                <a16:creationId xmlns:a16="http://schemas.microsoft.com/office/drawing/2014/main" id="{FD714255-1403-6232-7234-B563E0354929}"/>
              </a:ext>
            </a:extLst>
          </p:cNvPr>
          <p:cNvSpPr>
            <a:spLocks noGrp="1"/>
          </p:cNvSpPr>
          <p:nvPr>
            <p:ph idx="1"/>
          </p:nvPr>
        </p:nvSpPr>
        <p:spPr/>
        <p:txBody>
          <a:bodyPr>
            <a:normAutofit fontScale="55000" lnSpcReduction="20000"/>
          </a:bodyPr>
          <a:lstStyle/>
          <a:p>
            <a:pPr algn="just"/>
            <a:r>
              <a:rPr lang="en-IN" b="1" i="0" dirty="0">
                <a:solidFill>
                  <a:srgbClr val="E00D50"/>
                </a:solidFill>
                <a:effectLst/>
                <a:latin typeface="Open Sans" panose="020B0606030504020204" pitchFamily="34" charset="0"/>
              </a:rPr>
              <a:t>Single Dimensional Array</a:t>
            </a:r>
          </a:p>
          <a:p>
            <a:pPr algn="just"/>
            <a:r>
              <a:rPr lang="en-IN" b="1" i="0" dirty="0">
                <a:solidFill>
                  <a:srgbClr val="162F59"/>
                </a:solidFill>
                <a:effectLst/>
                <a:latin typeface="Open Sans" panose="020B0606030504020204" pitchFamily="34" charset="0"/>
              </a:rPr>
              <a:t>Declaration of Single Dimensional Array</a:t>
            </a:r>
          </a:p>
          <a:p>
            <a:r>
              <a:rPr lang="en-IN" b="1" dirty="0">
                <a:effectLst/>
                <a:latin typeface="Open Sans" panose="020B0606030504020204" pitchFamily="34" charset="0"/>
              </a:rPr>
              <a:t>datatype </a:t>
            </a:r>
            <a:r>
              <a:rPr lang="en-IN" b="1" dirty="0" err="1">
                <a:effectLst/>
                <a:latin typeface="Open Sans" panose="020B0606030504020204" pitchFamily="34" charset="0"/>
              </a:rPr>
              <a:t>arrayName</a:t>
            </a:r>
            <a:r>
              <a:rPr lang="en-IN" b="1" dirty="0">
                <a:effectLst/>
                <a:latin typeface="Open Sans" panose="020B0606030504020204" pitchFamily="34" charset="0"/>
              </a:rPr>
              <a:t> [ size ] ;</a:t>
            </a:r>
            <a:endParaRPr lang="en-IN" b="1" i="0" dirty="0">
              <a:solidFill>
                <a:srgbClr val="162F59"/>
              </a:solidFill>
              <a:effectLst/>
              <a:latin typeface="Open Sans" panose="020B0606030504020204" pitchFamily="34" charset="0"/>
            </a:endParaRPr>
          </a:p>
          <a:p>
            <a:pPr algn="just"/>
            <a:r>
              <a:rPr lang="en-IN" b="1" i="0" dirty="0">
                <a:solidFill>
                  <a:srgbClr val="162F59"/>
                </a:solidFill>
                <a:effectLst/>
                <a:latin typeface="Open Sans" panose="020B0606030504020204" pitchFamily="34" charset="0"/>
              </a:rPr>
              <a:t>Initialization of Single Dimensional Array</a:t>
            </a:r>
          </a:p>
          <a:p>
            <a:r>
              <a:rPr lang="en-IN" b="1" dirty="0">
                <a:effectLst/>
                <a:latin typeface="Open Sans" panose="020B0606030504020204" pitchFamily="34" charset="0"/>
              </a:rPr>
              <a:t>datatype </a:t>
            </a:r>
            <a:r>
              <a:rPr lang="en-IN" b="1" dirty="0" err="1">
                <a:effectLst/>
                <a:latin typeface="Open Sans" panose="020B0606030504020204" pitchFamily="34" charset="0"/>
              </a:rPr>
              <a:t>arrayName</a:t>
            </a:r>
            <a:r>
              <a:rPr lang="en-IN" b="1" dirty="0">
                <a:effectLst/>
                <a:latin typeface="Open Sans" panose="020B0606030504020204" pitchFamily="34" charset="0"/>
              </a:rPr>
              <a:t> [ size ] = {value1, value2, ...} ;</a:t>
            </a:r>
          </a:p>
          <a:p>
            <a:r>
              <a:rPr lang="en-IN" b="1" dirty="0">
                <a:effectLst/>
                <a:latin typeface="Open Sans" panose="020B0606030504020204" pitchFamily="34" charset="0"/>
              </a:rPr>
              <a:t>datatype </a:t>
            </a:r>
            <a:r>
              <a:rPr lang="en-IN" b="1" dirty="0" err="1">
                <a:effectLst/>
                <a:latin typeface="Open Sans" panose="020B0606030504020204" pitchFamily="34" charset="0"/>
              </a:rPr>
              <a:t>arrayName</a:t>
            </a:r>
            <a:r>
              <a:rPr lang="en-IN" b="1" dirty="0">
                <a:effectLst/>
                <a:latin typeface="Open Sans" panose="020B0606030504020204" pitchFamily="34" charset="0"/>
              </a:rPr>
              <a:t> [ ] = {value1, value2, ...} ;</a:t>
            </a:r>
          </a:p>
          <a:p>
            <a:pPr algn="just"/>
            <a:r>
              <a:rPr lang="en-IN" b="1" i="0" dirty="0">
                <a:solidFill>
                  <a:srgbClr val="162F59"/>
                </a:solidFill>
                <a:effectLst/>
                <a:latin typeface="Open Sans" panose="020B0606030504020204" pitchFamily="34" charset="0"/>
              </a:rPr>
              <a:t>Accessing Elements of Single Dimensional Array</a:t>
            </a:r>
          </a:p>
          <a:p>
            <a:r>
              <a:rPr lang="en-IN" b="1" dirty="0" err="1">
                <a:effectLst/>
                <a:latin typeface="Open Sans" panose="020B0606030504020204" pitchFamily="34" charset="0"/>
              </a:rPr>
              <a:t>arrayName</a:t>
            </a:r>
            <a:r>
              <a:rPr lang="en-IN" b="1" dirty="0">
                <a:effectLst/>
                <a:latin typeface="Open Sans" panose="020B0606030504020204" pitchFamily="34" charset="0"/>
              </a:rPr>
              <a:t> [ </a:t>
            </a:r>
            <a:r>
              <a:rPr lang="en-IN" b="1" dirty="0" err="1">
                <a:effectLst/>
                <a:latin typeface="Open Sans" panose="020B0606030504020204" pitchFamily="34" charset="0"/>
              </a:rPr>
              <a:t>indexValue</a:t>
            </a:r>
            <a:r>
              <a:rPr lang="en-IN" b="1" dirty="0">
                <a:effectLst/>
                <a:latin typeface="Open Sans" panose="020B0606030504020204" pitchFamily="34" charset="0"/>
              </a:rPr>
              <a:t> ]</a:t>
            </a:r>
          </a:p>
          <a:p>
            <a:pPr algn="just"/>
            <a:r>
              <a:rPr lang="en-IN" b="1" i="0" dirty="0">
                <a:solidFill>
                  <a:srgbClr val="E00D50"/>
                </a:solidFill>
                <a:effectLst/>
                <a:latin typeface="Open Sans" panose="020B0606030504020204" pitchFamily="34" charset="0"/>
              </a:rPr>
              <a:t>Multi Dimensional Array</a:t>
            </a:r>
          </a:p>
          <a:p>
            <a:pPr algn="just"/>
            <a:r>
              <a:rPr lang="en-IN" b="1" i="0" dirty="0">
                <a:solidFill>
                  <a:srgbClr val="162F59"/>
                </a:solidFill>
                <a:effectLst/>
                <a:latin typeface="Open Sans" panose="020B0606030504020204" pitchFamily="34" charset="0"/>
              </a:rPr>
              <a:t>Declaration of Two Dimensional Array</a:t>
            </a:r>
          </a:p>
          <a:p>
            <a:r>
              <a:rPr lang="en-IN" b="1" dirty="0">
                <a:effectLst/>
                <a:latin typeface="Open Sans" panose="020B0606030504020204" pitchFamily="34" charset="0"/>
              </a:rPr>
              <a:t>datatype </a:t>
            </a:r>
            <a:r>
              <a:rPr lang="en-IN" b="1" dirty="0" err="1">
                <a:effectLst/>
                <a:latin typeface="Open Sans" panose="020B0606030504020204" pitchFamily="34" charset="0"/>
              </a:rPr>
              <a:t>arrayName</a:t>
            </a:r>
            <a:r>
              <a:rPr lang="en-IN" b="1" dirty="0">
                <a:effectLst/>
                <a:latin typeface="Open Sans" panose="020B0606030504020204" pitchFamily="34" charset="0"/>
              </a:rPr>
              <a:t> [ </a:t>
            </a:r>
            <a:r>
              <a:rPr lang="en-IN" b="1" dirty="0" err="1">
                <a:effectLst/>
                <a:latin typeface="Open Sans" panose="020B0606030504020204" pitchFamily="34" charset="0"/>
              </a:rPr>
              <a:t>rowSize</a:t>
            </a:r>
            <a:r>
              <a:rPr lang="en-IN" b="1" dirty="0">
                <a:effectLst/>
                <a:latin typeface="Open Sans" panose="020B0606030504020204" pitchFamily="34" charset="0"/>
              </a:rPr>
              <a:t> ] [ </a:t>
            </a:r>
            <a:r>
              <a:rPr lang="en-IN" b="1" dirty="0" err="1">
                <a:effectLst/>
                <a:latin typeface="Open Sans" panose="020B0606030504020204" pitchFamily="34" charset="0"/>
              </a:rPr>
              <a:t>columnSize</a:t>
            </a:r>
            <a:r>
              <a:rPr lang="en-IN" b="1" dirty="0">
                <a:effectLst/>
                <a:latin typeface="Open Sans" panose="020B0606030504020204" pitchFamily="34" charset="0"/>
              </a:rPr>
              <a:t> ] ;</a:t>
            </a:r>
          </a:p>
          <a:p>
            <a:pPr algn="just"/>
            <a:r>
              <a:rPr lang="en-IN" b="1" i="0" dirty="0">
                <a:solidFill>
                  <a:srgbClr val="162F59"/>
                </a:solidFill>
                <a:effectLst/>
                <a:latin typeface="Open Sans" panose="020B0606030504020204" pitchFamily="34" charset="0"/>
              </a:rPr>
              <a:t>Initialization of Two Dimensional Array</a:t>
            </a:r>
          </a:p>
          <a:p>
            <a:r>
              <a:rPr lang="en-IN" dirty="0">
                <a:effectLst/>
                <a:latin typeface="Open Sans" panose="020B0606030504020204" pitchFamily="34" charset="0"/>
              </a:rPr>
              <a:t>datatype </a:t>
            </a:r>
            <a:r>
              <a:rPr lang="en-IN" dirty="0" err="1">
                <a:effectLst/>
                <a:latin typeface="Open Sans" panose="020B0606030504020204" pitchFamily="34" charset="0"/>
              </a:rPr>
              <a:t>arrayName</a:t>
            </a:r>
            <a:r>
              <a:rPr lang="en-IN" dirty="0">
                <a:effectLst/>
                <a:latin typeface="Open Sans" panose="020B0606030504020204" pitchFamily="34" charset="0"/>
              </a:rPr>
              <a:t> [rows][</a:t>
            </a:r>
            <a:r>
              <a:rPr lang="en-IN" dirty="0" err="1">
                <a:effectLst/>
                <a:latin typeface="Open Sans" panose="020B0606030504020204" pitchFamily="34" charset="0"/>
              </a:rPr>
              <a:t>colmns</a:t>
            </a:r>
            <a:r>
              <a:rPr lang="en-IN" dirty="0">
                <a:effectLst/>
                <a:latin typeface="Open Sans" panose="020B0606030504020204" pitchFamily="34" charset="0"/>
              </a:rPr>
              <a:t>] = {{r1c1value, r1c2value, ...},{r2c1, r2c2,...}...} ;</a:t>
            </a:r>
          </a:p>
          <a:p>
            <a:pPr algn="just"/>
            <a:r>
              <a:rPr lang="en-IN" b="1" i="0" dirty="0">
                <a:solidFill>
                  <a:srgbClr val="162F59"/>
                </a:solidFill>
                <a:effectLst/>
                <a:latin typeface="Open Sans" panose="020B0606030504020204" pitchFamily="34" charset="0"/>
              </a:rPr>
              <a:t>Accessing Individual Elements of Two Dimensional Array</a:t>
            </a:r>
          </a:p>
          <a:p>
            <a:r>
              <a:rPr lang="en-IN" b="1" dirty="0" err="1">
                <a:effectLst/>
                <a:latin typeface="Open Sans" panose="020B0606030504020204" pitchFamily="34" charset="0"/>
              </a:rPr>
              <a:t>arrayName</a:t>
            </a:r>
            <a:r>
              <a:rPr lang="en-IN" b="1" dirty="0">
                <a:effectLst/>
                <a:latin typeface="Open Sans" panose="020B0606030504020204" pitchFamily="34" charset="0"/>
              </a:rPr>
              <a:t> [ </a:t>
            </a:r>
            <a:r>
              <a:rPr lang="en-IN" b="1" dirty="0" err="1">
                <a:effectLst/>
                <a:latin typeface="Open Sans" panose="020B0606030504020204" pitchFamily="34" charset="0"/>
              </a:rPr>
              <a:t>rowIndex</a:t>
            </a:r>
            <a:r>
              <a:rPr lang="en-IN" b="1" dirty="0">
                <a:effectLst/>
                <a:latin typeface="Open Sans" panose="020B0606030504020204" pitchFamily="34" charset="0"/>
              </a:rPr>
              <a:t> ] [ </a:t>
            </a:r>
            <a:r>
              <a:rPr lang="en-IN" b="1" dirty="0" err="1">
                <a:effectLst/>
                <a:latin typeface="Open Sans" panose="020B0606030504020204" pitchFamily="34" charset="0"/>
              </a:rPr>
              <a:t>columnIndex</a:t>
            </a:r>
            <a:r>
              <a:rPr lang="en-IN" b="1" dirty="0">
                <a:effectLst/>
                <a:latin typeface="Open Sans" panose="020B0606030504020204" pitchFamily="34" charset="0"/>
              </a:rPr>
              <a:t> ]</a:t>
            </a:r>
          </a:p>
        </p:txBody>
      </p:sp>
    </p:spTree>
    <p:extLst>
      <p:ext uri="{BB962C8B-B14F-4D97-AF65-F5344CB8AC3E}">
        <p14:creationId xmlns:p14="http://schemas.microsoft.com/office/powerpoint/2010/main" val="403555421"/>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8C388-00C1-B3A9-26A6-CA4112F9AF37}"/>
              </a:ext>
            </a:extLst>
          </p:cNvPr>
          <p:cNvSpPr>
            <a:spLocks noGrp="1"/>
          </p:cNvSpPr>
          <p:nvPr>
            <p:ph type="title"/>
          </p:nvPr>
        </p:nvSpPr>
        <p:spPr/>
        <p:txBody>
          <a:bodyPr>
            <a:normAutofit/>
          </a:bodyPr>
          <a:lstStyle/>
          <a:p>
            <a:r>
              <a:rPr lang="en-IN" b="1" i="0" dirty="0">
                <a:solidFill>
                  <a:srgbClr val="333333"/>
                </a:solidFill>
                <a:effectLst/>
                <a:latin typeface="Comfortaa"/>
              </a:rPr>
              <a:t>Sparse Matrix</a:t>
            </a:r>
            <a:endParaRPr lang="en-US" dirty="0"/>
          </a:p>
        </p:txBody>
      </p:sp>
      <p:sp>
        <p:nvSpPr>
          <p:cNvPr id="3" name="Content Placeholder 2">
            <a:extLst>
              <a:ext uri="{FF2B5EF4-FFF2-40B4-BE49-F238E27FC236}">
                <a16:creationId xmlns:a16="http://schemas.microsoft.com/office/drawing/2014/main" id="{8E440187-D547-E4E5-6E0B-E4F115ECD55F}"/>
              </a:ext>
            </a:extLst>
          </p:cNvPr>
          <p:cNvSpPr>
            <a:spLocks noGrp="1"/>
          </p:cNvSpPr>
          <p:nvPr>
            <p:ph idx="1"/>
          </p:nvPr>
        </p:nvSpPr>
        <p:spPr/>
        <p:txBody>
          <a:bodyPr>
            <a:normAutofit/>
          </a:bodyPr>
          <a:lstStyle/>
          <a:p>
            <a:r>
              <a:rPr lang="en-IN" b="1" i="0" dirty="0">
                <a:solidFill>
                  <a:srgbClr val="333333"/>
                </a:solidFill>
                <a:effectLst/>
                <a:latin typeface="Open Sans" panose="020B0606030504020204" pitchFamily="34" charset="0"/>
              </a:rPr>
              <a:t>Sparse matrix is a matrix which contains very few non-zero elements.</a:t>
            </a:r>
          </a:p>
          <a:p>
            <a:pPr algn="just"/>
            <a:r>
              <a:rPr lang="en-IN" b="1" i="0" dirty="0">
                <a:solidFill>
                  <a:srgbClr val="E00D50"/>
                </a:solidFill>
                <a:effectLst/>
                <a:latin typeface="Open Sans" panose="020B0606030504020204" pitchFamily="34" charset="0"/>
              </a:rPr>
              <a:t>Sparse Matrix Representations</a:t>
            </a:r>
            <a:endParaRPr lang="en-IN" b="0" i="0" dirty="0">
              <a:solidFill>
                <a:srgbClr val="333333"/>
              </a:solidFill>
              <a:effectLst/>
              <a:latin typeface="Open Sans" panose="020B0606030504020204" pitchFamily="34" charset="0"/>
            </a:endParaRPr>
          </a:p>
          <a:p>
            <a:pPr algn="just"/>
            <a:r>
              <a:rPr lang="en-IN" b="1" i="0" dirty="0">
                <a:solidFill>
                  <a:srgbClr val="E00D50"/>
                </a:solidFill>
                <a:effectLst/>
                <a:latin typeface="Open Sans" panose="020B0606030504020204" pitchFamily="34" charset="0"/>
              </a:rPr>
              <a:t>Triplet Representation (Array Representation)</a:t>
            </a:r>
          </a:p>
          <a:p>
            <a:pPr algn="just"/>
            <a:r>
              <a:rPr lang="en-IN" b="1" i="0" dirty="0">
                <a:solidFill>
                  <a:srgbClr val="E00D50"/>
                </a:solidFill>
                <a:effectLst/>
                <a:latin typeface="Open Sans" panose="020B0606030504020204" pitchFamily="34" charset="0"/>
              </a:rPr>
              <a:t>Linked Representation</a:t>
            </a:r>
          </a:p>
          <a:p>
            <a:br>
              <a:rPr lang="en-IN" dirty="0"/>
            </a:br>
            <a:br>
              <a:rPr lang="en-IN" dirty="0"/>
            </a:br>
            <a:endParaRPr lang="en-US" dirty="0"/>
          </a:p>
        </p:txBody>
      </p:sp>
    </p:spTree>
    <p:extLst>
      <p:ext uri="{BB962C8B-B14F-4D97-AF65-F5344CB8AC3E}">
        <p14:creationId xmlns:p14="http://schemas.microsoft.com/office/powerpoint/2010/main" val="92974688"/>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FE4A7-CA7E-07FF-A860-E37A7991A44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B22C127-BFA4-D8A0-BC1F-7833239B6CA6}"/>
              </a:ext>
            </a:extLst>
          </p:cNvPr>
          <p:cNvSpPr>
            <a:spLocks noGrp="1"/>
          </p:cNvSpPr>
          <p:nvPr>
            <p:ph idx="1"/>
          </p:nvPr>
        </p:nvSpPr>
        <p:spPr/>
        <p:txBody>
          <a:bodyPr/>
          <a:lstStyle/>
          <a:p>
            <a:endParaRPr lang="en-US"/>
          </a:p>
        </p:txBody>
      </p:sp>
      <p:pic>
        <p:nvPicPr>
          <p:cNvPr id="14338" name="Picture 2" descr="Sparse Matrix Triplet Representation">
            <a:extLst>
              <a:ext uri="{FF2B5EF4-FFF2-40B4-BE49-F238E27FC236}">
                <a16:creationId xmlns:a16="http://schemas.microsoft.com/office/drawing/2014/main" id="{41823D21-E527-7DF4-0A49-E0ADD0E46D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4900" y="1035050"/>
            <a:ext cx="9982200" cy="4787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0491959"/>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DA5B5-FEC5-1D38-C99F-5D0E16C73AD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5E76230-A49E-022A-A963-D75B9CEC670D}"/>
              </a:ext>
            </a:extLst>
          </p:cNvPr>
          <p:cNvSpPr>
            <a:spLocks noGrp="1"/>
          </p:cNvSpPr>
          <p:nvPr>
            <p:ph idx="1"/>
          </p:nvPr>
        </p:nvSpPr>
        <p:spPr/>
        <p:txBody>
          <a:bodyPr/>
          <a:lstStyle/>
          <a:p>
            <a:endParaRPr lang="en-US"/>
          </a:p>
        </p:txBody>
      </p:sp>
      <p:pic>
        <p:nvPicPr>
          <p:cNvPr id="15362" name="Picture 2" descr="Linked Represenation of sparse matrix">
            <a:extLst>
              <a:ext uri="{FF2B5EF4-FFF2-40B4-BE49-F238E27FC236}">
                <a16:creationId xmlns:a16="http://schemas.microsoft.com/office/drawing/2014/main" id="{49C9AF83-F02C-CE1D-7E03-57E4889C4F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8550" y="2457450"/>
            <a:ext cx="7454900" cy="1943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6997535"/>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91" name="Rectangle 1639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6386" name="Picture 2" descr="Linked Represntation of Sparse Matrix">
            <a:extLst>
              <a:ext uri="{FF2B5EF4-FFF2-40B4-BE49-F238E27FC236}">
                <a16:creationId xmlns:a16="http://schemas.microsoft.com/office/drawing/2014/main" id="{F147DC7B-C28A-2BAE-5A3A-FBF13E5C9EE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r="-1" b="6489"/>
          <a:stretch>
            <a:fillRect/>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7047467"/>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31A9E-1D87-00B2-CA8B-C1BE2C37E198}"/>
              </a:ext>
            </a:extLst>
          </p:cNvPr>
          <p:cNvSpPr>
            <a:spLocks noGrp="1"/>
          </p:cNvSpPr>
          <p:nvPr>
            <p:ph type="title"/>
          </p:nvPr>
        </p:nvSpPr>
        <p:spPr/>
        <p:txBody>
          <a:bodyPr>
            <a:normAutofit/>
          </a:bodyPr>
          <a:lstStyle/>
          <a:p>
            <a:r>
              <a:rPr lang="en-IN" b="1" i="0" dirty="0">
                <a:solidFill>
                  <a:srgbClr val="333333"/>
                </a:solidFill>
                <a:effectLst/>
                <a:latin typeface="Comfortaa"/>
              </a:rPr>
              <a:t>Stack ADT</a:t>
            </a:r>
            <a:endParaRPr lang="en-US" dirty="0"/>
          </a:p>
        </p:txBody>
      </p:sp>
      <p:sp>
        <p:nvSpPr>
          <p:cNvPr id="3" name="Content Placeholder 2">
            <a:extLst>
              <a:ext uri="{FF2B5EF4-FFF2-40B4-BE49-F238E27FC236}">
                <a16:creationId xmlns:a16="http://schemas.microsoft.com/office/drawing/2014/main" id="{D910711C-0E2E-A4DB-BDB3-649F011BE821}"/>
              </a:ext>
            </a:extLst>
          </p:cNvPr>
          <p:cNvSpPr>
            <a:spLocks noGrp="1"/>
          </p:cNvSpPr>
          <p:nvPr>
            <p:ph idx="1"/>
          </p:nvPr>
        </p:nvSpPr>
        <p:spPr/>
        <p:txBody>
          <a:bodyPr/>
          <a:lstStyle/>
          <a:p>
            <a:r>
              <a:rPr lang="en-IN" b="1" i="0" dirty="0">
                <a:solidFill>
                  <a:srgbClr val="333333"/>
                </a:solidFill>
                <a:effectLst/>
                <a:latin typeface="Open Sans" panose="020B0606030504020204" pitchFamily="34" charset="0"/>
              </a:rPr>
              <a:t>Stack is a linear data structure in which the operations are performed based on LIFO principle.</a:t>
            </a:r>
          </a:p>
          <a:p>
            <a:r>
              <a:rPr lang="en-IN" b="1" i="0" dirty="0">
                <a:solidFill>
                  <a:srgbClr val="333333"/>
                </a:solidFill>
                <a:effectLst/>
                <a:latin typeface="Open Sans" panose="020B0606030504020204" pitchFamily="34" charset="0"/>
              </a:rPr>
              <a:t>"A Collection of similar data items in which both insertion and deletion operations are performed based on LIFO principle".</a:t>
            </a:r>
          </a:p>
          <a:p>
            <a:br>
              <a:rPr lang="en-IN" dirty="0"/>
            </a:br>
            <a:br>
              <a:rPr lang="en-IN" dirty="0"/>
            </a:br>
            <a:endParaRPr lang="en-US" dirty="0"/>
          </a:p>
        </p:txBody>
      </p:sp>
      <p:pic>
        <p:nvPicPr>
          <p:cNvPr id="17410" name="Picture 2" descr="Stack Representation">
            <a:extLst>
              <a:ext uri="{FF2B5EF4-FFF2-40B4-BE49-F238E27FC236}">
                <a16:creationId xmlns:a16="http://schemas.microsoft.com/office/drawing/2014/main" id="{1C5EF205-B14D-D892-042C-F3F489EDD4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58641" y="3694156"/>
            <a:ext cx="2265468" cy="3163843"/>
          </a:xfrm>
          <a:prstGeom prst="rect">
            <a:avLst/>
          </a:prstGeom>
          <a:noFill/>
          <a:extLst>
            <a:ext uri="{909E8E84-426E-40DD-AFC4-6F175D3DCCD1}">
              <a14:hiddenFill xmlns:a14="http://schemas.microsoft.com/office/drawing/2010/main">
                <a:solidFill>
                  <a:srgbClr val="FFFFFF"/>
                </a:solidFill>
              </a14:hiddenFill>
            </a:ext>
          </a:extLst>
        </p:spPr>
      </p:pic>
      <p:pic>
        <p:nvPicPr>
          <p:cNvPr id="17412" name="Picture 4" descr="Stack ADT Example">
            <a:extLst>
              <a:ext uri="{FF2B5EF4-FFF2-40B4-BE49-F238E27FC236}">
                <a16:creationId xmlns:a16="http://schemas.microsoft.com/office/drawing/2014/main" id="{CD5325C7-DEB8-A6C8-81B3-2B1DC1E6E6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29356" y="3694155"/>
            <a:ext cx="1581922" cy="31638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5679924"/>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F70B0-346E-9E81-F1EB-96464ECABF2F}"/>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Operations on a Stack</a:t>
            </a:r>
            <a:endParaRPr lang="en-US" dirty="0"/>
          </a:p>
        </p:txBody>
      </p:sp>
      <p:sp>
        <p:nvSpPr>
          <p:cNvPr id="3" name="Content Placeholder 2">
            <a:extLst>
              <a:ext uri="{FF2B5EF4-FFF2-40B4-BE49-F238E27FC236}">
                <a16:creationId xmlns:a16="http://schemas.microsoft.com/office/drawing/2014/main" id="{77343D8A-B625-1B38-C93B-15170B9EBC2F}"/>
              </a:ext>
            </a:extLst>
          </p:cNvPr>
          <p:cNvSpPr>
            <a:spLocks noGrp="1"/>
          </p:cNvSpPr>
          <p:nvPr>
            <p:ph idx="1"/>
          </p:nvPr>
        </p:nvSpPr>
        <p:spPr/>
        <p:txBody>
          <a:bodyPr>
            <a:normAutofit/>
          </a:bodyPr>
          <a:lstStyle/>
          <a:p>
            <a:pPr algn="just"/>
            <a:r>
              <a:rPr lang="en-IN" b="0" i="0" dirty="0">
                <a:solidFill>
                  <a:srgbClr val="333333"/>
                </a:solidFill>
                <a:effectLst/>
                <a:latin typeface="Open Sans" panose="020B0606030504020204" pitchFamily="34" charset="0"/>
              </a:rPr>
              <a:t>The following operations are performed on the stack.</a:t>
            </a:r>
          </a:p>
          <a:p>
            <a:pPr algn="just">
              <a:buFont typeface="+mj-lt"/>
              <a:buAutoNum type="arabicPeriod"/>
            </a:pPr>
            <a:r>
              <a:rPr lang="en-IN" b="1" i="0" dirty="0">
                <a:solidFill>
                  <a:srgbClr val="333333"/>
                </a:solidFill>
                <a:effectLst/>
                <a:latin typeface="Open Sans" panose="020B0606030504020204" pitchFamily="34" charset="0"/>
              </a:rPr>
              <a:t>Push (To insert an element on to the stack)</a:t>
            </a:r>
          </a:p>
          <a:p>
            <a:pPr algn="just">
              <a:buFont typeface="+mj-lt"/>
              <a:buAutoNum type="arabicPeriod"/>
            </a:pPr>
            <a:r>
              <a:rPr lang="en-IN" b="1" i="0" dirty="0">
                <a:solidFill>
                  <a:srgbClr val="333333"/>
                </a:solidFill>
                <a:effectLst/>
                <a:latin typeface="Open Sans" panose="020B0606030504020204" pitchFamily="34" charset="0"/>
              </a:rPr>
              <a:t>Pop (To delete an element from the stack)</a:t>
            </a:r>
          </a:p>
          <a:p>
            <a:pPr algn="just">
              <a:buFont typeface="+mj-lt"/>
              <a:buAutoNum type="arabicPeriod"/>
            </a:pPr>
            <a:r>
              <a:rPr lang="en-IN" b="1" i="0" dirty="0">
                <a:solidFill>
                  <a:srgbClr val="333333"/>
                </a:solidFill>
                <a:effectLst/>
                <a:latin typeface="Open Sans" panose="020B0606030504020204" pitchFamily="34" charset="0"/>
              </a:rPr>
              <a:t>Display (To display elements of the stack)</a:t>
            </a:r>
          </a:p>
          <a:p>
            <a:pPr algn="just"/>
            <a:endParaRPr lang="en-IN" b="0" i="0" dirty="0">
              <a:solidFill>
                <a:srgbClr val="333333"/>
              </a:solidFill>
              <a:effectLst/>
              <a:latin typeface="Open Sans" panose="020B0606030504020204" pitchFamily="34" charset="0"/>
            </a:endParaRPr>
          </a:p>
          <a:p>
            <a:pPr algn="just"/>
            <a:r>
              <a:rPr lang="en-IN" b="0" i="0" dirty="0">
                <a:solidFill>
                  <a:srgbClr val="333333"/>
                </a:solidFill>
                <a:effectLst/>
                <a:latin typeface="Open Sans" panose="020B0606030504020204" pitchFamily="34" charset="0"/>
              </a:rPr>
              <a:t>Stack data structure can be implemented in two ways.</a:t>
            </a:r>
          </a:p>
          <a:p>
            <a:pPr algn="just">
              <a:buFont typeface="+mj-lt"/>
              <a:buAutoNum type="arabicPeriod"/>
            </a:pPr>
            <a:r>
              <a:rPr lang="en-IN" b="1" i="0" dirty="0">
                <a:solidFill>
                  <a:srgbClr val="333333"/>
                </a:solidFill>
                <a:effectLst/>
                <a:latin typeface="Open Sans" panose="020B0606030504020204" pitchFamily="34" charset="0"/>
              </a:rPr>
              <a:t>Using Array</a:t>
            </a:r>
          </a:p>
          <a:p>
            <a:pPr algn="just">
              <a:buFont typeface="+mj-lt"/>
              <a:buAutoNum type="arabicPeriod"/>
            </a:pPr>
            <a:r>
              <a:rPr lang="en-IN" b="1" i="0" dirty="0">
                <a:solidFill>
                  <a:srgbClr val="333333"/>
                </a:solidFill>
                <a:effectLst/>
                <a:latin typeface="Open Sans" panose="020B0606030504020204" pitchFamily="34" charset="0"/>
              </a:rPr>
              <a:t>Using Linked List</a:t>
            </a:r>
          </a:p>
          <a:p>
            <a:endParaRPr lang="en-US" dirty="0"/>
          </a:p>
        </p:txBody>
      </p:sp>
    </p:spTree>
    <p:extLst>
      <p:ext uri="{BB962C8B-B14F-4D97-AF65-F5344CB8AC3E}">
        <p14:creationId xmlns:p14="http://schemas.microsoft.com/office/powerpoint/2010/main" val="3867486228"/>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98AB3-0A36-CFA8-F0A2-E33F470756F9}"/>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push(value) - Inserting value into the stack</a:t>
            </a:r>
          </a:p>
        </p:txBody>
      </p:sp>
      <p:sp>
        <p:nvSpPr>
          <p:cNvPr id="3" name="Content Placeholder 2">
            <a:extLst>
              <a:ext uri="{FF2B5EF4-FFF2-40B4-BE49-F238E27FC236}">
                <a16:creationId xmlns:a16="http://schemas.microsoft.com/office/drawing/2014/main" id="{F5DE3E8A-552A-1F73-79E0-DD07D85DAE57}"/>
              </a:ext>
            </a:extLst>
          </p:cNvPr>
          <p:cNvSpPr>
            <a:spLocks noGrp="1"/>
          </p:cNvSpPr>
          <p:nvPr>
            <p:ph idx="1"/>
          </p:nvPr>
        </p:nvSpPr>
        <p:spPr/>
        <p:txBody>
          <a:bodyPr>
            <a:normAutofit fontScale="92500" lnSpcReduction="20000"/>
          </a:bodyPr>
          <a:lstStyle/>
          <a:p>
            <a:r>
              <a:rPr lang="en-IN" b="0" i="0" dirty="0">
                <a:solidFill>
                  <a:srgbClr val="333333"/>
                </a:solidFill>
                <a:effectLst/>
                <a:latin typeface="Open Sans" panose="020B0606030504020204" pitchFamily="34" charset="0"/>
              </a:rPr>
              <a:t>In a stack, push() is a function used to insert an element into the stack. </a:t>
            </a:r>
          </a:p>
          <a:p>
            <a:r>
              <a:rPr lang="en-IN" b="0" i="0" dirty="0">
                <a:solidFill>
                  <a:srgbClr val="333333"/>
                </a:solidFill>
                <a:effectLst/>
                <a:latin typeface="Open Sans" panose="020B0606030504020204" pitchFamily="34" charset="0"/>
              </a:rPr>
              <a:t>In a stack, the new element is always inserted at </a:t>
            </a:r>
            <a:r>
              <a:rPr lang="en-IN" b="1" i="0" dirty="0">
                <a:solidFill>
                  <a:srgbClr val="333333"/>
                </a:solidFill>
                <a:effectLst/>
                <a:latin typeface="Open Sans" panose="020B0606030504020204" pitchFamily="34" charset="0"/>
              </a:rPr>
              <a:t>top</a:t>
            </a:r>
            <a:r>
              <a:rPr lang="en-IN" b="0" i="0" dirty="0">
                <a:solidFill>
                  <a:srgbClr val="333333"/>
                </a:solidFill>
                <a:effectLst/>
                <a:latin typeface="Open Sans" panose="020B0606030504020204" pitchFamily="34" charset="0"/>
              </a:rPr>
              <a:t> position. Push function takes one integer value as parameter and inserts that value into the stack. </a:t>
            </a:r>
          </a:p>
          <a:p>
            <a:r>
              <a:rPr lang="en-IN" b="0" i="0" dirty="0">
                <a:solidFill>
                  <a:srgbClr val="333333"/>
                </a:solidFill>
                <a:effectLst/>
                <a:latin typeface="Open Sans" panose="020B0606030504020204" pitchFamily="34" charset="0"/>
              </a:rPr>
              <a:t>We can use the following steps to push an element on to the stack...</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a:t>
            </a:r>
            <a:r>
              <a:rPr lang="en-IN" b="1" i="0" dirty="0">
                <a:solidFill>
                  <a:srgbClr val="333333"/>
                </a:solidFill>
                <a:effectLst/>
                <a:latin typeface="Open Sans" panose="020B0606030504020204" pitchFamily="34" charset="0"/>
              </a:rPr>
              <a:t>stack</a:t>
            </a:r>
            <a:r>
              <a:rPr lang="en-IN" b="0" i="0" dirty="0">
                <a:solidFill>
                  <a:srgbClr val="333333"/>
                </a:solidFill>
                <a:effectLst/>
                <a:latin typeface="Open Sans" panose="020B0606030504020204" pitchFamily="34" charset="0"/>
              </a:rPr>
              <a:t> is </a:t>
            </a:r>
            <a:r>
              <a:rPr lang="en-IN" b="1" i="0" dirty="0">
                <a:solidFill>
                  <a:srgbClr val="333333"/>
                </a:solidFill>
                <a:effectLst/>
                <a:latin typeface="Open Sans" panose="020B0606030504020204" pitchFamily="34" charset="0"/>
              </a:rPr>
              <a:t>FULL</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top == SIZE-1</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FULL</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"Stack is FULL!!! Insertion is not possible!!!"</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FULL</a:t>
            </a:r>
            <a:r>
              <a:rPr lang="en-IN" b="0" i="0" dirty="0">
                <a:solidFill>
                  <a:srgbClr val="333333"/>
                </a:solidFill>
                <a:effectLst/>
                <a:latin typeface="Open Sans" panose="020B0606030504020204" pitchFamily="34" charset="0"/>
              </a:rPr>
              <a:t>, then increment </a:t>
            </a:r>
            <a:r>
              <a:rPr lang="en-IN" b="1" i="0" dirty="0">
                <a:solidFill>
                  <a:srgbClr val="333333"/>
                </a:solidFill>
                <a:effectLst/>
                <a:latin typeface="Open Sans" panose="020B0606030504020204" pitchFamily="34" charset="0"/>
              </a:rPr>
              <a:t>top</a:t>
            </a:r>
            <a:r>
              <a:rPr lang="en-IN" b="0" i="0" dirty="0">
                <a:solidFill>
                  <a:srgbClr val="333333"/>
                </a:solidFill>
                <a:effectLst/>
                <a:latin typeface="Open Sans" panose="020B0606030504020204" pitchFamily="34" charset="0"/>
              </a:rPr>
              <a:t> value by one (</a:t>
            </a:r>
            <a:r>
              <a:rPr lang="en-IN" b="1" i="0" dirty="0">
                <a:solidFill>
                  <a:srgbClr val="333333"/>
                </a:solidFill>
                <a:effectLst/>
                <a:latin typeface="Open Sans" panose="020B0606030504020204" pitchFamily="34" charset="0"/>
              </a:rPr>
              <a:t>top++</a:t>
            </a:r>
            <a:r>
              <a:rPr lang="en-IN" b="0" i="0" dirty="0">
                <a:solidFill>
                  <a:srgbClr val="333333"/>
                </a:solidFill>
                <a:effectLst/>
                <a:latin typeface="Open Sans" panose="020B0606030504020204" pitchFamily="34" charset="0"/>
              </a:rPr>
              <a:t>) and set stack[top] to value (</a:t>
            </a:r>
            <a:r>
              <a:rPr lang="en-IN" b="1" i="0" dirty="0">
                <a:solidFill>
                  <a:srgbClr val="333333"/>
                </a:solidFill>
                <a:effectLst/>
                <a:latin typeface="Open Sans" panose="020B0606030504020204" pitchFamily="34" charset="0"/>
              </a:rPr>
              <a:t>stack[top] = value</a:t>
            </a:r>
            <a:r>
              <a:rPr lang="en-IN" b="0" i="0" dirty="0">
                <a:solidFill>
                  <a:srgbClr val="333333"/>
                </a:solidFill>
                <a:effectLst/>
                <a:latin typeface="Open Sans" panose="020B0606030504020204" pitchFamily="34" charset="0"/>
              </a:rPr>
              <a:t>).</a:t>
            </a:r>
            <a:endParaRPr lang="en-US" dirty="0"/>
          </a:p>
        </p:txBody>
      </p:sp>
    </p:spTree>
    <p:extLst>
      <p:ext uri="{BB962C8B-B14F-4D97-AF65-F5344CB8AC3E}">
        <p14:creationId xmlns:p14="http://schemas.microsoft.com/office/powerpoint/2010/main" val="3998004472"/>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691CC-FF5F-595E-5C65-DB0855B402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E5945-796B-9C45-F97B-48F0A07E81FE}"/>
              </a:ext>
            </a:extLst>
          </p:cNvPr>
          <p:cNvSpPr>
            <a:spLocks noGrp="1"/>
          </p:cNvSpPr>
          <p:nvPr>
            <p:ph type="title"/>
          </p:nvPr>
        </p:nvSpPr>
        <p:spPr/>
        <p:txBody>
          <a:bodyPr>
            <a:normAutofit/>
          </a:bodyPr>
          <a:lstStyle/>
          <a:p>
            <a:pPr algn="just"/>
            <a:r>
              <a:rPr lang="en-IN" b="1" i="0" dirty="0">
                <a:solidFill>
                  <a:srgbClr val="E00D50"/>
                </a:solidFill>
                <a:effectLst/>
                <a:latin typeface="Open Sans" panose="020B0606030504020204" pitchFamily="34" charset="0"/>
              </a:rPr>
              <a:t>pop() - Delete a value from the Stack</a:t>
            </a:r>
          </a:p>
        </p:txBody>
      </p:sp>
      <p:sp>
        <p:nvSpPr>
          <p:cNvPr id="3" name="Content Placeholder 2">
            <a:extLst>
              <a:ext uri="{FF2B5EF4-FFF2-40B4-BE49-F238E27FC236}">
                <a16:creationId xmlns:a16="http://schemas.microsoft.com/office/drawing/2014/main" id="{25886A9E-4ADA-1DB6-CD61-34D19003337F}"/>
              </a:ext>
            </a:extLst>
          </p:cNvPr>
          <p:cNvSpPr>
            <a:spLocks noGrp="1"/>
          </p:cNvSpPr>
          <p:nvPr>
            <p:ph idx="1"/>
          </p:nvPr>
        </p:nvSpPr>
        <p:spPr/>
        <p:txBody>
          <a:bodyPr>
            <a:normAutofit/>
          </a:bodyPr>
          <a:lstStyle/>
          <a:p>
            <a:r>
              <a:rPr lang="en-IN" b="0" i="0" dirty="0">
                <a:solidFill>
                  <a:srgbClr val="333333"/>
                </a:solidFill>
                <a:effectLst/>
                <a:latin typeface="Open Sans" panose="020B0606030504020204" pitchFamily="34" charset="0"/>
              </a:rPr>
              <a:t>In a stack, pop() is a function used to delete an element from the stack. In a stack, the element is always deleted from </a:t>
            </a:r>
            <a:r>
              <a:rPr lang="en-IN" b="1" i="0" dirty="0">
                <a:solidFill>
                  <a:srgbClr val="333333"/>
                </a:solidFill>
                <a:effectLst/>
                <a:latin typeface="Open Sans" panose="020B0606030504020204" pitchFamily="34" charset="0"/>
              </a:rPr>
              <a:t>top</a:t>
            </a:r>
            <a:r>
              <a:rPr lang="en-IN" b="0" i="0" dirty="0">
                <a:solidFill>
                  <a:srgbClr val="333333"/>
                </a:solidFill>
                <a:effectLst/>
                <a:latin typeface="Open Sans" panose="020B0606030504020204" pitchFamily="34" charset="0"/>
              </a:rPr>
              <a:t> position. Pop function does not take any value as parameter. We can use the following steps to pop an element from the stack...</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a:t>
            </a:r>
            <a:r>
              <a:rPr lang="en-IN" b="1" i="0" dirty="0">
                <a:solidFill>
                  <a:srgbClr val="333333"/>
                </a:solidFill>
                <a:effectLst/>
                <a:latin typeface="Open Sans" panose="020B0606030504020204" pitchFamily="34" charset="0"/>
              </a:rPr>
              <a:t>stack</a:t>
            </a:r>
            <a:r>
              <a:rPr lang="en-IN" b="0" i="0" dirty="0">
                <a:solidFill>
                  <a:srgbClr val="333333"/>
                </a:solidFill>
                <a:effectLst/>
                <a:latin typeface="Open Sans" panose="020B0606030504020204" pitchFamily="34" charset="0"/>
              </a:rPr>
              <a: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top == -1</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"Stack is EMPTY!!! Deletion is not possible!!!"</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delete </a:t>
            </a:r>
            <a:r>
              <a:rPr lang="en-IN" b="1" i="0" dirty="0">
                <a:solidFill>
                  <a:srgbClr val="333333"/>
                </a:solidFill>
                <a:effectLst/>
                <a:latin typeface="Open Sans" panose="020B0606030504020204" pitchFamily="34" charset="0"/>
              </a:rPr>
              <a:t>stack[top]</a:t>
            </a:r>
            <a:r>
              <a:rPr lang="en-IN" b="0" i="0" dirty="0">
                <a:solidFill>
                  <a:srgbClr val="333333"/>
                </a:solidFill>
                <a:effectLst/>
                <a:latin typeface="Open Sans" panose="020B0606030504020204" pitchFamily="34" charset="0"/>
              </a:rPr>
              <a:t> and decrement </a:t>
            </a:r>
            <a:r>
              <a:rPr lang="en-IN" b="1" i="0" dirty="0">
                <a:solidFill>
                  <a:srgbClr val="333333"/>
                </a:solidFill>
                <a:effectLst/>
                <a:latin typeface="Open Sans" panose="020B0606030504020204" pitchFamily="34" charset="0"/>
              </a:rPr>
              <a:t>top</a:t>
            </a:r>
            <a:r>
              <a:rPr lang="en-IN" b="0" i="0" dirty="0">
                <a:solidFill>
                  <a:srgbClr val="333333"/>
                </a:solidFill>
                <a:effectLst/>
                <a:latin typeface="Open Sans" panose="020B0606030504020204" pitchFamily="34" charset="0"/>
              </a:rPr>
              <a:t> value by one (</a:t>
            </a:r>
            <a:r>
              <a:rPr lang="en-IN" b="1" i="0" dirty="0">
                <a:solidFill>
                  <a:srgbClr val="333333"/>
                </a:solidFill>
                <a:effectLst/>
                <a:latin typeface="Open Sans" panose="020B0606030504020204" pitchFamily="34" charset="0"/>
              </a:rPr>
              <a:t>top--</a:t>
            </a:r>
            <a:r>
              <a:rPr lang="en-IN" b="0" i="0" dirty="0">
                <a:solidFill>
                  <a:srgbClr val="333333"/>
                </a:solidFill>
                <a:effectLst/>
                <a:latin typeface="Open Sans" panose="020B0606030504020204" pitchFamily="34" charset="0"/>
              </a:rPr>
              <a:t>).</a:t>
            </a:r>
          </a:p>
        </p:txBody>
      </p:sp>
    </p:spTree>
    <p:extLst>
      <p:ext uri="{BB962C8B-B14F-4D97-AF65-F5344CB8AC3E}">
        <p14:creationId xmlns:p14="http://schemas.microsoft.com/office/powerpoint/2010/main" val="4115597337"/>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92D7D-A0F5-EE01-F433-1A71C6BD2F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957FD0-E168-58EC-032B-BA0C69EED856}"/>
              </a:ext>
            </a:extLst>
          </p:cNvPr>
          <p:cNvSpPr>
            <a:spLocks noGrp="1"/>
          </p:cNvSpPr>
          <p:nvPr>
            <p:ph type="title"/>
          </p:nvPr>
        </p:nvSpPr>
        <p:spPr/>
        <p:txBody>
          <a:bodyPr>
            <a:normAutofit/>
          </a:bodyPr>
          <a:lstStyle/>
          <a:p>
            <a:pPr algn="just"/>
            <a:r>
              <a:rPr lang="en-IN" b="1" i="0" dirty="0">
                <a:solidFill>
                  <a:srgbClr val="E00D50"/>
                </a:solidFill>
                <a:effectLst/>
                <a:latin typeface="Open Sans" panose="020B0606030504020204" pitchFamily="34" charset="0"/>
              </a:rPr>
              <a:t>display() - Displays the elements of a Stack</a:t>
            </a:r>
          </a:p>
        </p:txBody>
      </p:sp>
      <p:sp>
        <p:nvSpPr>
          <p:cNvPr id="3" name="Content Placeholder 2">
            <a:extLst>
              <a:ext uri="{FF2B5EF4-FFF2-40B4-BE49-F238E27FC236}">
                <a16:creationId xmlns:a16="http://schemas.microsoft.com/office/drawing/2014/main" id="{88B27E51-E700-8889-E4DB-C2A2D0C29891}"/>
              </a:ext>
            </a:extLst>
          </p:cNvPr>
          <p:cNvSpPr>
            <a:spLocks noGrp="1"/>
          </p:cNvSpPr>
          <p:nvPr>
            <p:ph idx="1"/>
          </p:nvPr>
        </p:nvSpPr>
        <p:spPr/>
        <p:txBody>
          <a:bodyPr>
            <a:normAutofit/>
          </a:bodyPr>
          <a:lstStyle/>
          <a:p>
            <a:r>
              <a:rPr lang="en-IN" b="0" i="0" dirty="0">
                <a:solidFill>
                  <a:srgbClr val="333333"/>
                </a:solidFill>
                <a:effectLst/>
                <a:latin typeface="Open Sans" panose="020B0606030504020204" pitchFamily="34" charset="0"/>
              </a:rPr>
              <a:t>We can use the following steps to display the elements of a stack...</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a:t>
            </a:r>
            <a:r>
              <a:rPr lang="en-IN" b="1" i="0" dirty="0">
                <a:solidFill>
                  <a:srgbClr val="333333"/>
                </a:solidFill>
                <a:effectLst/>
                <a:latin typeface="Open Sans" panose="020B0606030504020204" pitchFamily="34" charset="0"/>
              </a:rPr>
              <a:t>stack</a:t>
            </a:r>
            <a:r>
              <a:rPr lang="en-IN" b="0" i="0" dirty="0">
                <a:solidFill>
                  <a:srgbClr val="333333"/>
                </a:solidFill>
                <a:effectLst/>
                <a:latin typeface="Open Sans" panose="020B0606030504020204" pitchFamily="34" charset="0"/>
              </a:rPr>
              <a: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top == -1</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"Stack is EMPTY!!!"</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define a variable '</a:t>
            </a:r>
            <a:r>
              <a:rPr lang="en-IN" b="1" i="0" dirty="0" err="1">
                <a:solidFill>
                  <a:srgbClr val="333333"/>
                </a:solidFill>
                <a:effectLst/>
                <a:latin typeface="Open Sans" panose="020B0606030504020204" pitchFamily="34" charset="0"/>
              </a:rPr>
              <a:t>i</a:t>
            </a:r>
            <a:r>
              <a:rPr lang="en-IN" b="0" i="0" dirty="0">
                <a:solidFill>
                  <a:srgbClr val="333333"/>
                </a:solidFill>
                <a:effectLst/>
                <a:latin typeface="Open Sans" panose="020B0606030504020204" pitchFamily="34" charset="0"/>
              </a:rPr>
              <a:t>' and initialize with top. Display </a:t>
            </a:r>
            <a:r>
              <a:rPr lang="en-IN" b="1" i="0" dirty="0">
                <a:solidFill>
                  <a:srgbClr val="333333"/>
                </a:solidFill>
                <a:effectLst/>
                <a:latin typeface="Open Sans" panose="020B0606030504020204" pitchFamily="34" charset="0"/>
              </a:rPr>
              <a:t>stack[</a:t>
            </a:r>
            <a:r>
              <a:rPr lang="en-IN" b="1" i="0" dirty="0" err="1">
                <a:solidFill>
                  <a:srgbClr val="333333"/>
                </a:solidFill>
                <a:effectLst/>
                <a:latin typeface="Open Sans" panose="020B0606030504020204" pitchFamily="34" charset="0"/>
              </a:rPr>
              <a:t>i</a:t>
            </a:r>
            <a:r>
              <a:rPr lang="en-IN" b="1" i="0" dirty="0">
                <a:solidFill>
                  <a:srgbClr val="333333"/>
                </a:solidFill>
                <a:effectLst/>
                <a:latin typeface="Open Sans" panose="020B0606030504020204" pitchFamily="34" charset="0"/>
              </a:rPr>
              <a:t>]</a:t>
            </a:r>
            <a:r>
              <a:rPr lang="en-IN" b="0" i="0" dirty="0">
                <a:solidFill>
                  <a:srgbClr val="333333"/>
                </a:solidFill>
                <a:effectLst/>
                <a:latin typeface="Open Sans" panose="020B0606030504020204" pitchFamily="34" charset="0"/>
              </a:rPr>
              <a:t> value and decrement </a:t>
            </a:r>
            <a:r>
              <a:rPr lang="en-IN" b="1" i="0" dirty="0" err="1">
                <a:solidFill>
                  <a:srgbClr val="333333"/>
                </a:solidFill>
                <a:effectLst/>
                <a:latin typeface="Open Sans" panose="020B0606030504020204" pitchFamily="34" charset="0"/>
              </a:rPr>
              <a:t>i</a:t>
            </a:r>
            <a:r>
              <a:rPr lang="en-IN" b="0" i="0" dirty="0">
                <a:solidFill>
                  <a:srgbClr val="333333"/>
                </a:solidFill>
                <a:effectLst/>
                <a:latin typeface="Open Sans" panose="020B0606030504020204" pitchFamily="34" charset="0"/>
              </a:rPr>
              <a:t> value by one (</a:t>
            </a:r>
            <a:r>
              <a:rPr lang="en-IN" b="1" i="0" dirty="0" err="1">
                <a:solidFill>
                  <a:srgbClr val="333333"/>
                </a:solidFill>
                <a:effectLst/>
                <a:latin typeface="Open Sans" panose="020B0606030504020204" pitchFamily="34" charset="0"/>
              </a:rPr>
              <a:t>i</a:t>
            </a:r>
            <a:r>
              <a:rPr lang="en-IN" b="1" i="0" dirty="0">
                <a:solidFill>
                  <a:srgbClr val="333333"/>
                </a:solidFill>
                <a:effectLst/>
                <a:latin typeface="Open Sans" panose="020B0606030504020204" pitchFamily="34" charset="0"/>
              </a:rPr>
              <a:t>--</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Repeat above step until </a:t>
            </a:r>
            <a:r>
              <a:rPr lang="en-IN" b="1" i="0" dirty="0" err="1">
                <a:solidFill>
                  <a:srgbClr val="333333"/>
                </a:solidFill>
                <a:effectLst/>
                <a:latin typeface="Open Sans" panose="020B0606030504020204" pitchFamily="34" charset="0"/>
              </a:rPr>
              <a:t>i</a:t>
            </a:r>
            <a:r>
              <a:rPr lang="en-IN" b="0" i="0" dirty="0">
                <a:solidFill>
                  <a:srgbClr val="333333"/>
                </a:solidFill>
                <a:effectLst/>
                <a:latin typeface="Open Sans" panose="020B0606030504020204" pitchFamily="34" charset="0"/>
              </a:rPr>
              <a:t> value becomes '0'.</a:t>
            </a:r>
          </a:p>
        </p:txBody>
      </p:sp>
    </p:spTree>
    <p:extLst>
      <p:ext uri="{BB962C8B-B14F-4D97-AF65-F5344CB8AC3E}">
        <p14:creationId xmlns:p14="http://schemas.microsoft.com/office/powerpoint/2010/main" val="2254031567"/>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4C2C4-968A-874C-F323-306746D92747}"/>
              </a:ext>
            </a:extLst>
          </p:cNvPr>
          <p:cNvSpPr>
            <a:spLocks noGrp="1"/>
          </p:cNvSpPr>
          <p:nvPr>
            <p:ph type="title"/>
          </p:nvPr>
        </p:nvSpPr>
        <p:spPr/>
        <p:txBody>
          <a:bodyPr>
            <a:normAutofit/>
          </a:bodyPr>
          <a:lstStyle/>
          <a:p>
            <a:r>
              <a:rPr lang="en-IN" b="1" i="0" dirty="0">
                <a:solidFill>
                  <a:srgbClr val="333333"/>
                </a:solidFill>
                <a:effectLst/>
                <a:latin typeface="Comfortaa"/>
              </a:rPr>
              <a:t>Stack Using Linked List</a:t>
            </a:r>
            <a:endParaRPr lang="en-US" dirty="0"/>
          </a:p>
        </p:txBody>
      </p:sp>
      <p:sp>
        <p:nvSpPr>
          <p:cNvPr id="3" name="Content Placeholder 2">
            <a:extLst>
              <a:ext uri="{FF2B5EF4-FFF2-40B4-BE49-F238E27FC236}">
                <a16:creationId xmlns:a16="http://schemas.microsoft.com/office/drawing/2014/main" id="{E4328C2B-9A04-1DF5-0B57-8EA1317EA003}"/>
              </a:ext>
            </a:extLst>
          </p:cNvPr>
          <p:cNvSpPr>
            <a:spLocks noGrp="1"/>
          </p:cNvSpPr>
          <p:nvPr>
            <p:ph idx="1"/>
          </p:nvPr>
        </p:nvSpPr>
        <p:spPr/>
        <p:txBody>
          <a:bodyPr/>
          <a:lstStyle/>
          <a:p>
            <a:endParaRPr lang="en-US"/>
          </a:p>
        </p:txBody>
      </p:sp>
      <p:pic>
        <p:nvPicPr>
          <p:cNvPr id="18434" name="Picture 2" descr="stack implementation using linked list">
            <a:extLst>
              <a:ext uri="{FF2B5EF4-FFF2-40B4-BE49-F238E27FC236}">
                <a16:creationId xmlns:a16="http://schemas.microsoft.com/office/drawing/2014/main" id="{96A435FD-BF07-5432-E6EA-3000E9BD7F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3750" y="1409700"/>
            <a:ext cx="2984500" cy="4038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0622244"/>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41139-BE40-F893-A43F-75D04521C8C3}"/>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Stack Operations using Linked List</a:t>
            </a:r>
            <a:endParaRPr lang="en-US" dirty="0"/>
          </a:p>
        </p:txBody>
      </p:sp>
      <p:sp>
        <p:nvSpPr>
          <p:cNvPr id="3" name="Content Placeholder 2">
            <a:extLst>
              <a:ext uri="{FF2B5EF4-FFF2-40B4-BE49-F238E27FC236}">
                <a16:creationId xmlns:a16="http://schemas.microsoft.com/office/drawing/2014/main" id="{676C9A09-5255-2830-DF25-09B4044BE5E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783093797"/>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F62C9-C94C-2688-0579-79A9BA86EC12}"/>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push(value) - Inserting an element into the Stack</a:t>
            </a:r>
            <a:endParaRPr lang="en-US" dirty="0"/>
          </a:p>
        </p:txBody>
      </p:sp>
      <p:sp>
        <p:nvSpPr>
          <p:cNvPr id="3" name="Content Placeholder 2">
            <a:extLst>
              <a:ext uri="{FF2B5EF4-FFF2-40B4-BE49-F238E27FC236}">
                <a16:creationId xmlns:a16="http://schemas.microsoft.com/office/drawing/2014/main" id="{83577E0C-4700-1E4D-3E96-CBF1F3FEF6EB}"/>
              </a:ext>
            </a:extLst>
          </p:cNvPr>
          <p:cNvSpPr>
            <a:spLocks noGrp="1"/>
          </p:cNvSpPr>
          <p:nvPr>
            <p:ph idx="1"/>
          </p:nvPr>
        </p:nvSpPr>
        <p:spPr/>
        <p:txBody>
          <a:bodyPr/>
          <a:lstStyle/>
          <a:p>
            <a:r>
              <a:rPr lang="en-IN" b="0" i="0" dirty="0">
                <a:solidFill>
                  <a:srgbClr val="333333"/>
                </a:solidFill>
                <a:effectLst/>
                <a:latin typeface="Open Sans" panose="020B0606030504020204" pitchFamily="34" charset="0"/>
              </a:rPr>
              <a:t>We can use the following steps to insert a new node into the stack...</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Create a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with given value.</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Check whether stack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top</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set </a:t>
            </a:r>
            <a:r>
              <a:rPr lang="en-IN" b="1" i="0" dirty="0" err="1">
                <a:solidFill>
                  <a:srgbClr val="333333"/>
                </a:solidFill>
                <a:effectLst/>
                <a:latin typeface="Open Sans" panose="020B0606030504020204" pitchFamily="34" charset="0"/>
              </a:rPr>
              <a:t>newNode</a:t>
            </a:r>
            <a:r>
              <a:rPr lang="en-IN" b="1" i="0" dirty="0">
                <a:solidFill>
                  <a:srgbClr val="333333"/>
                </a:solidFill>
                <a:effectLst/>
                <a:latin typeface="Open Sans" panose="020B0606030504020204" pitchFamily="34" charset="0"/>
              </a:rPr>
              <a:t>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set </a:t>
            </a:r>
            <a:r>
              <a:rPr lang="en-IN" b="1" i="0" dirty="0" err="1">
                <a:solidFill>
                  <a:srgbClr val="333333"/>
                </a:solidFill>
                <a:effectLst/>
                <a:latin typeface="Open Sans" panose="020B0606030504020204" pitchFamily="34" charset="0"/>
              </a:rPr>
              <a:t>newNode</a:t>
            </a:r>
            <a:r>
              <a:rPr lang="en-IN" b="1" i="0" dirty="0">
                <a:solidFill>
                  <a:srgbClr val="333333"/>
                </a:solidFill>
                <a:effectLst/>
                <a:latin typeface="Open Sans" panose="020B0606030504020204" pitchFamily="34" charset="0"/>
              </a:rPr>
              <a:t>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top</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Finally, set </a:t>
            </a:r>
            <a:r>
              <a:rPr lang="en-IN" b="1" i="0" dirty="0">
                <a:solidFill>
                  <a:srgbClr val="333333"/>
                </a:solidFill>
                <a:effectLst/>
                <a:latin typeface="Open Sans" panose="020B0606030504020204" pitchFamily="34" charset="0"/>
              </a:rPr>
              <a:t>top</a:t>
            </a:r>
            <a:r>
              <a:rPr lang="en-IN" b="0" i="0" dirty="0">
                <a:solidFill>
                  <a:srgbClr val="333333"/>
                </a:solidFill>
                <a:effectLst/>
                <a:latin typeface="Open Sans" panose="020B0606030504020204" pitchFamily="34" charset="0"/>
              </a:rPr>
              <a:t> =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a:t>
            </a:r>
          </a:p>
          <a:p>
            <a:endParaRPr lang="en-US" dirty="0"/>
          </a:p>
        </p:txBody>
      </p:sp>
    </p:spTree>
    <p:extLst>
      <p:ext uri="{BB962C8B-B14F-4D97-AF65-F5344CB8AC3E}">
        <p14:creationId xmlns:p14="http://schemas.microsoft.com/office/powerpoint/2010/main" val="3237698757"/>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80DF6-7694-4729-AD57-E155916C9047}"/>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pop() - Deleting an Element from a Stack</a:t>
            </a:r>
            <a:endParaRPr lang="en-US" dirty="0"/>
          </a:p>
        </p:txBody>
      </p:sp>
      <p:sp>
        <p:nvSpPr>
          <p:cNvPr id="3" name="Content Placeholder 2">
            <a:extLst>
              <a:ext uri="{FF2B5EF4-FFF2-40B4-BE49-F238E27FC236}">
                <a16:creationId xmlns:a16="http://schemas.microsoft.com/office/drawing/2014/main" id="{709A4FE9-15A1-281F-FA8F-00DC152D2E76}"/>
              </a:ext>
            </a:extLst>
          </p:cNvPr>
          <p:cNvSpPr>
            <a:spLocks noGrp="1"/>
          </p:cNvSpPr>
          <p:nvPr>
            <p:ph idx="1"/>
          </p:nvPr>
        </p:nvSpPr>
        <p:spPr/>
        <p:txBody>
          <a:bodyPr>
            <a:normAutofit/>
          </a:bodyPr>
          <a:lstStyle/>
          <a:p>
            <a:r>
              <a:rPr lang="en-IN" b="0" i="0" dirty="0">
                <a:solidFill>
                  <a:srgbClr val="333333"/>
                </a:solidFill>
                <a:effectLst/>
                <a:latin typeface="Open Sans" panose="020B0606030504020204" pitchFamily="34" charset="0"/>
              </a:rPr>
              <a:t>We can use the following steps to delete a node from the stack...</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a:t>
            </a:r>
            <a:r>
              <a:rPr lang="en-IN" b="1" i="0" dirty="0">
                <a:solidFill>
                  <a:srgbClr val="333333"/>
                </a:solidFill>
                <a:effectLst/>
                <a:latin typeface="Open Sans" panose="020B0606030504020204" pitchFamily="34" charset="0"/>
              </a:rPr>
              <a:t>stack</a:t>
            </a:r>
            <a:r>
              <a:rPr lang="en-IN" b="0" i="0" dirty="0">
                <a:solidFill>
                  <a:srgbClr val="333333"/>
                </a:solidFill>
                <a:effectLst/>
                <a:latin typeface="Open Sans" panose="020B0606030504020204" pitchFamily="34" charset="0"/>
              </a:rPr>
              <a: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top == 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"Stack is Empty!!! Deletion is not possible!!!"</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define a </a:t>
            </a:r>
            <a:r>
              <a:rPr lang="en-IN" b="1" i="0" dirty="0">
                <a:solidFill>
                  <a:srgbClr val="333333"/>
                </a:solidFill>
                <a:effectLst/>
                <a:latin typeface="Open Sans" panose="020B0606030504020204" pitchFamily="34" charset="0"/>
              </a:rPr>
              <a:t>Node</a:t>
            </a:r>
            <a:r>
              <a:rPr lang="en-IN" b="0" i="0" dirty="0">
                <a:solidFill>
                  <a:srgbClr val="333333"/>
                </a:solidFill>
                <a:effectLst/>
                <a:latin typeface="Open Sans" panose="020B0606030504020204" pitchFamily="34" charset="0"/>
              </a:rPr>
              <a:t> pointer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and set it to '</a:t>
            </a:r>
            <a:r>
              <a:rPr lang="en-IN" b="1" i="0" dirty="0">
                <a:solidFill>
                  <a:srgbClr val="333333"/>
                </a:solidFill>
                <a:effectLst/>
                <a:latin typeface="Open Sans" panose="020B0606030504020204" pitchFamily="34" charset="0"/>
              </a:rPr>
              <a:t>top</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Then set '</a:t>
            </a:r>
            <a:r>
              <a:rPr lang="en-IN" b="1" i="0" dirty="0">
                <a:solidFill>
                  <a:srgbClr val="333333"/>
                </a:solidFill>
                <a:effectLst/>
                <a:latin typeface="Open Sans" panose="020B0606030504020204" pitchFamily="34" charset="0"/>
              </a:rPr>
              <a:t>top</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top → next</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Finally, delete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free(temp)</a:t>
            </a:r>
            <a:r>
              <a:rPr lang="en-IN" b="0" i="0" dirty="0">
                <a:solidFill>
                  <a:srgbClr val="333333"/>
                </a:solidFill>
                <a:effectLst/>
                <a:latin typeface="Open Sans" panose="020B0606030504020204" pitchFamily="34" charset="0"/>
              </a:rPr>
              <a:t>).</a:t>
            </a:r>
          </a:p>
          <a:p>
            <a:endParaRPr lang="en-US" dirty="0"/>
          </a:p>
        </p:txBody>
      </p:sp>
    </p:spTree>
    <p:extLst>
      <p:ext uri="{BB962C8B-B14F-4D97-AF65-F5344CB8AC3E}">
        <p14:creationId xmlns:p14="http://schemas.microsoft.com/office/powerpoint/2010/main" val="1211072251"/>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814AA-E7B4-AE19-6BB2-63909ACB7396}"/>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display() - Displaying stack of elements</a:t>
            </a:r>
            <a:endParaRPr lang="en-US" dirty="0"/>
          </a:p>
        </p:txBody>
      </p:sp>
      <p:sp>
        <p:nvSpPr>
          <p:cNvPr id="3" name="Content Placeholder 2">
            <a:extLst>
              <a:ext uri="{FF2B5EF4-FFF2-40B4-BE49-F238E27FC236}">
                <a16:creationId xmlns:a16="http://schemas.microsoft.com/office/drawing/2014/main" id="{6B2795E2-7BAA-5DFA-FC03-ED6E0453ECC9}"/>
              </a:ext>
            </a:extLst>
          </p:cNvPr>
          <p:cNvSpPr>
            <a:spLocks noGrp="1"/>
          </p:cNvSpPr>
          <p:nvPr>
            <p:ph idx="1"/>
          </p:nvPr>
        </p:nvSpPr>
        <p:spPr/>
        <p:txBody>
          <a:bodyPr>
            <a:normAutofit fontScale="92500" lnSpcReduction="10000"/>
          </a:bodyPr>
          <a:lstStyle/>
          <a:p>
            <a:r>
              <a:rPr lang="en-IN" b="0" i="0" dirty="0">
                <a:solidFill>
                  <a:srgbClr val="333333"/>
                </a:solidFill>
                <a:effectLst/>
                <a:latin typeface="Open Sans" panose="020B0606030504020204" pitchFamily="34" charset="0"/>
              </a:rPr>
              <a:t>We can use the following steps to display the elements (nodes) of a stack...</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stack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top</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'Stack is Empty!!!'</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define a Node pointer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and initialize with </a:t>
            </a:r>
            <a:r>
              <a:rPr lang="en-IN" b="1" i="0" dirty="0">
                <a:solidFill>
                  <a:srgbClr val="333333"/>
                </a:solidFill>
                <a:effectLst/>
                <a:latin typeface="Open Sans" panose="020B0606030504020204" pitchFamily="34" charset="0"/>
              </a:rPr>
              <a:t>top</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Display '</a:t>
            </a:r>
            <a:r>
              <a:rPr lang="en-IN" b="1" i="0" dirty="0">
                <a:solidFill>
                  <a:srgbClr val="333333"/>
                </a:solidFill>
                <a:effectLst/>
                <a:latin typeface="Open Sans" panose="020B0606030504020204" pitchFamily="34" charset="0"/>
              </a:rPr>
              <a:t>temp → data</a:t>
            </a:r>
            <a:r>
              <a:rPr lang="en-IN" b="0" i="0" dirty="0">
                <a:solidFill>
                  <a:srgbClr val="333333"/>
                </a:solidFill>
                <a:effectLst/>
                <a:latin typeface="Open Sans" panose="020B0606030504020204" pitchFamily="34" charset="0"/>
              </a:rPr>
              <a:t> ---&gt;' and move it to the next node. Repeat the same until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reaches to the first node in the stack. (</a:t>
            </a:r>
            <a:r>
              <a:rPr lang="en-IN" b="1" i="0" dirty="0">
                <a:solidFill>
                  <a:srgbClr val="333333"/>
                </a:solidFill>
                <a:effectLst/>
                <a:latin typeface="Open Sans" panose="020B0606030504020204" pitchFamily="34" charset="0"/>
              </a:rPr>
              <a:t>temp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Finally! Display '</a:t>
            </a:r>
            <a:r>
              <a:rPr lang="en-IN" b="1" i="0" dirty="0">
                <a:solidFill>
                  <a:srgbClr val="333333"/>
                </a:solidFill>
                <a:effectLst/>
                <a:latin typeface="Open Sans" panose="020B0606030504020204" pitchFamily="34" charset="0"/>
              </a:rPr>
              <a:t>temp → data</a:t>
            </a:r>
            <a:r>
              <a:rPr lang="en-IN" b="0" i="0" dirty="0">
                <a:solidFill>
                  <a:srgbClr val="333333"/>
                </a:solidFill>
                <a:effectLst/>
                <a:latin typeface="Open Sans" panose="020B0606030504020204" pitchFamily="34" charset="0"/>
              </a:rPr>
              <a:t> ---&gt;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endParaRPr lang="en-US" dirty="0"/>
          </a:p>
        </p:txBody>
      </p:sp>
    </p:spTree>
    <p:extLst>
      <p:ext uri="{BB962C8B-B14F-4D97-AF65-F5344CB8AC3E}">
        <p14:creationId xmlns:p14="http://schemas.microsoft.com/office/powerpoint/2010/main" val="1313184730"/>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7FFB9-2C96-6941-7000-F41566E6B117}"/>
              </a:ext>
            </a:extLst>
          </p:cNvPr>
          <p:cNvSpPr>
            <a:spLocks noGrp="1"/>
          </p:cNvSpPr>
          <p:nvPr>
            <p:ph type="title"/>
          </p:nvPr>
        </p:nvSpPr>
        <p:spPr/>
        <p:txBody>
          <a:bodyPr>
            <a:normAutofit/>
          </a:bodyPr>
          <a:lstStyle/>
          <a:p>
            <a:r>
              <a:rPr lang="en-IN" b="1" i="0" dirty="0">
                <a:solidFill>
                  <a:srgbClr val="333333"/>
                </a:solidFill>
                <a:effectLst/>
                <a:latin typeface="Comfortaa"/>
              </a:rPr>
              <a:t>Expressions</a:t>
            </a:r>
            <a:endParaRPr lang="en-US" dirty="0"/>
          </a:p>
        </p:txBody>
      </p:sp>
      <p:sp>
        <p:nvSpPr>
          <p:cNvPr id="3" name="Content Placeholder 2">
            <a:extLst>
              <a:ext uri="{FF2B5EF4-FFF2-40B4-BE49-F238E27FC236}">
                <a16:creationId xmlns:a16="http://schemas.microsoft.com/office/drawing/2014/main" id="{B70774B0-ACCF-3D8A-D17A-7DA2FC86F9FE}"/>
              </a:ext>
            </a:extLst>
          </p:cNvPr>
          <p:cNvSpPr>
            <a:spLocks noGrp="1"/>
          </p:cNvSpPr>
          <p:nvPr>
            <p:ph idx="1"/>
          </p:nvPr>
        </p:nvSpPr>
        <p:spPr/>
        <p:txBody>
          <a:bodyPr>
            <a:normAutofit fontScale="92500" lnSpcReduction="20000"/>
          </a:bodyPr>
          <a:lstStyle/>
          <a:p>
            <a:r>
              <a:rPr lang="en-IN" b="1" i="0" dirty="0">
                <a:solidFill>
                  <a:srgbClr val="333333"/>
                </a:solidFill>
                <a:effectLst/>
                <a:latin typeface="Open Sans" panose="020B0606030504020204" pitchFamily="34" charset="0"/>
              </a:rPr>
              <a:t>An expression is a collection of operators and operands that represents a specific value.</a:t>
            </a:r>
          </a:p>
          <a:p>
            <a:endParaRPr lang="en-IN" b="1" i="0" dirty="0">
              <a:solidFill>
                <a:srgbClr val="E00D50"/>
              </a:solidFill>
              <a:effectLst/>
              <a:latin typeface="Open Sans" panose="020B0606030504020204" pitchFamily="34" charset="0"/>
            </a:endParaRPr>
          </a:p>
          <a:p>
            <a:r>
              <a:rPr lang="en-IN" b="1" i="0" dirty="0">
                <a:solidFill>
                  <a:srgbClr val="E00D50"/>
                </a:solidFill>
                <a:effectLst/>
                <a:latin typeface="Open Sans" panose="020B0606030504020204" pitchFamily="34" charset="0"/>
              </a:rPr>
              <a:t>Expression Types</a:t>
            </a:r>
          </a:p>
          <a:p>
            <a:r>
              <a:rPr lang="en-IN" b="0" i="0" dirty="0">
                <a:solidFill>
                  <a:srgbClr val="333333"/>
                </a:solidFill>
                <a:effectLst/>
                <a:latin typeface="Open Sans" panose="020B0606030504020204" pitchFamily="34" charset="0"/>
              </a:rPr>
              <a:t>Based on the operator position, expressions are divided into THREE types. They are as follows...</a:t>
            </a:r>
          </a:p>
          <a:p>
            <a:pPr>
              <a:buFont typeface="+mj-lt"/>
              <a:buAutoNum type="arabicPeriod"/>
            </a:pPr>
            <a:r>
              <a:rPr lang="en-IN" b="1" i="0" dirty="0">
                <a:solidFill>
                  <a:srgbClr val="333333"/>
                </a:solidFill>
                <a:effectLst/>
                <a:latin typeface="Open Sans" panose="020B0606030504020204" pitchFamily="34" charset="0"/>
              </a:rPr>
              <a:t>Infix Expression</a:t>
            </a:r>
          </a:p>
          <a:p>
            <a:pPr>
              <a:buFont typeface="+mj-lt"/>
              <a:buAutoNum type="arabicPeriod"/>
            </a:pPr>
            <a:r>
              <a:rPr lang="en-IN" b="1" i="0" dirty="0">
                <a:solidFill>
                  <a:srgbClr val="333333"/>
                </a:solidFill>
                <a:effectLst/>
                <a:latin typeface="Open Sans" panose="020B0606030504020204" pitchFamily="34" charset="0"/>
              </a:rPr>
              <a:t>Postfix Expression</a:t>
            </a:r>
          </a:p>
          <a:p>
            <a:pPr>
              <a:buFont typeface="+mj-lt"/>
              <a:buAutoNum type="arabicPeriod"/>
            </a:pPr>
            <a:r>
              <a:rPr lang="en-IN" b="1" i="0" dirty="0">
                <a:solidFill>
                  <a:srgbClr val="333333"/>
                </a:solidFill>
                <a:effectLst/>
                <a:latin typeface="Open Sans" panose="020B0606030504020204" pitchFamily="34" charset="0"/>
              </a:rPr>
              <a:t>Prefix Expression</a:t>
            </a:r>
          </a:p>
          <a:p>
            <a:br>
              <a:rPr lang="en-IN" dirty="0"/>
            </a:br>
            <a:endParaRPr lang="en-US" dirty="0"/>
          </a:p>
        </p:txBody>
      </p:sp>
    </p:spTree>
    <p:extLst>
      <p:ext uri="{BB962C8B-B14F-4D97-AF65-F5344CB8AC3E}">
        <p14:creationId xmlns:p14="http://schemas.microsoft.com/office/powerpoint/2010/main" val="2805905944"/>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98796-6AE7-DB6F-1B52-CE8D47C8169B}"/>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Infix Expression</a:t>
            </a:r>
            <a:endParaRPr lang="en-US" dirty="0"/>
          </a:p>
        </p:txBody>
      </p:sp>
      <p:sp>
        <p:nvSpPr>
          <p:cNvPr id="3" name="Content Placeholder 2">
            <a:extLst>
              <a:ext uri="{FF2B5EF4-FFF2-40B4-BE49-F238E27FC236}">
                <a16:creationId xmlns:a16="http://schemas.microsoft.com/office/drawing/2014/main" id="{E432D3CD-DEE8-3734-F76E-B07175B8DF71}"/>
              </a:ext>
            </a:extLst>
          </p:cNvPr>
          <p:cNvSpPr>
            <a:spLocks noGrp="1"/>
          </p:cNvSpPr>
          <p:nvPr>
            <p:ph idx="1"/>
          </p:nvPr>
        </p:nvSpPr>
        <p:spPr/>
        <p:txBody>
          <a:bodyPr/>
          <a:lstStyle/>
          <a:p>
            <a:endParaRPr lang="en-US"/>
          </a:p>
        </p:txBody>
      </p:sp>
      <p:pic>
        <p:nvPicPr>
          <p:cNvPr id="19458" name="Picture 2" descr="infix expression">
            <a:extLst>
              <a:ext uri="{FF2B5EF4-FFF2-40B4-BE49-F238E27FC236}">
                <a16:creationId xmlns:a16="http://schemas.microsoft.com/office/drawing/2014/main" id="{4C49C3A1-80A4-55E8-3D5E-5A1DB335BF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3000" y="2120900"/>
            <a:ext cx="7366000" cy="2616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7450842"/>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C0024-3406-10C9-3A63-99BE84F8BE17}"/>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Postfix Expression</a:t>
            </a:r>
            <a:endParaRPr lang="en-US" dirty="0"/>
          </a:p>
        </p:txBody>
      </p:sp>
      <p:sp>
        <p:nvSpPr>
          <p:cNvPr id="3" name="Content Placeholder 2">
            <a:extLst>
              <a:ext uri="{FF2B5EF4-FFF2-40B4-BE49-F238E27FC236}">
                <a16:creationId xmlns:a16="http://schemas.microsoft.com/office/drawing/2014/main" id="{DC088B1E-1058-BB82-5932-F354BCC870DC}"/>
              </a:ext>
            </a:extLst>
          </p:cNvPr>
          <p:cNvSpPr>
            <a:spLocks noGrp="1"/>
          </p:cNvSpPr>
          <p:nvPr>
            <p:ph idx="1"/>
          </p:nvPr>
        </p:nvSpPr>
        <p:spPr/>
        <p:txBody>
          <a:bodyPr/>
          <a:lstStyle/>
          <a:p>
            <a:endParaRPr lang="en-US"/>
          </a:p>
        </p:txBody>
      </p:sp>
      <p:pic>
        <p:nvPicPr>
          <p:cNvPr id="20482" name="Picture 2" descr="postfix exression">
            <a:extLst>
              <a:ext uri="{FF2B5EF4-FFF2-40B4-BE49-F238E27FC236}">
                <a16:creationId xmlns:a16="http://schemas.microsoft.com/office/drawing/2014/main" id="{5EDBDFFB-BA23-654A-41F2-98875F3F56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3000" y="2120900"/>
            <a:ext cx="7366000" cy="2616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8650409"/>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B4395-D752-6E1D-E6C2-364A77F62B31}"/>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Prefix Expression</a:t>
            </a:r>
            <a:endParaRPr lang="en-US" dirty="0"/>
          </a:p>
        </p:txBody>
      </p:sp>
      <p:sp>
        <p:nvSpPr>
          <p:cNvPr id="3" name="Content Placeholder 2">
            <a:extLst>
              <a:ext uri="{FF2B5EF4-FFF2-40B4-BE49-F238E27FC236}">
                <a16:creationId xmlns:a16="http://schemas.microsoft.com/office/drawing/2014/main" id="{4C151BCC-603E-4231-C691-9A4532762F4B}"/>
              </a:ext>
            </a:extLst>
          </p:cNvPr>
          <p:cNvSpPr>
            <a:spLocks noGrp="1"/>
          </p:cNvSpPr>
          <p:nvPr>
            <p:ph idx="1"/>
          </p:nvPr>
        </p:nvSpPr>
        <p:spPr/>
        <p:txBody>
          <a:bodyPr/>
          <a:lstStyle/>
          <a:p>
            <a:endParaRPr lang="en-US"/>
          </a:p>
        </p:txBody>
      </p:sp>
      <p:pic>
        <p:nvPicPr>
          <p:cNvPr id="21506" name="Picture 2" descr="prefix expression">
            <a:extLst>
              <a:ext uri="{FF2B5EF4-FFF2-40B4-BE49-F238E27FC236}">
                <a16:creationId xmlns:a16="http://schemas.microsoft.com/office/drawing/2014/main" id="{33E521E4-9376-371C-FD54-B5424BEAA5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3000" y="2120900"/>
            <a:ext cx="7366000" cy="2616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1777260"/>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176CC-A105-024C-0487-02F6D52EF7F6}"/>
              </a:ext>
            </a:extLst>
          </p:cNvPr>
          <p:cNvSpPr>
            <a:spLocks noGrp="1"/>
          </p:cNvSpPr>
          <p:nvPr>
            <p:ph type="title"/>
          </p:nvPr>
        </p:nvSpPr>
        <p:spPr/>
        <p:txBody>
          <a:bodyPr>
            <a:normAutofit/>
          </a:bodyPr>
          <a:lstStyle/>
          <a:p>
            <a:r>
              <a:rPr lang="en-IN" b="1" i="0" dirty="0">
                <a:solidFill>
                  <a:srgbClr val="333333"/>
                </a:solidFill>
                <a:effectLst/>
                <a:latin typeface="Comfortaa"/>
              </a:rPr>
              <a:t>Infix to Postfix Conversion</a:t>
            </a:r>
            <a:endParaRPr lang="en-US" dirty="0"/>
          </a:p>
        </p:txBody>
      </p:sp>
      <p:sp>
        <p:nvSpPr>
          <p:cNvPr id="3" name="Content Placeholder 2">
            <a:extLst>
              <a:ext uri="{FF2B5EF4-FFF2-40B4-BE49-F238E27FC236}">
                <a16:creationId xmlns:a16="http://schemas.microsoft.com/office/drawing/2014/main" id="{90089DD4-B0E5-F422-2EBF-D85BEFBB2FA3}"/>
              </a:ext>
            </a:extLst>
          </p:cNvPr>
          <p:cNvSpPr>
            <a:spLocks noGrp="1"/>
          </p:cNvSpPr>
          <p:nvPr>
            <p:ph idx="1"/>
          </p:nvPr>
        </p:nvSpPr>
        <p:spPr/>
        <p:txBody>
          <a:bodyPr/>
          <a:lstStyle/>
          <a:p>
            <a:pPr algn="just"/>
            <a:r>
              <a:rPr lang="en-IN" b="0" i="0" dirty="0">
                <a:solidFill>
                  <a:srgbClr val="333333"/>
                </a:solidFill>
                <a:effectLst/>
                <a:latin typeface="Open Sans" panose="020B0606030504020204" pitchFamily="34" charset="0"/>
              </a:rPr>
              <a:t>To convert any Infix expression into Postfix or Prefix expression we can use the following procedure...</a:t>
            </a:r>
          </a:p>
          <a:p>
            <a:pPr algn="just">
              <a:buFont typeface="+mj-lt"/>
              <a:buAutoNum type="arabicPeriod"/>
            </a:pPr>
            <a:r>
              <a:rPr lang="en-IN" b="0" i="0" dirty="0">
                <a:solidFill>
                  <a:srgbClr val="333333"/>
                </a:solidFill>
                <a:effectLst/>
                <a:latin typeface="Open Sans" panose="020B0606030504020204" pitchFamily="34" charset="0"/>
              </a:rPr>
              <a:t>Find all the operators in the given Infix Expression.</a:t>
            </a:r>
          </a:p>
          <a:p>
            <a:pPr algn="just">
              <a:buFont typeface="+mj-lt"/>
              <a:buAutoNum type="arabicPeriod"/>
            </a:pPr>
            <a:r>
              <a:rPr lang="en-IN" b="0" i="0" dirty="0">
                <a:solidFill>
                  <a:srgbClr val="333333"/>
                </a:solidFill>
                <a:effectLst/>
                <a:latin typeface="Open Sans" panose="020B0606030504020204" pitchFamily="34" charset="0"/>
              </a:rPr>
              <a:t>Find the order of operators evaluated according to their Operator precedence.</a:t>
            </a:r>
          </a:p>
          <a:p>
            <a:pPr algn="just">
              <a:buFont typeface="+mj-lt"/>
              <a:buAutoNum type="arabicPeriod"/>
            </a:pPr>
            <a:r>
              <a:rPr lang="en-IN" b="0" i="0" dirty="0">
                <a:solidFill>
                  <a:srgbClr val="333333"/>
                </a:solidFill>
                <a:effectLst/>
                <a:latin typeface="Open Sans" panose="020B0606030504020204" pitchFamily="34" charset="0"/>
              </a:rPr>
              <a:t>Convert each operator into required type of expression (Postfix or Prefix) in the same order.</a:t>
            </a:r>
          </a:p>
          <a:p>
            <a:endParaRPr lang="en-US" dirty="0"/>
          </a:p>
        </p:txBody>
      </p:sp>
    </p:spTree>
    <p:extLst>
      <p:ext uri="{BB962C8B-B14F-4D97-AF65-F5344CB8AC3E}">
        <p14:creationId xmlns:p14="http://schemas.microsoft.com/office/powerpoint/2010/main" val="1049995121"/>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0E139-AB5D-B1DF-6035-67B72D046986}"/>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C73107A0-7764-4B75-0A1F-45FA7ECA7F00}"/>
              </a:ext>
            </a:extLst>
          </p:cNvPr>
          <p:cNvSpPr>
            <a:spLocks noGrp="1"/>
          </p:cNvSpPr>
          <p:nvPr>
            <p:ph idx="1"/>
          </p:nvPr>
        </p:nvSpPr>
        <p:spPr/>
        <p:txBody>
          <a:bodyPr>
            <a:normAutofit fontScale="85000" lnSpcReduction="20000"/>
          </a:bodyPr>
          <a:lstStyle/>
          <a:p>
            <a:pPr algn="just"/>
            <a:r>
              <a:rPr lang="en-IN" b="0" i="0" dirty="0">
                <a:solidFill>
                  <a:srgbClr val="333333"/>
                </a:solidFill>
                <a:effectLst/>
                <a:latin typeface="Open Sans" panose="020B0606030504020204" pitchFamily="34" charset="0"/>
              </a:rPr>
              <a:t>Consider the following Infix Expression to be converted into Postfix Expression...</a:t>
            </a:r>
          </a:p>
          <a:p>
            <a:pPr algn="ctr"/>
            <a:r>
              <a:rPr lang="en-IN" b="1" i="0" dirty="0">
                <a:solidFill>
                  <a:srgbClr val="333333"/>
                </a:solidFill>
                <a:effectLst/>
                <a:latin typeface="Open Sans" panose="020B0606030504020204" pitchFamily="34" charset="0"/>
              </a:rPr>
              <a:t>D = A + B * C</a:t>
            </a:r>
          </a:p>
          <a:p>
            <a:pPr algn="just">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The Operators in the given Infix Expression : </a:t>
            </a:r>
            <a:r>
              <a:rPr lang="en-IN" b="1" i="0" dirty="0">
                <a:solidFill>
                  <a:srgbClr val="333333"/>
                </a:solidFill>
                <a:effectLst/>
                <a:latin typeface="Open Sans" panose="020B0606030504020204" pitchFamily="34" charset="0"/>
              </a:rPr>
              <a:t>= , + , *</a:t>
            </a:r>
            <a:endParaRPr lang="en-IN" b="0" i="0" dirty="0">
              <a:solidFill>
                <a:srgbClr val="333333"/>
              </a:solidFill>
              <a:effectLst/>
              <a:latin typeface="Open Sans" panose="020B0606030504020204" pitchFamily="34" charset="0"/>
            </a:endParaRPr>
          </a:p>
          <a:p>
            <a:pPr algn="just">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The Order of Operators according to their preference : </a:t>
            </a:r>
            <a:r>
              <a:rPr lang="en-IN" b="1" i="0" dirty="0">
                <a:solidFill>
                  <a:srgbClr val="333333"/>
                </a:solidFill>
                <a:effectLst/>
                <a:latin typeface="Open Sans" panose="020B0606030504020204" pitchFamily="34" charset="0"/>
              </a:rPr>
              <a:t>* , + , =</a:t>
            </a:r>
            <a:endParaRPr lang="en-IN" b="0" i="0" dirty="0">
              <a:solidFill>
                <a:srgbClr val="333333"/>
              </a:solidFill>
              <a:effectLst/>
              <a:latin typeface="Open Sans" panose="020B0606030504020204" pitchFamily="34" charset="0"/>
            </a:endParaRPr>
          </a:p>
          <a:p>
            <a:pPr algn="just">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Now, convert the first operator </a:t>
            </a:r>
            <a:r>
              <a:rPr lang="en-IN" b="1" i="0" dirty="0">
                <a:solidFill>
                  <a:srgbClr val="333333"/>
                </a:solidFill>
                <a:effectLst/>
                <a:latin typeface="Open Sans" panose="020B0606030504020204" pitchFamily="34" charset="0"/>
              </a:rPr>
              <a: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D = A + </a:t>
            </a:r>
            <a:r>
              <a:rPr lang="en-IN" b="1" i="0" dirty="0">
                <a:solidFill>
                  <a:srgbClr val="008000"/>
                </a:solidFill>
                <a:effectLst/>
                <a:latin typeface="Open Sans" panose="020B0606030504020204" pitchFamily="34" charset="0"/>
              </a:rPr>
              <a:t>B C *</a:t>
            </a:r>
            <a:endParaRPr lang="en-IN" b="0" i="0" dirty="0">
              <a:solidFill>
                <a:srgbClr val="333333"/>
              </a:solidFill>
              <a:effectLst/>
              <a:latin typeface="Open Sans" panose="020B0606030504020204" pitchFamily="34" charset="0"/>
            </a:endParaRPr>
          </a:p>
          <a:p>
            <a:pPr algn="just">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Convert the next operator </a:t>
            </a:r>
            <a:r>
              <a:rPr lang="en-IN" b="1" i="0" dirty="0">
                <a:solidFill>
                  <a:srgbClr val="333333"/>
                </a:solidFill>
                <a:effectLst/>
                <a:latin typeface="Open Sans" panose="020B0606030504020204" pitchFamily="34" charset="0"/>
              </a:rPr>
              <a: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D = </a:t>
            </a:r>
            <a:r>
              <a:rPr lang="en-IN" b="1" i="0" dirty="0">
                <a:solidFill>
                  <a:srgbClr val="008000"/>
                </a:solidFill>
                <a:effectLst/>
                <a:latin typeface="Open Sans" panose="020B0606030504020204" pitchFamily="34" charset="0"/>
              </a:rPr>
              <a:t>A BC* +</a:t>
            </a:r>
            <a:endParaRPr lang="en-IN" b="0" i="0" dirty="0">
              <a:solidFill>
                <a:srgbClr val="333333"/>
              </a:solidFill>
              <a:effectLst/>
              <a:latin typeface="Open Sans" panose="020B0606030504020204" pitchFamily="34" charset="0"/>
            </a:endParaRPr>
          </a:p>
          <a:p>
            <a:pPr algn="just">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Convert the next operator </a:t>
            </a:r>
            <a:r>
              <a:rPr lang="en-IN" b="1" i="0" dirty="0">
                <a:solidFill>
                  <a:srgbClr val="333333"/>
                </a:solidFill>
                <a:effectLst/>
                <a:latin typeface="Open Sans" panose="020B0606030504020204" pitchFamily="34" charset="0"/>
              </a:rPr>
              <a:t>=</a:t>
            </a:r>
            <a:r>
              <a:rPr lang="en-IN" b="0" i="0" dirty="0">
                <a:solidFill>
                  <a:srgbClr val="333333"/>
                </a:solidFill>
                <a:effectLst/>
                <a:latin typeface="Open Sans" panose="020B0606030504020204" pitchFamily="34" charset="0"/>
              </a:rPr>
              <a:t> ----- </a:t>
            </a:r>
            <a:r>
              <a:rPr lang="en-IN" b="1" i="0" dirty="0">
                <a:solidFill>
                  <a:srgbClr val="008000"/>
                </a:solidFill>
                <a:effectLst/>
                <a:latin typeface="Open Sans" panose="020B0606030504020204" pitchFamily="34" charset="0"/>
              </a:rPr>
              <a:t>D ABC*+ =</a:t>
            </a:r>
            <a:endParaRPr lang="en-IN" b="0" i="0" dirty="0">
              <a:solidFill>
                <a:srgbClr val="333333"/>
              </a:solidFill>
              <a:effectLst/>
              <a:latin typeface="Open Sans" panose="020B0606030504020204" pitchFamily="34" charset="0"/>
            </a:endParaRPr>
          </a:p>
          <a:p>
            <a:pPr algn="just"/>
            <a:endParaRPr lang="en-IN" b="0" i="0" dirty="0">
              <a:solidFill>
                <a:srgbClr val="333333"/>
              </a:solidFill>
              <a:effectLst/>
              <a:latin typeface="Open Sans" panose="020B0606030504020204" pitchFamily="34" charset="0"/>
            </a:endParaRPr>
          </a:p>
          <a:p>
            <a:pPr algn="just"/>
            <a:r>
              <a:rPr lang="en-IN" b="0" i="0" dirty="0">
                <a:solidFill>
                  <a:srgbClr val="333333"/>
                </a:solidFill>
                <a:effectLst/>
                <a:latin typeface="Open Sans" panose="020B0606030504020204" pitchFamily="34" charset="0"/>
              </a:rPr>
              <a:t>Finally, given Infix Expression is converted into Postfix Expression as follows...</a:t>
            </a:r>
          </a:p>
          <a:p>
            <a:pPr algn="ctr"/>
            <a:r>
              <a:rPr lang="en-IN" b="1" i="0" dirty="0">
                <a:solidFill>
                  <a:srgbClr val="333333"/>
                </a:solidFill>
                <a:effectLst/>
                <a:latin typeface="Open Sans" panose="020B0606030504020204" pitchFamily="34" charset="0"/>
              </a:rPr>
              <a:t>D A B C * + =</a:t>
            </a:r>
          </a:p>
          <a:p>
            <a:endParaRPr lang="en-US" dirty="0"/>
          </a:p>
        </p:txBody>
      </p:sp>
    </p:spTree>
    <p:extLst>
      <p:ext uri="{BB962C8B-B14F-4D97-AF65-F5344CB8AC3E}">
        <p14:creationId xmlns:p14="http://schemas.microsoft.com/office/powerpoint/2010/main" val="1291654465"/>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DD160-5564-0D7B-2FFE-2ED1CE267B64}"/>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Infix to Postfix Conversion using Stack Data Structure</a:t>
            </a:r>
            <a:endParaRPr lang="en-US" dirty="0"/>
          </a:p>
        </p:txBody>
      </p:sp>
      <p:sp>
        <p:nvSpPr>
          <p:cNvPr id="3" name="Content Placeholder 2">
            <a:extLst>
              <a:ext uri="{FF2B5EF4-FFF2-40B4-BE49-F238E27FC236}">
                <a16:creationId xmlns:a16="http://schemas.microsoft.com/office/drawing/2014/main" id="{3A31F9BA-6F2F-2FCC-658E-889967573092}"/>
              </a:ext>
            </a:extLst>
          </p:cNvPr>
          <p:cNvSpPr>
            <a:spLocks noGrp="1"/>
          </p:cNvSpPr>
          <p:nvPr>
            <p:ph idx="1"/>
          </p:nvPr>
        </p:nvSpPr>
        <p:spPr/>
        <p:txBody>
          <a:bodyPr>
            <a:normAutofit fontScale="77500" lnSpcReduction="20000"/>
          </a:bodyPr>
          <a:lstStyle/>
          <a:p>
            <a:pPr algn="just"/>
            <a:r>
              <a:rPr lang="en-IN" b="0" i="0" dirty="0">
                <a:solidFill>
                  <a:srgbClr val="333333"/>
                </a:solidFill>
                <a:effectLst/>
                <a:latin typeface="Open Sans" panose="020B0606030504020204" pitchFamily="34" charset="0"/>
              </a:rPr>
              <a:t>To convert Infix Expression into Postfix Expression using a stack data structure, We can use the following steps...</a:t>
            </a:r>
          </a:p>
          <a:p>
            <a:pPr algn="just">
              <a:buFont typeface="+mj-lt"/>
              <a:buAutoNum type="arabicPeriod"/>
            </a:pPr>
            <a:r>
              <a:rPr lang="en-IN" b="1" i="0" dirty="0">
                <a:solidFill>
                  <a:srgbClr val="333333"/>
                </a:solidFill>
                <a:effectLst/>
                <a:latin typeface="Open Sans" panose="020B0606030504020204" pitchFamily="34" charset="0"/>
              </a:rPr>
              <a:t>Read all the symbols one by one from left to right in the given Infix Expression.</a:t>
            </a:r>
          </a:p>
          <a:p>
            <a:pPr algn="just">
              <a:buFont typeface="+mj-lt"/>
              <a:buAutoNum type="arabicPeriod"/>
            </a:pPr>
            <a:r>
              <a:rPr lang="en-IN" b="1" i="0" dirty="0">
                <a:solidFill>
                  <a:srgbClr val="333333"/>
                </a:solidFill>
                <a:effectLst/>
                <a:latin typeface="Open Sans" panose="020B0606030504020204" pitchFamily="34" charset="0"/>
              </a:rPr>
              <a:t>If the reading symbol is </a:t>
            </a:r>
            <a:r>
              <a:rPr lang="en-IN" b="1" i="0" dirty="0">
                <a:solidFill>
                  <a:srgbClr val="008000"/>
                </a:solidFill>
                <a:effectLst/>
                <a:latin typeface="Open Sans" panose="020B0606030504020204" pitchFamily="34" charset="0"/>
              </a:rPr>
              <a:t>operand</a:t>
            </a:r>
            <a:r>
              <a:rPr lang="en-IN" b="1" i="0" dirty="0">
                <a:solidFill>
                  <a:srgbClr val="333333"/>
                </a:solidFill>
                <a:effectLst/>
                <a:latin typeface="Open Sans" panose="020B0606030504020204" pitchFamily="34" charset="0"/>
              </a:rPr>
              <a:t>, then directly print it to the result (Output).</a:t>
            </a:r>
          </a:p>
          <a:p>
            <a:pPr algn="just">
              <a:buFont typeface="+mj-lt"/>
              <a:buAutoNum type="arabicPeriod"/>
            </a:pPr>
            <a:r>
              <a:rPr lang="en-IN" b="1" i="0" dirty="0">
                <a:solidFill>
                  <a:srgbClr val="333333"/>
                </a:solidFill>
                <a:effectLst/>
                <a:latin typeface="Open Sans" panose="020B0606030504020204" pitchFamily="34" charset="0"/>
              </a:rPr>
              <a:t>If the reading symbol is </a:t>
            </a:r>
            <a:r>
              <a:rPr lang="en-IN" b="1" i="0" dirty="0">
                <a:solidFill>
                  <a:srgbClr val="008000"/>
                </a:solidFill>
                <a:effectLst/>
                <a:latin typeface="Open Sans" panose="020B0606030504020204" pitchFamily="34" charset="0"/>
              </a:rPr>
              <a:t>left parenthesis '('</a:t>
            </a:r>
            <a:r>
              <a:rPr lang="en-IN" b="1" i="0" dirty="0">
                <a:solidFill>
                  <a:srgbClr val="333333"/>
                </a:solidFill>
                <a:effectLst/>
                <a:latin typeface="Open Sans" panose="020B0606030504020204" pitchFamily="34" charset="0"/>
              </a:rPr>
              <a:t>, then Push it on to the Stack.</a:t>
            </a:r>
          </a:p>
          <a:p>
            <a:pPr algn="just">
              <a:buFont typeface="+mj-lt"/>
              <a:buAutoNum type="arabicPeriod"/>
            </a:pPr>
            <a:r>
              <a:rPr lang="en-IN" b="1" i="0" dirty="0">
                <a:solidFill>
                  <a:srgbClr val="333333"/>
                </a:solidFill>
                <a:effectLst/>
                <a:latin typeface="Open Sans" panose="020B0606030504020204" pitchFamily="34" charset="0"/>
              </a:rPr>
              <a:t>If the reading symbol is </a:t>
            </a:r>
            <a:r>
              <a:rPr lang="en-IN" b="1" i="0" dirty="0">
                <a:solidFill>
                  <a:srgbClr val="008000"/>
                </a:solidFill>
                <a:effectLst/>
                <a:latin typeface="Open Sans" panose="020B0606030504020204" pitchFamily="34" charset="0"/>
              </a:rPr>
              <a:t>right parenthesis ')'</a:t>
            </a:r>
            <a:r>
              <a:rPr lang="en-IN" b="1" i="0" dirty="0">
                <a:solidFill>
                  <a:srgbClr val="333333"/>
                </a:solidFill>
                <a:effectLst/>
                <a:latin typeface="Open Sans" panose="020B0606030504020204" pitchFamily="34" charset="0"/>
              </a:rPr>
              <a:t>, then Pop all the contents of stack until respective left parenthesis is </a:t>
            </a:r>
            <a:r>
              <a:rPr lang="en-IN" b="1" i="0" dirty="0" err="1">
                <a:solidFill>
                  <a:srgbClr val="333333"/>
                </a:solidFill>
                <a:effectLst/>
                <a:latin typeface="Open Sans" panose="020B0606030504020204" pitchFamily="34" charset="0"/>
              </a:rPr>
              <a:t>poped</a:t>
            </a:r>
            <a:r>
              <a:rPr lang="en-IN" b="1" i="0" dirty="0">
                <a:solidFill>
                  <a:srgbClr val="333333"/>
                </a:solidFill>
                <a:effectLst/>
                <a:latin typeface="Open Sans" panose="020B0606030504020204" pitchFamily="34" charset="0"/>
              </a:rPr>
              <a:t> and print each </a:t>
            </a:r>
            <a:r>
              <a:rPr lang="en-IN" b="1" i="0" dirty="0" err="1">
                <a:solidFill>
                  <a:srgbClr val="333333"/>
                </a:solidFill>
                <a:effectLst/>
                <a:latin typeface="Open Sans" panose="020B0606030504020204" pitchFamily="34" charset="0"/>
              </a:rPr>
              <a:t>poped</a:t>
            </a:r>
            <a:r>
              <a:rPr lang="en-IN" b="1" i="0" dirty="0">
                <a:solidFill>
                  <a:srgbClr val="333333"/>
                </a:solidFill>
                <a:effectLst/>
                <a:latin typeface="Open Sans" panose="020B0606030504020204" pitchFamily="34" charset="0"/>
              </a:rPr>
              <a:t> symbol to the result.</a:t>
            </a:r>
          </a:p>
          <a:p>
            <a:pPr algn="just">
              <a:buFont typeface="+mj-lt"/>
              <a:buAutoNum type="arabicPeriod"/>
            </a:pPr>
            <a:r>
              <a:rPr lang="en-IN" b="1" i="0" dirty="0">
                <a:solidFill>
                  <a:srgbClr val="333333"/>
                </a:solidFill>
                <a:effectLst/>
                <a:latin typeface="Open Sans" panose="020B0606030504020204" pitchFamily="34" charset="0"/>
              </a:rPr>
              <a:t>If the reading symbol is </a:t>
            </a:r>
            <a:r>
              <a:rPr lang="en-IN" b="1" i="0" dirty="0">
                <a:solidFill>
                  <a:srgbClr val="008000"/>
                </a:solidFill>
                <a:effectLst/>
                <a:latin typeface="Open Sans" panose="020B0606030504020204" pitchFamily="34" charset="0"/>
              </a:rPr>
              <a:t>operator (+ , - , * , / etc.,)</a:t>
            </a:r>
            <a:r>
              <a:rPr lang="en-IN" b="1" i="0" dirty="0">
                <a:solidFill>
                  <a:srgbClr val="333333"/>
                </a:solidFill>
                <a:effectLst/>
                <a:latin typeface="Open Sans" panose="020B0606030504020204" pitchFamily="34" charset="0"/>
              </a:rPr>
              <a:t>, then Push it on to the Stack. However, first pop the operators which are already on the stack that have higher or equal precedence than current operator and print them to the result.</a:t>
            </a:r>
          </a:p>
          <a:p>
            <a:endParaRPr lang="en-US" dirty="0"/>
          </a:p>
        </p:txBody>
      </p:sp>
    </p:spTree>
    <p:extLst>
      <p:ext uri="{BB962C8B-B14F-4D97-AF65-F5344CB8AC3E}">
        <p14:creationId xmlns:p14="http://schemas.microsoft.com/office/powerpoint/2010/main" val="372236587"/>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7295C-6610-BA6A-C954-D338356B93C2}"/>
              </a:ext>
            </a:extLst>
          </p:cNvPr>
          <p:cNvSpPr>
            <a:spLocks noGrp="1"/>
          </p:cNvSpPr>
          <p:nvPr>
            <p:ph type="title"/>
          </p:nvPr>
        </p:nvSpPr>
        <p:spPr/>
        <p:txBody>
          <a:bodyPr>
            <a:normAutofit/>
          </a:bodyPr>
          <a:lstStyle/>
          <a:p>
            <a:r>
              <a:rPr lang="en-IN" b="1" i="0" dirty="0">
                <a:solidFill>
                  <a:srgbClr val="333333"/>
                </a:solidFill>
                <a:effectLst/>
                <a:latin typeface="Comfortaa"/>
              </a:rPr>
              <a:t>Postfix Expression Evaluation</a:t>
            </a:r>
            <a:endParaRPr lang="en-US" dirty="0"/>
          </a:p>
        </p:txBody>
      </p:sp>
      <p:sp>
        <p:nvSpPr>
          <p:cNvPr id="3" name="Content Placeholder 2">
            <a:extLst>
              <a:ext uri="{FF2B5EF4-FFF2-40B4-BE49-F238E27FC236}">
                <a16:creationId xmlns:a16="http://schemas.microsoft.com/office/drawing/2014/main" id="{D121AF63-AC65-56BE-CD0C-79C9EB007BD8}"/>
              </a:ext>
            </a:extLst>
          </p:cNvPr>
          <p:cNvSpPr>
            <a:spLocks noGrp="1"/>
          </p:cNvSpPr>
          <p:nvPr>
            <p:ph idx="1"/>
          </p:nvPr>
        </p:nvSpPr>
        <p:spPr/>
        <p:txBody>
          <a:bodyPr/>
          <a:lstStyle/>
          <a:p>
            <a:endParaRPr lang="en-US"/>
          </a:p>
        </p:txBody>
      </p:sp>
      <p:pic>
        <p:nvPicPr>
          <p:cNvPr id="22530" name="Picture 2" descr="postfix expression evaluation">
            <a:extLst>
              <a:ext uri="{FF2B5EF4-FFF2-40B4-BE49-F238E27FC236}">
                <a16:creationId xmlns:a16="http://schemas.microsoft.com/office/drawing/2014/main" id="{8A394A05-ECC5-C3C0-2D01-D71DBCE46B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3000" y="2120900"/>
            <a:ext cx="7366000" cy="2616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2333077"/>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5A736-A3D6-CBDD-DC0B-08C514837371}"/>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Postfix Expression Evaluation using Stack Data Structure</a:t>
            </a:r>
            <a:endParaRPr lang="en-US" dirty="0"/>
          </a:p>
        </p:txBody>
      </p:sp>
      <p:sp>
        <p:nvSpPr>
          <p:cNvPr id="3" name="Content Placeholder 2">
            <a:extLst>
              <a:ext uri="{FF2B5EF4-FFF2-40B4-BE49-F238E27FC236}">
                <a16:creationId xmlns:a16="http://schemas.microsoft.com/office/drawing/2014/main" id="{BC617BC6-1572-2E92-4074-96584A75D836}"/>
              </a:ext>
            </a:extLst>
          </p:cNvPr>
          <p:cNvSpPr>
            <a:spLocks noGrp="1"/>
          </p:cNvSpPr>
          <p:nvPr>
            <p:ph idx="1"/>
          </p:nvPr>
        </p:nvSpPr>
        <p:spPr/>
        <p:txBody>
          <a:bodyPr>
            <a:normAutofit fontScale="85000" lnSpcReduction="20000"/>
          </a:bodyPr>
          <a:lstStyle/>
          <a:p>
            <a:r>
              <a:rPr lang="en-IN" b="0" i="0" dirty="0">
                <a:solidFill>
                  <a:srgbClr val="333333"/>
                </a:solidFill>
                <a:effectLst/>
                <a:latin typeface="Open Sans" panose="020B0606030504020204" pitchFamily="34" charset="0"/>
              </a:rPr>
              <a:t>A postfix expression can be evaluated using the Stack data structure. To evaluate a postfix expression using Stack data structure we can use the following steps...</a:t>
            </a:r>
          </a:p>
          <a:p>
            <a:pPr>
              <a:buFont typeface="+mj-lt"/>
              <a:buAutoNum type="arabicPeriod"/>
            </a:pPr>
            <a:r>
              <a:rPr lang="en-IN" b="1" i="0" dirty="0">
                <a:solidFill>
                  <a:srgbClr val="333333"/>
                </a:solidFill>
                <a:effectLst/>
                <a:latin typeface="Open Sans" panose="020B0606030504020204" pitchFamily="34" charset="0"/>
              </a:rPr>
              <a:t>Read all the symbols one by one from left to right in the given Postfix Expression</a:t>
            </a:r>
          </a:p>
          <a:p>
            <a:pPr>
              <a:buFont typeface="+mj-lt"/>
              <a:buAutoNum type="arabicPeriod"/>
            </a:pPr>
            <a:r>
              <a:rPr lang="en-IN" b="1" i="0" dirty="0">
                <a:solidFill>
                  <a:srgbClr val="333333"/>
                </a:solidFill>
                <a:effectLst/>
                <a:latin typeface="Open Sans" panose="020B0606030504020204" pitchFamily="34" charset="0"/>
              </a:rPr>
              <a:t>If the reading symbol is </a:t>
            </a:r>
            <a:r>
              <a:rPr lang="en-IN" b="1" i="0" dirty="0">
                <a:solidFill>
                  <a:srgbClr val="008000"/>
                </a:solidFill>
                <a:effectLst/>
                <a:latin typeface="Open Sans" panose="020B0606030504020204" pitchFamily="34" charset="0"/>
              </a:rPr>
              <a:t>operand</a:t>
            </a:r>
            <a:r>
              <a:rPr lang="en-IN" b="1" i="0" dirty="0">
                <a:solidFill>
                  <a:srgbClr val="333333"/>
                </a:solidFill>
                <a:effectLst/>
                <a:latin typeface="Open Sans" panose="020B0606030504020204" pitchFamily="34" charset="0"/>
              </a:rPr>
              <a:t>, then push it on to the Stack.</a:t>
            </a:r>
          </a:p>
          <a:p>
            <a:pPr>
              <a:buFont typeface="+mj-lt"/>
              <a:buAutoNum type="arabicPeriod"/>
            </a:pPr>
            <a:r>
              <a:rPr lang="en-IN" b="1" i="0" dirty="0">
                <a:solidFill>
                  <a:srgbClr val="333333"/>
                </a:solidFill>
                <a:effectLst/>
                <a:latin typeface="Open Sans" panose="020B0606030504020204" pitchFamily="34" charset="0"/>
              </a:rPr>
              <a:t>If the reading symbol is </a:t>
            </a:r>
            <a:r>
              <a:rPr lang="en-IN" b="1" i="0" dirty="0">
                <a:solidFill>
                  <a:srgbClr val="008000"/>
                </a:solidFill>
                <a:effectLst/>
                <a:latin typeface="Open Sans" panose="020B0606030504020204" pitchFamily="34" charset="0"/>
              </a:rPr>
              <a:t>operator (+ , - , * , / etc.,)</a:t>
            </a:r>
            <a:r>
              <a:rPr lang="en-IN" b="1" i="0" dirty="0">
                <a:solidFill>
                  <a:srgbClr val="333333"/>
                </a:solidFill>
                <a:effectLst/>
                <a:latin typeface="Open Sans" panose="020B0606030504020204" pitchFamily="34" charset="0"/>
              </a:rPr>
              <a:t>, then perform TWO pop operations and store the two popped </a:t>
            </a:r>
            <a:r>
              <a:rPr lang="en-IN" b="1" i="0" dirty="0" err="1">
                <a:solidFill>
                  <a:srgbClr val="333333"/>
                </a:solidFill>
                <a:effectLst/>
                <a:latin typeface="Open Sans" panose="020B0606030504020204" pitchFamily="34" charset="0"/>
              </a:rPr>
              <a:t>oparands</a:t>
            </a:r>
            <a:r>
              <a:rPr lang="en-IN" b="1" i="0" dirty="0">
                <a:solidFill>
                  <a:srgbClr val="333333"/>
                </a:solidFill>
                <a:effectLst/>
                <a:latin typeface="Open Sans" panose="020B0606030504020204" pitchFamily="34" charset="0"/>
              </a:rPr>
              <a:t> in two different variables (operand1 and operand2). Then perform reading symbol operation using operand1 and operand2 and push result back on to the Stack.</a:t>
            </a:r>
          </a:p>
          <a:p>
            <a:pPr>
              <a:buFont typeface="+mj-lt"/>
              <a:buAutoNum type="arabicPeriod"/>
            </a:pPr>
            <a:r>
              <a:rPr lang="en-IN" b="1" i="0" dirty="0">
                <a:solidFill>
                  <a:srgbClr val="333333"/>
                </a:solidFill>
                <a:effectLst/>
                <a:latin typeface="Open Sans" panose="020B0606030504020204" pitchFamily="34" charset="0"/>
              </a:rPr>
              <a:t>Finally! perform a pop operation and display the popped value as final result.</a:t>
            </a:r>
          </a:p>
          <a:p>
            <a:endParaRPr lang="en-US" dirty="0"/>
          </a:p>
        </p:txBody>
      </p:sp>
    </p:spTree>
    <p:extLst>
      <p:ext uri="{BB962C8B-B14F-4D97-AF65-F5344CB8AC3E}">
        <p14:creationId xmlns:p14="http://schemas.microsoft.com/office/powerpoint/2010/main" val="2667490756"/>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767D7-0C4D-257D-8DEC-1B33B17CB146}"/>
              </a:ext>
            </a:extLst>
          </p:cNvPr>
          <p:cNvSpPr>
            <a:spLocks noGrp="1"/>
          </p:cNvSpPr>
          <p:nvPr>
            <p:ph type="title"/>
          </p:nvPr>
        </p:nvSpPr>
        <p:spPr/>
        <p:txBody>
          <a:bodyPr>
            <a:normAutofit/>
          </a:bodyPr>
          <a:lstStyle/>
          <a:p>
            <a:r>
              <a:rPr lang="en-IN" b="1" i="0" dirty="0">
                <a:solidFill>
                  <a:srgbClr val="333333"/>
                </a:solidFill>
                <a:effectLst/>
                <a:latin typeface="Comfortaa"/>
              </a:rPr>
              <a:t>Queue ADT</a:t>
            </a:r>
            <a:endParaRPr lang="en-US" dirty="0"/>
          </a:p>
        </p:txBody>
      </p:sp>
      <p:sp>
        <p:nvSpPr>
          <p:cNvPr id="3" name="Content Placeholder 2">
            <a:extLst>
              <a:ext uri="{FF2B5EF4-FFF2-40B4-BE49-F238E27FC236}">
                <a16:creationId xmlns:a16="http://schemas.microsoft.com/office/drawing/2014/main" id="{74F4D85B-4CD3-F009-DBD4-B0768264E9E7}"/>
              </a:ext>
            </a:extLst>
          </p:cNvPr>
          <p:cNvSpPr>
            <a:spLocks noGrp="1"/>
          </p:cNvSpPr>
          <p:nvPr>
            <p:ph idx="1"/>
          </p:nvPr>
        </p:nvSpPr>
        <p:spPr/>
        <p:txBody>
          <a:bodyPr/>
          <a:lstStyle/>
          <a:p>
            <a:r>
              <a:rPr lang="en-IN" b="1" i="0" dirty="0">
                <a:solidFill>
                  <a:srgbClr val="333333"/>
                </a:solidFill>
                <a:effectLst/>
                <a:latin typeface="Open Sans" panose="020B0606030504020204" pitchFamily="34" charset="0"/>
              </a:rPr>
              <a:t>Queue data structure is a linear data structure in which the operations are performed based on FIFO principle.</a:t>
            </a:r>
          </a:p>
          <a:p>
            <a:r>
              <a:rPr lang="en-IN" b="1" i="0" dirty="0">
                <a:solidFill>
                  <a:srgbClr val="333333"/>
                </a:solidFill>
                <a:effectLst/>
                <a:latin typeface="Open Sans" panose="020B0606030504020204" pitchFamily="34" charset="0"/>
              </a:rPr>
              <a:t>"Queue data structure is a collection of similar data items in which insertion and deletion operations are performed based on FIFO principle".</a:t>
            </a:r>
          </a:p>
          <a:p>
            <a:br>
              <a:rPr lang="en-IN" dirty="0"/>
            </a:br>
            <a:br>
              <a:rPr lang="en-IN" dirty="0"/>
            </a:br>
            <a:endParaRPr lang="en-US" dirty="0"/>
          </a:p>
        </p:txBody>
      </p:sp>
      <p:pic>
        <p:nvPicPr>
          <p:cNvPr id="23554" name="Picture 2" descr="Queue ADT">
            <a:extLst>
              <a:ext uri="{FF2B5EF4-FFF2-40B4-BE49-F238E27FC236}">
                <a16:creationId xmlns:a16="http://schemas.microsoft.com/office/drawing/2014/main" id="{E5AF80F3-1328-5C05-EA04-D66DB2911F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78299" y="3302000"/>
            <a:ext cx="8255000" cy="2032000"/>
          </a:xfrm>
          <a:prstGeom prst="rect">
            <a:avLst/>
          </a:prstGeom>
          <a:noFill/>
          <a:extLst>
            <a:ext uri="{909E8E84-426E-40DD-AFC4-6F175D3DCCD1}">
              <a14:hiddenFill xmlns:a14="http://schemas.microsoft.com/office/drawing/2010/main">
                <a:solidFill>
                  <a:srgbClr val="FFFFFF"/>
                </a:solidFill>
              </a14:hiddenFill>
            </a:ext>
          </a:extLst>
        </p:spPr>
      </p:pic>
      <p:pic>
        <p:nvPicPr>
          <p:cNvPr id="23556" name="Picture 4" descr="queue data structure">
            <a:extLst>
              <a:ext uri="{FF2B5EF4-FFF2-40B4-BE49-F238E27FC236}">
                <a16:creationId xmlns:a16="http://schemas.microsoft.com/office/drawing/2014/main" id="{E71D6D7D-3AF4-3C8E-1B07-05EBE11C3E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637" y="4809332"/>
            <a:ext cx="8255000" cy="2120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5690442"/>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BC121-F281-96D1-F7A1-09C0C6BF9E99}"/>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Operations on a Queue</a:t>
            </a:r>
            <a:endParaRPr lang="en-US" dirty="0"/>
          </a:p>
        </p:txBody>
      </p:sp>
      <p:sp>
        <p:nvSpPr>
          <p:cNvPr id="3" name="Content Placeholder 2">
            <a:extLst>
              <a:ext uri="{FF2B5EF4-FFF2-40B4-BE49-F238E27FC236}">
                <a16:creationId xmlns:a16="http://schemas.microsoft.com/office/drawing/2014/main" id="{1F48256A-A893-5F8E-C880-6D6C598888E6}"/>
              </a:ext>
            </a:extLst>
          </p:cNvPr>
          <p:cNvSpPr>
            <a:spLocks noGrp="1"/>
          </p:cNvSpPr>
          <p:nvPr>
            <p:ph idx="1"/>
          </p:nvPr>
        </p:nvSpPr>
        <p:spPr/>
        <p:txBody>
          <a:bodyPr>
            <a:normAutofit fontScale="92500" lnSpcReduction="10000"/>
          </a:bodyPr>
          <a:lstStyle/>
          <a:p>
            <a:pPr algn="just"/>
            <a:r>
              <a:rPr lang="en-IN" b="0" i="0" dirty="0">
                <a:solidFill>
                  <a:srgbClr val="333333"/>
                </a:solidFill>
                <a:effectLst/>
                <a:latin typeface="Open Sans" panose="020B0606030504020204" pitchFamily="34" charset="0"/>
              </a:rPr>
              <a:t>The following operations are performed on a queue data structure...</a:t>
            </a:r>
          </a:p>
          <a:p>
            <a:pPr algn="just">
              <a:buFont typeface="+mj-lt"/>
              <a:buAutoNum type="arabicPeriod"/>
            </a:pPr>
            <a:r>
              <a:rPr lang="en-IN" b="1" i="0" dirty="0" err="1">
                <a:solidFill>
                  <a:srgbClr val="333333"/>
                </a:solidFill>
                <a:effectLst/>
                <a:latin typeface="Open Sans" panose="020B0606030504020204" pitchFamily="34" charset="0"/>
              </a:rPr>
              <a:t>enQueue</a:t>
            </a:r>
            <a:r>
              <a:rPr lang="en-IN" b="1" i="0" dirty="0">
                <a:solidFill>
                  <a:srgbClr val="333333"/>
                </a:solidFill>
                <a:effectLst/>
                <a:latin typeface="Open Sans" panose="020B0606030504020204" pitchFamily="34" charset="0"/>
              </a:rPr>
              <a:t>(value) - (To insert an element into the queue)</a:t>
            </a:r>
          </a:p>
          <a:p>
            <a:pPr algn="just">
              <a:buFont typeface="+mj-lt"/>
              <a:buAutoNum type="arabicPeriod"/>
            </a:pPr>
            <a:r>
              <a:rPr lang="en-IN" b="1" i="0" dirty="0" err="1">
                <a:solidFill>
                  <a:srgbClr val="333333"/>
                </a:solidFill>
                <a:effectLst/>
                <a:latin typeface="Open Sans" panose="020B0606030504020204" pitchFamily="34" charset="0"/>
              </a:rPr>
              <a:t>deQueue</a:t>
            </a:r>
            <a:r>
              <a:rPr lang="en-IN" b="1" i="0" dirty="0">
                <a:solidFill>
                  <a:srgbClr val="333333"/>
                </a:solidFill>
                <a:effectLst/>
                <a:latin typeface="Open Sans" panose="020B0606030504020204" pitchFamily="34" charset="0"/>
              </a:rPr>
              <a:t>() - (To delete an element from the queue)</a:t>
            </a:r>
          </a:p>
          <a:p>
            <a:pPr algn="just">
              <a:buFont typeface="+mj-lt"/>
              <a:buAutoNum type="arabicPeriod"/>
            </a:pPr>
            <a:r>
              <a:rPr lang="en-IN" b="1" i="0" dirty="0">
                <a:solidFill>
                  <a:srgbClr val="333333"/>
                </a:solidFill>
                <a:effectLst/>
                <a:latin typeface="Open Sans" panose="020B0606030504020204" pitchFamily="34" charset="0"/>
              </a:rPr>
              <a:t>display() - (To display the elements of the queue)</a:t>
            </a:r>
          </a:p>
          <a:p>
            <a:pPr algn="just"/>
            <a:endParaRPr lang="en-IN" b="0" i="0" dirty="0">
              <a:solidFill>
                <a:srgbClr val="333333"/>
              </a:solidFill>
              <a:effectLst/>
              <a:latin typeface="Open Sans" panose="020B0606030504020204" pitchFamily="34" charset="0"/>
            </a:endParaRPr>
          </a:p>
          <a:p>
            <a:pPr algn="just"/>
            <a:r>
              <a:rPr lang="en-IN" b="0" i="0" dirty="0">
                <a:solidFill>
                  <a:srgbClr val="333333"/>
                </a:solidFill>
                <a:effectLst/>
                <a:latin typeface="Open Sans" panose="020B0606030504020204" pitchFamily="34" charset="0"/>
              </a:rPr>
              <a:t>Queue data structure can be implemented in two ways. They are as follows...</a:t>
            </a:r>
          </a:p>
          <a:p>
            <a:pPr algn="just">
              <a:buFont typeface="+mj-lt"/>
              <a:buAutoNum type="arabicPeriod"/>
            </a:pPr>
            <a:r>
              <a:rPr lang="en-IN" b="1" i="0" dirty="0">
                <a:solidFill>
                  <a:srgbClr val="333333"/>
                </a:solidFill>
                <a:effectLst/>
                <a:latin typeface="Open Sans" panose="020B0606030504020204" pitchFamily="34" charset="0"/>
              </a:rPr>
              <a:t>Using Array</a:t>
            </a:r>
          </a:p>
          <a:p>
            <a:pPr algn="just">
              <a:buFont typeface="+mj-lt"/>
              <a:buAutoNum type="arabicPeriod"/>
            </a:pPr>
            <a:r>
              <a:rPr lang="en-IN" b="1" i="0" dirty="0">
                <a:solidFill>
                  <a:srgbClr val="333333"/>
                </a:solidFill>
                <a:effectLst/>
                <a:latin typeface="Open Sans" panose="020B0606030504020204" pitchFamily="34" charset="0"/>
              </a:rPr>
              <a:t>Using Linked List</a:t>
            </a:r>
          </a:p>
          <a:p>
            <a:endParaRPr lang="en-US" dirty="0"/>
          </a:p>
        </p:txBody>
      </p:sp>
    </p:spTree>
    <p:extLst>
      <p:ext uri="{BB962C8B-B14F-4D97-AF65-F5344CB8AC3E}">
        <p14:creationId xmlns:p14="http://schemas.microsoft.com/office/powerpoint/2010/main" val="3278032317"/>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39E92-EFD4-1270-37CA-BFC3DE7EB319}"/>
              </a:ext>
            </a:extLst>
          </p:cNvPr>
          <p:cNvSpPr>
            <a:spLocks noGrp="1"/>
          </p:cNvSpPr>
          <p:nvPr>
            <p:ph type="title"/>
          </p:nvPr>
        </p:nvSpPr>
        <p:spPr/>
        <p:txBody>
          <a:bodyPr>
            <a:normAutofit/>
          </a:bodyPr>
          <a:lstStyle/>
          <a:p>
            <a:r>
              <a:rPr lang="en-IN" b="1" i="0" dirty="0">
                <a:solidFill>
                  <a:srgbClr val="333333"/>
                </a:solidFill>
                <a:effectLst/>
                <a:latin typeface="Comfortaa"/>
              </a:rPr>
              <a:t>Queue </a:t>
            </a:r>
            <a:r>
              <a:rPr lang="en-IN" b="1" i="0" dirty="0" err="1">
                <a:solidFill>
                  <a:srgbClr val="333333"/>
                </a:solidFill>
                <a:effectLst/>
                <a:latin typeface="Comfortaa"/>
              </a:rPr>
              <a:t>Datastructure</a:t>
            </a:r>
            <a:r>
              <a:rPr lang="en-IN" b="1" i="0" dirty="0">
                <a:solidFill>
                  <a:srgbClr val="333333"/>
                </a:solidFill>
                <a:effectLst/>
                <a:latin typeface="Comfortaa"/>
              </a:rPr>
              <a:t> Using Array</a:t>
            </a:r>
            <a:endParaRPr lang="en-US" dirty="0"/>
          </a:p>
        </p:txBody>
      </p:sp>
      <p:sp>
        <p:nvSpPr>
          <p:cNvPr id="3" name="Content Placeholder 2">
            <a:extLst>
              <a:ext uri="{FF2B5EF4-FFF2-40B4-BE49-F238E27FC236}">
                <a16:creationId xmlns:a16="http://schemas.microsoft.com/office/drawing/2014/main" id="{B32B8D3B-61BA-D236-77E3-72DC800DC68B}"/>
              </a:ext>
            </a:extLst>
          </p:cNvPr>
          <p:cNvSpPr>
            <a:spLocks noGrp="1"/>
          </p:cNvSpPr>
          <p:nvPr>
            <p:ph idx="1"/>
          </p:nvPr>
        </p:nvSpPr>
        <p:spPr/>
        <p:txBody>
          <a:bodyPr>
            <a:normAutofit lnSpcReduction="10000"/>
          </a:bodyPr>
          <a:lstStyle/>
          <a:p>
            <a:pPr algn="just"/>
            <a:r>
              <a:rPr lang="en-IN" b="1" i="0" dirty="0" err="1">
                <a:solidFill>
                  <a:srgbClr val="E00D50"/>
                </a:solidFill>
                <a:effectLst/>
                <a:latin typeface="Open Sans" panose="020B0606030504020204" pitchFamily="34" charset="0"/>
              </a:rPr>
              <a:t>enQueue</a:t>
            </a:r>
            <a:r>
              <a:rPr lang="en-IN" b="1" i="0" dirty="0">
                <a:solidFill>
                  <a:srgbClr val="E00D50"/>
                </a:solidFill>
                <a:effectLst/>
                <a:latin typeface="Open Sans" panose="020B0606030504020204" pitchFamily="34" charset="0"/>
              </a:rPr>
              <a:t>(value) - Inserting value into the queue</a:t>
            </a:r>
          </a:p>
          <a:p>
            <a:pPr algn="just"/>
            <a:endParaRPr lang="en-IN" b="0" i="0" dirty="0">
              <a:solidFill>
                <a:srgbClr val="333333"/>
              </a:solidFill>
              <a:effectLst/>
              <a:latin typeface="Open Sans" panose="020B0606030504020204" pitchFamily="34" charset="0"/>
            </a:endParaRPr>
          </a:p>
          <a:p>
            <a:pPr algn="just"/>
            <a:r>
              <a:rPr lang="en-IN" b="1" i="0" dirty="0" err="1">
                <a:solidFill>
                  <a:srgbClr val="E00D50"/>
                </a:solidFill>
                <a:effectLst/>
                <a:latin typeface="Open Sans" panose="020B0606030504020204" pitchFamily="34" charset="0"/>
              </a:rPr>
              <a:t>deQueue</a:t>
            </a:r>
            <a:r>
              <a:rPr lang="en-IN" b="1" i="0" dirty="0">
                <a:solidFill>
                  <a:srgbClr val="E00D50"/>
                </a:solidFill>
                <a:effectLst/>
                <a:latin typeface="Open Sans" panose="020B0606030504020204" pitchFamily="34" charset="0"/>
              </a:rPr>
              <a:t>() - Deleting a value from the Queue</a:t>
            </a:r>
          </a:p>
          <a:p>
            <a:pPr algn="just"/>
            <a:endParaRPr lang="en-IN" b="0" i="0" dirty="0">
              <a:solidFill>
                <a:srgbClr val="333333"/>
              </a:solidFill>
              <a:effectLst/>
              <a:latin typeface="Open Sans" panose="020B0606030504020204" pitchFamily="34" charset="0"/>
            </a:endParaRPr>
          </a:p>
          <a:p>
            <a:pPr algn="just"/>
            <a:r>
              <a:rPr lang="en-IN" b="1" i="0" dirty="0">
                <a:solidFill>
                  <a:srgbClr val="E00D50"/>
                </a:solidFill>
                <a:effectLst/>
                <a:latin typeface="Open Sans" panose="020B0606030504020204" pitchFamily="34" charset="0"/>
              </a:rPr>
              <a:t>display() - Displays the elements of a Queue</a:t>
            </a:r>
          </a:p>
          <a:p>
            <a:pPr algn="just"/>
            <a:endParaRPr lang="en-IN" b="0" i="0" dirty="0">
              <a:solidFill>
                <a:srgbClr val="333333"/>
              </a:solidFill>
              <a:effectLst/>
              <a:latin typeface="Open Sans" panose="020B0606030504020204" pitchFamily="34" charset="0"/>
            </a:endParaRPr>
          </a:p>
          <a:p>
            <a:pPr algn="just">
              <a:lnSpc>
                <a:spcPct val="100000"/>
              </a:lnSpc>
            </a:pPr>
            <a:r>
              <a:rPr lang="en-IN" b="1" dirty="0" err="1">
                <a:solidFill>
                  <a:srgbClr val="E00D50"/>
                </a:solidFill>
                <a:latin typeface="Open Sans" panose="020B0606030504020204" pitchFamily="34" charset="0"/>
              </a:rPr>
              <a:t>isEmpty</a:t>
            </a:r>
            <a:r>
              <a:rPr lang="en-IN" b="1" dirty="0">
                <a:solidFill>
                  <a:srgbClr val="E00D50"/>
                </a:solidFill>
                <a:latin typeface="Open Sans" panose="020B0606030504020204" pitchFamily="34" charset="0"/>
              </a:rPr>
              <a:t>() – Checks whether Queue is empty.</a:t>
            </a:r>
          </a:p>
          <a:p>
            <a:pPr algn="just">
              <a:lnSpc>
                <a:spcPct val="100000"/>
              </a:lnSpc>
            </a:pPr>
            <a:endParaRPr lang="en-IN" b="1" dirty="0">
              <a:solidFill>
                <a:srgbClr val="E00D50"/>
              </a:solidFill>
              <a:latin typeface="Open Sans" panose="020B0606030504020204" pitchFamily="34" charset="0"/>
            </a:endParaRPr>
          </a:p>
          <a:p>
            <a:pPr algn="just">
              <a:lnSpc>
                <a:spcPct val="100000"/>
              </a:lnSpc>
            </a:pPr>
            <a:r>
              <a:rPr lang="en-IN" b="1" dirty="0" err="1">
                <a:solidFill>
                  <a:srgbClr val="E00D50"/>
                </a:solidFill>
                <a:latin typeface="Open Sans" panose="020B0606030504020204" pitchFamily="34" charset="0"/>
              </a:rPr>
              <a:t>isFull</a:t>
            </a:r>
            <a:r>
              <a:rPr lang="en-IN" b="1" dirty="0">
                <a:solidFill>
                  <a:srgbClr val="E00D50"/>
                </a:solidFill>
                <a:latin typeface="Open Sans" panose="020B0606030504020204" pitchFamily="34" charset="0"/>
              </a:rPr>
              <a:t>() – Checks whether Queue is Full.</a:t>
            </a:r>
          </a:p>
          <a:p>
            <a:endParaRPr lang="en-US" dirty="0"/>
          </a:p>
        </p:txBody>
      </p:sp>
    </p:spTree>
    <p:extLst>
      <p:ext uri="{BB962C8B-B14F-4D97-AF65-F5344CB8AC3E}">
        <p14:creationId xmlns:p14="http://schemas.microsoft.com/office/powerpoint/2010/main" val="585829496"/>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FC5DA-C24F-5323-5674-37C857EDA1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AA2D86-1598-6F40-08C2-FD0146D2DCFC}"/>
              </a:ext>
            </a:extLst>
          </p:cNvPr>
          <p:cNvSpPr>
            <a:spLocks noGrp="1"/>
          </p:cNvSpPr>
          <p:nvPr>
            <p:ph type="title"/>
          </p:nvPr>
        </p:nvSpPr>
        <p:spPr/>
        <p:txBody>
          <a:bodyPr>
            <a:normAutofit/>
          </a:bodyPr>
          <a:lstStyle/>
          <a:p>
            <a:pPr algn="just"/>
            <a:r>
              <a:rPr lang="en-IN" b="1" i="0" dirty="0" err="1">
                <a:solidFill>
                  <a:srgbClr val="E00D50"/>
                </a:solidFill>
                <a:effectLst/>
                <a:latin typeface="Open Sans" panose="020B0606030504020204" pitchFamily="34" charset="0"/>
              </a:rPr>
              <a:t>enQueue</a:t>
            </a:r>
            <a:r>
              <a:rPr lang="en-IN" b="1" i="0" dirty="0">
                <a:solidFill>
                  <a:srgbClr val="E00D50"/>
                </a:solidFill>
                <a:effectLst/>
                <a:latin typeface="Open Sans" panose="020B0606030504020204" pitchFamily="34" charset="0"/>
              </a:rPr>
              <a:t>(value) - Inserting value into the queue</a:t>
            </a:r>
          </a:p>
        </p:txBody>
      </p:sp>
      <p:sp>
        <p:nvSpPr>
          <p:cNvPr id="3" name="Content Placeholder 2">
            <a:extLst>
              <a:ext uri="{FF2B5EF4-FFF2-40B4-BE49-F238E27FC236}">
                <a16:creationId xmlns:a16="http://schemas.microsoft.com/office/drawing/2014/main" id="{04AADDFE-1887-33DC-06B5-542990B784AA}"/>
              </a:ext>
            </a:extLst>
          </p:cNvPr>
          <p:cNvSpPr>
            <a:spLocks noGrp="1"/>
          </p:cNvSpPr>
          <p:nvPr>
            <p:ph idx="1"/>
          </p:nvPr>
        </p:nvSpPr>
        <p:spPr/>
        <p:txBody>
          <a:bodyPr>
            <a:normAutofit fontScale="92500" lnSpcReduction="10000"/>
          </a:bodyPr>
          <a:lstStyle/>
          <a:p>
            <a:r>
              <a:rPr lang="en-IN" b="0" i="0" dirty="0">
                <a:solidFill>
                  <a:srgbClr val="333333"/>
                </a:solidFill>
                <a:effectLst/>
                <a:latin typeface="Open Sans" panose="020B0606030504020204" pitchFamily="34" charset="0"/>
              </a:rPr>
              <a:t>In a queue data structure, </a:t>
            </a:r>
            <a:r>
              <a:rPr lang="en-IN" b="0" i="0" dirty="0" err="1">
                <a:solidFill>
                  <a:srgbClr val="333333"/>
                </a:solidFill>
                <a:effectLst/>
                <a:latin typeface="Open Sans" panose="020B0606030504020204" pitchFamily="34" charset="0"/>
              </a:rPr>
              <a:t>enQueue</a:t>
            </a:r>
            <a:r>
              <a:rPr lang="en-IN" b="0" i="0" dirty="0">
                <a:solidFill>
                  <a:srgbClr val="333333"/>
                </a:solidFill>
                <a:effectLst/>
                <a:latin typeface="Open Sans" panose="020B0606030504020204" pitchFamily="34" charset="0"/>
              </a:rPr>
              <a:t>() is a function used to insert a new element into the queue. In a queue, the new element is always inserted at </a:t>
            </a:r>
            <a:r>
              <a:rPr lang="en-IN" b="1" i="0" dirty="0">
                <a:solidFill>
                  <a:srgbClr val="333333"/>
                </a:solidFill>
                <a:effectLst/>
                <a:latin typeface="Open Sans" panose="020B0606030504020204" pitchFamily="34" charset="0"/>
              </a:rPr>
              <a:t>rear</a:t>
            </a:r>
            <a:r>
              <a:rPr lang="en-IN" b="0" i="0" dirty="0">
                <a:solidFill>
                  <a:srgbClr val="333333"/>
                </a:solidFill>
                <a:effectLst/>
                <a:latin typeface="Open Sans" panose="020B0606030504020204" pitchFamily="34" charset="0"/>
              </a:rPr>
              <a:t> position. The </a:t>
            </a:r>
            <a:r>
              <a:rPr lang="en-IN" b="0" i="0" dirty="0" err="1">
                <a:solidFill>
                  <a:srgbClr val="333333"/>
                </a:solidFill>
                <a:effectLst/>
                <a:latin typeface="Open Sans" panose="020B0606030504020204" pitchFamily="34" charset="0"/>
              </a:rPr>
              <a:t>enQueue</a:t>
            </a:r>
            <a:r>
              <a:rPr lang="en-IN" b="0" i="0" dirty="0">
                <a:solidFill>
                  <a:srgbClr val="333333"/>
                </a:solidFill>
                <a:effectLst/>
                <a:latin typeface="Open Sans" panose="020B0606030504020204" pitchFamily="34" charset="0"/>
              </a:rPr>
              <a:t>() function takes one integer value as a parameter and inserts that value into the queue. We can use the following steps to insert an element into the queue...</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a:t>
            </a:r>
            <a:r>
              <a:rPr lang="en-IN" b="1" i="0" dirty="0">
                <a:solidFill>
                  <a:srgbClr val="333333"/>
                </a:solidFill>
                <a:effectLst/>
                <a:latin typeface="Open Sans" panose="020B0606030504020204" pitchFamily="34" charset="0"/>
              </a:rPr>
              <a:t>queue</a:t>
            </a:r>
            <a:r>
              <a:rPr lang="en-IN" b="0" i="0" dirty="0">
                <a:solidFill>
                  <a:srgbClr val="333333"/>
                </a:solidFill>
                <a:effectLst/>
                <a:latin typeface="Open Sans" panose="020B0606030504020204" pitchFamily="34" charset="0"/>
              </a:rPr>
              <a:t> is </a:t>
            </a:r>
            <a:r>
              <a:rPr lang="en-IN" b="1" i="0" dirty="0">
                <a:solidFill>
                  <a:srgbClr val="333333"/>
                </a:solidFill>
                <a:effectLst/>
                <a:latin typeface="Open Sans" panose="020B0606030504020204" pitchFamily="34" charset="0"/>
              </a:rPr>
              <a:t>FULL</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rear == SIZE-1</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FULL</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"Queue is FULL!!! Insertion is not possible!!!"</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FULL</a:t>
            </a:r>
            <a:r>
              <a:rPr lang="en-IN" b="0" i="0" dirty="0">
                <a:solidFill>
                  <a:srgbClr val="333333"/>
                </a:solidFill>
                <a:effectLst/>
                <a:latin typeface="Open Sans" panose="020B0606030504020204" pitchFamily="34" charset="0"/>
              </a:rPr>
              <a:t>, then increment </a:t>
            </a:r>
            <a:r>
              <a:rPr lang="en-IN" b="1" i="0" dirty="0">
                <a:solidFill>
                  <a:srgbClr val="333333"/>
                </a:solidFill>
                <a:effectLst/>
                <a:latin typeface="Open Sans" panose="020B0606030504020204" pitchFamily="34" charset="0"/>
              </a:rPr>
              <a:t>rear</a:t>
            </a:r>
            <a:r>
              <a:rPr lang="en-IN" b="0" i="0" dirty="0">
                <a:solidFill>
                  <a:srgbClr val="333333"/>
                </a:solidFill>
                <a:effectLst/>
                <a:latin typeface="Open Sans" panose="020B0606030504020204" pitchFamily="34" charset="0"/>
              </a:rPr>
              <a:t> value by one (</a:t>
            </a:r>
            <a:r>
              <a:rPr lang="en-IN" b="1" i="0" dirty="0">
                <a:solidFill>
                  <a:srgbClr val="333333"/>
                </a:solidFill>
                <a:effectLst/>
                <a:latin typeface="Open Sans" panose="020B0606030504020204" pitchFamily="34" charset="0"/>
              </a:rPr>
              <a:t>rear++</a:t>
            </a:r>
            <a:r>
              <a:rPr lang="en-IN" b="0" i="0" dirty="0">
                <a:solidFill>
                  <a:srgbClr val="333333"/>
                </a:solidFill>
                <a:effectLst/>
                <a:latin typeface="Open Sans" panose="020B0606030504020204" pitchFamily="34" charset="0"/>
              </a:rPr>
              <a:t>) and set </a:t>
            </a:r>
            <a:r>
              <a:rPr lang="en-IN" b="1" i="0" dirty="0">
                <a:solidFill>
                  <a:srgbClr val="333333"/>
                </a:solidFill>
                <a:effectLst/>
                <a:latin typeface="Open Sans" panose="020B0606030504020204" pitchFamily="34" charset="0"/>
              </a:rPr>
              <a:t>queue[rear]</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value</a:t>
            </a:r>
            <a:r>
              <a:rPr lang="en-IN" b="0" i="0" dirty="0">
                <a:solidFill>
                  <a:srgbClr val="333333"/>
                </a:solidFill>
                <a:effectLst/>
                <a:latin typeface="Open Sans" panose="020B0606030504020204" pitchFamily="34" charset="0"/>
              </a:rPr>
              <a:t>.</a:t>
            </a:r>
          </a:p>
          <a:p>
            <a:endParaRPr lang="en-IN" b="0" i="0" dirty="0">
              <a:solidFill>
                <a:srgbClr val="333333"/>
              </a:solidFill>
              <a:effectLst/>
              <a:latin typeface="Open Sans" panose="020B0606030504020204" pitchFamily="34" charset="0"/>
            </a:endParaRPr>
          </a:p>
          <a:p>
            <a:endParaRPr lang="en-US" dirty="0"/>
          </a:p>
        </p:txBody>
      </p:sp>
    </p:spTree>
    <p:extLst>
      <p:ext uri="{BB962C8B-B14F-4D97-AF65-F5344CB8AC3E}">
        <p14:creationId xmlns:p14="http://schemas.microsoft.com/office/powerpoint/2010/main" val="3342102541"/>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3F290-EA34-7F93-D1AE-849552282C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324EF1-4F87-BFA8-4D49-632613D8165B}"/>
              </a:ext>
            </a:extLst>
          </p:cNvPr>
          <p:cNvSpPr>
            <a:spLocks noGrp="1"/>
          </p:cNvSpPr>
          <p:nvPr>
            <p:ph type="title"/>
          </p:nvPr>
        </p:nvSpPr>
        <p:spPr/>
        <p:txBody>
          <a:bodyPr>
            <a:normAutofit/>
          </a:bodyPr>
          <a:lstStyle/>
          <a:p>
            <a:pPr algn="just"/>
            <a:r>
              <a:rPr lang="en-IN" b="1" i="0" dirty="0" err="1">
                <a:solidFill>
                  <a:srgbClr val="E00D50"/>
                </a:solidFill>
                <a:effectLst/>
                <a:latin typeface="Open Sans" panose="020B0606030504020204" pitchFamily="34" charset="0"/>
              </a:rPr>
              <a:t>deQueue</a:t>
            </a:r>
            <a:r>
              <a:rPr lang="en-IN" b="1" i="0" dirty="0">
                <a:solidFill>
                  <a:srgbClr val="E00D50"/>
                </a:solidFill>
                <a:effectLst/>
                <a:latin typeface="Open Sans" panose="020B0606030504020204" pitchFamily="34" charset="0"/>
              </a:rPr>
              <a:t>() - Deleting a value from the Queue</a:t>
            </a:r>
          </a:p>
        </p:txBody>
      </p:sp>
      <p:sp>
        <p:nvSpPr>
          <p:cNvPr id="3" name="Content Placeholder 2">
            <a:extLst>
              <a:ext uri="{FF2B5EF4-FFF2-40B4-BE49-F238E27FC236}">
                <a16:creationId xmlns:a16="http://schemas.microsoft.com/office/drawing/2014/main" id="{9B1C0378-81D7-E163-5D49-5F935291CC2C}"/>
              </a:ext>
            </a:extLst>
          </p:cNvPr>
          <p:cNvSpPr>
            <a:spLocks noGrp="1"/>
          </p:cNvSpPr>
          <p:nvPr>
            <p:ph idx="1"/>
          </p:nvPr>
        </p:nvSpPr>
        <p:spPr/>
        <p:txBody>
          <a:bodyPr>
            <a:normAutofit fontScale="92500" lnSpcReduction="20000"/>
          </a:bodyPr>
          <a:lstStyle/>
          <a:p>
            <a:r>
              <a:rPr lang="en-IN" b="0" i="0" dirty="0">
                <a:solidFill>
                  <a:srgbClr val="333333"/>
                </a:solidFill>
                <a:effectLst/>
                <a:latin typeface="Open Sans" panose="020B0606030504020204" pitchFamily="34" charset="0"/>
              </a:rPr>
              <a:t>In a queue data structure, </a:t>
            </a:r>
            <a:r>
              <a:rPr lang="en-IN" b="0" i="0" dirty="0" err="1">
                <a:solidFill>
                  <a:srgbClr val="333333"/>
                </a:solidFill>
                <a:effectLst/>
                <a:latin typeface="Open Sans" panose="020B0606030504020204" pitchFamily="34" charset="0"/>
              </a:rPr>
              <a:t>deQueue</a:t>
            </a:r>
            <a:r>
              <a:rPr lang="en-IN" b="0" i="0" dirty="0">
                <a:solidFill>
                  <a:srgbClr val="333333"/>
                </a:solidFill>
                <a:effectLst/>
                <a:latin typeface="Open Sans" panose="020B0606030504020204" pitchFamily="34" charset="0"/>
              </a:rPr>
              <a:t>() is a function used to delete an element from the queue. In a queue, the element is always deleted from </a:t>
            </a:r>
            <a:r>
              <a:rPr lang="en-IN" b="1" i="0" dirty="0">
                <a:solidFill>
                  <a:srgbClr val="333333"/>
                </a:solidFill>
                <a:effectLst/>
                <a:latin typeface="Open Sans" panose="020B0606030504020204" pitchFamily="34" charset="0"/>
              </a:rPr>
              <a:t>front</a:t>
            </a:r>
            <a:r>
              <a:rPr lang="en-IN" b="0" i="0" dirty="0">
                <a:solidFill>
                  <a:srgbClr val="333333"/>
                </a:solidFill>
                <a:effectLst/>
                <a:latin typeface="Open Sans" panose="020B0606030504020204" pitchFamily="34" charset="0"/>
              </a:rPr>
              <a:t> position. The </a:t>
            </a:r>
            <a:r>
              <a:rPr lang="en-IN" b="0" i="0" dirty="0" err="1">
                <a:solidFill>
                  <a:srgbClr val="333333"/>
                </a:solidFill>
                <a:effectLst/>
                <a:latin typeface="Open Sans" panose="020B0606030504020204" pitchFamily="34" charset="0"/>
              </a:rPr>
              <a:t>deQueue</a:t>
            </a:r>
            <a:r>
              <a:rPr lang="en-IN" b="0" i="0" dirty="0">
                <a:solidFill>
                  <a:srgbClr val="333333"/>
                </a:solidFill>
                <a:effectLst/>
                <a:latin typeface="Open Sans" panose="020B0606030504020204" pitchFamily="34" charset="0"/>
              </a:rPr>
              <a:t>() function does not take any value as parameter. We can use the following steps to delete an element from the queue...</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a:t>
            </a:r>
            <a:r>
              <a:rPr lang="en-IN" b="1" i="0" dirty="0">
                <a:solidFill>
                  <a:srgbClr val="333333"/>
                </a:solidFill>
                <a:effectLst/>
                <a:latin typeface="Open Sans" panose="020B0606030504020204" pitchFamily="34" charset="0"/>
              </a:rPr>
              <a:t>queue</a:t>
            </a:r>
            <a:r>
              <a:rPr lang="en-IN" b="0" i="0" dirty="0">
                <a:solidFill>
                  <a:srgbClr val="333333"/>
                </a:solidFill>
                <a:effectLst/>
                <a:latin typeface="Open Sans" panose="020B0606030504020204" pitchFamily="34" charset="0"/>
              </a:rPr>
              <a: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front == rear</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"Queue is EMPTY!!! Deletion is not possible!!!"</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increment the </a:t>
            </a:r>
            <a:r>
              <a:rPr lang="en-IN" b="1" i="0" dirty="0">
                <a:solidFill>
                  <a:srgbClr val="333333"/>
                </a:solidFill>
                <a:effectLst/>
                <a:latin typeface="Open Sans" panose="020B0606030504020204" pitchFamily="34" charset="0"/>
              </a:rPr>
              <a:t>front</a:t>
            </a:r>
            <a:r>
              <a:rPr lang="en-IN" b="0" i="0" dirty="0">
                <a:solidFill>
                  <a:srgbClr val="333333"/>
                </a:solidFill>
                <a:effectLst/>
                <a:latin typeface="Open Sans" panose="020B0606030504020204" pitchFamily="34" charset="0"/>
              </a:rPr>
              <a:t> value by one (</a:t>
            </a:r>
            <a:r>
              <a:rPr lang="en-IN" b="1" i="0" dirty="0">
                <a:solidFill>
                  <a:srgbClr val="333333"/>
                </a:solidFill>
                <a:effectLst/>
                <a:latin typeface="Open Sans" panose="020B0606030504020204" pitchFamily="34" charset="0"/>
              </a:rPr>
              <a:t>front ++</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queue[front]</a:t>
            </a:r>
            <a:r>
              <a:rPr lang="en-IN" b="0" i="0" dirty="0">
                <a:solidFill>
                  <a:srgbClr val="333333"/>
                </a:solidFill>
                <a:effectLst/>
                <a:latin typeface="Open Sans" panose="020B0606030504020204" pitchFamily="34" charset="0"/>
              </a:rPr>
              <a:t> as deleted element. Then check whether both </a:t>
            </a:r>
            <a:r>
              <a:rPr lang="en-IN" b="1" i="0" dirty="0">
                <a:solidFill>
                  <a:srgbClr val="333333"/>
                </a:solidFill>
                <a:effectLst/>
                <a:latin typeface="Open Sans" panose="020B0606030504020204" pitchFamily="34" charset="0"/>
              </a:rPr>
              <a:t>front</a:t>
            </a:r>
            <a:r>
              <a:rPr lang="en-IN" b="0" i="0" dirty="0">
                <a:solidFill>
                  <a:srgbClr val="333333"/>
                </a:solidFill>
                <a:effectLst/>
                <a:latin typeface="Open Sans" panose="020B0606030504020204" pitchFamily="34" charset="0"/>
              </a:rPr>
              <a:t> and </a:t>
            </a:r>
            <a:r>
              <a:rPr lang="en-IN" b="1" i="0" dirty="0">
                <a:solidFill>
                  <a:srgbClr val="333333"/>
                </a:solidFill>
                <a:effectLst/>
                <a:latin typeface="Open Sans" panose="020B0606030504020204" pitchFamily="34" charset="0"/>
              </a:rPr>
              <a:t>rear</a:t>
            </a:r>
            <a:r>
              <a:rPr lang="en-IN" b="0" i="0" dirty="0">
                <a:solidFill>
                  <a:srgbClr val="333333"/>
                </a:solidFill>
                <a:effectLst/>
                <a:latin typeface="Open Sans" panose="020B0606030504020204" pitchFamily="34" charset="0"/>
              </a:rPr>
              <a:t> are equal (</a:t>
            </a:r>
            <a:r>
              <a:rPr lang="en-IN" b="1" i="0" dirty="0">
                <a:solidFill>
                  <a:srgbClr val="333333"/>
                </a:solidFill>
                <a:effectLst/>
                <a:latin typeface="Open Sans" panose="020B0606030504020204" pitchFamily="34" charset="0"/>
              </a:rPr>
              <a:t>front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rear</a:t>
            </a:r>
            <a:r>
              <a:rPr lang="en-IN" b="0" i="0" dirty="0">
                <a:solidFill>
                  <a:srgbClr val="333333"/>
                </a:solidFill>
                <a:effectLst/>
                <a:latin typeface="Open Sans" panose="020B0606030504020204" pitchFamily="34" charset="0"/>
              </a:rPr>
              <a:t>), if it </a:t>
            </a:r>
            <a:r>
              <a:rPr lang="en-IN" b="1" i="0" dirty="0">
                <a:solidFill>
                  <a:srgbClr val="333333"/>
                </a:solidFill>
                <a:effectLst/>
                <a:latin typeface="Open Sans" panose="020B0606030504020204" pitchFamily="34" charset="0"/>
              </a:rPr>
              <a:t>TRUE</a:t>
            </a:r>
            <a:r>
              <a:rPr lang="en-IN" b="0" i="0" dirty="0">
                <a:solidFill>
                  <a:srgbClr val="333333"/>
                </a:solidFill>
                <a:effectLst/>
                <a:latin typeface="Open Sans" panose="020B0606030504020204" pitchFamily="34" charset="0"/>
              </a:rPr>
              <a:t>, then set both </a:t>
            </a:r>
            <a:r>
              <a:rPr lang="en-IN" b="1" i="0" dirty="0">
                <a:solidFill>
                  <a:srgbClr val="333333"/>
                </a:solidFill>
                <a:effectLst/>
                <a:latin typeface="Open Sans" panose="020B0606030504020204" pitchFamily="34" charset="0"/>
              </a:rPr>
              <a:t>front</a:t>
            </a:r>
            <a:r>
              <a:rPr lang="en-IN" b="0" i="0" dirty="0">
                <a:solidFill>
                  <a:srgbClr val="333333"/>
                </a:solidFill>
                <a:effectLst/>
                <a:latin typeface="Open Sans" panose="020B0606030504020204" pitchFamily="34" charset="0"/>
              </a:rPr>
              <a:t> and </a:t>
            </a:r>
            <a:r>
              <a:rPr lang="en-IN" b="1" i="0" dirty="0">
                <a:solidFill>
                  <a:srgbClr val="333333"/>
                </a:solidFill>
                <a:effectLst/>
                <a:latin typeface="Open Sans" panose="020B0606030504020204" pitchFamily="34" charset="0"/>
              </a:rPr>
              <a:t>rear</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-1</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front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rear</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-1</a:t>
            </a:r>
            <a:r>
              <a:rPr lang="en-IN" b="0" i="0" dirty="0">
                <a:solidFill>
                  <a:srgbClr val="333333"/>
                </a:solidFill>
                <a:effectLst/>
                <a:latin typeface="Open Sans" panose="020B0606030504020204" pitchFamily="34" charset="0"/>
              </a:rPr>
              <a:t>).</a:t>
            </a:r>
          </a:p>
          <a:p>
            <a:endParaRPr lang="en-US" dirty="0"/>
          </a:p>
        </p:txBody>
      </p:sp>
    </p:spTree>
    <p:extLst>
      <p:ext uri="{BB962C8B-B14F-4D97-AF65-F5344CB8AC3E}">
        <p14:creationId xmlns:p14="http://schemas.microsoft.com/office/powerpoint/2010/main" val="2512323801"/>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3A76C-548E-F444-50B0-F609645389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7D0F3C-9E16-DFED-69F9-CEACDA21C127}"/>
              </a:ext>
            </a:extLst>
          </p:cNvPr>
          <p:cNvSpPr>
            <a:spLocks noGrp="1"/>
          </p:cNvSpPr>
          <p:nvPr>
            <p:ph type="title"/>
          </p:nvPr>
        </p:nvSpPr>
        <p:spPr/>
        <p:txBody>
          <a:bodyPr>
            <a:normAutofit/>
          </a:bodyPr>
          <a:lstStyle/>
          <a:p>
            <a:pPr algn="just"/>
            <a:r>
              <a:rPr lang="en-IN" b="1" i="0" dirty="0">
                <a:solidFill>
                  <a:srgbClr val="E00D50"/>
                </a:solidFill>
                <a:effectLst/>
                <a:latin typeface="Open Sans" panose="020B0606030504020204" pitchFamily="34" charset="0"/>
              </a:rPr>
              <a:t>display() - Displays the elements of a Queue</a:t>
            </a:r>
          </a:p>
        </p:txBody>
      </p:sp>
      <p:sp>
        <p:nvSpPr>
          <p:cNvPr id="3" name="Content Placeholder 2">
            <a:extLst>
              <a:ext uri="{FF2B5EF4-FFF2-40B4-BE49-F238E27FC236}">
                <a16:creationId xmlns:a16="http://schemas.microsoft.com/office/drawing/2014/main" id="{1D4508A1-9B37-43D6-52F1-77FD8E0F00C3}"/>
              </a:ext>
            </a:extLst>
          </p:cNvPr>
          <p:cNvSpPr>
            <a:spLocks noGrp="1"/>
          </p:cNvSpPr>
          <p:nvPr>
            <p:ph idx="1"/>
          </p:nvPr>
        </p:nvSpPr>
        <p:spPr/>
        <p:txBody>
          <a:bodyPr>
            <a:normAutofit lnSpcReduction="10000"/>
          </a:bodyPr>
          <a:lstStyle/>
          <a:p>
            <a:r>
              <a:rPr lang="en-IN" b="0" i="0" dirty="0">
                <a:solidFill>
                  <a:srgbClr val="333333"/>
                </a:solidFill>
                <a:effectLst/>
                <a:latin typeface="Open Sans" panose="020B0606030504020204" pitchFamily="34" charset="0"/>
              </a:rPr>
              <a:t>We can use the following steps to display the elements of a queue...</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a:t>
            </a:r>
            <a:r>
              <a:rPr lang="en-IN" b="1" i="0" dirty="0">
                <a:solidFill>
                  <a:srgbClr val="333333"/>
                </a:solidFill>
                <a:effectLst/>
                <a:latin typeface="Open Sans" panose="020B0606030504020204" pitchFamily="34" charset="0"/>
              </a:rPr>
              <a:t>queue</a:t>
            </a:r>
            <a:r>
              <a:rPr lang="en-IN" b="0" i="0" dirty="0">
                <a:solidFill>
                  <a:srgbClr val="333333"/>
                </a:solidFill>
                <a:effectLst/>
                <a:latin typeface="Open Sans" panose="020B0606030504020204" pitchFamily="34" charset="0"/>
              </a:rPr>
              <a: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front == rear</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"Queue is EMPTY!!!"</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define an integer variable '</a:t>
            </a:r>
            <a:r>
              <a:rPr lang="en-IN" b="1" i="0" dirty="0" err="1">
                <a:solidFill>
                  <a:srgbClr val="333333"/>
                </a:solidFill>
                <a:effectLst/>
                <a:latin typeface="Open Sans" panose="020B0606030504020204" pitchFamily="34" charset="0"/>
              </a:rPr>
              <a:t>i</a:t>
            </a:r>
            <a:r>
              <a:rPr lang="en-IN" b="0" i="0" dirty="0">
                <a:solidFill>
                  <a:srgbClr val="333333"/>
                </a:solidFill>
                <a:effectLst/>
                <a:latin typeface="Open Sans" panose="020B0606030504020204" pitchFamily="34" charset="0"/>
              </a:rPr>
              <a:t>' and set '</a:t>
            </a:r>
            <a:r>
              <a:rPr lang="en-IN" b="1" i="0" dirty="0" err="1">
                <a:solidFill>
                  <a:srgbClr val="333333"/>
                </a:solidFill>
                <a:effectLst/>
                <a:latin typeface="Open Sans" panose="020B0606030504020204" pitchFamily="34" charset="0"/>
              </a:rPr>
              <a:t>i</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front+1</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Display '</a:t>
            </a:r>
            <a:r>
              <a:rPr lang="en-IN" b="1" i="0" dirty="0">
                <a:solidFill>
                  <a:srgbClr val="333333"/>
                </a:solidFill>
                <a:effectLst/>
                <a:latin typeface="Open Sans" panose="020B0606030504020204" pitchFamily="34" charset="0"/>
              </a:rPr>
              <a:t>queue[</a:t>
            </a:r>
            <a:r>
              <a:rPr lang="en-IN" b="1" i="0" dirty="0" err="1">
                <a:solidFill>
                  <a:srgbClr val="333333"/>
                </a:solidFill>
                <a:effectLst/>
                <a:latin typeface="Open Sans" panose="020B0606030504020204" pitchFamily="34" charset="0"/>
              </a:rPr>
              <a:t>i</a:t>
            </a:r>
            <a:r>
              <a:rPr lang="en-IN" b="1" i="0" dirty="0">
                <a:solidFill>
                  <a:srgbClr val="333333"/>
                </a:solidFill>
                <a:effectLst/>
                <a:latin typeface="Open Sans" panose="020B0606030504020204" pitchFamily="34" charset="0"/>
              </a:rPr>
              <a:t>]</a:t>
            </a:r>
            <a:r>
              <a:rPr lang="en-IN" b="0" i="0" dirty="0">
                <a:solidFill>
                  <a:srgbClr val="333333"/>
                </a:solidFill>
                <a:effectLst/>
                <a:latin typeface="Open Sans" panose="020B0606030504020204" pitchFamily="34" charset="0"/>
              </a:rPr>
              <a:t>' value and increment '</a:t>
            </a:r>
            <a:r>
              <a:rPr lang="en-IN" b="1" i="0" dirty="0" err="1">
                <a:solidFill>
                  <a:srgbClr val="333333"/>
                </a:solidFill>
                <a:effectLst/>
                <a:latin typeface="Open Sans" panose="020B0606030504020204" pitchFamily="34" charset="0"/>
              </a:rPr>
              <a:t>i</a:t>
            </a:r>
            <a:r>
              <a:rPr lang="en-IN" b="0" i="0" dirty="0">
                <a:solidFill>
                  <a:srgbClr val="333333"/>
                </a:solidFill>
                <a:effectLst/>
                <a:latin typeface="Open Sans" panose="020B0606030504020204" pitchFamily="34" charset="0"/>
              </a:rPr>
              <a:t>' value by one (</a:t>
            </a:r>
            <a:r>
              <a:rPr lang="en-IN" b="1" i="0" dirty="0" err="1">
                <a:solidFill>
                  <a:srgbClr val="333333"/>
                </a:solidFill>
                <a:effectLst/>
                <a:latin typeface="Open Sans" panose="020B0606030504020204" pitchFamily="34" charset="0"/>
              </a:rPr>
              <a:t>i</a:t>
            </a:r>
            <a:r>
              <a:rPr lang="en-IN" b="1" i="0" dirty="0">
                <a:solidFill>
                  <a:srgbClr val="333333"/>
                </a:solidFill>
                <a:effectLst/>
                <a:latin typeface="Open Sans" panose="020B0606030504020204" pitchFamily="34" charset="0"/>
              </a:rPr>
              <a:t>++</a:t>
            </a:r>
            <a:r>
              <a:rPr lang="en-IN" b="0" i="0" dirty="0">
                <a:solidFill>
                  <a:srgbClr val="333333"/>
                </a:solidFill>
                <a:effectLst/>
                <a:latin typeface="Open Sans" panose="020B0606030504020204" pitchFamily="34" charset="0"/>
              </a:rPr>
              <a:t>). Repeat the same until '</a:t>
            </a:r>
            <a:r>
              <a:rPr lang="en-IN" b="1" i="0" dirty="0" err="1">
                <a:solidFill>
                  <a:srgbClr val="333333"/>
                </a:solidFill>
                <a:effectLst/>
                <a:latin typeface="Open Sans" panose="020B0606030504020204" pitchFamily="34" charset="0"/>
              </a:rPr>
              <a:t>i</a:t>
            </a:r>
            <a:r>
              <a:rPr lang="en-IN" b="0" i="0" dirty="0">
                <a:solidFill>
                  <a:srgbClr val="333333"/>
                </a:solidFill>
                <a:effectLst/>
                <a:latin typeface="Open Sans" panose="020B0606030504020204" pitchFamily="34" charset="0"/>
              </a:rPr>
              <a:t>' value reaches to </a:t>
            </a:r>
            <a:r>
              <a:rPr lang="en-IN" b="1" i="0" dirty="0">
                <a:solidFill>
                  <a:srgbClr val="333333"/>
                </a:solidFill>
                <a:effectLst/>
                <a:latin typeface="Open Sans" panose="020B0606030504020204" pitchFamily="34" charset="0"/>
              </a:rPr>
              <a:t>rear</a:t>
            </a:r>
            <a:r>
              <a:rPr lang="en-IN" b="0" i="0" dirty="0">
                <a:solidFill>
                  <a:srgbClr val="333333"/>
                </a:solidFill>
                <a:effectLst/>
                <a:latin typeface="Open Sans" panose="020B0606030504020204" pitchFamily="34" charset="0"/>
              </a:rPr>
              <a:t> (</a:t>
            </a:r>
            <a:r>
              <a:rPr lang="en-IN" b="1" i="0" dirty="0" err="1">
                <a:solidFill>
                  <a:srgbClr val="333333"/>
                </a:solidFill>
                <a:effectLst/>
                <a:latin typeface="Open Sans" panose="020B0606030504020204" pitchFamily="34" charset="0"/>
              </a:rPr>
              <a:t>i</a:t>
            </a:r>
            <a:r>
              <a:rPr lang="en-IN" b="0" i="0" dirty="0">
                <a:solidFill>
                  <a:srgbClr val="333333"/>
                </a:solidFill>
                <a:effectLst/>
                <a:latin typeface="Open Sans" panose="020B0606030504020204" pitchFamily="34" charset="0"/>
              </a:rPr>
              <a:t> &lt;= </a:t>
            </a:r>
            <a:r>
              <a:rPr lang="en-IN" b="1" i="0" dirty="0">
                <a:solidFill>
                  <a:srgbClr val="333333"/>
                </a:solidFill>
                <a:effectLst/>
                <a:latin typeface="Open Sans" panose="020B0606030504020204" pitchFamily="34" charset="0"/>
              </a:rPr>
              <a:t>rear</a:t>
            </a:r>
            <a:r>
              <a:rPr lang="en-IN" b="0" i="0" dirty="0">
                <a:solidFill>
                  <a:srgbClr val="333333"/>
                </a:solidFill>
                <a:effectLst/>
                <a:latin typeface="Open Sans" panose="020B0606030504020204" pitchFamily="34" charset="0"/>
              </a:rPr>
              <a:t>)</a:t>
            </a:r>
          </a:p>
          <a:p>
            <a:endParaRPr lang="en-US" dirty="0"/>
          </a:p>
        </p:txBody>
      </p:sp>
    </p:spTree>
    <p:extLst>
      <p:ext uri="{BB962C8B-B14F-4D97-AF65-F5344CB8AC3E}">
        <p14:creationId xmlns:p14="http://schemas.microsoft.com/office/powerpoint/2010/main" val="1121829748"/>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EB823-850A-88F1-0FBC-BDE97C250F61}"/>
              </a:ext>
            </a:extLst>
          </p:cNvPr>
          <p:cNvSpPr>
            <a:spLocks noGrp="1"/>
          </p:cNvSpPr>
          <p:nvPr>
            <p:ph type="title"/>
          </p:nvPr>
        </p:nvSpPr>
        <p:spPr/>
        <p:txBody>
          <a:bodyPr>
            <a:normAutofit/>
          </a:bodyPr>
          <a:lstStyle/>
          <a:p>
            <a:r>
              <a:rPr lang="en-IN" b="1" i="0" dirty="0">
                <a:solidFill>
                  <a:srgbClr val="333333"/>
                </a:solidFill>
                <a:effectLst/>
                <a:latin typeface="Comfortaa"/>
              </a:rPr>
              <a:t>Queue Using Linked List</a:t>
            </a:r>
            <a:endParaRPr lang="en-US" dirty="0"/>
          </a:p>
        </p:txBody>
      </p:sp>
      <p:sp>
        <p:nvSpPr>
          <p:cNvPr id="3" name="Content Placeholder 2">
            <a:extLst>
              <a:ext uri="{FF2B5EF4-FFF2-40B4-BE49-F238E27FC236}">
                <a16:creationId xmlns:a16="http://schemas.microsoft.com/office/drawing/2014/main" id="{68343EA5-FD19-3F10-ACEF-491C7A229F56}"/>
              </a:ext>
            </a:extLst>
          </p:cNvPr>
          <p:cNvSpPr>
            <a:spLocks noGrp="1"/>
          </p:cNvSpPr>
          <p:nvPr>
            <p:ph idx="1"/>
          </p:nvPr>
        </p:nvSpPr>
        <p:spPr/>
        <p:txBody>
          <a:bodyPr/>
          <a:lstStyle/>
          <a:p>
            <a:endParaRPr lang="en-US"/>
          </a:p>
        </p:txBody>
      </p:sp>
      <p:pic>
        <p:nvPicPr>
          <p:cNvPr id="24578" name="Picture 2" descr="queue using linked list">
            <a:extLst>
              <a:ext uri="{FF2B5EF4-FFF2-40B4-BE49-F238E27FC236}">
                <a16:creationId xmlns:a16="http://schemas.microsoft.com/office/drawing/2014/main" id="{386907D0-9826-6D56-414E-03FB74D97E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1000" y="2794000"/>
            <a:ext cx="8890000" cy="127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791712"/>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EB1B2-D5CB-5170-FEC0-538AA52F73E6}"/>
              </a:ext>
            </a:extLst>
          </p:cNvPr>
          <p:cNvSpPr>
            <a:spLocks noGrp="1"/>
          </p:cNvSpPr>
          <p:nvPr>
            <p:ph type="title"/>
          </p:nvPr>
        </p:nvSpPr>
        <p:spPr/>
        <p:txBody>
          <a:bodyPr/>
          <a:lstStyle/>
          <a:p>
            <a:r>
              <a:rPr lang="en-US" dirty="0"/>
              <a:t>Operations of Queue Using Linked List</a:t>
            </a:r>
          </a:p>
        </p:txBody>
      </p:sp>
      <p:sp>
        <p:nvSpPr>
          <p:cNvPr id="3" name="Content Placeholder 2">
            <a:extLst>
              <a:ext uri="{FF2B5EF4-FFF2-40B4-BE49-F238E27FC236}">
                <a16:creationId xmlns:a16="http://schemas.microsoft.com/office/drawing/2014/main" id="{372EF0EC-C180-D5BD-250F-FB7EB9C32E3F}"/>
              </a:ext>
            </a:extLst>
          </p:cNvPr>
          <p:cNvSpPr>
            <a:spLocks noGrp="1"/>
          </p:cNvSpPr>
          <p:nvPr>
            <p:ph idx="1"/>
          </p:nvPr>
        </p:nvSpPr>
        <p:spPr/>
        <p:txBody>
          <a:bodyPr>
            <a:normAutofit lnSpcReduction="10000"/>
          </a:bodyPr>
          <a:lstStyle/>
          <a:p>
            <a:pPr algn="just"/>
            <a:r>
              <a:rPr lang="en-IN" b="1" i="0" dirty="0" err="1">
                <a:solidFill>
                  <a:srgbClr val="E00D50"/>
                </a:solidFill>
                <a:effectLst/>
                <a:latin typeface="Open Sans" panose="020B0606030504020204" pitchFamily="34" charset="0"/>
              </a:rPr>
              <a:t>enQueue</a:t>
            </a:r>
            <a:r>
              <a:rPr lang="en-IN" b="1" i="0" dirty="0">
                <a:solidFill>
                  <a:srgbClr val="E00D50"/>
                </a:solidFill>
                <a:effectLst/>
                <a:latin typeface="Open Sans" panose="020B0606030504020204" pitchFamily="34" charset="0"/>
              </a:rPr>
              <a:t>(value) - Inserting an element into the Queue</a:t>
            </a:r>
          </a:p>
          <a:p>
            <a:pPr algn="just"/>
            <a:endParaRPr lang="en-IN" b="0" i="0" dirty="0">
              <a:solidFill>
                <a:srgbClr val="333333"/>
              </a:solidFill>
              <a:effectLst/>
              <a:latin typeface="Open Sans" panose="020B0606030504020204" pitchFamily="34" charset="0"/>
            </a:endParaRPr>
          </a:p>
          <a:p>
            <a:pPr algn="just"/>
            <a:r>
              <a:rPr lang="en-IN" b="1" i="0" dirty="0" err="1">
                <a:solidFill>
                  <a:srgbClr val="E00D50"/>
                </a:solidFill>
                <a:effectLst/>
                <a:latin typeface="Open Sans" panose="020B0606030504020204" pitchFamily="34" charset="0"/>
              </a:rPr>
              <a:t>deQueue</a:t>
            </a:r>
            <a:r>
              <a:rPr lang="en-IN" b="1" i="0" dirty="0">
                <a:solidFill>
                  <a:srgbClr val="E00D50"/>
                </a:solidFill>
                <a:effectLst/>
                <a:latin typeface="Open Sans" panose="020B0606030504020204" pitchFamily="34" charset="0"/>
              </a:rPr>
              <a:t>() - Deleting an Element from Queue</a:t>
            </a:r>
          </a:p>
          <a:p>
            <a:pPr algn="just"/>
            <a:endParaRPr lang="en-IN" b="0" i="0" dirty="0">
              <a:solidFill>
                <a:srgbClr val="333333"/>
              </a:solidFill>
              <a:effectLst/>
              <a:latin typeface="Open Sans" panose="020B0606030504020204" pitchFamily="34" charset="0"/>
            </a:endParaRPr>
          </a:p>
          <a:p>
            <a:pPr algn="just"/>
            <a:r>
              <a:rPr lang="en-IN" b="1" i="0" dirty="0">
                <a:solidFill>
                  <a:srgbClr val="E00D50"/>
                </a:solidFill>
                <a:effectLst/>
                <a:latin typeface="Open Sans" panose="020B0606030504020204" pitchFamily="34" charset="0"/>
              </a:rPr>
              <a:t>display() - Displaying the elements of Queue</a:t>
            </a:r>
          </a:p>
          <a:p>
            <a:pPr algn="just"/>
            <a:endParaRPr lang="en-IN" b="0" i="0" dirty="0">
              <a:solidFill>
                <a:srgbClr val="333333"/>
              </a:solidFill>
              <a:effectLst/>
              <a:latin typeface="Open Sans" panose="020B0606030504020204" pitchFamily="34" charset="0"/>
            </a:endParaRPr>
          </a:p>
          <a:p>
            <a:pPr algn="just">
              <a:lnSpc>
                <a:spcPct val="100000"/>
              </a:lnSpc>
            </a:pPr>
            <a:r>
              <a:rPr lang="en-IN" b="1" dirty="0" err="1">
                <a:solidFill>
                  <a:srgbClr val="E00D50"/>
                </a:solidFill>
                <a:latin typeface="Open Sans" panose="020B0606030504020204" pitchFamily="34" charset="0"/>
              </a:rPr>
              <a:t>isEmpty</a:t>
            </a:r>
            <a:r>
              <a:rPr lang="en-IN" b="1" dirty="0">
                <a:solidFill>
                  <a:srgbClr val="E00D50"/>
                </a:solidFill>
                <a:latin typeface="Open Sans" panose="020B0606030504020204" pitchFamily="34" charset="0"/>
              </a:rPr>
              <a:t>() – Checks whether Queue is empty.</a:t>
            </a:r>
          </a:p>
          <a:p>
            <a:pPr algn="just">
              <a:lnSpc>
                <a:spcPct val="100000"/>
              </a:lnSpc>
            </a:pPr>
            <a:endParaRPr lang="en-IN" b="1" dirty="0">
              <a:solidFill>
                <a:srgbClr val="E00D50"/>
              </a:solidFill>
              <a:latin typeface="Open Sans" panose="020B0606030504020204" pitchFamily="34" charset="0"/>
            </a:endParaRPr>
          </a:p>
          <a:p>
            <a:pPr algn="just">
              <a:lnSpc>
                <a:spcPct val="100000"/>
              </a:lnSpc>
            </a:pPr>
            <a:r>
              <a:rPr lang="en-IN" b="1" dirty="0" err="1">
                <a:solidFill>
                  <a:srgbClr val="E00D50"/>
                </a:solidFill>
                <a:latin typeface="Open Sans" panose="020B0606030504020204" pitchFamily="34" charset="0"/>
              </a:rPr>
              <a:t>isFull</a:t>
            </a:r>
            <a:r>
              <a:rPr lang="en-IN" b="1" dirty="0">
                <a:solidFill>
                  <a:srgbClr val="E00D50"/>
                </a:solidFill>
                <a:latin typeface="Open Sans" panose="020B0606030504020204" pitchFamily="34" charset="0"/>
              </a:rPr>
              <a:t>() – Checks whether Queue is Full.</a:t>
            </a:r>
          </a:p>
          <a:p>
            <a:endParaRPr lang="en-US" dirty="0"/>
          </a:p>
        </p:txBody>
      </p:sp>
    </p:spTree>
    <p:extLst>
      <p:ext uri="{BB962C8B-B14F-4D97-AF65-F5344CB8AC3E}">
        <p14:creationId xmlns:p14="http://schemas.microsoft.com/office/powerpoint/2010/main" val="2245650030"/>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AF395-3EFD-F425-7725-BE7DFB150D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62B87F-187F-6110-08AA-B4F0F74E2264}"/>
              </a:ext>
            </a:extLst>
          </p:cNvPr>
          <p:cNvSpPr>
            <a:spLocks noGrp="1"/>
          </p:cNvSpPr>
          <p:nvPr>
            <p:ph type="title"/>
          </p:nvPr>
        </p:nvSpPr>
        <p:spPr/>
        <p:txBody>
          <a:bodyPr>
            <a:normAutofit/>
          </a:bodyPr>
          <a:lstStyle/>
          <a:p>
            <a:r>
              <a:rPr lang="en-IN" b="1" i="0" dirty="0" err="1">
                <a:solidFill>
                  <a:srgbClr val="E00D50"/>
                </a:solidFill>
                <a:effectLst/>
                <a:latin typeface="Open Sans" panose="020B0606030504020204" pitchFamily="34" charset="0"/>
              </a:rPr>
              <a:t>enQueue</a:t>
            </a:r>
            <a:r>
              <a:rPr lang="en-IN" b="1" i="0" dirty="0">
                <a:solidFill>
                  <a:srgbClr val="E00D50"/>
                </a:solidFill>
                <a:effectLst/>
                <a:latin typeface="Open Sans" panose="020B0606030504020204" pitchFamily="34" charset="0"/>
              </a:rPr>
              <a:t>(value) - Inserting an element into the Queue</a:t>
            </a:r>
            <a:endParaRPr lang="en-US" dirty="0"/>
          </a:p>
        </p:txBody>
      </p:sp>
      <p:sp>
        <p:nvSpPr>
          <p:cNvPr id="3" name="Content Placeholder 2">
            <a:extLst>
              <a:ext uri="{FF2B5EF4-FFF2-40B4-BE49-F238E27FC236}">
                <a16:creationId xmlns:a16="http://schemas.microsoft.com/office/drawing/2014/main" id="{6C74F5C1-C166-87C8-5C9F-61F2506C7230}"/>
              </a:ext>
            </a:extLst>
          </p:cNvPr>
          <p:cNvSpPr>
            <a:spLocks noGrp="1"/>
          </p:cNvSpPr>
          <p:nvPr>
            <p:ph idx="1"/>
          </p:nvPr>
        </p:nvSpPr>
        <p:spPr/>
        <p:txBody>
          <a:bodyPr>
            <a:normAutofit/>
          </a:bodyPr>
          <a:lstStyle/>
          <a:p>
            <a:r>
              <a:rPr lang="en-IN" b="0" i="0" dirty="0">
                <a:solidFill>
                  <a:srgbClr val="333333"/>
                </a:solidFill>
                <a:effectLst/>
                <a:latin typeface="Open Sans" panose="020B0606030504020204" pitchFamily="34" charset="0"/>
              </a:rPr>
              <a:t>We can use the following steps to insert a new node into the queue...</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Create a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with given value and set '</a:t>
            </a:r>
            <a:r>
              <a:rPr lang="en-IN" b="1" i="0" dirty="0" err="1">
                <a:solidFill>
                  <a:srgbClr val="333333"/>
                </a:solidFill>
                <a:effectLst/>
                <a:latin typeface="Open Sans" panose="020B0606030504020204" pitchFamily="34" charset="0"/>
              </a:rPr>
              <a:t>newNode</a:t>
            </a:r>
            <a:r>
              <a:rPr lang="en-IN" b="1" i="0" dirty="0">
                <a:solidFill>
                  <a:srgbClr val="333333"/>
                </a:solidFill>
                <a:effectLst/>
                <a:latin typeface="Open Sans" panose="020B0606030504020204" pitchFamily="34" charset="0"/>
              </a:rPr>
              <a:t> → next</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Check whether queue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rear</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set </a:t>
            </a:r>
            <a:r>
              <a:rPr lang="en-IN" b="1" i="0" dirty="0">
                <a:solidFill>
                  <a:srgbClr val="333333"/>
                </a:solidFill>
                <a:effectLst/>
                <a:latin typeface="Open Sans" panose="020B0606030504020204" pitchFamily="34" charset="0"/>
              </a:rPr>
              <a:t>front</a:t>
            </a:r>
            <a:r>
              <a:rPr lang="en-IN" b="0" i="0" dirty="0">
                <a:solidFill>
                  <a:srgbClr val="333333"/>
                </a:solidFill>
                <a:effectLst/>
                <a:latin typeface="Open Sans" panose="020B0606030504020204" pitchFamily="34" charset="0"/>
              </a:rPr>
              <a:t> =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and </a:t>
            </a:r>
            <a:r>
              <a:rPr lang="en-IN" b="1" i="0" dirty="0">
                <a:solidFill>
                  <a:srgbClr val="333333"/>
                </a:solidFill>
                <a:effectLst/>
                <a:latin typeface="Open Sans" panose="020B0606030504020204" pitchFamily="34" charset="0"/>
              </a:rPr>
              <a:t>rear</a:t>
            </a:r>
            <a:r>
              <a:rPr lang="en-IN" b="0" i="0" dirty="0">
                <a:solidFill>
                  <a:srgbClr val="333333"/>
                </a:solidFill>
                <a:effectLst/>
                <a:latin typeface="Open Sans" panose="020B0606030504020204" pitchFamily="34" charset="0"/>
              </a:rPr>
              <a:t> =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set </a:t>
            </a:r>
            <a:r>
              <a:rPr lang="en-IN" b="1" i="0" dirty="0">
                <a:solidFill>
                  <a:srgbClr val="333333"/>
                </a:solidFill>
                <a:effectLst/>
                <a:latin typeface="Open Sans" panose="020B0606030504020204" pitchFamily="34" charset="0"/>
              </a:rPr>
              <a:t>rear → next</a:t>
            </a:r>
            <a:r>
              <a:rPr lang="en-IN" b="0" i="0" dirty="0">
                <a:solidFill>
                  <a:srgbClr val="333333"/>
                </a:solidFill>
                <a:effectLst/>
                <a:latin typeface="Open Sans" panose="020B0606030504020204" pitchFamily="34" charset="0"/>
              </a:rPr>
              <a:t> =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and </a:t>
            </a:r>
            <a:r>
              <a:rPr lang="en-IN" b="1" i="0" dirty="0">
                <a:solidFill>
                  <a:srgbClr val="333333"/>
                </a:solidFill>
                <a:effectLst/>
                <a:latin typeface="Open Sans" panose="020B0606030504020204" pitchFamily="34" charset="0"/>
              </a:rPr>
              <a:t>rear</a:t>
            </a:r>
            <a:r>
              <a:rPr lang="en-IN" b="0" i="0" dirty="0">
                <a:solidFill>
                  <a:srgbClr val="333333"/>
                </a:solidFill>
                <a:effectLst/>
                <a:latin typeface="Open Sans" panose="020B0606030504020204" pitchFamily="34" charset="0"/>
              </a:rPr>
              <a:t> =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a:t>
            </a:r>
          </a:p>
          <a:p>
            <a:endParaRPr lang="en-IN" b="0" i="0" dirty="0">
              <a:solidFill>
                <a:srgbClr val="333333"/>
              </a:solidFill>
              <a:effectLst/>
              <a:latin typeface="Open Sans" panose="020B0606030504020204" pitchFamily="34" charset="0"/>
            </a:endParaRPr>
          </a:p>
          <a:p>
            <a:endParaRPr lang="en-US" dirty="0"/>
          </a:p>
        </p:txBody>
      </p:sp>
    </p:spTree>
    <p:extLst>
      <p:ext uri="{BB962C8B-B14F-4D97-AF65-F5344CB8AC3E}">
        <p14:creationId xmlns:p14="http://schemas.microsoft.com/office/powerpoint/2010/main" val="1397169783"/>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AFFE1-95E4-D9BC-8B68-3A6C7B6A11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8C2119-8C34-D9B8-1635-2C385F515360}"/>
              </a:ext>
            </a:extLst>
          </p:cNvPr>
          <p:cNvSpPr>
            <a:spLocks noGrp="1"/>
          </p:cNvSpPr>
          <p:nvPr>
            <p:ph type="title"/>
          </p:nvPr>
        </p:nvSpPr>
        <p:spPr/>
        <p:txBody>
          <a:bodyPr>
            <a:normAutofit/>
          </a:bodyPr>
          <a:lstStyle/>
          <a:p>
            <a:r>
              <a:rPr lang="en-IN" b="1" i="0" dirty="0" err="1">
                <a:solidFill>
                  <a:srgbClr val="E00D50"/>
                </a:solidFill>
                <a:effectLst/>
                <a:latin typeface="Open Sans" panose="020B0606030504020204" pitchFamily="34" charset="0"/>
              </a:rPr>
              <a:t>deQueue</a:t>
            </a:r>
            <a:r>
              <a:rPr lang="en-IN" b="1" i="0" dirty="0">
                <a:solidFill>
                  <a:srgbClr val="E00D50"/>
                </a:solidFill>
                <a:effectLst/>
                <a:latin typeface="Open Sans" panose="020B0606030504020204" pitchFamily="34" charset="0"/>
              </a:rPr>
              <a:t>() - Deleting an Element from Queue</a:t>
            </a:r>
            <a:endParaRPr lang="en-US" dirty="0"/>
          </a:p>
        </p:txBody>
      </p:sp>
      <p:sp>
        <p:nvSpPr>
          <p:cNvPr id="3" name="Content Placeholder 2">
            <a:extLst>
              <a:ext uri="{FF2B5EF4-FFF2-40B4-BE49-F238E27FC236}">
                <a16:creationId xmlns:a16="http://schemas.microsoft.com/office/drawing/2014/main" id="{7A6C8179-1FE3-15C6-0BB7-F40AB9DEC0E0}"/>
              </a:ext>
            </a:extLst>
          </p:cNvPr>
          <p:cNvSpPr>
            <a:spLocks noGrp="1"/>
          </p:cNvSpPr>
          <p:nvPr>
            <p:ph idx="1"/>
          </p:nvPr>
        </p:nvSpPr>
        <p:spPr/>
        <p:txBody>
          <a:bodyPr>
            <a:normAutofit/>
          </a:bodyPr>
          <a:lstStyle/>
          <a:p>
            <a:r>
              <a:rPr lang="en-IN" b="0" i="0" dirty="0">
                <a:solidFill>
                  <a:srgbClr val="333333"/>
                </a:solidFill>
                <a:effectLst/>
                <a:latin typeface="Open Sans" panose="020B0606030504020204" pitchFamily="34" charset="0"/>
              </a:rPr>
              <a:t>We can use the following steps to delete a node from the queue...</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a:t>
            </a:r>
            <a:r>
              <a:rPr lang="en-IN" b="1" i="0" dirty="0">
                <a:solidFill>
                  <a:srgbClr val="333333"/>
                </a:solidFill>
                <a:effectLst/>
                <a:latin typeface="Open Sans" panose="020B0606030504020204" pitchFamily="34" charset="0"/>
              </a:rPr>
              <a:t>queue</a:t>
            </a:r>
            <a:r>
              <a:rPr lang="en-IN" b="0" i="0" dirty="0">
                <a:solidFill>
                  <a:srgbClr val="333333"/>
                </a:solidFill>
                <a:effectLst/>
                <a:latin typeface="Open Sans" panose="020B0606030504020204" pitchFamily="34" charset="0"/>
              </a:rPr>
              <a: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front == 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"Queue is Empty!!! Deletion is not possible!!!"</a:t>
            </a:r>
            <a:r>
              <a:rPr lang="en-IN" b="0" i="0" dirty="0">
                <a:solidFill>
                  <a:srgbClr val="333333"/>
                </a:solidFill>
                <a:effectLst/>
                <a:latin typeface="Open Sans" panose="020B0606030504020204" pitchFamily="34" charset="0"/>
              </a:rPr>
              <a:t> and terminate from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define a Node pointer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and set it to '</a:t>
            </a:r>
            <a:r>
              <a:rPr lang="en-IN" b="1" i="0" dirty="0">
                <a:solidFill>
                  <a:srgbClr val="333333"/>
                </a:solidFill>
                <a:effectLst/>
                <a:latin typeface="Open Sans" panose="020B0606030504020204" pitchFamily="34" charset="0"/>
              </a:rPr>
              <a:t>front</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Then set '</a:t>
            </a:r>
            <a:r>
              <a:rPr lang="en-IN" b="1" i="0" dirty="0">
                <a:solidFill>
                  <a:srgbClr val="333333"/>
                </a:solidFill>
                <a:effectLst/>
                <a:latin typeface="Open Sans" panose="020B0606030504020204" pitchFamily="34" charset="0"/>
              </a:rPr>
              <a:t>front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front → next</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free(temp)</a:t>
            </a:r>
            <a:r>
              <a:rPr lang="en-IN" b="0" i="0" dirty="0">
                <a:solidFill>
                  <a:srgbClr val="333333"/>
                </a:solidFill>
                <a:effectLst/>
                <a:latin typeface="Open Sans" panose="020B0606030504020204" pitchFamily="34" charset="0"/>
              </a:rPr>
              <a:t>).</a:t>
            </a:r>
          </a:p>
          <a:p>
            <a:endParaRPr lang="en-IN" b="0" i="0" dirty="0">
              <a:solidFill>
                <a:srgbClr val="333333"/>
              </a:solidFill>
              <a:effectLst/>
              <a:latin typeface="Open Sans" panose="020B0606030504020204" pitchFamily="34" charset="0"/>
            </a:endParaRPr>
          </a:p>
          <a:p>
            <a:endParaRPr lang="en-US" dirty="0"/>
          </a:p>
        </p:txBody>
      </p:sp>
    </p:spTree>
    <p:extLst>
      <p:ext uri="{BB962C8B-B14F-4D97-AF65-F5344CB8AC3E}">
        <p14:creationId xmlns:p14="http://schemas.microsoft.com/office/powerpoint/2010/main" val="118367002"/>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B1183-49FB-16C0-7D98-1542A48C51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869B11-7824-748A-CE34-08306F7AFEB5}"/>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display() - Displaying the elements of Queue</a:t>
            </a:r>
            <a:endParaRPr lang="en-US" dirty="0"/>
          </a:p>
        </p:txBody>
      </p:sp>
      <p:sp>
        <p:nvSpPr>
          <p:cNvPr id="3" name="Content Placeholder 2">
            <a:extLst>
              <a:ext uri="{FF2B5EF4-FFF2-40B4-BE49-F238E27FC236}">
                <a16:creationId xmlns:a16="http://schemas.microsoft.com/office/drawing/2014/main" id="{8E181E7D-C741-C27E-3C4E-B640645D67BB}"/>
              </a:ext>
            </a:extLst>
          </p:cNvPr>
          <p:cNvSpPr>
            <a:spLocks noGrp="1"/>
          </p:cNvSpPr>
          <p:nvPr>
            <p:ph idx="1"/>
          </p:nvPr>
        </p:nvSpPr>
        <p:spPr/>
        <p:txBody>
          <a:bodyPr>
            <a:normAutofit fontScale="92500" lnSpcReduction="10000"/>
          </a:bodyPr>
          <a:lstStyle/>
          <a:p>
            <a:r>
              <a:rPr lang="en-IN" b="0" i="0" dirty="0">
                <a:solidFill>
                  <a:srgbClr val="333333"/>
                </a:solidFill>
                <a:effectLst/>
                <a:latin typeface="Open Sans" panose="020B0606030504020204" pitchFamily="34" charset="0"/>
              </a:rPr>
              <a:t>We can use the following steps to display the elements (nodes) of a queue...</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queue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front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'Queue is Empty!!!'</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define a Node pointer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and initialize with </a:t>
            </a:r>
            <a:r>
              <a:rPr lang="en-IN" b="1" i="0" dirty="0">
                <a:solidFill>
                  <a:srgbClr val="333333"/>
                </a:solidFill>
                <a:effectLst/>
                <a:latin typeface="Open Sans" panose="020B0606030504020204" pitchFamily="34" charset="0"/>
              </a:rPr>
              <a:t>front</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Display '</a:t>
            </a:r>
            <a:r>
              <a:rPr lang="en-IN" b="1" i="0" dirty="0">
                <a:solidFill>
                  <a:srgbClr val="333333"/>
                </a:solidFill>
                <a:effectLst/>
                <a:latin typeface="Open Sans" panose="020B0606030504020204" pitchFamily="34" charset="0"/>
              </a:rPr>
              <a:t>temp → data</a:t>
            </a:r>
            <a:r>
              <a:rPr lang="en-IN" b="0" i="0" dirty="0">
                <a:solidFill>
                  <a:srgbClr val="333333"/>
                </a:solidFill>
                <a:effectLst/>
                <a:latin typeface="Open Sans" panose="020B0606030504020204" pitchFamily="34" charset="0"/>
              </a:rPr>
              <a:t> ---&gt;' and move it to the next node. Repeat the same until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reaches to '</a:t>
            </a:r>
            <a:r>
              <a:rPr lang="en-IN" b="1" i="0" dirty="0">
                <a:solidFill>
                  <a:srgbClr val="333333"/>
                </a:solidFill>
                <a:effectLst/>
                <a:latin typeface="Open Sans" panose="020B0606030504020204" pitchFamily="34" charset="0"/>
              </a:rPr>
              <a:t>rear</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temp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Finally! Display '</a:t>
            </a:r>
            <a:r>
              <a:rPr lang="en-IN" b="1" i="0" dirty="0">
                <a:solidFill>
                  <a:srgbClr val="333333"/>
                </a:solidFill>
                <a:effectLst/>
                <a:latin typeface="Open Sans" panose="020B0606030504020204" pitchFamily="34" charset="0"/>
              </a:rPr>
              <a:t>temp → data</a:t>
            </a:r>
            <a:r>
              <a:rPr lang="en-IN" b="0" i="0" dirty="0">
                <a:solidFill>
                  <a:srgbClr val="333333"/>
                </a:solidFill>
                <a:effectLst/>
                <a:latin typeface="Open Sans" panose="020B0606030504020204" pitchFamily="34" charset="0"/>
              </a:rPr>
              <a:t> ---&gt;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endParaRPr lang="en-US" dirty="0"/>
          </a:p>
        </p:txBody>
      </p:sp>
    </p:spTree>
    <p:extLst>
      <p:ext uri="{BB962C8B-B14F-4D97-AF65-F5344CB8AC3E}">
        <p14:creationId xmlns:p14="http://schemas.microsoft.com/office/powerpoint/2010/main" val="165913514"/>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C82BA-C67B-8A62-D1F5-F483E50FE3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A3BFEA-590A-A1CF-5409-7F5E987422FA}"/>
              </a:ext>
            </a:extLst>
          </p:cNvPr>
          <p:cNvSpPr>
            <a:spLocks noGrp="1"/>
          </p:cNvSpPr>
          <p:nvPr>
            <p:ph type="title"/>
          </p:nvPr>
        </p:nvSpPr>
        <p:spPr/>
        <p:txBody>
          <a:bodyPr/>
          <a:lstStyle/>
          <a:p>
            <a:r>
              <a:rPr lang="en-US" dirty="0" err="1"/>
              <a:t>isEmpty</a:t>
            </a:r>
            <a:r>
              <a:rPr lang="en-US" dirty="0"/>
              <a:t>()</a:t>
            </a:r>
          </a:p>
        </p:txBody>
      </p:sp>
      <p:sp>
        <p:nvSpPr>
          <p:cNvPr id="3" name="Content Placeholder 2">
            <a:extLst>
              <a:ext uri="{FF2B5EF4-FFF2-40B4-BE49-F238E27FC236}">
                <a16:creationId xmlns:a16="http://schemas.microsoft.com/office/drawing/2014/main" id="{A6C8B22E-1ED0-8614-2A90-356C5616C4F3}"/>
              </a:ext>
            </a:extLst>
          </p:cNvPr>
          <p:cNvSpPr>
            <a:spLocks noGrp="1"/>
          </p:cNvSpPr>
          <p:nvPr>
            <p:ph idx="1"/>
          </p:nvPr>
        </p:nvSpPr>
        <p:spPr/>
        <p:txBody>
          <a:bodyPr>
            <a:normAutofit/>
          </a:bodyPr>
          <a:lstStyle/>
          <a:p>
            <a:endParaRPr lang="en-US" dirty="0"/>
          </a:p>
        </p:txBody>
      </p:sp>
    </p:spTree>
    <p:extLst>
      <p:ext uri="{BB962C8B-B14F-4D97-AF65-F5344CB8AC3E}">
        <p14:creationId xmlns:p14="http://schemas.microsoft.com/office/powerpoint/2010/main" val="536616284"/>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972A6-1799-5357-92BF-D9343FF0AA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B86244-7937-7284-B537-6C7F93B278C6}"/>
              </a:ext>
            </a:extLst>
          </p:cNvPr>
          <p:cNvSpPr>
            <a:spLocks noGrp="1"/>
          </p:cNvSpPr>
          <p:nvPr>
            <p:ph type="title"/>
          </p:nvPr>
        </p:nvSpPr>
        <p:spPr/>
        <p:txBody>
          <a:bodyPr/>
          <a:lstStyle/>
          <a:p>
            <a:r>
              <a:rPr lang="en-US" dirty="0" err="1"/>
              <a:t>isFull</a:t>
            </a:r>
            <a:r>
              <a:rPr lang="en-US" dirty="0"/>
              <a:t>()</a:t>
            </a:r>
          </a:p>
        </p:txBody>
      </p:sp>
      <p:sp>
        <p:nvSpPr>
          <p:cNvPr id="3" name="Content Placeholder 2">
            <a:extLst>
              <a:ext uri="{FF2B5EF4-FFF2-40B4-BE49-F238E27FC236}">
                <a16:creationId xmlns:a16="http://schemas.microsoft.com/office/drawing/2014/main" id="{697D1787-FACD-ECBB-1ED0-88F281E1EAFE}"/>
              </a:ext>
            </a:extLst>
          </p:cNvPr>
          <p:cNvSpPr>
            <a:spLocks noGrp="1"/>
          </p:cNvSpPr>
          <p:nvPr>
            <p:ph idx="1"/>
          </p:nvPr>
        </p:nvSpPr>
        <p:spPr/>
        <p:txBody>
          <a:bodyPr>
            <a:normAutofit/>
          </a:bodyPr>
          <a:lstStyle/>
          <a:p>
            <a:endParaRPr lang="en-US" dirty="0"/>
          </a:p>
        </p:txBody>
      </p:sp>
    </p:spTree>
    <p:extLst>
      <p:ext uri="{BB962C8B-B14F-4D97-AF65-F5344CB8AC3E}">
        <p14:creationId xmlns:p14="http://schemas.microsoft.com/office/powerpoint/2010/main" val="2682349804"/>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0F53A-6287-0526-6E02-BD443B38C5D3}"/>
              </a:ext>
            </a:extLst>
          </p:cNvPr>
          <p:cNvSpPr>
            <a:spLocks noGrp="1"/>
          </p:cNvSpPr>
          <p:nvPr>
            <p:ph type="title"/>
          </p:nvPr>
        </p:nvSpPr>
        <p:spPr/>
        <p:txBody>
          <a:bodyPr>
            <a:normAutofit/>
          </a:bodyPr>
          <a:lstStyle/>
          <a:p>
            <a:r>
              <a:rPr lang="en-IN" b="1" i="0" dirty="0">
                <a:solidFill>
                  <a:srgbClr val="333333"/>
                </a:solidFill>
                <a:effectLst/>
                <a:latin typeface="Comfortaa"/>
              </a:rPr>
              <a:t>Circular Queue </a:t>
            </a:r>
            <a:r>
              <a:rPr lang="en-IN" b="1" i="0" dirty="0" err="1">
                <a:solidFill>
                  <a:srgbClr val="333333"/>
                </a:solidFill>
                <a:effectLst/>
                <a:latin typeface="Comfortaa"/>
              </a:rPr>
              <a:t>Datastructure</a:t>
            </a:r>
            <a:endParaRPr lang="en-US" dirty="0"/>
          </a:p>
        </p:txBody>
      </p:sp>
      <p:sp>
        <p:nvSpPr>
          <p:cNvPr id="3" name="Content Placeholder 2">
            <a:extLst>
              <a:ext uri="{FF2B5EF4-FFF2-40B4-BE49-F238E27FC236}">
                <a16:creationId xmlns:a16="http://schemas.microsoft.com/office/drawing/2014/main" id="{DFCACEE8-1076-077C-C842-3AC7FC481BB2}"/>
              </a:ext>
            </a:extLst>
          </p:cNvPr>
          <p:cNvSpPr>
            <a:spLocks noGrp="1"/>
          </p:cNvSpPr>
          <p:nvPr>
            <p:ph idx="1"/>
          </p:nvPr>
        </p:nvSpPr>
        <p:spPr/>
        <p:txBody>
          <a:bodyPr/>
          <a:lstStyle/>
          <a:p>
            <a:r>
              <a:rPr lang="en-IN" b="1" i="0" dirty="0">
                <a:solidFill>
                  <a:srgbClr val="333333"/>
                </a:solidFill>
                <a:effectLst/>
                <a:latin typeface="Open Sans" panose="020B0606030504020204" pitchFamily="34" charset="0"/>
              </a:rPr>
              <a:t>A circular queue is a linear data structure in which the operations are performed based on FIFO (First In First Out) principle and the last position is connected back to the first position to make a circle.</a:t>
            </a:r>
          </a:p>
          <a:p>
            <a:br>
              <a:rPr lang="en-IN" dirty="0"/>
            </a:br>
            <a:endParaRPr lang="en-US" dirty="0"/>
          </a:p>
        </p:txBody>
      </p:sp>
      <p:pic>
        <p:nvPicPr>
          <p:cNvPr id="25606" name="Picture 6">
            <a:extLst>
              <a:ext uri="{FF2B5EF4-FFF2-40B4-BE49-F238E27FC236}">
                <a16:creationId xmlns:a16="http://schemas.microsoft.com/office/drawing/2014/main" id="{02859667-26C0-999C-0BAD-6FA4E28504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6000" y="3771900"/>
            <a:ext cx="3289300" cy="3289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5272405"/>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8D569-1718-1C3A-F990-651A4DE524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2DD16-1AAD-1A10-B992-B1C6337D8BB1}"/>
              </a:ext>
            </a:extLst>
          </p:cNvPr>
          <p:cNvSpPr>
            <a:spLocks noGrp="1"/>
          </p:cNvSpPr>
          <p:nvPr>
            <p:ph type="title"/>
          </p:nvPr>
        </p:nvSpPr>
        <p:spPr/>
        <p:txBody>
          <a:bodyPr>
            <a:normAutofit/>
          </a:bodyPr>
          <a:lstStyle/>
          <a:p>
            <a:r>
              <a:rPr lang="en-IN" b="1" i="0" dirty="0">
                <a:solidFill>
                  <a:srgbClr val="333333"/>
                </a:solidFill>
                <a:effectLst/>
                <a:latin typeface="Comfortaa"/>
              </a:rPr>
              <a:t>Circular Queue </a:t>
            </a:r>
            <a:r>
              <a:rPr lang="en-IN" b="1" i="0" dirty="0" err="1">
                <a:solidFill>
                  <a:srgbClr val="333333"/>
                </a:solidFill>
                <a:effectLst/>
                <a:latin typeface="Comfortaa"/>
              </a:rPr>
              <a:t>Datastructure</a:t>
            </a:r>
            <a:endParaRPr lang="en-US" dirty="0"/>
          </a:p>
        </p:txBody>
      </p:sp>
      <p:sp>
        <p:nvSpPr>
          <p:cNvPr id="3" name="Content Placeholder 2">
            <a:extLst>
              <a:ext uri="{FF2B5EF4-FFF2-40B4-BE49-F238E27FC236}">
                <a16:creationId xmlns:a16="http://schemas.microsoft.com/office/drawing/2014/main" id="{6D45F056-FC1A-214E-EFE0-34B8CA6C6E41}"/>
              </a:ext>
            </a:extLst>
          </p:cNvPr>
          <p:cNvSpPr>
            <a:spLocks noGrp="1"/>
          </p:cNvSpPr>
          <p:nvPr>
            <p:ph idx="1"/>
          </p:nvPr>
        </p:nvSpPr>
        <p:spPr/>
        <p:txBody>
          <a:bodyPr/>
          <a:lstStyle/>
          <a:p>
            <a:pPr algn="ctr"/>
            <a:r>
              <a:rPr lang="en-IN" b="1" i="0" dirty="0">
                <a:solidFill>
                  <a:srgbClr val="333333"/>
                </a:solidFill>
                <a:effectLst/>
                <a:latin typeface="Open Sans" panose="020B0606030504020204" pitchFamily="34" charset="0"/>
              </a:rPr>
              <a:t>A circular queue is a linear data structure in which the operations are performed based on FIFO (First In First Out) principle and the last position is connected back to the first position to make a circle.</a:t>
            </a:r>
          </a:p>
          <a:p>
            <a:br>
              <a:rPr lang="en-IN"/>
            </a:br>
            <a:endParaRPr lang="en-US"/>
          </a:p>
        </p:txBody>
      </p:sp>
      <p:pic>
        <p:nvPicPr>
          <p:cNvPr id="25602" name="Picture 2" descr="circular queue data structure">
            <a:extLst>
              <a:ext uri="{FF2B5EF4-FFF2-40B4-BE49-F238E27FC236}">
                <a16:creationId xmlns:a16="http://schemas.microsoft.com/office/drawing/2014/main" id="{EFF262B8-1639-48BD-241C-46E1937269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8500" y="1690688"/>
            <a:ext cx="8255000" cy="2146300"/>
          </a:xfrm>
          <a:prstGeom prst="rect">
            <a:avLst/>
          </a:prstGeom>
          <a:noFill/>
          <a:extLst>
            <a:ext uri="{909E8E84-426E-40DD-AFC4-6F175D3DCCD1}">
              <a14:hiddenFill xmlns:a14="http://schemas.microsoft.com/office/drawing/2010/main">
                <a:solidFill>
                  <a:srgbClr val="FFFFFF"/>
                </a:solidFill>
              </a14:hiddenFill>
            </a:ext>
          </a:extLst>
        </p:spPr>
      </p:pic>
      <p:pic>
        <p:nvPicPr>
          <p:cNvPr id="25604" name="Picture 4">
            <a:extLst>
              <a:ext uri="{FF2B5EF4-FFF2-40B4-BE49-F238E27FC236}">
                <a16:creationId xmlns:a16="http://schemas.microsoft.com/office/drawing/2014/main" id="{D5768B53-4791-FFFE-B3D1-5843362D7A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8500" y="4711700"/>
            <a:ext cx="8255000" cy="2146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34594"/>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5BB4F-77B1-6F30-F6A2-57F456774544}"/>
              </a:ext>
            </a:extLst>
          </p:cNvPr>
          <p:cNvSpPr>
            <a:spLocks noGrp="1"/>
          </p:cNvSpPr>
          <p:nvPr>
            <p:ph type="title"/>
          </p:nvPr>
        </p:nvSpPr>
        <p:spPr/>
        <p:txBody>
          <a:bodyPr>
            <a:normAutofit/>
          </a:bodyPr>
          <a:lstStyle/>
          <a:p>
            <a:r>
              <a:rPr lang="en-IN" b="1" i="0" dirty="0" err="1">
                <a:solidFill>
                  <a:srgbClr val="E00D50"/>
                </a:solidFill>
                <a:effectLst/>
                <a:latin typeface="Open Sans" panose="020B0606030504020204" pitchFamily="34" charset="0"/>
              </a:rPr>
              <a:t>enQueue</a:t>
            </a:r>
            <a:r>
              <a:rPr lang="en-IN" b="1" i="0" dirty="0">
                <a:solidFill>
                  <a:srgbClr val="E00D50"/>
                </a:solidFill>
                <a:effectLst/>
                <a:latin typeface="Open Sans" panose="020B0606030504020204" pitchFamily="34" charset="0"/>
              </a:rPr>
              <a:t>(value) - Inserting value into the Circular Queue</a:t>
            </a:r>
            <a:endParaRPr lang="en-US" dirty="0"/>
          </a:p>
        </p:txBody>
      </p:sp>
      <p:sp>
        <p:nvSpPr>
          <p:cNvPr id="3" name="Content Placeholder 2">
            <a:extLst>
              <a:ext uri="{FF2B5EF4-FFF2-40B4-BE49-F238E27FC236}">
                <a16:creationId xmlns:a16="http://schemas.microsoft.com/office/drawing/2014/main" id="{658A6D08-3E12-8AEC-5706-D22047ADC51F}"/>
              </a:ext>
            </a:extLst>
          </p:cNvPr>
          <p:cNvSpPr>
            <a:spLocks noGrp="1"/>
          </p:cNvSpPr>
          <p:nvPr>
            <p:ph idx="1"/>
          </p:nvPr>
        </p:nvSpPr>
        <p:spPr/>
        <p:txBody>
          <a:bodyPr>
            <a:normAutofit fontScale="77500" lnSpcReduction="20000"/>
          </a:bodyPr>
          <a:lstStyle/>
          <a:p>
            <a:r>
              <a:rPr lang="en-IN" b="0" i="0" dirty="0">
                <a:solidFill>
                  <a:srgbClr val="333333"/>
                </a:solidFill>
                <a:effectLst/>
                <a:latin typeface="Open Sans" panose="020B0606030504020204" pitchFamily="34" charset="0"/>
              </a:rPr>
              <a:t>In a circular queue, </a:t>
            </a:r>
            <a:r>
              <a:rPr lang="en-IN" b="0" i="0" dirty="0" err="1">
                <a:solidFill>
                  <a:srgbClr val="333333"/>
                </a:solidFill>
                <a:effectLst/>
                <a:latin typeface="Open Sans" panose="020B0606030504020204" pitchFamily="34" charset="0"/>
              </a:rPr>
              <a:t>enQueue</a:t>
            </a:r>
            <a:r>
              <a:rPr lang="en-IN" b="0" i="0" dirty="0">
                <a:solidFill>
                  <a:srgbClr val="333333"/>
                </a:solidFill>
                <a:effectLst/>
                <a:latin typeface="Open Sans" panose="020B0606030504020204" pitchFamily="34" charset="0"/>
              </a:rPr>
              <a:t>() is a function which is used to insert an element into the circular queue. In a circular queue, the new element is always inserted at </a:t>
            </a:r>
            <a:r>
              <a:rPr lang="en-IN" b="1" i="0" dirty="0">
                <a:solidFill>
                  <a:srgbClr val="333333"/>
                </a:solidFill>
                <a:effectLst/>
                <a:latin typeface="Open Sans" panose="020B0606030504020204" pitchFamily="34" charset="0"/>
              </a:rPr>
              <a:t>rear</a:t>
            </a:r>
            <a:r>
              <a:rPr lang="en-IN" b="0" i="0" dirty="0">
                <a:solidFill>
                  <a:srgbClr val="333333"/>
                </a:solidFill>
                <a:effectLst/>
                <a:latin typeface="Open Sans" panose="020B0606030504020204" pitchFamily="34" charset="0"/>
              </a:rPr>
              <a:t> position. The </a:t>
            </a:r>
            <a:r>
              <a:rPr lang="en-IN" b="0" i="0" dirty="0" err="1">
                <a:solidFill>
                  <a:srgbClr val="333333"/>
                </a:solidFill>
                <a:effectLst/>
                <a:latin typeface="Open Sans" panose="020B0606030504020204" pitchFamily="34" charset="0"/>
              </a:rPr>
              <a:t>enQueue</a:t>
            </a:r>
            <a:r>
              <a:rPr lang="en-IN" b="0" i="0" dirty="0">
                <a:solidFill>
                  <a:srgbClr val="333333"/>
                </a:solidFill>
                <a:effectLst/>
                <a:latin typeface="Open Sans" panose="020B0606030504020204" pitchFamily="34" charset="0"/>
              </a:rPr>
              <a:t>() function takes one integer value as parameter and inserts that value into the circular queue. We can use the following steps to insert an element into the circular queue...</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a:t>
            </a:r>
            <a:r>
              <a:rPr lang="en-IN" b="1" i="0" dirty="0">
                <a:solidFill>
                  <a:srgbClr val="333333"/>
                </a:solidFill>
                <a:effectLst/>
                <a:latin typeface="Open Sans" panose="020B0606030504020204" pitchFamily="34" charset="0"/>
              </a:rPr>
              <a:t>queue</a:t>
            </a:r>
            <a:r>
              <a:rPr lang="en-IN" b="0" i="0" dirty="0">
                <a:solidFill>
                  <a:srgbClr val="333333"/>
                </a:solidFill>
                <a:effectLst/>
                <a:latin typeface="Open Sans" panose="020B0606030504020204" pitchFamily="34" charset="0"/>
              </a:rPr>
              <a:t> is </a:t>
            </a:r>
            <a:r>
              <a:rPr lang="en-IN" b="1" i="0" dirty="0">
                <a:solidFill>
                  <a:srgbClr val="333333"/>
                </a:solidFill>
                <a:effectLst/>
                <a:latin typeface="Open Sans" panose="020B0606030504020204" pitchFamily="34" charset="0"/>
              </a:rPr>
              <a:t>FULL</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(rear == SIZE-1 &amp;&amp; front == 0) || (front == rear+1)</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FULL</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"Queue is FULL!!! Insertion is not possible!!!"</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FULL</a:t>
            </a:r>
            <a:r>
              <a:rPr lang="en-IN" b="0" i="0" dirty="0">
                <a:solidFill>
                  <a:srgbClr val="333333"/>
                </a:solidFill>
                <a:effectLst/>
                <a:latin typeface="Open Sans" panose="020B0606030504020204" pitchFamily="34" charset="0"/>
              </a:rPr>
              <a:t>, then check </a:t>
            </a:r>
            <a:r>
              <a:rPr lang="en-IN" b="1" i="0" dirty="0">
                <a:solidFill>
                  <a:srgbClr val="333333"/>
                </a:solidFill>
                <a:effectLst/>
                <a:latin typeface="Open Sans" panose="020B0606030504020204" pitchFamily="34" charset="0"/>
              </a:rPr>
              <a:t>rear == SIZE - 1 &amp;&amp; front != 0</a:t>
            </a:r>
            <a:r>
              <a:rPr lang="en-IN" b="0" i="0" dirty="0">
                <a:solidFill>
                  <a:srgbClr val="333333"/>
                </a:solidFill>
                <a:effectLst/>
                <a:latin typeface="Open Sans" panose="020B0606030504020204" pitchFamily="34" charset="0"/>
              </a:rPr>
              <a:t> if it is </a:t>
            </a:r>
            <a:r>
              <a:rPr lang="en-IN" b="1" i="0" dirty="0">
                <a:solidFill>
                  <a:srgbClr val="333333"/>
                </a:solidFill>
                <a:effectLst/>
                <a:latin typeface="Open Sans" panose="020B0606030504020204" pitchFamily="34" charset="0"/>
              </a:rPr>
              <a:t>TRUE</a:t>
            </a:r>
            <a:r>
              <a:rPr lang="en-IN" b="0" i="0" dirty="0">
                <a:solidFill>
                  <a:srgbClr val="333333"/>
                </a:solidFill>
                <a:effectLst/>
                <a:latin typeface="Open Sans" panose="020B0606030504020204" pitchFamily="34" charset="0"/>
              </a:rPr>
              <a:t>, then set </a:t>
            </a:r>
            <a:r>
              <a:rPr lang="en-IN" b="1" i="0" dirty="0">
                <a:solidFill>
                  <a:srgbClr val="333333"/>
                </a:solidFill>
                <a:effectLst/>
                <a:latin typeface="Open Sans" panose="020B0606030504020204" pitchFamily="34" charset="0"/>
              </a:rPr>
              <a:t>rear = -1</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Increment </a:t>
            </a:r>
            <a:r>
              <a:rPr lang="en-IN" b="1" i="0" dirty="0">
                <a:solidFill>
                  <a:srgbClr val="333333"/>
                </a:solidFill>
                <a:effectLst/>
                <a:latin typeface="Open Sans" panose="020B0606030504020204" pitchFamily="34" charset="0"/>
              </a:rPr>
              <a:t>rear</a:t>
            </a:r>
            <a:r>
              <a:rPr lang="en-IN" b="0" i="0" dirty="0">
                <a:solidFill>
                  <a:srgbClr val="333333"/>
                </a:solidFill>
                <a:effectLst/>
                <a:latin typeface="Open Sans" panose="020B0606030504020204" pitchFamily="34" charset="0"/>
              </a:rPr>
              <a:t> value by one (</a:t>
            </a:r>
            <a:r>
              <a:rPr lang="en-IN" b="1" i="0" dirty="0">
                <a:solidFill>
                  <a:srgbClr val="333333"/>
                </a:solidFill>
                <a:effectLst/>
                <a:latin typeface="Open Sans" panose="020B0606030504020204" pitchFamily="34" charset="0"/>
              </a:rPr>
              <a:t>rear++</a:t>
            </a:r>
            <a:r>
              <a:rPr lang="en-IN" b="0" i="0" dirty="0">
                <a:solidFill>
                  <a:srgbClr val="333333"/>
                </a:solidFill>
                <a:effectLst/>
                <a:latin typeface="Open Sans" panose="020B0606030504020204" pitchFamily="34" charset="0"/>
              </a:rPr>
              <a:t>), set </a:t>
            </a:r>
            <a:r>
              <a:rPr lang="en-IN" b="1" i="0" dirty="0">
                <a:solidFill>
                  <a:srgbClr val="333333"/>
                </a:solidFill>
                <a:effectLst/>
                <a:latin typeface="Open Sans" panose="020B0606030504020204" pitchFamily="34" charset="0"/>
              </a:rPr>
              <a:t>queue[rear]</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value</a:t>
            </a:r>
            <a:r>
              <a:rPr lang="en-IN" b="0" i="0" dirty="0">
                <a:solidFill>
                  <a:srgbClr val="333333"/>
                </a:solidFill>
                <a:effectLst/>
                <a:latin typeface="Open Sans" panose="020B0606030504020204" pitchFamily="34" charset="0"/>
              </a:rPr>
              <a:t> and check '</a:t>
            </a:r>
            <a:r>
              <a:rPr lang="en-IN" b="1" i="0" dirty="0">
                <a:solidFill>
                  <a:srgbClr val="333333"/>
                </a:solidFill>
                <a:effectLst/>
                <a:latin typeface="Open Sans" panose="020B0606030504020204" pitchFamily="34" charset="0"/>
              </a:rPr>
              <a:t>front == -1</a:t>
            </a:r>
            <a:r>
              <a:rPr lang="en-IN" b="0" i="0" dirty="0">
                <a:solidFill>
                  <a:srgbClr val="333333"/>
                </a:solidFill>
                <a:effectLst/>
                <a:latin typeface="Open Sans" panose="020B0606030504020204" pitchFamily="34" charset="0"/>
              </a:rPr>
              <a:t>' if it is </a:t>
            </a:r>
            <a:r>
              <a:rPr lang="en-IN" b="1" i="0" dirty="0">
                <a:solidFill>
                  <a:srgbClr val="333333"/>
                </a:solidFill>
                <a:effectLst/>
                <a:latin typeface="Open Sans" panose="020B0606030504020204" pitchFamily="34" charset="0"/>
              </a:rPr>
              <a:t>TRUE</a:t>
            </a:r>
            <a:r>
              <a:rPr lang="en-IN" b="0" i="0" dirty="0">
                <a:solidFill>
                  <a:srgbClr val="333333"/>
                </a:solidFill>
                <a:effectLst/>
                <a:latin typeface="Open Sans" panose="020B0606030504020204" pitchFamily="34" charset="0"/>
              </a:rPr>
              <a:t>, then set </a:t>
            </a:r>
            <a:r>
              <a:rPr lang="en-IN" b="1" i="0" dirty="0">
                <a:solidFill>
                  <a:srgbClr val="333333"/>
                </a:solidFill>
                <a:effectLst/>
                <a:latin typeface="Open Sans" panose="020B0606030504020204" pitchFamily="34" charset="0"/>
              </a:rPr>
              <a:t>front = 0</a:t>
            </a:r>
            <a:r>
              <a:rPr lang="en-IN" b="0" i="0" dirty="0">
                <a:solidFill>
                  <a:srgbClr val="333333"/>
                </a:solidFill>
                <a:effectLst/>
                <a:latin typeface="Open Sans" panose="020B0606030504020204" pitchFamily="34" charset="0"/>
              </a:rPr>
              <a:t>.</a:t>
            </a:r>
          </a:p>
          <a:p>
            <a:endParaRPr lang="en-IN" b="0" i="0" dirty="0">
              <a:solidFill>
                <a:srgbClr val="333333"/>
              </a:solidFill>
              <a:effectLst/>
              <a:latin typeface="Open Sans" panose="020B0606030504020204" pitchFamily="34" charset="0"/>
            </a:endParaRPr>
          </a:p>
          <a:p>
            <a:endParaRPr lang="en-US" dirty="0"/>
          </a:p>
        </p:txBody>
      </p:sp>
    </p:spTree>
    <p:extLst>
      <p:ext uri="{BB962C8B-B14F-4D97-AF65-F5344CB8AC3E}">
        <p14:creationId xmlns:p14="http://schemas.microsoft.com/office/powerpoint/2010/main" val="4232068143"/>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4EF0A-FC8D-09A0-104D-C6851B9CDF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598A3D-76CA-DA00-E327-80FD8EC1996D}"/>
              </a:ext>
            </a:extLst>
          </p:cNvPr>
          <p:cNvSpPr>
            <a:spLocks noGrp="1"/>
          </p:cNvSpPr>
          <p:nvPr>
            <p:ph type="title"/>
          </p:nvPr>
        </p:nvSpPr>
        <p:spPr/>
        <p:txBody>
          <a:bodyPr>
            <a:normAutofit/>
          </a:bodyPr>
          <a:lstStyle/>
          <a:p>
            <a:r>
              <a:rPr lang="en-IN" b="1" i="0" dirty="0" err="1">
                <a:solidFill>
                  <a:srgbClr val="E00D50"/>
                </a:solidFill>
                <a:effectLst/>
                <a:latin typeface="Open Sans" panose="020B0606030504020204" pitchFamily="34" charset="0"/>
              </a:rPr>
              <a:t>deQueue</a:t>
            </a:r>
            <a:r>
              <a:rPr lang="en-IN" b="1" i="0" dirty="0">
                <a:solidFill>
                  <a:srgbClr val="E00D50"/>
                </a:solidFill>
                <a:effectLst/>
                <a:latin typeface="Open Sans" panose="020B0606030504020204" pitchFamily="34" charset="0"/>
              </a:rPr>
              <a:t>() - Deleting a value from the Circular Queue</a:t>
            </a:r>
            <a:endParaRPr lang="en-US" dirty="0"/>
          </a:p>
        </p:txBody>
      </p:sp>
      <p:sp>
        <p:nvSpPr>
          <p:cNvPr id="3" name="Content Placeholder 2">
            <a:extLst>
              <a:ext uri="{FF2B5EF4-FFF2-40B4-BE49-F238E27FC236}">
                <a16:creationId xmlns:a16="http://schemas.microsoft.com/office/drawing/2014/main" id="{95B4F058-CDD9-D545-C233-989ECA8F49C5}"/>
              </a:ext>
            </a:extLst>
          </p:cNvPr>
          <p:cNvSpPr>
            <a:spLocks noGrp="1"/>
          </p:cNvSpPr>
          <p:nvPr>
            <p:ph idx="1"/>
          </p:nvPr>
        </p:nvSpPr>
        <p:spPr/>
        <p:txBody>
          <a:bodyPr>
            <a:normAutofit fontScale="85000" lnSpcReduction="10000"/>
          </a:bodyPr>
          <a:lstStyle/>
          <a:p>
            <a:r>
              <a:rPr lang="en-IN" b="0" i="0" dirty="0">
                <a:solidFill>
                  <a:srgbClr val="333333"/>
                </a:solidFill>
                <a:effectLst/>
                <a:latin typeface="Open Sans" panose="020B0606030504020204" pitchFamily="34" charset="0"/>
              </a:rPr>
              <a:t>In a circular queue, </a:t>
            </a:r>
            <a:r>
              <a:rPr lang="en-IN" b="0" i="0" dirty="0" err="1">
                <a:solidFill>
                  <a:srgbClr val="333333"/>
                </a:solidFill>
                <a:effectLst/>
                <a:latin typeface="Open Sans" panose="020B0606030504020204" pitchFamily="34" charset="0"/>
              </a:rPr>
              <a:t>deQueue</a:t>
            </a:r>
            <a:r>
              <a:rPr lang="en-IN" b="0" i="0" dirty="0">
                <a:solidFill>
                  <a:srgbClr val="333333"/>
                </a:solidFill>
                <a:effectLst/>
                <a:latin typeface="Open Sans" panose="020B0606030504020204" pitchFamily="34" charset="0"/>
              </a:rPr>
              <a:t>() is a function used to delete an element from the circular queue. In a circular queue, the element is always deleted from </a:t>
            </a:r>
            <a:r>
              <a:rPr lang="en-IN" b="1" i="0" dirty="0">
                <a:solidFill>
                  <a:srgbClr val="333333"/>
                </a:solidFill>
                <a:effectLst/>
                <a:latin typeface="Open Sans" panose="020B0606030504020204" pitchFamily="34" charset="0"/>
              </a:rPr>
              <a:t>front</a:t>
            </a:r>
            <a:r>
              <a:rPr lang="en-IN" b="0" i="0" dirty="0">
                <a:solidFill>
                  <a:srgbClr val="333333"/>
                </a:solidFill>
                <a:effectLst/>
                <a:latin typeface="Open Sans" panose="020B0606030504020204" pitchFamily="34" charset="0"/>
              </a:rPr>
              <a:t> position. The </a:t>
            </a:r>
            <a:r>
              <a:rPr lang="en-IN" b="0" i="0" dirty="0" err="1">
                <a:solidFill>
                  <a:srgbClr val="333333"/>
                </a:solidFill>
                <a:effectLst/>
                <a:latin typeface="Open Sans" panose="020B0606030504020204" pitchFamily="34" charset="0"/>
              </a:rPr>
              <a:t>deQueue</a:t>
            </a:r>
            <a:r>
              <a:rPr lang="en-IN" b="0" i="0" dirty="0">
                <a:solidFill>
                  <a:srgbClr val="333333"/>
                </a:solidFill>
                <a:effectLst/>
                <a:latin typeface="Open Sans" panose="020B0606030504020204" pitchFamily="34" charset="0"/>
              </a:rPr>
              <a:t>() function doesn't take any value as a parameter. We can use the following steps to delete an element from the circular queue...</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a:t>
            </a:r>
            <a:r>
              <a:rPr lang="en-IN" b="1" i="0" dirty="0">
                <a:solidFill>
                  <a:srgbClr val="333333"/>
                </a:solidFill>
                <a:effectLst/>
                <a:latin typeface="Open Sans" panose="020B0606030504020204" pitchFamily="34" charset="0"/>
              </a:rPr>
              <a:t>queue</a:t>
            </a:r>
            <a:r>
              <a:rPr lang="en-IN" b="0" i="0" dirty="0">
                <a:solidFill>
                  <a:srgbClr val="333333"/>
                </a:solidFill>
                <a:effectLst/>
                <a:latin typeface="Open Sans" panose="020B0606030504020204" pitchFamily="34" charset="0"/>
              </a:rPr>
              <a: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front == -1 &amp;&amp; rear == -1</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"Queue is EMPTY!!! Deletion is not possible!!!"</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queue[front]</a:t>
            </a:r>
            <a:r>
              <a:rPr lang="en-IN" b="0" i="0" dirty="0">
                <a:solidFill>
                  <a:srgbClr val="333333"/>
                </a:solidFill>
                <a:effectLst/>
                <a:latin typeface="Open Sans" panose="020B0606030504020204" pitchFamily="34" charset="0"/>
              </a:rPr>
              <a:t> as deleted element and increment the </a:t>
            </a:r>
            <a:r>
              <a:rPr lang="en-IN" b="1" i="0" dirty="0">
                <a:solidFill>
                  <a:srgbClr val="333333"/>
                </a:solidFill>
                <a:effectLst/>
                <a:latin typeface="Open Sans" panose="020B0606030504020204" pitchFamily="34" charset="0"/>
              </a:rPr>
              <a:t>front</a:t>
            </a:r>
            <a:r>
              <a:rPr lang="en-IN" b="0" i="0" dirty="0">
                <a:solidFill>
                  <a:srgbClr val="333333"/>
                </a:solidFill>
                <a:effectLst/>
                <a:latin typeface="Open Sans" panose="020B0606030504020204" pitchFamily="34" charset="0"/>
              </a:rPr>
              <a:t> value by one (</a:t>
            </a:r>
            <a:r>
              <a:rPr lang="en-IN" b="1" i="0" dirty="0">
                <a:solidFill>
                  <a:srgbClr val="333333"/>
                </a:solidFill>
                <a:effectLst/>
                <a:latin typeface="Open Sans" panose="020B0606030504020204" pitchFamily="34" charset="0"/>
              </a:rPr>
              <a:t>front ++</a:t>
            </a:r>
            <a:r>
              <a:rPr lang="en-IN" b="0" i="0" dirty="0">
                <a:solidFill>
                  <a:srgbClr val="333333"/>
                </a:solidFill>
                <a:effectLst/>
                <a:latin typeface="Open Sans" panose="020B0606030504020204" pitchFamily="34" charset="0"/>
              </a:rPr>
              <a:t>). Then check whether </a:t>
            </a:r>
            <a:r>
              <a:rPr lang="en-IN" b="1" i="0" dirty="0">
                <a:solidFill>
                  <a:srgbClr val="333333"/>
                </a:solidFill>
                <a:effectLst/>
                <a:latin typeface="Open Sans" panose="020B0606030504020204" pitchFamily="34" charset="0"/>
              </a:rPr>
              <a:t>front == SIZE</a:t>
            </a:r>
            <a:r>
              <a:rPr lang="en-IN" b="0" i="0" dirty="0">
                <a:solidFill>
                  <a:srgbClr val="333333"/>
                </a:solidFill>
                <a:effectLst/>
                <a:latin typeface="Open Sans" panose="020B0606030504020204" pitchFamily="34" charset="0"/>
              </a:rPr>
              <a:t>, if it is </a:t>
            </a:r>
            <a:r>
              <a:rPr lang="en-IN" b="1" i="0" dirty="0">
                <a:solidFill>
                  <a:srgbClr val="333333"/>
                </a:solidFill>
                <a:effectLst/>
                <a:latin typeface="Open Sans" panose="020B0606030504020204" pitchFamily="34" charset="0"/>
              </a:rPr>
              <a:t>TRUE</a:t>
            </a:r>
            <a:r>
              <a:rPr lang="en-IN" b="0" i="0" dirty="0">
                <a:solidFill>
                  <a:srgbClr val="333333"/>
                </a:solidFill>
                <a:effectLst/>
                <a:latin typeface="Open Sans" panose="020B0606030504020204" pitchFamily="34" charset="0"/>
              </a:rPr>
              <a:t>, then set </a:t>
            </a:r>
            <a:r>
              <a:rPr lang="en-IN" b="1" i="0" dirty="0">
                <a:solidFill>
                  <a:srgbClr val="333333"/>
                </a:solidFill>
                <a:effectLst/>
                <a:latin typeface="Open Sans" panose="020B0606030504020204" pitchFamily="34" charset="0"/>
              </a:rPr>
              <a:t>front = 0</a:t>
            </a:r>
            <a:r>
              <a:rPr lang="en-IN" b="0" i="0" dirty="0">
                <a:solidFill>
                  <a:srgbClr val="333333"/>
                </a:solidFill>
                <a:effectLst/>
                <a:latin typeface="Open Sans" panose="020B0606030504020204" pitchFamily="34" charset="0"/>
              </a:rPr>
              <a:t>. Then check whether both </a:t>
            </a:r>
            <a:r>
              <a:rPr lang="en-IN" b="1" i="0" dirty="0">
                <a:solidFill>
                  <a:srgbClr val="333333"/>
                </a:solidFill>
                <a:effectLst/>
                <a:latin typeface="Open Sans" panose="020B0606030504020204" pitchFamily="34" charset="0"/>
              </a:rPr>
              <a:t>front - 1</a:t>
            </a:r>
            <a:r>
              <a:rPr lang="en-IN" b="0" i="0" dirty="0">
                <a:solidFill>
                  <a:srgbClr val="333333"/>
                </a:solidFill>
                <a:effectLst/>
                <a:latin typeface="Open Sans" panose="020B0606030504020204" pitchFamily="34" charset="0"/>
              </a:rPr>
              <a:t> and </a:t>
            </a:r>
            <a:r>
              <a:rPr lang="en-IN" b="1" i="0" dirty="0">
                <a:solidFill>
                  <a:srgbClr val="333333"/>
                </a:solidFill>
                <a:effectLst/>
                <a:latin typeface="Open Sans" panose="020B0606030504020204" pitchFamily="34" charset="0"/>
              </a:rPr>
              <a:t>rear</a:t>
            </a:r>
            <a:r>
              <a:rPr lang="en-IN" b="0" i="0" dirty="0">
                <a:solidFill>
                  <a:srgbClr val="333333"/>
                </a:solidFill>
                <a:effectLst/>
                <a:latin typeface="Open Sans" panose="020B0606030504020204" pitchFamily="34" charset="0"/>
              </a:rPr>
              <a:t> are equal (</a:t>
            </a:r>
            <a:r>
              <a:rPr lang="en-IN" b="1" i="0" dirty="0">
                <a:solidFill>
                  <a:srgbClr val="333333"/>
                </a:solidFill>
                <a:effectLst/>
                <a:latin typeface="Open Sans" panose="020B0606030504020204" pitchFamily="34" charset="0"/>
              </a:rPr>
              <a:t>front -1</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rear</a:t>
            </a:r>
            <a:r>
              <a:rPr lang="en-IN" b="0" i="0" dirty="0">
                <a:solidFill>
                  <a:srgbClr val="333333"/>
                </a:solidFill>
                <a:effectLst/>
                <a:latin typeface="Open Sans" panose="020B0606030504020204" pitchFamily="34" charset="0"/>
              </a:rPr>
              <a:t>), if it </a:t>
            </a:r>
            <a:r>
              <a:rPr lang="en-IN" b="1" i="0" dirty="0">
                <a:solidFill>
                  <a:srgbClr val="333333"/>
                </a:solidFill>
                <a:effectLst/>
                <a:latin typeface="Open Sans" panose="020B0606030504020204" pitchFamily="34" charset="0"/>
              </a:rPr>
              <a:t>TRUE</a:t>
            </a:r>
            <a:r>
              <a:rPr lang="en-IN" b="0" i="0" dirty="0">
                <a:solidFill>
                  <a:srgbClr val="333333"/>
                </a:solidFill>
                <a:effectLst/>
                <a:latin typeface="Open Sans" panose="020B0606030504020204" pitchFamily="34" charset="0"/>
              </a:rPr>
              <a:t>, then set both </a:t>
            </a:r>
            <a:r>
              <a:rPr lang="en-IN" b="1" i="0" dirty="0">
                <a:solidFill>
                  <a:srgbClr val="333333"/>
                </a:solidFill>
                <a:effectLst/>
                <a:latin typeface="Open Sans" panose="020B0606030504020204" pitchFamily="34" charset="0"/>
              </a:rPr>
              <a:t>front</a:t>
            </a:r>
            <a:r>
              <a:rPr lang="en-IN" b="0" i="0" dirty="0">
                <a:solidFill>
                  <a:srgbClr val="333333"/>
                </a:solidFill>
                <a:effectLst/>
                <a:latin typeface="Open Sans" panose="020B0606030504020204" pitchFamily="34" charset="0"/>
              </a:rPr>
              <a:t> and </a:t>
            </a:r>
            <a:r>
              <a:rPr lang="en-IN" b="1" i="0" dirty="0">
                <a:solidFill>
                  <a:srgbClr val="333333"/>
                </a:solidFill>
                <a:effectLst/>
                <a:latin typeface="Open Sans" panose="020B0606030504020204" pitchFamily="34" charset="0"/>
              </a:rPr>
              <a:t>rear</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-1</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front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rear</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-1</a:t>
            </a:r>
            <a:r>
              <a:rPr lang="en-IN" b="0" i="0" dirty="0">
                <a:solidFill>
                  <a:srgbClr val="333333"/>
                </a:solidFill>
                <a:effectLst/>
                <a:latin typeface="Open Sans" panose="020B0606030504020204" pitchFamily="34" charset="0"/>
              </a:rPr>
              <a:t>).</a:t>
            </a:r>
          </a:p>
          <a:p>
            <a:endParaRPr lang="en-IN" b="0" i="0" dirty="0">
              <a:solidFill>
                <a:srgbClr val="333333"/>
              </a:solidFill>
              <a:effectLst/>
              <a:latin typeface="Open Sans" panose="020B0606030504020204" pitchFamily="34" charset="0"/>
            </a:endParaRPr>
          </a:p>
          <a:p>
            <a:endParaRPr lang="en-US" dirty="0"/>
          </a:p>
        </p:txBody>
      </p:sp>
    </p:spTree>
    <p:extLst>
      <p:ext uri="{BB962C8B-B14F-4D97-AF65-F5344CB8AC3E}">
        <p14:creationId xmlns:p14="http://schemas.microsoft.com/office/powerpoint/2010/main" val="1425059298"/>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1F1EA-FCAF-316E-52E3-660C8238A6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3B5872-39E7-32B8-CBF2-CD31754BBAF7}"/>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display() - Displays the elements of a Circular Queue</a:t>
            </a:r>
            <a:endParaRPr lang="en-US" dirty="0"/>
          </a:p>
        </p:txBody>
      </p:sp>
      <p:sp>
        <p:nvSpPr>
          <p:cNvPr id="3" name="Content Placeholder 2">
            <a:extLst>
              <a:ext uri="{FF2B5EF4-FFF2-40B4-BE49-F238E27FC236}">
                <a16:creationId xmlns:a16="http://schemas.microsoft.com/office/drawing/2014/main" id="{3FE17815-C533-0690-B07C-C87E7788A864}"/>
              </a:ext>
            </a:extLst>
          </p:cNvPr>
          <p:cNvSpPr>
            <a:spLocks noGrp="1"/>
          </p:cNvSpPr>
          <p:nvPr>
            <p:ph idx="1"/>
          </p:nvPr>
        </p:nvSpPr>
        <p:spPr/>
        <p:txBody>
          <a:bodyPr>
            <a:normAutofit fontScale="70000" lnSpcReduction="20000"/>
          </a:bodyPr>
          <a:lstStyle/>
          <a:p>
            <a:r>
              <a:rPr lang="en-IN" b="0" i="0" dirty="0">
                <a:solidFill>
                  <a:srgbClr val="333333"/>
                </a:solidFill>
                <a:effectLst/>
                <a:latin typeface="Open Sans" panose="020B0606030504020204" pitchFamily="34" charset="0"/>
              </a:rPr>
              <a:t>We can use the following steps to display the elements of a circular queue...</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a:t>
            </a:r>
            <a:r>
              <a:rPr lang="en-IN" b="1" i="0" dirty="0">
                <a:solidFill>
                  <a:srgbClr val="333333"/>
                </a:solidFill>
                <a:effectLst/>
                <a:latin typeface="Open Sans" panose="020B0606030504020204" pitchFamily="34" charset="0"/>
              </a:rPr>
              <a:t>queue</a:t>
            </a:r>
            <a:r>
              <a:rPr lang="en-IN" b="0" i="0" dirty="0">
                <a:solidFill>
                  <a:srgbClr val="333333"/>
                </a:solidFill>
                <a:effectLst/>
                <a:latin typeface="Open Sans" panose="020B0606030504020204" pitchFamily="34" charset="0"/>
              </a:rPr>
              <a: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front == -1</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"Queue is EMPTY!!!"</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define an integer variable '</a:t>
            </a:r>
            <a:r>
              <a:rPr lang="en-IN" b="1" i="0" dirty="0" err="1">
                <a:solidFill>
                  <a:srgbClr val="333333"/>
                </a:solidFill>
                <a:effectLst/>
                <a:latin typeface="Open Sans" panose="020B0606030504020204" pitchFamily="34" charset="0"/>
              </a:rPr>
              <a:t>i</a:t>
            </a:r>
            <a:r>
              <a:rPr lang="en-IN" b="0" i="0" dirty="0">
                <a:solidFill>
                  <a:srgbClr val="333333"/>
                </a:solidFill>
                <a:effectLst/>
                <a:latin typeface="Open Sans" panose="020B0606030504020204" pitchFamily="34" charset="0"/>
              </a:rPr>
              <a:t>' and set '</a:t>
            </a:r>
            <a:r>
              <a:rPr lang="en-IN" b="1" i="0" dirty="0" err="1">
                <a:solidFill>
                  <a:srgbClr val="333333"/>
                </a:solidFill>
                <a:effectLst/>
                <a:latin typeface="Open Sans" panose="020B0606030504020204" pitchFamily="34" charset="0"/>
              </a:rPr>
              <a:t>i</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front</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Check whether '</a:t>
            </a:r>
            <a:r>
              <a:rPr lang="en-IN" b="1" i="0" dirty="0">
                <a:solidFill>
                  <a:srgbClr val="333333"/>
                </a:solidFill>
                <a:effectLst/>
                <a:latin typeface="Open Sans" panose="020B0606030504020204" pitchFamily="34" charset="0"/>
              </a:rPr>
              <a:t>front &lt;= rear</a:t>
            </a:r>
            <a:r>
              <a:rPr lang="en-IN" b="0" i="0" dirty="0">
                <a:solidFill>
                  <a:srgbClr val="333333"/>
                </a:solidFill>
                <a:effectLst/>
                <a:latin typeface="Open Sans" panose="020B0606030504020204" pitchFamily="34" charset="0"/>
              </a:rPr>
              <a:t>', if it is </a:t>
            </a:r>
            <a:r>
              <a:rPr lang="en-IN" b="1" i="0" dirty="0">
                <a:solidFill>
                  <a:srgbClr val="333333"/>
                </a:solidFill>
                <a:effectLst/>
                <a:latin typeface="Open Sans" panose="020B0606030504020204" pitchFamily="34" charset="0"/>
              </a:rPr>
              <a:t>TRUE</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queue[</a:t>
            </a:r>
            <a:r>
              <a:rPr lang="en-IN" b="1" i="0" dirty="0" err="1">
                <a:solidFill>
                  <a:srgbClr val="333333"/>
                </a:solidFill>
                <a:effectLst/>
                <a:latin typeface="Open Sans" panose="020B0606030504020204" pitchFamily="34" charset="0"/>
              </a:rPr>
              <a:t>i</a:t>
            </a:r>
            <a:r>
              <a:rPr lang="en-IN" b="1" i="0" dirty="0">
                <a:solidFill>
                  <a:srgbClr val="333333"/>
                </a:solidFill>
                <a:effectLst/>
                <a:latin typeface="Open Sans" panose="020B0606030504020204" pitchFamily="34" charset="0"/>
              </a:rPr>
              <a:t>]</a:t>
            </a:r>
            <a:r>
              <a:rPr lang="en-IN" b="0" i="0" dirty="0">
                <a:solidFill>
                  <a:srgbClr val="333333"/>
                </a:solidFill>
                <a:effectLst/>
                <a:latin typeface="Open Sans" panose="020B0606030504020204" pitchFamily="34" charset="0"/>
              </a:rPr>
              <a:t>' value and increment '</a:t>
            </a:r>
            <a:r>
              <a:rPr lang="en-IN" b="1" i="0" dirty="0" err="1">
                <a:solidFill>
                  <a:srgbClr val="333333"/>
                </a:solidFill>
                <a:effectLst/>
                <a:latin typeface="Open Sans" panose="020B0606030504020204" pitchFamily="34" charset="0"/>
              </a:rPr>
              <a:t>i</a:t>
            </a:r>
            <a:r>
              <a:rPr lang="en-IN" b="0" i="0" dirty="0">
                <a:solidFill>
                  <a:srgbClr val="333333"/>
                </a:solidFill>
                <a:effectLst/>
                <a:latin typeface="Open Sans" panose="020B0606030504020204" pitchFamily="34" charset="0"/>
              </a:rPr>
              <a:t>' value by one (</a:t>
            </a:r>
            <a:r>
              <a:rPr lang="en-IN" b="1" i="0" dirty="0" err="1">
                <a:solidFill>
                  <a:srgbClr val="333333"/>
                </a:solidFill>
                <a:effectLst/>
                <a:latin typeface="Open Sans" panose="020B0606030504020204" pitchFamily="34" charset="0"/>
              </a:rPr>
              <a:t>i</a:t>
            </a:r>
            <a:r>
              <a:rPr lang="en-IN" b="1" i="0" dirty="0">
                <a:solidFill>
                  <a:srgbClr val="333333"/>
                </a:solidFill>
                <a:effectLst/>
                <a:latin typeface="Open Sans" panose="020B0606030504020204" pitchFamily="34" charset="0"/>
              </a:rPr>
              <a:t>++</a:t>
            </a:r>
            <a:r>
              <a:rPr lang="en-IN" b="0" i="0" dirty="0">
                <a:solidFill>
                  <a:srgbClr val="333333"/>
                </a:solidFill>
                <a:effectLst/>
                <a:latin typeface="Open Sans" panose="020B0606030504020204" pitchFamily="34" charset="0"/>
              </a:rPr>
              <a:t>). Repeat the same until '</a:t>
            </a:r>
            <a:r>
              <a:rPr lang="en-IN" b="1" i="0" dirty="0" err="1">
                <a:solidFill>
                  <a:srgbClr val="333333"/>
                </a:solidFill>
                <a:effectLst/>
                <a:latin typeface="Open Sans" panose="020B0606030504020204" pitchFamily="34" charset="0"/>
              </a:rPr>
              <a:t>i</a:t>
            </a:r>
            <a:r>
              <a:rPr lang="en-IN" b="1" i="0" dirty="0">
                <a:solidFill>
                  <a:srgbClr val="333333"/>
                </a:solidFill>
                <a:effectLst/>
                <a:latin typeface="Open Sans" panose="020B0606030504020204" pitchFamily="34" charset="0"/>
              </a:rPr>
              <a:t> &lt;= rear</a:t>
            </a:r>
            <a:r>
              <a:rPr lang="en-IN" b="0" i="0" dirty="0">
                <a:solidFill>
                  <a:srgbClr val="333333"/>
                </a:solidFill>
                <a:effectLst/>
                <a:latin typeface="Open Sans" panose="020B0606030504020204" pitchFamily="34" charset="0"/>
              </a:rPr>
              <a:t>' becomes </a:t>
            </a:r>
            <a:r>
              <a:rPr lang="en-IN" b="1" i="0" dirty="0">
                <a:solidFill>
                  <a:srgbClr val="333333"/>
                </a:solidFill>
                <a:effectLst/>
                <a:latin typeface="Open Sans" panose="020B0606030504020204" pitchFamily="34" charset="0"/>
              </a:rPr>
              <a:t>FALSE</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If '</a:t>
            </a:r>
            <a:r>
              <a:rPr lang="en-IN" b="1" i="0" dirty="0">
                <a:solidFill>
                  <a:srgbClr val="333333"/>
                </a:solidFill>
                <a:effectLst/>
                <a:latin typeface="Open Sans" panose="020B0606030504020204" pitchFamily="34" charset="0"/>
              </a:rPr>
              <a:t>front &lt;= rear</a:t>
            </a:r>
            <a:r>
              <a:rPr lang="en-IN" b="0" i="0" dirty="0">
                <a:solidFill>
                  <a:srgbClr val="333333"/>
                </a:solidFill>
                <a:effectLst/>
                <a:latin typeface="Open Sans" panose="020B0606030504020204" pitchFamily="34" charset="0"/>
              </a:rPr>
              <a:t>' is </a:t>
            </a:r>
            <a:r>
              <a:rPr lang="en-IN" b="1" i="0" dirty="0">
                <a:solidFill>
                  <a:srgbClr val="333333"/>
                </a:solidFill>
                <a:effectLst/>
                <a:latin typeface="Open Sans" panose="020B0606030504020204" pitchFamily="34" charset="0"/>
              </a:rPr>
              <a:t>FALSE</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queue[</a:t>
            </a:r>
            <a:r>
              <a:rPr lang="en-IN" b="1" i="0" dirty="0" err="1">
                <a:solidFill>
                  <a:srgbClr val="333333"/>
                </a:solidFill>
                <a:effectLst/>
                <a:latin typeface="Open Sans" panose="020B0606030504020204" pitchFamily="34" charset="0"/>
              </a:rPr>
              <a:t>i</a:t>
            </a:r>
            <a:r>
              <a:rPr lang="en-IN" b="1" i="0" dirty="0">
                <a:solidFill>
                  <a:srgbClr val="333333"/>
                </a:solidFill>
                <a:effectLst/>
                <a:latin typeface="Open Sans" panose="020B0606030504020204" pitchFamily="34" charset="0"/>
              </a:rPr>
              <a:t>]</a:t>
            </a:r>
            <a:r>
              <a:rPr lang="en-IN" b="0" i="0" dirty="0">
                <a:solidFill>
                  <a:srgbClr val="333333"/>
                </a:solidFill>
                <a:effectLst/>
                <a:latin typeface="Open Sans" panose="020B0606030504020204" pitchFamily="34" charset="0"/>
              </a:rPr>
              <a:t>' value and increment '</a:t>
            </a:r>
            <a:r>
              <a:rPr lang="en-IN" b="1" i="0" dirty="0" err="1">
                <a:solidFill>
                  <a:srgbClr val="333333"/>
                </a:solidFill>
                <a:effectLst/>
                <a:latin typeface="Open Sans" panose="020B0606030504020204" pitchFamily="34" charset="0"/>
              </a:rPr>
              <a:t>i</a:t>
            </a:r>
            <a:r>
              <a:rPr lang="en-IN" b="0" i="0" dirty="0">
                <a:solidFill>
                  <a:srgbClr val="333333"/>
                </a:solidFill>
                <a:effectLst/>
                <a:latin typeface="Open Sans" panose="020B0606030504020204" pitchFamily="34" charset="0"/>
              </a:rPr>
              <a:t>' value by one (</a:t>
            </a:r>
            <a:r>
              <a:rPr lang="en-IN" b="1" i="0" dirty="0" err="1">
                <a:solidFill>
                  <a:srgbClr val="333333"/>
                </a:solidFill>
                <a:effectLst/>
                <a:latin typeface="Open Sans" panose="020B0606030504020204" pitchFamily="34" charset="0"/>
              </a:rPr>
              <a:t>i</a:t>
            </a:r>
            <a:r>
              <a:rPr lang="en-IN" b="1" i="0" dirty="0">
                <a:solidFill>
                  <a:srgbClr val="333333"/>
                </a:solidFill>
                <a:effectLst/>
                <a:latin typeface="Open Sans" panose="020B0606030504020204" pitchFamily="34" charset="0"/>
              </a:rPr>
              <a:t>++</a:t>
            </a:r>
            <a:r>
              <a:rPr lang="en-IN" b="0" i="0" dirty="0">
                <a:solidFill>
                  <a:srgbClr val="333333"/>
                </a:solidFill>
                <a:effectLst/>
                <a:latin typeface="Open Sans" panose="020B0606030504020204" pitchFamily="34" charset="0"/>
              </a:rPr>
              <a:t>). Repeat the same </a:t>
            </a:r>
            <a:r>
              <a:rPr lang="en-IN" b="0" i="0" dirty="0" err="1">
                <a:solidFill>
                  <a:srgbClr val="333333"/>
                </a:solidFill>
                <a:effectLst/>
                <a:latin typeface="Open Sans" panose="020B0606030504020204" pitchFamily="34" charset="0"/>
              </a:rPr>
              <a:t>until'</a:t>
            </a:r>
            <a:r>
              <a:rPr lang="en-IN" b="1" i="0" dirty="0" err="1">
                <a:solidFill>
                  <a:srgbClr val="333333"/>
                </a:solidFill>
                <a:effectLst/>
                <a:latin typeface="Open Sans" panose="020B0606030504020204" pitchFamily="34" charset="0"/>
              </a:rPr>
              <a:t>i</a:t>
            </a:r>
            <a:r>
              <a:rPr lang="en-IN" b="1" i="0" dirty="0">
                <a:solidFill>
                  <a:srgbClr val="333333"/>
                </a:solidFill>
                <a:effectLst/>
                <a:latin typeface="Open Sans" panose="020B0606030504020204" pitchFamily="34" charset="0"/>
              </a:rPr>
              <a:t> &lt;= SIZE - 1</a:t>
            </a:r>
            <a:r>
              <a:rPr lang="en-IN" b="0" i="0" dirty="0">
                <a:solidFill>
                  <a:srgbClr val="333333"/>
                </a:solidFill>
                <a:effectLst/>
                <a:latin typeface="Open Sans" panose="020B0606030504020204" pitchFamily="34" charset="0"/>
              </a:rPr>
              <a:t>' becomes </a:t>
            </a:r>
            <a:r>
              <a:rPr lang="en-IN" b="1" i="0" dirty="0">
                <a:solidFill>
                  <a:srgbClr val="333333"/>
                </a:solidFill>
                <a:effectLst/>
                <a:latin typeface="Open Sans" panose="020B0606030504020204" pitchFamily="34" charset="0"/>
              </a:rPr>
              <a:t>FALSE</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6 - </a:t>
            </a:r>
            <a:r>
              <a:rPr lang="en-IN" b="0" i="0" dirty="0">
                <a:solidFill>
                  <a:srgbClr val="333333"/>
                </a:solidFill>
                <a:effectLst/>
                <a:latin typeface="Open Sans" panose="020B0606030504020204" pitchFamily="34" charset="0"/>
              </a:rPr>
              <a:t>Set </a:t>
            </a:r>
            <a:r>
              <a:rPr lang="en-IN" b="1" i="0" dirty="0" err="1">
                <a:solidFill>
                  <a:srgbClr val="333333"/>
                </a:solidFill>
                <a:effectLst/>
                <a:latin typeface="Open Sans" panose="020B0606030504020204" pitchFamily="34" charset="0"/>
              </a:rPr>
              <a:t>i</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0</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7 - </a:t>
            </a:r>
            <a:r>
              <a:rPr lang="en-IN" b="0" i="0" dirty="0">
                <a:solidFill>
                  <a:srgbClr val="333333"/>
                </a:solidFill>
                <a:effectLst/>
                <a:latin typeface="Open Sans" panose="020B0606030504020204" pitchFamily="34" charset="0"/>
              </a:rPr>
              <a:t>Again display '</a:t>
            </a:r>
            <a:r>
              <a:rPr lang="en-IN" b="1" i="0" dirty="0" err="1">
                <a:solidFill>
                  <a:srgbClr val="333333"/>
                </a:solidFill>
                <a:effectLst/>
                <a:latin typeface="Open Sans" panose="020B0606030504020204" pitchFamily="34" charset="0"/>
              </a:rPr>
              <a:t>cQueue</a:t>
            </a:r>
            <a:r>
              <a:rPr lang="en-IN" b="1" i="0" dirty="0">
                <a:solidFill>
                  <a:srgbClr val="333333"/>
                </a:solidFill>
                <a:effectLst/>
                <a:latin typeface="Open Sans" panose="020B0606030504020204" pitchFamily="34" charset="0"/>
              </a:rPr>
              <a:t>[</a:t>
            </a:r>
            <a:r>
              <a:rPr lang="en-IN" b="1" i="0" dirty="0" err="1">
                <a:solidFill>
                  <a:srgbClr val="333333"/>
                </a:solidFill>
                <a:effectLst/>
                <a:latin typeface="Open Sans" panose="020B0606030504020204" pitchFamily="34" charset="0"/>
              </a:rPr>
              <a:t>i</a:t>
            </a:r>
            <a:r>
              <a:rPr lang="en-IN" b="1" i="0" dirty="0">
                <a:solidFill>
                  <a:srgbClr val="333333"/>
                </a:solidFill>
                <a:effectLst/>
                <a:latin typeface="Open Sans" panose="020B0606030504020204" pitchFamily="34" charset="0"/>
              </a:rPr>
              <a:t>]</a:t>
            </a:r>
            <a:r>
              <a:rPr lang="en-IN" b="0" i="0" dirty="0">
                <a:solidFill>
                  <a:srgbClr val="333333"/>
                </a:solidFill>
                <a:effectLst/>
                <a:latin typeface="Open Sans" panose="020B0606030504020204" pitchFamily="34" charset="0"/>
              </a:rPr>
              <a:t>' value and increment </a:t>
            </a:r>
            <a:r>
              <a:rPr lang="en-IN" b="1" i="0" dirty="0" err="1">
                <a:solidFill>
                  <a:srgbClr val="333333"/>
                </a:solidFill>
                <a:effectLst/>
                <a:latin typeface="Open Sans" panose="020B0606030504020204" pitchFamily="34" charset="0"/>
              </a:rPr>
              <a:t>i</a:t>
            </a:r>
            <a:r>
              <a:rPr lang="en-IN" b="0" i="0" dirty="0">
                <a:solidFill>
                  <a:srgbClr val="333333"/>
                </a:solidFill>
                <a:effectLst/>
                <a:latin typeface="Open Sans" panose="020B0606030504020204" pitchFamily="34" charset="0"/>
              </a:rPr>
              <a:t> value by one (</a:t>
            </a:r>
            <a:r>
              <a:rPr lang="en-IN" b="1" i="0" dirty="0" err="1">
                <a:solidFill>
                  <a:srgbClr val="333333"/>
                </a:solidFill>
                <a:effectLst/>
                <a:latin typeface="Open Sans" panose="020B0606030504020204" pitchFamily="34" charset="0"/>
              </a:rPr>
              <a:t>i</a:t>
            </a:r>
            <a:r>
              <a:rPr lang="en-IN" b="1" i="0" dirty="0">
                <a:solidFill>
                  <a:srgbClr val="333333"/>
                </a:solidFill>
                <a:effectLst/>
                <a:latin typeface="Open Sans" panose="020B0606030504020204" pitchFamily="34" charset="0"/>
              </a:rPr>
              <a:t>++</a:t>
            </a:r>
            <a:r>
              <a:rPr lang="en-IN" b="0" i="0" dirty="0">
                <a:solidFill>
                  <a:srgbClr val="333333"/>
                </a:solidFill>
                <a:effectLst/>
                <a:latin typeface="Open Sans" panose="020B0606030504020204" pitchFamily="34" charset="0"/>
              </a:rPr>
              <a:t>). Repeat the same until '</a:t>
            </a:r>
            <a:r>
              <a:rPr lang="en-IN" b="1" i="0" dirty="0" err="1">
                <a:solidFill>
                  <a:srgbClr val="333333"/>
                </a:solidFill>
                <a:effectLst/>
                <a:latin typeface="Open Sans" panose="020B0606030504020204" pitchFamily="34" charset="0"/>
              </a:rPr>
              <a:t>i</a:t>
            </a:r>
            <a:r>
              <a:rPr lang="en-IN" b="1" i="0" dirty="0">
                <a:solidFill>
                  <a:srgbClr val="333333"/>
                </a:solidFill>
                <a:effectLst/>
                <a:latin typeface="Open Sans" panose="020B0606030504020204" pitchFamily="34" charset="0"/>
              </a:rPr>
              <a:t> &lt;= rear</a:t>
            </a:r>
            <a:r>
              <a:rPr lang="en-IN" b="0" i="0" dirty="0">
                <a:solidFill>
                  <a:srgbClr val="333333"/>
                </a:solidFill>
                <a:effectLst/>
                <a:latin typeface="Open Sans" panose="020B0606030504020204" pitchFamily="34" charset="0"/>
              </a:rPr>
              <a:t>' becomes </a:t>
            </a:r>
            <a:r>
              <a:rPr lang="en-IN" b="1" i="0" dirty="0">
                <a:solidFill>
                  <a:srgbClr val="333333"/>
                </a:solidFill>
                <a:effectLst/>
                <a:latin typeface="Open Sans" panose="020B0606030504020204" pitchFamily="34" charset="0"/>
              </a:rPr>
              <a:t>FALSE</a:t>
            </a:r>
            <a:r>
              <a:rPr lang="en-IN" b="0" i="0" dirty="0">
                <a:solidFill>
                  <a:srgbClr val="333333"/>
                </a:solidFill>
                <a:effectLst/>
                <a:latin typeface="Open Sans" panose="020B0606030504020204" pitchFamily="34" charset="0"/>
              </a:rPr>
              <a:t>.</a:t>
            </a:r>
          </a:p>
          <a:p>
            <a:endParaRPr lang="en-US" dirty="0"/>
          </a:p>
        </p:txBody>
      </p:sp>
    </p:spTree>
    <p:extLst>
      <p:ext uri="{BB962C8B-B14F-4D97-AF65-F5344CB8AC3E}">
        <p14:creationId xmlns:p14="http://schemas.microsoft.com/office/powerpoint/2010/main" val="2524483188"/>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E1198-7D90-2784-672D-D18CA35851C1}"/>
              </a:ext>
            </a:extLst>
          </p:cNvPr>
          <p:cNvSpPr>
            <a:spLocks noGrp="1"/>
          </p:cNvSpPr>
          <p:nvPr>
            <p:ph type="title"/>
          </p:nvPr>
        </p:nvSpPr>
        <p:spPr/>
        <p:txBody>
          <a:bodyPr>
            <a:normAutofit/>
          </a:bodyPr>
          <a:lstStyle/>
          <a:p>
            <a:r>
              <a:rPr lang="en-IN" b="1" i="0" dirty="0">
                <a:solidFill>
                  <a:srgbClr val="333333"/>
                </a:solidFill>
                <a:effectLst/>
                <a:latin typeface="Comfortaa"/>
              </a:rPr>
              <a:t>Double Ended Queue </a:t>
            </a:r>
            <a:r>
              <a:rPr lang="en-IN" b="1" i="0" dirty="0" err="1">
                <a:solidFill>
                  <a:srgbClr val="333333"/>
                </a:solidFill>
                <a:effectLst/>
                <a:latin typeface="Comfortaa"/>
              </a:rPr>
              <a:t>Datastructure</a:t>
            </a:r>
            <a:endParaRPr lang="en-US" dirty="0"/>
          </a:p>
        </p:txBody>
      </p:sp>
      <p:sp>
        <p:nvSpPr>
          <p:cNvPr id="3" name="Content Placeholder 2">
            <a:extLst>
              <a:ext uri="{FF2B5EF4-FFF2-40B4-BE49-F238E27FC236}">
                <a16:creationId xmlns:a16="http://schemas.microsoft.com/office/drawing/2014/main" id="{7BD9746C-9274-3DEB-3289-77D5937DF980}"/>
              </a:ext>
            </a:extLst>
          </p:cNvPr>
          <p:cNvSpPr>
            <a:spLocks noGrp="1"/>
          </p:cNvSpPr>
          <p:nvPr>
            <p:ph idx="1"/>
          </p:nvPr>
        </p:nvSpPr>
        <p:spPr/>
        <p:txBody>
          <a:bodyPr/>
          <a:lstStyle/>
          <a:p>
            <a:pPr algn="just"/>
            <a:r>
              <a:rPr lang="en-IN" b="0" i="0" dirty="0">
                <a:solidFill>
                  <a:srgbClr val="333333"/>
                </a:solidFill>
                <a:effectLst/>
                <a:latin typeface="Open Sans" panose="020B0606030504020204" pitchFamily="34" charset="0"/>
              </a:rPr>
              <a:t>Double Ended Queue can be represented in TWO ways:</a:t>
            </a:r>
          </a:p>
          <a:p>
            <a:pPr algn="just">
              <a:buFont typeface="+mj-lt"/>
              <a:buAutoNum type="arabicPeriod"/>
            </a:pPr>
            <a:r>
              <a:rPr lang="en-IN" b="0" i="0" dirty="0">
                <a:solidFill>
                  <a:srgbClr val="333333"/>
                </a:solidFill>
                <a:effectLst/>
                <a:latin typeface="Open Sans" panose="020B0606030504020204" pitchFamily="34" charset="0"/>
              </a:rPr>
              <a:t>Input Restricted Double Ended Queue</a:t>
            </a:r>
          </a:p>
          <a:p>
            <a:pPr algn="just">
              <a:buFont typeface="+mj-lt"/>
              <a:buAutoNum type="arabicPeriod"/>
            </a:pPr>
            <a:r>
              <a:rPr lang="en-IN" b="0" i="0" dirty="0">
                <a:solidFill>
                  <a:srgbClr val="333333"/>
                </a:solidFill>
                <a:effectLst/>
                <a:latin typeface="Open Sans" panose="020B0606030504020204" pitchFamily="34" charset="0"/>
              </a:rPr>
              <a:t>Output Restricted Double Ended Queue</a:t>
            </a:r>
          </a:p>
          <a:p>
            <a:endParaRPr lang="en-US" dirty="0"/>
          </a:p>
        </p:txBody>
      </p:sp>
      <p:pic>
        <p:nvPicPr>
          <p:cNvPr id="27650" name="Picture 2" descr="double ended queue data structure">
            <a:extLst>
              <a:ext uri="{FF2B5EF4-FFF2-40B4-BE49-F238E27FC236}">
                <a16:creationId xmlns:a16="http://schemas.microsoft.com/office/drawing/2014/main" id="{640F4FAF-4667-FE1E-D4F0-E5CFE2426C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1000" y="4001294"/>
            <a:ext cx="8890000" cy="254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9378760"/>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D8474-A057-915D-FF01-9C28935A5D56}"/>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Input Restricted Double Ended Queue</a:t>
            </a:r>
            <a:endParaRPr lang="en-US" dirty="0"/>
          </a:p>
        </p:txBody>
      </p:sp>
      <p:sp>
        <p:nvSpPr>
          <p:cNvPr id="3" name="Content Placeholder 2">
            <a:extLst>
              <a:ext uri="{FF2B5EF4-FFF2-40B4-BE49-F238E27FC236}">
                <a16:creationId xmlns:a16="http://schemas.microsoft.com/office/drawing/2014/main" id="{8430F875-B4C4-D851-6B5C-40350C6C08DD}"/>
              </a:ext>
            </a:extLst>
          </p:cNvPr>
          <p:cNvSpPr>
            <a:spLocks noGrp="1"/>
          </p:cNvSpPr>
          <p:nvPr>
            <p:ph idx="1"/>
          </p:nvPr>
        </p:nvSpPr>
        <p:spPr/>
        <p:txBody>
          <a:bodyPr/>
          <a:lstStyle/>
          <a:p>
            <a:endParaRPr lang="en-US"/>
          </a:p>
        </p:txBody>
      </p:sp>
      <p:pic>
        <p:nvPicPr>
          <p:cNvPr id="28674" name="Picture 2" descr="input restricted double ended queue">
            <a:extLst>
              <a:ext uri="{FF2B5EF4-FFF2-40B4-BE49-F238E27FC236}">
                <a16:creationId xmlns:a16="http://schemas.microsoft.com/office/drawing/2014/main" id="{EFB4B399-3605-EE5F-6D8B-70ED13DD0D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1000" y="2159000"/>
            <a:ext cx="8890000" cy="254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2272350"/>
      </p:ext>
    </p:extLst>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1B193-EAE9-0C86-AC1F-9F4D0B6BC6C9}"/>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Output Restricted Double Ended Queue</a:t>
            </a:r>
            <a:endParaRPr lang="en-US" dirty="0"/>
          </a:p>
        </p:txBody>
      </p:sp>
      <p:sp>
        <p:nvSpPr>
          <p:cNvPr id="3" name="Content Placeholder 2">
            <a:extLst>
              <a:ext uri="{FF2B5EF4-FFF2-40B4-BE49-F238E27FC236}">
                <a16:creationId xmlns:a16="http://schemas.microsoft.com/office/drawing/2014/main" id="{06055994-F82C-5F49-3A5A-936AC946768E}"/>
              </a:ext>
            </a:extLst>
          </p:cNvPr>
          <p:cNvSpPr>
            <a:spLocks noGrp="1"/>
          </p:cNvSpPr>
          <p:nvPr>
            <p:ph idx="1"/>
          </p:nvPr>
        </p:nvSpPr>
        <p:spPr/>
        <p:txBody>
          <a:bodyPr/>
          <a:lstStyle/>
          <a:p>
            <a:endParaRPr lang="en-US"/>
          </a:p>
        </p:txBody>
      </p:sp>
      <p:pic>
        <p:nvPicPr>
          <p:cNvPr id="29698" name="Picture 2" descr="output restricted double ended queue">
            <a:extLst>
              <a:ext uri="{FF2B5EF4-FFF2-40B4-BE49-F238E27FC236}">
                <a16:creationId xmlns:a16="http://schemas.microsoft.com/office/drawing/2014/main" id="{5FDA9D43-2888-8737-B7C4-D0CACFFEA1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1000" y="2159000"/>
            <a:ext cx="8890000" cy="254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9273433"/>
      </p:ext>
    </p:extLst>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128CC-8568-B82C-7EBC-2579B6A5773F}"/>
              </a:ext>
            </a:extLst>
          </p:cNvPr>
          <p:cNvSpPr>
            <a:spLocks noGrp="1"/>
          </p:cNvSpPr>
          <p:nvPr>
            <p:ph type="title"/>
          </p:nvPr>
        </p:nvSpPr>
        <p:spPr/>
        <p:txBody>
          <a:bodyPr>
            <a:normAutofit/>
          </a:bodyPr>
          <a:lstStyle/>
          <a:p>
            <a:r>
              <a:rPr lang="en-IN" b="1" i="0" dirty="0">
                <a:solidFill>
                  <a:srgbClr val="333333"/>
                </a:solidFill>
                <a:effectLst/>
                <a:latin typeface="Comfortaa"/>
              </a:rPr>
              <a:t>Tree - Terminology</a:t>
            </a:r>
            <a:endParaRPr lang="en-US" dirty="0"/>
          </a:p>
        </p:txBody>
      </p:sp>
      <p:sp>
        <p:nvSpPr>
          <p:cNvPr id="3" name="Content Placeholder 2">
            <a:extLst>
              <a:ext uri="{FF2B5EF4-FFF2-40B4-BE49-F238E27FC236}">
                <a16:creationId xmlns:a16="http://schemas.microsoft.com/office/drawing/2014/main" id="{110C8BBD-C274-1C2E-3392-46DE315F9471}"/>
              </a:ext>
            </a:extLst>
          </p:cNvPr>
          <p:cNvSpPr>
            <a:spLocks noGrp="1"/>
          </p:cNvSpPr>
          <p:nvPr>
            <p:ph idx="1"/>
          </p:nvPr>
        </p:nvSpPr>
        <p:spPr/>
        <p:txBody>
          <a:bodyPr/>
          <a:lstStyle/>
          <a:p>
            <a:r>
              <a:rPr lang="en-IN" b="1" i="0" dirty="0">
                <a:solidFill>
                  <a:srgbClr val="333333"/>
                </a:solidFill>
                <a:effectLst/>
                <a:latin typeface="Open Sans" panose="020B0606030504020204" pitchFamily="34" charset="0"/>
              </a:rPr>
              <a:t>Tree is a non-linear data structure which organizes data in hierarchical structure and this is a recursive definition.</a:t>
            </a:r>
          </a:p>
          <a:p>
            <a:r>
              <a:rPr lang="en-IN" b="1" i="0" dirty="0">
                <a:solidFill>
                  <a:srgbClr val="333333"/>
                </a:solidFill>
                <a:effectLst/>
                <a:latin typeface="Open Sans" panose="020B0606030504020204" pitchFamily="34" charset="0"/>
              </a:rPr>
              <a:t>Tree data structure is a collection of data (Node) which is organized in hierarchical structure recursively</a:t>
            </a:r>
          </a:p>
          <a:p>
            <a:br>
              <a:rPr lang="en-IN" dirty="0"/>
            </a:br>
            <a:br>
              <a:rPr lang="en-IN" dirty="0"/>
            </a:br>
            <a:endParaRPr lang="en-US" dirty="0"/>
          </a:p>
        </p:txBody>
      </p:sp>
    </p:spTree>
    <p:extLst>
      <p:ext uri="{BB962C8B-B14F-4D97-AF65-F5344CB8AC3E}">
        <p14:creationId xmlns:p14="http://schemas.microsoft.com/office/powerpoint/2010/main" val="3391971489"/>
      </p:ext>
    </p:extLst>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44AA3-626D-C699-BFD4-6CED21CC127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3CF1C20-AD1E-D0C1-5DEE-EC4BAFE8D75B}"/>
              </a:ext>
            </a:extLst>
          </p:cNvPr>
          <p:cNvSpPr>
            <a:spLocks noGrp="1"/>
          </p:cNvSpPr>
          <p:nvPr>
            <p:ph idx="1"/>
          </p:nvPr>
        </p:nvSpPr>
        <p:spPr/>
        <p:txBody>
          <a:bodyPr/>
          <a:lstStyle/>
          <a:p>
            <a:endParaRPr lang="en-US"/>
          </a:p>
        </p:txBody>
      </p:sp>
      <p:pic>
        <p:nvPicPr>
          <p:cNvPr id="30722" name="Picture 2" descr="tree data structure">
            <a:extLst>
              <a:ext uri="{FF2B5EF4-FFF2-40B4-BE49-F238E27FC236}">
                <a16:creationId xmlns:a16="http://schemas.microsoft.com/office/drawing/2014/main" id="{849DBB5E-4ECC-997A-47B4-9A65C7F704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1000" y="1524000"/>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7818066"/>
      </p:ext>
    </p:extLst>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594C1-38D2-0E8C-053C-AE8D2B2C9AEB}"/>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1. Root</a:t>
            </a:r>
            <a:endParaRPr lang="en-US" dirty="0"/>
          </a:p>
        </p:txBody>
      </p:sp>
      <p:sp>
        <p:nvSpPr>
          <p:cNvPr id="3" name="Content Placeholder 2">
            <a:extLst>
              <a:ext uri="{FF2B5EF4-FFF2-40B4-BE49-F238E27FC236}">
                <a16:creationId xmlns:a16="http://schemas.microsoft.com/office/drawing/2014/main" id="{F84FDCAA-EBF7-9D3C-C1EC-FE69D7B8B21A}"/>
              </a:ext>
            </a:extLst>
          </p:cNvPr>
          <p:cNvSpPr>
            <a:spLocks noGrp="1"/>
          </p:cNvSpPr>
          <p:nvPr>
            <p:ph idx="1"/>
          </p:nvPr>
        </p:nvSpPr>
        <p:spPr/>
        <p:txBody>
          <a:bodyPr>
            <a:normAutofit/>
          </a:bodyPr>
          <a:lstStyle/>
          <a:p>
            <a:pPr algn="just"/>
            <a:r>
              <a:rPr lang="en-IN" sz="2400" b="0" i="0" dirty="0">
                <a:solidFill>
                  <a:srgbClr val="333333"/>
                </a:solidFill>
                <a:effectLst/>
                <a:latin typeface="Open Sans" panose="020B0606030504020204" pitchFamily="34" charset="0"/>
              </a:rPr>
              <a:t>The first node is called as </a:t>
            </a:r>
            <a:r>
              <a:rPr lang="en-IN" sz="2400" b="1" i="0" dirty="0">
                <a:solidFill>
                  <a:srgbClr val="333333"/>
                </a:solidFill>
                <a:effectLst/>
                <a:latin typeface="Open Sans" panose="020B0606030504020204" pitchFamily="34" charset="0"/>
              </a:rPr>
              <a:t>Root Node</a:t>
            </a:r>
            <a:r>
              <a:rPr lang="en-IN" sz="2400" b="0" i="0" dirty="0">
                <a:solidFill>
                  <a:srgbClr val="333333"/>
                </a:solidFill>
                <a:effectLst/>
                <a:latin typeface="Open Sans" panose="020B0606030504020204" pitchFamily="34" charset="0"/>
              </a:rPr>
              <a:t>. Every tree must have a root node. We can say that the root node is the origin of the tree data structure. In any tree, there must be only one root node. We never have multiple root nodes in a tree.</a:t>
            </a:r>
          </a:p>
          <a:p>
            <a:br>
              <a:rPr lang="en-IN" sz="2400" dirty="0"/>
            </a:br>
            <a:endParaRPr lang="en-US" sz="2400" dirty="0"/>
          </a:p>
        </p:txBody>
      </p:sp>
      <p:pic>
        <p:nvPicPr>
          <p:cNvPr id="31746" name="Picture 2" descr="tree data structure">
            <a:extLst>
              <a:ext uri="{FF2B5EF4-FFF2-40B4-BE49-F238E27FC236}">
                <a16:creationId xmlns:a16="http://schemas.microsoft.com/office/drawing/2014/main" id="{2BDDA12E-08E5-B94A-A3E9-47FA35865E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57612" y="3243262"/>
            <a:ext cx="8434387" cy="3614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1343355"/>
      </p:ext>
    </p:extLst>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99BA7-8B63-30E6-36A6-968704862A1F}"/>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2. Edge</a:t>
            </a:r>
            <a:endParaRPr lang="en-US" dirty="0"/>
          </a:p>
        </p:txBody>
      </p:sp>
      <p:sp>
        <p:nvSpPr>
          <p:cNvPr id="3" name="Content Placeholder 2">
            <a:extLst>
              <a:ext uri="{FF2B5EF4-FFF2-40B4-BE49-F238E27FC236}">
                <a16:creationId xmlns:a16="http://schemas.microsoft.com/office/drawing/2014/main" id="{9DC03750-055A-CC13-9821-3D6B34C3DFA9}"/>
              </a:ext>
            </a:extLst>
          </p:cNvPr>
          <p:cNvSpPr>
            <a:spLocks noGrp="1"/>
          </p:cNvSpPr>
          <p:nvPr>
            <p:ph idx="1"/>
          </p:nvPr>
        </p:nvSpPr>
        <p:spPr/>
        <p:txBody>
          <a:bodyPr/>
          <a:lstStyle/>
          <a:p>
            <a:r>
              <a:rPr lang="en-IN" b="0" i="0" dirty="0">
                <a:solidFill>
                  <a:srgbClr val="333333"/>
                </a:solidFill>
                <a:effectLst/>
                <a:latin typeface="Open Sans" panose="020B0606030504020204" pitchFamily="34" charset="0"/>
              </a:rPr>
              <a:t>The connecting link between any two nodes is called as </a:t>
            </a:r>
            <a:r>
              <a:rPr lang="en-IN" b="1" i="0" dirty="0">
                <a:solidFill>
                  <a:srgbClr val="333333"/>
                </a:solidFill>
                <a:effectLst/>
                <a:latin typeface="Open Sans" panose="020B0606030504020204" pitchFamily="34" charset="0"/>
              </a:rPr>
              <a:t>EDGE</a:t>
            </a:r>
            <a:r>
              <a:rPr lang="en-IN" b="0" i="0" dirty="0">
                <a:solidFill>
                  <a:srgbClr val="333333"/>
                </a:solidFill>
                <a:effectLst/>
                <a:latin typeface="Open Sans" panose="020B0606030504020204" pitchFamily="34" charset="0"/>
              </a:rPr>
              <a:t>. In a tree with '</a:t>
            </a:r>
            <a:r>
              <a:rPr lang="en-IN" b="1" i="0" dirty="0">
                <a:solidFill>
                  <a:srgbClr val="333333"/>
                </a:solidFill>
                <a:effectLst/>
                <a:latin typeface="Open Sans" panose="020B0606030504020204" pitchFamily="34" charset="0"/>
              </a:rPr>
              <a:t>N</a:t>
            </a:r>
            <a:r>
              <a:rPr lang="en-IN" b="0" i="0" dirty="0">
                <a:solidFill>
                  <a:srgbClr val="333333"/>
                </a:solidFill>
                <a:effectLst/>
                <a:latin typeface="Open Sans" panose="020B0606030504020204" pitchFamily="34" charset="0"/>
              </a:rPr>
              <a:t>' number of nodes there will be a maximum of '</a:t>
            </a:r>
            <a:r>
              <a:rPr lang="en-IN" b="1" i="0" dirty="0">
                <a:solidFill>
                  <a:srgbClr val="333333"/>
                </a:solidFill>
                <a:effectLst/>
                <a:latin typeface="Open Sans" panose="020B0606030504020204" pitchFamily="34" charset="0"/>
              </a:rPr>
              <a:t>N-1</a:t>
            </a:r>
            <a:r>
              <a:rPr lang="en-IN" b="0" i="0" dirty="0">
                <a:solidFill>
                  <a:srgbClr val="333333"/>
                </a:solidFill>
                <a:effectLst/>
                <a:latin typeface="Open Sans" panose="020B0606030504020204" pitchFamily="34" charset="0"/>
              </a:rPr>
              <a:t>' number of edges.</a:t>
            </a:r>
            <a:endParaRPr lang="en-US" dirty="0"/>
          </a:p>
        </p:txBody>
      </p:sp>
      <p:pic>
        <p:nvPicPr>
          <p:cNvPr id="32770" name="Picture 2" descr="tree data structure">
            <a:extLst>
              <a:ext uri="{FF2B5EF4-FFF2-40B4-BE49-F238E27FC236}">
                <a16:creationId xmlns:a16="http://schemas.microsoft.com/office/drawing/2014/main" id="{C049A0D1-E0AA-AF6A-3958-0532BA7EDA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2000" y="3048000"/>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5780146"/>
      </p:ext>
    </p:extLst>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09B26-07B8-1B12-4FD1-9E1EFF3275AD}"/>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3. Parent</a:t>
            </a:r>
            <a:endParaRPr lang="en-US" dirty="0"/>
          </a:p>
        </p:txBody>
      </p:sp>
      <p:sp>
        <p:nvSpPr>
          <p:cNvPr id="3" name="Content Placeholder 2">
            <a:extLst>
              <a:ext uri="{FF2B5EF4-FFF2-40B4-BE49-F238E27FC236}">
                <a16:creationId xmlns:a16="http://schemas.microsoft.com/office/drawing/2014/main" id="{A0099643-0B82-5C4A-3CDB-39E2D34CBAC7}"/>
              </a:ext>
            </a:extLst>
          </p:cNvPr>
          <p:cNvSpPr>
            <a:spLocks noGrp="1"/>
          </p:cNvSpPr>
          <p:nvPr>
            <p:ph idx="1"/>
          </p:nvPr>
        </p:nvSpPr>
        <p:spPr/>
        <p:txBody>
          <a:bodyPr>
            <a:normAutofit/>
          </a:bodyPr>
          <a:lstStyle/>
          <a:p>
            <a:pPr algn="just"/>
            <a:r>
              <a:rPr lang="en-IN" sz="2400" b="0" i="0" dirty="0">
                <a:solidFill>
                  <a:srgbClr val="333333"/>
                </a:solidFill>
                <a:effectLst/>
                <a:latin typeface="Open Sans" panose="020B0606030504020204" pitchFamily="34" charset="0"/>
              </a:rPr>
              <a:t>The node which is a predecessor of any node is called as </a:t>
            </a:r>
            <a:r>
              <a:rPr lang="en-IN" sz="2400" b="1" i="0" dirty="0">
                <a:solidFill>
                  <a:srgbClr val="333333"/>
                </a:solidFill>
                <a:effectLst/>
                <a:latin typeface="Open Sans" panose="020B0606030504020204" pitchFamily="34" charset="0"/>
              </a:rPr>
              <a:t>PARENT NODE</a:t>
            </a:r>
            <a:r>
              <a:rPr lang="en-IN" sz="2400" b="0" i="0" dirty="0">
                <a:solidFill>
                  <a:srgbClr val="333333"/>
                </a:solidFill>
                <a:effectLst/>
                <a:latin typeface="Open Sans" panose="020B0606030504020204" pitchFamily="34" charset="0"/>
              </a:rPr>
              <a:t>. In other words, the node which has a branch from it to any other node is called a parent node. Parent node can also be defined as "</a:t>
            </a:r>
            <a:r>
              <a:rPr lang="en-IN" sz="2400" b="1" i="0" dirty="0">
                <a:solidFill>
                  <a:srgbClr val="333333"/>
                </a:solidFill>
                <a:effectLst/>
                <a:latin typeface="Open Sans" panose="020B0606030504020204" pitchFamily="34" charset="0"/>
              </a:rPr>
              <a:t>The node which has child / children</a:t>
            </a:r>
            <a:r>
              <a:rPr lang="en-IN" sz="2400" b="0" i="0" dirty="0">
                <a:solidFill>
                  <a:srgbClr val="333333"/>
                </a:solidFill>
                <a:effectLst/>
                <a:latin typeface="Open Sans" panose="020B0606030504020204" pitchFamily="34" charset="0"/>
              </a:rPr>
              <a:t>".</a:t>
            </a:r>
          </a:p>
          <a:p>
            <a:endParaRPr lang="en-US" sz="2400" dirty="0"/>
          </a:p>
        </p:txBody>
      </p:sp>
      <p:pic>
        <p:nvPicPr>
          <p:cNvPr id="33794" name="Picture 2" descr="tree data structure">
            <a:extLst>
              <a:ext uri="{FF2B5EF4-FFF2-40B4-BE49-F238E27FC236}">
                <a16:creationId xmlns:a16="http://schemas.microsoft.com/office/drawing/2014/main" id="{27FD154A-ABB5-38C2-00BB-892E00F5F9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2000" y="3048000"/>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1785860"/>
      </p:ext>
    </p:extLst>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6BDEA-A8C4-379D-5E13-D06824248DD9}"/>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4. Child</a:t>
            </a:r>
            <a:endParaRPr lang="en-US" dirty="0"/>
          </a:p>
        </p:txBody>
      </p:sp>
      <p:sp>
        <p:nvSpPr>
          <p:cNvPr id="3" name="Content Placeholder 2">
            <a:extLst>
              <a:ext uri="{FF2B5EF4-FFF2-40B4-BE49-F238E27FC236}">
                <a16:creationId xmlns:a16="http://schemas.microsoft.com/office/drawing/2014/main" id="{C73727DB-DF62-C051-249B-40C5A112C56E}"/>
              </a:ext>
            </a:extLst>
          </p:cNvPr>
          <p:cNvSpPr>
            <a:spLocks noGrp="1"/>
          </p:cNvSpPr>
          <p:nvPr>
            <p:ph idx="1"/>
          </p:nvPr>
        </p:nvSpPr>
        <p:spPr/>
        <p:txBody>
          <a:bodyPr>
            <a:normAutofit/>
          </a:bodyPr>
          <a:lstStyle/>
          <a:p>
            <a:pPr algn="just"/>
            <a:r>
              <a:rPr lang="en-IN" sz="2400" b="0" i="0" dirty="0">
                <a:solidFill>
                  <a:srgbClr val="333333"/>
                </a:solidFill>
                <a:effectLst/>
                <a:latin typeface="Open Sans" panose="020B0606030504020204" pitchFamily="34" charset="0"/>
              </a:rPr>
              <a:t>Node which is descendant of any node is called as </a:t>
            </a:r>
            <a:r>
              <a:rPr lang="en-IN" sz="2400" b="1" i="0" dirty="0">
                <a:solidFill>
                  <a:srgbClr val="333333"/>
                </a:solidFill>
                <a:effectLst/>
                <a:latin typeface="Open Sans" panose="020B0606030504020204" pitchFamily="34" charset="0"/>
              </a:rPr>
              <a:t>CHILD Node</a:t>
            </a:r>
            <a:r>
              <a:rPr lang="en-IN" sz="2400" b="0" i="0" dirty="0">
                <a:solidFill>
                  <a:srgbClr val="333333"/>
                </a:solidFill>
                <a:effectLst/>
                <a:latin typeface="Open Sans" panose="020B0606030504020204" pitchFamily="34" charset="0"/>
              </a:rPr>
              <a:t>. </a:t>
            </a:r>
          </a:p>
          <a:p>
            <a:pPr algn="just"/>
            <a:r>
              <a:rPr lang="en-IN" sz="2400" b="0" i="0" dirty="0">
                <a:solidFill>
                  <a:srgbClr val="333333"/>
                </a:solidFill>
                <a:effectLst/>
                <a:latin typeface="Open Sans" panose="020B0606030504020204" pitchFamily="34" charset="0"/>
              </a:rPr>
              <a:t>The node which has a link from its parent node is called as child node. In a tree, any parent node can have any number of child nodes. In a tree, all the nodes except root are child nodes.</a:t>
            </a:r>
          </a:p>
          <a:p>
            <a:endParaRPr lang="en-US" sz="2400" dirty="0"/>
          </a:p>
        </p:txBody>
      </p:sp>
      <p:pic>
        <p:nvPicPr>
          <p:cNvPr id="34818" name="Picture 2" descr="tree data structure">
            <a:extLst>
              <a:ext uri="{FF2B5EF4-FFF2-40B4-BE49-F238E27FC236}">
                <a16:creationId xmlns:a16="http://schemas.microsoft.com/office/drawing/2014/main" id="{50135E92-C838-70D9-0169-45E42B52DB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2000" y="3190875"/>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7262107"/>
      </p:ext>
    </p:extLst>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F399A-825D-182E-19F8-9D5A1796F023}"/>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5. Siblings</a:t>
            </a:r>
            <a:endParaRPr lang="en-US" dirty="0"/>
          </a:p>
        </p:txBody>
      </p:sp>
      <p:sp>
        <p:nvSpPr>
          <p:cNvPr id="3" name="Content Placeholder 2">
            <a:extLst>
              <a:ext uri="{FF2B5EF4-FFF2-40B4-BE49-F238E27FC236}">
                <a16:creationId xmlns:a16="http://schemas.microsoft.com/office/drawing/2014/main" id="{27EB598E-75AB-3FBF-385D-CF4D2E4887EF}"/>
              </a:ext>
            </a:extLst>
          </p:cNvPr>
          <p:cNvSpPr>
            <a:spLocks noGrp="1"/>
          </p:cNvSpPr>
          <p:nvPr>
            <p:ph idx="1"/>
          </p:nvPr>
        </p:nvSpPr>
        <p:spPr/>
        <p:txBody>
          <a:bodyPr/>
          <a:lstStyle/>
          <a:p>
            <a:pPr algn="just"/>
            <a:r>
              <a:rPr lang="en-IN" b="0" i="0" dirty="0">
                <a:solidFill>
                  <a:srgbClr val="333333"/>
                </a:solidFill>
                <a:effectLst/>
                <a:latin typeface="Open Sans" panose="020B0606030504020204" pitchFamily="34" charset="0"/>
              </a:rPr>
              <a:t>Nodes which belong to same Parent are called as </a:t>
            </a:r>
            <a:r>
              <a:rPr lang="en-IN" b="1" i="0" dirty="0">
                <a:solidFill>
                  <a:srgbClr val="333333"/>
                </a:solidFill>
                <a:effectLst/>
                <a:latin typeface="Open Sans" panose="020B0606030504020204" pitchFamily="34" charset="0"/>
              </a:rPr>
              <a:t>SIBLINGS</a:t>
            </a:r>
            <a:r>
              <a:rPr lang="en-IN" b="0" i="0" dirty="0">
                <a:solidFill>
                  <a:srgbClr val="333333"/>
                </a:solidFill>
                <a:effectLst/>
                <a:latin typeface="Open Sans" panose="020B0606030504020204" pitchFamily="34" charset="0"/>
              </a:rPr>
              <a:t>. In simple words, the nodes with the same parent are called Sibling nodes.</a:t>
            </a:r>
          </a:p>
          <a:p>
            <a:br>
              <a:rPr lang="en-IN" dirty="0"/>
            </a:br>
            <a:endParaRPr lang="en-US" dirty="0"/>
          </a:p>
        </p:txBody>
      </p:sp>
      <p:pic>
        <p:nvPicPr>
          <p:cNvPr id="35842" name="Picture 2" descr="tree data structure">
            <a:extLst>
              <a:ext uri="{FF2B5EF4-FFF2-40B4-BE49-F238E27FC236}">
                <a16:creationId xmlns:a16="http://schemas.microsoft.com/office/drawing/2014/main" id="{8BC4EB6C-59A3-417A-62AD-FDDCB601AE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4050" y="3048000"/>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0966347"/>
      </p:ext>
    </p:extLst>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39321-8900-4262-3408-74F9D5A5B292}"/>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6. Leaf</a:t>
            </a:r>
            <a:endParaRPr lang="en-US" dirty="0"/>
          </a:p>
        </p:txBody>
      </p:sp>
      <p:sp>
        <p:nvSpPr>
          <p:cNvPr id="3" name="Content Placeholder 2">
            <a:extLst>
              <a:ext uri="{FF2B5EF4-FFF2-40B4-BE49-F238E27FC236}">
                <a16:creationId xmlns:a16="http://schemas.microsoft.com/office/drawing/2014/main" id="{D8F202AE-6C9E-0961-4EFC-0A3E76EDEFC6}"/>
              </a:ext>
            </a:extLst>
          </p:cNvPr>
          <p:cNvSpPr>
            <a:spLocks noGrp="1"/>
          </p:cNvSpPr>
          <p:nvPr>
            <p:ph idx="1"/>
          </p:nvPr>
        </p:nvSpPr>
        <p:spPr/>
        <p:txBody>
          <a:bodyPr>
            <a:normAutofit/>
          </a:bodyPr>
          <a:lstStyle/>
          <a:p>
            <a:r>
              <a:rPr lang="en-IN" sz="2400" b="0" i="0" dirty="0">
                <a:solidFill>
                  <a:srgbClr val="333333"/>
                </a:solidFill>
                <a:effectLst/>
                <a:latin typeface="Open Sans" panose="020B0606030504020204" pitchFamily="34" charset="0"/>
              </a:rPr>
              <a:t>The node which does not have a child is called as </a:t>
            </a:r>
            <a:r>
              <a:rPr lang="en-IN" sz="2400" b="1" i="0" dirty="0">
                <a:solidFill>
                  <a:srgbClr val="333333"/>
                </a:solidFill>
                <a:effectLst/>
                <a:latin typeface="Open Sans" panose="020B0606030504020204" pitchFamily="34" charset="0"/>
              </a:rPr>
              <a:t>LEAF Node</a:t>
            </a:r>
            <a:r>
              <a:rPr lang="en-IN" sz="2400" b="0" i="0" dirty="0">
                <a:solidFill>
                  <a:srgbClr val="333333"/>
                </a:solidFill>
                <a:effectLst/>
                <a:latin typeface="Open Sans" panose="020B0606030504020204" pitchFamily="34" charset="0"/>
              </a:rPr>
              <a:t>. </a:t>
            </a:r>
          </a:p>
          <a:p>
            <a:r>
              <a:rPr lang="en-IN" sz="2400" b="0" i="0" dirty="0">
                <a:solidFill>
                  <a:srgbClr val="333333"/>
                </a:solidFill>
                <a:effectLst/>
                <a:latin typeface="Open Sans" panose="020B0606030504020204" pitchFamily="34" charset="0"/>
              </a:rPr>
              <a:t>Leaf nodes are also called as </a:t>
            </a:r>
            <a:r>
              <a:rPr lang="en-IN" sz="2400" b="1" i="0" dirty="0">
                <a:solidFill>
                  <a:srgbClr val="333333"/>
                </a:solidFill>
                <a:effectLst/>
                <a:latin typeface="Open Sans" panose="020B0606030504020204" pitchFamily="34" charset="0"/>
              </a:rPr>
              <a:t>External Nodes</a:t>
            </a:r>
            <a:r>
              <a:rPr lang="en-IN" sz="2400" b="0" i="0" dirty="0">
                <a:solidFill>
                  <a:srgbClr val="333333"/>
                </a:solidFill>
                <a:effectLst/>
                <a:latin typeface="Open Sans" panose="020B0606030504020204" pitchFamily="34" charset="0"/>
              </a:rPr>
              <a:t>. In a tree, </a:t>
            </a:r>
            <a:r>
              <a:rPr lang="en-IN" sz="2400" b="0" i="0" u="sng" dirty="0">
                <a:solidFill>
                  <a:srgbClr val="333333"/>
                </a:solidFill>
                <a:effectLst/>
                <a:latin typeface="Open Sans" panose="020B0606030504020204" pitchFamily="34" charset="0"/>
              </a:rPr>
              <a:t>leaf node is also called as '</a:t>
            </a:r>
            <a:r>
              <a:rPr lang="en-IN" sz="2400" b="1" i="0" u="sng" dirty="0">
                <a:solidFill>
                  <a:srgbClr val="333333"/>
                </a:solidFill>
                <a:effectLst/>
                <a:latin typeface="Open Sans" panose="020B0606030504020204" pitchFamily="34" charset="0"/>
              </a:rPr>
              <a:t>Terminal</a:t>
            </a:r>
            <a:r>
              <a:rPr lang="en-IN" sz="2400" b="0" i="0" u="sng" dirty="0">
                <a:solidFill>
                  <a:srgbClr val="333333"/>
                </a:solidFill>
                <a:effectLst/>
                <a:latin typeface="Open Sans" panose="020B0606030504020204" pitchFamily="34" charset="0"/>
              </a:rPr>
              <a:t>' node.</a:t>
            </a:r>
            <a:endParaRPr lang="en-IN" sz="2400" b="0" i="0" dirty="0">
              <a:solidFill>
                <a:srgbClr val="333333"/>
              </a:solidFill>
              <a:effectLst/>
              <a:latin typeface="Open Sans" panose="020B0606030504020204" pitchFamily="34" charset="0"/>
            </a:endParaRPr>
          </a:p>
          <a:p>
            <a:endParaRPr lang="en-US" sz="2400" dirty="0"/>
          </a:p>
        </p:txBody>
      </p:sp>
      <p:pic>
        <p:nvPicPr>
          <p:cNvPr id="36866" name="Picture 2" descr="tree data structure">
            <a:extLst>
              <a:ext uri="{FF2B5EF4-FFF2-40B4-BE49-F238E27FC236}">
                <a16:creationId xmlns:a16="http://schemas.microsoft.com/office/drawing/2014/main" id="{B5036A4E-A280-3209-ACB6-56983D9A8A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2000" y="3048000"/>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601586"/>
      </p:ext>
    </p:extLst>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03168-1CAC-C9E8-3989-32904913A982}"/>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7. Internal Nodes</a:t>
            </a:r>
            <a:endParaRPr lang="en-US" dirty="0"/>
          </a:p>
        </p:txBody>
      </p:sp>
      <p:sp>
        <p:nvSpPr>
          <p:cNvPr id="3" name="Content Placeholder 2">
            <a:extLst>
              <a:ext uri="{FF2B5EF4-FFF2-40B4-BE49-F238E27FC236}">
                <a16:creationId xmlns:a16="http://schemas.microsoft.com/office/drawing/2014/main" id="{1D60BD6F-441F-8D72-6A0F-FA7A77DCBBEF}"/>
              </a:ext>
            </a:extLst>
          </p:cNvPr>
          <p:cNvSpPr>
            <a:spLocks noGrp="1"/>
          </p:cNvSpPr>
          <p:nvPr>
            <p:ph idx="1"/>
          </p:nvPr>
        </p:nvSpPr>
        <p:spPr/>
        <p:txBody>
          <a:bodyPr>
            <a:normAutofit/>
          </a:bodyPr>
          <a:lstStyle/>
          <a:p>
            <a:r>
              <a:rPr lang="en-IN" sz="2400" b="0" i="0" dirty="0">
                <a:solidFill>
                  <a:srgbClr val="333333"/>
                </a:solidFill>
                <a:effectLst/>
                <a:latin typeface="Open Sans" panose="020B0606030504020204" pitchFamily="34" charset="0"/>
              </a:rPr>
              <a:t>The node which has </a:t>
            </a:r>
            <a:r>
              <a:rPr lang="en-IN" sz="2400" b="0" i="0" dirty="0" err="1">
                <a:solidFill>
                  <a:srgbClr val="333333"/>
                </a:solidFill>
                <a:effectLst/>
                <a:latin typeface="Open Sans" panose="020B0606030504020204" pitchFamily="34" charset="0"/>
              </a:rPr>
              <a:t>atleast</a:t>
            </a:r>
            <a:r>
              <a:rPr lang="en-IN" sz="2400" b="0" i="0" dirty="0">
                <a:solidFill>
                  <a:srgbClr val="333333"/>
                </a:solidFill>
                <a:effectLst/>
                <a:latin typeface="Open Sans" panose="020B0606030504020204" pitchFamily="34" charset="0"/>
              </a:rPr>
              <a:t> one child is called as </a:t>
            </a:r>
            <a:r>
              <a:rPr lang="en-IN" sz="2400" b="1" i="0" dirty="0">
                <a:solidFill>
                  <a:srgbClr val="333333"/>
                </a:solidFill>
                <a:effectLst/>
                <a:latin typeface="Open Sans" panose="020B0606030504020204" pitchFamily="34" charset="0"/>
              </a:rPr>
              <a:t>INTERNAL Node</a:t>
            </a:r>
            <a:r>
              <a:rPr lang="en-IN" sz="2400" b="0" i="0" dirty="0">
                <a:solidFill>
                  <a:srgbClr val="333333"/>
                </a:solidFill>
                <a:effectLst/>
                <a:latin typeface="Open Sans" panose="020B0606030504020204" pitchFamily="34" charset="0"/>
              </a:rPr>
              <a:t>. </a:t>
            </a:r>
          </a:p>
          <a:p>
            <a:r>
              <a:rPr lang="en-IN" sz="2400" b="0" i="0" dirty="0">
                <a:solidFill>
                  <a:srgbClr val="333333"/>
                </a:solidFill>
                <a:effectLst/>
                <a:latin typeface="Open Sans" panose="020B0606030504020204" pitchFamily="34" charset="0"/>
              </a:rPr>
              <a:t>Nodes other than leaf nodes are called as </a:t>
            </a:r>
            <a:r>
              <a:rPr lang="en-IN" sz="2400" b="1" i="0" dirty="0">
                <a:solidFill>
                  <a:srgbClr val="333333"/>
                </a:solidFill>
                <a:effectLst/>
                <a:latin typeface="Open Sans" panose="020B0606030504020204" pitchFamily="34" charset="0"/>
              </a:rPr>
              <a:t>Internal Nodes</a:t>
            </a:r>
            <a:r>
              <a:rPr lang="en-IN" sz="2400" b="0" i="0" dirty="0">
                <a:solidFill>
                  <a:srgbClr val="333333"/>
                </a:solidFill>
                <a:effectLst/>
                <a:latin typeface="Open Sans" panose="020B0606030504020204" pitchFamily="34" charset="0"/>
              </a:rPr>
              <a:t>.</a:t>
            </a:r>
            <a:r>
              <a:rPr lang="en-IN" sz="2400" b="1" i="0" u="sng" dirty="0">
                <a:solidFill>
                  <a:srgbClr val="333333"/>
                </a:solidFill>
                <a:effectLst/>
                <a:latin typeface="Open Sans" panose="020B0606030504020204" pitchFamily="34" charset="0"/>
              </a:rPr>
              <a:t> The root node is also said to be Internal Node</a:t>
            </a:r>
            <a:r>
              <a:rPr lang="en-IN" sz="2400" b="0" i="0" dirty="0">
                <a:solidFill>
                  <a:srgbClr val="333333"/>
                </a:solidFill>
                <a:effectLst/>
                <a:latin typeface="Open Sans" panose="020B0606030504020204" pitchFamily="34" charset="0"/>
              </a:rPr>
              <a:t> if the tree has more than one node. </a:t>
            </a:r>
            <a:r>
              <a:rPr lang="en-IN" sz="2400" b="0" i="0" u="sng" dirty="0">
                <a:solidFill>
                  <a:srgbClr val="333333"/>
                </a:solidFill>
                <a:effectLst/>
                <a:latin typeface="Open Sans" panose="020B0606030504020204" pitchFamily="34" charset="0"/>
              </a:rPr>
              <a:t>Internal nodes are also called as '</a:t>
            </a:r>
            <a:r>
              <a:rPr lang="en-IN" sz="2400" b="1" i="0" u="sng" dirty="0">
                <a:solidFill>
                  <a:srgbClr val="333333"/>
                </a:solidFill>
                <a:effectLst/>
                <a:latin typeface="Open Sans" panose="020B0606030504020204" pitchFamily="34" charset="0"/>
              </a:rPr>
              <a:t>Non-Terminal</a:t>
            </a:r>
            <a:r>
              <a:rPr lang="en-IN" sz="2400" b="0" i="0" u="sng" dirty="0">
                <a:solidFill>
                  <a:srgbClr val="333333"/>
                </a:solidFill>
                <a:effectLst/>
                <a:latin typeface="Open Sans" panose="020B0606030504020204" pitchFamily="34" charset="0"/>
              </a:rPr>
              <a:t>' nodes.</a:t>
            </a:r>
            <a:endParaRPr lang="en-IN" sz="2400" b="0" i="0" dirty="0">
              <a:solidFill>
                <a:srgbClr val="333333"/>
              </a:solidFill>
              <a:effectLst/>
              <a:latin typeface="Open Sans" panose="020B0606030504020204" pitchFamily="34" charset="0"/>
            </a:endParaRPr>
          </a:p>
          <a:p>
            <a:endParaRPr lang="en-US" sz="2400" dirty="0"/>
          </a:p>
        </p:txBody>
      </p:sp>
      <p:pic>
        <p:nvPicPr>
          <p:cNvPr id="37890" name="Picture 2" descr="tree data structure">
            <a:extLst>
              <a:ext uri="{FF2B5EF4-FFF2-40B4-BE49-F238E27FC236}">
                <a16:creationId xmlns:a16="http://schemas.microsoft.com/office/drawing/2014/main" id="{F374871D-45EA-EC5A-CC05-57BB57EBAF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2613" y="3048000"/>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2228036"/>
      </p:ext>
    </p:extLst>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0EA2A-9EEB-4930-FD57-10F435D73D20}"/>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8. Degree</a:t>
            </a:r>
            <a:endParaRPr lang="en-US" dirty="0"/>
          </a:p>
        </p:txBody>
      </p:sp>
      <p:sp>
        <p:nvSpPr>
          <p:cNvPr id="3" name="Content Placeholder 2">
            <a:extLst>
              <a:ext uri="{FF2B5EF4-FFF2-40B4-BE49-F238E27FC236}">
                <a16:creationId xmlns:a16="http://schemas.microsoft.com/office/drawing/2014/main" id="{15056106-45D5-C115-DA53-E5AF796E03DE}"/>
              </a:ext>
            </a:extLst>
          </p:cNvPr>
          <p:cNvSpPr>
            <a:spLocks noGrp="1"/>
          </p:cNvSpPr>
          <p:nvPr>
            <p:ph idx="1"/>
          </p:nvPr>
        </p:nvSpPr>
        <p:spPr/>
        <p:txBody>
          <a:bodyPr>
            <a:normAutofit/>
          </a:bodyPr>
          <a:lstStyle/>
          <a:p>
            <a:pPr algn="just"/>
            <a:r>
              <a:rPr lang="en-IN" sz="2400" b="0" i="0" dirty="0">
                <a:solidFill>
                  <a:srgbClr val="333333"/>
                </a:solidFill>
                <a:effectLst/>
                <a:latin typeface="Open Sans" panose="020B0606030504020204" pitchFamily="34" charset="0"/>
              </a:rPr>
              <a:t>The total number of children of a node is called as </a:t>
            </a:r>
            <a:r>
              <a:rPr lang="en-IN" sz="2400" b="1" i="0" dirty="0">
                <a:solidFill>
                  <a:srgbClr val="333333"/>
                </a:solidFill>
                <a:effectLst/>
                <a:latin typeface="Open Sans" panose="020B0606030504020204" pitchFamily="34" charset="0"/>
              </a:rPr>
              <a:t>DEGREE</a:t>
            </a:r>
            <a:r>
              <a:rPr lang="en-IN" sz="2400" b="0" i="0" dirty="0">
                <a:solidFill>
                  <a:srgbClr val="333333"/>
                </a:solidFill>
                <a:effectLst/>
                <a:latin typeface="Open Sans" panose="020B0606030504020204" pitchFamily="34" charset="0"/>
              </a:rPr>
              <a:t> of that Node. In simple words, the Degree of a node is total number of children it has. The highest degree of a node among all the nodes in a tree is called as '</a:t>
            </a:r>
            <a:r>
              <a:rPr lang="en-IN" sz="2400" b="1" i="0" dirty="0">
                <a:solidFill>
                  <a:srgbClr val="333333"/>
                </a:solidFill>
                <a:effectLst/>
                <a:latin typeface="Open Sans" panose="020B0606030504020204" pitchFamily="34" charset="0"/>
              </a:rPr>
              <a:t>Degree of Tree</a:t>
            </a:r>
            <a:r>
              <a:rPr lang="en-IN" sz="2400" b="0" i="0" dirty="0">
                <a:solidFill>
                  <a:srgbClr val="333333"/>
                </a:solidFill>
                <a:effectLst/>
                <a:latin typeface="Open Sans" panose="020B0606030504020204" pitchFamily="34" charset="0"/>
              </a:rPr>
              <a:t>'</a:t>
            </a:r>
          </a:p>
          <a:p>
            <a:br>
              <a:rPr lang="en-IN" sz="2400" dirty="0"/>
            </a:br>
            <a:endParaRPr lang="en-US" sz="2400" dirty="0"/>
          </a:p>
        </p:txBody>
      </p:sp>
      <p:pic>
        <p:nvPicPr>
          <p:cNvPr id="38914" name="Picture 2" descr="tree data structure">
            <a:extLst>
              <a:ext uri="{FF2B5EF4-FFF2-40B4-BE49-F238E27FC236}">
                <a16:creationId xmlns:a16="http://schemas.microsoft.com/office/drawing/2014/main" id="{076B03D6-3DA5-530C-C336-9AAE59651E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2000" y="3048000"/>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8466469"/>
      </p:ext>
    </p:extLst>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E83C-DCE6-6482-C458-7210A6B66EA4}"/>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9. Level</a:t>
            </a:r>
            <a:endParaRPr lang="en-US" dirty="0"/>
          </a:p>
        </p:txBody>
      </p:sp>
      <p:sp>
        <p:nvSpPr>
          <p:cNvPr id="3" name="Content Placeholder 2">
            <a:extLst>
              <a:ext uri="{FF2B5EF4-FFF2-40B4-BE49-F238E27FC236}">
                <a16:creationId xmlns:a16="http://schemas.microsoft.com/office/drawing/2014/main" id="{772D829C-DC8A-56A9-9C78-430ED792B976}"/>
              </a:ext>
            </a:extLst>
          </p:cNvPr>
          <p:cNvSpPr>
            <a:spLocks noGrp="1"/>
          </p:cNvSpPr>
          <p:nvPr>
            <p:ph idx="1"/>
          </p:nvPr>
        </p:nvSpPr>
        <p:spPr/>
        <p:txBody>
          <a:bodyPr>
            <a:normAutofit/>
          </a:bodyPr>
          <a:lstStyle/>
          <a:p>
            <a:pPr algn="just"/>
            <a:r>
              <a:rPr lang="en-IN" sz="2400" b="0" i="0" dirty="0">
                <a:solidFill>
                  <a:srgbClr val="333333"/>
                </a:solidFill>
                <a:effectLst/>
                <a:latin typeface="Open Sans" panose="020B0606030504020204" pitchFamily="34" charset="0"/>
              </a:rPr>
              <a:t>The root node is said to be at Level 0 and the children of root node are at Level 1 and the children of the nodes which are at Level 1 will be at Level 2 and so on... In simple words, in a tree each step from top to bottom is called as a Level and the Level count starts with '0' and incremented by one at each level (Step).</a:t>
            </a:r>
          </a:p>
          <a:p>
            <a:br>
              <a:rPr lang="en-IN" sz="2400" dirty="0"/>
            </a:br>
            <a:endParaRPr lang="en-US" sz="2400" dirty="0"/>
          </a:p>
        </p:txBody>
      </p:sp>
      <p:pic>
        <p:nvPicPr>
          <p:cNvPr id="39938" name="Picture 2" descr="tree data structure">
            <a:extLst>
              <a:ext uri="{FF2B5EF4-FFF2-40B4-BE49-F238E27FC236}">
                <a16:creationId xmlns:a16="http://schemas.microsoft.com/office/drawing/2014/main" id="{D67043DE-4D8F-5E87-C768-D4862CC715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2000" y="3205163"/>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6202087"/>
      </p:ext>
    </p:extLst>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6155D-F5BF-6139-DAA0-058733B397A2}"/>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10. Height</a:t>
            </a:r>
            <a:endParaRPr lang="en-US" dirty="0"/>
          </a:p>
        </p:txBody>
      </p:sp>
      <p:sp>
        <p:nvSpPr>
          <p:cNvPr id="3" name="Content Placeholder 2">
            <a:extLst>
              <a:ext uri="{FF2B5EF4-FFF2-40B4-BE49-F238E27FC236}">
                <a16:creationId xmlns:a16="http://schemas.microsoft.com/office/drawing/2014/main" id="{AC64E3EC-D5EE-4B2A-AD7C-C04E59E93A50}"/>
              </a:ext>
            </a:extLst>
          </p:cNvPr>
          <p:cNvSpPr>
            <a:spLocks noGrp="1"/>
          </p:cNvSpPr>
          <p:nvPr>
            <p:ph idx="1"/>
          </p:nvPr>
        </p:nvSpPr>
        <p:spPr/>
        <p:txBody>
          <a:bodyPr>
            <a:normAutofit/>
          </a:bodyPr>
          <a:lstStyle/>
          <a:p>
            <a:pPr algn="just"/>
            <a:r>
              <a:rPr lang="en-IN" sz="2400" b="0" i="0" dirty="0">
                <a:solidFill>
                  <a:srgbClr val="333333"/>
                </a:solidFill>
                <a:effectLst/>
                <a:latin typeface="Open Sans" panose="020B0606030504020204" pitchFamily="34" charset="0"/>
              </a:rPr>
              <a:t>The total number of edges from leaf node to a particular node in the longest path is called as </a:t>
            </a:r>
            <a:r>
              <a:rPr lang="en-IN" sz="2400" b="1" i="0" dirty="0">
                <a:solidFill>
                  <a:srgbClr val="333333"/>
                </a:solidFill>
                <a:effectLst/>
                <a:latin typeface="Open Sans" panose="020B0606030504020204" pitchFamily="34" charset="0"/>
              </a:rPr>
              <a:t>HEIGHT</a:t>
            </a:r>
            <a:r>
              <a:rPr lang="en-IN" sz="2400" b="0" i="0" dirty="0">
                <a:solidFill>
                  <a:srgbClr val="333333"/>
                </a:solidFill>
                <a:effectLst/>
                <a:latin typeface="Open Sans" panose="020B0606030504020204" pitchFamily="34" charset="0"/>
              </a:rPr>
              <a:t> of that Node. </a:t>
            </a:r>
            <a:r>
              <a:rPr lang="en-IN" sz="2400" b="0" i="0" u="sng" dirty="0">
                <a:solidFill>
                  <a:srgbClr val="333333"/>
                </a:solidFill>
                <a:effectLst/>
                <a:latin typeface="Open Sans" panose="020B0606030504020204" pitchFamily="34" charset="0"/>
              </a:rPr>
              <a:t>In a tree, height of the root node is said to be </a:t>
            </a:r>
            <a:r>
              <a:rPr lang="en-IN" sz="2400" b="1" i="0" u="sng" dirty="0">
                <a:solidFill>
                  <a:srgbClr val="333333"/>
                </a:solidFill>
                <a:effectLst/>
                <a:latin typeface="Open Sans" panose="020B0606030504020204" pitchFamily="34" charset="0"/>
              </a:rPr>
              <a:t>height of the tree</a:t>
            </a:r>
            <a:r>
              <a:rPr lang="en-IN" sz="2400" b="0" i="0" dirty="0">
                <a:solidFill>
                  <a:srgbClr val="333333"/>
                </a:solidFill>
                <a:effectLst/>
                <a:latin typeface="Open Sans" panose="020B0606030504020204" pitchFamily="34" charset="0"/>
              </a:rPr>
              <a:t>. In a tree, </a:t>
            </a:r>
            <a:r>
              <a:rPr lang="en-IN" sz="2400" b="1" i="0" u="sng" dirty="0">
                <a:solidFill>
                  <a:srgbClr val="333333"/>
                </a:solidFill>
                <a:effectLst/>
                <a:latin typeface="Open Sans" panose="020B0606030504020204" pitchFamily="34" charset="0"/>
              </a:rPr>
              <a:t>height of all leaf nodes is '0'.</a:t>
            </a:r>
            <a:endParaRPr lang="en-IN" sz="2400" b="0" i="0" dirty="0">
              <a:solidFill>
                <a:srgbClr val="333333"/>
              </a:solidFill>
              <a:effectLst/>
              <a:latin typeface="Open Sans" panose="020B0606030504020204" pitchFamily="34" charset="0"/>
            </a:endParaRPr>
          </a:p>
          <a:p>
            <a:br>
              <a:rPr lang="en-IN" sz="2400" dirty="0"/>
            </a:br>
            <a:endParaRPr lang="en-US" sz="2400" dirty="0"/>
          </a:p>
        </p:txBody>
      </p:sp>
      <p:pic>
        <p:nvPicPr>
          <p:cNvPr id="40962" name="Picture 2" descr="tree data structure">
            <a:extLst>
              <a:ext uri="{FF2B5EF4-FFF2-40B4-BE49-F238E27FC236}">
                <a16:creationId xmlns:a16="http://schemas.microsoft.com/office/drawing/2014/main" id="{B1FEE930-9390-347D-7DE6-5D0191B1C6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2000" y="3048000"/>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4876130"/>
      </p:ext>
    </p:extLst>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E8160-5FEB-5135-F0F0-6BB77EB141E4}"/>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11. Depth</a:t>
            </a:r>
            <a:endParaRPr lang="en-US" dirty="0"/>
          </a:p>
        </p:txBody>
      </p:sp>
      <p:sp>
        <p:nvSpPr>
          <p:cNvPr id="3" name="Content Placeholder 2">
            <a:extLst>
              <a:ext uri="{FF2B5EF4-FFF2-40B4-BE49-F238E27FC236}">
                <a16:creationId xmlns:a16="http://schemas.microsoft.com/office/drawing/2014/main" id="{F6DF8FA2-EDE7-D848-AAD3-8785D37770A3}"/>
              </a:ext>
            </a:extLst>
          </p:cNvPr>
          <p:cNvSpPr>
            <a:spLocks noGrp="1"/>
          </p:cNvSpPr>
          <p:nvPr>
            <p:ph idx="1"/>
          </p:nvPr>
        </p:nvSpPr>
        <p:spPr/>
        <p:txBody>
          <a:bodyPr>
            <a:normAutofit/>
          </a:bodyPr>
          <a:lstStyle/>
          <a:p>
            <a:pPr algn="just"/>
            <a:r>
              <a:rPr lang="en-IN" sz="2400" b="0" i="0" dirty="0">
                <a:solidFill>
                  <a:srgbClr val="333333"/>
                </a:solidFill>
                <a:effectLst/>
                <a:latin typeface="Open Sans" panose="020B0606030504020204" pitchFamily="34" charset="0"/>
              </a:rPr>
              <a:t>The total number of </a:t>
            </a:r>
            <a:r>
              <a:rPr lang="en-IN" sz="2400" b="0" i="0" dirty="0" err="1">
                <a:solidFill>
                  <a:srgbClr val="333333"/>
                </a:solidFill>
                <a:effectLst/>
                <a:latin typeface="Open Sans" panose="020B0606030504020204" pitchFamily="34" charset="0"/>
              </a:rPr>
              <a:t>egdes</a:t>
            </a:r>
            <a:r>
              <a:rPr lang="en-IN" sz="2400" b="0" i="0" dirty="0">
                <a:solidFill>
                  <a:srgbClr val="333333"/>
                </a:solidFill>
                <a:effectLst/>
                <a:latin typeface="Open Sans" panose="020B0606030504020204" pitchFamily="34" charset="0"/>
              </a:rPr>
              <a:t> from root node to a particular node is called as </a:t>
            </a:r>
            <a:r>
              <a:rPr lang="en-IN" sz="2400" b="1" i="0" dirty="0">
                <a:solidFill>
                  <a:srgbClr val="333333"/>
                </a:solidFill>
                <a:effectLst/>
                <a:latin typeface="Open Sans" panose="020B0606030504020204" pitchFamily="34" charset="0"/>
              </a:rPr>
              <a:t>DEPTH</a:t>
            </a:r>
            <a:r>
              <a:rPr lang="en-IN" sz="2400" b="0" i="0" dirty="0">
                <a:solidFill>
                  <a:srgbClr val="333333"/>
                </a:solidFill>
                <a:effectLst/>
                <a:latin typeface="Open Sans" panose="020B0606030504020204" pitchFamily="34" charset="0"/>
              </a:rPr>
              <a:t> of that Node. </a:t>
            </a:r>
            <a:r>
              <a:rPr lang="en-IN" sz="2400" b="0" i="0" u="sng" dirty="0">
                <a:solidFill>
                  <a:srgbClr val="333333"/>
                </a:solidFill>
                <a:effectLst/>
                <a:latin typeface="Open Sans" panose="020B0606030504020204" pitchFamily="34" charset="0"/>
              </a:rPr>
              <a:t>In a tree, the total number of edges from root node to a leaf node in the longest path is said to be </a:t>
            </a:r>
            <a:r>
              <a:rPr lang="en-IN" sz="2400" b="1" i="0" u="sng" dirty="0">
                <a:solidFill>
                  <a:srgbClr val="333333"/>
                </a:solidFill>
                <a:effectLst/>
                <a:latin typeface="Open Sans" panose="020B0606030504020204" pitchFamily="34" charset="0"/>
              </a:rPr>
              <a:t>Depth of the tree</a:t>
            </a:r>
            <a:r>
              <a:rPr lang="en-IN" sz="2400" b="0" i="0" dirty="0">
                <a:solidFill>
                  <a:srgbClr val="333333"/>
                </a:solidFill>
                <a:effectLst/>
                <a:latin typeface="Open Sans" panose="020B0606030504020204" pitchFamily="34" charset="0"/>
              </a:rPr>
              <a:t>. In simple words, the highest depth of any leaf node in a tree is said to be depth of that tree. In a tree, </a:t>
            </a:r>
            <a:r>
              <a:rPr lang="en-IN" sz="2400" b="1" i="0" u="sng" dirty="0">
                <a:solidFill>
                  <a:srgbClr val="333333"/>
                </a:solidFill>
                <a:effectLst/>
                <a:latin typeface="Open Sans" panose="020B0606030504020204" pitchFamily="34" charset="0"/>
              </a:rPr>
              <a:t>depth of the root node is '0'.</a:t>
            </a:r>
            <a:endParaRPr lang="en-IN" sz="2400" b="0" i="0" dirty="0">
              <a:solidFill>
                <a:srgbClr val="333333"/>
              </a:solidFill>
              <a:effectLst/>
              <a:latin typeface="Open Sans" panose="020B0606030504020204" pitchFamily="34" charset="0"/>
            </a:endParaRPr>
          </a:p>
          <a:p>
            <a:br>
              <a:rPr lang="en-IN" sz="2400" dirty="0"/>
            </a:br>
            <a:endParaRPr lang="en-US" sz="2400" dirty="0"/>
          </a:p>
        </p:txBody>
      </p:sp>
      <p:pic>
        <p:nvPicPr>
          <p:cNvPr id="41986" name="Picture 2" descr="tree data structure">
            <a:extLst>
              <a:ext uri="{FF2B5EF4-FFF2-40B4-BE49-F238E27FC236}">
                <a16:creationId xmlns:a16="http://schemas.microsoft.com/office/drawing/2014/main" id="{2203F435-641D-B882-44C0-DC8D4FCBA6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57712" y="3586162"/>
            <a:ext cx="7634287" cy="32718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0470539"/>
      </p:ext>
    </p:extLst>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3F36F-82E0-66F0-06AB-DD301F1AEEA1}"/>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12. Path</a:t>
            </a:r>
            <a:endParaRPr lang="en-US" dirty="0"/>
          </a:p>
        </p:txBody>
      </p:sp>
      <p:sp>
        <p:nvSpPr>
          <p:cNvPr id="3" name="Content Placeholder 2">
            <a:extLst>
              <a:ext uri="{FF2B5EF4-FFF2-40B4-BE49-F238E27FC236}">
                <a16:creationId xmlns:a16="http://schemas.microsoft.com/office/drawing/2014/main" id="{C8EFAB7F-D662-BD7A-8E07-46EB7694E87C}"/>
              </a:ext>
            </a:extLst>
          </p:cNvPr>
          <p:cNvSpPr>
            <a:spLocks noGrp="1"/>
          </p:cNvSpPr>
          <p:nvPr>
            <p:ph idx="1"/>
          </p:nvPr>
        </p:nvSpPr>
        <p:spPr/>
        <p:txBody>
          <a:bodyPr>
            <a:normAutofit/>
          </a:bodyPr>
          <a:lstStyle/>
          <a:p>
            <a:pPr algn="just"/>
            <a:r>
              <a:rPr lang="en-IN" sz="2400" b="0" i="0" dirty="0">
                <a:solidFill>
                  <a:srgbClr val="333333"/>
                </a:solidFill>
                <a:effectLst/>
                <a:latin typeface="Open Sans" panose="020B0606030504020204" pitchFamily="34" charset="0"/>
              </a:rPr>
              <a:t>In a tree data structure, the sequence of Nodes and Edges from one node to another node is called as </a:t>
            </a:r>
            <a:r>
              <a:rPr lang="en-IN" sz="2400" b="1" i="0" dirty="0">
                <a:solidFill>
                  <a:srgbClr val="333333"/>
                </a:solidFill>
                <a:effectLst/>
                <a:latin typeface="Open Sans" panose="020B0606030504020204" pitchFamily="34" charset="0"/>
              </a:rPr>
              <a:t>PATH</a:t>
            </a:r>
            <a:r>
              <a:rPr lang="en-IN" sz="2400" b="0" i="0" dirty="0">
                <a:solidFill>
                  <a:srgbClr val="333333"/>
                </a:solidFill>
                <a:effectLst/>
                <a:latin typeface="Open Sans" panose="020B0606030504020204" pitchFamily="34" charset="0"/>
              </a:rPr>
              <a:t> between that two Nodes. </a:t>
            </a:r>
            <a:r>
              <a:rPr lang="en-IN" sz="2400" b="1" i="0" u="sng" dirty="0">
                <a:solidFill>
                  <a:srgbClr val="333333"/>
                </a:solidFill>
                <a:effectLst/>
                <a:latin typeface="Open Sans" panose="020B0606030504020204" pitchFamily="34" charset="0"/>
              </a:rPr>
              <a:t>Length of a Path</a:t>
            </a:r>
            <a:r>
              <a:rPr lang="en-IN" sz="2400" b="0" i="0" u="sng" dirty="0">
                <a:solidFill>
                  <a:srgbClr val="333333"/>
                </a:solidFill>
                <a:effectLst/>
                <a:latin typeface="Open Sans" panose="020B0606030504020204" pitchFamily="34" charset="0"/>
              </a:rPr>
              <a:t> is total number of nodes in that path.</a:t>
            </a:r>
            <a:r>
              <a:rPr lang="en-IN" sz="2400" b="0" i="0" dirty="0">
                <a:solidFill>
                  <a:srgbClr val="333333"/>
                </a:solidFill>
                <a:effectLst/>
                <a:latin typeface="Open Sans" panose="020B0606030504020204" pitchFamily="34" charset="0"/>
              </a:rPr>
              <a:t> In below example </a:t>
            </a:r>
            <a:r>
              <a:rPr lang="en-IN" sz="2400" b="1" i="0" dirty="0">
                <a:solidFill>
                  <a:srgbClr val="333333"/>
                </a:solidFill>
                <a:effectLst/>
                <a:latin typeface="Open Sans" panose="020B0606030504020204" pitchFamily="34" charset="0"/>
              </a:rPr>
              <a:t>the path A - B - E - J has length 4</a:t>
            </a:r>
            <a:r>
              <a:rPr lang="en-IN" sz="2400" b="0" i="0" dirty="0">
                <a:solidFill>
                  <a:srgbClr val="333333"/>
                </a:solidFill>
                <a:effectLst/>
                <a:latin typeface="Open Sans" panose="020B0606030504020204" pitchFamily="34" charset="0"/>
              </a:rPr>
              <a:t>.</a:t>
            </a:r>
          </a:p>
          <a:p>
            <a:pPr marL="0" indent="0">
              <a:buNone/>
            </a:pPr>
            <a:br>
              <a:rPr lang="en-IN" sz="2400" dirty="0"/>
            </a:br>
            <a:endParaRPr lang="en-US" sz="2400" dirty="0"/>
          </a:p>
        </p:txBody>
      </p:sp>
      <p:pic>
        <p:nvPicPr>
          <p:cNvPr id="43010" name="Picture 2" descr="tree data structure">
            <a:extLst>
              <a:ext uri="{FF2B5EF4-FFF2-40B4-BE49-F238E27FC236}">
                <a16:creationId xmlns:a16="http://schemas.microsoft.com/office/drawing/2014/main" id="{093E5B0D-7785-E3EB-0A6E-70BC967F2D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3800" y="3167063"/>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7522867"/>
      </p:ext>
    </p:extLst>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B38E6-1D15-6457-6816-716A099AE3D0}"/>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13. Sub Tree</a:t>
            </a:r>
            <a:endParaRPr lang="en-US" dirty="0"/>
          </a:p>
        </p:txBody>
      </p:sp>
      <p:sp>
        <p:nvSpPr>
          <p:cNvPr id="3" name="Content Placeholder 2">
            <a:extLst>
              <a:ext uri="{FF2B5EF4-FFF2-40B4-BE49-F238E27FC236}">
                <a16:creationId xmlns:a16="http://schemas.microsoft.com/office/drawing/2014/main" id="{F68F4E32-2785-3DFA-7C04-335941B54878}"/>
              </a:ext>
            </a:extLst>
          </p:cNvPr>
          <p:cNvSpPr>
            <a:spLocks noGrp="1"/>
          </p:cNvSpPr>
          <p:nvPr>
            <p:ph idx="1"/>
          </p:nvPr>
        </p:nvSpPr>
        <p:spPr/>
        <p:txBody>
          <a:bodyPr/>
          <a:lstStyle/>
          <a:p>
            <a:pPr algn="just"/>
            <a:r>
              <a:rPr lang="en-IN" b="0" i="0" dirty="0">
                <a:solidFill>
                  <a:srgbClr val="333333"/>
                </a:solidFill>
                <a:effectLst/>
                <a:latin typeface="Open Sans" panose="020B0606030504020204" pitchFamily="34" charset="0"/>
              </a:rPr>
              <a:t>In a tree data structure, each child from a node forms a subtree recursively. Every child node will form a subtree on its parent node.</a:t>
            </a:r>
          </a:p>
          <a:p>
            <a:br>
              <a:rPr lang="en-IN" dirty="0"/>
            </a:br>
            <a:endParaRPr lang="en-US" dirty="0"/>
          </a:p>
        </p:txBody>
      </p:sp>
      <p:pic>
        <p:nvPicPr>
          <p:cNvPr id="44034" name="Picture 2" descr="tree data structure">
            <a:extLst>
              <a:ext uri="{FF2B5EF4-FFF2-40B4-BE49-F238E27FC236}">
                <a16:creationId xmlns:a16="http://schemas.microsoft.com/office/drawing/2014/main" id="{BDBE8CED-BB18-1EE5-8146-C4164B35A8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050" y="3048000"/>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6912062"/>
      </p:ext>
    </p:extLst>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0CF54-9464-7691-2633-7F6ECBB6BDB5}"/>
              </a:ext>
            </a:extLst>
          </p:cNvPr>
          <p:cNvSpPr>
            <a:spLocks noGrp="1"/>
          </p:cNvSpPr>
          <p:nvPr>
            <p:ph type="title"/>
          </p:nvPr>
        </p:nvSpPr>
        <p:spPr/>
        <p:txBody>
          <a:bodyPr>
            <a:normAutofit/>
          </a:bodyPr>
          <a:lstStyle/>
          <a:p>
            <a:r>
              <a:rPr lang="en-IN" b="1" i="0" dirty="0">
                <a:solidFill>
                  <a:srgbClr val="333333"/>
                </a:solidFill>
                <a:effectLst/>
                <a:latin typeface="Comfortaa"/>
              </a:rPr>
              <a:t>Tree Representations</a:t>
            </a:r>
            <a:endParaRPr lang="en-US" dirty="0"/>
          </a:p>
        </p:txBody>
      </p:sp>
      <p:sp>
        <p:nvSpPr>
          <p:cNvPr id="3" name="Content Placeholder 2">
            <a:extLst>
              <a:ext uri="{FF2B5EF4-FFF2-40B4-BE49-F238E27FC236}">
                <a16:creationId xmlns:a16="http://schemas.microsoft.com/office/drawing/2014/main" id="{2739D49A-8446-7FC6-2B6B-5B9DA94CBC8A}"/>
              </a:ext>
            </a:extLst>
          </p:cNvPr>
          <p:cNvSpPr>
            <a:spLocks noGrp="1"/>
          </p:cNvSpPr>
          <p:nvPr>
            <p:ph idx="1"/>
          </p:nvPr>
        </p:nvSpPr>
        <p:spPr/>
        <p:txBody>
          <a:bodyPr/>
          <a:lstStyle/>
          <a:p>
            <a:pPr algn="just"/>
            <a:r>
              <a:rPr lang="en-IN" b="0" i="0" dirty="0">
                <a:solidFill>
                  <a:srgbClr val="333333"/>
                </a:solidFill>
                <a:effectLst/>
                <a:latin typeface="Open Sans" panose="020B0606030504020204" pitchFamily="34" charset="0"/>
              </a:rPr>
              <a:t>A tree data structure can be represented in two methods.</a:t>
            </a:r>
          </a:p>
          <a:p>
            <a:pPr algn="just">
              <a:buFont typeface="+mj-lt"/>
              <a:buAutoNum type="arabicPeriod"/>
            </a:pPr>
            <a:r>
              <a:rPr lang="en-IN" b="1" i="0" dirty="0">
                <a:solidFill>
                  <a:srgbClr val="333333"/>
                </a:solidFill>
                <a:effectLst/>
                <a:latin typeface="Open Sans" panose="020B0606030504020204" pitchFamily="34" charset="0"/>
              </a:rPr>
              <a:t>List Representation</a:t>
            </a:r>
          </a:p>
          <a:p>
            <a:pPr algn="just">
              <a:buFont typeface="+mj-lt"/>
              <a:buAutoNum type="arabicPeriod"/>
            </a:pPr>
            <a:r>
              <a:rPr lang="en-IN" b="1" i="0" dirty="0">
                <a:solidFill>
                  <a:srgbClr val="333333"/>
                </a:solidFill>
                <a:effectLst/>
                <a:latin typeface="Open Sans" panose="020B0606030504020204" pitchFamily="34" charset="0"/>
              </a:rPr>
              <a:t>Left Child - Right Sibling Representation</a:t>
            </a:r>
          </a:p>
          <a:p>
            <a:endParaRPr lang="en-US" dirty="0"/>
          </a:p>
        </p:txBody>
      </p:sp>
      <p:pic>
        <p:nvPicPr>
          <p:cNvPr id="47106" name="Picture 2" descr="tree datastructure">
            <a:extLst>
              <a:ext uri="{FF2B5EF4-FFF2-40B4-BE49-F238E27FC236}">
                <a16:creationId xmlns:a16="http://schemas.microsoft.com/office/drawing/2014/main" id="{E5BF0F9A-AD5D-3015-D5FD-C4330AC0A7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3800" y="3048000"/>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9134129"/>
      </p:ext>
    </p:extLst>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730A-3F59-23BC-DFE0-3C05BF617F0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900D9CC-4637-6E7D-638D-A31FE7FF55E2}"/>
              </a:ext>
            </a:extLst>
          </p:cNvPr>
          <p:cNvSpPr>
            <a:spLocks noGrp="1"/>
          </p:cNvSpPr>
          <p:nvPr>
            <p:ph idx="1"/>
          </p:nvPr>
        </p:nvSpPr>
        <p:spPr/>
        <p:txBody>
          <a:bodyPr/>
          <a:lstStyle/>
          <a:p>
            <a:endParaRPr lang="en-US"/>
          </a:p>
        </p:txBody>
      </p:sp>
      <p:pic>
        <p:nvPicPr>
          <p:cNvPr id="45058" name="Picture 2" descr="list representation of tree">
            <a:extLst>
              <a:ext uri="{FF2B5EF4-FFF2-40B4-BE49-F238E27FC236}">
                <a16:creationId xmlns:a16="http://schemas.microsoft.com/office/drawing/2014/main" id="{B3EB4825-5D07-327D-72E7-240C923796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00200"/>
            <a:ext cx="1219200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9126306"/>
      </p:ext>
    </p:extLst>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61F30-B3DE-3420-7EC7-2CA4488A030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38F5776-B105-DAF9-0AAA-7C48A7A0B60E}"/>
              </a:ext>
            </a:extLst>
          </p:cNvPr>
          <p:cNvSpPr>
            <a:spLocks noGrp="1"/>
          </p:cNvSpPr>
          <p:nvPr>
            <p:ph idx="1"/>
          </p:nvPr>
        </p:nvSpPr>
        <p:spPr/>
        <p:txBody>
          <a:bodyPr/>
          <a:lstStyle/>
          <a:p>
            <a:endParaRPr lang="en-US" dirty="0"/>
          </a:p>
        </p:txBody>
      </p:sp>
      <p:pic>
        <p:nvPicPr>
          <p:cNvPr id="46082" name="Picture 2" descr="tree representation">
            <a:extLst>
              <a:ext uri="{FF2B5EF4-FFF2-40B4-BE49-F238E27FC236}">
                <a16:creationId xmlns:a16="http://schemas.microsoft.com/office/drawing/2014/main" id="{C4F942EB-8C05-D8AC-D30F-2BC1B5A596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5475" y="1690688"/>
            <a:ext cx="2540000" cy="1524000"/>
          </a:xfrm>
          <a:prstGeom prst="rect">
            <a:avLst/>
          </a:prstGeom>
          <a:noFill/>
          <a:extLst>
            <a:ext uri="{909E8E84-426E-40DD-AFC4-6F175D3DCCD1}">
              <a14:hiddenFill xmlns:a14="http://schemas.microsoft.com/office/drawing/2010/main">
                <a:solidFill>
                  <a:srgbClr val="FFFFFF"/>
                </a:solidFill>
              </a14:hiddenFill>
            </a:ext>
          </a:extLst>
        </p:spPr>
      </p:pic>
      <p:pic>
        <p:nvPicPr>
          <p:cNvPr id="46084" name="Picture 4" descr="left child right sibling representation">
            <a:extLst>
              <a:ext uri="{FF2B5EF4-FFF2-40B4-BE49-F238E27FC236}">
                <a16:creationId xmlns:a16="http://schemas.microsoft.com/office/drawing/2014/main" id="{0EFB16AF-DB3A-D982-A792-33A9D6F9D6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3325" y="1314450"/>
            <a:ext cx="10160000" cy="571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3385240"/>
      </p:ext>
    </p:extLst>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920BB-FAF3-14E7-8EBD-D08C6B361E5E}"/>
              </a:ext>
            </a:extLst>
          </p:cNvPr>
          <p:cNvSpPr>
            <a:spLocks noGrp="1"/>
          </p:cNvSpPr>
          <p:nvPr>
            <p:ph type="title"/>
          </p:nvPr>
        </p:nvSpPr>
        <p:spPr/>
        <p:txBody>
          <a:bodyPr>
            <a:normAutofit/>
          </a:bodyPr>
          <a:lstStyle/>
          <a:p>
            <a:r>
              <a:rPr lang="en-IN" b="1" i="0" dirty="0">
                <a:solidFill>
                  <a:srgbClr val="333333"/>
                </a:solidFill>
                <a:effectLst/>
                <a:latin typeface="Comfortaa"/>
              </a:rPr>
              <a:t>Binary Tree </a:t>
            </a:r>
            <a:r>
              <a:rPr lang="en-IN" b="1" i="0" dirty="0" err="1">
                <a:solidFill>
                  <a:srgbClr val="333333"/>
                </a:solidFill>
                <a:effectLst/>
                <a:latin typeface="Comfortaa"/>
              </a:rPr>
              <a:t>Datastructure</a:t>
            </a:r>
            <a:endParaRPr lang="en-US" dirty="0"/>
          </a:p>
        </p:txBody>
      </p:sp>
      <p:sp>
        <p:nvSpPr>
          <p:cNvPr id="3" name="Content Placeholder 2">
            <a:extLst>
              <a:ext uri="{FF2B5EF4-FFF2-40B4-BE49-F238E27FC236}">
                <a16:creationId xmlns:a16="http://schemas.microsoft.com/office/drawing/2014/main" id="{9447D0E9-6067-48F9-4103-4E1A06287A96}"/>
              </a:ext>
            </a:extLst>
          </p:cNvPr>
          <p:cNvSpPr>
            <a:spLocks noGrp="1"/>
          </p:cNvSpPr>
          <p:nvPr>
            <p:ph idx="1"/>
          </p:nvPr>
        </p:nvSpPr>
        <p:spPr/>
        <p:txBody>
          <a:bodyPr/>
          <a:lstStyle/>
          <a:p>
            <a:r>
              <a:rPr lang="en-IN" b="1" i="0" dirty="0">
                <a:solidFill>
                  <a:srgbClr val="333333"/>
                </a:solidFill>
                <a:effectLst/>
                <a:latin typeface="Open Sans" panose="020B0606030504020204" pitchFamily="34" charset="0"/>
              </a:rPr>
              <a:t>A tree in which every node can have a maximum of two children is called Binary Tree.</a:t>
            </a:r>
          </a:p>
          <a:p>
            <a:br>
              <a:rPr lang="en-IN" dirty="0"/>
            </a:br>
            <a:endParaRPr lang="en-US" dirty="0"/>
          </a:p>
        </p:txBody>
      </p:sp>
      <p:pic>
        <p:nvPicPr>
          <p:cNvPr id="48130" name="Picture 2" descr="binary tree">
            <a:extLst>
              <a:ext uri="{FF2B5EF4-FFF2-40B4-BE49-F238E27FC236}">
                <a16:creationId xmlns:a16="http://schemas.microsoft.com/office/drawing/2014/main" id="{C3023208-3FD3-20E0-023B-1A63F38DEE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4925" y="2054224"/>
            <a:ext cx="7205662" cy="4803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2272446"/>
      </p:ext>
    </p:extLst>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2E6C7-9C74-77ED-0FBA-221658C4DBFD}"/>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1. Strictly Binary Tree</a:t>
            </a:r>
            <a:endParaRPr lang="en-US" dirty="0"/>
          </a:p>
        </p:txBody>
      </p:sp>
      <p:sp>
        <p:nvSpPr>
          <p:cNvPr id="3" name="Content Placeholder 2">
            <a:extLst>
              <a:ext uri="{FF2B5EF4-FFF2-40B4-BE49-F238E27FC236}">
                <a16:creationId xmlns:a16="http://schemas.microsoft.com/office/drawing/2014/main" id="{0EEB8C23-4E92-375C-ECC7-3F20C6D9DF2A}"/>
              </a:ext>
            </a:extLst>
          </p:cNvPr>
          <p:cNvSpPr>
            <a:spLocks noGrp="1"/>
          </p:cNvSpPr>
          <p:nvPr>
            <p:ph idx="1"/>
          </p:nvPr>
        </p:nvSpPr>
        <p:spPr/>
        <p:txBody>
          <a:bodyPr/>
          <a:lstStyle/>
          <a:p>
            <a:r>
              <a:rPr lang="en-IN" b="1" i="0" dirty="0">
                <a:solidFill>
                  <a:srgbClr val="333333"/>
                </a:solidFill>
                <a:effectLst/>
                <a:latin typeface="Open Sans" panose="020B0606030504020204" pitchFamily="34" charset="0"/>
              </a:rPr>
              <a:t>A binary tree in which every node has either two or zero number of children is called Strictly Binary Tree. </a:t>
            </a:r>
          </a:p>
          <a:p>
            <a:r>
              <a:rPr lang="en-IN" b="0" i="0" dirty="0">
                <a:solidFill>
                  <a:srgbClr val="333333"/>
                </a:solidFill>
                <a:effectLst/>
                <a:latin typeface="Open Sans" panose="020B0606030504020204" pitchFamily="34" charset="0"/>
              </a:rPr>
              <a:t>Strictly binary tree data structure is used to represent mathematical expressions.</a:t>
            </a:r>
            <a:br>
              <a:rPr lang="en-IN" dirty="0"/>
            </a:br>
            <a:endParaRPr lang="en-US" dirty="0"/>
          </a:p>
        </p:txBody>
      </p:sp>
      <p:pic>
        <p:nvPicPr>
          <p:cNvPr id="49154" name="Picture 2">
            <a:extLst>
              <a:ext uri="{FF2B5EF4-FFF2-40B4-BE49-F238E27FC236}">
                <a16:creationId xmlns:a16="http://schemas.microsoft.com/office/drawing/2014/main" id="{012E41F1-A34B-BB67-35AE-1F26BB5665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2000" y="2854325"/>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7750943"/>
      </p:ext>
    </p:extLst>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FA998-A08C-2624-BFD0-FA62E745568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64DA78B-986E-FC59-22EC-3A8E79FC3957}"/>
              </a:ext>
            </a:extLst>
          </p:cNvPr>
          <p:cNvSpPr>
            <a:spLocks noGrp="1"/>
          </p:cNvSpPr>
          <p:nvPr>
            <p:ph idx="1"/>
          </p:nvPr>
        </p:nvSpPr>
        <p:spPr/>
        <p:txBody>
          <a:bodyPr/>
          <a:lstStyle/>
          <a:p>
            <a:endParaRPr lang="en-US"/>
          </a:p>
        </p:txBody>
      </p:sp>
      <p:pic>
        <p:nvPicPr>
          <p:cNvPr id="50178" name="Picture 2">
            <a:extLst>
              <a:ext uri="{FF2B5EF4-FFF2-40B4-BE49-F238E27FC236}">
                <a16:creationId xmlns:a16="http://schemas.microsoft.com/office/drawing/2014/main" id="{102D73D7-D00D-F9A3-7002-262DB15685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1000" y="1524000"/>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3826304"/>
      </p:ext>
    </p:extLst>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7BB96-BFAC-03EA-D446-DB7F220BEA92}"/>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2. Complete Binary Tree</a:t>
            </a:r>
            <a:endParaRPr lang="en-US" dirty="0"/>
          </a:p>
        </p:txBody>
      </p:sp>
      <p:sp>
        <p:nvSpPr>
          <p:cNvPr id="3" name="Content Placeholder 2">
            <a:extLst>
              <a:ext uri="{FF2B5EF4-FFF2-40B4-BE49-F238E27FC236}">
                <a16:creationId xmlns:a16="http://schemas.microsoft.com/office/drawing/2014/main" id="{D26E7249-33BF-C4AF-0739-10AF9F41D3B4}"/>
              </a:ext>
            </a:extLst>
          </p:cNvPr>
          <p:cNvSpPr>
            <a:spLocks noGrp="1"/>
          </p:cNvSpPr>
          <p:nvPr>
            <p:ph idx="1"/>
          </p:nvPr>
        </p:nvSpPr>
        <p:spPr/>
        <p:txBody>
          <a:bodyPr/>
          <a:lstStyle/>
          <a:p>
            <a:r>
              <a:rPr lang="en-IN" b="1" i="0" dirty="0">
                <a:solidFill>
                  <a:srgbClr val="333333"/>
                </a:solidFill>
                <a:effectLst/>
                <a:latin typeface="Open Sans" panose="020B0606030504020204" pitchFamily="34" charset="0"/>
              </a:rPr>
              <a:t>A binary tree in which every internal node has exactly two children and all leaf nodes are at same level is called Complete Binary Tree.</a:t>
            </a:r>
            <a:br>
              <a:rPr lang="en-IN" dirty="0"/>
            </a:br>
            <a:endParaRPr lang="en-US" dirty="0"/>
          </a:p>
        </p:txBody>
      </p:sp>
      <p:pic>
        <p:nvPicPr>
          <p:cNvPr id="51202" name="Picture 2">
            <a:extLst>
              <a:ext uri="{FF2B5EF4-FFF2-40B4-BE49-F238E27FC236}">
                <a16:creationId xmlns:a16="http://schemas.microsoft.com/office/drawing/2014/main" id="{1522B79A-3AD5-69B8-D774-1E874E6854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2000" y="2852738"/>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0974265"/>
      </p:ext>
    </p:extLst>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3845F-9469-D429-DCB7-B69382D8C2D8}"/>
              </a:ext>
            </a:extLst>
          </p:cNvPr>
          <p:cNvSpPr>
            <a:spLocks noGrp="1"/>
          </p:cNvSpPr>
          <p:nvPr>
            <p:ph type="title"/>
          </p:nvPr>
        </p:nvSpPr>
        <p:spPr/>
        <p:txBody>
          <a:bodyPr/>
          <a:lstStyle/>
          <a:p>
            <a:r>
              <a:rPr lang="en-US" dirty="0"/>
              <a:t>Full Binary Tree</a:t>
            </a:r>
          </a:p>
        </p:txBody>
      </p:sp>
      <p:sp>
        <p:nvSpPr>
          <p:cNvPr id="3" name="Content Placeholder 2">
            <a:extLst>
              <a:ext uri="{FF2B5EF4-FFF2-40B4-BE49-F238E27FC236}">
                <a16:creationId xmlns:a16="http://schemas.microsoft.com/office/drawing/2014/main" id="{02B29F6F-8A6F-FDBE-ACB1-EC0A80B7D27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891402244"/>
      </p:ext>
    </p:extLst>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64D88-AADC-79F9-5001-AC7E14209B04}"/>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3. Extended Binary Tree</a:t>
            </a:r>
            <a:endParaRPr lang="en-US" dirty="0"/>
          </a:p>
        </p:txBody>
      </p:sp>
      <p:sp>
        <p:nvSpPr>
          <p:cNvPr id="3" name="Content Placeholder 2">
            <a:extLst>
              <a:ext uri="{FF2B5EF4-FFF2-40B4-BE49-F238E27FC236}">
                <a16:creationId xmlns:a16="http://schemas.microsoft.com/office/drawing/2014/main" id="{68DF048C-2C59-26DA-DC34-D82EC0681D84}"/>
              </a:ext>
            </a:extLst>
          </p:cNvPr>
          <p:cNvSpPr>
            <a:spLocks noGrp="1"/>
          </p:cNvSpPr>
          <p:nvPr>
            <p:ph idx="1"/>
          </p:nvPr>
        </p:nvSpPr>
        <p:spPr/>
        <p:txBody>
          <a:bodyPr/>
          <a:lstStyle/>
          <a:p>
            <a:r>
              <a:rPr lang="en-IN" b="1" i="0" dirty="0">
                <a:solidFill>
                  <a:srgbClr val="333333"/>
                </a:solidFill>
                <a:effectLst/>
                <a:latin typeface="Open Sans" panose="020B0606030504020204" pitchFamily="34" charset="0"/>
              </a:rPr>
              <a:t>The full binary tree obtained by adding dummy nodes to a binary tree is called as Extended Binary Tree.</a:t>
            </a:r>
          </a:p>
          <a:p>
            <a:br>
              <a:rPr lang="en-IN" dirty="0"/>
            </a:br>
            <a:endParaRPr lang="en-US" dirty="0"/>
          </a:p>
        </p:txBody>
      </p:sp>
      <p:pic>
        <p:nvPicPr>
          <p:cNvPr id="52226" name="Picture 2">
            <a:extLst>
              <a:ext uri="{FF2B5EF4-FFF2-40B4-BE49-F238E27FC236}">
                <a16:creationId xmlns:a16="http://schemas.microsoft.com/office/drawing/2014/main" id="{65F4D47B-6633-CDA1-A68A-12A7FFC482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794000"/>
            <a:ext cx="12192000" cy="406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0759682"/>
      </p:ext>
    </p:extLst>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F1A4D-A187-FE31-18A3-FC849910DCC1}"/>
              </a:ext>
            </a:extLst>
          </p:cNvPr>
          <p:cNvSpPr>
            <a:spLocks noGrp="1"/>
          </p:cNvSpPr>
          <p:nvPr>
            <p:ph type="title"/>
          </p:nvPr>
        </p:nvSpPr>
        <p:spPr/>
        <p:txBody>
          <a:bodyPr>
            <a:normAutofit/>
          </a:bodyPr>
          <a:lstStyle/>
          <a:p>
            <a:r>
              <a:rPr lang="en-IN" b="1" i="0" dirty="0">
                <a:solidFill>
                  <a:srgbClr val="333333"/>
                </a:solidFill>
                <a:effectLst/>
                <a:latin typeface="Comfortaa"/>
              </a:rPr>
              <a:t>Binary Tree Representations</a:t>
            </a:r>
            <a:endParaRPr lang="en-US" dirty="0"/>
          </a:p>
        </p:txBody>
      </p:sp>
      <p:sp>
        <p:nvSpPr>
          <p:cNvPr id="3" name="Content Placeholder 2">
            <a:extLst>
              <a:ext uri="{FF2B5EF4-FFF2-40B4-BE49-F238E27FC236}">
                <a16:creationId xmlns:a16="http://schemas.microsoft.com/office/drawing/2014/main" id="{099E215F-F1D8-0547-011D-143F4E5122C0}"/>
              </a:ext>
            </a:extLst>
          </p:cNvPr>
          <p:cNvSpPr>
            <a:spLocks noGrp="1"/>
          </p:cNvSpPr>
          <p:nvPr>
            <p:ph idx="1"/>
          </p:nvPr>
        </p:nvSpPr>
        <p:spPr/>
        <p:txBody>
          <a:bodyPr/>
          <a:lstStyle/>
          <a:p>
            <a:pPr algn="just"/>
            <a:r>
              <a:rPr lang="en-IN" b="0" i="0" dirty="0">
                <a:solidFill>
                  <a:srgbClr val="333333"/>
                </a:solidFill>
                <a:effectLst/>
                <a:latin typeface="Open Sans" panose="020B0606030504020204" pitchFamily="34" charset="0"/>
              </a:rPr>
              <a:t>A binary tree data structure is represented using two methods. </a:t>
            </a:r>
          </a:p>
          <a:p>
            <a:pPr algn="just">
              <a:buFont typeface="+mj-lt"/>
              <a:buAutoNum type="arabicPeriod"/>
            </a:pPr>
            <a:r>
              <a:rPr lang="en-IN" b="1" i="0" dirty="0">
                <a:solidFill>
                  <a:srgbClr val="333333"/>
                </a:solidFill>
                <a:effectLst/>
                <a:latin typeface="Open Sans" panose="020B0606030504020204" pitchFamily="34" charset="0"/>
              </a:rPr>
              <a:t>Array Representation</a:t>
            </a:r>
          </a:p>
          <a:p>
            <a:pPr algn="just">
              <a:buFont typeface="+mj-lt"/>
              <a:buAutoNum type="arabicPeriod"/>
            </a:pPr>
            <a:r>
              <a:rPr lang="en-IN" b="1" i="0" dirty="0">
                <a:solidFill>
                  <a:srgbClr val="333333"/>
                </a:solidFill>
                <a:effectLst/>
                <a:latin typeface="Open Sans" panose="020B0606030504020204" pitchFamily="34" charset="0"/>
              </a:rPr>
              <a:t>Linked List Representation</a:t>
            </a:r>
          </a:p>
          <a:p>
            <a:endParaRPr lang="en-US" dirty="0"/>
          </a:p>
        </p:txBody>
      </p:sp>
      <p:pic>
        <p:nvPicPr>
          <p:cNvPr id="53250" name="Picture 2" descr="binary tree example">
            <a:extLst>
              <a:ext uri="{FF2B5EF4-FFF2-40B4-BE49-F238E27FC236}">
                <a16:creationId xmlns:a16="http://schemas.microsoft.com/office/drawing/2014/main" id="{B8CF930E-BE34-54FF-CDA1-F76420C26A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2000" y="2682875"/>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710553"/>
      </p:ext>
    </p:extLst>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3F743-75F4-4FAB-AACF-B6373FEE8FEE}"/>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1. Array Representation of Binary Tree</a:t>
            </a:r>
            <a:endParaRPr lang="en-US" dirty="0"/>
          </a:p>
        </p:txBody>
      </p:sp>
      <p:sp>
        <p:nvSpPr>
          <p:cNvPr id="3" name="Content Placeholder 2">
            <a:extLst>
              <a:ext uri="{FF2B5EF4-FFF2-40B4-BE49-F238E27FC236}">
                <a16:creationId xmlns:a16="http://schemas.microsoft.com/office/drawing/2014/main" id="{A50293D5-02E8-59E0-E2D9-706EE2FE14B6}"/>
              </a:ext>
            </a:extLst>
          </p:cNvPr>
          <p:cNvSpPr>
            <a:spLocks noGrp="1"/>
          </p:cNvSpPr>
          <p:nvPr>
            <p:ph idx="1"/>
          </p:nvPr>
        </p:nvSpPr>
        <p:spPr/>
        <p:txBody>
          <a:bodyPr/>
          <a:lstStyle/>
          <a:p>
            <a:endParaRPr lang="en-US"/>
          </a:p>
        </p:txBody>
      </p:sp>
      <p:pic>
        <p:nvPicPr>
          <p:cNvPr id="54274" name="Picture 2" descr="binary tree array representation">
            <a:extLst>
              <a:ext uri="{FF2B5EF4-FFF2-40B4-BE49-F238E27FC236}">
                <a16:creationId xmlns:a16="http://schemas.microsoft.com/office/drawing/2014/main" id="{2A3AFC98-14D2-EFB1-9D6E-FB23681873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25625"/>
            <a:ext cx="12192000" cy="152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0947788"/>
      </p:ext>
    </p:extLst>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72005-A6AF-84ED-75B9-9F3DB4BB6B83}"/>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2. Linked List Representation of Binary Tree</a:t>
            </a:r>
            <a:endParaRPr lang="en-US" dirty="0"/>
          </a:p>
        </p:txBody>
      </p:sp>
      <p:sp>
        <p:nvSpPr>
          <p:cNvPr id="3" name="Content Placeholder 2">
            <a:extLst>
              <a:ext uri="{FF2B5EF4-FFF2-40B4-BE49-F238E27FC236}">
                <a16:creationId xmlns:a16="http://schemas.microsoft.com/office/drawing/2014/main" id="{841B0FB6-B0C0-EC42-D363-D4B60484F844}"/>
              </a:ext>
            </a:extLst>
          </p:cNvPr>
          <p:cNvSpPr>
            <a:spLocks noGrp="1"/>
          </p:cNvSpPr>
          <p:nvPr>
            <p:ph idx="1"/>
          </p:nvPr>
        </p:nvSpPr>
        <p:spPr/>
        <p:txBody>
          <a:bodyPr/>
          <a:lstStyle/>
          <a:p>
            <a:endParaRPr lang="en-US"/>
          </a:p>
        </p:txBody>
      </p:sp>
      <p:pic>
        <p:nvPicPr>
          <p:cNvPr id="55298" name="Picture 2" descr="binary tree linked list representation node">
            <a:extLst>
              <a:ext uri="{FF2B5EF4-FFF2-40B4-BE49-F238E27FC236}">
                <a16:creationId xmlns:a16="http://schemas.microsoft.com/office/drawing/2014/main" id="{BB68DDFC-0DE4-5C40-4489-D7FD6954FF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5850" y="1133475"/>
            <a:ext cx="7620000" cy="1905000"/>
          </a:xfrm>
          <a:prstGeom prst="rect">
            <a:avLst/>
          </a:prstGeom>
          <a:noFill/>
          <a:extLst>
            <a:ext uri="{909E8E84-426E-40DD-AFC4-6F175D3DCCD1}">
              <a14:hiddenFill xmlns:a14="http://schemas.microsoft.com/office/drawing/2010/main">
                <a:solidFill>
                  <a:srgbClr val="FFFFFF"/>
                </a:solidFill>
              </a14:hiddenFill>
            </a:ext>
          </a:extLst>
        </p:spPr>
      </p:pic>
      <p:pic>
        <p:nvPicPr>
          <p:cNvPr id="55300" name="Picture 4" descr="Binary Tree Linked List Representation">
            <a:extLst>
              <a:ext uri="{FF2B5EF4-FFF2-40B4-BE49-F238E27FC236}">
                <a16:creationId xmlns:a16="http://schemas.microsoft.com/office/drawing/2014/main" id="{E9493B90-06EB-32E0-B2A5-7D710491D6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390526"/>
            <a:ext cx="10287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332103"/>
      </p:ext>
    </p:extLst>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BD13A-3B1A-7B49-D580-DFB6579D65BA}"/>
              </a:ext>
            </a:extLst>
          </p:cNvPr>
          <p:cNvSpPr>
            <a:spLocks noGrp="1"/>
          </p:cNvSpPr>
          <p:nvPr>
            <p:ph type="title"/>
          </p:nvPr>
        </p:nvSpPr>
        <p:spPr/>
        <p:txBody>
          <a:bodyPr>
            <a:normAutofit/>
          </a:bodyPr>
          <a:lstStyle/>
          <a:p>
            <a:r>
              <a:rPr lang="en-IN" b="1" i="0" dirty="0">
                <a:solidFill>
                  <a:srgbClr val="333333"/>
                </a:solidFill>
                <a:effectLst/>
                <a:latin typeface="Comfortaa"/>
              </a:rPr>
              <a:t>Binary Tree Traversals</a:t>
            </a:r>
            <a:endParaRPr lang="en-US" dirty="0"/>
          </a:p>
        </p:txBody>
      </p:sp>
      <p:sp>
        <p:nvSpPr>
          <p:cNvPr id="3" name="Content Placeholder 2">
            <a:extLst>
              <a:ext uri="{FF2B5EF4-FFF2-40B4-BE49-F238E27FC236}">
                <a16:creationId xmlns:a16="http://schemas.microsoft.com/office/drawing/2014/main" id="{66CC9EF3-014D-5C07-5B9D-93590A130C23}"/>
              </a:ext>
            </a:extLst>
          </p:cNvPr>
          <p:cNvSpPr>
            <a:spLocks noGrp="1"/>
          </p:cNvSpPr>
          <p:nvPr>
            <p:ph idx="1"/>
          </p:nvPr>
        </p:nvSpPr>
        <p:spPr/>
        <p:txBody>
          <a:bodyPr/>
          <a:lstStyle/>
          <a:p>
            <a:r>
              <a:rPr lang="en-IN" b="1" i="0" dirty="0">
                <a:solidFill>
                  <a:srgbClr val="333333"/>
                </a:solidFill>
                <a:effectLst/>
                <a:latin typeface="Open Sans" panose="020B0606030504020204" pitchFamily="34" charset="0"/>
              </a:rPr>
              <a:t>Displaying (or) visiting order of nodes in a binary tree is called as Binary Tree Traversal.</a:t>
            </a:r>
          </a:p>
          <a:p>
            <a:pPr algn="just"/>
            <a:r>
              <a:rPr lang="en-IN" b="0" i="0" dirty="0">
                <a:solidFill>
                  <a:srgbClr val="333333"/>
                </a:solidFill>
                <a:effectLst/>
                <a:latin typeface="Open Sans" panose="020B0606030504020204" pitchFamily="34" charset="0"/>
              </a:rPr>
              <a:t>There are three types of binary tree traversals.</a:t>
            </a:r>
          </a:p>
          <a:p>
            <a:pPr algn="just">
              <a:buFont typeface="+mj-lt"/>
              <a:buAutoNum type="arabicPeriod"/>
            </a:pPr>
            <a:r>
              <a:rPr lang="en-IN" b="1" i="0" dirty="0">
                <a:solidFill>
                  <a:srgbClr val="333333"/>
                </a:solidFill>
                <a:effectLst/>
                <a:latin typeface="Open Sans" panose="020B0606030504020204" pitchFamily="34" charset="0"/>
              </a:rPr>
              <a:t>In - Order Traversal</a:t>
            </a:r>
          </a:p>
          <a:p>
            <a:pPr algn="just">
              <a:buFont typeface="+mj-lt"/>
              <a:buAutoNum type="arabicPeriod"/>
            </a:pPr>
            <a:r>
              <a:rPr lang="en-IN" b="1" i="0" dirty="0">
                <a:solidFill>
                  <a:srgbClr val="333333"/>
                </a:solidFill>
                <a:effectLst/>
                <a:latin typeface="Open Sans" panose="020B0606030504020204" pitchFamily="34" charset="0"/>
              </a:rPr>
              <a:t>Pre - Order Traversal</a:t>
            </a:r>
          </a:p>
          <a:p>
            <a:pPr algn="just">
              <a:buFont typeface="+mj-lt"/>
              <a:buAutoNum type="arabicPeriod"/>
            </a:pPr>
            <a:r>
              <a:rPr lang="en-IN" b="1" i="0" dirty="0">
                <a:solidFill>
                  <a:srgbClr val="333333"/>
                </a:solidFill>
                <a:effectLst/>
                <a:latin typeface="Open Sans" panose="020B0606030504020204" pitchFamily="34" charset="0"/>
              </a:rPr>
              <a:t>Post - Order Traversal</a:t>
            </a:r>
          </a:p>
          <a:p>
            <a:br>
              <a:rPr lang="en-IN" dirty="0"/>
            </a:br>
            <a:endParaRPr lang="en-US" dirty="0"/>
          </a:p>
        </p:txBody>
      </p:sp>
      <p:pic>
        <p:nvPicPr>
          <p:cNvPr id="56322" name="Picture 2">
            <a:extLst>
              <a:ext uri="{FF2B5EF4-FFF2-40B4-BE49-F238E27FC236}">
                <a16:creationId xmlns:a16="http://schemas.microsoft.com/office/drawing/2014/main" id="{C657FB38-1A65-2770-8EF1-14A36C9C07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2650" y="3048000"/>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2420661"/>
      </p:ext>
    </p:extLst>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B04ED-2E90-A91A-83AE-493D6209FCD1}"/>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1. In - Order Traversal ( </a:t>
            </a:r>
            <a:r>
              <a:rPr lang="en-IN" b="1" i="0" dirty="0" err="1">
                <a:solidFill>
                  <a:srgbClr val="E00D50"/>
                </a:solidFill>
                <a:effectLst/>
                <a:latin typeface="Open Sans" panose="020B0606030504020204" pitchFamily="34" charset="0"/>
              </a:rPr>
              <a:t>leftChild</a:t>
            </a:r>
            <a:r>
              <a:rPr lang="en-IN" b="1" i="0" dirty="0">
                <a:solidFill>
                  <a:srgbClr val="E00D50"/>
                </a:solidFill>
                <a:effectLst/>
                <a:latin typeface="Open Sans" panose="020B0606030504020204" pitchFamily="34" charset="0"/>
              </a:rPr>
              <a:t> - root - </a:t>
            </a:r>
            <a:r>
              <a:rPr lang="en-IN" b="1" i="0" dirty="0" err="1">
                <a:solidFill>
                  <a:srgbClr val="E00D50"/>
                </a:solidFill>
                <a:effectLst/>
                <a:latin typeface="Open Sans" panose="020B0606030504020204" pitchFamily="34" charset="0"/>
              </a:rPr>
              <a:t>rightChild</a:t>
            </a:r>
            <a:r>
              <a:rPr lang="en-IN" b="1" i="0" dirty="0">
                <a:solidFill>
                  <a:srgbClr val="E00D50"/>
                </a:solidFill>
                <a:effectLst/>
                <a:latin typeface="Open Sans" panose="020B0606030504020204" pitchFamily="34" charset="0"/>
              </a:rPr>
              <a:t> )</a:t>
            </a:r>
            <a:endParaRPr lang="en-US" dirty="0"/>
          </a:p>
        </p:txBody>
      </p:sp>
      <p:sp>
        <p:nvSpPr>
          <p:cNvPr id="3" name="Content Placeholder 2">
            <a:extLst>
              <a:ext uri="{FF2B5EF4-FFF2-40B4-BE49-F238E27FC236}">
                <a16:creationId xmlns:a16="http://schemas.microsoft.com/office/drawing/2014/main" id="{54C982F3-DEBA-FC86-AA12-B3F6D3390B05}"/>
              </a:ext>
            </a:extLst>
          </p:cNvPr>
          <p:cNvSpPr>
            <a:spLocks noGrp="1"/>
          </p:cNvSpPr>
          <p:nvPr>
            <p:ph idx="1"/>
          </p:nvPr>
        </p:nvSpPr>
        <p:spPr/>
        <p:txBody>
          <a:bodyPr/>
          <a:lstStyle/>
          <a:p>
            <a:r>
              <a:rPr lang="en-IN" b="1" i="0" dirty="0">
                <a:solidFill>
                  <a:srgbClr val="333333"/>
                </a:solidFill>
                <a:effectLst/>
                <a:latin typeface="Open Sans" panose="020B0606030504020204" pitchFamily="34" charset="0"/>
              </a:rPr>
              <a:t>I - D - J - B - F - A - G - K - C - H</a:t>
            </a:r>
          </a:p>
          <a:p>
            <a:br>
              <a:rPr lang="en-IN" dirty="0"/>
            </a:br>
            <a:endParaRPr lang="en-US" dirty="0"/>
          </a:p>
        </p:txBody>
      </p:sp>
    </p:spTree>
    <p:extLst>
      <p:ext uri="{BB962C8B-B14F-4D97-AF65-F5344CB8AC3E}">
        <p14:creationId xmlns:p14="http://schemas.microsoft.com/office/powerpoint/2010/main" val="2973251266"/>
      </p:ext>
    </p:extLst>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CEB38-8FFE-C92D-7282-F50EEA8299FB}"/>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2. Pre - Order Traversal ( root - </a:t>
            </a:r>
            <a:r>
              <a:rPr lang="en-IN" b="1" i="0" dirty="0" err="1">
                <a:solidFill>
                  <a:srgbClr val="E00D50"/>
                </a:solidFill>
                <a:effectLst/>
                <a:latin typeface="Open Sans" panose="020B0606030504020204" pitchFamily="34" charset="0"/>
              </a:rPr>
              <a:t>leftChild</a:t>
            </a:r>
            <a:r>
              <a:rPr lang="en-IN" b="1" i="0" dirty="0">
                <a:solidFill>
                  <a:srgbClr val="E00D50"/>
                </a:solidFill>
                <a:effectLst/>
                <a:latin typeface="Open Sans" panose="020B0606030504020204" pitchFamily="34" charset="0"/>
              </a:rPr>
              <a:t> - </a:t>
            </a:r>
            <a:r>
              <a:rPr lang="en-IN" b="1" i="0" dirty="0" err="1">
                <a:solidFill>
                  <a:srgbClr val="E00D50"/>
                </a:solidFill>
                <a:effectLst/>
                <a:latin typeface="Open Sans" panose="020B0606030504020204" pitchFamily="34" charset="0"/>
              </a:rPr>
              <a:t>rightChild</a:t>
            </a:r>
            <a:r>
              <a:rPr lang="en-IN" b="1" i="0" dirty="0">
                <a:solidFill>
                  <a:srgbClr val="E00D50"/>
                </a:solidFill>
                <a:effectLst/>
                <a:latin typeface="Open Sans" panose="020B0606030504020204" pitchFamily="34" charset="0"/>
              </a:rPr>
              <a:t> )</a:t>
            </a:r>
            <a:endParaRPr lang="en-US" dirty="0"/>
          </a:p>
        </p:txBody>
      </p:sp>
      <p:sp>
        <p:nvSpPr>
          <p:cNvPr id="3" name="Content Placeholder 2">
            <a:extLst>
              <a:ext uri="{FF2B5EF4-FFF2-40B4-BE49-F238E27FC236}">
                <a16:creationId xmlns:a16="http://schemas.microsoft.com/office/drawing/2014/main" id="{5D1B869B-ACDD-2F7C-7316-FEE63BE2F042}"/>
              </a:ext>
            </a:extLst>
          </p:cNvPr>
          <p:cNvSpPr>
            <a:spLocks noGrp="1"/>
          </p:cNvSpPr>
          <p:nvPr>
            <p:ph idx="1"/>
          </p:nvPr>
        </p:nvSpPr>
        <p:spPr/>
        <p:txBody>
          <a:bodyPr/>
          <a:lstStyle/>
          <a:p>
            <a:r>
              <a:rPr lang="en-IN" b="1" i="0" dirty="0">
                <a:solidFill>
                  <a:srgbClr val="333333"/>
                </a:solidFill>
                <a:effectLst/>
                <a:latin typeface="Open Sans" panose="020B0606030504020204" pitchFamily="34" charset="0"/>
              </a:rPr>
              <a:t>A - B - D - I - J - F - C - G - K - H</a:t>
            </a:r>
          </a:p>
          <a:p>
            <a:br>
              <a:rPr lang="en-IN" dirty="0"/>
            </a:br>
            <a:endParaRPr lang="en-US" dirty="0"/>
          </a:p>
        </p:txBody>
      </p:sp>
    </p:spTree>
    <p:extLst>
      <p:ext uri="{BB962C8B-B14F-4D97-AF65-F5344CB8AC3E}">
        <p14:creationId xmlns:p14="http://schemas.microsoft.com/office/powerpoint/2010/main" val="271303108"/>
      </p:ext>
    </p:extLst>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55216-9C2B-512F-C0B0-742E575B4806}"/>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3. Post - Order Traversal ( </a:t>
            </a:r>
            <a:r>
              <a:rPr lang="en-IN" b="1" i="0" dirty="0" err="1">
                <a:solidFill>
                  <a:srgbClr val="E00D50"/>
                </a:solidFill>
                <a:effectLst/>
                <a:latin typeface="Open Sans" panose="020B0606030504020204" pitchFamily="34" charset="0"/>
              </a:rPr>
              <a:t>leftChild</a:t>
            </a:r>
            <a:r>
              <a:rPr lang="en-IN" b="1" i="0" dirty="0">
                <a:solidFill>
                  <a:srgbClr val="E00D50"/>
                </a:solidFill>
                <a:effectLst/>
                <a:latin typeface="Open Sans" panose="020B0606030504020204" pitchFamily="34" charset="0"/>
              </a:rPr>
              <a:t> - </a:t>
            </a:r>
            <a:r>
              <a:rPr lang="en-IN" b="1" i="0" dirty="0" err="1">
                <a:solidFill>
                  <a:srgbClr val="E00D50"/>
                </a:solidFill>
                <a:effectLst/>
                <a:latin typeface="Open Sans" panose="020B0606030504020204" pitchFamily="34" charset="0"/>
              </a:rPr>
              <a:t>rightChild</a:t>
            </a:r>
            <a:r>
              <a:rPr lang="en-IN" b="1" i="0" dirty="0">
                <a:solidFill>
                  <a:srgbClr val="E00D50"/>
                </a:solidFill>
                <a:effectLst/>
                <a:latin typeface="Open Sans" panose="020B0606030504020204" pitchFamily="34" charset="0"/>
              </a:rPr>
              <a:t> - root )</a:t>
            </a:r>
            <a:endParaRPr lang="en-US" dirty="0"/>
          </a:p>
        </p:txBody>
      </p:sp>
      <p:sp>
        <p:nvSpPr>
          <p:cNvPr id="3" name="Content Placeholder 2">
            <a:extLst>
              <a:ext uri="{FF2B5EF4-FFF2-40B4-BE49-F238E27FC236}">
                <a16:creationId xmlns:a16="http://schemas.microsoft.com/office/drawing/2014/main" id="{21BB0077-B1FE-1554-778F-85AC9CB6D991}"/>
              </a:ext>
            </a:extLst>
          </p:cNvPr>
          <p:cNvSpPr>
            <a:spLocks noGrp="1"/>
          </p:cNvSpPr>
          <p:nvPr>
            <p:ph idx="1"/>
          </p:nvPr>
        </p:nvSpPr>
        <p:spPr/>
        <p:txBody>
          <a:bodyPr/>
          <a:lstStyle/>
          <a:p>
            <a:r>
              <a:rPr lang="en-IN" b="1" i="0" dirty="0">
                <a:solidFill>
                  <a:srgbClr val="333333"/>
                </a:solidFill>
                <a:effectLst/>
                <a:latin typeface="Open Sans" panose="020B0606030504020204" pitchFamily="34" charset="0"/>
              </a:rPr>
              <a:t>I - J - D - F - B - K - G - H - C - A</a:t>
            </a:r>
          </a:p>
          <a:p>
            <a:pPr algn="just"/>
            <a:br>
              <a:rPr lang="en-IN" b="0" i="0" dirty="0">
                <a:solidFill>
                  <a:srgbClr val="333333"/>
                </a:solidFill>
                <a:effectLst/>
                <a:latin typeface="Open Sans" panose="020B0606030504020204" pitchFamily="34" charset="0"/>
              </a:rPr>
            </a:br>
            <a:endParaRPr lang="en-IN" b="0" i="0" dirty="0">
              <a:solidFill>
                <a:srgbClr val="333333"/>
              </a:solidFill>
              <a:effectLst/>
              <a:latin typeface="Open Sans" panose="020B0606030504020204" pitchFamily="34" charset="0"/>
            </a:endParaRPr>
          </a:p>
          <a:p>
            <a:endParaRPr lang="en-US" dirty="0"/>
          </a:p>
        </p:txBody>
      </p:sp>
    </p:spTree>
    <p:extLst>
      <p:ext uri="{BB962C8B-B14F-4D97-AF65-F5344CB8AC3E}">
        <p14:creationId xmlns:p14="http://schemas.microsoft.com/office/powerpoint/2010/main" val="3834955981"/>
      </p:ext>
    </p:extLst>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F22F3-AC2C-D714-4A6D-85D6D4FEA1B4}"/>
              </a:ext>
            </a:extLst>
          </p:cNvPr>
          <p:cNvSpPr>
            <a:spLocks noGrp="1"/>
          </p:cNvSpPr>
          <p:nvPr>
            <p:ph type="title"/>
          </p:nvPr>
        </p:nvSpPr>
        <p:spPr/>
        <p:txBody>
          <a:bodyPr>
            <a:normAutofit/>
          </a:bodyPr>
          <a:lstStyle/>
          <a:p>
            <a:r>
              <a:rPr lang="en-IN" b="1" i="0" dirty="0">
                <a:solidFill>
                  <a:srgbClr val="333333"/>
                </a:solidFill>
                <a:effectLst/>
                <a:latin typeface="Comfortaa"/>
              </a:rPr>
              <a:t>Threaded Binary Trees</a:t>
            </a:r>
            <a:endParaRPr lang="en-US" dirty="0"/>
          </a:p>
        </p:txBody>
      </p:sp>
      <p:sp>
        <p:nvSpPr>
          <p:cNvPr id="3" name="Content Placeholder 2">
            <a:extLst>
              <a:ext uri="{FF2B5EF4-FFF2-40B4-BE49-F238E27FC236}">
                <a16:creationId xmlns:a16="http://schemas.microsoft.com/office/drawing/2014/main" id="{B5006F5B-4B44-A7C3-9586-516A2EE72650}"/>
              </a:ext>
            </a:extLst>
          </p:cNvPr>
          <p:cNvSpPr>
            <a:spLocks noGrp="1"/>
          </p:cNvSpPr>
          <p:nvPr>
            <p:ph idx="1"/>
          </p:nvPr>
        </p:nvSpPr>
        <p:spPr/>
        <p:txBody>
          <a:bodyPr>
            <a:normAutofit/>
          </a:bodyPr>
          <a:lstStyle/>
          <a:p>
            <a:r>
              <a:rPr lang="en-IN" sz="2400" b="1" i="0" dirty="0">
                <a:solidFill>
                  <a:srgbClr val="333333"/>
                </a:solidFill>
                <a:effectLst/>
                <a:latin typeface="Open Sans" panose="020B0606030504020204" pitchFamily="34" charset="0"/>
              </a:rPr>
              <a:t>Threaded Binary Tree is also a binary tree in which all left child pointers that are NULL (in Linked list representation) points to its in-order predecessor, and all right child pointers that are NULL (in Linked list representation) points to its in-order successor. </a:t>
            </a:r>
          </a:p>
          <a:p>
            <a:pPr algn="just"/>
            <a:r>
              <a:rPr lang="en-IN" sz="2400" b="0" i="0" dirty="0">
                <a:solidFill>
                  <a:srgbClr val="333333"/>
                </a:solidFill>
                <a:effectLst/>
                <a:latin typeface="Open Sans" panose="020B0606030504020204" pitchFamily="34" charset="0"/>
              </a:rPr>
              <a:t>If there is no in-order predecessor or in-order successor, then it points to the root node.</a:t>
            </a:r>
          </a:p>
        </p:txBody>
      </p:sp>
    </p:spTree>
    <p:extLst>
      <p:ext uri="{BB962C8B-B14F-4D97-AF65-F5344CB8AC3E}">
        <p14:creationId xmlns:p14="http://schemas.microsoft.com/office/powerpoint/2010/main" val="823798497"/>
      </p:ext>
    </p:extLst>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4C796-C06A-CCF0-134C-CEF22FB9170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250780E-D893-5616-0629-7610813A96B3}"/>
              </a:ext>
            </a:extLst>
          </p:cNvPr>
          <p:cNvSpPr>
            <a:spLocks noGrp="1"/>
          </p:cNvSpPr>
          <p:nvPr>
            <p:ph idx="1"/>
          </p:nvPr>
        </p:nvSpPr>
        <p:spPr/>
        <p:txBody>
          <a:bodyPr/>
          <a:lstStyle/>
          <a:p>
            <a:r>
              <a:rPr lang="en-IN" b="1" i="0" dirty="0">
                <a:solidFill>
                  <a:srgbClr val="333333"/>
                </a:solidFill>
                <a:effectLst/>
                <a:latin typeface="Open Sans" panose="020B0606030504020204" pitchFamily="34" charset="0"/>
              </a:rPr>
              <a:t>In-Order: H - D - I - B - E - A - F - J - C - G</a:t>
            </a:r>
          </a:p>
          <a:p>
            <a:br>
              <a:rPr lang="en-IN" dirty="0"/>
            </a:br>
            <a:endParaRPr lang="en-US" dirty="0"/>
          </a:p>
        </p:txBody>
      </p:sp>
      <p:pic>
        <p:nvPicPr>
          <p:cNvPr id="4" name="Picture 2" descr="Binary Tree">
            <a:extLst>
              <a:ext uri="{FF2B5EF4-FFF2-40B4-BE49-F238E27FC236}">
                <a16:creationId xmlns:a16="http://schemas.microsoft.com/office/drawing/2014/main" id="{7E88BEA5-CDD9-99C1-9AF7-D770FABE6F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1690688"/>
            <a:ext cx="7620000" cy="5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3031889"/>
      </p:ext>
    </p:extLst>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1BCE9-B28A-80F0-1C32-6B2B7320CF32}"/>
              </a:ext>
            </a:extLst>
          </p:cNvPr>
          <p:cNvSpPr>
            <a:spLocks noGrp="1"/>
          </p:cNvSpPr>
          <p:nvPr>
            <p:ph type="title"/>
          </p:nvPr>
        </p:nvSpPr>
        <p:spPr/>
        <p:txBody>
          <a:bodyPr/>
          <a:lstStyle/>
          <a:p>
            <a:r>
              <a:rPr lang="en-US" dirty="0"/>
              <a:t>Threaded Binary Trees</a:t>
            </a:r>
          </a:p>
        </p:txBody>
      </p:sp>
      <p:sp>
        <p:nvSpPr>
          <p:cNvPr id="3" name="Content Placeholder 2">
            <a:extLst>
              <a:ext uri="{FF2B5EF4-FFF2-40B4-BE49-F238E27FC236}">
                <a16:creationId xmlns:a16="http://schemas.microsoft.com/office/drawing/2014/main" id="{A1016E9E-9219-2F32-CC1C-DD4483F3F99B}"/>
              </a:ext>
            </a:extLst>
          </p:cNvPr>
          <p:cNvSpPr>
            <a:spLocks noGrp="1"/>
          </p:cNvSpPr>
          <p:nvPr>
            <p:ph idx="1"/>
          </p:nvPr>
        </p:nvSpPr>
        <p:spPr/>
        <p:txBody>
          <a:bodyPr/>
          <a:lstStyle/>
          <a:p>
            <a:endParaRPr lang="en-US"/>
          </a:p>
        </p:txBody>
      </p:sp>
      <p:pic>
        <p:nvPicPr>
          <p:cNvPr id="59394" name="Picture 2" descr="threaded binary tree">
            <a:extLst>
              <a:ext uri="{FF2B5EF4-FFF2-40B4-BE49-F238E27FC236}">
                <a16:creationId xmlns:a16="http://schemas.microsoft.com/office/drawing/2014/main" id="{38CC6D46-0A59-E81C-567F-16D2E477ED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1788" y="1461294"/>
            <a:ext cx="7620000" cy="5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1844988"/>
      </p:ext>
    </p:extLst>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541FD-D4DF-5032-7BC0-1C1A731BEDA8}"/>
              </a:ext>
            </a:extLst>
          </p:cNvPr>
          <p:cNvSpPr>
            <a:spLocks noGrp="1"/>
          </p:cNvSpPr>
          <p:nvPr>
            <p:ph type="title"/>
          </p:nvPr>
        </p:nvSpPr>
        <p:spPr/>
        <p:txBody>
          <a:bodyPr>
            <a:normAutofit/>
          </a:bodyPr>
          <a:lstStyle/>
          <a:p>
            <a:r>
              <a:rPr lang="en-IN" b="1" i="0" dirty="0">
                <a:solidFill>
                  <a:srgbClr val="333333"/>
                </a:solidFill>
                <a:effectLst/>
                <a:latin typeface="Comfortaa"/>
              </a:rPr>
              <a:t>Binary Search Tree</a:t>
            </a:r>
            <a:endParaRPr lang="en-US" dirty="0"/>
          </a:p>
        </p:txBody>
      </p:sp>
      <p:sp>
        <p:nvSpPr>
          <p:cNvPr id="3" name="Content Placeholder 2">
            <a:extLst>
              <a:ext uri="{FF2B5EF4-FFF2-40B4-BE49-F238E27FC236}">
                <a16:creationId xmlns:a16="http://schemas.microsoft.com/office/drawing/2014/main" id="{6CF7A96C-C35B-27EE-4D84-E6D1F10097E0}"/>
              </a:ext>
            </a:extLst>
          </p:cNvPr>
          <p:cNvSpPr>
            <a:spLocks noGrp="1"/>
          </p:cNvSpPr>
          <p:nvPr>
            <p:ph idx="1"/>
          </p:nvPr>
        </p:nvSpPr>
        <p:spPr/>
        <p:txBody>
          <a:bodyPr/>
          <a:lstStyle/>
          <a:p>
            <a:r>
              <a:rPr lang="en-IN" b="1" i="0" dirty="0">
                <a:solidFill>
                  <a:srgbClr val="333333"/>
                </a:solidFill>
                <a:effectLst/>
                <a:latin typeface="Open Sans" panose="020B0606030504020204" pitchFamily="34" charset="0"/>
              </a:rPr>
              <a:t>A binary tree in which every node contains only smaller values in its left subtree and only larger values in its right subtree.</a:t>
            </a:r>
          </a:p>
          <a:p>
            <a:br>
              <a:rPr lang="en-IN" dirty="0"/>
            </a:br>
            <a:endParaRPr lang="en-US" dirty="0"/>
          </a:p>
        </p:txBody>
      </p:sp>
      <p:pic>
        <p:nvPicPr>
          <p:cNvPr id="60418" name="Picture 2" descr="Binary Search Tree">
            <a:extLst>
              <a:ext uri="{FF2B5EF4-FFF2-40B4-BE49-F238E27FC236}">
                <a16:creationId xmlns:a16="http://schemas.microsoft.com/office/drawing/2014/main" id="{AE5486E0-425B-1512-5DC9-0677EAB559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6026" y="2117724"/>
            <a:ext cx="9834562" cy="49172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8091586"/>
      </p:ext>
    </p:extLst>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B232C-E9C7-26AE-691B-B1EBB4C4BF7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BEE7BDC-D349-11F8-C292-9C5CA2780965}"/>
              </a:ext>
            </a:extLst>
          </p:cNvPr>
          <p:cNvSpPr>
            <a:spLocks noGrp="1"/>
          </p:cNvSpPr>
          <p:nvPr>
            <p:ph idx="1"/>
          </p:nvPr>
        </p:nvSpPr>
        <p:spPr/>
        <p:txBody>
          <a:bodyPr/>
          <a:lstStyle/>
          <a:p>
            <a:endParaRPr lang="en-US"/>
          </a:p>
        </p:txBody>
      </p:sp>
      <p:pic>
        <p:nvPicPr>
          <p:cNvPr id="61442" name="Picture 2" descr="Binary Search Tree Example">
            <a:extLst>
              <a:ext uri="{FF2B5EF4-FFF2-40B4-BE49-F238E27FC236}">
                <a16:creationId xmlns:a16="http://schemas.microsoft.com/office/drawing/2014/main" id="{1228375F-1CFA-F066-A852-28E6C15B04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81000"/>
            <a:ext cx="12192000" cy="609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3682094"/>
      </p:ext>
    </p:extLst>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5A789-71B1-2A1F-1DC1-4B26D4E0F69C}"/>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Operations on a Binary Search Tree</a:t>
            </a:r>
            <a:endParaRPr lang="en-US" dirty="0"/>
          </a:p>
        </p:txBody>
      </p:sp>
      <p:sp>
        <p:nvSpPr>
          <p:cNvPr id="3" name="Content Placeholder 2">
            <a:extLst>
              <a:ext uri="{FF2B5EF4-FFF2-40B4-BE49-F238E27FC236}">
                <a16:creationId xmlns:a16="http://schemas.microsoft.com/office/drawing/2014/main" id="{A1E6418B-41F3-E826-1C12-38504C19CCA2}"/>
              </a:ext>
            </a:extLst>
          </p:cNvPr>
          <p:cNvSpPr>
            <a:spLocks noGrp="1"/>
          </p:cNvSpPr>
          <p:nvPr>
            <p:ph idx="1"/>
          </p:nvPr>
        </p:nvSpPr>
        <p:spPr/>
        <p:txBody>
          <a:bodyPr/>
          <a:lstStyle/>
          <a:p>
            <a:pPr algn="just"/>
            <a:r>
              <a:rPr lang="en-IN" b="0" i="0" dirty="0">
                <a:solidFill>
                  <a:srgbClr val="333333"/>
                </a:solidFill>
                <a:effectLst/>
                <a:latin typeface="Open Sans" panose="020B0606030504020204" pitchFamily="34" charset="0"/>
              </a:rPr>
              <a:t>The following operations are performed on a binary search tree...</a:t>
            </a:r>
          </a:p>
          <a:p>
            <a:pPr algn="just">
              <a:buFont typeface="+mj-lt"/>
              <a:buAutoNum type="arabicPeriod"/>
            </a:pPr>
            <a:r>
              <a:rPr lang="en-IN" b="1" i="0" dirty="0">
                <a:solidFill>
                  <a:srgbClr val="333333"/>
                </a:solidFill>
                <a:effectLst/>
                <a:latin typeface="Open Sans" panose="020B0606030504020204" pitchFamily="34" charset="0"/>
              </a:rPr>
              <a:t>Search</a:t>
            </a:r>
          </a:p>
          <a:p>
            <a:pPr algn="just">
              <a:buFont typeface="+mj-lt"/>
              <a:buAutoNum type="arabicPeriod"/>
            </a:pPr>
            <a:r>
              <a:rPr lang="en-IN" b="1" i="0" dirty="0">
                <a:solidFill>
                  <a:srgbClr val="333333"/>
                </a:solidFill>
                <a:effectLst/>
                <a:latin typeface="Open Sans" panose="020B0606030504020204" pitchFamily="34" charset="0"/>
              </a:rPr>
              <a:t>Insertion</a:t>
            </a:r>
          </a:p>
          <a:p>
            <a:pPr algn="just">
              <a:buFont typeface="+mj-lt"/>
              <a:buAutoNum type="arabicPeriod"/>
            </a:pPr>
            <a:r>
              <a:rPr lang="en-IN" b="1" i="0" dirty="0">
                <a:solidFill>
                  <a:srgbClr val="333333"/>
                </a:solidFill>
                <a:effectLst/>
                <a:latin typeface="Open Sans" panose="020B0606030504020204" pitchFamily="34" charset="0"/>
              </a:rPr>
              <a:t>Deletion</a:t>
            </a:r>
          </a:p>
          <a:p>
            <a:endParaRPr lang="en-US" dirty="0"/>
          </a:p>
        </p:txBody>
      </p:sp>
    </p:spTree>
    <p:extLst>
      <p:ext uri="{BB962C8B-B14F-4D97-AF65-F5344CB8AC3E}">
        <p14:creationId xmlns:p14="http://schemas.microsoft.com/office/powerpoint/2010/main" val="3404608485"/>
      </p:ext>
    </p:extLst>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EEAE1-B22E-ED76-7912-21EB267EA643}"/>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Search Operation in BST</a:t>
            </a:r>
            <a:endParaRPr lang="en-US" dirty="0"/>
          </a:p>
        </p:txBody>
      </p:sp>
      <p:sp>
        <p:nvSpPr>
          <p:cNvPr id="3" name="Content Placeholder 2">
            <a:extLst>
              <a:ext uri="{FF2B5EF4-FFF2-40B4-BE49-F238E27FC236}">
                <a16:creationId xmlns:a16="http://schemas.microsoft.com/office/drawing/2014/main" id="{5C3A8D12-FD11-216A-3D32-A78B49CF1006}"/>
              </a:ext>
            </a:extLst>
          </p:cNvPr>
          <p:cNvSpPr>
            <a:spLocks noGrp="1"/>
          </p:cNvSpPr>
          <p:nvPr>
            <p:ph idx="1"/>
          </p:nvPr>
        </p:nvSpPr>
        <p:spPr/>
        <p:txBody>
          <a:bodyPr>
            <a:normAutofit fontScale="62500" lnSpcReduction="20000"/>
          </a:bodyPr>
          <a:lstStyle/>
          <a:p>
            <a:r>
              <a:rPr lang="en-IN" b="0" i="0" dirty="0">
                <a:solidFill>
                  <a:srgbClr val="333333"/>
                </a:solidFill>
                <a:effectLst/>
                <a:latin typeface="Open Sans" panose="020B0606030504020204" pitchFamily="34" charset="0"/>
              </a:rPr>
              <a:t>In a binary search tree, the search operation is performed with </a:t>
            </a:r>
            <a:r>
              <a:rPr lang="en-IN" b="1" i="0" dirty="0">
                <a:solidFill>
                  <a:srgbClr val="333333"/>
                </a:solidFill>
                <a:effectLst/>
                <a:latin typeface="Open Sans" panose="020B0606030504020204" pitchFamily="34" charset="0"/>
              </a:rPr>
              <a:t>O(log n)</a:t>
            </a:r>
            <a:r>
              <a:rPr lang="en-IN" b="0" i="0" dirty="0">
                <a:solidFill>
                  <a:srgbClr val="333333"/>
                </a:solidFill>
                <a:effectLst/>
                <a:latin typeface="Open Sans" panose="020B0606030504020204" pitchFamily="34" charset="0"/>
              </a:rPr>
              <a:t> time complexity.</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Read the search element from the user.</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Compare the search element with the value of root node in the tree.</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both are matched, then display "Given node is found!!!"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If both are not matched, then check whether search element is smaller or larger than that node value.</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If search element is smaller, then continue the search process in left subtree.</a:t>
            </a:r>
          </a:p>
          <a:p>
            <a:pPr>
              <a:buFont typeface="Arial" panose="020B0604020202020204" pitchFamily="34" charset="0"/>
              <a:buChar char="•"/>
            </a:pPr>
            <a:r>
              <a:rPr lang="en-IN" b="1" i="0" dirty="0">
                <a:solidFill>
                  <a:srgbClr val="162F59"/>
                </a:solidFill>
                <a:effectLst/>
                <a:latin typeface="Open Sans" panose="020B0606030504020204" pitchFamily="34" charset="0"/>
              </a:rPr>
              <a:t>Step 6- </a:t>
            </a:r>
            <a:r>
              <a:rPr lang="en-IN" b="0" i="0" dirty="0">
                <a:solidFill>
                  <a:srgbClr val="333333"/>
                </a:solidFill>
                <a:effectLst/>
                <a:latin typeface="Open Sans" panose="020B0606030504020204" pitchFamily="34" charset="0"/>
              </a:rPr>
              <a:t>If search element is larger, then continue the search process in right subtree.</a:t>
            </a:r>
          </a:p>
          <a:p>
            <a:pPr>
              <a:buFont typeface="Arial" panose="020B0604020202020204" pitchFamily="34" charset="0"/>
              <a:buChar char="•"/>
            </a:pPr>
            <a:r>
              <a:rPr lang="en-IN" b="1" i="0" dirty="0">
                <a:solidFill>
                  <a:srgbClr val="162F59"/>
                </a:solidFill>
                <a:effectLst/>
                <a:latin typeface="Open Sans" panose="020B0606030504020204" pitchFamily="34" charset="0"/>
              </a:rPr>
              <a:t>Step 7 - </a:t>
            </a:r>
            <a:r>
              <a:rPr lang="en-IN" b="0" i="0" dirty="0">
                <a:solidFill>
                  <a:srgbClr val="333333"/>
                </a:solidFill>
                <a:effectLst/>
                <a:latin typeface="Open Sans" panose="020B0606030504020204" pitchFamily="34" charset="0"/>
              </a:rPr>
              <a:t>Repeat the same until we find the exact element or until the search element is compared with the leaf node</a:t>
            </a:r>
          </a:p>
          <a:p>
            <a:pPr>
              <a:buFont typeface="Arial" panose="020B0604020202020204" pitchFamily="34" charset="0"/>
              <a:buChar char="•"/>
            </a:pPr>
            <a:r>
              <a:rPr lang="en-IN" b="1" i="0" dirty="0">
                <a:solidFill>
                  <a:srgbClr val="162F59"/>
                </a:solidFill>
                <a:effectLst/>
                <a:latin typeface="Open Sans" panose="020B0606030504020204" pitchFamily="34" charset="0"/>
              </a:rPr>
              <a:t>Step 8 - </a:t>
            </a:r>
            <a:r>
              <a:rPr lang="en-IN" b="0" i="0" dirty="0">
                <a:solidFill>
                  <a:srgbClr val="333333"/>
                </a:solidFill>
                <a:effectLst/>
                <a:latin typeface="Open Sans" panose="020B0606030504020204" pitchFamily="34" charset="0"/>
              </a:rPr>
              <a:t>If we reach to the node having the value equal to the search value then display "Element is found"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9 - </a:t>
            </a:r>
            <a:r>
              <a:rPr lang="en-IN" b="0" i="0" dirty="0">
                <a:solidFill>
                  <a:srgbClr val="333333"/>
                </a:solidFill>
                <a:effectLst/>
                <a:latin typeface="Open Sans" panose="020B0606030504020204" pitchFamily="34" charset="0"/>
              </a:rPr>
              <a:t>If we reach to the leaf node and if it is also not matched with the search element, then display "Element is not found" and terminate the function.</a:t>
            </a:r>
          </a:p>
          <a:p>
            <a:endParaRPr lang="en-US" dirty="0"/>
          </a:p>
        </p:txBody>
      </p:sp>
    </p:spTree>
    <p:extLst>
      <p:ext uri="{BB962C8B-B14F-4D97-AF65-F5344CB8AC3E}">
        <p14:creationId xmlns:p14="http://schemas.microsoft.com/office/powerpoint/2010/main" val="1326017555"/>
      </p:ext>
    </p:extLst>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177EA-BB90-1839-29A9-73A45A4098AE}"/>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Insertion Operation in BST</a:t>
            </a:r>
            <a:endParaRPr lang="en-US" dirty="0"/>
          </a:p>
        </p:txBody>
      </p:sp>
      <p:sp>
        <p:nvSpPr>
          <p:cNvPr id="3" name="Content Placeholder 2">
            <a:extLst>
              <a:ext uri="{FF2B5EF4-FFF2-40B4-BE49-F238E27FC236}">
                <a16:creationId xmlns:a16="http://schemas.microsoft.com/office/drawing/2014/main" id="{B09F5D6F-1D50-8E51-9433-F346998AE38E}"/>
              </a:ext>
            </a:extLst>
          </p:cNvPr>
          <p:cNvSpPr>
            <a:spLocks noGrp="1"/>
          </p:cNvSpPr>
          <p:nvPr>
            <p:ph idx="1"/>
          </p:nvPr>
        </p:nvSpPr>
        <p:spPr/>
        <p:txBody>
          <a:bodyPr>
            <a:normAutofit fontScale="70000" lnSpcReduction="20000"/>
          </a:bodyPr>
          <a:lstStyle/>
          <a:p>
            <a:r>
              <a:rPr lang="en-IN" b="0" i="0" dirty="0">
                <a:solidFill>
                  <a:srgbClr val="333333"/>
                </a:solidFill>
                <a:effectLst/>
                <a:latin typeface="Open Sans" panose="020B0606030504020204" pitchFamily="34" charset="0"/>
              </a:rPr>
              <a:t>In a binary search tree, the insertion operation is performed with </a:t>
            </a:r>
            <a:r>
              <a:rPr lang="en-IN" b="1" i="0" dirty="0">
                <a:solidFill>
                  <a:srgbClr val="333333"/>
                </a:solidFill>
                <a:effectLst/>
                <a:latin typeface="Open Sans" panose="020B0606030504020204" pitchFamily="34" charset="0"/>
              </a:rPr>
              <a:t>O(log n)</a:t>
            </a:r>
            <a:r>
              <a:rPr lang="en-IN" b="0" i="0" dirty="0">
                <a:solidFill>
                  <a:srgbClr val="333333"/>
                </a:solidFill>
                <a:effectLst/>
                <a:latin typeface="Open Sans" panose="020B0606030504020204" pitchFamily="34" charset="0"/>
              </a:rPr>
              <a:t> time complexity. In binary search tree, new node is always inserted as a leaf node. The insertion operation is performed as follows...</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Create a </a:t>
            </a:r>
            <a:r>
              <a:rPr lang="en-IN" b="0"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with given value and set its </a:t>
            </a:r>
            <a:r>
              <a:rPr lang="en-IN" b="1" i="0" dirty="0">
                <a:solidFill>
                  <a:srgbClr val="333333"/>
                </a:solidFill>
                <a:effectLst/>
                <a:latin typeface="Open Sans" panose="020B0606030504020204" pitchFamily="34" charset="0"/>
              </a:rPr>
              <a:t>left</a:t>
            </a:r>
            <a:r>
              <a:rPr lang="en-IN" b="0" i="0" dirty="0">
                <a:solidFill>
                  <a:srgbClr val="333333"/>
                </a:solidFill>
                <a:effectLst/>
                <a:latin typeface="Open Sans" panose="020B0606030504020204" pitchFamily="34" charset="0"/>
              </a:rPr>
              <a:t> and </a:t>
            </a:r>
            <a:r>
              <a:rPr lang="en-IN" b="1" i="0" dirty="0">
                <a:solidFill>
                  <a:srgbClr val="333333"/>
                </a:solidFill>
                <a:effectLst/>
                <a:latin typeface="Open Sans" panose="020B0606030504020204" pitchFamily="34" charset="0"/>
              </a:rPr>
              <a:t>right</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Check whether tree is Empty.</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the tree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set </a:t>
            </a:r>
            <a:r>
              <a:rPr lang="en-IN" b="1" i="0" dirty="0">
                <a:solidFill>
                  <a:srgbClr val="333333"/>
                </a:solidFill>
                <a:effectLst/>
                <a:latin typeface="Open Sans" panose="020B0606030504020204" pitchFamily="34" charset="0"/>
              </a:rPr>
              <a:t>root</a:t>
            </a:r>
            <a:r>
              <a:rPr lang="en-IN" b="0" i="0" dirty="0">
                <a:solidFill>
                  <a:srgbClr val="333333"/>
                </a:solidFill>
                <a:effectLst/>
                <a:latin typeface="Open Sans" panose="020B0606030504020204" pitchFamily="34" charset="0"/>
              </a:rPr>
              <a:t> to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If the tree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check whether the value of </a:t>
            </a:r>
            <a:r>
              <a:rPr lang="en-IN" b="0"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is </a:t>
            </a:r>
            <a:r>
              <a:rPr lang="en-IN" b="1" i="0" dirty="0">
                <a:solidFill>
                  <a:srgbClr val="333333"/>
                </a:solidFill>
                <a:effectLst/>
                <a:latin typeface="Open Sans" panose="020B0606030504020204" pitchFamily="34" charset="0"/>
              </a:rPr>
              <a:t>smaller</a:t>
            </a:r>
            <a:r>
              <a:rPr lang="en-IN" b="0" i="0" dirty="0">
                <a:solidFill>
                  <a:srgbClr val="333333"/>
                </a:solidFill>
                <a:effectLst/>
                <a:latin typeface="Open Sans" panose="020B0606030504020204" pitchFamily="34" charset="0"/>
              </a:rPr>
              <a:t> or </a:t>
            </a:r>
            <a:r>
              <a:rPr lang="en-IN" b="1" i="0" dirty="0">
                <a:solidFill>
                  <a:srgbClr val="333333"/>
                </a:solidFill>
                <a:effectLst/>
                <a:latin typeface="Open Sans" panose="020B0606030504020204" pitchFamily="34" charset="0"/>
              </a:rPr>
              <a:t>larger</a:t>
            </a:r>
            <a:r>
              <a:rPr lang="en-IN" b="0" i="0" dirty="0">
                <a:solidFill>
                  <a:srgbClr val="333333"/>
                </a:solidFill>
                <a:effectLst/>
                <a:latin typeface="Open Sans" panose="020B0606030504020204" pitchFamily="34" charset="0"/>
              </a:rPr>
              <a:t> than the node (here it is root node).</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If </a:t>
            </a:r>
            <a:r>
              <a:rPr lang="en-IN" b="0"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is </a:t>
            </a:r>
            <a:r>
              <a:rPr lang="en-IN" b="1" i="0" dirty="0">
                <a:solidFill>
                  <a:srgbClr val="333333"/>
                </a:solidFill>
                <a:effectLst/>
                <a:latin typeface="Open Sans" panose="020B0606030504020204" pitchFamily="34" charset="0"/>
              </a:rPr>
              <a:t>smaller</a:t>
            </a:r>
            <a:r>
              <a:rPr lang="en-IN" b="0" i="0" dirty="0">
                <a:solidFill>
                  <a:srgbClr val="333333"/>
                </a:solidFill>
                <a:effectLst/>
                <a:latin typeface="Open Sans" panose="020B0606030504020204" pitchFamily="34" charset="0"/>
              </a:rPr>
              <a:t> than </a:t>
            </a:r>
            <a:r>
              <a:rPr lang="en-IN" b="1" i="0" dirty="0">
                <a:solidFill>
                  <a:srgbClr val="333333"/>
                </a:solidFill>
                <a:effectLst/>
                <a:latin typeface="Open Sans" panose="020B0606030504020204" pitchFamily="34" charset="0"/>
              </a:rPr>
              <a:t>or equal</a:t>
            </a:r>
            <a:r>
              <a:rPr lang="en-IN" b="0" i="0" dirty="0">
                <a:solidFill>
                  <a:srgbClr val="333333"/>
                </a:solidFill>
                <a:effectLst/>
                <a:latin typeface="Open Sans" panose="020B0606030504020204" pitchFamily="34" charset="0"/>
              </a:rPr>
              <a:t> to the node then move to its </a:t>
            </a:r>
            <a:r>
              <a:rPr lang="en-IN" b="1" i="0" dirty="0">
                <a:solidFill>
                  <a:srgbClr val="333333"/>
                </a:solidFill>
                <a:effectLst/>
                <a:latin typeface="Open Sans" panose="020B0606030504020204" pitchFamily="34" charset="0"/>
              </a:rPr>
              <a:t>left</a:t>
            </a:r>
            <a:r>
              <a:rPr lang="en-IN" b="0" i="0" dirty="0">
                <a:solidFill>
                  <a:srgbClr val="333333"/>
                </a:solidFill>
                <a:effectLst/>
                <a:latin typeface="Open Sans" panose="020B0606030504020204" pitchFamily="34" charset="0"/>
              </a:rPr>
              <a:t> child. If </a:t>
            </a:r>
            <a:r>
              <a:rPr lang="en-IN" b="0"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is </a:t>
            </a:r>
            <a:r>
              <a:rPr lang="en-IN" b="1" i="0" dirty="0">
                <a:solidFill>
                  <a:srgbClr val="333333"/>
                </a:solidFill>
                <a:effectLst/>
                <a:latin typeface="Open Sans" panose="020B0606030504020204" pitchFamily="34" charset="0"/>
              </a:rPr>
              <a:t>larger</a:t>
            </a:r>
            <a:r>
              <a:rPr lang="en-IN" b="0" i="0" dirty="0">
                <a:solidFill>
                  <a:srgbClr val="333333"/>
                </a:solidFill>
                <a:effectLst/>
                <a:latin typeface="Open Sans" panose="020B0606030504020204" pitchFamily="34" charset="0"/>
              </a:rPr>
              <a:t> than the node then move to its </a:t>
            </a:r>
            <a:r>
              <a:rPr lang="en-IN" b="1" i="0" dirty="0">
                <a:solidFill>
                  <a:srgbClr val="333333"/>
                </a:solidFill>
                <a:effectLst/>
                <a:latin typeface="Open Sans" panose="020B0606030504020204" pitchFamily="34" charset="0"/>
              </a:rPr>
              <a:t>right</a:t>
            </a:r>
            <a:r>
              <a:rPr lang="en-IN" b="0" i="0" dirty="0">
                <a:solidFill>
                  <a:srgbClr val="333333"/>
                </a:solidFill>
                <a:effectLst/>
                <a:latin typeface="Open Sans" panose="020B0606030504020204" pitchFamily="34" charset="0"/>
              </a:rPr>
              <a:t> child.</a:t>
            </a:r>
          </a:p>
          <a:p>
            <a:pPr>
              <a:buFont typeface="Arial" panose="020B0604020202020204" pitchFamily="34" charset="0"/>
              <a:buChar char="•"/>
            </a:pPr>
            <a:r>
              <a:rPr lang="en-IN" b="1" i="0" dirty="0">
                <a:solidFill>
                  <a:srgbClr val="162F59"/>
                </a:solidFill>
                <a:effectLst/>
                <a:latin typeface="Open Sans" panose="020B0606030504020204" pitchFamily="34" charset="0"/>
              </a:rPr>
              <a:t>Step 6- </a:t>
            </a:r>
            <a:r>
              <a:rPr lang="en-IN" b="0" i="0" dirty="0">
                <a:solidFill>
                  <a:srgbClr val="333333"/>
                </a:solidFill>
                <a:effectLst/>
                <a:latin typeface="Open Sans" panose="020B0606030504020204" pitchFamily="34" charset="0"/>
              </a:rPr>
              <a:t>Repeat the above steps until we reach to the </a:t>
            </a:r>
            <a:r>
              <a:rPr lang="en-IN" b="1" i="0" dirty="0">
                <a:solidFill>
                  <a:srgbClr val="333333"/>
                </a:solidFill>
                <a:effectLst/>
                <a:latin typeface="Open Sans" panose="020B0606030504020204" pitchFamily="34" charset="0"/>
              </a:rPr>
              <a:t>leaf</a:t>
            </a:r>
            <a:r>
              <a:rPr lang="en-IN" b="0" i="0" dirty="0">
                <a:solidFill>
                  <a:srgbClr val="333333"/>
                </a:solidFill>
                <a:effectLst/>
                <a:latin typeface="Open Sans" panose="020B0606030504020204" pitchFamily="34" charset="0"/>
              </a:rPr>
              <a:t> node (i.e., reaches to NULL).</a:t>
            </a:r>
          </a:p>
          <a:p>
            <a:pPr>
              <a:buFont typeface="Arial" panose="020B0604020202020204" pitchFamily="34" charset="0"/>
              <a:buChar char="•"/>
            </a:pPr>
            <a:r>
              <a:rPr lang="en-IN" b="1" i="0" dirty="0">
                <a:solidFill>
                  <a:srgbClr val="162F59"/>
                </a:solidFill>
                <a:effectLst/>
                <a:latin typeface="Open Sans" panose="020B0606030504020204" pitchFamily="34" charset="0"/>
              </a:rPr>
              <a:t>Step 7 - </a:t>
            </a:r>
            <a:r>
              <a:rPr lang="en-IN" b="0" i="0" dirty="0">
                <a:solidFill>
                  <a:srgbClr val="333333"/>
                </a:solidFill>
                <a:effectLst/>
                <a:latin typeface="Open Sans" panose="020B0606030504020204" pitchFamily="34" charset="0"/>
              </a:rPr>
              <a:t>After reaching the leaf node, insert the </a:t>
            </a:r>
            <a:r>
              <a:rPr lang="en-IN" b="0"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as </a:t>
            </a:r>
            <a:r>
              <a:rPr lang="en-IN" b="1" i="0" dirty="0">
                <a:solidFill>
                  <a:srgbClr val="333333"/>
                </a:solidFill>
                <a:effectLst/>
                <a:latin typeface="Open Sans" panose="020B0606030504020204" pitchFamily="34" charset="0"/>
              </a:rPr>
              <a:t>left child</a:t>
            </a:r>
            <a:r>
              <a:rPr lang="en-IN" b="0" i="0" dirty="0">
                <a:solidFill>
                  <a:srgbClr val="333333"/>
                </a:solidFill>
                <a:effectLst/>
                <a:latin typeface="Open Sans" panose="020B0606030504020204" pitchFamily="34" charset="0"/>
              </a:rPr>
              <a:t> if the </a:t>
            </a:r>
            <a:r>
              <a:rPr lang="en-IN" b="0"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is </a:t>
            </a:r>
            <a:r>
              <a:rPr lang="en-IN" b="1" i="0" dirty="0">
                <a:solidFill>
                  <a:srgbClr val="333333"/>
                </a:solidFill>
                <a:effectLst/>
                <a:latin typeface="Open Sans" panose="020B0606030504020204" pitchFamily="34" charset="0"/>
              </a:rPr>
              <a:t>smaller or equal</a:t>
            </a:r>
            <a:r>
              <a:rPr lang="en-IN" b="0" i="0" dirty="0">
                <a:solidFill>
                  <a:srgbClr val="333333"/>
                </a:solidFill>
                <a:effectLst/>
                <a:latin typeface="Open Sans" panose="020B0606030504020204" pitchFamily="34" charset="0"/>
              </a:rPr>
              <a:t> to that leaf node or else insert it as </a:t>
            </a:r>
            <a:r>
              <a:rPr lang="en-IN" b="1" i="0" dirty="0">
                <a:solidFill>
                  <a:srgbClr val="333333"/>
                </a:solidFill>
                <a:effectLst/>
                <a:latin typeface="Open Sans" panose="020B0606030504020204" pitchFamily="34" charset="0"/>
              </a:rPr>
              <a:t>right child</a:t>
            </a:r>
            <a:r>
              <a:rPr lang="en-IN" b="0" i="0" dirty="0">
                <a:solidFill>
                  <a:srgbClr val="333333"/>
                </a:solidFill>
                <a:effectLst/>
                <a:latin typeface="Open Sans" panose="020B0606030504020204" pitchFamily="34" charset="0"/>
              </a:rPr>
              <a:t>.</a:t>
            </a:r>
          </a:p>
          <a:p>
            <a:endParaRPr lang="en-US" dirty="0"/>
          </a:p>
        </p:txBody>
      </p:sp>
    </p:spTree>
    <p:extLst>
      <p:ext uri="{BB962C8B-B14F-4D97-AF65-F5344CB8AC3E}">
        <p14:creationId xmlns:p14="http://schemas.microsoft.com/office/powerpoint/2010/main" val="2715721450"/>
      </p:ext>
    </p:extLst>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F3098-0C3C-F4DB-2CA8-0BCB9B048829}"/>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Deletion Operation in BST</a:t>
            </a:r>
            <a:endParaRPr lang="en-US" dirty="0"/>
          </a:p>
        </p:txBody>
      </p:sp>
      <p:sp>
        <p:nvSpPr>
          <p:cNvPr id="3" name="Content Placeholder 2">
            <a:extLst>
              <a:ext uri="{FF2B5EF4-FFF2-40B4-BE49-F238E27FC236}">
                <a16:creationId xmlns:a16="http://schemas.microsoft.com/office/drawing/2014/main" id="{A7791E4C-9AE1-6D84-0BCE-CF1C1E9B925C}"/>
              </a:ext>
            </a:extLst>
          </p:cNvPr>
          <p:cNvSpPr>
            <a:spLocks noGrp="1"/>
          </p:cNvSpPr>
          <p:nvPr>
            <p:ph idx="1"/>
          </p:nvPr>
        </p:nvSpPr>
        <p:spPr/>
        <p:txBody>
          <a:bodyPr/>
          <a:lstStyle/>
          <a:p>
            <a:pPr algn="just"/>
            <a:r>
              <a:rPr lang="en-IN" b="0" i="0" dirty="0">
                <a:solidFill>
                  <a:srgbClr val="333333"/>
                </a:solidFill>
                <a:effectLst/>
                <a:latin typeface="Open Sans" panose="020B0606030504020204" pitchFamily="34" charset="0"/>
              </a:rPr>
              <a:t>In a binary search tree, the deletion operation is performed with </a:t>
            </a:r>
            <a:r>
              <a:rPr lang="en-IN" b="1" i="0" dirty="0">
                <a:solidFill>
                  <a:srgbClr val="333333"/>
                </a:solidFill>
                <a:effectLst/>
                <a:latin typeface="Open Sans" panose="020B0606030504020204" pitchFamily="34" charset="0"/>
              </a:rPr>
              <a:t>O(log n)</a:t>
            </a:r>
            <a:r>
              <a:rPr lang="en-IN" b="0" i="0" dirty="0">
                <a:solidFill>
                  <a:srgbClr val="333333"/>
                </a:solidFill>
                <a:effectLst/>
                <a:latin typeface="Open Sans" panose="020B0606030504020204" pitchFamily="34" charset="0"/>
              </a:rPr>
              <a:t> time complexity. Deleting a node from Binary search tree includes following three cases...</a:t>
            </a:r>
          </a:p>
          <a:p>
            <a:pPr algn="just">
              <a:buFont typeface="Arial" panose="020B0604020202020204" pitchFamily="34" charset="0"/>
              <a:buChar char="•"/>
            </a:pPr>
            <a:r>
              <a:rPr lang="en-IN" b="1" i="0" dirty="0">
                <a:solidFill>
                  <a:srgbClr val="008000"/>
                </a:solidFill>
                <a:effectLst/>
                <a:latin typeface="Open Sans" panose="020B0606030504020204" pitchFamily="34" charset="0"/>
              </a:rPr>
              <a:t>Case 1:</a:t>
            </a:r>
            <a:r>
              <a:rPr lang="en-IN" b="1" i="0" dirty="0">
                <a:solidFill>
                  <a:srgbClr val="333333"/>
                </a:solidFill>
                <a:effectLst/>
                <a:latin typeface="Open Sans" panose="020B0606030504020204" pitchFamily="34" charset="0"/>
              </a:rPr>
              <a:t> Deleting a Leaf node (A node with no children)</a:t>
            </a:r>
          </a:p>
          <a:p>
            <a:pPr algn="just">
              <a:buFont typeface="Arial" panose="020B0604020202020204" pitchFamily="34" charset="0"/>
              <a:buChar char="•"/>
            </a:pPr>
            <a:r>
              <a:rPr lang="en-IN" b="1" i="0" dirty="0">
                <a:solidFill>
                  <a:srgbClr val="008000"/>
                </a:solidFill>
                <a:effectLst/>
                <a:latin typeface="Open Sans" panose="020B0606030504020204" pitchFamily="34" charset="0"/>
              </a:rPr>
              <a:t>Case 2:</a:t>
            </a:r>
            <a:r>
              <a:rPr lang="en-IN" b="1" i="0" dirty="0">
                <a:solidFill>
                  <a:srgbClr val="333333"/>
                </a:solidFill>
                <a:effectLst/>
                <a:latin typeface="Open Sans" panose="020B0606030504020204" pitchFamily="34" charset="0"/>
              </a:rPr>
              <a:t> Deleting a node with one child</a:t>
            </a:r>
          </a:p>
          <a:p>
            <a:pPr algn="just">
              <a:buFont typeface="Arial" panose="020B0604020202020204" pitchFamily="34" charset="0"/>
              <a:buChar char="•"/>
            </a:pPr>
            <a:r>
              <a:rPr lang="en-IN" b="1" i="0" dirty="0">
                <a:solidFill>
                  <a:srgbClr val="008000"/>
                </a:solidFill>
                <a:effectLst/>
                <a:latin typeface="Open Sans" panose="020B0606030504020204" pitchFamily="34" charset="0"/>
              </a:rPr>
              <a:t>Case 3:</a:t>
            </a:r>
            <a:r>
              <a:rPr lang="en-IN" b="1" i="0" dirty="0">
                <a:solidFill>
                  <a:srgbClr val="333333"/>
                </a:solidFill>
                <a:effectLst/>
                <a:latin typeface="Open Sans" panose="020B0606030504020204" pitchFamily="34" charset="0"/>
              </a:rPr>
              <a:t> Deleting a node with two children</a:t>
            </a:r>
          </a:p>
          <a:p>
            <a:endParaRPr lang="en-US" dirty="0"/>
          </a:p>
        </p:txBody>
      </p:sp>
    </p:spTree>
    <p:extLst>
      <p:ext uri="{BB962C8B-B14F-4D97-AF65-F5344CB8AC3E}">
        <p14:creationId xmlns:p14="http://schemas.microsoft.com/office/powerpoint/2010/main" val="2861363208"/>
      </p:ext>
    </p:extLst>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2C5B5-301D-B946-6012-8311536E7B83}"/>
              </a:ext>
            </a:extLst>
          </p:cNvPr>
          <p:cNvSpPr>
            <a:spLocks noGrp="1"/>
          </p:cNvSpPr>
          <p:nvPr>
            <p:ph type="title"/>
          </p:nvPr>
        </p:nvSpPr>
        <p:spPr/>
        <p:txBody>
          <a:bodyPr/>
          <a:lstStyle/>
          <a:p>
            <a:r>
              <a:rPr lang="en-IN" b="1" i="0" dirty="0">
                <a:solidFill>
                  <a:srgbClr val="008000"/>
                </a:solidFill>
                <a:effectLst/>
                <a:latin typeface="Open Sans" panose="020B0606030504020204" pitchFamily="34" charset="0"/>
              </a:rPr>
              <a:t>Case 1:</a:t>
            </a:r>
            <a:r>
              <a:rPr lang="en-IN" b="1" i="0" dirty="0">
                <a:solidFill>
                  <a:srgbClr val="E00D50"/>
                </a:solidFill>
                <a:effectLst/>
                <a:latin typeface="Open Sans" panose="020B0606030504020204" pitchFamily="34" charset="0"/>
              </a:rPr>
              <a:t> Deleting a leaf node</a:t>
            </a:r>
            <a:endParaRPr lang="en-US" dirty="0"/>
          </a:p>
        </p:txBody>
      </p:sp>
      <p:sp>
        <p:nvSpPr>
          <p:cNvPr id="3" name="Content Placeholder 2">
            <a:extLst>
              <a:ext uri="{FF2B5EF4-FFF2-40B4-BE49-F238E27FC236}">
                <a16:creationId xmlns:a16="http://schemas.microsoft.com/office/drawing/2014/main" id="{7AD8D265-FA21-909B-A1F0-28EBFE18EAD1}"/>
              </a:ext>
            </a:extLst>
          </p:cNvPr>
          <p:cNvSpPr>
            <a:spLocks noGrp="1"/>
          </p:cNvSpPr>
          <p:nvPr>
            <p:ph idx="1"/>
          </p:nvPr>
        </p:nvSpPr>
        <p:spPr/>
        <p:txBody>
          <a:bodyPr/>
          <a:lstStyle/>
          <a:p>
            <a:r>
              <a:rPr lang="en-IN" b="0" i="0" dirty="0">
                <a:solidFill>
                  <a:srgbClr val="333333"/>
                </a:solidFill>
                <a:effectLst/>
                <a:latin typeface="Open Sans" panose="020B0606030504020204" pitchFamily="34" charset="0"/>
              </a:rPr>
              <a:t>We use the following steps to delete a leaf node from BST...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1" i="0" dirty="0">
                <a:solidFill>
                  <a:srgbClr val="333333"/>
                </a:solidFill>
                <a:effectLst/>
                <a:latin typeface="Open Sans" panose="020B0606030504020204" pitchFamily="34" charset="0"/>
              </a:rPr>
              <a:t>Find</a:t>
            </a:r>
            <a:r>
              <a:rPr lang="en-IN" b="0" i="0" dirty="0">
                <a:solidFill>
                  <a:srgbClr val="333333"/>
                </a:solidFill>
                <a:effectLst/>
                <a:latin typeface="Open Sans" panose="020B0606030504020204" pitchFamily="34" charset="0"/>
              </a:rPr>
              <a:t> the node to be deleted using </a:t>
            </a:r>
            <a:r>
              <a:rPr lang="en-IN" b="1" i="0" dirty="0">
                <a:solidFill>
                  <a:srgbClr val="333333"/>
                </a:solidFill>
                <a:effectLst/>
                <a:latin typeface="Open Sans" panose="020B0606030504020204" pitchFamily="34" charset="0"/>
              </a:rPr>
              <a:t>search operation</a:t>
            </a:r>
            <a:endParaRPr lang="en-IN" b="0" i="0" dirty="0">
              <a:solidFill>
                <a:srgbClr val="333333"/>
              </a:solidFill>
              <a:effectLst/>
              <a:latin typeface="Open Sans" panose="020B0606030504020204" pitchFamily="34" charset="0"/>
            </a:endParaRP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Delete the node using </a:t>
            </a:r>
            <a:r>
              <a:rPr lang="en-IN" b="1" i="0" dirty="0">
                <a:solidFill>
                  <a:srgbClr val="333333"/>
                </a:solidFill>
                <a:effectLst/>
                <a:latin typeface="Open Sans" panose="020B0606030504020204" pitchFamily="34" charset="0"/>
              </a:rPr>
              <a:t>free</a:t>
            </a:r>
            <a:r>
              <a:rPr lang="en-IN" b="0" i="0" dirty="0">
                <a:solidFill>
                  <a:srgbClr val="333333"/>
                </a:solidFill>
                <a:effectLst/>
                <a:latin typeface="Open Sans" panose="020B0606030504020204" pitchFamily="34" charset="0"/>
              </a:rPr>
              <a:t> function (If it is a leaf) and terminate the function.</a:t>
            </a:r>
          </a:p>
          <a:p>
            <a:endParaRPr lang="en-US" dirty="0"/>
          </a:p>
        </p:txBody>
      </p:sp>
    </p:spTree>
    <p:extLst>
      <p:ext uri="{BB962C8B-B14F-4D97-AF65-F5344CB8AC3E}">
        <p14:creationId xmlns:p14="http://schemas.microsoft.com/office/powerpoint/2010/main" val="2576477951"/>
      </p:ext>
    </p:extLst>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D762F-0F52-7FB6-EA7F-432AE7BEE311}"/>
              </a:ext>
            </a:extLst>
          </p:cNvPr>
          <p:cNvSpPr>
            <a:spLocks noGrp="1"/>
          </p:cNvSpPr>
          <p:nvPr>
            <p:ph type="title"/>
          </p:nvPr>
        </p:nvSpPr>
        <p:spPr/>
        <p:txBody>
          <a:bodyPr>
            <a:normAutofit/>
          </a:bodyPr>
          <a:lstStyle/>
          <a:p>
            <a:r>
              <a:rPr lang="en-IN" b="1" i="0" dirty="0">
                <a:solidFill>
                  <a:srgbClr val="008000"/>
                </a:solidFill>
                <a:effectLst/>
                <a:latin typeface="Open Sans" panose="020B0606030504020204" pitchFamily="34" charset="0"/>
              </a:rPr>
              <a:t>Case 2:</a:t>
            </a:r>
            <a:r>
              <a:rPr lang="en-IN" b="1" i="0" dirty="0">
                <a:solidFill>
                  <a:srgbClr val="E00D50"/>
                </a:solidFill>
                <a:effectLst/>
                <a:latin typeface="Open Sans" panose="020B0606030504020204" pitchFamily="34" charset="0"/>
              </a:rPr>
              <a:t> Deleting a node with one child</a:t>
            </a:r>
            <a:endParaRPr lang="en-US" dirty="0"/>
          </a:p>
        </p:txBody>
      </p:sp>
      <p:sp>
        <p:nvSpPr>
          <p:cNvPr id="3" name="Content Placeholder 2">
            <a:extLst>
              <a:ext uri="{FF2B5EF4-FFF2-40B4-BE49-F238E27FC236}">
                <a16:creationId xmlns:a16="http://schemas.microsoft.com/office/drawing/2014/main" id="{7883D3D6-6DA7-A206-D93F-E373F72655C4}"/>
              </a:ext>
            </a:extLst>
          </p:cNvPr>
          <p:cNvSpPr>
            <a:spLocks noGrp="1"/>
          </p:cNvSpPr>
          <p:nvPr>
            <p:ph idx="1"/>
          </p:nvPr>
        </p:nvSpPr>
        <p:spPr/>
        <p:txBody>
          <a:bodyPr/>
          <a:lstStyle/>
          <a:p>
            <a:r>
              <a:rPr lang="en-IN" b="0" i="0" dirty="0">
                <a:solidFill>
                  <a:srgbClr val="333333"/>
                </a:solidFill>
                <a:effectLst/>
                <a:latin typeface="Open Sans" panose="020B0606030504020204" pitchFamily="34" charset="0"/>
              </a:rPr>
              <a:t>We use the following steps to delete a node with one child from BST...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1" i="0" dirty="0">
                <a:solidFill>
                  <a:srgbClr val="333333"/>
                </a:solidFill>
                <a:effectLst/>
                <a:latin typeface="Open Sans" panose="020B0606030504020204" pitchFamily="34" charset="0"/>
              </a:rPr>
              <a:t>Find</a:t>
            </a:r>
            <a:r>
              <a:rPr lang="en-IN" b="0" i="0" dirty="0">
                <a:solidFill>
                  <a:srgbClr val="333333"/>
                </a:solidFill>
                <a:effectLst/>
                <a:latin typeface="Open Sans" panose="020B0606030504020204" pitchFamily="34" charset="0"/>
              </a:rPr>
              <a:t> the node to be deleted using </a:t>
            </a:r>
            <a:r>
              <a:rPr lang="en-IN" b="1" i="0" dirty="0">
                <a:solidFill>
                  <a:srgbClr val="333333"/>
                </a:solidFill>
                <a:effectLst/>
                <a:latin typeface="Open Sans" panose="020B0606030504020204" pitchFamily="34" charset="0"/>
              </a:rPr>
              <a:t>search operation</a:t>
            </a:r>
            <a:endParaRPr lang="en-IN" b="0" i="0" dirty="0">
              <a:solidFill>
                <a:srgbClr val="333333"/>
              </a:solidFill>
              <a:effectLst/>
              <a:latin typeface="Open Sans" panose="020B0606030504020204" pitchFamily="34" charset="0"/>
            </a:endParaRP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has only one child then create a link between its parent node and child node.</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Delete the node using </a:t>
            </a:r>
            <a:r>
              <a:rPr lang="en-IN" b="1" i="0" dirty="0">
                <a:solidFill>
                  <a:srgbClr val="333333"/>
                </a:solidFill>
                <a:effectLst/>
                <a:latin typeface="Open Sans" panose="020B0606030504020204" pitchFamily="34" charset="0"/>
              </a:rPr>
              <a:t>free</a:t>
            </a:r>
            <a:r>
              <a:rPr lang="en-IN" b="0" i="0" dirty="0">
                <a:solidFill>
                  <a:srgbClr val="333333"/>
                </a:solidFill>
                <a:effectLst/>
                <a:latin typeface="Open Sans" panose="020B0606030504020204" pitchFamily="34" charset="0"/>
              </a:rPr>
              <a:t> function and terminate the function.</a:t>
            </a:r>
          </a:p>
          <a:p>
            <a:endParaRPr lang="en-US" dirty="0"/>
          </a:p>
        </p:txBody>
      </p:sp>
    </p:spTree>
    <p:extLst>
      <p:ext uri="{BB962C8B-B14F-4D97-AF65-F5344CB8AC3E}">
        <p14:creationId xmlns:p14="http://schemas.microsoft.com/office/powerpoint/2010/main" val="4091409326"/>
      </p:ext>
    </p:extLst>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299F2-DB17-BDF3-A024-DB0B255F2009}"/>
              </a:ext>
            </a:extLst>
          </p:cNvPr>
          <p:cNvSpPr>
            <a:spLocks noGrp="1"/>
          </p:cNvSpPr>
          <p:nvPr>
            <p:ph type="title"/>
          </p:nvPr>
        </p:nvSpPr>
        <p:spPr/>
        <p:txBody>
          <a:bodyPr>
            <a:normAutofit/>
          </a:bodyPr>
          <a:lstStyle/>
          <a:p>
            <a:r>
              <a:rPr lang="en-IN" b="1" i="0" dirty="0">
                <a:solidFill>
                  <a:srgbClr val="008000"/>
                </a:solidFill>
                <a:effectLst/>
                <a:latin typeface="Open Sans" panose="020B0606030504020204" pitchFamily="34" charset="0"/>
              </a:rPr>
              <a:t>Case 3:</a:t>
            </a:r>
            <a:r>
              <a:rPr lang="en-IN" b="1" i="0" dirty="0">
                <a:solidFill>
                  <a:srgbClr val="E00D50"/>
                </a:solidFill>
                <a:effectLst/>
                <a:latin typeface="Open Sans" panose="020B0606030504020204" pitchFamily="34" charset="0"/>
              </a:rPr>
              <a:t> Deleting a node with two children</a:t>
            </a:r>
            <a:endParaRPr lang="en-US" dirty="0"/>
          </a:p>
        </p:txBody>
      </p:sp>
      <p:sp>
        <p:nvSpPr>
          <p:cNvPr id="3" name="Content Placeholder 2">
            <a:extLst>
              <a:ext uri="{FF2B5EF4-FFF2-40B4-BE49-F238E27FC236}">
                <a16:creationId xmlns:a16="http://schemas.microsoft.com/office/drawing/2014/main" id="{C719A893-E9E5-D23B-BC7F-FC535D72FFA9}"/>
              </a:ext>
            </a:extLst>
          </p:cNvPr>
          <p:cNvSpPr>
            <a:spLocks noGrp="1"/>
          </p:cNvSpPr>
          <p:nvPr>
            <p:ph idx="1"/>
          </p:nvPr>
        </p:nvSpPr>
        <p:spPr/>
        <p:txBody>
          <a:bodyPr>
            <a:normAutofit fontScale="85000" lnSpcReduction="20000"/>
          </a:bodyPr>
          <a:lstStyle/>
          <a:p>
            <a:r>
              <a:rPr lang="en-IN" b="0" i="0" dirty="0">
                <a:solidFill>
                  <a:srgbClr val="333333"/>
                </a:solidFill>
                <a:effectLst/>
                <a:latin typeface="Open Sans" panose="020B0606030504020204" pitchFamily="34" charset="0"/>
              </a:rPr>
              <a:t>We use the following steps to delete a node with two children from BST...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1" i="0" dirty="0">
                <a:solidFill>
                  <a:srgbClr val="333333"/>
                </a:solidFill>
                <a:effectLst/>
                <a:latin typeface="Open Sans" panose="020B0606030504020204" pitchFamily="34" charset="0"/>
              </a:rPr>
              <a:t>Find</a:t>
            </a:r>
            <a:r>
              <a:rPr lang="en-IN" b="0" i="0" dirty="0">
                <a:solidFill>
                  <a:srgbClr val="333333"/>
                </a:solidFill>
                <a:effectLst/>
                <a:latin typeface="Open Sans" panose="020B0606030504020204" pitchFamily="34" charset="0"/>
              </a:rPr>
              <a:t> the node to be deleted using </a:t>
            </a:r>
            <a:r>
              <a:rPr lang="en-IN" b="1" i="0" dirty="0">
                <a:solidFill>
                  <a:srgbClr val="333333"/>
                </a:solidFill>
                <a:effectLst/>
                <a:latin typeface="Open Sans" panose="020B0606030504020204" pitchFamily="34" charset="0"/>
              </a:rPr>
              <a:t>search operation</a:t>
            </a:r>
            <a:endParaRPr lang="en-IN" b="0" i="0" dirty="0">
              <a:solidFill>
                <a:srgbClr val="333333"/>
              </a:solidFill>
              <a:effectLst/>
              <a:latin typeface="Open Sans" panose="020B0606030504020204" pitchFamily="34" charset="0"/>
            </a:endParaRP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has two children, then find the </a:t>
            </a:r>
            <a:r>
              <a:rPr lang="en-IN" b="1" i="0" dirty="0">
                <a:solidFill>
                  <a:srgbClr val="333333"/>
                </a:solidFill>
                <a:effectLst/>
                <a:latin typeface="Open Sans" panose="020B0606030504020204" pitchFamily="34" charset="0"/>
              </a:rPr>
              <a:t>largest</a:t>
            </a:r>
            <a:r>
              <a:rPr lang="en-IN" b="0" i="0" dirty="0">
                <a:solidFill>
                  <a:srgbClr val="333333"/>
                </a:solidFill>
                <a:effectLst/>
                <a:latin typeface="Open Sans" panose="020B0606030504020204" pitchFamily="34" charset="0"/>
              </a:rPr>
              <a:t> node in its </a:t>
            </a:r>
            <a:r>
              <a:rPr lang="en-IN" b="1" i="0" dirty="0">
                <a:solidFill>
                  <a:srgbClr val="333333"/>
                </a:solidFill>
                <a:effectLst/>
                <a:latin typeface="Open Sans" panose="020B0606030504020204" pitchFamily="34" charset="0"/>
              </a:rPr>
              <a:t>left subtree</a:t>
            </a:r>
            <a:r>
              <a:rPr lang="en-IN" b="0" i="0" dirty="0">
                <a:solidFill>
                  <a:srgbClr val="333333"/>
                </a:solidFill>
                <a:effectLst/>
                <a:latin typeface="Open Sans" panose="020B0606030504020204" pitchFamily="34" charset="0"/>
              </a:rPr>
              <a:t> (OR) the </a:t>
            </a:r>
            <a:r>
              <a:rPr lang="en-IN" b="1" i="0" dirty="0">
                <a:solidFill>
                  <a:srgbClr val="333333"/>
                </a:solidFill>
                <a:effectLst/>
                <a:latin typeface="Open Sans" panose="020B0606030504020204" pitchFamily="34" charset="0"/>
              </a:rPr>
              <a:t>smallest</a:t>
            </a:r>
            <a:r>
              <a:rPr lang="en-IN" b="0" i="0" dirty="0">
                <a:solidFill>
                  <a:srgbClr val="333333"/>
                </a:solidFill>
                <a:effectLst/>
                <a:latin typeface="Open Sans" panose="020B0606030504020204" pitchFamily="34" charset="0"/>
              </a:rPr>
              <a:t> node in its </a:t>
            </a:r>
            <a:r>
              <a:rPr lang="en-IN" b="1" i="0" dirty="0">
                <a:solidFill>
                  <a:srgbClr val="333333"/>
                </a:solidFill>
                <a:effectLst/>
                <a:latin typeface="Open Sans" panose="020B0606030504020204" pitchFamily="34" charset="0"/>
              </a:rPr>
              <a:t>right subtree</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1" i="0" dirty="0">
                <a:solidFill>
                  <a:srgbClr val="333333"/>
                </a:solidFill>
                <a:effectLst/>
                <a:latin typeface="Open Sans" panose="020B0606030504020204" pitchFamily="34" charset="0"/>
              </a:rPr>
              <a:t>Swap</a:t>
            </a:r>
            <a:r>
              <a:rPr lang="en-IN" b="0" i="0" dirty="0">
                <a:solidFill>
                  <a:srgbClr val="333333"/>
                </a:solidFill>
                <a:effectLst/>
                <a:latin typeface="Open Sans" panose="020B0606030504020204" pitchFamily="34" charset="0"/>
              </a:rPr>
              <a:t> both </a:t>
            </a:r>
            <a:r>
              <a:rPr lang="en-IN" b="1" i="0" dirty="0">
                <a:solidFill>
                  <a:srgbClr val="333333"/>
                </a:solidFill>
                <a:effectLst/>
                <a:latin typeface="Open Sans" panose="020B0606030504020204" pitchFamily="34" charset="0"/>
              </a:rPr>
              <a:t>deleting node</a:t>
            </a:r>
            <a:r>
              <a:rPr lang="en-IN" b="0" i="0" dirty="0">
                <a:solidFill>
                  <a:srgbClr val="333333"/>
                </a:solidFill>
                <a:effectLst/>
                <a:latin typeface="Open Sans" panose="020B0606030504020204" pitchFamily="34" charset="0"/>
              </a:rPr>
              <a:t> and node which is found in the above step.</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Then check whether deleting node came to </a:t>
            </a:r>
            <a:r>
              <a:rPr lang="en-IN" b="1" i="0" dirty="0">
                <a:solidFill>
                  <a:srgbClr val="333333"/>
                </a:solidFill>
                <a:effectLst/>
                <a:latin typeface="Open Sans" panose="020B0606030504020204" pitchFamily="34" charset="0"/>
              </a:rPr>
              <a:t>case 1</a:t>
            </a:r>
            <a:r>
              <a:rPr lang="en-IN" b="0" i="0" dirty="0">
                <a:solidFill>
                  <a:srgbClr val="333333"/>
                </a:solidFill>
                <a:effectLst/>
                <a:latin typeface="Open Sans" panose="020B0606030504020204" pitchFamily="34" charset="0"/>
              </a:rPr>
              <a:t> or </a:t>
            </a:r>
            <a:r>
              <a:rPr lang="en-IN" b="1" i="0" dirty="0">
                <a:solidFill>
                  <a:srgbClr val="333333"/>
                </a:solidFill>
                <a:effectLst/>
                <a:latin typeface="Open Sans" panose="020B0606030504020204" pitchFamily="34" charset="0"/>
              </a:rPr>
              <a:t>case 2</a:t>
            </a:r>
            <a:r>
              <a:rPr lang="en-IN" b="0" i="0" dirty="0">
                <a:solidFill>
                  <a:srgbClr val="333333"/>
                </a:solidFill>
                <a:effectLst/>
                <a:latin typeface="Open Sans" panose="020B0606030504020204" pitchFamily="34" charset="0"/>
              </a:rPr>
              <a:t> or else </a:t>
            </a:r>
            <a:r>
              <a:rPr lang="en-IN" b="0" i="0" dirty="0" err="1">
                <a:solidFill>
                  <a:srgbClr val="333333"/>
                </a:solidFill>
                <a:effectLst/>
                <a:latin typeface="Open Sans" panose="020B0606030504020204" pitchFamily="34" charset="0"/>
              </a:rPr>
              <a:t>goto</a:t>
            </a:r>
            <a:r>
              <a:rPr lang="en-IN" b="0" i="0" dirty="0">
                <a:solidFill>
                  <a:srgbClr val="333333"/>
                </a:solidFill>
                <a:effectLst/>
                <a:latin typeface="Open Sans" panose="020B0606030504020204" pitchFamily="34" charset="0"/>
              </a:rPr>
              <a:t> step 2</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If it comes to </a:t>
            </a:r>
            <a:r>
              <a:rPr lang="en-IN" b="1" i="0" dirty="0">
                <a:solidFill>
                  <a:srgbClr val="333333"/>
                </a:solidFill>
                <a:effectLst/>
                <a:latin typeface="Open Sans" panose="020B0606030504020204" pitchFamily="34" charset="0"/>
              </a:rPr>
              <a:t>case 1</a:t>
            </a:r>
            <a:r>
              <a:rPr lang="en-IN" b="0" i="0" dirty="0">
                <a:solidFill>
                  <a:srgbClr val="333333"/>
                </a:solidFill>
                <a:effectLst/>
                <a:latin typeface="Open Sans" panose="020B0606030504020204" pitchFamily="34" charset="0"/>
              </a:rPr>
              <a:t>, then delete using case 1 logic.</a:t>
            </a:r>
          </a:p>
          <a:p>
            <a:pPr>
              <a:buFont typeface="Arial" panose="020B0604020202020204" pitchFamily="34" charset="0"/>
              <a:buChar char="•"/>
            </a:pPr>
            <a:r>
              <a:rPr lang="en-IN" b="1" i="0" dirty="0">
                <a:solidFill>
                  <a:srgbClr val="162F59"/>
                </a:solidFill>
                <a:effectLst/>
                <a:latin typeface="Open Sans" panose="020B0606030504020204" pitchFamily="34" charset="0"/>
              </a:rPr>
              <a:t>Step 6- </a:t>
            </a:r>
            <a:r>
              <a:rPr lang="en-IN" b="0" i="0" dirty="0">
                <a:solidFill>
                  <a:srgbClr val="333333"/>
                </a:solidFill>
                <a:effectLst/>
                <a:latin typeface="Open Sans" panose="020B0606030504020204" pitchFamily="34" charset="0"/>
              </a:rPr>
              <a:t>If it comes to </a:t>
            </a:r>
            <a:r>
              <a:rPr lang="en-IN" b="1" i="0" dirty="0">
                <a:solidFill>
                  <a:srgbClr val="333333"/>
                </a:solidFill>
                <a:effectLst/>
                <a:latin typeface="Open Sans" panose="020B0606030504020204" pitchFamily="34" charset="0"/>
              </a:rPr>
              <a:t>case 2</a:t>
            </a:r>
            <a:r>
              <a:rPr lang="en-IN" b="0" i="0" dirty="0">
                <a:solidFill>
                  <a:srgbClr val="333333"/>
                </a:solidFill>
                <a:effectLst/>
                <a:latin typeface="Open Sans" panose="020B0606030504020204" pitchFamily="34" charset="0"/>
              </a:rPr>
              <a:t>, then delete using case 2 logic.</a:t>
            </a:r>
          </a:p>
          <a:p>
            <a:pPr>
              <a:buFont typeface="Arial" panose="020B0604020202020204" pitchFamily="34" charset="0"/>
              <a:buChar char="•"/>
            </a:pPr>
            <a:r>
              <a:rPr lang="en-IN" b="1" i="0" dirty="0">
                <a:solidFill>
                  <a:srgbClr val="162F59"/>
                </a:solidFill>
                <a:effectLst/>
                <a:latin typeface="Open Sans" panose="020B0606030504020204" pitchFamily="34" charset="0"/>
              </a:rPr>
              <a:t>Step 7 - </a:t>
            </a:r>
            <a:r>
              <a:rPr lang="en-IN" b="0" i="0" dirty="0">
                <a:solidFill>
                  <a:srgbClr val="333333"/>
                </a:solidFill>
                <a:effectLst/>
                <a:latin typeface="Open Sans" panose="020B0606030504020204" pitchFamily="34" charset="0"/>
              </a:rPr>
              <a:t>Repeat the same process until the node is deleted from the tree.</a:t>
            </a:r>
          </a:p>
          <a:p>
            <a:endParaRPr lang="en-US" dirty="0"/>
          </a:p>
        </p:txBody>
      </p:sp>
    </p:spTree>
    <p:extLst>
      <p:ext uri="{BB962C8B-B14F-4D97-AF65-F5344CB8AC3E}">
        <p14:creationId xmlns:p14="http://schemas.microsoft.com/office/powerpoint/2010/main" val="1566734782"/>
      </p:ext>
    </p:extLst>
  </p:cSld>
  <p:clrMapOvr>
    <a:masterClrMapping/>
  </p:clrMapOvr>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C80CF-ED7A-FF43-6A92-98A737F05EA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D8B9058-9597-359B-ACD6-DF6BCF9FDAFB}"/>
              </a:ext>
            </a:extLst>
          </p:cNvPr>
          <p:cNvSpPr>
            <a:spLocks noGrp="1"/>
          </p:cNvSpPr>
          <p:nvPr>
            <p:ph idx="1"/>
          </p:nvPr>
        </p:nvSpPr>
        <p:spPr/>
        <p:txBody>
          <a:bodyPr/>
          <a:lstStyle/>
          <a:p>
            <a:endParaRPr lang="en-US"/>
          </a:p>
        </p:txBody>
      </p:sp>
      <p:pic>
        <p:nvPicPr>
          <p:cNvPr id="62466" name="Picture 2" descr="binary search tree construction">
            <a:extLst>
              <a:ext uri="{FF2B5EF4-FFF2-40B4-BE49-F238E27FC236}">
                <a16:creationId xmlns:a16="http://schemas.microsoft.com/office/drawing/2014/main" id="{A9748209-865F-F170-DCC4-F5C17B2B0D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5950" y="0"/>
            <a:ext cx="587851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9263721"/>
      </p:ext>
    </p:extLst>
  </p:cSld>
  <p:clrMapOvr>
    <a:masterClrMapping/>
  </p:clrMapOvr>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A0358-B63E-08AA-29B7-580DFC42867F}"/>
              </a:ext>
            </a:extLst>
          </p:cNvPr>
          <p:cNvSpPr>
            <a:spLocks noGrp="1"/>
          </p:cNvSpPr>
          <p:nvPr>
            <p:ph type="title"/>
          </p:nvPr>
        </p:nvSpPr>
        <p:spPr/>
        <p:txBody>
          <a:bodyPr>
            <a:normAutofit/>
          </a:bodyPr>
          <a:lstStyle/>
          <a:p>
            <a:r>
              <a:rPr lang="en-IN" b="1" i="0" dirty="0">
                <a:solidFill>
                  <a:srgbClr val="333333"/>
                </a:solidFill>
                <a:effectLst/>
                <a:latin typeface="Comfortaa"/>
              </a:rPr>
              <a:t>AVL Tree </a:t>
            </a:r>
            <a:r>
              <a:rPr lang="en-IN" b="1" i="0" dirty="0" err="1">
                <a:solidFill>
                  <a:srgbClr val="333333"/>
                </a:solidFill>
                <a:effectLst/>
                <a:latin typeface="Comfortaa"/>
              </a:rPr>
              <a:t>Datastructure</a:t>
            </a:r>
            <a:endParaRPr lang="en-US" dirty="0"/>
          </a:p>
        </p:txBody>
      </p:sp>
      <p:sp>
        <p:nvSpPr>
          <p:cNvPr id="3" name="Content Placeholder 2">
            <a:extLst>
              <a:ext uri="{FF2B5EF4-FFF2-40B4-BE49-F238E27FC236}">
                <a16:creationId xmlns:a16="http://schemas.microsoft.com/office/drawing/2014/main" id="{B22359B2-CE6B-0EA7-4C28-157761196A15}"/>
              </a:ext>
            </a:extLst>
          </p:cNvPr>
          <p:cNvSpPr>
            <a:spLocks noGrp="1"/>
          </p:cNvSpPr>
          <p:nvPr>
            <p:ph idx="1"/>
          </p:nvPr>
        </p:nvSpPr>
        <p:spPr/>
        <p:txBody>
          <a:bodyPr>
            <a:normAutofit/>
          </a:bodyPr>
          <a:lstStyle/>
          <a:p>
            <a:r>
              <a:rPr lang="en-IN" sz="2400" b="1" i="0" dirty="0">
                <a:solidFill>
                  <a:srgbClr val="333333"/>
                </a:solidFill>
                <a:effectLst/>
                <a:latin typeface="Open Sans" panose="020B0606030504020204" pitchFamily="34" charset="0"/>
              </a:rPr>
              <a:t>An AVL tree is a balanced binary search tree. In an AVL tree, balance factor of every node is either -1, 0 or +1.</a:t>
            </a:r>
          </a:p>
          <a:p>
            <a:pPr marL="0" indent="0" algn="ctr">
              <a:buNone/>
            </a:pPr>
            <a:r>
              <a:rPr lang="en-IN" sz="2400" b="1" i="0" dirty="0">
                <a:solidFill>
                  <a:srgbClr val="333333"/>
                </a:solidFill>
                <a:effectLst/>
                <a:latin typeface="Open Sans" panose="020B0606030504020204" pitchFamily="34" charset="0"/>
              </a:rPr>
              <a:t>Balance factor = </a:t>
            </a:r>
            <a:r>
              <a:rPr lang="en-IN" sz="2400" b="1" i="0" dirty="0" err="1">
                <a:solidFill>
                  <a:srgbClr val="333333"/>
                </a:solidFill>
                <a:effectLst/>
                <a:latin typeface="Open Sans" panose="020B0606030504020204" pitchFamily="34" charset="0"/>
              </a:rPr>
              <a:t>heightOfLeftSubtree</a:t>
            </a:r>
            <a:r>
              <a:rPr lang="en-IN" sz="2400" b="1" i="0" dirty="0">
                <a:solidFill>
                  <a:srgbClr val="333333"/>
                </a:solidFill>
                <a:effectLst/>
                <a:latin typeface="Open Sans" panose="020B0606030504020204" pitchFamily="34" charset="0"/>
              </a:rPr>
              <a:t> - </a:t>
            </a:r>
            <a:r>
              <a:rPr lang="en-IN" sz="2400" b="1" i="0" dirty="0" err="1">
                <a:solidFill>
                  <a:srgbClr val="333333"/>
                </a:solidFill>
                <a:effectLst/>
                <a:latin typeface="Open Sans" panose="020B0606030504020204" pitchFamily="34" charset="0"/>
              </a:rPr>
              <a:t>heightOfRightSubtree</a:t>
            </a:r>
            <a:endParaRPr lang="en-IN" sz="2400" b="1" i="0" dirty="0">
              <a:solidFill>
                <a:srgbClr val="333333"/>
              </a:solidFill>
              <a:effectLst/>
              <a:latin typeface="Open Sans" panose="020B0606030504020204" pitchFamily="34" charset="0"/>
            </a:endParaRPr>
          </a:p>
          <a:p>
            <a:endParaRPr lang="en-IN" sz="2400" dirty="0"/>
          </a:p>
          <a:p>
            <a:pPr algn="just"/>
            <a:r>
              <a:rPr lang="en-IN" sz="1600" b="1" dirty="0">
                <a:effectLst/>
                <a:latin typeface="Open Sans" panose="020B0606030504020204" pitchFamily="34" charset="0"/>
              </a:rPr>
              <a:t>Every AVL Tree is a binary search tree but </a:t>
            </a:r>
          </a:p>
          <a:p>
            <a:pPr marL="0" indent="0" algn="just">
              <a:buNone/>
            </a:pPr>
            <a:r>
              <a:rPr lang="en-IN" sz="1600" b="1" dirty="0">
                <a:effectLst/>
                <a:latin typeface="Open Sans" panose="020B0606030504020204" pitchFamily="34" charset="0"/>
              </a:rPr>
              <a:t>every Binary Search Tree need not be AVL tree.</a:t>
            </a:r>
            <a:endParaRPr lang="en-IN" sz="1600" b="0" i="0" dirty="0">
              <a:solidFill>
                <a:srgbClr val="333333"/>
              </a:solidFill>
              <a:effectLst/>
              <a:latin typeface="Open Sans" panose="020B0606030504020204" pitchFamily="34" charset="0"/>
            </a:endParaRPr>
          </a:p>
          <a:p>
            <a:br>
              <a:rPr lang="en-IN" sz="1600" dirty="0"/>
            </a:br>
            <a:br>
              <a:rPr lang="en-IN" sz="2400" dirty="0"/>
            </a:br>
            <a:br>
              <a:rPr lang="en-IN" sz="2400" dirty="0"/>
            </a:br>
            <a:endParaRPr lang="en-US" sz="2400" dirty="0"/>
          </a:p>
        </p:txBody>
      </p:sp>
      <p:pic>
        <p:nvPicPr>
          <p:cNvPr id="63490" name="Picture 2">
            <a:extLst>
              <a:ext uri="{FF2B5EF4-FFF2-40B4-BE49-F238E27FC236}">
                <a16:creationId xmlns:a16="http://schemas.microsoft.com/office/drawing/2014/main" id="{5F6F0315-265D-B14D-4616-41B48820C5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7750" y="3132646"/>
            <a:ext cx="8477248" cy="37253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9707174"/>
      </p:ext>
    </p:extLst>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02D56-C7FE-37A5-C8E6-876B5CDE3D39}"/>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AVL Tree Rotations</a:t>
            </a:r>
            <a:endParaRPr lang="en-US" dirty="0"/>
          </a:p>
        </p:txBody>
      </p:sp>
      <p:sp>
        <p:nvSpPr>
          <p:cNvPr id="3" name="Content Placeholder 2">
            <a:extLst>
              <a:ext uri="{FF2B5EF4-FFF2-40B4-BE49-F238E27FC236}">
                <a16:creationId xmlns:a16="http://schemas.microsoft.com/office/drawing/2014/main" id="{25B45013-F79B-5359-4DD6-2899F71FB0F7}"/>
              </a:ext>
            </a:extLst>
          </p:cNvPr>
          <p:cNvSpPr>
            <a:spLocks noGrp="1"/>
          </p:cNvSpPr>
          <p:nvPr>
            <p:ph idx="1"/>
          </p:nvPr>
        </p:nvSpPr>
        <p:spPr/>
        <p:txBody>
          <a:bodyPr/>
          <a:lstStyle/>
          <a:p>
            <a:r>
              <a:rPr lang="en-IN" i="0" dirty="0">
                <a:solidFill>
                  <a:srgbClr val="333333"/>
                </a:solidFill>
                <a:effectLst/>
                <a:latin typeface="Open Sans" panose="020B0606030504020204" pitchFamily="34" charset="0"/>
              </a:rPr>
              <a:t>Rotation is the process of moving nodes either to left or to right to make the tree balanced.</a:t>
            </a:r>
          </a:p>
          <a:p>
            <a:br>
              <a:rPr lang="en-IN" dirty="0"/>
            </a:br>
            <a:endParaRPr lang="en-US" dirty="0"/>
          </a:p>
        </p:txBody>
      </p:sp>
      <p:pic>
        <p:nvPicPr>
          <p:cNvPr id="64514" name="Picture 2" descr="AVL Tree Rotations">
            <a:extLst>
              <a:ext uri="{FF2B5EF4-FFF2-40B4-BE49-F238E27FC236}">
                <a16:creationId xmlns:a16="http://schemas.microsoft.com/office/drawing/2014/main" id="{86ED3D6F-6DBD-D2AE-A61B-E7155F85BE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76500"/>
            <a:ext cx="121920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0868932"/>
      </p:ext>
    </p:extLst>
  </p:cSld>
  <p:clrMapOvr>
    <a:masterClrMapping/>
  </p:clrMapOvr>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26C0F-2845-5CD7-6E3B-350ED77407E0}"/>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Single Left Rotation (LL Rotation)</a:t>
            </a:r>
            <a:endParaRPr lang="en-US" dirty="0"/>
          </a:p>
        </p:txBody>
      </p:sp>
      <p:sp>
        <p:nvSpPr>
          <p:cNvPr id="3" name="Content Placeholder 2">
            <a:extLst>
              <a:ext uri="{FF2B5EF4-FFF2-40B4-BE49-F238E27FC236}">
                <a16:creationId xmlns:a16="http://schemas.microsoft.com/office/drawing/2014/main" id="{43E9ADF5-3F2F-6238-A824-DC1D8ABA138F}"/>
              </a:ext>
            </a:extLst>
          </p:cNvPr>
          <p:cNvSpPr>
            <a:spLocks noGrp="1"/>
          </p:cNvSpPr>
          <p:nvPr>
            <p:ph idx="1"/>
          </p:nvPr>
        </p:nvSpPr>
        <p:spPr/>
        <p:txBody>
          <a:bodyPr/>
          <a:lstStyle/>
          <a:p>
            <a:endParaRPr lang="en-US"/>
          </a:p>
        </p:txBody>
      </p:sp>
      <p:pic>
        <p:nvPicPr>
          <p:cNvPr id="65538" name="Picture 2" descr="AVL Tree LL Rotation">
            <a:extLst>
              <a:ext uri="{FF2B5EF4-FFF2-40B4-BE49-F238E27FC236}">
                <a16:creationId xmlns:a16="http://schemas.microsoft.com/office/drawing/2014/main" id="{68559D14-7006-FAF9-C64A-8C49E579D4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095500"/>
            <a:ext cx="121920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8505482"/>
      </p:ext>
    </p:extLst>
  </p:cSld>
  <p:clrMapOvr>
    <a:masterClrMapping/>
  </p:clrMapOvr>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C7486-E1A5-5E7E-251F-E8756D292C9B}"/>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Single Right Rotation (RR Rotation)</a:t>
            </a:r>
            <a:endParaRPr lang="en-US" dirty="0"/>
          </a:p>
        </p:txBody>
      </p:sp>
      <p:sp>
        <p:nvSpPr>
          <p:cNvPr id="3" name="Content Placeholder 2">
            <a:extLst>
              <a:ext uri="{FF2B5EF4-FFF2-40B4-BE49-F238E27FC236}">
                <a16:creationId xmlns:a16="http://schemas.microsoft.com/office/drawing/2014/main" id="{05F9D910-9EF5-AB5C-4CD9-AB9E7D80B70E}"/>
              </a:ext>
            </a:extLst>
          </p:cNvPr>
          <p:cNvSpPr>
            <a:spLocks noGrp="1"/>
          </p:cNvSpPr>
          <p:nvPr>
            <p:ph idx="1"/>
          </p:nvPr>
        </p:nvSpPr>
        <p:spPr/>
        <p:txBody>
          <a:bodyPr/>
          <a:lstStyle/>
          <a:p>
            <a:endParaRPr lang="en-US"/>
          </a:p>
        </p:txBody>
      </p:sp>
      <p:pic>
        <p:nvPicPr>
          <p:cNvPr id="66562" name="Picture 2" descr="AVL Tree RR Rotation">
            <a:extLst>
              <a:ext uri="{FF2B5EF4-FFF2-40B4-BE49-F238E27FC236}">
                <a16:creationId xmlns:a16="http://schemas.microsoft.com/office/drawing/2014/main" id="{1D357348-A196-82AA-D0C4-39053E1C48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47863"/>
            <a:ext cx="121920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0953131"/>
      </p:ext>
    </p:extLst>
  </p:cSld>
  <p:clrMapOvr>
    <a:masterClrMapping/>
  </p:clrMapOvr>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14D51-8295-9053-4611-7772BE207747}"/>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Left Right Rotation (LR Rotation)</a:t>
            </a:r>
            <a:endParaRPr lang="en-US" dirty="0"/>
          </a:p>
        </p:txBody>
      </p:sp>
      <p:sp>
        <p:nvSpPr>
          <p:cNvPr id="3" name="Content Placeholder 2">
            <a:extLst>
              <a:ext uri="{FF2B5EF4-FFF2-40B4-BE49-F238E27FC236}">
                <a16:creationId xmlns:a16="http://schemas.microsoft.com/office/drawing/2014/main" id="{EFF2F7A6-549E-5C1C-A547-57E6347CCA83}"/>
              </a:ext>
            </a:extLst>
          </p:cNvPr>
          <p:cNvSpPr>
            <a:spLocks noGrp="1"/>
          </p:cNvSpPr>
          <p:nvPr>
            <p:ph idx="1"/>
          </p:nvPr>
        </p:nvSpPr>
        <p:spPr/>
        <p:txBody>
          <a:bodyPr/>
          <a:lstStyle/>
          <a:p>
            <a:endParaRPr lang="en-US"/>
          </a:p>
        </p:txBody>
      </p:sp>
      <p:pic>
        <p:nvPicPr>
          <p:cNvPr id="67586" name="Picture 2" descr="AVL Tree LR Rotation">
            <a:extLst>
              <a:ext uri="{FF2B5EF4-FFF2-40B4-BE49-F238E27FC236}">
                <a16:creationId xmlns:a16="http://schemas.microsoft.com/office/drawing/2014/main" id="{06CCC94D-B26E-E6A8-202E-5C57928093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095500"/>
            <a:ext cx="121920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4134205"/>
      </p:ext>
    </p:extLst>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2BA16-2A9B-4364-B11A-260A06D87CD1}"/>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Right Left Rotation (RL Rotation)</a:t>
            </a:r>
            <a:endParaRPr lang="en-US" dirty="0"/>
          </a:p>
        </p:txBody>
      </p:sp>
      <p:sp>
        <p:nvSpPr>
          <p:cNvPr id="3" name="Content Placeholder 2">
            <a:extLst>
              <a:ext uri="{FF2B5EF4-FFF2-40B4-BE49-F238E27FC236}">
                <a16:creationId xmlns:a16="http://schemas.microsoft.com/office/drawing/2014/main" id="{78776FEB-C4A8-8600-5CBA-F830D3E17900}"/>
              </a:ext>
            </a:extLst>
          </p:cNvPr>
          <p:cNvSpPr>
            <a:spLocks noGrp="1"/>
          </p:cNvSpPr>
          <p:nvPr>
            <p:ph idx="1"/>
          </p:nvPr>
        </p:nvSpPr>
        <p:spPr/>
        <p:txBody>
          <a:bodyPr/>
          <a:lstStyle/>
          <a:p>
            <a:endParaRPr lang="en-US"/>
          </a:p>
        </p:txBody>
      </p:sp>
      <p:pic>
        <p:nvPicPr>
          <p:cNvPr id="68610" name="Picture 2" descr="AVL Tree RL Rotation">
            <a:extLst>
              <a:ext uri="{FF2B5EF4-FFF2-40B4-BE49-F238E27FC236}">
                <a16:creationId xmlns:a16="http://schemas.microsoft.com/office/drawing/2014/main" id="{F3A62A9C-D964-0DA4-BC99-BB98A429D6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095500"/>
            <a:ext cx="121920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9835951"/>
      </p:ext>
    </p:extLst>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99294-5CC8-C004-DE62-FB3D2CE7C0A1}"/>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Operations on an AVL Tree</a:t>
            </a:r>
            <a:endParaRPr lang="en-US" dirty="0"/>
          </a:p>
        </p:txBody>
      </p:sp>
      <p:sp>
        <p:nvSpPr>
          <p:cNvPr id="3" name="Content Placeholder 2">
            <a:extLst>
              <a:ext uri="{FF2B5EF4-FFF2-40B4-BE49-F238E27FC236}">
                <a16:creationId xmlns:a16="http://schemas.microsoft.com/office/drawing/2014/main" id="{662C7CE5-8541-97DA-47E0-042EFEFA78A8}"/>
              </a:ext>
            </a:extLst>
          </p:cNvPr>
          <p:cNvSpPr>
            <a:spLocks noGrp="1"/>
          </p:cNvSpPr>
          <p:nvPr>
            <p:ph idx="1"/>
          </p:nvPr>
        </p:nvSpPr>
        <p:spPr/>
        <p:txBody>
          <a:bodyPr/>
          <a:lstStyle/>
          <a:p>
            <a:pPr algn="just"/>
            <a:r>
              <a:rPr lang="en-IN" b="0" i="0" dirty="0">
                <a:solidFill>
                  <a:srgbClr val="333333"/>
                </a:solidFill>
                <a:effectLst/>
                <a:latin typeface="Open Sans" panose="020B0606030504020204" pitchFamily="34" charset="0"/>
              </a:rPr>
              <a:t>The following operations are performed on AVL tree...</a:t>
            </a:r>
          </a:p>
          <a:p>
            <a:pPr algn="just">
              <a:buFont typeface="+mj-lt"/>
              <a:buAutoNum type="arabicPeriod"/>
            </a:pPr>
            <a:r>
              <a:rPr lang="en-IN" b="1" i="0" dirty="0">
                <a:solidFill>
                  <a:srgbClr val="333333"/>
                </a:solidFill>
                <a:effectLst/>
                <a:latin typeface="Open Sans" panose="020B0606030504020204" pitchFamily="34" charset="0"/>
              </a:rPr>
              <a:t>Search</a:t>
            </a:r>
          </a:p>
          <a:p>
            <a:pPr algn="just">
              <a:buFont typeface="+mj-lt"/>
              <a:buAutoNum type="arabicPeriod"/>
            </a:pPr>
            <a:r>
              <a:rPr lang="en-IN" b="1" i="0" dirty="0">
                <a:solidFill>
                  <a:srgbClr val="333333"/>
                </a:solidFill>
                <a:effectLst/>
                <a:latin typeface="Open Sans" panose="020B0606030504020204" pitchFamily="34" charset="0"/>
              </a:rPr>
              <a:t>Insertion</a:t>
            </a:r>
          </a:p>
          <a:p>
            <a:pPr algn="just">
              <a:buFont typeface="+mj-lt"/>
              <a:buAutoNum type="arabicPeriod"/>
            </a:pPr>
            <a:r>
              <a:rPr lang="en-IN" b="1" i="0" dirty="0">
                <a:solidFill>
                  <a:srgbClr val="333333"/>
                </a:solidFill>
                <a:effectLst/>
                <a:latin typeface="Open Sans" panose="020B0606030504020204" pitchFamily="34" charset="0"/>
              </a:rPr>
              <a:t>Deletion</a:t>
            </a:r>
          </a:p>
          <a:p>
            <a:endParaRPr lang="en-US" dirty="0"/>
          </a:p>
        </p:txBody>
      </p:sp>
    </p:spTree>
    <p:extLst>
      <p:ext uri="{BB962C8B-B14F-4D97-AF65-F5344CB8AC3E}">
        <p14:creationId xmlns:p14="http://schemas.microsoft.com/office/powerpoint/2010/main" val="1398689604"/>
      </p:ext>
    </p:extLst>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E2905-4054-E7D4-F3E3-B40232FBC220}"/>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Search Operation in AVL Tree</a:t>
            </a:r>
            <a:endParaRPr lang="en-US" dirty="0"/>
          </a:p>
        </p:txBody>
      </p:sp>
      <p:sp>
        <p:nvSpPr>
          <p:cNvPr id="3" name="Content Placeholder 2">
            <a:extLst>
              <a:ext uri="{FF2B5EF4-FFF2-40B4-BE49-F238E27FC236}">
                <a16:creationId xmlns:a16="http://schemas.microsoft.com/office/drawing/2014/main" id="{89C43BE4-E3ED-C976-DD75-B97BC66C8B11}"/>
              </a:ext>
            </a:extLst>
          </p:cNvPr>
          <p:cNvSpPr>
            <a:spLocks noGrp="1"/>
          </p:cNvSpPr>
          <p:nvPr>
            <p:ph idx="1"/>
          </p:nvPr>
        </p:nvSpPr>
        <p:spPr/>
        <p:txBody>
          <a:bodyPr>
            <a:normAutofit fontScale="62500" lnSpcReduction="20000"/>
          </a:bodyPr>
          <a:lstStyle/>
          <a:p>
            <a:r>
              <a:rPr lang="en-IN" b="0" i="0" dirty="0">
                <a:solidFill>
                  <a:srgbClr val="333333"/>
                </a:solidFill>
                <a:effectLst/>
                <a:latin typeface="Open Sans" panose="020B0606030504020204" pitchFamily="34" charset="0"/>
              </a:rPr>
              <a:t>In an AVL tree, the search operation is performed with </a:t>
            </a:r>
            <a:r>
              <a:rPr lang="en-IN" b="1" i="0" dirty="0">
                <a:solidFill>
                  <a:srgbClr val="333333"/>
                </a:solidFill>
                <a:effectLst/>
                <a:latin typeface="Open Sans" panose="020B0606030504020204" pitchFamily="34" charset="0"/>
              </a:rPr>
              <a:t>O(log n)</a:t>
            </a:r>
            <a:r>
              <a:rPr lang="en-IN" b="0" i="0" dirty="0">
                <a:solidFill>
                  <a:srgbClr val="333333"/>
                </a:solidFill>
                <a:effectLst/>
                <a:latin typeface="Open Sans" panose="020B0606030504020204" pitchFamily="34" charset="0"/>
              </a:rPr>
              <a:t> time complexity. The search operation in the AVL tree is similar to the search operation in a Binary search tree. We use the following steps to search an element in AVL tree...</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Read the search element from the user.</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Compare the search element with the value of root node in the tree.</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both are matched, then display "Given node is found!!!"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If both are not matched, then check whether search element is smaller or larger than that node value.</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If search element is smaller, then continue the search process in left subtree.</a:t>
            </a:r>
          </a:p>
          <a:p>
            <a:pPr>
              <a:buFont typeface="Arial" panose="020B0604020202020204" pitchFamily="34" charset="0"/>
              <a:buChar char="•"/>
            </a:pPr>
            <a:r>
              <a:rPr lang="en-IN" b="1" i="0" dirty="0">
                <a:solidFill>
                  <a:srgbClr val="162F59"/>
                </a:solidFill>
                <a:effectLst/>
                <a:latin typeface="Open Sans" panose="020B0606030504020204" pitchFamily="34" charset="0"/>
              </a:rPr>
              <a:t>Step 6 - </a:t>
            </a:r>
            <a:r>
              <a:rPr lang="en-IN" b="0" i="0" dirty="0">
                <a:solidFill>
                  <a:srgbClr val="333333"/>
                </a:solidFill>
                <a:effectLst/>
                <a:latin typeface="Open Sans" panose="020B0606030504020204" pitchFamily="34" charset="0"/>
              </a:rPr>
              <a:t>If search element is larger, then continue the search process in right subtree.</a:t>
            </a:r>
          </a:p>
          <a:p>
            <a:pPr>
              <a:buFont typeface="Arial" panose="020B0604020202020204" pitchFamily="34" charset="0"/>
              <a:buChar char="•"/>
            </a:pPr>
            <a:r>
              <a:rPr lang="en-IN" b="1" i="0" dirty="0">
                <a:solidFill>
                  <a:srgbClr val="162F59"/>
                </a:solidFill>
                <a:effectLst/>
                <a:latin typeface="Open Sans" panose="020B0606030504020204" pitchFamily="34" charset="0"/>
              </a:rPr>
              <a:t>Step 7 - </a:t>
            </a:r>
            <a:r>
              <a:rPr lang="en-IN" b="0" i="0" dirty="0">
                <a:solidFill>
                  <a:srgbClr val="333333"/>
                </a:solidFill>
                <a:effectLst/>
                <a:latin typeface="Open Sans" panose="020B0606030504020204" pitchFamily="34" charset="0"/>
              </a:rPr>
              <a:t>Repeat the same until we find the exact element or until the search element is compared with the leaf node.</a:t>
            </a:r>
          </a:p>
          <a:p>
            <a:pPr>
              <a:buFont typeface="Arial" panose="020B0604020202020204" pitchFamily="34" charset="0"/>
              <a:buChar char="•"/>
            </a:pPr>
            <a:r>
              <a:rPr lang="en-IN" b="1" i="0" dirty="0">
                <a:solidFill>
                  <a:srgbClr val="162F59"/>
                </a:solidFill>
                <a:effectLst/>
                <a:latin typeface="Open Sans" panose="020B0606030504020204" pitchFamily="34" charset="0"/>
              </a:rPr>
              <a:t>Step 8 - </a:t>
            </a:r>
            <a:r>
              <a:rPr lang="en-IN" b="0" i="0" dirty="0">
                <a:solidFill>
                  <a:srgbClr val="333333"/>
                </a:solidFill>
                <a:effectLst/>
                <a:latin typeface="Open Sans" panose="020B0606030504020204" pitchFamily="34" charset="0"/>
              </a:rPr>
              <a:t>If we reach to the node having the value equal to the search value, then display "Element is found"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9 - </a:t>
            </a:r>
            <a:r>
              <a:rPr lang="en-IN" b="0" i="0" dirty="0">
                <a:solidFill>
                  <a:srgbClr val="333333"/>
                </a:solidFill>
                <a:effectLst/>
                <a:latin typeface="Open Sans" panose="020B0606030504020204" pitchFamily="34" charset="0"/>
              </a:rPr>
              <a:t>If we reach to the leaf node and if it is also not matched with the search element, then display "Element is not found" and terminate the function.</a:t>
            </a:r>
          </a:p>
          <a:p>
            <a:endParaRPr lang="en-US" dirty="0"/>
          </a:p>
        </p:txBody>
      </p:sp>
    </p:spTree>
    <p:extLst>
      <p:ext uri="{BB962C8B-B14F-4D97-AF65-F5344CB8AC3E}">
        <p14:creationId xmlns:p14="http://schemas.microsoft.com/office/powerpoint/2010/main" val="3108072880"/>
      </p:ext>
    </p:extLst>
  </p:cSld>
  <p:clrMapOvr>
    <a:masterClrMapping/>
  </p:clrMapOvr>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66EA8-3834-C819-D087-6DCF06CB04AA}"/>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Insertion Operation in AVL Tree</a:t>
            </a:r>
            <a:endParaRPr lang="en-US" dirty="0"/>
          </a:p>
        </p:txBody>
      </p:sp>
      <p:sp>
        <p:nvSpPr>
          <p:cNvPr id="3" name="Content Placeholder 2">
            <a:extLst>
              <a:ext uri="{FF2B5EF4-FFF2-40B4-BE49-F238E27FC236}">
                <a16:creationId xmlns:a16="http://schemas.microsoft.com/office/drawing/2014/main" id="{156704D2-92A2-A8AA-998A-675D054E9F09}"/>
              </a:ext>
            </a:extLst>
          </p:cNvPr>
          <p:cNvSpPr>
            <a:spLocks noGrp="1"/>
          </p:cNvSpPr>
          <p:nvPr>
            <p:ph idx="1"/>
          </p:nvPr>
        </p:nvSpPr>
        <p:spPr/>
        <p:txBody>
          <a:bodyPr>
            <a:normAutofit fontScale="92500" lnSpcReduction="10000"/>
          </a:bodyPr>
          <a:lstStyle/>
          <a:p>
            <a:r>
              <a:rPr lang="en-IN" b="0" i="0" dirty="0">
                <a:solidFill>
                  <a:srgbClr val="333333"/>
                </a:solidFill>
                <a:effectLst/>
                <a:latin typeface="Open Sans" panose="020B0606030504020204" pitchFamily="34" charset="0"/>
              </a:rPr>
              <a:t>In an AVL tree, the insertion operation is performed with </a:t>
            </a:r>
            <a:r>
              <a:rPr lang="en-IN" b="1" i="0" dirty="0">
                <a:solidFill>
                  <a:srgbClr val="333333"/>
                </a:solidFill>
                <a:effectLst/>
                <a:latin typeface="Open Sans" panose="020B0606030504020204" pitchFamily="34" charset="0"/>
              </a:rPr>
              <a:t>O(log n)</a:t>
            </a:r>
            <a:r>
              <a:rPr lang="en-IN" b="0" i="0" dirty="0">
                <a:solidFill>
                  <a:srgbClr val="333333"/>
                </a:solidFill>
                <a:effectLst/>
                <a:latin typeface="Open Sans" panose="020B0606030504020204" pitchFamily="34" charset="0"/>
              </a:rPr>
              <a:t> time complexity. In AVL Tree, a new node is always inserted as a leaf node. The insertion operation is performed as follows...</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Insert the new element into the tree using Binary Search Tree insertion logic.</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After insertion, check the </a:t>
            </a:r>
            <a:r>
              <a:rPr lang="en-IN" b="1" i="0" dirty="0">
                <a:solidFill>
                  <a:srgbClr val="333333"/>
                </a:solidFill>
                <a:effectLst/>
                <a:latin typeface="Open Sans" panose="020B0606030504020204" pitchFamily="34" charset="0"/>
              </a:rPr>
              <a:t>Balance Factor</a:t>
            </a:r>
            <a:r>
              <a:rPr lang="en-IN" b="0" i="0" dirty="0">
                <a:solidFill>
                  <a:srgbClr val="333333"/>
                </a:solidFill>
                <a:effectLst/>
                <a:latin typeface="Open Sans" panose="020B0606030504020204" pitchFamily="34" charset="0"/>
              </a:rPr>
              <a:t> of every node.</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the </a:t>
            </a:r>
            <a:r>
              <a:rPr lang="en-IN" b="1" i="0" dirty="0">
                <a:solidFill>
                  <a:srgbClr val="333333"/>
                </a:solidFill>
                <a:effectLst/>
                <a:latin typeface="Open Sans" panose="020B0606030504020204" pitchFamily="34" charset="0"/>
              </a:rPr>
              <a:t>Balance Factor</a:t>
            </a:r>
            <a:r>
              <a:rPr lang="en-IN" b="0" i="0" dirty="0">
                <a:solidFill>
                  <a:srgbClr val="333333"/>
                </a:solidFill>
                <a:effectLst/>
                <a:latin typeface="Open Sans" panose="020B0606030504020204" pitchFamily="34" charset="0"/>
              </a:rPr>
              <a:t> of every node is </a:t>
            </a:r>
            <a:r>
              <a:rPr lang="en-IN" b="1" i="0" dirty="0">
                <a:solidFill>
                  <a:srgbClr val="333333"/>
                </a:solidFill>
                <a:effectLst/>
                <a:latin typeface="Open Sans" panose="020B0606030504020204" pitchFamily="34" charset="0"/>
              </a:rPr>
              <a:t>0 or 1 or -1</a:t>
            </a:r>
            <a:r>
              <a:rPr lang="en-IN" b="0" i="0" dirty="0">
                <a:solidFill>
                  <a:srgbClr val="333333"/>
                </a:solidFill>
                <a:effectLst/>
                <a:latin typeface="Open Sans" panose="020B0606030504020204" pitchFamily="34" charset="0"/>
              </a:rPr>
              <a:t> then go for next operation.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If the </a:t>
            </a:r>
            <a:r>
              <a:rPr lang="en-IN" b="1" i="0" dirty="0">
                <a:solidFill>
                  <a:srgbClr val="333333"/>
                </a:solidFill>
                <a:effectLst/>
                <a:latin typeface="Open Sans" panose="020B0606030504020204" pitchFamily="34" charset="0"/>
              </a:rPr>
              <a:t>Balance Factor</a:t>
            </a:r>
            <a:r>
              <a:rPr lang="en-IN" b="0" i="0" dirty="0">
                <a:solidFill>
                  <a:srgbClr val="333333"/>
                </a:solidFill>
                <a:effectLst/>
                <a:latin typeface="Open Sans" panose="020B0606030504020204" pitchFamily="34" charset="0"/>
              </a:rPr>
              <a:t> of any node is other than </a:t>
            </a:r>
            <a:r>
              <a:rPr lang="en-IN" b="1" i="0" dirty="0">
                <a:solidFill>
                  <a:srgbClr val="333333"/>
                </a:solidFill>
                <a:effectLst/>
                <a:latin typeface="Open Sans" panose="020B0606030504020204" pitchFamily="34" charset="0"/>
              </a:rPr>
              <a:t>0 or 1 or -1</a:t>
            </a:r>
            <a:r>
              <a:rPr lang="en-IN" b="0" i="0" dirty="0">
                <a:solidFill>
                  <a:srgbClr val="333333"/>
                </a:solidFill>
                <a:effectLst/>
                <a:latin typeface="Open Sans" panose="020B0606030504020204" pitchFamily="34" charset="0"/>
              </a:rPr>
              <a:t> then that tree is said to be imbalanced. In this case, perform suitable </a:t>
            </a:r>
            <a:r>
              <a:rPr lang="en-IN" b="1" i="0" dirty="0">
                <a:solidFill>
                  <a:srgbClr val="333333"/>
                </a:solidFill>
                <a:effectLst/>
                <a:latin typeface="Open Sans" panose="020B0606030504020204" pitchFamily="34" charset="0"/>
              </a:rPr>
              <a:t>Rotation</a:t>
            </a:r>
            <a:r>
              <a:rPr lang="en-IN" b="0" i="0" dirty="0">
                <a:solidFill>
                  <a:srgbClr val="333333"/>
                </a:solidFill>
                <a:effectLst/>
                <a:latin typeface="Open Sans" panose="020B0606030504020204" pitchFamily="34" charset="0"/>
              </a:rPr>
              <a:t> to make it balanced and go for next operation.</a:t>
            </a:r>
          </a:p>
          <a:p>
            <a:endParaRPr lang="en-US" dirty="0"/>
          </a:p>
        </p:txBody>
      </p:sp>
    </p:spTree>
    <p:extLst>
      <p:ext uri="{BB962C8B-B14F-4D97-AF65-F5344CB8AC3E}">
        <p14:creationId xmlns:p14="http://schemas.microsoft.com/office/powerpoint/2010/main" val="4157991227"/>
      </p:ext>
    </p:extLst>
  </p:cSld>
  <p:clrMapOvr>
    <a:masterClrMapping/>
  </p:clrMapOvr>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B9150-D722-2438-FB2C-4B6B379D87B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02BCBBD-2A6A-3884-F8C6-74E1ED54BA71}"/>
              </a:ext>
            </a:extLst>
          </p:cNvPr>
          <p:cNvSpPr>
            <a:spLocks noGrp="1"/>
          </p:cNvSpPr>
          <p:nvPr>
            <p:ph idx="1"/>
          </p:nvPr>
        </p:nvSpPr>
        <p:spPr/>
        <p:txBody>
          <a:bodyPr/>
          <a:lstStyle/>
          <a:p>
            <a:endParaRPr lang="en-US"/>
          </a:p>
        </p:txBody>
      </p:sp>
      <p:pic>
        <p:nvPicPr>
          <p:cNvPr id="70658" name="Picture 2" descr="AVL Tree Construction">
            <a:extLst>
              <a:ext uri="{FF2B5EF4-FFF2-40B4-BE49-F238E27FC236}">
                <a16:creationId xmlns:a16="http://schemas.microsoft.com/office/drawing/2014/main" id="{B229D91F-AAC4-3471-6686-36423B6029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881" y="789140"/>
            <a:ext cx="6289798" cy="1597409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AVL Tree Construction">
            <a:extLst>
              <a:ext uri="{FF2B5EF4-FFF2-40B4-BE49-F238E27FC236}">
                <a16:creationId xmlns:a16="http://schemas.microsoft.com/office/drawing/2014/main" id="{A9304650-4A50-56A3-6497-0367C46305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617" y="-5834197"/>
            <a:ext cx="6032109" cy="153196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9152836"/>
      </p:ext>
    </p:extLst>
  </p:cSld>
  <p:clrMapOvr>
    <a:masterClrMapping/>
  </p:clrMapOvr>
</p:sld>
</file>

<file path=ppt/slides/slide3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806F8-6305-015D-C0FC-657C5554B3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98A119-A7CB-0554-D44E-6EAB43A37F8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A1E982D-0F3F-CD1A-A32D-A2A744694411}"/>
              </a:ext>
            </a:extLst>
          </p:cNvPr>
          <p:cNvSpPr>
            <a:spLocks noGrp="1"/>
          </p:cNvSpPr>
          <p:nvPr>
            <p:ph idx="1"/>
          </p:nvPr>
        </p:nvSpPr>
        <p:spPr/>
        <p:txBody>
          <a:bodyPr/>
          <a:lstStyle/>
          <a:p>
            <a:endParaRPr lang="en-US"/>
          </a:p>
        </p:txBody>
      </p:sp>
      <p:pic>
        <p:nvPicPr>
          <p:cNvPr id="70658" name="Picture 2" descr="AVL Tree Construction">
            <a:extLst>
              <a:ext uri="{FF2B5EF4-FFF2-40B4-BE49-F238E27FC236}">
                <a16:creationId xmlns:a16="http://schemas.microsoft.com/office/drawing/2014/main" id="{08B2FB65-B2DD-BBEE-4048-30CD938E3F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75" y="0"/>
            <a:ext cx="5288316" cy="1343064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AVL Tree Construction">
            <a:extLst>
              <a:ext uri="{FF2B5EF4-FFF2-40B4-BE49-F238E27FC236}">
                <a16:creationId xmlns:a16="http://schemas.microsoft.com/office/drawing/2014/main" id="{C6ECCC69-A9FC-1EDD-74B1-25955B3E67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2461" y="-8239194"/>
            <a:ext cx="6032109" cy="153196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0547330"/>
      </p:ext>
    </p:extLst>
  </p:cSld>
  <p:clrMapOvr>
    <a:masterClrMapping/>
  </p:clrMapOvr>
</p:sld>
</file>

<file path=ppt/slides/slide3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18EFF-09D9-35D7-0606-E945867E8355}"/>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Deletion Operation in AVL Tree</a:t>
            </a:r>
            <a:endParaRPr lang="en-US" dirty="0"/>
          </a:p>
        </p:txBody>
      </p:sp>
      <p:sp>
        <p:nvSpPr>
          <p:cNvPr id="3" name="Content Placeholder 2">
            <a:extLst>
              <a:ext uri="{FF2B5EF4-FFF2-40B4-BE49-F238E27FC236}">
                <a16:creationId xmlns:a16="http://schemas.microsoft.com/office/drawing/2014/main" id="{0A386BB5-3C4D-10DD-55E5-27566AE91BC3}"/>
              </a:ext>
            </a:extLst>
          </p:cNvPr>
          <p:cNvSpPr>
            <a:spLocks noGrp="1"/>
          </p:cNvSpPr>
          <p:nvPr>
            <p:ph idx="1"/>
          </p:nvPr>
        </p:nvSpPr>
        <p:spPr/>
        <p:txBody>
          <a:bodyPr/>
          <a:lstStyle/>
          <a:p>
            <a:pPr algn="just"/>
            <a:r>
              <a:rPr lang="en-IN" b="0" i="0" dirty="0">
                <a:solidFill>
                  <a:srgbClr val="333333"/>
                </a:solidFill>
                <a:effectLst/>
                <a:latin typeface="Open Sans" panose="020B0606030504020204" pitchFamily="34" charset="0"/>
              </a:rPr>
              <a:t>The deletion operation in AVL Tree is similar to deletion operation in BST. </a:t>
            </a:r>
          </a:p>
          <a:p>
            <a:pPr algn="just"/>
            <a:r>
              <a:rPr lang="en-IN" b="0" i="0" dirty="0">
                <a:solidFill>
                  <a:srgbClr val="333333"/>
                </a:solidFill>
                <a:effectLst/>
                <a:latin typeface="Open Sans" panose="020B0606030504020204" pitchFamily="34" charset="0"/>
              </a:rPr>
              <a:t>But after every deletion operation, we need to check with the Balance Factor condition. </a:t>
            </a:r>
          </a:p>
          <a:p>
            <a:pPr algn="just"/>
            <a:r>
              <a:rPr lang="en-IN" b="0" i="0" dirty="0">
                <a:solidFill>
                  <a:srgbClr val="333333"/>
                </a:solidFill>
                <a:effectLst/>
                <a:latin typeface="Open Sans" panose="020B0606030504020204" pitchFamily="34" charset="0"/>
              </a:rPr>
              <a:t>If the tree is balanced after deletion go for next operation otherwise </a:t>
            </a:r>
            <a:r>
              <a:rPr lang="en-IN" b="1" i="0" dirty="0">
                <a:solidFill>
                  <a:srgbClr val="333333"/>
                </a:solidFill>
                <a:effectLst/>
                <a:latin typeface="Open Sans" panose="020B0606030504020204" pitchFamily="34" charset="0"/>
              </a:rPr>
              <a:t>perform suitable rotation</a:t>
            </a:r>
            <a:r>
              <a:rPr lang="en-IN" b="0" i="0" dirty="0">
                <a:solidFill>
                  <a:srgbClr val="333333"/>
                </a:solidFill>
                <a:effectLst/>
                <a:latin typeface="Open Sans" panose="020B0606030504020204" pitchFamily="34" charset="0"/>
              </a:rPr>
              <a:t> to make the tree Balanced.</a:t>
            </a:r>
          </a:p>
          <a:p>
            <a:endParaRPr lang="en-US" dirty="0"/>
          </a:p>
        </p:txBody>
      </p:sp>
    </p:spTree>
    <p:extLst>
      <p:ext uri="{BB962C8B-B14F-4D97-AF65-F5344CB8AC3E}">
        <p14:creationId xmlns:p14="http://schemas.microsoft.com/office/powerpoint/2010/main" val="2829406306"/>
      </p:ext>
    </p:extLst>
  </p:cSld>
  <p:clrMapOvr>
    <a:masterClrMapping/>
  </p:clrMapOvr>
</p:sld>
</file>

<file path=ppt/slides/slide3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46F47-CDA2-0353-50B8-30D45A16A05C}"/>
              </a:ext>
            </a:extLst>
          </p:cNvPr>
          <p:cNvSpPr>
            <a:spLocks noGrp="1"/>
          </p:cNvSpPr>
          <p:nvPr>
            <p:ph type="title"/>
          </p:nvPr>
        </p:nvSpPr>
        <p:spPr/>
        <p:txBody>
          <a:bodyPr>
            <a:normAutofit/>
          </a:bodyPr>
          <a:lstStyle/>
          <a:p>
            <a:r>
              <a:rPr lang="en-IN" b="1" i="0" dirty="0">
                <a:solidFill>
                  <a:srgbClr val="333333"/>
                </a:solidFill>
                <a:effectLst/>
                <a:latin typeface="Comfortaa"/>
              </a:rPr>
              <a:t>Red - Black Tree </a:t>
            </a:r>
            <a:r>
              <a:rPr lang="en-IN" b="1" i="0" dirty="0" err="1">
                <a:solidFill>
                  <a:srgbClr val="333333"/>
                </a:solidFill>
                <a:effectLst/>
                <a:latin typeface="Comfortaa"/>
              </a:rPr>
              <a:t>Datastructure</a:t>
            </a:r>
            <a:endParaRPr lang="en-US" dirty="0"/>
          </a:p>
        </p:txBody>
      </p:sp>
      <p:sp>
        <p:nvSpPr>
          <p:cNvPr id="3" name="Content Placeholder 2">
            <a:extLst>
              <a:ext uri="{FF2B5EF4-FFF2-40B4-BE49-F238E27FC236}">
                <a16:creationId xmlns:a16="http://schemas.microsoft.com/office/drawing/2014/main" id="{744EB332-6C91-B06A-BBEF-A2A88669772F}"/>
              </a:ext>
            </a:extLst>
          </p:cNvPr>
          <p:cNvSpPr>
            <a:spLocks noGrp="1"/>
          </p:cNvSpPr>
          <p:nvPr>
            <p:ph idx="1"/>
          </p:nvPr>
        </p:nvSpPr>
        <p:spPr/>
        <p:txBody>
          <a:bodyPr>
            <a:normAutofit fontScale="85000" lnSpcReduction="20000"/>
          </a:bodyPr>
          <a:lstStyle/>
          <a:p>
            <a:r>
              <a:rPr lang="en-IN" i="0" dirty="0">
                <a:solidFill>
                  <a:srgbClr val="333333"/>
                </a:solidFill>
                <a:effectLst/>
                <a:latin typeface="Open Sans" panose="020B0606030504020204" pitchFamily="34" charset="0"/>
              </a:rPr>
              <a:t>Red Black Tree is a Binary Search Tree in which every node is </a:t>
            </a:r>
            <a:r>
              <a:rPr lang="en-IN" i="0" dirty="0" err="1">
                <a:solidFill>
                  <a:srgbClr val="333333"/>
                </a:solidFill>
                <a:effectLst/>
                <a:latin typeface="Open Sans" panose="020B0606030504020204" pitchFamily="34" charset="0"/>
              </a:rPr>
              <a:t>colored</a:t>
            </a:r>
            <a:r>
              <a:rPr lang="en-IN" i="0" dirty="0">
                <a:solidFill>
                  <a:srgbClr val="333333"/>
                </a:solidFill>
                <a:effectLst/>
                <a:latin typeface="Open Sans" panose="020B0606030504020204" pitchFamily="34" charset="0"/>
              </a:rPr>
              <a:t> either RED or BLACK.</a:t>
            </a:r>
          </a:p>
          <a:p>
            <a:pPr algn="just"/>
            <a:endParaRPr lang="en-IN" b="1" i="0" dirty="0">
              <a:solidFill>
                <a:srgbClr val="E00D50"/>
              </a:solidFill>
              <a:effectLst/>
              <a:latin typeface="Open Sans" panose="020B0606030504020204" pitchFamily="34" charset="0"/>
            </a:endParaRPr>
          </a:p>
          <a:p>
            <a:pPr algn="just"/>
            <a:r>
              <a:rPr lang="en-IN" b="1" i="0" dirty="0">
                <a:solidFill>
                  <a:srgbClr val="E00D50"/>
                </a:solidFill>
                <a:effectLst/>
                <a:latin typeface="Open Sans" panose="020B0606030504020204" pitchFamily="34" charset="0"/>
              </a:rPr>
              <a:t>Properties of Red Black Tree</a:t>
            </a:r>
          </a:p>
          <a:p>
            <a:pPr algn="just">
              <a:buFont typeface="Arial" panose="020B0604020202020204" pitchFamily="34" charset="0"/>
              <a:buChar char="•"/>
            </a:pPr>
            <a:r>
              <a:rPr lang="en-IN" b="1" i="0" dirty="0">
                <a:solidFill>
                  <a:srgbClr val="008000"/>
                </a:solidFill>
                <a:effectLst/>
                <a:latin typeface="Open Sans" panose="020B0606030504020204" pitchFamily="34" charset="0"/>
              </a:rPr>
              <a:t>Property #1:</a:t>
            </a:r>
            <a:r>
              <a:rPr lang="en-IN" b="0" i="0" dirty="0">
                <a:solidFill>
                  <a:srgbClr val="333333"/>
                </a:solidFill>
                <a:effectLst/>
                <a:latin typeface="Open Sans" panose="020B0606030504020204" pitchFamily="34" charset="0"/>
              </a:rPr>
              <a:t> Red - Black Tree must be a Binary Search Tree.</a:t>
            </a:r>
          </a:p>
          <a:p>
            <a:pPr algn="just">
              <a:buFont typeface="Arial" panose="020B0604020202020204" pitchFamily="34" charset="0"/>
              <a:buChar char="•"/>
            </a:pPr>
            <a:r>
              <a:rPr lang="en-IN" b="1" i="0" dirty="0">
                <a:solidFill>
                  <a:srgbClr val="008000"/>
                </a:solidFill>
                <a:effectLst/>
                <a:latin typeface="Open Sans" panose="020B0606030504020204" pitchFamily="34" charset="0"/>
              </a:rPr>
              <a:t>Property #2:</a:t>
            </a:r>
            <a:r>
              <a:rPr lang="en-IN" b="0" i="0" dirty="0">
                <a:solidFill>
                  <a:srgbClr val="333333"/>
                </a:solidFill>
                <a:effectLst/>
                <a:latin typeface="Open Sans" panose="020B0606030504020204" pitchFamily="34" charset="0"/>
              </a:rPr>
              <a:t> The ROOT node must be </a:t>
            </a:r>
            <a:r>
              <a:rPr lang="en-IN" b="0" i="0" dirty="0" err="1">
                <a:solidFill>
                  <a:srgbClr val="333333"/>
                </a:solidFill>
                <a:effectLst/>
                <a:latin typeface="Open Sans" panose="020B0606030504020204" pitchFamily="34" charset="0"/>
              </a:rPr>
              <a:t>colored</a:t>
            </a:r>
            <a:r>
              <a:rPr lang="en-IN" b="0" i="0" dirty="0">
                <a:solidFill>
                  <a:srgbClr val="333333"/>
                </a:solidFill>
                <a:effectLst/>
                <a:latin typeface="Open Sans" panose="020B0606030504020204" pitchFamily="34" charset="0"/>
              </a:rPr>
              <a:t> BLACK.</a:t>
            </a:r>
          </a:p>
          <a:p>
            <a:pPr algn="just">
              <a:buFont typeface="Arial" panose="020B0604020202020204" pitchFamily="34" charset="0"/>
              <a:buChar char="•"/>
            </a:pPr>
            <a:r>
              <a:rPr lang="en-IN" b="1" i="0" dirty="0">
                <a:solidFill>
                  <a:srgbClr val="008000"/>
                </a:solidFill>
                <a:effectLst/>
                <a:latin typeface="Open Sans" panose="020B0606030504020204" pitchFamily="34" charset="0"/>
              </a:rPr>
              <a:t>Property #3:</a:t>
            </a:r>
            <a:r>
              <a:rPr lang="en-IN" b="0" i="0" dirty="0">
                <a:solidFill>
                  <a:srgbClr val="333333"/>
                </a:solidFill>
                <a:effectLst/>
                <a:latin typeface="Open Sans" panose="020B0606030504020204" pitchFamily="34" charset="0"/>
              </a:rPr>
              <a:t> The children of Red </a:t>
            </a:r>
            <a:r>
              <a:rPr lang="en-IN" b="0" i="0" dirty="0" err="1">
                <a:solidFill>
                  <a:srgbClr val="333333"/>
                </a:solidFill>
                <a:effectLst/>
                <a:latin typeface="Open Sans" panose="020B0606030504020204" pitchFamily="34" charset="0"/>
              </a:rPr>
              <a:t>colored</a:t>
            </a:r>
            <a:r>
              <a:rPr lang="en-IN" b="0" i="0" dirty="0">
                <a:solidFill>
                  <a:srgbClr val="333333"/>
                </a:solidFill>
                <a:effectLst/>
                <a:latin typeface="Open Sans" panose="020B0606030504020204" pitchFamily="34" charset="0"/>
              </a:rPr>
              <a:t> node must be </a:t>
            </a:r>
            <a:r>
              <a:rPr lang="en-IN" b="0" i="0" dirty="0" err="1">
                <a:solidFill>
                  <a:srgbClr val="333333"/>
                </a:solidFill>
                <a:effectLst/>
                <a:latin typeface="Open Sans" panose="020B0606030504020204" pitchFamily="34" charset="0"/>
              </a:rPr>
              <a:t>colored</a:t>
            </a:r>
            <a:r>
              <a:rPr lang="en-IN" b="0" i="0" dirty="0">
                <a:solidFill>
                  <a:srgbClr val="333333"/>
                </a:solidFill>
                <a:effectLst/>
                <a:latin typeface="Open Sans" panose="020B0606030504020204" pitchFamily="34" charset="0"/>
              </a:rPr>
              <a:t> BLACK. (There should not be two consecutive RED nodes).</a:t>
            </a:r>
          </a:p>
          <a:p>
            <a:pPr algn="just">
              <a:buFont typeface="Arial" panose="020B0604020202020204" pitchFamily="34" charset="0"/>
              <a:buChar char="•"/>
            </a:pPr>
            <a:r>
              <a:rPr lang="en-IN" b="1" i="0" dirty="0">
                <a:solidFill>
                  <a:srgbClr val="008000"/>
                </a:solidFill>
                <a:effectLst/>
                <a:latin typeface="Open Sans" panose="020B0606030504020204" pitchFamily="34" charset="0"/>
              </a:rPr>
              <a:t>Property #4:</a:t>
            </a:r>
            <a:r>
              <a:rPr lang="en-IN" b="0" i="0" dirty="0">
                <a:solidFill>
                  <a:srgbClr val="333333"/>
                </a:solidFill>
                <a:effectLst/>
                <a:latin typeface="Open Sans" panose="020B0606030504020204" pitchFamily="34" charset="0"/>
              </a:rPr>
              <a:t> In all the paths of the tree, there should be same number of BLACK </a:t>
            </a:r>
            <a:r>
              <a:rPr lang="en-IN" b="0" i="0" dirty="0" err="1">
                <a:solidFill>
                  <a:srgbClr val="333333"/>
                </a:solidFill>
                <a:effectLst/>
                <a:latin typeface="Open Sans" panose="020B0606030504020204" pitchFamily="34" charset="0"/>
              </a:rPr>
              <a:t>colored</a:t>
            </a:r>
            <a:r>
              <a:rPr lang="en-IN" b="0" i="0" dirty="0">
                <a:solidFill>
                  <a:srgbClr val="333333"/>
                </a:solidFill>
                <a:effectLst/>
                <a:latin typeface="Open Sans" panose="020B0606030504020204" pitchFamily="34" charset="0"/>
              </a:rPr>
              <a:t> nodes.</a:t>
            </a:r>
          </a:p>
          <a:p>
            <a:pPr algn="just">
              <a:buFont typeface="Arial" panose="020B0604020202020204" pitchFamily="34" charset="0"/>
              <a:buChar char="•"/>
            </a:pPr>
            <a:r>
              <a:rPr lang="en-IN" b="1" i="0" dirty="0">
                <a:solidFill>
                  <a:srgbClr val="008000"/>
                </a:solidFill>
                <a:effectLst/>
                <a:latin typeface="Open Sans" panose="020B0606030504020204" pitchFamily="34" charset="0"/>
              </a:rPr>
              <a:t>Property #5:</a:t>
            </a:r>
            <a:r>
              <a:rPr lang="en-IN" b="0" i="0" dirty="0">
                <a:solidFill>
                  <a:srgbClr val="333333"/>
                </a:solidFill>
                <a:effectLst/>
                <a:latin typeface="Open Sans" panose="020B0606030504020204" pitchFamily="34" charset="0"/>
              </a:rPr>
              <a:t> Every new node must be inserted with RED </a:t>
            </a:r>
            <a:r>
              <a:rPr lang="en-IN" b="0" i="0" dirty="0" err="1">
                <a:solidFill>
                  <a:srgbClr val="333333"/>
                </a:solidFill>
                <a:effectLst/>
                <a:latin typeface="Open Sans" panose="020B0606030504020204" pitchFamily="34" charset="0"/>
              </a:rPr>
              <a:t>color</a:t>
            </a:r>
            <a:r>
              <a:rPr lang="en-IN" b="0" i="0" dirty="0">
                <a:solidFill>
                  <a:srgbClr val="333333"/>
                </a:solidFill>
                <a:effectLst/>
                <a:latin typeface="Open Sans" panose="020B0606030504020204" pitchFamily="34" charset="0"/>
              </a:rPr>
              <a:t>.</a:t>
            </a:r>
          </a:p>
          <a:p>
            <a:pPr algn="just">
              <a:buFont typeface="Arial" panose="020B0604020202020204" pitchFamily="34" charset="0"/>
              <a:buChar char="•"/>
            </a:pPr>
            <a:r>
              <a:rPr lang="en-IN" b="1" i="0" dirty="0">
                <a:solidFill>
                  <a:srgbClr val="008000"/>
                </a:solidFill>
                <a:effectLst/>
                <a:latin typeface="Open Sans" panose="020B0606030504020204" pitchFamily="34" charset="0"/>
              </a:rPr>
              <a:t>Property #6:</a:t>
            </a:r>
            <a:r>
              <a:rPr lang="en-IN" b="0" i="0" dirty="0">
                <a:solidFill>
                  <a:srgbClr val="333333"/>
                </a:solidFill>
                <a:effectLst/>
                <a:latin typeface="Open Sans" panose="020B0606030504020204" pitchFamily="34" charset="0"/>
              </a:rPr>
              <a:t> Every leaf (</a:t>
            </a:r>
            <a:r>
              <a:rPr lang="en-IN" b="0" i="0" dirty="0" err="1">
                <a:solidFill>
                  <a:srgbClr val="333333"/>
                </a:solidFill>
                <a:effectLst/>
                <a:latin typeface="Open Sans" panose="020B0606030504020204" pitchFamily="34" charset="0"/>
              </a:rPr>
              <a:t>e.i.</a:t>
            </a:r>
            <a:r>
              <a:rPr lang="en-IN" b="0" i="0" dirty="0">
                <a:solidFill>
                  <a:srgbClr val="333333"/>
                </a:solidFill>
                <a:effectLst/>
                <a:latin typeface="Open Sans" panose="020B0606030504020204" pitchFamily="34" charset="0"/>
              </a:rPr>
              <a:t> NULL node) must be </a:t>
            </a:r>
            <a:r>
              <a:rPr lang="en-IN" b="0" i="0" dirty="0" err="1">
                <a:solidFill>
                  <a:srgbClr val="333333"/>
                </a:solidFill>
                <a:effectLst/>
                <a:latin typeface="Open Sans" panose="020B0606030504020204" pitchFamily="34" charset="0"/>
              </a:rPr>
              <a:t>colored</a:t>
            </a:r>
            <a:r>
              <a:rPr lang="en-IN" b="0" i="0" dirty="0">
                <a:solidFill>
                  <a:srgbClr val="333333"/>
                </a:solidFill>
                <a:effectLst/>
                <a:latin typeface="Open Sans" panose="020B0606030504020204" pitchFamily="34" charset="0"/>
              </a:rPr>
              <a:t> BLACK.</a:t>
            </a:r>
          </a:p>
          <a:p>
            <a:endParaRPr lang="en-IN" i="0" dirty="0">
              <a:solidFill>
                <a:srgbClr val="333333"/>
              </a:solidFill>
              <a:effectLst/>
              <a:latin typeface="Open Sans" panose="020B0606030504020204" pitchFamily="34" charset="0"/>
            </a:endParaRPr>
          </a:p>
        </p:txBody>
      </p:sp>
    </p:spTree>
    <p:extLst>
      <p:ext uri="{BB962C8B-B14F-4D97-AF65-F5344CB8AC3E}">
        <p14:creationId xmlns:p14="http://schemas.microsoft.com/office/powerpoint/2010/main" val="3325927489"/>
      </p:ext>
    </p:extLst>
  </p:cSld>
  <p:clrMapOvr>
    <a:masterClrMapping/>
  </p:clrMapOvr>
</p:sld>
</file>

<file path=ppt/slides/slide3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A8B20-FDE4-977D-8FC1-BF8C24DEB751}"/>
              </a:ext>
            </a:extLst>
          </p:cNvPr>
          <p:cNvSpPr>
            <a:spLocks noGrp="1"/>
          </p:cNvSpPr>
          <p:nvPr>
            <p:ph type="title"/>
          </p:nvPr>
        </p:nvSpPr>
        <p:spPr/>
        <p:txBody>
          <a:bodyPr/>
          <a:lstStyle/>
          <a:p>
            <a:r>
              <a:rPr lang="en-US" dirty="0"/>
              <a:t>Linked List MCQs</a:t>
            </a:r>
          </a:p>
        </p:txBody>
      </p:sp>
      <p:sp>
        <p:nvSpPr>
          <p:cNvPr id="3" name="Content Placeholder 2">
            <a:extLst>
              <a:ext uri="{FF2B5EF4-FFF2-40B4-BE49-F238E27FC236}">
                <a16:creationId xmlns:a16="http://schemas.microsoft.com/office/drawing/2014/main" id="{7AD8B32C-0172-A56B-FDEB-DDA2184687DB}"/>
              </a:ext>
            </a:extLst>
          </p:cNvPr>
          <p:cNvSpPr>
            <a:spLocks noGrp="1"/>
          </p:cNvSpPr>
          <p:nvPr>
            <p:ph idx="1"/>
          </p:nvPr>
        </p:nvSpPr>
        <p:spPr/>
        <p:txBody>
          <a:bodyPr>
            <a:normAutofit fontScale="70000" lnSpcReduction="20000"/>
          </a:bodyPr>
          <a:lstStyle/>
          <a:p>
            <a:r>
              <a:rPr lang="en-IN" i="1" dirty="0">
                <a:solidFill>
                  <a:srgbClr val="3D7B7B"/>
                </a:solidFill>
                <a:effectLst/>
              </a:rPr>
              <a:t>// Struct definition in Java</a:t>
            </a:r>
            <a:r>
              <a:rPr lang="en-IN" dirty="0"/>
              <a:t> </a:t>
            </a:r>
          </a:p>
          <a:p>
            <a:r>
              <a:rPr lang="en-IN" b="1" dirty="0">
                <a:solidFill>
                  <a:srgbClr val="008000"/>
                </a:solidFill>
                <a:effectLst/>
              </a:rPr>
              <a:t>class</a:t>
            </a:r>
            <a:r>
              <a:rPr lang="en-IN" dirty="0"/>
              <a:t> </a:t>
            </a:r>
            <a:r>
              <a:rPr lang="en-IN" b="1" dirty="0">
                <a:solidFill>
                  <a:srgbClr val="0000FF"/>
                </a:solidFill>
                <a:effectLst/>
              </a:rPr>
              <a:t>Node</a:t>
            </a:r>
            <a:r>
              <a:rPr lang="en-IN" dirty="0">
                <a:solidFill>
                  <a:srgbClr val="BBBBBB"/>
                </a:solidFill>
                <a:effectLst/>
              </a:rPr>
              <a:t> </a:t>
            </a:r>
            <a:r>
              <a:rPr lang="en-IN" dirty="0">
                <a:effectLst/>
              </a:rPr>
              <a:t>{</a:t>
            </a:r>
            <a:r>
              <a:rPr lang="en-IN" dirty="0"/>
              <a:t> </a:t>
            </a:r>
          </a:p>
          <a:p>
            <a:r>
              <a:rPr lang="en-IN" dirty="0">
                <a:solidFill>
                  <a:srgbClr val="B00040"/>
                </a:solidFill>
                <a:effectLst/>
              </a:rPr>
              <a:t>int</a:t>
            </a:r>
            <a:r>
              <a:rPr lang="en-IN" dirty="0">
                <a:solidFill>
                  <a:srgbClr val="BBBBBB"/>
                </a:solidFill>
                <a:effectLst/>
              </a:rPr>
              <a:t> </a:t>
            </a:r>
            <a:r>
              <a:rPr lang="en-IN" dirty="0">
                <a:effectLst/>
              </a:rPr>
              <a:t>Value;</a:t>
            </a:r>
            <a:r>
              <a:rPr lang="en-IN" dirty="0"/>
              <a:t> </a:t>
            </a:r>
          </a:p>
          <a:p>
            <a:r>
              <a:rPr lang="en-IN" dirty="0">
                <a:effectLst/>
              </a:rPr>
              <a:t>Node</a:t>
            </a:r>
            <a:r>
              <a:rPr lang="en-IN" dirty="0">
                <a:solidFill>
                  <a:srgbClr val="BBBBBB"/>
                </a:solidFill>
                <a:effectLst/>
              </a:rPr>
              <a:t> </a:t>
            </a:r>
            <a:r>
              <a:rPr lang="en-IN" dirty="0" err="1">
                <a:effectLst/>
              </a:rPr>
              <a:t>Fwd</a:t>
            </a:r>
            <a:r>
              <a:rPr lang="en-IN" dirty="0">
                <a:effectLst/>
              </a:rPr>
              <a:t>;</a:t>
            </a:r>
            <a:r>
              <a:rPr lang="en-IN" dirty="0"/>
              <a:t> </a:t>
            </a:r>
          </a:p>
          <a:p>
            <a:r>
              <a:rPr lang="en-IN" dirty="0">
                <a:effectLst/>
              </a:rPr>
              <a:t>Node</a:t>
            </a:r>
            <a:r>
              <a:rPr lang="en-IN" dirty="0">
                <a:solidFill>
                  <a:srgbClr val="BBBBBB"/>
                </a:solidFill>
                <a:effectLst/>
              </a:rPr>
              <a:t> </a:t>
            </a:r>
            <a:r>
              <a:rPr lang="en-IN" dirty="0" err="1">
                <a:effectLst/>
              </a:rPr>
              <a:t>Bwd</a:t>
            </a:r>
            <a:r>
              <a:rPr lang="en-IN" dirty="0">
                <a:effectLst/>
              </a:rPr>
              <a:t>;</a:t>
            </a:r>
            <a:r>
              <a:rPr lang="en-IN" dirty="0"/>
              <a:t> </a:t>
            </a:r>
            <a:r>
              <a:rPr lang="en-IN" dirty="0">
                <a:effectLst/>
              </a:rPr>
              <a:t>}</a:t>
            </a:r>
          </a:p>
          <a:p>
            <a:endParaRPr lang="en-IN" dirty="0"/>
          </a:p>
          <a:p>
            <a:pPr algn="l" rtl="0"/>
            <a:r>
              <a:rPr lang="en-IN" b="0" i="0" dirty="0">
                <a:solidFill>
                  <a:srgbClr val="273239"/>
                </a:solidFill>
                <a:effectLst/>
                <a:latin typeface="Source Sans 3"/>
              </a:rPr>
              <a:t>Where </a:t>
            </a:r>
            <a:r>
              <a:rPr lang="en-IN" b="0" i="0" dirty="0" err="1">
                <a:solidFill>
                  <a:srgbClr val="273239"/>
                </a:solidFill>
                <a:effectLst/>
                <a:latin typeface="Source Sans 3"/>
              </a:rPr>
              <a:t>Fwd</a:t>
            </a:r>
            <a:r>
              <a:rPr lang="en-IN" b="0" i="0" dirty="0">
                <a:solidFill>
                  <a:srgbClr val="273239"/>
                </a:solidFill>
                <a:effectLst/>
                <a:latin typeface="Source Sans 3"/>
              </a:rPr>
              <a:t> and </a:t>
            </a:r>
            <a:r>
              <a:rPr lang="en-IN" b="0" i="0" dirty="0" err="1">
                <a:solidFill>
                  <a:srgbClr val="273239"/>
                </a:solidFill>
                <a:effectLst/>
                <a:latin typeface="Source Sans 3"/>
              </a:rPr>
              <a:t>Bwd</a:t>
            </a:r>
            <a:r>
              <a:rPr lang="en-IN" b="0" i="0" dirty="0">
                <a:solidFill>
                  <a:srgbClr val="273239"/>
                </a:solidFill>
                <a:effectLst/>
                <a:latin typeface="Source Sans 3"/>
              </a:rPr>
              <a:t> represent forward and backward link to the adjacent elements of the list. Which of the following segments of code deletes the node pointed to by X from the doubly linked list, if it is assumed that X points to neither the first nor the last node of the list?</a:t>
            </a:r>
          </a:p>
          <a:p>
            <a:pPr marL="0" indent="0">
              <a:buNone/>
            </a:pPr>
            <a:r>
              <a:rPr lang="en-IN" b="0" i="0" dirty="0">
                <a:effectLst/>
                <a:latin typeface="-apple-system"/>
              </a:rPr>
              <a:t>A. </a:t>
            </a:r>
            <a:r>
              <a:rPr lang="en-IN" b="0" i="0" dirty="0">
                <a:effectLst/>
                <a:latin typeface="Source Sans 3"/>
              </a:rPr>
              <a:t>X-&gt;</a:t>
            </a:r>
            <a:r>
              <a:rPr lang="en-IN" b="0" i="0" dirty="0" err="1">
                <a:effectLst/>
                <a:latin typeface="Source Sans 3"/>
              </a:rPr>
              <a:t>Bwd</a:t>
            </a:r>
            <a:r>
              <a:rPr lang="en-IN" b="0" i="0" dirty="0">
                <a:effectLst/>
                <a:latin typeface="Source Sans 3"/>
              </a:rPr>
              <a:t>-&gt;</a:t>
            </a:r>
            <a:r>
              <a:rPr lang="en-IN" b="0" i="0" dirty="0" err="1">
                <a:effectLst/>
                <a:latin typeface="Source Sans 3"/>
              </a:rPr>
              <a:t>Fwd</a:t>
            </a:r>
            <a:r>
              <a:rPr lang="en-IN" b="0" i="0" dirty="0">
                <a:effectLst/>
                <a:latin typeface="Source Sans 3"/>
              </a:rPr>
              <a:t> = X-&gt;</a:t>
            </a:r>
            <a:r>
              <a:rPr lang="en-IN" b="0" i="0" dirty="0" err="1">
                <a:effectLst/>
                <a:latin typeface="Source Sans 3"/>
              </a:rPr>
              <a:t>Fwd</a:t>
            </a:r>
            <a:r>
              <a:rPr lang="en-IN" b="0" i="0" dirty="0">
                <a:effectLst/>
                <a:latin typeface="Source Sans 3"/>
              </a:rPr>
              <a:t>; X-&gt;</a:t>
            </a:r>
            <a:r>
              <a:rPr lang="en-IN" b="0" i="0" dirty="0" err="1">
                <a:effectLst/>
                <a:latin typeface="Source Sans 3"/>
              </a:rPr>
              <a:t>Fwd</a:t>
            </a:r>
            <a:r>
              <a:rPr lang="en-IN" b="0" i="0" dirty="0">
                <a:effectLst/>
                <a:latin typeface="Source Sans 3"/>
              </a:rPr>
              <a:t>-&gt;</a:t>
            </a:r>
            <a:r>
              <a:rPr lang="en-IN" b="0" i="0" dirty="0" err="1">
                <a:effectLst/>
                <a:latin typeface="Source Sans 3"/>
              </a:rPr>
              <a:t>Bwd</a:t>
            </a:r>
            <a:r>
              <a:rPr lang="en-IN" b="0" i="0" dirty="0">
                <a:effectLst/>
                <a:latin typeface="Source Sans 3"/>
              </a:rPr>
              <a:t> = X-&gt;</a:t>
            </a:r>
            <a:r>
              <a:rPr lang="en-IN" b="0" i="0" dirty="0" err="1">
                <a:effectLst/>
                <a:latin typeface="Source Sans 3"/>
              </a:rPr>
              <a:t>Bwd</a:t>
            </a:r>
            <a:r>
              <a:rPr lang="en-IN" b="0" i="0" dirty="0">
                <a:effectLst/>
                <a:latin typeface="Source Sans 3"/>
              </a:rPr>
              <a:t> ;</a:t>
            </a:r>
          </a:p>
          <a:p>
            <a:pPr marL="0" indent="0">
              <a:buNone/>
            </a:pPr>
            <a:r>
              <a:rPr lang="en-IN" b="0" i="0" dirty="0">
                <a:effectLst/>
                <a:latin typeface="-apple-system"/>
              </a:rPr>
              <a:t>B. </a:t>
            </a:r>
            <a:r>
              <a:rPr lang="en-IN" b="0" i="0" dirty="0">
                <a:effectLst/>
                <a:latin typeface="Source Sans 3"/>
              </a:rPr>
              <a:t>X-&gt;</a:t>
            </a:r>
            <a:r>
              <a:rPr lang="en-IN" b="0" i="0" dirty="0" err="1">
                <a:effectLst/>
                <a:latin typeface="Source Sans 3"/>
              </a:rPr>
              <a:t>Bwd.Fwd</a:t>
            </a:r>
            <a:r>
              <a:rPr lang="en-IN" b="0" i="0" dirty="0">
                <a:effectLst/>
                <a:latin typeface="Source Sans 3"/>
              </a:rPr>
              <a:t> = X-&gt;</a:t>
            </a:r>
            <a:r>
              <a:rPr lang="en-IN" b="0" i="0" dirty="0" err="1">
                <a:effectLst/>
                <a:latin typeface="Source Sans 3"/>
              </a:rPr>
              <a:t>Fwd</a:t>
            </a:r>
            <a:r>
              <a:rPr lang="en-IN" b="0" i="0" dirty="0">
                <a:effectLst/>
                <a:latin typeface="Source Sans 3"/>
              </a:rPr>
              <a:t> ; </a:t>
            </a:r>
            <a:r>
              <a:rPr lang="en-IN" b="0" i="0" dirty="0" err="1">
                <a:effectLst/>
                <a:latin typeface="Source Sans 3"/>
              </a:rPr>
              <a:t>X.Fwd</a:t>
            </a:r>
            <a:r>
              <a:rPr lang="en-IN" b="0" i="0" dirty="0">
                <a:effectLst/>
                <a:latin typeface="Source Sans 3"/>
              </a:rPr>
              <a:t>-&gt;</a:t>
            </a:r>
            <a:r>
              <a:rPr lang="en-IN" b="0" i="0" dirty="0" err="1">
                <a:effectLst/>
                <a:latin typeface="Source Sans 3"/>
              </a:rPr>
              <a:t>Bwd</a:t>
            </a:r>
            <a:r>
              <a:rPr lang="en-IN" b="0" i="0" dirty="0">
                <a:effectLst/>
                <a:latin typeface="Source Sans 3"/>
              </a:rPr>
              <a:t> = X-&gt;</a:t>
            </a:r>
            <a:r>
              <a:rPr lang="en-IN" b="0" i="0" dirty="0" err="1">
                <a:effectLst/>
                <a:latin typeface="Source Sans 3"/>
              </a:rPr>
              <a:t>Bwd</a:t>
            </a:r>
            <a:r>
              <a:rPr lang="en-IN" b="0" i="0" dirty="0">
                <a:effectLst/>
                <a:latin typeface="Source Sans 3"/>
              </a:rPr>
              <a:t> ;</a:t>
            </a:r>
          </a:p>
          <a:p>
            <a:pPr marL="0" indent="0">
              <a:buNone/>
            </a:pPr>
            <a:r>
              <a:rPr lang="en-IN" b="0" i="0" dirty="0">
                <a:effectLst/>
                <a:latin typeface="-apple-system"/>
              </a:rPr>
              <a:t>C. </a:t>
            </a:r>
            <a:r>
              <a:rPr lang="en-IN" b="0" i="0" dirty="0" err="1">
                <a:effectLst/>
                <a:latin typeface="Source Sans 3"/>
              </a:rPr>
              <a:t>X.Bwd</a:t>
            </a:r>
            <a:r>
              <a:rPr lang="en-IN" b="0" i="0" dirty="0">
                <a:effectLst/>
                <a:latin typeface="Source Sans 3"/>
              </a:rPr>
              <a:t>-&gt;</a:t>
            </a:r>
            <a:r>
              <a:rPr lang="en-IN" b="0" i="0" dirty="0" err="1">
                <a:effectLst/>
                <a:latin typeface="Source Sans 3"/>
              </a:rPr>
              <a:t>Fwd</a:t>
            </a:r>
            <a:r>
              <a:rPr lang="en-IN" b="0" i="0" dirty="0">
                <a:effectLst/>
                <a:latin typeface="Source Sans 3"/>
              </a:rPr>
              <a:t> = </a:t>
            </a:r>
            <a:r>
              <a:rPr lang="en-IN" b="0" i="0" dirty="0" err="1">
                <a:effectLst/>
                <a:latin typeface="Source Sans 3"/>
              </a:rPr>
              <a:t>X.Bwd</a:t>
            </a:r>
            <a:r>
              <a:rPr lang="en-IN" b="0" i="0" dirty="0">
                <a:effectLst/>
                <a:latin typeface="Source Sans 3"/>
              </a:rPr>
              <a:t> ; X-&gt;</a:t>
            </a:r>
            <a:r>
              <a:rPr lang="en-IN" b="0" i="0" dirty="0" err="1">
                <a:effectLst/>
                <a:latin typeface="Source Sans 3"/>
              </a:rPr>
              <a:t>Fwd.Bwd</a:t>
            </a:r>
            <a:r>
              <a:rPr lang="en-IN" b="0" i="0" dirty="0">
                <a:effectLst/>
                <a:latin typeface="Source Sans 3"/>
              </a:rPr>
              <a:t> = </a:t>
            </a:r>
            <a:r>
              <a:rPr lang="en-IN" b="0" i="0" dirty="0" err="1">
                <a:effectLst/>
                <a:latin typeface="Source Sans 3"/>
              </a:rPr>
              <a:t>X.Bwd</a:t>
            </a:r>
            <a:r>
              <a:rPr lang="en-IN" b="0" i="0" dirty="0">
                <a:effectLst/>
                <a:latin typeface="Source Sans 3"/>
              </a:rPr>
              <a:t> ;</a:t>
            </a:r>
          </a:p>
          <a:p>
            <a:pPr marL="0" indent="0">
              <a:buNone/>
            </a:pPr>
            <a:r>
              <a:rPr lang="en-IN" b="0" i="0" dirty="0">
                <a:effectLst/>
                <a:latin typeface="-apple-system"/>
              </a:rPr>
              <a:t>D. </a:t>
            </a:r>
            <a:r>
              <a:rPr lang="en-IN" b="0" i="0" dirty="0">
                <a:effectLst/>
                <a:latin typeface="Source Sans 3"/>
              </a:rPr>
              <a:t>X-&gt;</a:t>
            </a:r>
            <a:r>
              <a:rPr lang="en-IN" b="0" i="0" dirty="0" err="1">
                <a:effectLst/>
                <a:latin typeface="Source Sans 3"/>
              </a:rPr>
              <a:t>Bwd</a:t>
            </a:r>
            <a:r>
              <a:rPr lang="en-IN" b="0" i="0" dirty="0">
                <a:effectLst/>
                <a:latin typeface="Source Sans 3"/>
              </a:rPr>
              <a:t>-&gt;</a:t>
            </a:r>
            <a:r>
              <a:rPr lang="en-IN" b="0" i="0" dirty="0" err="1">
                <a:effectLst/>
                <a:latin typeface="Source Sans 3"/>
              </a:rPr>
              <a:t>Fwd</a:t>
            </a:r>
            <a:r>
              <a:rPr lang="en-IN" b="0" i="0" dirty="0">
                <a:effectLst/>
                <a:latin typeface="Source Sans 3"/>
              </a:rPr>
              <a:t> = X-&gt;</a:t>
            </a:r>
            <a:r>
              <a:rPr lang="en-IN" b="0" i="0" dirty="0" err="1">
                <a:effectLst/>
                <a:latin typeface="Source Sans 3"/>
              </a:rPr>
              <a:t>Bwd</a:t>
            </a:r>
            <a:r>
              <a:rPr lang="en-IN" b="0" i="0" dirty="0">
                <a:effectLst/>
                <a:latin typeface="Source Sans 3"/>
              </a:rPr>
              <a:t> ; X-&gt;</a:t>
            </a:r>
            <a:r>
              <a:rPr lang="en-IN" b="0" i="0" dirty="0" err="1">
                <a:effectLst/>
                <a:latin typeface="Source Sans 3"/>
              </a:rPr>
              <a:t>Fwd</a:t>
            </a:r>
            <a:r>
              <a:rPr lang="en-IN" b="0" i="0" dirty="0">
                <a:effectLst/>
                <a:latin typeface="Source Sans 3"/>
              </a:rPr>
              <a:t>-&gt;</a:t>
            </a:r>
            <a:r>
              <a:rPr lang="en-IN" b="0" i="0" dirty="0" err="1">
                <a:effectLst/>
                <a:latin typeface="Source Sans 3"/>
              </a:rPr>
              <a:t>Bwd</a:t>
            </a:r>
            <a:r>
              <a:rPr lang="en-IN" b="0" i="0" dirty="0">
                <a:effectLst/>
                <a:latin typeface="Source Sans 3"/>
              </a:rPr>
              <a:t> = X-&gt;</a:t>
            </a:r>
            <a:r>
              <a:rPr lang="en-IN" b="0" i="0" dirty="0" err="1">
                <a:effectLst/>
                <a:latin typeface="Source Sans 3"/>
              </a:rPr>
              <a:t>Fwd</a:t>
            </a:r>
            <a:r>
              <a:rPr lang="en-IN" b="0" i="0" dirty="0">
                <a:effectLst/>
                <a:latin typeface="Source Sans 3"/>
              </a:rPr>
              <a:t>;</a:t>
            </a:r>
          </a:p>
          <a:p>
            <a:endParaRPr lang="en-US" dirty="0"/>
          </a:p>
        </p:txBody>
      </p:sp>
    </p:spTree>
    <p:extLst>
      <p:ext uri="{BB962C8B-B14F-4D97-AF65-F5344CB8AC3E}">
        <p14:creationId xmlns:p14="http://schemas.microsoft.com/office/powerpoint/2010/main" val="2695331513"/>
      </p:ext>
    </p:extLst>
  </p:cSld>
  <p:clrMapOvr>
    <a:masterClrMapping/>
  </p:clrMapOvr>
</p:sld>
</file>

<file path=ppt/slides/slide3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48DD9-F276-4314-3E84-AAAD0CFDC3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CB08AB-8E24-5B3E-0C42-D9F531375852}"/>
              </a:ext>
            </a:extLst>
          </p:cNvPr>
          <p:cNvSpPr>
            <a:spLocks noGrp="1"/>
          </p:cNvSpPr>
          <p:nvPr>
            <p:ph type="title"/>
          </p:nvPr>
        </p:nvSpPr>
        <p:spPr/>
        <p:txBody>
          <a:bodyPr/>
          <a:lstStyle/>
          <a:p>
            <a:r>
              <a:rPr lang="en-US" dirty="0"/>
              <a:t>Linked List MCQs</a:t>
            </a:r>
          </a:p>
        </p:txBody>
      </p:sp>
      <p:sp>
        <p:nvSpPr>
          <p:cNvPr id="3" name="Content Placeholder 2">
            <a:extLst>
              <a:ext uri="{FF2B5EF4-FFF2-40B4-BE49-F238E27FC236}">
                <a16:creationId xmlns:a16="http://schemas.microsoft.com/office/drawing/2014/main" id="{F0757FCC-EED2-D098-1C6B-AAE75DAFC8D4}"/>
              </a:ext>
            </a:extLst>
          </p:cNvPr>
          <p:cNvSpPr>
            <a:spLocks noGrp="1"/>
          </p:cNvSpPr>
          <p:nvPr>
            <p:ph idx="1"/>
          </p:nvPr>
        </p:nvSpPr>
        <p:spPr/>
        <p:txBody>
          <a:bodyPr>
            <a:normAutofit fontScale="70000" lnSpcReduction="20000"/>
          </a:bodyPr>
          <a:lstStyle/>
          <a:p>
            <a:r>
              <a:rPr lang="en-IN" i="1" dirty="0">
                <a:solidFill>
                  <a:srgbClr val="3D7B7B"/>
                </a:solidFill>
                <a:effectLst/>
              </a:rPr>
              <a:t>// Struct definition in Java</a:t>
            </a:r>
            <a:r>
              <a:rPr lang="en-IN" dirty="0"/>
              <a:t> </a:t>
            </a:r>
          </a:p>
          <a:p>
            <a:r>
              <a:rPr lang="en-IN" b="1" dirty="0">
                <a:solidFill>
                  <a:srgbClr val="008000"/>
                </a:solidFill>
                <a:effectLst/>
              </a:rPr>
              <a:t>class</a:t>
            </a:r>
            <a:r>
              <a:rPr lang="en-IN" dirty="0"/>
              <a:t> </a:t>
            </a:r>
            <a:r>
              <a:rPr lang="en-IN" b="1" dirty="0">
                <a:solidFill>
                  <a:srgbClr val="0000FF"/>
                </a:solidFill>
                <a:effectLst/>
              </a:rPr>
              <a:t>Node</a:t>
            </a:r>
            <a:r>
              <a:rPr lang="en-IN" dirty="0">
                <a:solidFill>
                  <a:srgbClr val="BBBBBB"/>
                </a:solidFill>
                <a:effectLst/>
              </a:rPr>
              <a:t> </a:t>
            </a:r>
            <a:r>
              <a:rPr lang="en-IN" dirty="0">
                <a:effectLst/>
              </a:rPr>
              <a:t>{</a:t>
            </a:r>
            <a:r>
              <a:rPr lang="en-IN" dirty="0"/>
              <a:t> </a:t>
            </a:r>
          </a:p>
          <a:p>
            <a:r>
              <a:rPr lang="en-IN" dirty="0">
                <a:solidFill>
                  <a:srgbClr val="B00040"/>
                </a:solidFill>
                <a:effectLst/>
              </a:rPr>
              <a:t>int</a:t>
            </a:r>
            <a:r>
              <a:rPr lang="en-IN" dirty="0">
                <a:solidFill>
                  <a:srgbClr val="BBBBBB"/>
                </a:solidFill>
                <a:effectLst/>
              </a:rPr>
              <a:t> </a:t>
            </a:r>
            <a:r>
              <a:rPr lang="en-IN" dirty="0">
                <a:effectLst/>
              </a:rPr>
              <a:t>Value;</a:t>
            </a:r>
            <a:r>
              <a:rPr lang="en-IN" dirty="0"/>
              <a:t> </a:t>
            </a:r>
          </a:p>
          <a:p>
            <a:r>
              <a:rPr lang="en-IN" dirty="0">
                <a:effectLst/>
              </a:rPr>
              <a:t>Node</a:t>
            </a:r>
            <a:r>
              <a:rPr lang="en-IN" dirty="0">
                <a:solidFill>
                  <a:srgbClr val="BBBBBB"/>
                </a:solidFill>
                <a:effectLst/>
              </a:rPr>
              <a:t> </a:t>
            </a:r>
            <a:r>
              <a:rPr lang="en-IN" dirty="0" err="1">
                <a:effectLst/>
              </a:rPr>
              <a:t>Fwd</a:t>
            </a:r>
            <a:r>
              <a:rPr lang="en-IN" dirty="0">
                <a:effectLst/>
              </a:rPr>
              <a:t>;</a:t>
            </a:r>
            <a:r>
              <a:rPr lang="en-IN" dirty="0"/>
              <a:t> </a:t>
            </a:r>
          </a:p>
          <a:p>
            <a:r>
              <a:rPr lang="en-IN" dirty="0">
                <a:effectLst/>
              </a:rPr>
              <a:t>Node</a:t>
            </a:r>
            <a:r>
              <a:rPr lang="en-IN" dirty="0">
                <a:solidFill>
                  <a:srgbClr val="BBBBBB"/>
                </a:solidFill>
                <a:effectLst/>
              </a:rPr>
              <a:t> </a:t>
            </a:r>
            <a:r>
              <a:rPr lang="en-IN" dirty="0" err="1">
                <a:effectLst/>
              </a:rPr>
              <a:t>Bwd</a:t>
            </a:r>
            <a:r>
              <a:rPr lang="en-IN" dirty="0">
                <a:effectLst/>
              </a:rPr>
              <a:t>;</a:t>
            </a:r>
            <a:r>
              <a:rPr lang="en-IN" dirty="0"/>
              <a:t> </a:t>
            </a:r>
            <a:r>
              <a:rPr lang="en-IN" dirty="0">
                <a:effectLst/>
              </a:rPr>
              <a:t>}</a:t>
            </a:r>
          </a:p>
          <a:p>
            <a:endParaRPr lang="en-IN" dirty="0"/>
          </a:p>
          <a:p>
            <a:pPr algn="l" rtl="0"/>
            <a:r>
              <a:rPr lang="en-IN" b="0" i="0" dirty="0">
                <a:solidFill>
                  <a:srgbClr val="273239"/>
                </a:solidFill>
                <a:effectLst/>
                <a:latin typeface="Source Sans 3"/>
              </a:rPr>
              <a:t>Where </a:t>
            </a:r>
            <a:r>
              <a:rPr lang="en-IN" b="0" i="0" dirty="0" err="1">
                <a:solidFill>
                  <a:srgbClr val="273239"/>
                </a:solidFill>
                <a:effectLst/>
                <a:latin typeface="Source Sans 3"/>
              </a:rPr>
              <a:t>Fwd</a:t>
            </a:r>
            <a:r>
              <a:rPr lang="en-IN" b="0" i="0" dirty="0">
                <a:solidFill>
                  <a:srgbClr val="273239"/>
                </a:solidFill>
                <a:effectLst/>
                <a:latin typeface="Source Sans 3"/>
              </a:rPr>
              <a:t> and </a:t>
            </a:r>
            <a:r>
              <a:rPr lang="en-IN" b="0" i="0" dirty="0" err="1">
                <a:solidFill>
                  <a:srgbClr val="273239"/>
                </a:solidFill>
                <a:effectLst/>
                <a:latin typeface="Source Sans 3"/>
              </a:rPr>
              <a:t>Bwd</a:t>
            </a:r>
            <a:r>
              <a:rPr lang="en-IN" b="0" i="0" dirty="0">
                <a:solidFill>
                  <a:srgbClr val="273239"/>
                </a:solidFill>
                <a:effectLst/>
                <a:latin typeface="Source Sans 3"/>
              </a:rPr>
              <a:t> represent forward and backward link to the adjacent elements of the list. Which of the following segments of code deletes the node pointed to by X from the doubly linked list, if it is assumed that X points to neither the first nor the last node of the list?</a:t>
            </a:r>
          </a:p>
          <a:p>
            <a:pPr marL="0" indent="0">
              <a:buNone/>
            </a:pPr>
            <a:r>
              <a:rPr lang="en-IN" b="0" i="0" dirty="0">
                <a:effectLst/>
                <a:latin typeface="-apple-system"/>
              </a:rPr>
              <a:t>A. </a:t>
            </a:r>
            <a:r>
              <a:rPr lang="en-IN" b="0" i="0" dirty="0">
                <a:effectLst/>
                <a:latin typeface="Source Sans 3"/>
              </a:rPr>
              <a:t>X-&gt;</a:t>
            </a:r>
            <a:r>
              <a:rPr lang="en-IN" b="0" i="0" dirty="0" err="1">
                <a:effectLst/>
                <a:latin typeface="Source Sans 3"/>
              </a:rPr>
              <a:t>Bwd</a:t>
            </a:r>
            <a:r>
              <a:rPr lang="en-IN" b="0" i="0" dirty="0">
                <a:effectLst/>
                <a:latin typeface="Source Sans 3"/>
              </a:rPr>
              <a:t>-&gt;</a:t>
            </a:r>
            <a:r>
              <a:rPr lang="en-IN" b="0" i="0" dirty="0" err="1">
                <a:effectLst/>
                <a:latin typeface="Source Sans 3"/>
              </a:rPr>
              <a:t>Fwd</a:t>
            </a:r>
            <a:r>
              <a:rPr lang="en-IN" b="0" i="0" dirty="0">
                <a:effectLst/>
                <a:latin typeface="Source Sans 3"/>
              </a:rPr>
              <a:t> = X-&gt;</a:t>
            </a:r>
            <a:r>
              <a:rPr lang="en-IN" b="0" i="0" dirty="0" err="1">
                <a:effectLst/>
                <a:latin typeface="Source Sans 3"/>
              </a:rPr>
              <a:t>Fwd</a:t>
            </a:r>
            <a:r>
              <a:rPr lang="en-IN" b="0" i="0" dirty="0">
                <a:effectLst/>
                <a:latin typeface="Source Sans 3"/>
              </a:rPr>
              <a:t>; X-&gt;</a:t>
            </a:r>
            <a:r>
              <a:rPr lang="en-IN" b="0" i="0" dirty="0" err="1">
                <a:effectLst/>
                <a:latin typeface="Source Sans 3"/>
              </a:rPr>
              <a:t>Fwd</a:t>
            </a:r>
            <a:r>
              <a:rPr lang="en-IN" b="0" i="0" dirty="0">
                <a:effectLst/>
                <a:latin typeface="Source Sans 3"/>
              </a:rPr>
              <a:t>-&gt;</a:t>
            </a:r>
            <a:r>
              <a:rPr lang="en-IN" b="0" i="0" dirty="0" err="1">
                <a:effectLst/>
                <a:latin typeface="Source Sans 3"/>
              </a:rPr>
              <a:t>Bwd</a:t>
            </a:r>
            <a:r>
              <a:rPr lang="en-IN" b="0" i="0" dirty="0">
                <a:effectLst/>
                <a:latin typeface="Source Sans 3"/>
              </a:rPr>
              <a:t> = X-&gt;</a:t>
            </a:r>
            <a:r>
              <a:rPr lang="en-IN" b="0" i="0" dirty="0" err="1">
                <a:effectLst/>
                <a:latin typeface="Source Sans 3"/>
              </a:rPr>
              <a:t>Bwd</a:t>
            </a:r>
            <a:r>
              <a:rPr lang="en-IN" b="0" i="0" dirty="0">
                <a:effectLst/>
                <a:latin typeface="Source Sans 3"/>
              </a:rPr>
              <a:t> ;</a:t>
            </a:r>
          </a:p>
          <a:p>
            <a:pPr marL="0" indent="0">
              <a:buNone/>
            </a:pPr>
            <a:r>
              <a:rPr lang="en-IN" b="0" i="0" dirty="0">
                <a:effectLst/>
                <a:latin typeface="-apple-system"/>
              </a:rPr>
              <a:t>B. </a:t>
            </a:r>
            <a:r>
              <a:rPr lang="en-IN" b="0" i="0" dirty="0">
                <a:effectLst/>
                <a:latin typeface="Source Sans 3"/>
              </a:rPr>
              <a:t>X-&gt;</a:t>
            </a:r>
            <a:r>
              <a:rPr lang="en-IN" b="0" i="0" dirty="0" err="1">
                <a:effectLst/>
                <a:latin typeface="Source Sans 3"/>
              </a:rPr>
              <a:t>Bwd.Fwd</a:t>
            </a:r>
            <a:r>
              <a:rPr lang="en-IN" b="0" i="0" dirty="0">
                <a:effectLst/>
                <a:latin typeface="Source Sans 3"/>
              </a:rPr>
              <a:t> = X-&gt;</a:t>
            </a:r>
            <a:r>
              <a:rPr lang="en-IN" b="0" i="0" dirty="0" err="1">
                <a:effectLst/>
                <a:latin typeface="Source Sans 3"/>
              </a:rPr>
              <a:t>Fwd</a:t>
            </a:r>
            <a:r>
              <a:rPr lang="en-IN" b="0" i="0" dirty="0">
                <a:effectLst/>
                <a:latin typeface="Source Sans 3"/>
              </a:rPr>
              <a:t> ; </a:t>
            </a:r>
            <a:r>
              <a:rPr lang="en-IN" b="0" i="0" dirty="0" err="1">
                <a:effectLst/>
                <a:latin typeface="Source Sans 3"/>
              </a:rPr>
              <a:t>X.Fwd</a:t>
            </a:r>
            <a:r>
              <a:rPr lang="en-IN" b="0" i="0" dirty="0">
                <a:effectLst/>
                <a:latin typeface="Source Sans 3"/>
              </a:rPr>
              <a:t>-&gt;</a:t>
            </a:r>
            <a:r>
              <a:rPr lang="en-IN" b="0" i="0" dirty="0" err="1">
                <a:effectLst/>
                <a:latin typeface="Source Sans 3"/>
              </a:rPr>
              <a:t>Bwd</a:t>
            </a:r>
            <a:r>
              <a:rPr lang="en-IN" b="0" i="0" dirty="0">
                <a:effectLst/>
                <a:latin typeface="Source Sans 3"/>
              </a:rPr>
              <a:t> = X-&gt;</a:t>
            </a:r>
            <a:r>
              <a:rPr lang="en-IN" b="0" i="0" dirty="0" err="1">
                <a:effectLst/>
                <a:latin typeface="Source Sans 3"/>
              </a:rPr>
              <a:t>Bwd</a:t>
            </a:r>
            <a:r>
              <a:rPr lang="en-IN" b="0" i="0" dirty="0">
                <a:effectLst/>
                <a:latin typeface="Source Sans 3"/>
              </a:rPr>
              <a:t> ;</a:t>
            </a:r>
          </a:p>
          <a:p>
            <a:pPr marL="0" indent="0">
              <a:buNone/>
            </a:pPr>
            <a:r>
              <a:rPr lang="en-IN" b="0" i="0" dirty="0">
                <a:effectLst/>
                <a:latin typeface="-apple-system"/>
              </a:rPr>
              <a:t>C. </a:t>
            </a:r>
            <a:r>
              <a:rPr lang="en-IN" b="0" i="0" dirty="0" err="1">
                <a:effectLst/>
                <a:latin typeface="Source Sans 3"/>
              </a:rPr>
              <a:t>X.Bwd</a:t>
            </a:r>
            <a:r>
              <a:rPr lang="en-IN" b="0" i="0" dirty="0">
                <a:effectLst/>
                <a:latin typeface="Source Sans 3"/>
              </a:rPr>
              <a:t>-&gt;</a:t>
            </a:r>
            <a:r>
              <a:rPr lang="en-IN" b="0" i="0" dirty="0" err="1">
                <a:effectLst/>
                <a:latin typeface="Source Sans 3"/>
              </a:rPr>
              <a:t>Fwd</a:t>
            </a:r>
            <a:r>
              <a:rPr lang="en-IN" b="0" i="0" dirty="0">
                <a:effectLst/>
                <a:latin typeface="Source Sans 3"/>
              </a:rPr>
              <a:t> = </a:t>
            </a:r>
            <a:r>
              <a:rPr lang="en-IN" b="0" i="0" dirty="0" err="1">
                <a:effectLst/>
                <a:latin typeface="Source Sans 3"/>
              </a:rPr>
              <a:t>X.Bwd</a:t>
            </a:r>
            <a:r>
              <a:rPr lang="en-IN" b="0" i="0" dirty="0">
                <a:effectLst/>
                <a:latin typeface="Source Sans 3"/>
              </a:rPr>
              <a:t> ; X-&gt;</a:t>
            </a:r>
            <a:r>
              <a:rPr lang="en-IN" b="0" i="0" dirty="0" err="1">
                <a:effectLst/>
                <a:latin typeface="Source Sans 3"/>
              </a:rPr>
              <a:t>Fwd.Bwd</a:t>
            </a:r>
            <a:r>
              <a:rPr lang="en-IN" b="0" i="0" dirty="0">
                <a:effectLst/>
                <a:latin typeface="Source Sans 3"/>
              </a:rPr>
              <a:t> = </a:t>
            </a:r>
            <a:r>
              <a:rPr lang="en-IN" b="0" i="0" dirty="0" err="1">
                <a:effectLst/>
                <a:latin typeface="Source Sans 3"/>
              </a:rPr>
              <a:t>X.Bwd</a:t>
            </a:r>
            <a:r>
              <a:rPr lang="en-IN" b="0" i="0" dirty="0">
                <a:effectLst/>
                <a:latin typeface="Source Sans 3"/>
              </a:rPr>
              <a:t> ;</a:t>
            </a:r>
          </a:p>
          <a:p>
            <a:pPr marL="0" indent="0">
              <a:buNone/>
            </a:pPr>
            <a:r>
              <a:rPr lang="en-IN" b="0" i="0" dirty="0">
                <a:effectLst/>
                <a:latin typeface="-apple-system"/>
              </a:rPr>
              <a:t>D. </a:t>
            </a:r>
            <a:r>
              <a:rPr lang="en-IN" b="0" i="0" dirty="0">
                <a:effectLst/>
                <a:latin typeface="Source Sans 3"/>
              </a:rPr>
              <a:t>X-&gt;</a:t>
            </a:r>
            <a:r>
              <a:rPr lang="en-IN" b="0" i="0" dirty="0" err="1">
                <a:effectLst/>
                <a:latin typeface="Source Sans 3"/>
              </a:rPr>
              <a:t>Bwd</a:t>
            </a:r>
            <a:r>
              <a:rPr lang="en-IN" b="0" i="0" dirty="0">
                <a:effectLst/>
                <a:latin typeface="Source Sans 3"/>
              </a:rPr>
              <a:t>-&gt;</a:t>
            </a:r>
            <a:r>
              <a:rPr lang="en-IN" b="0" i="0" dirty="0" err="1">
                <a:effectLst/>
                <a:latin typeface="Source Sans 3"/>
              </a:rPr>
              <a:t>Fwd</a:t>
            </a:r>
            <a:r>
              <a:rPr lang="en-IN" b="0" i="0" dirty="0">
                <a:effectLst/>
                <a:latin typeface="Source Sans 3"/>
              </a:rPr>
              <a:t> = X-&gt;</a:t>
            </a:r>
            <a:r>
              <a:rPr lang="en-IN" b="0" i="0" dirty="0" err="1">
                <a:effectLst/>
                <a:latin typeface="Source Sans 3"/>
              </a:rPr>
              <a:t>Bwd</a:t>
            </a:r>
            <a:r>
              <a:rPr lang="en-IN" b="0" i="0" dirty="0">
                <a:effectLst/>
                <a:latin typeface="Source Sans 3"/>
              </a:rPr>
              <a:t> ; X-&gt;</a:t>
            </a:r>
            <a:r>
              <a:rPr lang="en-IN" b="0" i="0" dirty="0" err="1">
                <a:effectLst/>
                <a:latin typeface="Source Sans 3"/>
              </a:rPr>
              <a:t>Fwd</a:t>
            </a:r>
            <a:r>
              <a:rPr lang="en-IN" b="0" i="0" dirty="0">
                <a:effectLst/>
                <a:latin typeface="Source Sans 3"/>
              </a:rPr>
              <a:t>-&gt;</a:t>
            </a:r>
            <a:r>
              <a:rPr lang="en-IN" b="0" i="0" dirty="0" err="1">
                <a:effectLst/>
                <a:latin typeface="Source Sans 3"/>
              </a:rPr>
              <a:t>Bwd</a:t>
            </a:r>
            <a:r>
              <a:rPr lang="en-IN" b="0" i="0" dirty="0">
                <a:effectLst/>
                <a:latin typeface="Source Sans 3"/>
              </a:rPr>
              <a:t> = X-&gt;</a:t>
            </a:r>
            <a:r>
              <a:rPr lang="en-IN" b="0" i="0" dirty="0" err="1">
                <a:effectLst/>
                <a:latin typeface="Source Sans 3"/>
              </a:rPr>
              <a:t>Fwd</a:t>
            </a:r>
            <a:r>
              <a:rPr lang="en-IN" b="0" i="0" dirty="0">
                <a:effectLst/>
                <a:latin typeface="Source Sans 3"/>
              </a:rPr>
              <a:t>;</a:t>
            </a:r>
          </a:p>
          <a:p>
            <a:endParaRPr lang="en-US" dirty="0"/>
          </a:p>
        </p:txBody>
      </p:sp>
    </p:spTree>
    <p:extLst>
      <p:ext uri="{BB962C8B-B14F-4D97-AF65-F5344CB8AC3E}">
        <p14:creationId xmlns:p14="http://schemas.microsoft.com/office/powerpoint/2010/main" val="1128839105"/>
      </p:ext>
    </p:extLst>
  </p:cSld>
  <p:clrMapOvr>
    <a:masterClrMapping/>
  </p:clrMapOvr>
</p:sld>
</file>

<file path=ppt/slides/slide3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4AB38-B6E5-8984-1880-5224496874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867EAD-DFF7-135B-E301-DD2A442CC131}"/>
              </a:ext>
            </a:extLst>
          </p:cNvPr>
          <p:cNvSpPr>
            <a:spLocks noGrp="1"/>
          </p:cNvSpPr>
          <p:nvPr>
            <p:ph type="title"/>
          </p:nvPr>
        </p:nvSpPr>
        <p:spPr/>
        <p:txBody>
          <a:bodyPr/>
          <a:lstStyle/>
          <a:p>
            <a:r>
              <a:rPr lang="en-US" dirty="0"/>
              <a:t>Linked List MCQs</a:t>
            </a:r>
          </a:p>
        </p:txBody>
      </p:sp>
      <p:sp>
        <p:nvSpPr>
          <p:cNvPr id="3" name="Content Placeholder 2">
            <a:extLst>
              <a:ext uri="{FF2B5EF4-FFF2-40B4-BE49-F238E27FC236}">
                <a16:creationId xmlns:a16="http://schemas.microsoft.com/office/drawing/2014/main" id="{0893030D-A737-77E8-5476-12DDCA924F2E}"/>
              </a:ext>
            </a:extLst>
          </p:cNvPr>
          <p:cNvSpPr>
            <a:spLocks noGrp="1"/>
          </p:cNvSpPr>
          <p:nvPr>
            <p:ph idx="1"/>
          </p:nvPr>
        </p:nvSpPr>
        <p:spPr/>
        <p:txBody>
          <a:bodyPr>
            <a:normAutofit fontScale="70000" lnSpcReduction="20000"/>
          </a:bodyPr>
          <a:lstStyle/>
          <a:p>
            <a:r>
              <a:rPr lang="en-IN" i="1" dirty="0">
                <a:solidFill>
                  <a:srgbClr val="3D7B7B"/>
                </a:solidFill>
                <a:effectLst/>
              </a:rPr>
              <a:t>// Struct definition in Java</a:t>
            </a:r>
            <a:r>
              <a:rPr lang="en-IN" dirty="0"/>
              <a:t> </a:t>
            </a:r>
          </a:p>
          <a:p>
            <a:r>
              <a:rPr lang="en-IN" b="1" dirty="0">
                <a:solidFill>
                  <a:srgbClr val="008000"/>
                </a:solidFill>
                <a:effectLst/>
              </a:rPr>
              <a:t>class</a:t>
            </a:r>
            <a:r>
              <a:rPr lang="en-IN" dirty="0"/>
              <a:t> </a:t>
            </a:r>
            <a:r>
              <a:rPr lang="en-IN" b="1" dirty="0">
                <a:solidFill>
                  <a:srgbClr val="0000FF"/>
                </a:solidFill>
                <a:effectLst/>
              </a:rPr>
              <a:t>Node</a:t>
            </a:r>
            <a:r>
              <a:rPr lang="en-IN" dirty="0">
                <a:solidFill>
                  <a:srgbClr val="BBBBBB"/>
                </a:solidFill>
                <a:effectLst/>
              </a:rPr>
              <a:t> </a:t>
            </a:r>
            <a:r>
              <a:rPr lang="en-IN" dirty="0">
                <a:effectLst/>
              </a:rPr>
              <a:t>{</a:t>
            </a:r>
            <a:r>
              <a:rPr lang="en-IN" dirty="0"/>
              <a:t> </a:t>
            </a:r>
          </a:p>
          <a:p>
            <a:r>
              <a:rPr lang="en-IN" dirty="0">
                <a:solidFill>
                  <a:srgbClr val="B00040"/>
                </a:solidFill>
                <a:effectLst/>
              </a:rPr>
              <a:t>int</a:t>
            </a:r>
            <a:r>
              <a:rPr lang="en-IN" dirty="0">
                <a:solidFill>
                  <a:srgbClr val="BBBBBB"/>
                </a:solidFill>
                <a:effectLst/>
              </a:rPr>
              <a:t> </a:t>
            </a:r>
            <a:r>
              <a:rPr lang="en-IN" dirty="0">
                <a:effectLst/>
              </a:rPr>
              <a:t>Value;</a:t>
            </a:r>
            <a:r>
              <a:rPr lang="en-IN" dirty="0"/>
              <a:t> </a:t>
            </a:r>
          </a:p>
          <a:p>
            <a:r>
              <a:rPr lang="en-IN" dirty="0">
                <a:effectLst/>
              </a:rPr>
              <a:t>Node</a:t>
            </a:r>
            <a:r>
              <a:rPr lang="en-IN" dirty="0">
                <a:solidFill>
                  <a:srgbClr val="BBBBBB"/>
                </a:solidFill>
                <a:effectLst/>
              </a:rPr>
              <a:t> </a:t>
            </a:r>
            <a:r>
              <a:rPr lang="en-IN" dirty="0" err="1">
                <a:effectLst/>
              </a:rPr>
              <a:t>Fwd</a:t>
            </a:r>
            <a:r>
              <a:rPr lang="en-IN" dirty="0">
                <a:effectLst/>
              </a:rPr>
              <a:t>;</a:t>
            </a:r>
            <a:r>
              <a:rPr lang="en-IN" dirty="0"/>
              <a:t> </a:t>
            </a:r>
          </a:p>
          <a:p>
            <a:r>
              <a:rPr lang="en-IN" dirty="0">
                <a:effectLst/>
              </a:rPr>
              <a:t>Node</a:t>
            </a:r>
            <a:r>
              <a:rPr lang="en-IN" dirty="0">
                <a:solidFill>
                  <a:srgbClr val="BBBBBB"/>
                </a:solidFill>
                <a:effectLst/>
              </a:rPr>
              <a:t> </a:t>
            </a:r>
            <a:r>
              <a:rPr lang="en-IN" dirty="0" err="1">
                <a:effectLst/>
              </a:rPr>
              <a:t>Bwd</a:t>
            </a:r>
            <a:r>
              <a:rPr lang="en-IN" dirty="0">
                <a:effectLst/>
              </a:rPr>
              <a:t>;</a:t>
            </a:r>
            <a:r>
              <a:rPr lang="en-IN" dirty="0"/>
              <a:t> </a:t>
            </a:r>
            <a:r>
              <a:rPr lang="en-IN" dirty="0">
                <a:effectLst/>
              </a:rPr>
              <a:t>}</a:t>
            </a:r>
          </a:p>
          <a:p>
            <a:endParaRPr lang="en-IN" dirty="0"/>
          </a:p>
          <a:p>
            <a:pPr algn="l" rtl="0"/>
            <a:r>
              <a:rPr lang="en-IN" b="0" i="0" dirty="0">
                <a:solidFill>
                  <a:srgbClr val="273239"/>
                </a:solidFill>
                <a:effectLst/>
                <a:latin typeface="Source Sans 3"/>
              </a:rPr>
              <a:t>Where </a:t>
            </a:r>
            <a:r>
              <a:rPr lang="en-IN" b="0" i="0" dirty="0" err="1">
                <a:solidFill>
                  <a:srgbClr val="273239"/>
                </a:solidFill>
                <a:effectLst/>
                <a:latin typeface="Source Sans 3"/>
              </a:rPr>
              <a:t>Fwd</a:t>
            </a:r>
            <a:r>
              <a:rPr lang="en-IN" b="0" i="0" dirty="0">
                <a:solidFill>
                  <a:srgbClr val="273239"/>
                </a:solidFill>
                <a:effectLst/>
                <a:latin typeface="Source Sans 3"/>
              </a:rPr>
              <a:t> and </a:t>
            </a:r>
            <a:r>
              <a:rPr lang="en-IN" b="0" i="0" dirty="0" err="1">
                <a:solidFill>
                  <a:srgbClr val="273239"/>
                </a:solidFill>
                <a:effectLst/>
                <a:latin typeface="Source Sans 3"/>
              </a:rPr>
              <a:t>Bwd</a:t>
            </a:r>
            <a:r>
              <a:rPr lang="en-IN" b="0" i="0" dirty="0">
                <a:solidFill>
                  <a:srgbClr val="273239"/>
                </a:solidFill>
                <a:effectLst/>
                <a:latin typeface="Source Sans 3"/>
              </a:rPr>
              <a:t> represent forward and backward link to the adjacent elements of the list. Which of the following segments of code deletes the node pointed to by X from the doubly linked list, if it is assumed that X points to neither the first nor the last node of the list?</a:t>
            </a:r>
          </a:p>
          <a:p>
            <a:pPr marL="0" indent="0">
              <a:buNone/>
            </a:pPr>
            <a:r>
              <a:rPr lang="en-IN" b="0" i="0" dirty="0">
                <a:solidFill>
                  <a:srgbClr val="00B050"/>
                </a:solidFill>
                <a:effectLst/>
                <a:latin typeface="-apple-system"/>
              </a:rPr>
              <a:t>A. </a:t>
            </a:r>
            <a:r>
              <a:rPr lang="en-IN" b="0" i="0" dirty="0">
                <a:solidFill>
                  <a:srgbClr val="00B050"/>
                </a:solidFill>
                <a:effectLst/>
                <a:latin typeface="Source Sans 3"/>
              </a:rPr>
              <a:t>X-&gt;</a:t>
            </a:r>
            <a:r>
              <a:rPr lang="en-IN" b="0" i="0" dirty="0" err="1">
                <a:solidFill>
                  <a:srgbClr val="00B050"/>
                </a:solidFill>
                <a:effectLst/>
                <a:latin typeface="Source Sans 3"/>
              </a:rPr>
              <a:t>Bwd</a:t>
            </a:r>
            <a:r>
              <a:rPr lang="en-IN" b="0" i="0" dirty="0">
                <a:solidFill>
                  <a:srgbClr val="00B050"/>
                </a:solidFill>
                <a:effectLst/>
                <a:latin typeface="Source Sans 3"/>
              </a:rPr>
              <a:t>-&gt;</a:t>
            </a:r>
            <a:r>
              <a:rPr lang="en-IN" b="0" i="0" dirty="0" err="1">
                <a:solidFill>
                  <a:srgbClr val="00B050"/>
                </a:solidFill>
                <a:effectLst/>
                <a:latin typeface="Source Sans 3"/>
              </a:rPr>
              <a:t>Fwd</a:t>
            </a:r>
            <a:r>
              <a:rPr lang="en-IN" b="0" i="0" dirty="0">
                <a:solidFill>
                  <a:srgbClr val="00B050"/>
                </a:solidFill>
                <a:effectLst/>
                <a:latin typeface="Source Sans 3"/>
              </a:rPr>
              <a:t> = X-&gt;</a:t>
            </a:r>
            <a:r>
              <a:rPr lang="en-IN" b="0" i="0" dirty="0" err="1">
                <a:solidFill>
                  <a:srgbClr val="00B050"/>
                </a:solidFill>
                <a:effectLst/>
                <a:latin typeface="Source Sans 3"/>
              </a:rPr>
              <a:t>Fwd</a:t>
            </a:r>
            <a:r>
              <a:rPr lang="en-IN" b="0" i="0" dirty="0">
                <a:solidFill>
                  <a:srgbClr val="00B050"/>
                </a:solidFill>
                <a:effectLst/>
                <a:latin typeface="Source Sans 3"/>
              </a:rPr>
              <a:t>; X-&gt;</a:t>
            </a:r>
            <a:r>
              <a:rPr lang="en-IN" b="0" i="0" dirty="0" err="1">
                <a:solidFill>
                  <a:srgbClr val="00B050"/>
                </a:solidFill>
                <a:effectLst/>
                <a:latin typeface="Source Sans 3"/>
              </a:rPr>
              <a:t>Fwd</a:t>
            </a:r>
            <a:r>
              <a:rPr lang="en-IN" b="0" i="0" dirty="0">
                <a:solidFill>
                  <a:srgbClr val="00B050"/>
                </a:solidFill>
                <a:effectLst/>
                <a:latin typeface="Source Sans 3"/>
              </a:rPr>
              <a:t>-&gt;</a:t>
            </a:r>
            <a:r>
              <a:rPr lang="en-IN" b="0" i="0" dirty="0" err="1">
                <a:solidFill>
                  <a:srgbClr val="00B050"/>
                </a:solidFill>
                <a:effectLst/>
                <a:latin typeface="Source Sans 3"/>
              </a:rPr>
              <a:t>Bwd</a:t>
            </a:r>
            <a:r>
              <a:rPr lang="en-IN" b="0" i="0" dirty="0">
                <a:solidFill>
                  <a:srgbClr val="00B050"/>
                </a:solidFill>
                <a:effectLst/>
                <a:latin typeface="Source Sans 3"/>
              </a:rPr>
              <a:t> = X-&gt;</a:t>
            </a:r>
            <a:r>
              <a:rPr lang="en-IN" b="0" i="0" dirty="0" err="1">
                <a:solidFill>
                  <a:srgbClr val="00B050"/>
                </a:solidFill>
                <a:effectLst/>
                <a:latin typeface="Source Sans 3"/>
              </a:rPr>
              <a:t>Bwd</a:t>
            </a:r>
            <a:r>
              <a:rPr lang="en-IN" b="0" i="0" dirty="0">
                <a:solidFill>
                  <a:srgbClr val="00B050"/>
                </a:solidFill>
                <a:effectLst/>
                <a:latin typeface="Source Sans 3"/>
              </a:rPr>
              <a:t> ;</a:t>
            </a:r>
          </a:p>
          <a:p>
            <a:pPr marL="0" indent="0">
              <a:buNone/>
            </a:pPr>
            <a:r>
              <a:rPr lang="en-IN" b="0" i="0" dirty="0">
                <a:effectLst/>
                <a:latin typeface="-apple-system"/>
              </a:rPr>
              <a:t>B. </a:t>
            </a:r>
            <a:r>
              <a:rPr lang="en-IN" b="0" i="0" dirty="0">
                <a:effectLst/>
                <a:latin typeface="Source Sans 3"/>
              </a:rPr>
              <a:t>X-&gt;</a:t>
            </a:r>
            <a:r>
              <a:rPr lang="en-IN" b="0" i="0" dirty="0" err="1">
                <a:effectLst/>
                <a:latin typeface="Source Sans 3"/>
              </a:rPr>
              <a:t>Bwd.Fwd</a:t>
            </a:r>
            <a:r>
              <a:rPr lang="en-IN" b="0" i="0" dirty="0">
                <a:effectLst/>
                <a:latin typeface="Source Sans 3"/>
              </a:rPr>
              <a:t> = X-&gt;</a:t>
            </a:r>
            <a:r>
              <a:rPr lang="en-IN" b="0" i="0" dirty="0" err="1">
                <a:effectLst/>
                <a:latin typeface="Source Sans 3"/>
              </a:rPr>
              <a:t>Fwd</a:t>
            </a:r>
            <a:r>
              <a:rPr lang="en-IN" b="0" i="0" dirty="0">
                <a:effectLst/>
                <a:latin typeface="Source Sans 3"/>
              </a:rPr>
              <a:t> ; </a:t>
            </a:r>
            <a:r>
              <a:rPr lang="en-IN" b="0" i="0" dirty="0" err="1">
                <a:effectLst/>
                <a:latin typeface="Source Sans 3"/>
              </a:rPr>
              <a:t>X.Fwd</a:t>
            </a:r>
            <a:r>
              <a:rPr lang="en-IN" b="0" i="0" dirty="0">
                <a:effectLst/>
                <a:latin typeface="Source Sans 3"/>
              </a:rPr>
              <a:t>-&gt;</a:t>
            </a:r>
            <a:r>
              <a:rPr lang="en-IN" b="0" i="0" dirty="0" err="1">
                <a:effectLst/>
                <a:latin typeface="Source Sans 3"/>
              </a:rPr>
              <a:t>Bwd</a:t>
            </a:r>
            <a:r>
              <a:rPr lang="en-IN" b="0" i="0" dirty="0">
                <a:effectLst/>
                <a:latin typeface="Source Sans 3"/>
              </a:rPr>
              <a:t> = X-&gt;</a:t>
            </a:r>
            <a:r>
              <a:rPr lang="en-IN" b="0" i="0" dirty="0" err="1">
                <a:effectLst/>
                <a:latin typeface="Source Sans 3"/>
              </a:rPr>
              <a:t>Bwd</a:t>
            </a:r>
            <a:r>
              <a:rPr lang="en-IN" b="0" i="0" dirty="0">
                <a:effectLst/>
                <a:latin typeface="Source Sans 3"/>
              </a:rPr>
              <a:t> ;</a:t>
            </a:r>
          </a:p>
          <a:p>
            <a:pPr marL="0" indent="0">
              <a:buNone/>
            </a:pPr>
            <a:r>
              <a:rPr lang="en-IN" b="0" i="0" dirty="0">
                <a:effectLst/>
                <a:latin typeface="-apple-system"/>
              </a:rPr>
              <a:t>C. </a:t>
            </a:r>
            <a:r>
              <a:rPr lang="en-IN" b="0" i="0" dirty="0" err="1">
                <a:effectLst/>
                <a:latin typeface="Source Sans 3"/>
              </a:rPr>
              <a:t>X.Bwd</a:t>
            </a:r>
            <a:r>
              <a:rPr lang="en-IN" b="0" i="0" dirty="0">
                <a:effectLst/>
                <a:latin typeface="Source Sans 3"/>
              </a:rPr>
              <a:t>-&gt;</a:t>
            </a:r>
            <a:r>
              <a:rPr lang="en-IN" b="0" i="0" dirty="0" err="1">
                <a:effectLst/>
                <a:latin typeface="Source Sans 3"/>
              </a:rPr>
              <a:t>Fwd</a:t>
            </a:r>
            <a:r>
              <a:rPr lang="en-IN" b="0" i="0" dirty="0">
                <a:effectLst/>
                <a:latin typeface="Source Sans 3"/>
              </a:rPr>
              <a:t> = </a:t>
            </a:r>
            <a:r>
              <a:rPr lang="en-IN" b="0" i="0" dirty="0" err="1">
                <a:effectLst/>
                <a:latin typeface="Source Sans 3"/>
              </a:rPr>
              <a:t>X.Bwd</a:t>
            </a:r>
            <a:r>
              <a:rPr lang="en-IN" b="0" i="0" dirty="0">
                <a:effectLst/>
                <a:latin typeface="Source Sans 3"/>
              </a:rPr>
              <a:t> ; X-&gt;</a:t>
            </a:r>
            <a:r>
              <a:rPr lang="en-IN" b="0" i="0" dirty="0" err="1">
                <a:effectLst/>
                <a:latin typeface="Source Sans 3"/>
              </a:rPr>
              <a:t>Fwd.Bwd</a:t>
            </a:r>
            <a:r>
              <a:rPr lang="en-IN" b="0" i="0" dirty="0">
                <a:effectLst/>
                <a:latin typeface="Source Sans 3"/>
              </a:rPr>
              <a:t> = </a:t>
            </a:r>
            <a:r>
              <a:rPr lang="en-IN" b="0" i="0" dirty="0" err="1">
                <a:effectLst/>
                <a:latin typeface="Source Sans 3"/>
              </a:rPr>
              <a:t>X.Bwd</a:t>
            </a:r>
            <a:r>
              <a:rPr lang="en-IN" b="0" i="0" dirty="0">
                <a:effectLst/>
                <a:latin typeface="Source Sans 3"/>
              </a:rPr>
              <a:t> ;</a:t>
            </a:r>
          </a:p>
          <a:p>
            <a:pPr marL="0" indent="0">
              <a:buNone/>
            </a:pPr>
            <a:r>
              <a:rPr lang="en-IN" b="0" i="0" dirty="0">
                <a:effectLst/>
                <a:latin typeface="-apple-system"/>
              </a:rPr>
              <a:t>D. </a:t>
            </a:r>
            <a:r>
              <a:rPr lang="en-IN" b="0" i="0" dirty="0">
                <a:effectLst/>
                <a:latin typeface="Source Sans 3"/>
              </a:rPr>
              <a:t>X-&gt;</a:t>
            </a:r>
            <a:r>
              <a:rPr lang="en-IN" b="0" i="0" dirty="0" err="1">
                <a:effectLst/>
                <a:latin typeface="Source Sans 3"/>
              </a:rPr>
              <a:t>Bwd</a:t>
            </a:r>
            <a:r>
              <a:rPr lang="en-IN" b="0" i="0" dirty="0">
                <a:effectLst/>
                <a:latin typeface="Source Sans 3"/>
              </a:rPr>
              <a:t>-&gt;</a:t>
            </a:r>
            <a:r>
              <a:rPr lang="en-IN" b="0" i="0" dirty="0" err="1">
                <a:effectLst/>
                <a:latin typeface="Source Sans 3"/>
              </a:rPr>
              <a:t>Fwd</a:t>
            </a:r>
            <a:r>
              <a:rPr lang="en-IN" b="0" i="0" dirty="0">
                <a:effectLst/>
                <a:latin typeface="Source Sans 3"/>
              </a:rPr>
              <a:t> = X-&gt;</a:t>
            </a:r>
            <a:r>
              <a:rPr lang="en-IN" b="0" i="0" dirty="0" err="1">
                <a:effectLst/>
                <a:latin typeface="Source Sans 3"/>
              </a:rPr>
              <a:t>Bwd</a:t>
            </a:r>
            <a:r>
              <a:rPr lang="en-IN" b="0" i="0" dirty="0">
                <a:effectLst/>
                <a:latin typeface="Source Sans 3"/>
              </a:rPr>
              <a:t> ; X-&gt;</a:t>
            </a:r>
            <a:r>
              <a:rPr lang="en-IN" b="0" i="0" dirty="0" err="1">
                <a:effectLst/>
                <a:latin typeface="Source Sans 3"/>
              </a:rPr>
              <a:t>Fwd</a:t>
            </a:r>
            <a:r>
              <a:rPr lang="en-IN" b="0" i="0" dirty="0">
                <a:effectLst/>
                <a:latin typeface="Source Sans 3"/>
              </a:rPr>
              <a:t>-&gt;</a:t>
            </a:r>
            <a:r>
              <a:rPr lang="en-IN" b="0" i="0" dirty="0" err="1">
                <a:effectLst/>
                <a:latin typeface="Source Sans 3"/>
              </a:rPr>
              <a:t>Bwd</a:t>
            </a:r>
            <a:r>
              <a:rPr lang="en-IN" b="0" i="0" dirty="0">
                <a:effectLst/>
                <a:latin typeface="Source Sans 3"/>
              </a:rPr>
              <a:t> = X-&gt;</a:t>
            </a:r>
            <a:r>
              <a:rPr lang="en-IN" b="0" i="0" dirty="0" err="1">
                <a:effectLst/>
                <a:latin typeface="Source Sans 3"/>
              </a:rPr>
              <a:t>Fwd</a:t>
            </a:r>
            <a:r>
              <a:rPr lang="en-IN" b="0" i="0" dirty="0">
                <a:effectLst/>
                <a:latin typeface="Source Sans 3"/>
              </a:rPr>
              <a:t>;</a:t>
            </a:r>
          </a:p>
          <a:p>
            <a:endParaRPr lang="en-US" dirty="0"/>
          </a:p>
        </p:txBody>
      </p:sp>
    </p:spTree>
    <p:extLst>
      <p:ext uri="{BB962C8B-B14F-4D97-AF65-F5344CB8AC3E}">
        <p14:creationId xmlns:p14="http://schemas.microsoft.com/office/powerpoint/2010/main" val="305288317"/>
      </p:ext>
    </p:extLst>
  </p:cSld>
  <p:clrMapOvr>
    <a:masterClrMapping/>
  </p:clrMapOvr>
</p:sld>
</file>

<file path=ppt/slides/slide3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07C9FD-F6C6-3708-1869-294D71DFF425}"/>
              </a:ext>
            </a:extLst>
          </p:cNvPr>
          <p:cNvSpPr>
            <a:spLocks noGrp="1"/>
          </p:cNvSpPr>
          <p:nvPr>
            <p:ph idx="1"/>
          </p:nvPr>
        </p:nvSpPr>
        <p:spPr>
          <a:xfrm>
            <a:off x="838200" y="185738"/>
            <a:ext cx="10515600" cy="5991225"/>
          </a:xfrm>
        </p:spPr>
        <p:txBody>
          <a:bodyPr>
            <a:normAutofit lnSpcReduction="10000"/>
          </a:bodyPr>
          <a:lstStyle/>
          <a:p>
            <a:pPr algn="l" rtl="0"/>
            <a:r>
              <a:rPr lang="en-IN" b="0" i="0" dirty="0">
                <a:solidFill>
                  <a:srgbClr val="273239"/>
                </a:solidFill>
                <a:effectLst/>
                <a:latin typeface="Source Sans 3"/>
              </a:rPr>
              <a:t>A queue is implemented using a non-circular singly linked list. The queue has a head pointer and a tail pointer, as shown in the figure. Let n denote the number of nodes in the queue. Let 'enqueue' be implemented by inserting a new node at the head, and 'dequeue' be implemented by deletion of a node from the tail.</a:t>
            </a:r>
          </a:p>
          <a:p>
            <a:pPr marL="0" indent="0" rtl="0">
              <a:buNone/>
            </a:pPr>
            <a:r>
              <a:rPr lang="en-IN" b="0" i="0" dirty="0">
                <a:solidFill>
                  <a:srgbClr val="273239"/>
                </a:solidFill>
                <a:effectLst/>
                <a:latin typeface="Source Sans 3"/>
              </a:rPr>
              <a:t>Which one of the following is the time complexity of the most time-efficient implementation of 'enqueue' and 'dequeue, respectively, for this data structure?</a:t>
            </a:r>
          </a:p>
          <a:p>
            <a:pPr marL="0" indent="0">
              <a:buNone/>
            </a:pPr>
            <a:r>
              <a:rPr lang="en-IN" b="0" i="0" dirty="0">
                <a:effectLst/>
                <a:latin typeface="-apple-system"/>
              </a:rPr>
              <a:t>A. </a:t>
            </a:r>
            <a:r>
              <a:rPr lang="el-GR" b="0" i="0" dirty="0">
                <a:effectLst/>
                <a:latin typeface="Source Sans 3"/>
              </a:rPr>
              <a:t>Θ(1), Θ(1)</a:t>
            </a:r>
          </a:p>
          <a:p>
            <a:pPr marL="0" indent="0">
              <a:buNone/>
            </a:pPr>
            <a:r>
              <a:rPr lang="en-IN" b="0" i="0" dirty="0">
                <a:effectLst/>
                <a:latin typeface="-apple-system"/>
              </a:rPr>
              <a:t>B. </a:t>
            </a:r>
            <a:r>
              <a:rPr lang="el-GR" b="0" i="0" dirty="0">
                <a:effectLst/>
                <a:latin typeface="Source Sans 3"/>
              </a:rPr>
              <a:t>Θ(1), Θ(</a:t>
            </a:r>
            <a:r>
              <a:rPr lang="en-IN" b="0" i="0" dirty="0">
                <a:effectLst/>
                <a:latin typeface="Source Sans 3"/>
              </a:rPr>
              <a:t>n)</a:t>
            </a:r>
          </a:p>
          <a:p>
            <a:pPr marL="0" indent="0">
              <a:buNone/>
            </a:pPr>
            <a:r>
              <a:rPr lang="en-IN" b="0" i="0" dirty="0">
                <a:effectLst/>
                <a:latin typeface="-apple-system"/>
              </a:rPr>
              <a:t>C. </a:t>
            </a:r>
            <a:r>
              <a:rPr lang="el-GR" b="0" i="0" dirty="0">
                <a:effectLst/>
                <a:latin typeface="Source Sans 3"/>
              </a:rPr>
              <a:t>Θ(</a:t>
            </a:r>
            <a:r>
              <a:rPr lang="en-IN" b="0" i="0" dirty="0">
                <a:effectLst/>
                <a:latin typeface="Source Sans 3"/>
              </a:rPr>
              <a:t>n), </a:t>
            </a:r>
            <a:r>
              <a:rPr lang="el-GR" b="0" i="0" dirty="0">
                <a:effectLst/>
                <a:latin typeface="Source Sans 3"/>
              </a:rPr>
              <a:t>Θ(1)</a:t>
            </a:r>
          </a:p>
          <a:p>
            <a:pPr marL="0" indent="0">
              <a:buNone/>
            </a:pPr>
            <a:r>
              <a:rPr lang="en-IN" b="0" i="0" dirty="0">
                <a:effectLst/>
                <a:latin typeface="-apple-system"/>
              </a:rPr>
              <a:t>D. </a:t>
            </a:r>
            <a:r>
              <a:rPr lang="el-GR" b="0" i="0" dirty="0">
                <a:effectLst/>
                <a:latin typeface="Source Sans 3"/>
              </a:rPr>
              <a:t>Θ(</a:t>
            </a:r>
            <a:r>
              <a:rPr lang="en-IN" b="0" i="0" dirty="0">
                <a:effectLst/>
                <a:latin typeface="Source Sans 3"/>
              </a:rPr>
              <a:t>n), </a:t>
            </a:r>
            <a:r>
              <a:rPr lang="el-GR" b="0" i="0" dirty="0">
                <a:effectLst/>
                <a:latin typeface="Source Sans 3"/>
              </a:rPr>
              <a:t>Θ(</a:t>
            </a:r>
            <a:r>
              <a:rPr lang="en-IN" b="0" i="0" dirty="0">
                <a:effectLst/>
                <a:latin typeface="Source Sans 3"/>
              </a:rPr>
              <a:t>n)</a:t>
            </a:r>
          </a:p>
          <a:p>
            <a:pPr marL="0" indent="0">
              <a:buNone/>
            </a:pPr>
            <a:br>
              <a:rPr lang="en-IN" dirty="0"/>
            </a:br>
            <a:endParaRPr lang="en-US" dirty="0"/>
          </a:p>
        </p:txBody>
      </p:sp>
      <p:pic>
        <p:nvPicPr>
          <p:cNvPr id="1028" name="Picture 4" descr="Queue">
            <a:extLst>
              <a:ext uri="{FF2B5EF4-FFF2-40B4-BE49-F238E27FC236}">
                <a16:creationId xmlns:a16="http://schemas.microsoft.com/office/drawing/2014/main" id="{723EFE6C-E807-E7C1-2A17-08575977C2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3824" y="4302864"/>
            <a:ext cx="9148175" cy="22605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8486167"/>
      </p:ext>
    </p:extLst>
  </p:cSld>
  <p:clrMapOvr>
    <a:masterClrMapping/>
  </p:clrMapOvr>
</p:sld>
</file>

<file path=ppt/slides/slide3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2E6FC-275A-0E22-4A5E-44E0E35F2B2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9683EC-C32D-056F-8F24-8EE81BAF3111}"/>
              </a:ext>
            </a:extLst>
          </p:cNvPr>
          <p:cNvSpPr>
            <a:spLocks noGrp="1"/>
          </p:cNvSpPr>
          <p:nvPr>
            <p:ph idx="1"/>
          </p:nvPr>
        </p:nvSpPr>
        <p:spPr>
          <a:xfrm>
            <a:off x="838200" y="185738"/>
            <a:ext cx="10515600" cy="5991225"/>
          </a:xfrm>
        </p:spPr>
        <p:txBody>
          <a:bodyPr>
            <a:normAutofit lnSpcReduction="10000"/>
          </a:bodyPr>
          <a:lstStyle/>
          <a:p>
            <a:pPr algn="l" rtl="0"/>
            <a:r>
              <a:rPr lang="en-IN" b="0" i="0" dirty="0">
                <a:solidFill>
                  <a:srgbClr val="273239"/>
                </a:solidFill>
                <a:effectLst/>
                <a:latin typeface="Source Sans 3"/>
              </a:rPr>
              <a:t>A queue is implemented using a non-circular singly linked list. The queue has a head pointer and a tail pointer, as shown in the figure. Let n denote the number of nodes in the queue. Let 'enqueue' be implemented by inserting a new node at the head, and 'dequeue' be implemented by deletion of a node from the tail.</a:t>
            </a:r>
          </a:p>
          <a:p>
            <a:pPr marL="0" indent="0" rtl="0">
              <a:buNone/>
            </a:pPr>
            <a:r>
              <a:rPr lang="en-IN" b="0" i="0" dirty="0">
                <a:solidFill>
                  <a:srgbClr val="273239"/>
                </a:solidFill>
                <a:effectLst/>
                <a:latin typeface="Source Sans 3"/>
              </a:rPr>
              <a:t>Which one of the following is the time complexity of the most time-efficient implementation of 'enqueue' and 'dequeue, respectively, for this data structure?</a:t>
            </a:r>
          </a:p>
          <a:p>
            <a:pPr marL="0" indent="0">
              <a:buNone/>
            </a:pPr>
            <a:r>
              <a:rPr lang="en-IN" b="0" i="0" dirty="0">
                <a:effectLst/>
                <a:latin typeface="-apple-system"/>
              </a:rPr>
              <a:t>A. </a:t>
            </a:r>
            <a:r>
              <a:rPr lang="el-GR" b="0" i="0" dirty="0">
                <a:effectLst/>
                <a:latin typeface="Source Sans 3"/>
              </a:rPr>
              <a:t>Θ(1), Θ(1)</a:t>
            </a:r>
          </a:p>
          <a:p>
            <a:pPr marL="0" indent="0">
              <a:buNone/>
            </a:pPr>
            <a:r>
              <a:rPr lang="en-IN" b="0" i="0" dirty="0">
                <a:solidFill>
                  <a:srgbClr val="00B050"/>
                </a:solidFill>
                <a:effectLst/>
                <a:latin typeface="-apple-system"/>
              </a:rPr>
              <a:t>B. </a:t>
            </a:r>
            <a:r>
              <a:rPr lang="el-GR" b="0" i="0" dirty="0">
                <a:solidFill>
                  <a:srgbClr val="00B050"/>
                </a:solidFill>
                <a:effectLst/>
                <a:latin typeface="Source Sans 3"/>
              </a:rPr>
              <a:t>Θ(1), Θ(</a:t>
            </a:r>
            <a:r>
              <a:rPr lang="en-IN" b="0" i="0" dirty="0">
                <a:solidFill>
                  <a:srgbClr val="00B050"/>
                </a:solidFill>
                <a:effectLst/>
                <a:latin typeface="Source Sans 3"/>
              </a:rPr>
              <a:t>n)</a:t>
            </a:r>
          </a:p>
          <a:p>
            <a:pPr marL="0" indent="0">
              <a:buNone/>
            </a:pPr>
            <a:r>
              <a:rPr lang="en-IN" b="0" i="0" dirty="0">
                <a:effectLst/>
                <a:latin typeface="-apple-system"/>
              </a:rPr>
              <a:t>C. </a:t>
            </a:r>
            <a:r>
              <a:rPr lang="el-GR" b="0" i="0" dirty="0">
                <a:effectLst/>
                <a:latin typeface="Source Sans 3"/>
              </a:rPr>
              <a:t>Θ(</a:t>
            </a:r>
            <a:r>
              <a:rPr lang="en-IN" b="0" i="0" dirty="0">
                <a:effectLst/>
                <a:latin typeface="Source Sans 3"/>
              </a:rPr>
              <a:t>n), </a:t>
            </a:r>
            <a:r>
              <a:rPr lang="el-GR" b="0" i="0" dirty="0">
                <a:effectLst/>
                <a:latin typeface="Source Sans 3"/>
              </a:rPr>
              <a:t>Θ(1)</a:t>
            </a:r>
          </a:p>
          <a:p>
            <a:pPr marL="0" indent="0">
              <a:buNone/>
            </a:pPr>
            <a:r>
              <a:rPr lang="en-IN" b="0" i="0" dirty="0">
                <a:effectLst/>
                <a:latin typeface="-apple-system"/>
              </a:rPr>
              <a:t>D. </a:t>
            </a:r>
            <a:r>
              <a:rPr lang="el-GR" b="0" i="0" dirty="0">
                <a:effectLst/>
                <a:latin typeface="Source Sans 3"/>
              </a:rPr>
              <a:t>Θ(</a:t>
            </a:r>
            <a:r>
              <a:rPr lang="en-IN" b="0" i="0" dirty="0">
                <a:effectLst/>
                <a:latin typeface="Source Sans 3"/>
              </a:rPr>
              <a:t>n), </a:t>
            </a:r>
            <a:r>
              <a:rPr lang="el-GR" b="0" i="0" dirty="0">
                <a:effectLst/>
                <a:latin typeface="Source Sans 3"/>
              </a:rPr>
              <a:t>Θ(</a:t>
            </a:r>
            <a:r>
              <a:rPr lang="en-IN" b="0" i="0" dirty="0">
                <a:effectLst/>
                <a:latin typeface="Source Sans 3"/>
              </a:rPr>
              <a:t>n)</a:t>
            </a:r>
          </a:p>
          <a:p>
            <a:pPr marL="0" indent="0">
              <a:buNone/>
            </a:pPr>
            <a:br>
              <a:rPr lang="en-IN" dirty="0"/>
            </a:br>
            <a:endParaRPr lang="en-US" dirty="0"/>
          </a:p>
        </p:txBody>
      </p:sp>
      <p:pic>
        <p:nvPicPr>
          <p:cNvPr id="1028" name="Picture 4" descr="Queue">
            <a:extLst>
              <a:ext uri="{FF2B5EF4-FFF2-40B4-BE49-F238E27FC236}">
                <a16:creationId xmlns:a16="http://schemas.microsoft.com/office/drawing/2014/main" id="{10D28ADB-8133-2DA5-D74A-3C91F8C43E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3824" y="4302864"/>
            <a:ext cx="9148175" cy="22605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9075223"/>
      </p:ext>
    </p:extLst>
  </p:cSld>
  <p:clrMapOvr>
    <a:masterClrMapping/>
  </p:clrMapOvr>
</p:sld>
</file>

<file path=ppt/slides/slide3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DAC63-193D-38B6-34B9-474FB0275A3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BA4F7CE-A74A-6391-6FC9-24276BD1DBCB}"/>
              </a:ext>
            </a:extLst>
          </p:cNvPr>
          <p:cNvSpPr>
            <a:spLocks noGrp="1"/>
          </p:cNvSpPr>
          <p:nvPr>
            <p:ph idx="1"/>
          </p:nvPr>
        </p:nvSpPr>
        <p:spPr/>
        <p:txBody>
          <a:bodyPr>
            <a:normAutofit/>
          </a:bodyPr>
          <a:lstStyle/>
          <a:p>
            <a:pPr algn="l" rtl="0"/>
            <a:r>
              <a:rPr lang="en-IN" b="0" i="0" dirty="0">
                <a:solidFill>
                  <a:srgbClr val="273239"/>
                </a:solidFill>
                <a:effectLst/>
                <a:latin typeface="Source Sans 3"/>
              </a:rPr>
              <a:t>In a doubly linked list, the number of pointers affected for an insertion operation will be</a:t>
            </a:r>
          </a:p>
          <a:p>
            <a:pPr marL="0" indent="0">
              <a:buNone/>
            </a:pPr>
            <a:r>
              <a:rPr lang="en-IN" b="0" i="0" dirty="0">
                <a:solidFill>
                  <a:srgbClr val="9F9F9F"/>
                </a:solidFill>
                <a:effectLst/>
                <a:latin typeface="-apple-system"/>
              </a:rPr>
              <a:t>A. </a:t>
            </a:r>
            <a:r>
              <a:rPr lang="en-IN" b="0" i="0" dirty="0">
                <a:solidFill>
                  <a:srgbClr val="273239"/>
                </a:solidFill>
                <a:effectLst/>
                <a:latin typeface="Source Sans 3"/>
              </a:rPr>
              <a:t>5</a:t>
            </a:r>
          </a:p>
          <a:p>
            <a:pPr marL="0" indent="0">
              <a:buNone/>
            </a:pPr>
            <a:r>
              <a:rPr lang="en-IN" b="0" i="0" dirty="0">
                <a:solidFill>
                  <a:srgbClr val="9F9F9F"/>
                </a:solidFill>
                <a:effectLst/>
                <a:latin typeface="-apple-system"/>
              </a:rPr>
              <a:t>B. </a:t>
            </a:r>
            <a:r>
              <a:rPr lang="en-IN" b="0" i="0" dirty="0">
                <a:solidFill>
                  <a:srgbClr val="273239"/>
                </a:solidFill>
                <a:effectLst/>
                <a:latin typeface="Source Sans 3"/>
              </a:rPr>
              <a:t>0</a:t>
            </a:r>
          </a:p>
          <a:p>
            <a:pPr marL="0" indent="0">
              <a:buNone/>
            </a:pPr>
            <a:r>
              <a:rPr lang="en-IN" b="0" i="0" dirty="0">
                <a:solidFill>
                  <a:srgbClr val="9F9F9F"/>
                </a:solidFill>
                <a:effectLst/>
                <a:latin typeface="-apple-system"/>
              </a:rPr>
              <a:t>C. </a:t>
            </a:r>
            <a:r>
              <a:rPr lang="en-IN" b="0" i="0" dirty="0">
                <a:solidFill>
                  <a:srgbClr val="273239"/>
                </a:solidFill>
                <a:effectLst/>
                <a:latin typeface="Source Sans 3"/>
              </a:rPr>
              <a:t>1</a:t>
            </a:r>
          </a:p>
          <a:p>
            <a:pPr marL="0" indent="0">
              <a:buNone/>
            </a:pPr>
            <a:r>
              <a:rPr lang="en-IN" b="0" i="0" dirty="0">
                <a:solidFill>
                  <a:srgbClr val="9F9F9F"/>
                </a:solidFill>
                <a:effectLst/>
                <a:latin typeface="-apple-system"/>
              </a:rPr>
              <a:t>D. </a:t>
            </a:r>
            <a:r>
              <a:rPr lang="en-IN" b="0" i="0" dirty="0">
                <a:solidFill>
                  <a:srgbClr val="273239"/>
                </a:solidFill>
                <a:effectLst/>
                <a:latin typeface="Source Sans 3"/>
              </a:rPr>
              <a:t>None of these</a:t>
            </a:r>
          </a:p>
          <a:p>
            <a:endParaRPr lang="en-US" dirty="0"/>
          </a:p>
        </p:txBody>
      </p:sp>
    </p:spTree>
    <p:extLst>
      <p:ext uri="{BB962C8B-B14F-4D97-AF65-F5344CB8AC3E}">
        <p14:creationId xmlns:p14="http://schemas.microsoft.com/office/powerpoint/2010/main" val="656004317"/>
      </p:ext>
    </p:extLst>
  </p:cSld>
  <p:clrMapOvr>
    <a:masterClrMapping/>
  </p:clrMapOvr>
</p:sld>
</file>

<file path=ppt/slides/slide3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07A79-AF0B-39F2-5725-F3CF331530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EF644D-6956-9D14-4279-E3721467F03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F38CC77-ECA9-F69E-C81C-6F0F5A794E5F}"/>
              </a:ext>
            </a:extLst>
          </p:cNvPr>
          <p:cNvSpPr>
            <a:spLocks noGrp="1"/>
          </p:cNvSpPr>
          <p:nvPr>
            <p:ph idx="1"/>
          </p:nvPr>
        </p:nvSpPr>
        <p:spPr/>
        <p:txBody>
          <a:bodyPr>
            <a:normAutofit/>
          </a:bodyPr>
          <a:lstStyle/>
          <a:p>
            <a:pPr algn="l" rtl="0"/>
            <a:r>
              <a:rPr lang="en-IN" b="0" i="0" dirty="0">
                <a:solidFill>
                  <a:srgbClr val="273239"/>
                </a:solidFill>
                <a:effectLst/>
                <a:latin typeface="Source Sans 3"/>
              </a:rPr>
              <a:t>In a doubly linked list, the number of pointers affected for an insertion operation will be</a:t>
            </a:r>
          </a:p>
          <a:p>
            <a:pPr marL="0" indent="0">
              <a:buNone/>
            </a:pPr>
            <a:r>
              <a:rPr lang="en-IN" b="0" i="0" dirty="0">
                <a:solidFill>
                  <a:srgbClr val="9F9F9F"/>
                </a:solidFill>
                <a:effectLst/>
                <a:latin typeface="-apple-system"/>
              </a:rPr>
              <a:t>A. </a:t>
            </a:r>
            <a:r>
              <a:rPr lang="en-IN" b="0" i="0" dirty="0">
                <a:solidFill>
                  <a:srgbClr val="273239"/>
                </a:solidFill>
                <a:effectLst/>
                <a:latin typeface="Source Sans 3"/>
              </a:rPr>
              <a:t>5</a:t>
            </a:r>
          </a:p>
          <a:p>
            <a:pPr marL="0" indent="0">
              <a:buNone/>
            </a:pPr>
            <a:r>
              <a:rPr lang="en-IN" b="0" i="0" dirty="0">
                <a:solidFill>
                  <a:srgbClr val="9F9F9F"/>
                </a:solidFill>
                <a:effectLst/>
                <a:latin typeface="-apple-system"/>
              </a:rPr>
              <a:t>B. </a:t>
            </a:r>
            <a:r>
              <a:rPr lang="en-IN" b="0" i="0" dirty="0">
                <a:solidFill>
                  <a:srgbClr val="273239"/>
                </a:solidFill>
                <a:effectLst/>
                <a:latin typeface="Source Sans 3"/>
              </a:rPr>
              <a:t>0</a:t>
            </a:r>
          </a:p>
          <a:p>
            <a:pPr marL="0" indent="0">
              <a:buNone/>
            </a:pPr>
            <a:r>
              <a:rPr lang="en-IN" b="0" i="0" dirty="0">
                <a:solidFill>
                  <a:srgbClr val="9F9F9F"/>
                </a:solidFill>
                <a:effectLst/>
                <a:latin typeface="-apple-system"/>
              </a:rPr>
              <a:t>C. </a:t>
            </a:r>
            <a:r>
              <a:rPr lang="en-IN" b="0" i="0" dirty="0">
                <a:solidFill>
                  <a:srgbClr val="273239"/>
                </a:solidFill>
                <a:effectLst/>
                <a:latin typeface="Source Sans 3"/>
              </a:rPr>
              <a:t>1</a:t>
            </a:r>
          </a:p>
          <a:p>
            <a:pPr marL="0" indent="0">
              <a:buNone/>
            </a:pPr>
            <a:r>
              <a:rPr lang="en-IN" b="0" i="0" dirty="0">
                <a:solidFill>
                  <a:srgbClr val="9F9F9F"/>
                </a:solidFill>
                <a:effectLst/>
                <a:latin typeface="-apple-system"/>
              </a:rPr>
              <a:t>D. </a:t>
            </a:r>
            <a:r>
              <a:rPr lang="en-IN" b="0" i="0" dirty="0">
                <a:solidFill>
                  <a:srgbClr val="273239"/>
                </a:solidFill>
                <a:effectLst/>
                <a:latin typeface="Source Sans 3"/>
              </a:rPr>
              <a:t>None of these</a:t>
            </a:r>
          </a:p>
          <a:p>
            <a:endParaRPr lang="en-US" dirty="0"/>
          </a:p>
        </p:txBody>
      </p:sp>
    </p:spTree>
    <p:extLst>
      <p:ext uri="{BB962C8B-B14F-4D97-AF65-F5344CB8AC3E}">
        <p14:creationId xmlns:p14="http://schemas.microsoft.com/office/powerpoint/2010/main" val="1798459814"/>
      </p:ext>
    </p:extLst>
  </p:cSld>
  <p:clrMapOvr>
    <a:masterClrMapping/>
  </p:clrMapOvr>
</p:sld>
</file>

<file path=ppt/slides/slide3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854AC-62D0-5BFC-F94B-9C5C7735D5E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710A34F-EA2D-AFC7-3857-8B3DA8F97217}"/>
              </a:ext>
            </a:extLst>
          </p:cNvPr>
          <p:cNvSpPr>
            <a:spLocks noGrp="1"/>
          </p:cNvSpPr>
          <p:nvPr>
            <p:ph idx="1"/>
          </p:nvPr>
        </p:nvSpPr>
        <p:spPr/>
        <p:txBody>
          <a:bodyPr>
            <a:normAutofit/>
          </a:bodyPr>
          <a:lstStyle/>
          <a:p>
            <a:pPr algn="l" rtl="0"/>
            <a:r>
              <a:rPr lang="en-IN" b="0" i="0" dirty="0">
                <a:solidFill>
                  <a:srgbClr val="273239"/>
                </a:solidFill>
                <a:effectLst/>
                <a:latin typeface="Source Sans 3"/>
              </a:rPr>
              <a:t>In a doubly linked list, the number of pointers affected for an insertion operation will be</a:t>
            </a:r>
          </a:p>
          <a:p>
            <a:pPr marL="0" indent="0">
              <a:buNone/>
            </a:pPr>
            <a:r>
              <a:rPr lang="en-IN" b="0" i="0" dirty="0">
                <a:effectLst/>
                <a:latin typeface="-apple-system"/>
              </a:rPr>
              <a:t>A. </a:t>
            </a:r>
            <a:r>
              <a:rPr lang="en-IN" b="0" i="0" dirty="0">
                <a:effectLst/>
                <a:latin typeface="Source Sans 3"/>
              </a:rPr>
              <a:t>5</a:t>
            </a:r>
          </a:p>
          <a:p>
            <a:pPr marL="0" indent="0">
              <a:buNone/>
            </a:pPr>
            <a:r>
              <a:rPr lang="en-IN" b="0" i="0" dirty="0">
                <a:effectLst/>
                <a:latin typeface="-apple-system"/>
              </a:rPr>
              <a:t>B. </a:t>
            </a:r>
            <a:r>
              <a:rPr lang="en-IN" b="0" i="0" dirty="0">
                <a:effectLst/>
                <a:latin typeface="Source Sans 3"/>
              </a:rPr>
              <a:t>0</a:t>
            </a:r>
          </a:p>
          <a:p>
            <a:pPr marL="0" indent="0">
              <a:buNone/>
            </a:pPr>
            <a:r>
              <a:rPr lang="en-IN" b="0" i="0" dirty="0">
                <a:effectLst/>
                <a:latin typeface="-apple-system"/>
              </a:rPr>
              <a:t>C. </a:t>
            </a:r>
            <a:r>
              <a:rPr lang="en-IN" b="0" i="0" dirty="0">
                <a:effectLst/>
                <a:latin typeface="Source Sans 3"/>
              </a:rPr>
              <a:t>1</a:t>
            </a:r>
          </a:p>
          <a:p>
            <a:pPr marL="0" indent="0">
              <a:buNone/>
            </a:pPr>
            <a:r>
              <a:rPr lang="en-IN" b="0" i="0" dirty="0">
                <a:effectLst/>
                <a:latin typeface="-apple-system"/>
              </a:rPr>
              <a:t>D. </a:t>
            </a:r>
            <a:r>
              <a:rPr lang="en-IN" b="0" i="0" dirty="0">
                <a:effectLst/>
                <a:latin typeface="Source Sans 3"/>
              </a:rPr>
              <a:t>None of these</a:t>
            </a:r>
          </a:p>
          <a:p>
            <a:pPr marL="0" indent="0">
              <a:buNone/>
            </a:pPr>
            <a:br>
              <a:rPr lang="en-IN" b="0" i="0" dirty="0">
                <a:solidFill>
                  <a:srgbClr val="273239"/>
                </a:solidFill>
                <a:effectLst/>
                <a:latin typeface="-apple-system"/>
              </a:rPr>
            </a:br>
            <a:endParaRPr lang="en-IN" b="0" i="0" dirty="0">
              <a:solidFill>
                <a:srgbClr val="273239"/>
              </a:solidFill>
              <a:effectLst/>
              <a:latin typeface="-apple-system"/>
            </a:endParaRPr>
          </a:p>
          <a:p>
            <a:endParaRPr lang="en-US" dirty="0"/>
          </a:p>
        </p:txBody>
      </p:sp>
    </p:spTree>
    <p:extLst>
      <p:ext uri="{BB962C8B-B14F-4D97-AF65-F5344CB8AC3E}">
        <p14:creationId xmlns:p14="http://schemas.microsoft.com/office/powerpoint/2010/main" val="2330507411"/>
      </p:ext>
    </p:extLst>
  </p:cSld>
  <p:clrMapOvr>
    <a:masterClrMapping/>
  </p:clrMapOvr>
</p:sld>
</file>

<file path=ppt/slides/slide3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6E77B-C41D-73F1-CC90-86E33AA03B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6E0D4F-4877-19EE-6F9F-15958E2244A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C69C20E-93E7-F137-91B7-19A37F3ADBFD}"/>
              </a:ext>
            </a:extLst>
          </p:cNvPr>
          <p:cNvSpPr>
            <a:spLocks noGrp="1"/>
          </p:cNvSpPr>
          <p:nvPr>
            <p:ph idx="1"/>
          </p:nvPr>
        </p:nvSpPr>
        <p:spPr/>
        <p:txBody>
          <a:bodyPr>
            <a:normAutofit/>
          </a:bodyPr>
          <a:lstStyle/>
          <a:p>
            <a:pPr algn="l" rtl="0"/>
            <a:r>
              <a:rPr lang="en-IN" b="0" i="0" dirty="0">
                <a:solidFill>
                  <a:srgbClr val="273239"/>
                </a:solidFill>
                <a:effectLst/>
                <a:latin typeface="Source Sans 3"/>
              </a:rPr>
              <a:t>In a doubly linked list, the number of pointers affected for an insertion operation will be</a:t>
            </a:r>
          </a:p>
          <a:p>
            <a:pPr marL="0" indent="0">
              <a:buNone/>
            </a:pPr>
            <a:r>
              <a:rPr lang="en-IN" b="0" i="0" dirty="0">
                <a:effectLst/>
                <a:latin typeface="-apple-system"/>
              </a:rPr>
              <a:t>A. </a:t>
            </a:r>
            <a:r>
              <a:rPr lang="en-IN" b="0" i="0" dirty="0">
                <a:effectLst/>
                <a:latin typeface="Source Sans 3"/>
              </a:rPr>
              <a:t>5</a:t>
            </a:r>
          </a:p>
          <a:p>
            <a:pPr marL="0" indent="0">
              <a:buNone/>
            </a:pPr>
            <a:r>
              <a:rPr lang="en-IN" b="0" i="0" dirty="0">
                <a:effectLst/>
                <a:latin typeface="-apple-system"/>
              </a:rPr>
              <a:t>B. </a:t>
            </a:r>
            <a:r>
              <a:rPr lang="en-IN" b="0" i="0" dirty="0">
                <a:effectLst/>
                <a:latin typeface="Source Sans 3"/>
              </a:rPr>
              <a:t>0</a:t>
            </a:r>
          </a:p>
          <a:p>
            <a:pPr marL="0" indent="0">
              <a:buNone/>
            </a:pPr>
            <a:r>
              <a:rPr lang="en-IN" b="0" i="0" dirty="0">
                <a:effectLst/>
                <a:latin typeface="-apple-system"/>
              </a:rPr>
              <a:t>C. </a:t>
            </a:r>
            <a:r>
              <a:rPr lang="en-IN" b="0" i="0" dirty="0">
                <a:effectLst/>
                <a:latin typeface="Source Sans 3"/>
              </a:rPr>
              <a:t>1</a:t>
            </a:r>
          </a:p>
          <a:p>
            <a:pPr marL="0" indent="0">
              <a:buNone/>
            </a:pPr>
            <a:r>
              <a:rPr lang="en-IN" b="0" i="0" dirty="0">
                <a:solidFill>
                  <a:srgbClr val="00B050"/>
                </a:solidFill>
                <a:effectLst/>
                <a:latin typeface="-apple-system"/>
              </a:rPr>
              <a:t>D. </a:t>
            </a:r>
            <a:r>
              <a:rPr lang="en-IN" b="0" i="0" dirty="0">
                <a:solidFill>
                  <a:srgbClr val="00B050"/>
                </a:solidFill>
                <a:effectLst/>
                <a:latin typeface="Source Sans 3"/>
              </a:rPr>
              <a:t>None of these</a:t>
            </a:r>
          </a:p>
          <a:p>
            <a:pPr marL="0" indent="0">
              <a:buNone/>
            </a:pPr>
            <a:br>
              <a:rPr lang="en-IN" b="0" i="0" dirty="0">
                <a:solidFill>
                  <a:srgbClr val="273239"/>
                </a:solidFill>
                <a:effectLst/>
                <a:latin typeface="-apple-system"/>
              </a:rPr>
            </a:br>
            <a:endParaRPr lang="en-IN" b="0" i="0" dirty="0">
              <a:solidFill>
                <a:srgbClr val="273239"/>
              </a:solidFill>
              <a:effectLst/>
              <a:latin typeface="-apple-system"/>
            </a:endParaRPr>
          </a:p>
          <a:p>
            <a:endParaRPr lang="en-US" dirty="0"/>
          </a:p>
        </p:txBody>
      </p:sp>
    </p:spTree>
    <p:extLst>
      <p:ext uri="{BB962C8B-B14F-4D97-AF65-F5344CB8AC3E}">
        <p14:creationId xmlns:p14="http://schemas.microsoft.com/office/powerpoint/2010/main" val="1016109415"/>
      </p:ext>
    </p:extLst>
  </p:cSld>
  <p:clrMapOvr>
    <a:masterClrMapping/>
  </p:clrMapOvr>
</p:sld>
</file>

<file path=ppt/slides/slide3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4ACCC-45AC-7B12-3F89-911076ED494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436FAFA-33E9-15BA-D9C5-CE95B3B41D33}"/>
              </a:ext>
            </a:extLst>
          </p:cNvPr>
          <p:cNvSpPr>
            <a:spLocks noGrp="1"/>
          </p:cNvSpPr>
          <p:nvPr>
            <p:ph idx="1"/>
          </p:nvPr>
        </p:nvSpPr>
        <p:spPr/>
        <p:txBody>
          <a:bodyPr>
            <a:normAutofit/>
          </a:bodyPr>
          <a:lstStyle/>
          <a:p>
            <a:pPr algn="l" rtl="0"/>
            <a:r>
              <a:rPr lang="en-IN" b="0" i="0" dirty="0">
                <a:solidFill>
                  <a:srgbClr val="273239"/>
                </a:solidFill>
                <a:effectLst/>
                <a:latin typeface="Source Sans 3"/>
              </a:rPr>
              <a:t>Consider an implementation of unsorted single linked list. Suppose it has its representation with a head and a tail pointer (i.e. pointers to the first and last nodes of the linked list). Given the representation, which of the following operation can not be implemented in O(1) time ?</a:t>
            </a:r>
          </a:p>
          <a:p>
            <a:pPr marL="0" indent="0">
              <a:buNone/>
            </a:pPr>
            <a:r>
              <a:rPr lang="en-IN" b="0" i="0" dirty="0">
                <a:effectLst/>
                <a:latin typeface="-apple-system"/>
              </a:rPr>
              <a:t>A. </a:t>
            </a:r>
            <a:r>
              <a:rPr lang="en-IN" b="0" i="0" dirty="0">
                <a:effectLst/>
                <a:latin typeface="Source Sans 3"/>
              </a:rPr>
              <a:t>Insertion at the front of the linked list.</a:t>
            </a:r>
          </a:p>
          <a:p>
            <a:pPr marL="0" indent="0">
              <a:buNone/>
            </a:pPr>
            <a:r>
              <a:rPr lang="en-IN" b="0" i="0" dirty="0">
                <a:effectLst/>
                <a:latin typeface="-apple-system"/>
              </a:rPr>
              <a:t>B. </a:t>
            </a:r>
            <a:r>
              <a:rPr lang="en-IN" b="0" i="0" dirty="0">
                <a:effectLst/>
                <a:latin typeface="Source Sans 3"/>
              </a:rPr>
              <a:t>Insertion at the end of the linked list.</a:t>
            </a:r>
          </a:p>
          <a:p>
            <a:pPr marL="0" indent="0">
              <a:buNone/>
            </a:pPr>
            <a:r>
              <a:rPr lang="en-IN" b="0" i="0" dirty="0">
                <a:effectLst/>
                <a:latin typeface="-apple-system"/>
              </a:rPr>
              <a:t>C. </a:t>
            </a:r>
            <a:r>
              <a:rPr lang="en-IN" b="0" i="0" dirty="0">
                <a:effectLst/>
                <a:latin typeface="Source Sans 3"/>
              </a:rPr>
              <a:t>Deletion of the front node of the linked list.</a:t>
            </a:r>
          </a:p>
          <a:p>
            <a:pPr marL="0" indent="0">
              <a:buNone/>
            </a:pPr>
            <a:r>
              <a:rPr lang="en-IN" b="0" i="0" dirty="0">
                <a:effectLst/>
                <a:latin typeface="-apple-system"/>
              </a:rPr>
              <a:t>D. </a:t>
            </a:r>
            <a:r>
              <a:rPr lang="en-IN" b="0" i="0" dirty="0">
                <a:effectLst/>
                <a:latin typeface="Source Sans 3"/>
              </a:rPr>
              <a:t>Deletion of the last node of the linked list.</a:t>
            </a:r>
          </a:p>
          <a:p>
            <a:endParaRPr lang="en-US" dirty="0"/>
          </a:p>
        </p:txBody>
      </p:sp>
    </p:spTree>
    <p:extLst>
      <p:ext uri="{BB962C8B-B14F-4D97-AF65-F5344CB8AC3E}">
        <p14:creationId xmlns:p14="http://schemas.microsoft.com/office/powerpoint/2010/main" val="2983630508"/>
      </p:ext>
    </p:extLst>
  </p:cSld>
  <p:clrMapOvr>
    <a:masterClrMapping/>
  </p:clrMapOvr>
</p:sld>
</file>

<file path=ppt/slides/slide3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9C9CC-0AF7-1235-1DA2-65E21C21AD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B95796-B6C2-7B26-722C-973A74950A0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0658B14-26BF-661C-1402-4432CE34AF43}"/>
              </a:ext>
            </a:extLst>
          </p:cNvPr>
          <p:cNvSpPr>
            <a:spLocks noGrp="1"/>
          </p:cNvSpPr>
          <p:nvPr>
            <p:ph idx="1"/>
          </p:nvPr>
        </p:nvSpPr>
        <p:spPr/>
        <p:txBody>
          <a:bodyPr>
            <a:normAutofit/>
          </a:bodyPr>
          <a:lstStyle/>
          <a:p>
            <a:pPr algn="l" rtl="0"/>
            <a:r>
              <a:rPr lang="en-IN" b="0" i="0" dirty="0">
                <a:solidFill>
                  <a:srgbClr val="273239"/>
                </a:solidFill>
                <a:effectLst/>
                <a:latin typeface="Source Sans 3"/>
              </a:rPr>
              <a:t>Consider an implementation of unsorted single linked list. Suppose it has its representation with a head and a tail pointer (i.e. pointers to the first and last nodes of the linked list). Given the representation, which of the following operation can not be implemented in O(1) time ?</a:t>
            </a:r>
          </a:p>
          <a:p>
            <a:pPr marL="0" indent="0">
              <a:buNone/>
            </a:pPr>
            <a:r>
              <a:rPr lang="en-IN" b="0" i="0" dirty="0">
                <a:effectLst/>
                <a:latin typeface="-apple-system"/>
              </a:rPr>
              <a:t>A. </a:t>
            </a:r>
            <a:r>
              <a:rPr lang="en-IN" b="0" i="0" dirty="0">
                <a:effectLst/>
                <a:latin typeface="Source Sans 3"/>
              </a:rPr>
              <a:t>Insertion at the front of the linked list.</a:t>
            </a:r>
          </a:p>
          <a:p>
            <a:pPr marL="0" indent="0">
              <a:buNone/>
            </a:pPr>
            <a:r>
              <a:rPr lang="en-IN" b="0" i="0" dirty="0">
                <a:effectLst/>
                <a:latin typeface="-apple-system"/>
              </a:rPr>
              <a:t>B. </a:t>
            </a:r>
            <a:r>
              <a:rPr lang="en-IN" b="0" i="0" dirty="0">
                <a:effectLst/>
                <a:latin typeface="Source Sans 3"/>
              </a:rPr>
              <a:t>Insertion at the end of the linked list.</a:t>
            </a:r>
          </a:p>
          <a:p>
            <a:pPr marL="0" indent="0">
              <a:buNone/>
            </a:pPr>
            <a:r>
              <a:rPr lang="en-IN" b="0" i="0" dirty="0">
                <a:effectLst/>
                <a:latin typeface="-apple-system"/>
              </a:rPr>
              <a:t>C. </a:t>
            </a:r>
            <a:r>
              <a:rPr lang="en-IN" b="0" i="0" dirty="0">
                <a:effectLst/>
                <a:latin typeface="Source Sans 3"/>
              </a:rPr>
              <a:t>Deletion of the front node of the linked list.</a:t>
            </a:r>
          </a:p>
          <a:p>
            <a:pPr marL="0" indent="0">
              <a:buNone/>
            </a:pPr>
            <a:r>
              <a:rPr lang="en-IN" b="0" i="0" dirty="0">
                <a:solidFill>
                  <a:srgbClr val="00B050"/>
                </a:solidFill>
                <a:effectLst/>
                <a:latin typeface="-apple-system"/>
              </a:rPr>
              <a:t>D. </a:t>
            </a:r>
            <a:r>
              <a:rPr lang="en-IN" b="0" i="0" dirty="0">
                <a:solidFill>
                  <a:srgbClr val="00B050"/>
                </a:solidFill>
                <a:effectLst/>
                <a:latin typeface="Source Sans 3"/>
              </a:rPr>
              <a:t>Deletion of the last node of the linked list.</a:t>
            </a:r>
          </a:p>
          <a:p>
            <a:endParaRPr lang="en-US" dirty="0"/>
          </a:p>
        </p:txBody>
      </p:sp>
    </p:spTree>
    <p:extLst>
      <p:ext uri="{BB962C8B-B14F-4D97-AF65-F5344CB8AC3E}">
        <p14:creationId xmlns:p14="http://schemas.microsoft.com/office/powerpoint/2010/main" val="2380771904"/>
      </p:ext>
    </p:extLst>
  </p:cSld>
  <p:clrMapOvr>
    <a:masterClrMapping/>
  </p:clrMapOvr>
</p:sld>
</file>

<file path=ppt/slides/slide3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A6426-1574-93BF-D4E6-62643A5F86E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A65642C-9CFE-1D2E-794E-5ECCE95C6D71}"/>
              </a:ext>
            </a:extLst>
          </p:cNvPr>
          <p:cNvSpPr>
            <a:spLocks noGrp="1"/>
          </p:cNvSpPr>
          <p:nvPr>
            <p:ph idx="1"/>
          </p:nvPr>
        </p:nvSpPr>
        <p:spPr/>
        <p:txBody>
          <a:bodyPr>
            <a:normAutofit/>
          </a:bodyPr>
          <a:lstStyle/>
          <a:p>
            <a:pPr algn="l" rtl="0"/>
            <a:r>
              <a:rPr lang="en-IN" b="0" i="0" dirty="0">
                <a:solidFill>
                  <a:srgbClr val="273239"/>
                </a:solidFill>
                <a:effectLst/>
                <a:latin typeface="Source Sans 3"/>
              </a:rPr>
              <a:t>Consider a single linked list where F and L are pointers to the first and last elements respectively of the linked list. The time for performing which of the given operations depends on the length of the linked list?</a:t>
            </a:r>
          </a:p>
          <a:p>
            <a:pPr algn="l" rtl="0"/>
            <a:r>
              <a:rPr lang="en-IN" b="0" i="0" dirty="0">
                <a:solidFill>
                  <a:srgbClr val="273239"/>
                </a:solidFill>
                <a:effectLst/>
                <a:latin typeface="Source Sans 3"/>
              </a:rPr>
              <a:t>F-&gt;1-&gt;2-&gt;3-&gt;L</a:t>
            </a:r>
          </a:p>
          <a:p>
            <a:pPr marL="0" indent="0">
              <a:buNone/>
            </a:pPr>
            <a:r>
              <a:rPr lang="en-IN" b="0" i="0" dirty="0">
                <a:effectLst/>
                <a:latin typeface="-apple-system"/>
              </a:rPr>
              <a:t>A. </a:t>
            </a:r>
            <a:r>
              <a:rPr lang="en-IN" b="0" i="0" dirty="0">
                <a:effectLst/>
                <a:latin typeface="Source Sans 3"/>
              </a:rPr>
              <a:t>Delete the first element of the list</a:t>
            </a:r>
          </a:p>
          <a:p>
            <a:pPr marL="0" indent="0">
              <a:buNone/>
            </a:pPr>
            <a:r>
              <a:rPr lang="en-IN" b="0" i="0" dirty="0">
                <a:effectLst/>
                <a:latin typeface="-apple-system"/>
              </a:rPr>
              <a:t>B. </a:t>
            </a:r>
            <a:r>
              <a:rPr lang="en-IN" b="0" i="0" dirty="0">
                <a:effectLst/>
                <a:latin typeface="Source Sans 3"/>
              </a:rPr>
              <a:t>Interchange the first two elements of the list</a:t>
            </a:r>
          </a:p>
          <a:p>
            <a:pPr marL="0" indent="0">
              <a:buNone/>
            </a:pPr>
            <a:r>
              <a:rPr lang="en-IN" b="0" i="0" dirty="0">
                <a:effectLst/>
                <a:latin typeface="-apple-system"/>
              </a:rPr>
              <a:t>C. </a:t>
            </a:r>
            <a:r>
              <a:rPr lang="en-IN" b="0" i="0" dirty="0">
                <a:effectLst/>
                <a:latin typeface="Source Sans 3"/>
              </a:rPr>
              <a:t>Delete the last element of the list</a:t>
            </a:r>
          </a:p>
          <a:p>
            <a:pPr marL="0" indent="0">
              <a:buNone/>
            </a:pPr>
            <a:r>
              <a:rPr lang="en-IN" b="0" i="0" dirty="0">
                <a:effectLst/>
                <a:latin typeface="-apple-system"/>
              </a:rPr>
              <a:t>D. </a:t>
            </a:r>
            <a:r>
              <a:rPr lang="en-IN" b="0" i="0" dirty="0">
                <a:effectLst/>
                <a:latin typeface="Source Sans 3"/>
              </a:rPr>
              <a:t>Add an element at the end of the list</a:t>
            </a:r>
          </a:p>
          <a:p>
            <a:endParaRPr lang="en-US" dirty="0"/>
          </a:p>
        </p:txBody>
      </p:sp>
    </p:spTree>
    <p:extLst>
      <p:ext uri="{BB962C8B-B14F-4D97-AF65-F5344CB8AC3E}">
        <p14:creationId xmlns:p14="http://schemas.microsoft.com/office/powerpoint/2010/main" val="878966294"/>
      </p:ext>
    </p:extLst>
  </p:cSld>
  <p:clrMapOvr>
    <a:masterClrMapping/>
  </p:clrMapOvr>
</p:sld>
</file>

<file path=ppt/slides/slide3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EDA4B-CFF6-AE1C-1A84-C812B8C618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A8CE1E-46C0-BB70-EC77-E0732828DCC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F60ECCF-D943-CBAE-F191-972F4E66D53E}"/>
              </a:ext>
            </a:extLst>
          </p:cNvPr>
          <p:cNvSpPr>
            <a:spLocks noGrp="1"/>
          </p:cNvSpPr>
          <p:nvPr>
            <p:ph idx="1"/>
          </p:nvPr>
        </p:nvSpPr>
        <p:spPr/>
        <p:txBody>
          <a:bodyPr>
            <a:normAutofit/>
          </a:bodyPr>
          <a:lstStyle/>
          <a:p>
            <a:pPr algn="l" rtl="0"/>
            <a:r>
              <a:rPr lang="en-IN" b="0" i="0" dirty="0">
                <a:solidFill>
                  <a:srgbClr val="273239"/>
                </a:solidFill>
                <a:effectLst/>
                <a:latin typeface="Source Sans 3"/>
              </a:rPr>
              <a:t>Consider a single linked list where F and L are pointers to the first and last elements respectively of the linked list. The time for performing which of the given operations depends on the length of the linked list?</a:t>
            </a:r>
          </a:p>
          <a:p>
            <a:pPr algn="l" rtl="0"/>
            <a:r>
              <a:rPr lang="en-IN" b="0" i="0" dirty="0">
                <a:solidFill>
                  <a:srgbClr val="273239"/>
                </a:solidFill>
                <a:effectLst/>
                <a:latin typeface="Source Sans 3"/>
              </a:rPr>
              <a:t>F-&gt;1-&gt;2-&gt;3-&gt;L</a:t>
            </a:r>
          </a:p>
          <a:p>
            <a:pPr marL="0" indent="0">
              <a:buNone/>
            </a:pPr>
            <a:r>
              <a:rPr lang="en-IN" b="0" i="0" dirty="0">
                <a:effectLst/>
                <a:latin typeface="-apple-system"/>
              </a:rPr>
              <a:t>A. </a:t>
            </a:r>
            <a:r>
              <a:rPr lang="en-IN" b="0" i="0" dirty="0">
                <a:effectLst/>
                <a:latin typeface="Source Sans 3"/>
              </a:rPr>
              <a:t>Delete the first element of the list</a:t>
            </a:r>
          </a:p>
          <a:p>
            <a:pPr marL="0" indent="0">
              <a:buNone/>
            </a:pPr>
            <a:r>
              <a:rPr lang="en-IN" b="0" i="0" dirty="0">
                <a:effectLst/>
                <a:latin typeface="-apple-system"/>
              </a:rPr>
              <a:t>B. </a:t>
            </a:r>
            <a:r>
              <a:rPr lang="en-IN" b="0" i="0" dirty="0">
                <a:effectLst/>
                <a:latin typeface="Source Sans 3"/>
              </a:rPr>
              <a:t>Interchange the first two elements of the list</a:t>
            </a:r>
          </a:p>
          <a:p>
            <a:pPr marL="0" indent="0">
              <a:buNone/>
            </a:pPr>
            <a:r>
              <a:rPr lang="en-IN" b="0" i="0" dirty="0">
                <a:solidFill>
                  <a:srgbClr val="00B050"/>
                </a:solidFill>
                <a:effectLst/>
                <a:latin typeface="-apple-system"/>
              </a:rPr>
              <a:t>C. </a:t>
            </a:r>
            <a:r>
              <a:rPr lang="en-IN" b="0" i="0" dirty="0">
                <a:solidFill>
                  <a:srgbClr val="00B050"/>
                </a:solidFill>
                <a:effectLst/>
                <a:latin typeface="Source Sans 3"/>
              </a:rPr>
              <a:t>Delete the last element of the list</a:t>
            </a:r>
          </a:p>
          <a:p>
            <a:pPr marL="0" indent="0">
              <a:buNone/>
            </a:pPr>
            <a:r>
              <a:rPr lang="en-IN" b="0" i="0" dirty="0">
                <a:effectLst/>
                <a:latin typeface="-apple-system"/>
              </a:rPr>
              <a:t>D. </a:t>
            </a:r>
            <a:r>
              <a:rPr lang="en-IN" b="0" i="0" dirty="0">
                <a:effectLst/>
                <a:latin typeface="Source Sans 3"/>
              </a:rPr>
              <a:t>Add an element at the end of the list</a:t>
            </a:r>
          </a:p>
          <a:p>
            <a:endParaRPr lang="en-US" dirty="0"/>
          </a:p>
        </p:txBody>
      </p:sp>
    </p:spTree>
    <p:extLst>
      <p:ext uri="{BB962C8B-B14F-4D97-AF65-F5344CB8AC3E}">
        <p14:creationId xmlns:p14="http://schemas.microsoft.com/office/powerpoint/2010/main" val="3255725546"/>
      </p:ext>
    </p:extLst>
  </p:cSld>
  <p:clrMapOvr>
    <a:masterClrMapping/>
  </p:clrMapOvr>
</p:sld>
</file>

<file path=ppt/slides/slide3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59857-BAD0-F3BA-DB77-42F36D3AB48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17E4FB-04F1-66A3-7D0C-817F525A7B43}"/>
              </a:ext>
            </a:extLst>
          </p:cNvPr>
          <p:cNvSpPr>
            <a:spLocks noGrp="1"/>
          </p:cNvSpPr>
          <p:nvPr>
            <p:ph idx="1"/>
          </p:nvPr>
        </p:nvSpPr>
        <p:spPr/>
        <p:txBody>
          <a:bodyPr>
            <a:normAutofit lnSpcReduction="10000"/>
          </a:bodyPr>
          <a:lstStyle/>
          <a:p>
            <a:pPr algn="l" rtl="0"/>
            <a:r>
              <a:rPr lang="en-IN" b="0" i="0" dirty="0">
                <a:solidFill>
                  <a:srgbClr val="273239"/>
                </a:solidFill>
                <a:effectLst/>
                <a:latin typeface="Source Sans 3"/>
              </a:rPr>
              <a:t>The following steps in a linked list</a:t>
            </a:r>
          </a:p>
          <a:p>
            <a:pPr algn="l" rtl="0"/>
            <a:r>
              <a:rPr lang="en-IN" b="0" i="0" dirty="0">
                <a:solidFill>
                  <a:srgbClr val="273239"/>
                </a:solidFill>
                <a:effectLst/>
                <a:latin typeface="-apple-system"/>
              </a:rPr>
              <a:t>p = </a:t>
            </a:r>
            <a:r>
              <a:rPr lang="en-IN" b="0" i="0" dirty="0" err="1">
                <a:solidFill>
                  <a:srgbClr val="273239"/>
                </a:solidFill>
                <a:effectLst/>
                <a:latin typeface="-apple-system"/>
              </a:rPr>
              <a:t>getnode</a:t>
            </a:r>
            <a:r>
              <a:rPr lang="en-IN" b="0" i="0" dirty="0">
                <a:solidFill>
                  <a:srgbClr val="273239"/>
                </a:solidFill>
                <a:effectLst/>
                <a:latin typeface="-apple-system"/>
              </a:rPr>
              <a:t>()</a:t>
            </a:r>
            <a:br>
              <a:rPr lang="en-IN" b="0" i="0" dirty="0">
                <a:solidFill>
                  <a:srgbClr val="273239"/>
                </a:solidFill>
                <a:effectLst/>
                <a:latin typeface="-apple-system"/>
              </a:rPr>
            </a:br>
            <a:r>
              <a:rPr lang="en-IN" b="0" i="0" dirty="0">
                <a:solidFill>
                  <a:srgbClr val="273239"/>
                </a:solidFill>
                <a:effectLst/>
                <a:latin typeface="-apple-system"/>
              </a:rPr>
              <a:t>info (p) = 10</a:t>
            </a:r>
            <a:br>
              <a:rPr lang="en-IN" b="0" i="0" dirty="0">
                <a:solidFill>
                  <a:srgbClr val="273239"/>
                </a:solidFill>
                <a:effectLst/>
                <a:latin typeface="-apple-system"/>
              </a:rPr>
            </a:br>
            <a:r>
              <a:rPr lang="en-IN" b="0" i="0" dirty="0">
                <a:solidFill>
                  <a:srgbClr val="273239"/>
                </a:solidFill>
                <a:effectLst/>
                <a:latin typeface="-apple-system"/>
              </a:rPr>
              <a:t>next (p) = list</a:t>
            </a:r>
            <a:br>
              <a:rPr lang="en-IN" b="0" i="0" dirty="0">
                <a:solidFill>
                  <a:srgbClr val="273239"/>
                </a:solidFill>
                <a:effectLst/>
                <a:latin typeface="-apple-system"/>
              </a:rPr>
            </a:br>
            <a:r>
              <a:rPr lang="en-IN" b="0" i="0" dirty="0">
                <a:solidFill>
                  <a:srgbClr val="273239"/>
                </a:solidFill>
                <a:effectLst/>
                <a:latin typeface="-apple-system"/>
              </a:rPr>
              <a:t>list = p</a:t>
            </a:r>
            <a:br>
              <a:rPr lang="en-IN" b="0" i="0" dirty="0">
                <a:solidFill>
                  <a:srgbClr val="273239"/>
                </a:solidFill>
                <a:effectLst/>
                <a:latin typeface="-apple-system"/>
              </a:rPr>
            </a:br>
            <a:r>
              <a:rPr lang="en-IN" b="0" i="0" dirty="0">
                <a:solidFill>
                  <a:srgbClr val="273239"/>
                </a:solidFill>
                <a:effectLst/>
                <a:latin typeface="Source Sans 3"/>
              </a:rPr>
              <a:t>result in which type of operation?</a:t>
            </a:r>
          </a:p>
          <a:p>
            <a:pPr marL="0" indent="0">
              <a:buNone/>
            </a:pPr>
            <a:r>
              <a:rPr lang="en-IN" b="0" i="0" dirty="0">
                <a:effectLst/>
                <a:latin typeface="-apple-system"/>
              </a:rPr>
              <a:t>A. </a:t>
            </a:r>
            <a:r>
              <a:rPr lang="en-IN" b="0" i="0" dirty="0">
                <a:effectLst/>
                <a:latin typeface="Source Sans 3"/>
              </a:rPr>
              <a:t>pop operation in stack</a:t>
            </a:r>
          </a:p>
          <a:p>
            <a:pPr marL="0" indent="0">
              <a:buNone/>
            </a:pPr>
            <a:r>
              <a:rPr lang="en-IN" b="0" i="0" dirty="0">
                <a:effectLst/>
                <a:latin typeface="-apple-system"/>
              </a:rPr>
              <a:t>B. </a:t>
            </a:r>
            <a:r>
              <a:rPr lang="en-IN" b="0" i="0" dirty="0">
                <a:effectLst/>
                <a:latin typeface="Source Sans 3"/>
              </a:rPr>
              <a:t>removal of a node</a:t>
            </a:r>
          </a:p>
          <a:p>
            <a:pPr marL="0" indent="0">
              <a:buNone/>
            </a:pPr>
            <a:r>
              <a:rPr lang="en-IN" b="0" i="0" dirty="0">
                <a:effectLst/>
                <a:latin typeface="-apple-system"/>
              </a:rPr>
              <a:t>C. </a:t>
            </a:r>
            <a:r>
              <a:rPr lang="en-IN" b="0" i="0" dirty="0">
                <a:effectLst/>
                <a:latin typeface="Source Sans 3"/>
              </a:rPr>
              <a:t>inserting a node at beginning </a:t>
            </a:r>
          </a:p>
          <a:p>
            <a:pPr marL="0" indent="0">
              <a:buNone/>
            </a:pPr>
            <a:r>
              <a:rPr lang="en-IN" b="0" i="0" dirty="0">
                <a:effectLst/>
                <a:latin typeface="-apple-system"/>
              </a:rPr>
              <a:t>D. </a:t>
            </a:r>
            <a:r>
              <a:rPr lang="en-IN" b="0" i="0" dirty="0">
                <a:effectLst/>
                <a:latin typeface="Source Sans 3"/>
              </a:rPr>
              <a:t>modifying an existing node</a:t>
            </a:r>
          </a:p>
          <a:p>
            <a:endParaRPr lang="en-US" dirty="0"/>
          </a:p>
        </p:txBody>
      </p:sp>
    </p:spTree>
    <p:extLst>
      <p:ext uri="{BB962C8B-B14F-4D97-AF65-F5344CB8AC3E}">
        <p14:creationId xmlns:p14="http://schemas.microsoft.com/office/powerpoint/2010/main" val="3181427132"/>
      </p:ext>
    </p:extLst>
  </p:cSld>
  <p:clrMapOvr>
    <a:masterClrMapping/>
  </p:clrMapOvr>
</p:sld>
</file>

<file path=ppt/slides/slide3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70B09-C324-F971-ADEC-98FA98A651A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005ED3-6E8C-4248-BF0C-C9562D288A8F}"/>
              </a:ext>
            </a:extLst>
          </p:cNvPr>
          <p:cNvSpPr>
            <a:spLocks noGrp="1"/>
          </p:cNvSpPr>
          <p:nvPr>
            <p:ph idx="1"/>
          </p:nvPr>
        </p:nvSpPr>
        <p:spPr/>
        <p:txBody>
          <a:bodyPr>
            <a:normAutofit lnSpcReduction="10000"/>
          </a:bodyPr>
          <a:lstStyle/>
          <a:p>
            <a:pPr algn="l" rtl="0"/>
            <a:r>
              <a:rPr lang="en-IN" b="0" i="0" dirty="0">
                <a:solidFill>
                  <a:srgbClr val="273239"/>
                </a:solidFill>
                <a:effectLst/>
                <a:latin typeface="Source Sans 3"/>
              </a:rPr>
              <a:t>The following steps in a linked list</a:t>
            </a:r>
          </a:p>
          <a:p>
            <a:pPr algn="l" rtl="0"/>
            <a:r>
              <a:rPr lang="en-IN" b="0" i="0" dirty="0">
                <a:solidFill>
                  <a:srgbClr val="273239"/>
                </a:solidFill>
                <a:effectLst/>
                <a:latin typeface="-apple-system"/>
              </a:rPr>
              <a:t>p = </a:t>
            </a:r>
            <a:r>
              <a:rPr lang="en-IN" b="0" i="0" dirty="0" err="1">
                <a:solidFill>
                  <a:srgbClr val="273239"/>
                </a:solidFill>
                <a:effectLst/>
                <a:latin typeface="-apple-system"/>
              </a:rPr>
              <a:t>getnode</a:t>
            </a:r>
            <a:r>
              <a:rPr lang="en-IN" b="0" i="0" dirty="0">
                <a:solidFill>
                  <a:srgbClr val="273239"/>
                </a:solidFill>
                <a:effectLst/>
                <a:latin typeface="-apple-system"/>
              </a:rPr>
              <a:t>()</a:t>
            </a:r>
            <a:br>
              <a:rPr lang="en-IN" b="0" i="0" dirty="0">
                <a:solidFill>
                  <a:srgbClr val="273239"/>
                </a:solidFill>
                <a:effectLst/>
                <a:latin typeface="-apple-system"/>
              </a:rPr>
            </a:br>
            <a:r>
              <a:rPr lang="en-IN" b="0" i="0" dirty="0">
                <a:solidFill>
                  <a:srgbClr val="273239"/>
                </a:solidFill>
                <a:effectLst/>
                <a:latin typeface="-apple-system"/>
              </a:rPr>
              <a:t>info (p) = 10</a:t>
            </a:r>
            <a:br>
              <a:rPr lang="en-IN" b="0" i="0" dirty="0">
                <a:solidFill>
                  <a:srgbClr val="273239"/>
                </a:solidFill>
                <a:effectLst/>
                <a:latin typeface="-apple-system"/>
              </a:rPr>
            </a:br>
            <a:r>
              <a:rPr lang="en-IN" b="0" i="0" dirty="0">
                <a:solidFill>
                  <a:srgbClr val="273239"/>
                </a:solidFill>
                <a:effectLst/>
                <a:latin typeface="-apple-system"/>
              </a:rPr>
              <a:t>next (p) = list</a:t>
            </a:r>
            <a:br>
              <a:rPr lang="en-IN" b="0" i="0" dirty="0">
                <a:solidFill>
                  <a:srgbClr val="273239"/>
                </a:solidFill>
                <a:effectLst/>
                <a:latin typeface="-apple-system"/>
              </a:rPr>
            </a:br>
            <a:r>
              <a:rPr lang="en-IN" b="0" i="0" dirty="0">
                <a:solidFill>
                  <a:srgbClr val="273239"/>
                </a:solidFill>
                <a:effectLst/>
                <a:latin typeface="-apple-system"/>
              </a:rPr>
              <a:t>list = p</a:t>
            </a:r>
            <a:br>
              <a:rPr lang="en-IN" b="0" i="0" dirty="0">
                <a:solidFill>
                  <a:srgbClr val="273239"/>
                </a:solidFill>
                <a:effectLst/>
                <a:latin typeface="-apple-system"/>
              </a:rPr>
            </a:br>
            <a:r>
              <a:rPr lang="en-IN" b="0" i="0" dirty="0">
                <a:solidFill>
                  <a:srgbClr val="273239"/>
                </a:solidFill>
                <a:effectLst/>
                <a:latin typeface="Source Sans 3"/>
              </a:rPr>
              <a:t>result in which type of operation?</a:t>
            </a:r>
          </a:p>
          <a:p>
            <a:pPr marL="0" indent="0">
              <a:buNone/>
            </a:pPr>
            <a:r>
              <a:rPr lang="en-IN" b="0" i="0" dirty="0">
                <a:effectLst/>
                <a:latin typeface="-apple-system"/>
              </a:rPr>
              <a:t>A. </a:t>
            </a:r>
            <a:r>
              <a:rPr lang="en-IN" b="0" i="0" dirty="0">
                <a:effectLst/>
                <a:latin typeface="Source Sans 3"/>
              </a:rPr>
              <a:t>pop operation in stack</a:t>
            </a:r>
          </a:p>
          <a:p>
            <a:pPr marL="0" indent="0">
              <a:buNone/>
            </a:pPr>
            <a:r>
              <a:rPr lang="en-IN" b="0" i="0" dirty="0">
                <a:effectLst/>
                <a:latin typeface="-apple-system"/>
              </a:rPr>
              <a:t>B. </a:t>
            </a:r>
            <a:r>
              <a:rPr lang="en-IN" b="0" i="0" dirty="0">
                <a:effectLst/>
                <a:latin typeface="Source Sans 3"/>
              </a:rPr>
              <a:t>removal of a node</a:t>
            </a:r>
          </a:p>
          <a:p>
            <a:pPr marL="0" indent="0">
              <a:buNone/>
            </a:pPr>
            <a:r>
              <a:rPr lang="en-IN" b="0" i="0" dirty="0">
                <a:solidFill>
                  <a:srgbClr val="00B050"/>
                </a:solidFill>
                <a:effectLst/>
                <a:latin typeface="-apple-system"/>
              </a:rPr>
              <a:t>C. </a:t>
            </a:r>
            <a:r>
              <a:rPr lang="en-IN" b="0" i="0" dirty="0">
                <a:solidFill>
                  <a:srgbClr val="00B050"/>
                </a:solidFill>
                <a:effectLst/>
                <a:latin typeface="Source Sans 3"/>
              </a:rPr>
              <a:t>inserting a node at beginning </a:t>
            </a:r>
          </a:p>
          <a:p>
            <a:pPr marL="0" indent="0">
              <a:buNone/>
            </a:pPr>
            <a:r>
              <a:rPr lang="en-IN" b="0" i="0" dirty="0">
                <a:effectLst/>
                <a:latin typeface="-apple-system"/>
              </a:rPr>
              <a:t>D. </a:t>
            </a:r>
            <a:r>
              <a:rPr lang="en-IN" b="0" i="0" dirty="0">
                <a:effectLst/>
                <a:latin typeface="Source Sans 3"/>
              </a:rPr>
              <a:t>modifying an existing node</a:t>
            </a:r>
          </a:p>
          <a:p>
            <a:endParaRPr lang="en-US" dirty="0"/>
          </a:p>
        </p:txBody>
      </p:sp>
    </p:spTree>
    <p:extLst>
      <p:ext uri="{BB962C8B-B14F-4D97-AF65-F5344CB8AC3E}">
        <p14:creationId xmlns:p14="http://schemas.microsoft.com/office/powerpoint/2010/main" val="3306842700"/>
      </p:ext>
    </p:extLst>
  </p:cSld>
  <p:clrMapOvr>
    <a:masterClrMapping/>
  </p:clrMapOvr>
</p:sld>
</file>

<file path=ppt/slides/slide3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AA433-E3C2-F62D-92D2-F844251587B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E4402E6-FF6A-6A91-6FE9-1DA354795CE5}"/>
              </a:ext>
            </a:extLst>
          </p:cNvPr>
          <p:cNvSpPr>
            <a:spLocks noGrp="1"/>
          </p:cNvSpPr>
          <p:nvPr>
            <p:ph idx="1"/>
          </p:nvPr>
        </p:nvSpPr>
        <p:spPr/>
        <p:txBody>
          <a:bodyPr>
            <a:normAutofit/>
          </a:bodyPr>
          <a:lstStyle/>
          <a:p>
            <a:pPr algn="l" rtl="0"/>
            <a:r>
              <a:rPr lang="en-IN" b="0" i="0" dirty="0">
                <a:solidFill>
                  <a:srgbClr val="273239"/>
                </a:solidFill>
                <a:effectLst/>
                <a:latin typeface="Source Sans 3"/>
              </a:rPr>
              <a:t>Which of the following operations is performed more efficiently by doubly linked list than by linear linked list?</a:t>
            </a:r>
          </a:p>
          <a:p>
            <a:pPr marL="0" indent="0">
              <a:buNone/>
            </a:pPr>
            <a:r>
              <a:rPr lang="en-IN" b="0" i="0" dirty="0">
                <a:effectLst/>
                <a:latin typeface="-apple-system"/>
              </a:rPr>
              <a:t>A. </a:t>
            </a:r>
            <a:r>
              <a:rPr lang="en-IN" b="0" i="0" dirty="0">
                <a:effectLst/>
                <a:latin typeface="Source Sans 3"/>
              </a:rPr>
              <a:t>Deleting a node whose location is given</a:t>
            </a:r>
          </a:p>
          <a:p>
            <a:pPr marL="0" indent="0">
              <a:buNone/>
            </a:pPr>
            <a:r>
              <a:rPr lang="en-IN" b="0" i="0" dirty="0">
                <a:effectLst/>
                <a:latin typeface="-apple-system"/>
              </a:rPr>
              <a:t>B. </a:t>
            </a:r>
            <a:r>
              <a:rPr lang="en-IN" b="0" i="0" dirty="0">
                <a:effectLst/>
                <a:latin typeface="Source Sans 3"/>
              </a:rPr>
              <a:t>Searching an unsorted list for a given item</a:t>
            </a:r>
          </a:p>
          <a:p>
            <a:pPr marL="0" indent="0">
              <a:buNone/>
            </a:pPr>
            <a:r>
              <a:rPr lang="en-IN" b="0" i="0" dirty="0">
                <a:effectLst/>
                <a:latin typeface="-apple-system"/>
              </a:rPr>
              <a:t>C. </a:t>
            </a:r>
            <a:r>
              <a:rPr lang="en-IN" b="0" i="0" dirty="0">
                <a:effectLst/>
                <a:latin typeface="Source Sans 3"/>
              </a:rPr>
              <a:t>Inserting a node after the node with a given location</a:t>
            </a:r>
          </a:p>
          <a:p>
            <a:pPr marL="0" indent="0">
              <a:buNone/>
            </a:pPr>
            <a:r>
              <a:rPr lang="en-IN" b="0" i="0" dirty="0">
                <a:effectLst/>
                <a:latin typeface="-apple-system"/>
              </a:rPr>
              <a:t>D. </a:t>
            </a:r>
            <a:r>
              <a:rPr lang="en-IN" b="0" i="0" dirty="0">
                <a:effectLst/>
                <a:latin typeface="Source Sans 3"/>
              </a:rPr>
              <a:t>Traversing the list to process each node</a:t>
            </a:r>
          </a:p>
          <a:p>
            <a:endParaRPr lang="en-US" dirty="0"/>
          </a:p>
        </p:txBody>
      </p:sp>
    </p:spTree>
    <p:extLst>
      <p:ext uri="{BB962C8B-B14F-4D97-AF65-F5344CB8AC3E}">
        <p14:creationId xmlns:p14="http://schemas.microsoft.com/office/powerpoint/2010/main" val="573517933"/>
      </p:ext>
    </p:extLst>
  </p:cSld>
  <p:clrMapOvr>
    <a:masterClrMapping/>
  </p:clrMapOvr>
</p:sld>
</file>

<file path=ppt/slides/slide3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7587F-6D0B-B562-1584-6F3F5E6EF2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E54683-FA01-D60E-785A-F6D842286B3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B0A7811-1A3E-CDE4-BA0E-A340E5DFE471}"/>
              </a:ext>
            </a:extLst>
          </p:cNvPr>
          <p:cNvSpPr>
            <a:spLocks noGrp="1"/>
          </p:cNvSpPr>
          <p:nvPr>
            <p:ph idx="1"/>
          </p:nvPr>
        </p:nvSpPr>
        <p:spPr/>
        <p:txBody>
          <a:bodyPr>
            <a:normAutofit/>
          </a:bodyPr>
          <a:lstStyle/>
          <a:p>
            <a:pPr algn="l" rtl="0"/>
            <a:r>
              <a:rPr lang="en-IN" b="0" i="0" dirty="0">
                <a:solidFill>
                  <a:srgbClr val="273239"/>
                </a:solidFill>
                <a:effectLst/>
                <a:latin typeface="Source Sans 3"/>
              </a:rPr>
              <a:t>Which of the following operations is performed more efficiently by doubly linked list than by linear linked list?</a:t>
            </a:r>
          </a:p>
          <a:p>
            <a:pPr marL="0" indent="0">
              <a:buNone/>
            </a:pPr>
            <a:r>
              <a:rPr lang="en-IN" b="0" i="0" dirty="0">
                <a:solidFill>
                  <a:srgbClr val="00B050"/>
                </a:solidFill>
                <a:effectLst/>
                <a:latin typeface="-apple-system"/>
              </a:rPr>
              <a:t>A. </a:t>
            </a:r>
            <a:r>
              <a:rPr lang="en-IN" b="0" i="0" dirty="0">
                <a:solidFill>
                  <a:srgbClr val="00B050"/>
                </a:solidFill>
                <a:effectLst/>
                <a:latin typeface="Source Sans 3"/>
              </a:rPr>
              <a:t>Deleting a node whose location is given</a:t>
            </a:r>
          </a:p>
          <a:p>
            <a:pPr marL="0" indent="0">
              <a:buNone/>
            </a:pPr>
            <a:r>
              <a:rPr lang="en-IN" b="0" i="0" dirty="0">
                <a:effectLst/>
                <a:latin typeface="-apple-system"/>
              </a:rPr>
              <a:t>B. </a:t>
            </a:r>
            <a:r>
              <a:rPr lang="en-IN" b="0" i="0" dirty="0">
                <a:effectLst/>
                <a:latin typeface="Source Sans 3"/>
              </a:rPr>
              <a:t>Searching an unsorted list for a given item</a:t>
            </a:r>
          </a:p>
          <a:p>
            <a:pPr marL="0" indent="0">
              <a:buNone/>
            </a:pPr>
            <a:r>
              <a:rPr lang="en-IN" b="0" i="0" dirty="0">
                <a:effectLst/>
                <a:latin typeface="-apple-system"/>
              </a:rPr>
              <a:t>C. </a:t>
            </a:r>
            <a:r>
              <a:rPr lang="en-IN" b="0" i="0" dirty="0">
                <a:effectLst/>
                <a:latin typeface="Source Sans 3"/>
              </a:rPr>
              <a:t>Inserting a node after the node with a given location</a:t>
            </a:r>
          </a:p>
          <a:p>
            <a:pPr marL="0" indent="0">
              <a:buNone/>
            </a:pPr>
            <a:r>
              <a:rPr lang="en-IN" b="0" i="0" dirty="0">
                <a:effectLst/>
                <a:latin typeface="-apple-system"/>
              </a:rPr>
              <a:t>D. </a:t>
            </a:r>
            <a:r>
              <a:rPr lang="en-IN" b="0" i="0" dirty="0">
                <a:effectLst/>
                <a:latin typeface="Source Sans 3"/>
              </a:rPr>
              <a:t>Traversing the list to process each node</a:t>
            </a:r>
          </a:p>
          <a:p>
            <a:endParaRPr lang="en-US" dirty="0"/>
          </a:p>
        </p:txBody>
      </p:sp>
    </p:spTree>
    <p:extLst>
      <p:ext uri="{BB962C8B-B14F-4D97-AF65-F5344CB8AC3E}">
        <p14:creationId xmlns:p14="http://schemas.microsoft.com/office/powerpoint/2010/main" val="3360220782"/>
      </p:ext>
    </p:extLst>
  </p:cSld>
  <p:clrMapOvr>
    <a:masterClrMapping/>
  </p:clrMapOvr>
</p:sld>
</file>

<file path=ppt/slides/slide3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7B18A-47D0-2FD4-B7CF-162FF7E7D38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01BAFAD-98C3-2539-66C6-0015B1E5617B}"/>
              </a:ext>
            </a:extLst>
          </p:cNvPr>
          <p:cNvSpPr>
            <a:spLocks noGrp="1"/>
          </p:cNvSpPr>
          <p:nvPr>
            <p:ph idx="1"/>
          </p:nvPr>
        </p:nvSpPr>
        <p:spPr/>
        <p:txBody>
          <a:bodyPr>
            <a:normAutofit/>
          </a:bodyPr>
          <a:lstStyle/>
          <a:p>
            <a:pPr algn="l" rtl="0"/>
            <a:r>
              <a:rPr lang="en-IN" b="0" i="0" dirty="0">
                <a:solidFill>
                  <a:srgbClr val="273239"/>
                </a:solidFill>
                <a:effectLst/>
                <a:latin typeface="Source Sans 3"/>
              </a:rPr>
              <a:t>The time required to search an element in a linked list of length n is</a:t>
            </a:r>
          </a:p>
          <a:p>
            <a:pPr marL="0" indent="0">
              <a:buNone/>
            </a:pPr>
            <a:r>
              <a:rPr lang="en-IN" b="0" i="0" dirty="0">
                <a:effectLst/>
                <a:latin typeface="-apple-system"/>
              </a:rPr>
              <a:t>A. </a:t>
            </a:r>
            <a:r>
              <a:rPr lang="en-IN" b="0" i="0" dirty="0">
                <a:effectLst/>
                <a:latin typeface="Source Sans 3"/>
              </a:rPr>
              <a:t>O (log n)</a:t>
            </a:r>
          </a:p>
          <a:p>
            <a:pPr marL="0" indent="0">
              <a:buNone/>
            </a:pPr>
            <a:r>
              <a:rPr lang="en-IN" b="0" i="0" dirty="0">
                <a:effectLst/>
                <a:latin typeface="-apple-system"/>
              </a:rPr>
              <a:t>B. </a:t>
            </a:r>
            <a:r>
              <a:rPr lang="en-IN" b="0" i="0" dirty="0">
                <a:effectLst/>
                <a:latin typeface="Source Sans 3"/>
              </a:rPr>
              <a:t>O (n)</a:t>
            </a:r>
          </a:p>
          <a:p>
            <a:pPr marL="0" indent="0">
              <a:buNone/>
            </a:pPr>
            <a:r>
              <a:rPr lang="en-IN" b="0" i="0" dirty="0">
                <a:effectLst/>
                <a:latin typeface="-apple-system"/>
              </a:rPr>
              <a:t>C. </a:t>
            </a:r>
            <a:r>
              <a:rPr lang="en-IN" b="0" i="0" dirty="0">
                <a:effectLst/>
                <a:latin typeface="Source Sans 3"/>
              </a:rPr>
              <a:t>O (1)</a:t>
            </a:r>
          </a:p>
          <a:p>
            <a:pPr marL="0" indent="0">
              <a:buNone/>
            </a:pPr>
            <a:r>
              <a:rPr lang="en-IN" b="0" i="0" dirty="0">
                <a:effectLst/>
                <a:latin typeface="-apple-system"/>
              </a:rPr>
              <a:t>D. </a:t>
            </a:r>
            <a:r>
              <a:rPr lang="en-IN" b="0" i="0" dirty="0">
                <a:effectLst/>
                <a:latin typeface="Source Sans 3"/>
              </a:rPr>
              <a:t>O (n</a:t>
            </a:r>
            <a:r>
              <a:rPr lang="en-IN" b="0" i="0" baseline="30000" dirty="0">
                <a:effectLst/>
                <a:latin typeface="Source Sans 3"/>
              </a:rPr>
              <a:t>2</a:t>
            </a:r>
            <a:r>
              <a:rPr lang="en-IN" b="0" i="0" dirty="0">
                <a:effectLst/>
                <a:latin typeface="Source Sans 3"/>
              </a:rPr>
              <a:t>)</a:t>
            </a:r>
          </a:p>
          <a:p>
            <a:endParaRPr lang="en-US" dirty="0"/>
          </a:p>
        </p:txBody>
      </p:sp>
    </p:spTree>
    <p:extLst>
      <p:ext uri="{BB962C8B-B14F-4D97-AF65-F5344CB8AC3E}">
        <p14:creationId xmlns:p14="http://schemas.microsoft.com/office/powerpoint/2010/main" val="136933587"/>
      </p:ext>
    </p:extLst>
  </p:cSld>
  <p:clrMapOvr>
    <a:masterClrMapping/>
  </p:clrMapOvr>
</p:sld>
</file>

<file path=ppt/slides/slide3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B9C75-8096-82A7-238D-076BE0EDD7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02C895-6943-52B0-D181-E0CDFB11837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880BEE1-89FF-B5DE-B7F1-78C8383DB3B7}"/>
              </a:ext>
            </a:extLst>
          </p:cNvPr>
          <p:cNvSpPr>
            <a:spLocks noGrp="1"/>
          </p:cNvSpPr>
          <p:nvPr>
            <p:ph idx="1"/>
          </p:nvPr>
        </p:nvSpPr>
        <p:spPr/>
        <p:txBody>
          <a:bodyPr>
            <a:normAutofit/>
          </a:bodyPr>
          <a:lstStyle/>
          <a:p>
            <a:pPr algn="l" rtl="0"/>
            <a:r>
              <a:rPr lang="en-IN" b="0" i="0" dirty="0">
                <a:solidFill>
                  <a:srgbClr val="273239"/>
                </a:solidFill>
                <a:effectLst/>
                <a:latin typeface="Source Sans 3"/>
              </a:rPr>
              <a:t>The time required to search an element in a linked list of length n is</a:t>
            </a:r>
          </a:p>
          <a:p>
            <a:pPr marL="0" indent="0">
              <a:buNone/>
            </a:pPr>
            <a:r>
              <a:rPr lang="en-IN" b="0" i="0" dirty="0">
                <a:effectLst/>
                <a:latin typeface="-apple-system"/>
              </a:rPr>
              <a:t>A. </a:t>
            </a:r>
            <a:r>
              <a:rPr lang="en-IN" b="0" i="0" dirty="0">
                <a:effectLst/>
                <a:latin typeface="Source Sans 3"/>
              </a:rPr>
              <a:t>O (log n)</a:t>
            </a:r>
          </a:p>
          <a:p>
            <a:pPr marL="0" indent="0">
              <a:buNone/>
            </a:pPr>
            <a:r>
              <a:rPr lang="en-IN" b="0" i="0" dirty="0">
                <a:solidFill>
                  <a:srgbClr val="00B050"/>
                </a:solidFill>
                <a:effectLst/>
                <a:latin typeface="-apple-system"/>
              </a:rPr>
              <a:t>B. </a:t>
            </a:r>
            <a:r>
              <a:rPr lang="en-IN" b="0" i="0" dirty="0">
                <a:solidFill>
                  <a:srgbClr val="00B050"/>
                </a:solidFill>
                <a:effectLst/>
                <a:latin typeface="Source Sans 3"/>
              </a:rPr>
              <a:t>O (n)</a:t>
            </a:r>
          </a:p>
          <a:p>
            <a:pPr marL="0" indent="0">
              <a:buNone/>
            </a:pPr>
            <a:r>
              <a:rPr lang="en-IN" b="0" i="0" dirty="0">
                <a:effectLst/>
                <a:latin typeface="-apple-system"/>
              </a:rPr>
              <a:t>C. </a:t>
            </a:r>
            <a:r>
              <a:rPr lang="en-IN" b="0" i="0" dirty="0">
                <a:effectLst/>
                <a:latin typeface="Source Sans 3"/>
              </a:rPr>
              <a:t>O (1)</a:t>
            </a:r>
          </a:p>
          <a:p>
            <a:pPr marL="0" indent="0">
              <a:buNone/>
            </a:pPr>
            <a:r>
              <a:rPr lang="en-IN" b="0" i="0" dirty="0">
                <a:effectLst/>
                <a:latin typeface="-apple-system"/>
              </a:rPr>
              <a:t>D. </a:t>
            </a:r>
            <a:r>
              <a:rPr lang="en-IN" b="0" i="0" dirty="0">
                <a:effectLst/>
                <a:latin typeface="Source Sans 3"/>
              </a:rPr>
              <a:t>O (n</a:t>
            </a:r>
            <a:r>
              <a:rPr lang="en-IN" b="0" i="0" baseline="30000" dirty="0">
                <a:effectLst/>
                <a:latin typeface="Source Sans 3"/>
              </a:rPr>
              <a:t>2</a:t>
            </a:r>
            <a:r>
              <a:rPr lang="en-IN" b="0" i="0" dirty="0">
                <a:effectLst/>
                <a:latin typeface="Source Sans 3"/>
              </a:rPr>
              <a:t>)</a:t>
            </a:r>
          </a:p>
          <a:p>
            <a:endParaRPr lang="en-US" dirty="0"/>
          </a:p>
        </p:txBody>
      </p:sp>
    </p:spTree>
    <p:extLst>
      <p:ext uri="{BB962C8B-B14F-4D97-AF65-F5344CB8AC3E}">
        <p14:creationId xmlns:p14="http://schemas.microsoft.com/office/powerpoint/2010/main" val="1195798795"/>
      </p:ext>
    </p:extLst>
  </p:cSld>
  <p:clrMapOvr>
    <a:masterClrMapping/>
  </p:clrMapOvr>
</p:sld>
</file>

<file path=ppt/slides/slide3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A9B49-2DAA-74FB-45C2-942FB15A708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42AD8C1-A741-9CC6-7265-2A47DC627E0B}"/>
              </a:ext>
            </a:extLst>
          </p:cNvPr>
          <p:cNvSpPr>
            <a:spLocks noGrp="1"/>
          </p:cNvSpPr>
          <p:nvPr>
            <p:ph idx="1"/>
          </p:nvPr>
        </p:nvSpPr>
        <p:spPr/>
        <p:txBody>
          <a:bodyPr>
            <a:normAutofit/>
          </a:bodyPr>
          <a:lstStyle/>
          <a:p>
            <a:pPr algn="l" rtl="0"/>
            <a:r>
              <a:rPr lang="en-IN" b="0" i="0" dirty="0">
                <a:solidFill>
                  <a:srgbClr val="273239"/>
                </a:solidFill>
                <a:effectLst/>
                <a:latin typeface="Source Sans 3"/>
              </a:rPr>
              <a:t>The minimum number of fields with each node of doubly linked list is</a:t>
            </a:r>
          </a:p>
          <a:p>
            <a:pPr marL="0" indent="0">
              <a:buNone/>
            </a:pPr>
            <a:r>
              <a:rPr lang="en-IN" b="0" i="0" dirty="0">
                <a:effectLst/>
                <a:latin typeface="-apple-system"/>
              </a:rPr>
              <a:t>A. </a:t>
            </a:r>
            <a:r>
              <a:rPr lang="en-IN" b="0" i="0" dirty="0">
                <a:effectLst/>
                <a:latin typeface="Source Sans 3"/>
              </a:rPr>
              <a:t>1</a:t>
            </a:r>
          </a:p>
          <a:p>
            <a:pPr marL="0" indent="0">
              <a:buNone/>
            </a:pPr>
            <a:r>
              <a:rPr lang="en-IN" b="0" i="0" dirty="0">
                <a:effectLst/>
                <a:latin typeface="-apple-system"/>
              </a:rPr>
              <a:t>B. </a:t>
            </a:r>
            <a:r>
              <a:rPr lang="en-IN" b="0" i="0" dirty="0">
                <a:effectLst/>
                <a:latin typeface="Source Sans 3"/>
              </a:rPr>
              <a:t>2</a:t>
            </a:r>
          </a:p>
          <a:p>
            <a:pPr marL="0" indent="0">
              <a:buNone/>
            </a:pPr>
            <a:r>
              <a:rPr lang="en-IN" b="0" i="0" dirty="0">
                <a:effectLst/>
                <a:latin typeface="-apple-system"/>
              </a:rPr>
              <a:t>C. </a:t>
            </a:r>
            <a:r>
              <a:rPr lang="en-IN" b="0" i="0" dirty="0">
                <a:effectLst/>
                <a:latin typeface="Source Sans 3"/>
              </a:rPr>
              <a:t>3</a:t>
            </a:r>
          </a:p>
          <a:p>
            <a:pPr marL="0" indent="0">
              <a:buNone/>
            </a:pPr>
            <a:r>
              <a:rPr lang="en-IN" b="0" i="0" dirty="0">
                <a:effectLst/>
                <a:latin typeface="-apple-system"/>
              </a:rPr>
              <a:t>D. </a:t>
            </a:r>
            <a:r>
              <a:rPr lang="en-IN" b="0" i="0" dirty="0">
                <a:effectLst/>
                <a:latin typeface="Source Sans 3"/>
              </a:rPr>
              <a:t>4</a:t>
            </a:r>
          </a:p>
          <a:p>
            <a:endParaRPr lang="en-US" dirty="0"/>
          </a:p>
        </p:txBody>
      </p:sp>
    </p:spTree>
    <p:extLst>
      <p:ext uri="{BB962C8B-B14F-4D97-AF65-F5344CB8AC3E}">
        <p14:creationId xmlns:p14="http://schemas.microsoft.com/office/powerpoint/2010/main" val="4200834363"/>
      </p:ext>
    </p:extLst>
  </p:cSld>
  <p:clrMapOvr>
    <a:masterClrMapping/>
  </p:clrMapOvr>
</p:sld>
</file>

<file path=ppt/slides/slide3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08413-7331-7132-C29E-262AB3F88E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AA0D19-EB0F-D752-6CF3-F6A8F74CDBF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BF7FF8E-8F74-7110-A005-A5FF145E3AA9}"/>
              </a:ext>
            </a:extLst>
          </p:cNvPr>
          <p:cNvSpPr>
            <a:spLocks noGrp="1"/>
          </p:cNvSpPr>
          <p:nvPr>
            <p:ph idx="1"/>
          </p:nvPr>
        </p:nvSpPr>
        <p:spPr/>
        <p:txBody>
          <a:bodyPr>
            <a:normAutofit/>
          </a:bodyPr>
          <a:lstStyle/>
          <a:p>
            <a:pPr algn="l" rtl="0"/>
            <a:r>
              <a:rPr lang="en-IN" b="0" i="0" dirty="0">
                <a:solidFill>
                  <a:srgbClr val="273239"/>
                </a:solidFill>
                <a:effectLst/>
                <a:latin typeface="Source Sans 3"/>
              </a:rPr>
              <a:t>The minimum number of fields with each node of doubly linked list is</a:t>
            </a:r>
          </a:p>
          <a:p>
            <a:pPr marL="0" indent="0">
              <a:buNone/>
            </a:pPr>
            <a:r>
              <a:rPr lang="en-IN" b="0" i="0" dirty="0">
                <a:effectLst/>
                <a:latin typeface="-apple-system"/>
              </a:rPr>
              <a:t>A. </a:t>
            </a:r>
            <a:r>
              <a:rPr lang="en-IN" b="0" i="0" dirty="0">
                <a:effectLst/>
                <a:latin typeface="Source Sans 3"/>
              </a:rPr>
              <a:t>1</a:t>
            </a:r>
          </a:p>
          <a:p>
            <a:pPr marL="0" indent="0">
              <a:buNone/>
            </a:pPr>
            <a:r>
              <a:rPr lang="en-IN" b="0" i="0" dirty="0">
                <a:effectLst/>
                <a:latin typeface="-apple-system"/>
              </a:rPr>
              <a:t>B. </a:t>
            </a:r>
            <a:r>
              <a:rPr lang="en-IN" b="0" i="0" dirty="0">
                <a:effectLst/>
                <a:latin typeface="Source Sans 3"/>
              </a:rPr>
              <a:t>2</a:t>
            </a:r>
          </a:p>
          <a:p>
            <a:pPr marL="0" indent="0">
              <a:buNone/>
            </a:pPr>
            <a:r>
              <a:rPr lang="en-IN" b="0" i="0" dirty="0">
                <a:solidFill>
                  <a:srgbClr val="00B050"/>
                </a:solidFill>
                <a:effectLst/>
                <a:latin typeface="-apple-system"/>
              </a:rPr>
              <a:t>C. </a:t>
            </a:r>
            <a:r>
              <a:rPr lang="en-IN" b="0" i="0" dirty="0">
                <a:solidFill>
                  <a:srgbClr val="00B050"/>
                </a:solidFill>
                <a:effectLst/>
                <a:latin typeface="Source Sans 3"/>
              </a:rPr>
              <a:t>3</a:t>
            </a:r>
          </a:p>
          <a:p>
            <a:pPr marL="0" indent="0">
              <a:buNone/>
            </a:pPr>
            <a:r>
              <a:rPr lang="en-IN" b="0" i="0" dirty="0">
                <a:effectLst/>
                <a:latin typeface="-apple-system"/>
              </a:rPr>
              <a:t>D. </a:t>
            </a:r>
            <a:r>
              <a:rPr lang="en-IN" b="0" i="0" dirty="0">
                <a:effectLst/>
                <a:latin typeface="Source Sans 3"/>
              </a:rPr>
              <a:t>4</a:t>
            </a:r>
          </a:p>
          <a:p>
            <a:endParaRPr lang="en-US" dirty="0"/>
          </a:p>
        </p:txBody>
      </p:sp>
    </p:spTree>
    <p:extLst>
      <p:ext uri="{BB962C8B-B14F-4D97-AF65-F5344CB8AC3E}">
        <p14:creationId xmlns:p14="http://schemas.microsoft.com/office/powerpoint/2010/main" val="2264119513"/>
      </p:ext>
    </p:extLst>
  </p:cSld>
  <p:clrMapOvr>
    <a:masterClrMapping/>
  </p:clrMapOvr>
</p:sld>
</file>

<file path=ppt/slides/slide3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8E4CF-03C9-5271-549B-1A70B608741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615DFF3-E78F-2B36-F75C-0A8593164573}"/>
              </a:ext>
            </a:extLst>
          </p:cNvPr>
          <p:cNvSpPr>
            <a:spLocks noGrp="1"/>
          </p:cNvSpPr>
          <p:nvPr>
            <p:ph idx="1"/>
          </p:nvPr>
        </p:nvSpPr>
        <p:spPr/>
        <p:txBody>
          <a:bodyPr>
            <a:normAutofit/>
          </a:bodyPr>
          <a:lstStyle/>
          <a:p>
            <a:pPr algn="l" rtl="0"/>
            <a:r>
              <a:rPr lang="en-IN" b="0" i="0" dirty="0">
                <a:solidFill>
                  <a:srgbClr val="273239"/>
                </a:solidFill>
                <a:effectLst/>
                <a:latin typeface="Source Sans 3"/>
              </a:rPr>
              <a:t>Suppose there are two singly linked lists both of which intersect at some point and become a single linked list. The head or start pointers of both the lists are known, but the intersecting node and lengths of lists are not known. What is worst case time complexity of optimal algorithm to find intersecting node from two intersecting linked lists?</a:t>
            </a:r>
          </a:p>
          <a:p>
            <a:pPr marL="0" indent="0">
              <a:buNone/>
            </a:pPr>
            <a:r>
              <a:rPr lang="en-IN" b="0" i="0" dirty="0">
                <a:effectLst/>
                <a:latin typeface="-apple-system"/>
              </a:rPr>
              <a:t>A. </a:t>
            </a:r>
            <a:r>
              <a:rPr lang="el-GR" b="0" i="0" dirty="0">
                <a:effectLst/>
                <a:latin typeface="Source Sans 3"/>
              </a:rPr>
              <a:t>Θ(</a:t>
            </a:r>
            <a:r>
              <a:rPr lang="en-IN" b="0" i="0" dirty="0">
                <a:effectLst/>
                <a:latin typeface="Source Sans 3"/>
              </a:rPr>
              <a:t>n*m), where m, n are lengths of given lists</a:t>
            </a:r>
          </a:p>
          <a:p>
            <a:pPr marL="0" indent="0">
              <a:buNone/>
            </a:pPr>
            <a:r>
              <a:rPr lang="en-IN" b="0" i="0" dirty="0">
                <a:effectLst/>
                <a:latin typeface="-apple-system"/>
              </a:rPr>
              <a:t>B. </a:t>
            </a:r>
            <a:r>
              <a:rPr lang="el-GR" b="0" i="0" dirty="0">
                <a:effectLst/>
                <a:latin typeface="Source Sans 3"/>
              </a:rPr>
              <a:t>Θ(</a:t>
            </a:r>
            <a:r>
              <a:rPr lang="en-IN" b="0" i="0" dirty="0">
                <a:effectLst/>
                <a:latin typeface="Source Sans 3"/>
              </a:rPr>
              <a:t>n^2), where m&gt;n and m, n are lengths of given lists</a:t>
            </a:r>
          </a:p>
          <a:p>
            <a:pPr marL="0" indent="0">
              <a:buNone/>
            </a:pPr>
            <a:r>
              <a:rPr lang="en-IN" b="0" i="0" dirty="0">
                <a:effectLst/>
                <a:latin typeface="-apple-system"/>
              </a:rPr>
              <a:t>C. </a:t>
            </a:r>
            <a:r>
              <a:rPr lang="el-GR" b="0" i="0" dirty="0">
                <a:effectLst/>
                <a:latin typeface="Source Sans 3"/>
              </a:rPr>
              <a:t>Θ(</a:t>
            </a:r>
            <a:r>
              <a:rPr lang="en-IN" b="0" i="0" dirty="0" err="1">
                <a:effectLst/>
                <a:latin typeface="Source Sans 3"/>
              </a:rPr>
              <a:t>m+n</a:t>
            </a:r>
            <a:r>
              <a:rPr lang="en-IN" b="0" i="0" dirty="0">
                <a:effectLst/>
                <a:latin typeface="Source Sans 3"/>
              </a:rPr>
              <a:t>), where m, n are lengths of given lists</a:t>
            </a:r>
          </a:p>
          <a:p>
            <a:pPr marL="0" indent="0">
              <a:buNone/>
            </a:pPr>
            <a:r>
              <a:rPr lang="en-IN" b="0" i="0" dirty="0">
                <a:effectLst/>
                <a:latin typeface="-apple-system"/>
              </a:rPr>
              <a:t>D. </a:t>
            </a:r>
            <a:r>
              <a:rPr lang="el-GR" b="0" i="0" dirty="0">
                <a:effectLst/>
                <a:latin typeface="Source Sans 3"/>
              </a:rPr>
              <a:t>Θ(</a:t>
            </a:r>
            <a:r>
              <a:rPr lang="en-IN" b="0" i="0" dirty="0">
                <a:effectLst/>
                <a:latin typeface="Source Sans 3"/>
              </a:rPr>
              <a:t>min(n, m)), where m, n are lengths of given lists</a:t>
            </a:r>
          </a:p>
          <a:p>
            <a:endParaRPr lang="en-US" dirty="0"/>
          </a:p>
        </p:txBody>
      </p:sp>
    </p:spTree>
    <p:extLst>
      <p:ext uri="{BB962C8B-B14F-4D97-AF65-F5344CB8AC3E}">
        <p14:creationId xmlns:p14="http://schemas.microsoft.com/office/powerpoint/2010/main" val="460441289"/>
      </p:ext>
    </p:extLst>
  </p:cSld>
  <p:clrMapOvr>
    <a:masterClrMapping/>
  </p:clrMapOvr>
</p:sld>
</file>

<file path=ppt/slides/slide3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719DD-42BB-D358-D180-65B0462AC5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62B5FE-0272-E574-99D0-47BC809CA9C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33DD3ED-1ACE-4A6A-E0B1-DC33C763D6B7}"/>
              </a:ext>
            </a:extLst>
          </p:cNvPr>
          <p:cNvSpPr>
            <a:spLocks noGrp="1"/>
          </p:cNvSpPr>
          <p:nvPr>
            <p:ph idx="1"/>
          </p:nvPr>
        </p:nvSpPr>
        <p:spPr/>
        <p:txBody>
          <a:bodyPr>
            <a:normAutofit/>
          </a:bodyPr>
          <a:lstStyle/>
          <a:p>
            <a:pPr algn="l" rtl="0"/>
            <a:r>
              <a:rPr lang="en-IN" b="0" i="0" dirty="0">
                <a:solidFill>
                  <a:srgbClr val="273239"/>
                </a:solidFill>
                <a:effectLst/>
                <a:latin typeface="Source Sans 3"/>
              </a:rPr>
              <a:t>Suppose there are two singly linked lists both of which intersect at some point and become a single linked list. The head or start pointers of both the lists are known, but the intersecting node and lengths of lists are not known. What is worst case time complexity of optimal algorithm to find intersecting node from two intersecting linked lists?</a:t>
            </a:r>
          </a:p>
          <a:p>
            <a:pPr marL="0" indent="0">
              <a:buNone/>
            </a:pPr>
            <a:r>
              <a:rPr lang="en-IN" b="0" i="0" dirty="0">
                <a:effectLst/>
                <a:latin typeface="-apple-system"/>
              </a:rPr>
              <a:t>A. </a:t>
            </a:r>
            <a:r>
              <a:rPr lang="el-GR" b="0" i="0" dirty="0">
                <a:effectLst/>
                <a:latin typeface="Source Sans 3"/>
              </a:rPr>
              <a:t>Θ(</a:t>
            </a:r>
            <a:r>
              <a:rPr lang="en-IN" b="0" i="0" dirty="0">
                <a:effectLst/>
                <a:latin typeface="Source Sans 3"/>
              </a:rPr>
              <a:t>n*m), where m, n are lengths of given lists</a:t>
            </a:r>
          </a:p>
          <a:p>
            <a:pPr marL="0" indent="0">
              <a:buNone/>
            </a:pPr>
            <a:r>
              <a:rPr lang="en-IN" b="0" i="0" dirty="0">
                <a:effectLst/>
                <a:latin typeface="-apple-system"/>
              </a:rPr>
              <a:t>B. </a:t>
            </a:r>
            <a:r>
              <a:rPr lang="el-GR" b="0" i="0" dirty="0">
                <a:effectLst/>
                <a:latin typeface="Source Sans 3"/>
              </a:rPr>
              <a:t>Θ(</a:t>
            </a:r>
            <a:r>
              <a:rPr lang="en-IN" b="0" i="0" dirty="0">
                <a:effectLst/>
                <a:latin typeface="Source Sans 3"/>
              </a:rPr>
              <a:t>n^2), where m&gt;n and m, n are lengths of given lists</a:t>
            </a:r>
          </a:p>
          <a:p>
            <a:pPr marL="0" indent="0">
              <a:buNone/>
            </a:pPr>
            <a:r>
              <a:rPr lang="en-IN" b="0" i="0" dirty="0">
                <a:solidFill>
                  <a:srgbClr val="00B050"/>
                </a:solidFill>
                <a:effectLst/>
                <a:latin typeface="-apple-system"/>
              </a:rPr>
              <a:t>C. </a:t>
            </a:r>
            <a:r>
              <a:rPr lang="el-GR" b="0" i="0" dirty="0">
                <a:solidFill>
                  <a:srgbClr val="00B050"/>
                </a:solidFill>
                <a:effectLst/>
                <a:latin typeface="Source Sans 3"/>
              </a:rPr>
              <a:t>Θ(</a:t>
            </a:r>
            <a:r>
              <a:rPr lang="en-IN" b="0" i="0" dirty="0" err="1">
                <a:solidFill>
                  <a:srgbClr val="00B050"/>
                </a:solidFill>
                <a:effectLst/>
                <a:latin typeface="Source Sans 3"/>
              </a:rPr>
              <a:t>m+n</a:t>
            </a:r>
            <a:r>
              <a:rPr lang="en-IN" b="0" i="0" dirty="0">
                <a:solidFill>
                  <a:srgbClr val="00B050"/>
                </a:solidFill>
                <a:effectLst/>
                <a:latin typeface="Source Sans 3"/>
              </a:rPr>
              <a:t>), where m, n are lengths of given lists</a:t>
            </a:r>
          </a:p>
          <a:p>
            <a:pPr marL="0" indent="0">
              <a:buNone/>
            </a:pPr>
            <a:r>
              <a:rPr lang="en-IN" b="0" i="0" dirty="0">
                <a:effectLst/>
                <a:latin typeface="-apple-system"/>
              </a:rPr>
              <a:t>D. </a:t>
            </a:r>
            <a:r>
              <a:rPr lang="el-GR" b="0" i="0" dirty="0">
                <a:effectLst/>
                <a:latin typeface="Source Sans 3"/>
              </a:rPr>
              <a:t>Θ(</a:t>
            </a:r>
            <a:r>
              <a:rPr lang="en-IN" b="0" i="0" dirty="0">
                <a:effectLst/>
                <a:latin typeface="Source Sans 3"/>
              </a:rPr>
              <a:t>min(n, m)), where m, n are lengths of given lists</a:t>
            </a:r>
          </a:p>
          <a:p>
            <a:endParaRPr lang="en-US" dirty="0"/>
          </a:p>
        </p:txBody>
      </p:sp>
    </p:spTree>
    <p:extLst>
      <p:ext uri="{BB962C8B-B14F-4D97-AF65-F5344CB8AC3E}">
        <p14:creationId xmlns:p14="http://schemas.microsoft.com/office/powerpoint/2010/main" val="1425863287"/>
      </p:ext>
    </p:extLst>
  </p:cSld>
  <p:clrMapOvr>
    <a:masterClrMapping/>
  </p:clrMapOvr>
</p:sld>
</file>

<file path=ppt/slides/slide3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54123-7E0C-87A3-7A74-248F11F520D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705902C-B5EC-1721-0E03-1D6E98F04876}"/>
              </a:ext>
            </a:extLst>
          </p:cNvPr>
          <p:cNvSpPr>
            <a:spLocks noGrp="1"/>
          </p:cNvSpPr>
          <p:nvPr>
            <p:ph idx="1"/>
          </p:nvPr>
        </p:nvSpPr>
        <p:spPr/>
        <p:txBody>
          <a:bodyPr>
            <a:normAutofit lnSpcReduction="10000"/>
          </a:bodyPr>
          <a:lstStyle/>
          <a:p>
            <a:pPr algn="l" rtl="0"/>
            <a:r>
              <a:rPr lang="en-IN" b="0" i="0" dirty="0">
                <a:solidFill>
                  <a:srgbClr val="273239"/>
                </a:solidFill>
                <a:effectLst/>
                <a:latin typeface="Source Sans 3"/>
              </a:rPr>
              <a:t>Consider a singly linked list of the form where F is a pointer to the first element in the linked list and L is the pointer to the last element in the list. The time of which of the following operations depends on the length of the list?</a:t>
            </a:r>
          </a:p>
          <a:p>
            <a:pPr marL="0" indent="0">
              <a:buNone/>
            </a:pPr>
            <a:r>
              <a:rPr lang="en-IN" b="0" i="0" dirty="0">
                <a:effectLst/>
                <a:latin typeface="-apple-system"/>
              </a:rPr>
              <a:t>A. </a:t>
            </a:r>
            <a:r>
              <a:rPr lang="en-IN" b="0" i="0" dirty="0">
                <a:effectLst/>
                <a:latin typeface="Source Sans 3"/>
              </a:rPr>
              <a:t>Delete the last element of the list</a:t>
            </a:r>
          </a:p>
          <a:p>
            <a:pPr marL="0" indent="0">
              <a:buNone/>
            </a:pPr>
            <a:r>
              <a:rPr lang="en-IN" b="0" i="0" dirty="0">
                <a:effectLst/>
                <a:latin typeface="-apple-system"/>
              </a:rPr>
              <a:t>B. </a:t>
            </a:r>
            <a:r>
              <a:rPr lang="en-IN" b="0" i="0" dirty="0">
                <a:effectLst/>
                <a:latin typeface="Source Sans 3"/>
              </a:rPr>
              <a:t>Delete the first element of the list</a:t>
            </a:r>
          </a:p>
          <a:p>
            <a:pPr marL="0" indent="0">
              <a:buNone/>
            </a:pPr>
            <a:r>
              <a:rPr lang="en-IN" b="0" i="0" dirty="0">
                <a:effectLst/>
                <a:latin typeface="-apple-system"/>
              </a:rPr>
              <a:t>C. </a:t>
            </a:r>
            <a:r>
              <a:rPr lang="en-IN" b="0" i="0" dirty="0">
                <a:effectLst/>
                <a:latin typeface="Source Sans 3"/>
              </a:rPr>
              <a:t>Add an element after the last element of the list</a:t>
            </a:r>
          </a:p>
          <a:p>
            <a:pPr marL="0" indent="0">
              <a:buNone/>
            </a:pPr>
            <a:r>
              <a:rPr lang="en-IN" b="0" i="0" dirty="0">
                <a:effectLst/>
                <a:latin typeface="-apple-system"/>
              </a:rPr>
              <a:t>D. </a:t>
            </a:r>
            <a:r>
              <a:rPr lang="en-IN" b="0" i="0" dirty="0">
                <a:effectLst/>
                <a:latin typeface="Source Sans 3"/>
              </a:rPr>
              <a:t>Interchange the first two elements of the list</a:t>
            </a:r>
          </a:p>
          <a:p>
            <a:pPr marL="0" indent="0">
              <a:buNone/>
            </a:pPr>
            <a:br>
              <a:rPr lang="en-IN" b="0" i="0" dirty="0">
                <a:effectLst/>
                <a:latin typeface="-apple-system"/>
              </a:rPr>
            </a:br>
            <a:endParaRPr lang="en-IN" b="0" i="0" dirty="0">
              <a:effectLst/>
              <a:latin typeface="-apple-system"/>
            </a:endParaRPr>
          </a:p>
          <a:p>
            <a:endParaRPr lang="en-US" dirty="0"/>
          </a:p>
        </p:txBody>
      </p:sp>
    </p:spTree>
    <p:extLst>
      <p:ext uri="{BB962C8B-B14F-4D97-AF65-F5344CB8AC3E}">
        <p14:creationId xmlns:p14="http://schemas.microsoft.com/office/powerpoint/2010/main" val="3007867787"/>
      </p:ext>
    </p:extLst>
  </p:cSld>
  <p:clrMapOvr>
    <a:masterClrMapping/>
  </p:clrMapOvr>
</p:sld>
</file>

<file path=ppt/slides/slide3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CAD28-5DD2-6B92-E738-03BFEEF5C5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62EB54-251D-AAA5-F387-D744343B718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44D952A-B1A0-9680-3318-D35BB138BEA2}"/>
              </a:ext>
            </a:extLst>
          </p:cNvPr>
          <p:cNvSpPr>
            <a:spLocks noGrp="1"/>
          </p:cNvSpPr>
          <p:nvPr>
            <p:ph idx="1"/>
          </p:nvPr>
        </p:nvSpPr>
        <p:spPr/>
        <p:txBody>
          <a:bodyPr>
            <a:normAutofit lnSpcReduction="10000"/>
          </a:bodyPr>
          <a:lstStyle/>
          <a:p>
            <a:pPr algn="l" rtl="0"/>
            <a:r>
              <a:rPr lang="en-IN" b="0" i="0" dirty="0">
                <a:solidFill>
                  <a:srgbClr val="273239"/>
                </a:solidFill>
                <a:effectLst/>
                <a:latin typeface="Source Sans 3"/>
              </a:rPr>
              <a:t>Consider a singly linked list of the form where F is a pointer to the first element in the linked list and L is the pointer to the last element in the list. The time of which of the following operations depends on the length of the list?</a:t>
            </a:r>
          </a:p>
          <a:p>
            <a:pPr marL="0" indent="0">
              <a:buNone/>
            </a:pPr>
            <a:r>
              <a:rPr lang="en-IN" b="0" i="0" dirty="0">
                <a:solidFill>
                  <a:srgbClr val="00B050"/>
                </a:solidFill>
                <a:effectLst/>
                <a:latin typeface="-apple-system"/>
              </a:rPr>
              <a:t>A. </a:t>
            </a:r>
            <a:r>
              <a:rPr lang="en-IN" b="0" i="0" dirty="0">
                <a:solidFill>
                  <a:srgbClr val="00B050"/>
                </a:solidFill>
                <a:effectLst/>
                <a:latin typeface="Source Sans 3"/>
              </a:rPr>
              <a:t>Delete the last element of the list</a:t>
            </a:r>
          </a:p>
          <a:p>
            <a:pPr marL="0" indent="0">
              <a:buNone/>
            </a:pPr>
            <a:r>
              <a:rPr lang="en-IN" b="0" i="0" dirty="0">
                <a:effectLst/>
                <a:latin typeface="-apple-system"/>
              </a:rPr>
              <a:t>B. </a:t>
            </a:r>
            <a:r>
              <a:rPr lang="en-IN" b="0" i="0" dirty="0">
                <a:effectLst/>
                <a:latin typeface="Source Sans 3"/>
              </a:rPr>
              <a:t>Delete the first element of the list</a:t>
            </a:r>
          </a:p>
          <a:p>
            <a:pPr marL="0" indent="0">
              <a:buNone/>
            </a:pPr>
            <a:r>
              <a:rPr lang="en-IN" b="0" i="0" dirty="0">
                <a:effectLst/>
                <a:latin typeface="-apple-system"/>
              </a:rPr>
              <a:t>C. </a:t>
            </a:r>
            <a:r>
              <a:rPr lang="en-IN" b="0" i="0" dirty="0">
                <a:effectLst/>
                <a:latin typeface="Source Sans 3"/>
              </a:rPr>
              <a:t>Add an element after the last element of the list</a:t>
            </a:r>
          </a:p>
          <a:p>
            <a:pPr marL="0" indent="0">
              <a:buNone/>
            </a:pPr>
            <a:r>
              <a:rPr lang="en-IN" b="0" i="0" dirty="0">
                <a:effectLst/>
                <a:latin typeface="-apple-system"/>
              </a:rPr>
              <a:t>D. </a:t>
            </a:r>
            <a:r>
              <a:rPr lang="en-IN" b="0" i="0" dirty="0">
                <a:effectLst/>
                <a:latin typeface="Source Sans 3"/>
              </a:rPr>
              <a:t>Interchange the first two elements of the list</a:t>
            </a:r>
          </a:p>
          <a:p>
            <a:pPr marL="0" indent="0">
              <a:buNone/>
            </a:pPr>
            <a:br>
              <a:rPr lang="en-IN" b="0" i="0" dirty="0">
                <a:effectLst/>
                <a:latin typeface="-apple-system"/>
              </a:rPr>
            </a:br>
            <a:endParaRPr lang="en-IN" b="0" i="0" dirty="0">
              <a:effectLst/>
              <a:latin typeface="-apple-system"/>
            </a:endParaRPr>
          </a:p>
          <a:p>
            <a:endParaRPr lang="en-US" dirty="0"/>
          </a:p>
        </p:txBody>
      </p:sp>
    </p:spTree>
    <p:extLst>
      <p:ext uri="{BB962C8B-B14F-4D97-AF65-F5344CB8AC3E}">
        <p14:creationId xmlns:p14="http://schemas.microsoft.com/office/powerpoint/2010/main" val="2714326308"/>
      </p:ext>
    </p:extLst>
  </p:cSld>
  <p:clrMapOvr>
    <a:masterClrMapping/>
  </p:clrMapOvr>
</p:sld>
</file>

<file path=ppt/slides/slide3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EDF05-E0AC-64DF-6B46-7A39FBF4302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18A6303-86FF-E853-3007-D8955547E1AE}"/>
              </a:ext>
            </a:extLst>
          </p:cNvPr>
          <p:cNvSpPr>
            <a:spLocks noGrp="1"/>
          </p:cNvSpPr>
          <p:nvPr>
            <p:ph idx="1"/>
          </p:nvPr>
        </p:nvSpPr>
        <p:spPr/>
        <p:txBody>
          <a:bodyPr>
            <a:normAutofit/>
          </a:bodyPr>
          <a:lstStyle/>
          <a:p>
            <a:pPr algn="l" rtl="0"/>
            <a:r>
              <a:rPr lang="en-IN" b="0" i="0" dirty="0">
                <a:solidFill>
                  <a:srgbClr val="273239"/>
                </a:solidFill>
                <a:effectLst/>
                <a:latin typeface="Source Sans 3"/>
              </a:rPr>
              <a:t>Which of the following sorting algorithms can be used to sort a random linked list with minimum time complexity?</a:t>
            </a:r>
          </a:p>
          <a:p>
            <a:pPr marL="0" indent="0">
              <a:buNone/>
            </a:pPr>
            <a:r>
              <a:rPr lang="en-IN" b="0" i="0" dirty="0">
                <a:effectLst/>
                <a:latin typeface="-apple-system"/>
              </a:rPr>
              <a:t>A. </a:t>
            </a:r>
            <a:r>
              <a:rPr lang="en-IN" b="0" i="0" dirty="0">
                <a:effectLst/>
                <a:latin typeface="Source Sans 3"/>
              </a:rPr>
              <a:t>Insertion Sort</a:t>
            </a:r>
          </a:p>
          <a:p>
            <a:pPr marL="0" indent="0">
              <a:buNone/>
            </a:pPr>
            <a:r>
              <a:rPr lang="en-IN" b="0" i="0" dirty="0">
                <a:effectLst/>
                <a:latin typeface="-apple-system"/>
              </a:rPr>
              <a:t>B. </a:t>
            </a:r>
            <a:r>
              <a:rPr lang="en-IN" b="0" i="0" dirty="0">
                <a:effectLst/>
                <a:latin typeface="Source Sans 3"/>
              </a:rPr>
              <a:t>Quick Sort</a:t>
            </a:r>
          </a:p>
          <a:p>
            <a:pPr marL="0" indent="0">
              <a:buNone/>
            </a:pPr>
            <a:r>
              <a:rPr lang="en-IN" b="0" i="0" dirty="0">
                <a:effectLst/>
                <a:latin typeface="-apple-system"/>
              </a:rPr>
              <a:t>C. </a:t>
            </a:r>
            <a:r>
              <a:rPr lang="en-IN" b="0" i="0" dirty="0">
                <a:effectLst/>
                <a:latin typeface="Source Sans 3"/>
              </a:rPr>
              <a:t>Heap Sort</a:t>
            </a:r>
          </a:p>
          <a:p>
            <a:pPr marL="0" indent="0">
              <a:buNone/>
            </a:pPr>
            <a:r>
              <a:rPr lang="en-IN" b="0" i="0" dirty="0">
                <a:effectLst/>
                <a:latin typeface="-apple-system"/>
              </a:rPr>
              <a:t>D. </a:t>
            </a:r>
            <a:r>
              <a:rPr lang="en-IN" b="0" i="0" dirty="0">
                <a:effectLst/>
                <a:latin typeface="Source Sans 3"/>
              </a:rPr>
              <a:t>Merge Sort</a:t>
            </a:r>
          </a:p>
          <a:p>
            <a:endParaRPr lang="en-US" dirty="0"/>
          </a:p>
        </p:txBody>
      </p:sp>
    </p:spTree>
    <p:extLst>
      <p:ext uri="{BB962C8B-B14F-4D97-AF65-F5344CB8AC3E}">
        <p14:creationId xmlns:p14="http://schemas.microsoft.com/office/powerpoint/2010/main" val="1160073718"/>
      </p:ext>
    </p:extLst>
  </p:cSld>
  <p:clrMapOvr>
    <a:masterClrMapping/>
  </p:clrMapOvr>
</p:sld>
</file>

<file path=ppt/slides/slide3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95E50-6D63-16D5-FE91-82673012C1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2F2472-957C-9397-408A-3346EA9B88E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FD1ABA9-B484-D324-BB8F-49471B17E56B}"/>
              </a:ext>
            </a:extLst>
          </p:cNvPr>
          <p:cNvSpPr>
            <a:spLocks noGrp="1"/>
          </p:cNvSpPr>
          <p:nvPr>
            <p:ph idx="1"/>
          </p:nvPr>
        </p:nvSpPr>
        <p:spPr/>
        <p:txBody>
          <a:bodyPr>
            <a:normAutofit/>
          </a:bodyPr>
          <a:lstStyle/>
          <a:p>
            <a:pPr algn="l" rtl="0"/>
            <a:r>
              <a:rPr lang="en-IN" b="0" i="0" dirty="0">
                <a:solidFill>
                  <a:srgbClr val="273239"/>
                </a:solidFill>
                <a:effectLst/>
                <a:latin typeface="Source Sans 3"/>
              </a:rPr>
              <a:t>Which of the following sorting algorithms can be used to sort a random linked list with minimum time complexity?</a:t>
            </a:r>
          </a:p>
          <a:p>
            <a:pPr marL="0" indent="0">
              <a:buNone/>
            </a:pPr>
            <a:r>
              <a:rPr lang="en-IN" b="0" i="0" dirty="0">
                <a:effectLst/>
                <a:latin typeface="-apple-system"/>
              </a:rPr>
              <a:t>A. </a:t>
            </a:r>
            <a:r>
              <a:rPr lang="en-IN" b="0" i="0" dirty="0">
                <a:effectLst/>
                <a:latin typeface="Source Sans 3"/>
              </a:rPr>
              <a:t>Insertion Sort</a:t>
            </a:r>
          </a:p>
          <a:p>
            <a:pPr marL="0" indent="0">
              <a:buNone/>
            </a:pPr>
            <a:r>
              <a:rPr lang="en-IN" b="0" i="0" dirty="0">
                <a:effectLst/>
                <a:latin typeface="-apple-system"/>
              </a:rPr>
              <a:t>B. </a:t>
            </a:r>
            <a:r>
              <a:rPr lang="en-IN" b="0" i="0" dirty="0">
                <a:effectLst/>
                <a:latin typeface="Source Sans 3"/>
              </a:rPr>
              <a:t>Quick Sort</a:t>
            </a:r>
          </a:p>
          <a:p>
            <a:pPr marL="0" indent="0">
              <a:buNone/>
            </a:pPr>
            <a:r>
              <a:rPr lang="en-IN" b="0" i="0" dirty="0">
                <a:effectLst/>
                <a:latin typeface="-apple-system"/>
              </a:rPr>
              <a:t>C. </a:t>
            </a:r>
            <a:r>
              <a:rPr lang="en-IN" b="0" i="0" dirty="0">
                <a:effectLst/>
                <a:latin typeface="Source Sans 3"/>
              </a:rPr>
              <a:t>Heap Sort</a:t>
            </a:r>
          </a:p>
          <a:p>
            <a:pPr marL="0" indent="0">
              <a:buNone/>
            </a:pPr>
            <a:r>
              <a:rPr lang="en-IN" b="0" i="0" dirty="0">
                <a:solidFill>
                  <a:srgbClr val="00B050"/>
                </a:solidFill>
                <a:effectLst/>
                <a:latin typeface="-apple-system"/>
              </a:rPr>
              <a:t>D. </a:t>
            </a:r>
            <a:r>
              <a:rPr lang="en-IN" b="0" i="0" dirty="0">
                <a:solidFill>
                  <a:srgbClr val="00B050"/>
                </a:solidFill>
                <a:effectLst/>
                <a:latin typeface="Source Sans 3"/>
              </a:rPr>
              <a:t>Merge Sort</a:t>
            </a:r>
          </a:p>
          <a:p>
            <a:endParaRPr lang="en-US" dirty="0"/>
          </a:p>
        </p:txBody>
      </p:sp>
    </p:spTree>
    <p:extLst>
      <p:ext uri="{BB962C8B-B14F-4D97-AF65-F5344CB8AC3E}">
        <p14:creationId xmlns:p14="http://schemas.microsoft.com/office/powerpoint/2010/main" val="4108312193"/>
      </p:ext>
    </p:extLst>
  </p:cSld>
  <p:clrMapOvr>
    <a:masterClrMapping/>
  </p:clrMapOvr>
</p:sld>
</file>

<file path=ppt/slides/slide3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56400-18EC-53C4-5BC2-863F48D5B25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A077354-9C5D-58C2-7C21-4EEC0E9D0C04}"/>
              </a:ext>
            </a:extLst>
          </p:cNvPr>
          <p:cNvSpPr>
            <a:spLocks noGrp="1"/>
          </p:cNvSpPr>
          <p:nvPr>
            <p:ph idx="1"/>
          </p:nvPr>
        </p:nvSpPr>
        <p:spPr/>
        <p:txBody>
          <a:bodyPr>
            <a:normAutofit/>
          </a:bodyPr>
          <a:lstStyle/>
          <a:p>
            <a:pPr algn="l" rtl="0"/>
            <a:r>
              <a:rPr lang="en-IN" b="0" i="0" dirty="0">
                <a:solidFill>
                  <a:srgbClr val="273239"/>
                </a:solidFill>
                <a:effectLst/>
                <a:latin typeface="Source Sans 3"/>
              </a:rPr>
              <a:t>In the worst case, the number of comparisons needed to search a singly linked list of length n for a given element is</a:t>
            </a:r>
          </a:p>
          <a:p>
            <a:pPr marL="0" indent="0">
              <a:buNone/>
            </a:pPr>
            <a:r>
              <a:rPr lang="en-IN" b="0" i="0" dirty="0">
                <a:effectLst/>
                <a:latin typeface="-apple-system"/>
              </a:rPr>
              <a:t>A. </a:t>
            </a:r>
            <a:r>
              <a:rPr lang="en-IN" b="0" i="0" dirty="0">
                <a:effectLst/>
                <a:latin typeface="Source Sans 3"/>
              </a:rPr>
              <a:t>log(2*n)</a:t>
            </a:r>
          </a:p>
          <a:p>
            <a:pPr marL="0" indent="0">
              <a:buNone/>
            </a:pPr>
            <a:r>
              <a:rPr lang="en-IN" b="0" i="0" dirty="0">
                <a:effectLst/>
                <a:latin typeface="-apple-system"/>
              </a:rPr>
              <a:t>B. </a:t>
            </a:r>
            <a:r>
              <a:rPr lang="en-IN" b="0" i="0" dirty="0">
                <a:effectLst/>
                <a:latin typeface="Source Sans 3"/>
              </a:rPr>
              <a:t>n/2</a:t>
            </a:r>
          </a:p>
          <a:p>
            <a:pPr marL="0" indent="0">
              <a:buNone/>
            </a:pPr>
            <a:r>
              <a:rPr lang="en-IN" b="0" i="0" dirty="0">
                <a:effectLst/>
                <a:latin typeface="-apple-system"/>
              </a:rPr>
              <a:t>C. </a:t>
            </a:r>
            <a:r>
              <a:rPr lang="en-IN" b="0" i="0" dirty="0">
                <a:effectLst/>
                <a:latin typeface="Source Sans 3"/>
              </a:rPr>
              <a:t>log(2*n) -1</a:t>
            </a:r>
          </a:p>
          <a:p>
            <a:pPr marL="0" indent="0">
              <a:buNone/>
            </a:pPr>
            <a:r>
              <a:rPr lang="en-IN" b="0" i="0" dirty="0">
                <a:effectLst/>
                <a:latin typeface="-apple-system"/>
              </a:rPr>
              <a:t>D. </a:t>
            </a:r>
            <a:r>
              <a:rPr lang="en-IN" b="0" i="0" dirty="0">
                <a:effectLst/>
                <a:latin typeface="Source Sans 3"/>
              </a:rPr>
              <a:t>n</a:t>
            </a:r>
          </a:p>
          <a:p>
            <a:endParaRPr lang="en-US" dirty="0"/>
          </a:p>
        </p:txBody>
      </p:sp>
    </p:spTree>
    <p:extLst>
      <p:ext uri="{BB962C8B-B14F-4D97-AF65-F5344CB8AC3E}">
        <p14:creationId xmlns:p14="http://schemas.microsoft.com/office/powerpoint/2010/main" val="1810766371"/>
      </p:ext>
    </p:extLst>
  </p:cSld>
  <p:clrMapOvr>
    <a:masterClrMapping/>
  </p:clrMapOvr>
</p:sld>
</file>

<file path=ppt/slides/slide3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55A03-0298-4478-3DE4-79ECB0A8FC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7C7745-9AB8-0511-AAF2-4E8E4F86B4C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5D0D319-185B-71A6-B289-F11765899E19}"/>
              </a:ext>
            </a:extLst>
          </p:cNvPr>
          <p:cNvSpPr>
            <a:spLocks noGrp="1"/>
          </p:cNvSpPr>
          <p:nvPr>
            <p:ph idx="1"/>
          </p:nvPr>
        </p:nvSpPr>
        <p:spPr/>
        <p:txBody>
          <a:bodyPr>
            <a:normAutofit/>
          </a:bodyPr>
          <a:lstStyle/>
          <a:p>
            <a:pPr algn="l" rtl="0"/>
            <a:r>
              <a:rPr lang="en-IN" b="0" i="0" dirty="0">
                <a:solidFill>
                  <a:srgbClr val="273239"/>
                </a:solidFill>
                <a:effectLst/>
                <a:latin typeface="Source Sans 3"/>
              </a:rPr>
              <a:t>In the worst case, the number of comparisons needed to search a singly linked list of length n for a given element is</a:t>
            </a:r>
          </a:p>
          <a:p>
            <a:pPr marL="0" indent="0">
              <a:buNone/>
            </a:pPr>
            <a:r>
              <a:rPr lang="en-IN" b="0" i="0" dirty="0">
                <a:effectLst/>
                <a:latin typeface="-apple-system"/>
              </a:rPr>
              <a:t>A. </a:t>
            </a:r>
            <a:r>
              <a:rPr lang="en-IN" b="0" i="0" dirty="0">
                <a:effectLst/>
                <a:latin typeface="Source Sans 3"/>
              </a:rPr>
              <a:t>log(2*n)</a:t>
            </a:r>
          </a:p>
          <a:p>
            <a:pPr marL="0" indent="0">
              <a:buNone/>
            </a:pPr>
            <a:r>
              <a:rPr lang="en-IN" b="0" i="0" dirty="0">
                <a:effectLst/>
                <a:latin typeface="-apple-system"/>
              </a:rPr>
              <a:t>B. </a:t>
            </a:r>
            <a:r>
              <a:rPr lang="en-IN" b="0" i="0" dirty="0">
                <a:effectLst/>
                <a:latin typeface="Source Sans 3"/>
              </a:rPr>
              <a:t>n/2</a:t>
            </a:r>
          </a:p>
          <a:p>
            <a:pPr marL="0" indent="0">
              <a:buNone/>
            </a:pPr>
            <a:r>
              <a:rPr lang="en-IN" b="0" i="0" dirty="0">
                <a:effectLst/>
                <a:latin typeface="-apple-system"/>
              </a:rPr>
              <a:t>C. </a:t>
            </a:r>
            <a:r>
              <a:rPr lang="en-IN" b="0" i="0" dirty="0">
                <a:effectLst/>
                <a:latin typeface="Source Sans 3"/>
              </a:rPr>
              <a:t>log(2*n) -1</a:t>
            </a:r>
          </a:p>
          <a:p>
            <a:pPr marL="0" indent="0">
              <a:buNone/>
            </a:pPr>
            <a:r>
              <a:rPr lang="en-IN" b="0" i="0" dirty="0">
                <a:solidFill>
                  <a:srgbClr val="00B050"/>
                </a:solidFill>
                <a:effectLst/>
                <a:latin typeface="-apple-system"/>
              </a:rPr>
              <a:t>D. </a:t>
            </a:r>
            <a:r>
              <a:rPr lang="en-IN" b="0" i="0" dirty="0">
                <a:solidFill>
                  <a:srgbClr val="00B050"/>
                </a:solidFill>
                <a:effectLst/>
                <a:latin typeface="Source Sans 3"/>
              </a:rPr>
              <a:t>n</a:t>
            </a:r>
          </a:p>
          <a:p>
            <a:endParaRPr lang="en-US" dirty="0"/>
          </a:p>
        </p:txBody>
      </p:sp>
    </p:spTree>
    <p:extLst>
      <p:ext uri="{BB962C8B-B14F-4D97-AF65-F5344CB8AC3E}">
        <p14:creationId xmlns:p14="http://schemas.microsoft.com/office/powerpoint/2010/main" val="3100921269"/>
      </p:ext>
    </p:extLst>
  </p:cSld>
  <p:clrMapOvr>
    <a:masterClrMapping/>
  </p:clrMapOvr>
</p:sld>
</file>

<file path=ppt/slides/slide3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8BC9B-A6CB-6845-A658-3E6B94B1068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E797A9D-9F90-7C79-4F8B-3B7DBE38DD1F}"/>
              </a:ext>
            </a:extLst>
          </p:cNvPr>
          <p:cNvSpPr>
            <a:spLocks noGrp="1"/>
          </p:cNvSpPr>
          <p:nvPr>
            <p:ph idx="1"/>
          </p:nvPr>
        </p:nvSpPr>
        <p:spPr/>
        <p:txBody>
          <a:bodyPr>
            <a:normAutofit/>
          </a:bodyPr>
          <a:lstStyle/>
          <a:p>
            <a:pPr algn="l" rtl="0"/>
            <a:r>
              <a:rPr lang="en-IN" b="0" i="0" dirty="0">
                <a:solidFill>
                  <a:srgbClr val="273239"/>
                </a:solidFill>
                <a:effectLst/>
                <a:latin typeface="Source Sans 3"/>
              </a:rPr>
              <a:t>Let P be a singly linked list. Let Q be the pointer to an intermediate node x in the list. What is the worst-case time complexity of the best known algorithm to delete the node Q from the list?</a:t>
            </a:r>
          </a:p>
          <a:p>
            <a:pPr marL="0" indent="0">
              <a:buNone/>
            </a:pPr>
            <a:r>
              <a:rPr lang="en-IN" b="0" i="0" dirty="0">
                <a:effectLst/>
                <a:latin typeface="-apple-system"/>
              </a:rPr>
              <a:t>A. </a:t>
            </a:r>
            <a:r>
              <a:rPr lang="en-IN" b="0" i="0" dirty="0">
                <a:effectLst/>
                <a:latin typeface="Source Sans 3"/>
              </a:rPr>
              <a:t>O(n)</a:t>
            </a:r>
          </a:p>
          <a:p>
            <a:pPr marL="0" indent="0">
              <a:buNone/>
            </a:pPr>
            <a:r>
              <a:rPr lang="en-IN" b="0" i="0" dirty="0">
                <a:effectLst/>
                <a:latin typeface="-apple-system"/>
              </a:rPr>
              <a:t>B. </a:t>
            </a:r>
            <a:r>
              <a:rPr lang="en-IN" b="0" i="0" dirty="0">
                <a:effectLst/>
                <a:latin typeface="Source Sans 3"/>
              </a:rPr>
              <a:t>O(log2 n)</a:t>
            </a:r>
          </a:p>
          <a:p>
            <a:pPr marL="0" indent="0">
              <a:buNone/>
            </a:pPr>
            <a:r>
              <a:rPr lang="en-IN" b="0" i="0" dirty="0">
                <a:effectLst/>
                <a:latin typeface="-apple-system"/>
              </a:rPr>
              <a:t>C. </a:t>
            </a:r>
            <a:r>
              <a:rPr lang="en-IN" b="0" i="0" dirty="0">
                <a:effectLst/>
                <a:latin typeface="Source Sans 3"/>
              </a:rPr>
              <a:t>O(</a:t>
            </a:r>
            <a:r>
              <a:rPr lang="en-IN" b="0" i="0" dirty="0" err="1">
                <a:effectLst/>
                <a:latin typeface="Source Sans 3"/>
              </a:rPr>
              <a:t>logn</a:t>
            </a:r>
            <a:r>
              <a:rPr lang="en-IN" b="0" i="0" dirty="0">
                <a:effectLst/>
                <a:latin typeface="Source Sans 3"/>
              </a:rPr>
              <a:t>)</a:t>
            </a:r>
          </a:p>
          <a:p>
            <a:pPr marL="0" indent="0">
              <a:buNone/>
            </a:pPr>
            <a:r>
              <a:rPr lang="en-IN" b="0" i="0" dirty="0">
                <a:effectLst/>
                <a:latin typeface="-apple-system"/>
              </a:rPr>
              <a:t>D. </a:t>
            </a:r>
            <a:r>
              <a:rPr lang="en-IN" b="0" i="0" dirty="0">
                <a:effectLst/>
                <a:latin typeface="Source Sans 3"/>
              </a:rPr>
              <a:t>O(1)</a:t>
            </a:r>
          </a:p>
          <a:p>
            <a:endParaRPr lang="en-US" dirty="0"/>
          </a:p>
        </p:txBody>
      </p:sp>
    </p:spTree>
    <p:extLst>
      <p:ext uri="{BB962C8B-B14F-4D97-AF65-F5344CB8AC3E}">
        <p14:creationId xmlns:p14="http://schemas.microsoft.com/office/powerpoint/2010/main" val="4162129011"/>
      </p:ext>
    </p:extLst>
  </p:cSld>
  <p:clrMapOvr>
    <a:masterClrMapping/>
  </p:clrMapOvr>
</p:sld>
</file>

<file path=ppt/slides/slide3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0F3FE-27BF-9707-50EB-4E9DDBFAAD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E74F1A-8709-3616-E445-4729A9354F2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C0A6550-C3C3-6BB3-EF2D-785A6E9358DB}"/>
              </a:ext>
            </a:extLst>
          </p:cNvPr>
          <p:cNvSpPr>
            <a:spLocks noGrp="1"/>
          </p:cNvSpPr>
          <p:nvPr>
            <p:ph idx="1"/>
          </p:nvPr>
        </p:nvSpPr>
        <p:spPr/>
        <p:txBody>
          <a:bodyPr>
            <a:normAutofit/>
          </a:bodyPr>
          <a:lstStyle/>
          <a:p>
            <a:pPr algn="l" rtl="0"/>
            <a:r>
              <a:rPr lang="en-IN" b="0" i="0" dirty="0">
                <a:solidFill>
                  <a:srgbClr val="273239"/>
                </a:solidFill>
                <a:effectLst/>
                <a:latin typeface="Source Sans 3"/>
              </a:rPr>
              <a:t>Let P be a singly linked list. Let Q be the pointer to an intermediate node x in the list. What is the worst-case time complexity of the best known algorithm to delete the node Q from the list?</a:t>
            </a:r>
          </a:p>
          <a:p>
            <a:pPr marL="0" indent="0">
              <a:buNone/>
            </a:pPr>
            <a:r>
              <a:rPr lang="en-IN" b="0" i="0" dirty="0">
                <a:solidFill>
                  <a:srgbClr val="00B050"/>
                </a:solidFill>
                <a:effectLst/>
                <a:latin typeface="-apple-system"/>
              </a:rPr>
              <a:t>A. </a:t>
            </a:r>
            <a:r>
              <a:rPr lang="en-IN" b="0" i="0" dirty="0">
                <a:solidFill>
                  <a:srgbClr val="00B050"/>
                </a:solidFill>
                <a:effectLst/>
                <a:latin typeface="Source Sans 3"/>
              </a:rPr>
              <a:t>O(n)</a:t>
            </a:r>
          </a:p>
          <a:p>
            <a:pPr marL="0" indent="0">
              <a:buNone/>
            </a:pPr>
            <a:r>
              <a:rPr lang="en-IN" b="0" i="0" dirty="0">
                <a:effectLst/>
                <a:latin typeface="-apple-system"/>
              </a:rPr>
              <a:t>B. </a:t>
            </a:r>
            <a:r>
              <a:rPr lang="en-IN" b="0" i="0" dirty="0">
                <a:effectLst/>
                <a:latin typeface="Source Sans 3"/>
              </a:rPr>
              <a:t>O(log2 n)</a:t>
            </a:r>
          </a:p>
          <a:p>
            <a:pPr marL="0" indent="0">
              <a:buNone/>
            </a:pPr>
            <a:r>
              <a:rPr lang="en-IN" b="0" i="0" dirty="0">
                <a:effectLst/>
                <a:latin typeface="-apple-system"/>
              </a:rPr>
              <a:t>C. </a:t>
            </a:r>
            <a:r>
              <a:rPr lang="en-IN" b="0" i="0" dirty="0">
                <a:effectLst/>
                <a:latin typeface="Source Sans 3"/>
              </a:rPr>
              <a:t>O(</a:t>
            </a:r>
            <a:r>
              <a:rPr lang="en-IN" b="0" i="0" dirty="0" err="1">
                <a:effectLst/>
                <a:latin typeface="Source Sans 3"/>
              </a:rPr>
              <a:t>logn</a:t>
            </a:r>
            <a:r>
              <a:rPr lang="en-IN" b="0" i="0" dirty="0">
                <a:effectLst/>
                <a:latin typeface="Source Sans 3"/>
              </a:rPr>
              <a:t>)</a:t>
            </a:r>
          </a:p>
          <a:p>
            <a:pPr marL="0" indent="0">
              <a:buNone/>
            </a:pPr>
            <a:r>
              <a:rPr lang="en-IN" b="0" i="0" dirty="0">
                <a:effectLst/>
                <a:latin typeface="-apple-system"/>
              </a:rPr>
              <a:t>D. </a:t>
            </a:r>
            <a:r>
              <a:rPr lang="en-IN" b="0" i="0" dirty="0">
                <a:effectLst/>
                <a:latin typeface="Source Sans 3"/>
              </a:rPr>
              <a:t>O(1)</a:t>
            </a:r>
          </a:p>
          <a:p>
            <a:endParaRPr lang="en-US" dirty="0"/>
          </a:p>
        </p:txBody>
      </p:sp>
    </p:spTree>
    <p:extLst>
      <p:ext uri="{BB962C8B-B14F-4D97-AF65-F5344CB8AC3E}">
        <p14:creationId xmlns:p14="http://schemas.microsoft.com/office/powerpoint/2010/main" val="2822352858"/>
      </p:ext>
    </p:extLst>
  </p:cSld>
  <p:clrMapOvr>
    <a:masterClrMapping/>
  </p:clrMapOvr>
</p:sld>
</file>

<file path=ppt/slides/slide3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99667-BB35-6EF5-F880-FEE1104D83E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D19CB42-282C-A29A-4642-E73BC9DDA9FB}"/>
              </a:ext>
            </a:extLst>
          </p:cNvPr>
          <p:cNvSpPr>
            <a:spLocks noGrp="1"/>
          </p:cNvSpPr>
          <p:nvPr>
            <p:ph idx="1"/>
          </p:nvPr>
        </p:nvSpPr>
        <p:spPr/>
        <p:txBody>
          <a:bodyPr>
            <a:normAutofit/>
          </a:bodyPr>
          <a:lstStyle/>
          <a:p>
            <a:pPr algn="l" rtl="0"/>
            <a:r>
              <a:rPr lang="en-IN" b="0" i="0" dirty="0">
                <a:solidFill>
                  <a:srgbClr val="273239"/>
                </a:solidFill>
                <a:effectLst/>
                <a:latin typeface="Source Sans 3"/>
              </a:rPr>
              <a:t>What is the worst case time complexity of inserting n elements into an empty linked list, if the linked list needs to be maintained in sorted order ?</a:t>
            </a:r>
          </a:p>
          <a:p>
            <a:pPr marL="0" indent="0">
              <a:buNone/>
            </a:pPr>
            <a:r>
              <a:rPr lang="en-IN" b="0" i="0" dirty="0">
                <a:effectLst/>
                <a:latin typeface="-apple-system"/>
              </a:rPr>
              <a:t>A. </a:t>
            </a:r>
            <a:r>
              <a:rPr lang="el-GR" b="0" i="0" dirty="0">
                <a:effectLst/>
                <a:latin typeface="Source Sans 3"/>
              </a:rPr>
              <a:t>Θ(</a:t>
            </a:r>
            <a:r>
              <a:rPr lang="en-IN" b="0" i="0" dirty="0">
                <a:effectLst/>
                <a:latin typeface="Source Sans 3"/>
              </a:rPr>
              <a:t>n)</a:t>
            </a:r>
          </a:p>
          <a:p>
            <a:pPr marL="0" indent="0">
              <a:buNone/>
            </a:pPr>
            <a:r>
              <a:rPr lang="en-IN" b="0" i="0" dirty="0">
                <a:effectLst/>
                <a:latin typeface="-apple-system"/>
              </a:rPr>
              <a:t>B. </a:t>
            </a:r>
            <a:r>
              <a:rPr lang="el-GR" b="0" i="0" dirty="0">
                <a:effectLst/>
                <a:latin typeface="Source Sans 3"/>
              </a:rPr>
              <a:t>Θ(</a:t>
            </a:r>
            <a:r>
              <a:rPr lang="en-IN" b="0" i="0" dirty="0">
                <a:effectLst/>
                <a:latin typeface="Source Sans 3"/>
              </a:rPr>
              <a:t>n log n)</a:t>
            </a:r>
          </a:p>
          <a:p>
            <a:pPr marL="0" indent="0">
              <a:buNone/>
            </a:pPr>
            <a:r>
              <a:rPr lang="en-IN" b="0" i="0" dirty="0">
                <a:effectLst/>
                <a:latin typeface="-apple-system"/>
              </a:rPr>
              <a:t>C. </a:t>
            </a:r>
            <a:r>
              <a:rPr lang="el-GR" b="0" i="0" dirty="0">
                <a:effectLst/>
                <a:latin typeface="Source Sans 3"/>
              </a:rPr>
              <a:t>Θ(</a:t>
            </a:r>
            <a:r>
              <a:rPr lang="en-IN" b="0" i="0" dirty="0">
                <a:effectLst/>
                <a:latin typeface="Source Sans 3"/>
              </a:rPr>
              <a:t>n</a:t>
            </a:r>
            <a:r>
              <a:rPr lang="en-IN" b="0" i="0" baseline="30000" dirty="0">
                <a:effectLst/>
                <a:latin typeface="Source Sans 3"/>
              </a:rPr>
              <a:t>2</a:t>
            </a:r>
            <a:r>
              <a:rPr lang="en-IN" b="0" i="0" dirty="0">
                <a:effectLst/>
                <a:latin typeface="Source Sans 3"/>
              </a:rPr>
              <a:t>)</a:t>
            </a:r>
          </a:p>
          <a:p>
            <a:pPr marL="0" indent="0">
              <a:buNone/>
            </a:pPr>
            <a:r>
              <a:rPr lang="en-IN" b="0" i="0" dirty="0">
                <a:effectLst/>
                <a:latin typeface="-apple-system"/>
              </a:rPr>
              <a:t>D. </a:t>
            </a:r>
            <a:r>
              <a:rPr lang="el-GR" b="0" i="0" dirty="0">
                <a:effectLst/>
                <a:latin typeface="Source Sans 3"/>
              </a:rPr>
              <a:t>Θ(1)</a:t>
            </a:r>
          </a:p>
          <a:p>
            <a:pPr marL="0" indent="0">
              <a:buNone/>
            </a:pPr>
            <a:br>
              <a:rPr lang="el-GR" b="0" i="0" dirty="0">
                <a:effectLst/>
                <a:latin typeface="-apple-system"/>
              </a:rPr>
            </a:br>
            <a:endParaRPr lang="el-GR" b="0" i="0" dirty="0">
              <a:effectLst/>
              <a:latin typeface="-apple-system"/>
            </a:endParaRPr>
          </a:p>
          <a:p>
            <a:endParaRPr lang="en-US" dirty="0"/>
          </a:p>
        </p:txBody>
      </p:sp>
    </p:spTree>
    <p:extLst>
      <p:ext uri="{BB962C8B-B14F-4D97-AF65-F5344CB8AC3E}">
        <p14:creationId xmlns:p14="http://schemas.microsoft.com/office/powerpoint/2010/main" val="2691657359"/>
      </p:ext>
    </p:extLst>
  </p:cSld>
  <p:clrMapOvr>
    <a:masterClrMapping/>
  </p:clrMapOvr>
</p:sld>
</file>

<file path=ppt/slides/slide3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47603-BDA7-03CD-B4C8-B59748A3A0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F889E6-9D28-6659-BF7F-8C2EED241E5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2AEDC34-62DC-1225-1D0A-E6ED9C772CA7}"/>
              </a:ext>
            </a:extLst>
          </p:cNvPr>
          <p:cNvSpPr>
            <a:spLocks noGrp="1"/>
          </p:cNvSpPr>
          <p:nvPr>
            <p:ph idx="1"/>
          </p:nvPr>
        </p:nvSpPr>
        <p:spPr/>
        <p:txBody>
          <a:bodyPr>
            <a:normAutofit/>
          </a:bodyPr>
          <a:lstStyle/>
          <a:p>
            <a:pPr algn="l" rtl="0"/>
            <a:r>
              <a:rPr lang="en-IN" b="0" i="0" dirty="0">
                <a:solidFill>
                  <a:srgbClr val="273239"/>
                </a:solidFill>
                <a:effectLst/>
                <a:latin typeface="Source Sans 3"/>
              </a:rPr>
              <a:t>What is the worst case time complexity of inserting n elements into an empty linked list, if the linked list needs to be maintained in sorted order ?</a:t>
            </a:r>
          </a:p>
          <a:p>
            <a:pPr marL="0" indent="0">
              <a:buNone/>
            </a:pPr>
            <a:r>
              <a:rPr lang="en-IN" b="0" i="0" dirty="0">
                <a:effectLst/>
                <a:latin typeface="-apple-system"/>
              </a:rPr>
              <a:t>A. </a:t>
            </a:r>
            <a:r>
              <a:rPr lang="el-GR" b="0" i="0" dirty="0">
                <a:effectLst/>
                <a:latin typeface="Source Sans 3"/>
              </a:rPr>
              <a:t>Θ(</a:t>
            </a:r>
            <a:r>
              <a:rPr lang="en-IN" b="0" i="0" dirty="0">
                <a:effectLst/>
                <a:latin typeface="Source Sans 3"/>
              </a:rPr>
              <a:t>n)</a:t>
            </a:r>
          </a:p>
          <a:p>
            <a:pPr marL="0" indent="0">
              <a:buNone/>
            </a:pPr>
            <a:r>
              <a:rPr lang="en-IN" b="0" i="0" dirty="0">
                <a:effectLst/>
                <a:latin typeface="-apple-system"/>
              </a:rPr>
              <a:t>B. </a:t>
            </a:r>
            <a:r>
              <a:rPr lang="el-GR" b="0" i="0" dirty="0">
                <a:effectLst/>
                <a:latin typeface="Source Sans 3"/>
              </a:rPr>
              <a:t>Θ(</a:t>
            </a:r>
            <a:r>
              <a:rPr lang="en-IN" b="0" i="0" dirty="0">
                <a:effectLst/>
                <a:latin typeface="Source Sans 3"/>
              </a:rPr>
              <a:t>n log n)</a:t>
            </a:r>
          </a:p>
          <a:p>
            <a:pPr marL="0" indent="0">
              <a:buNone/>
            </a:pPr>
            <a:r>
              <a:rPr lang="en-IN" b="0" i="0" dirty="0">
                <a:solidFill>
                  <a:srgbClr val="00B050"/>
                </a:solidFill>
                <a:effectLst/>
                <a:latin typeface="-apple-system"/>
              </a:rPr>
              <a:t>C. </a:t>
            </a:r>
            <a:r>
              <a:rPr lang="el-GR" b="0" i="0" dirty="0">
                <a:solidFill>
                  <a:srgbClr val="00B050"/>
                </a:solidFill>
                <a:effectLst/>
                <a:latin typeface="Source Sans 3"/>
              </a:rPr>
              <a:t>Θ(</a:t>
            </a:r>
            <a:r>
              <a:rPr lang="en-IN" b="0" i="0" dirty="0">
                <a:solidFill>
                  <a:srgbClr val="00B050"/>
                </a:solidFill>
                <a:effectLst/>
                <a:latin typeface="Source Sans 3"/>
              </a:rPr>
              <a:t>n</a:t>
            </a:r>
            <a:r>
              <a:rPr lang="en-IN" b="0" i="0" baseline="30000" dirty="0">
                <a:solidFill>
                  <a:srgbClr val="00B050"/>
                </a:solidFill>
                <a:effectLst/>
                <a:latin typeface="Source Sans 3"/>
              </a:rPr>
              <a:t>2</a:t>
            </a:r>
            <a:r>
              <a:rPr lang="en-IN" b="0" i="0" dirty="0">
                <a:solidFill>
                  <a:srgbClr val="00B050"/>
                </a:solidFill>
                <a:effectLst/>
                <a:latin typeface="Source Sans 3"/>
              </a:rPr>
              <a:t>)</a:t>
            </a:r>
          </a:p>
          <a:p>
            <a:pPr marL="0" indent="0">
              <a:buNone/>
            </a:pPr>
            <a:r>
              <a:rPr lang="en-IN" b="0" i="0" dirty="0">
                <a:effectLst/>
                <a:latin typeface="-apple-system"/>
              </a:rPr>
              <a:t>D. </a:t>
            </a:r>
            <a:r>
              <a:rPr lang="el-GR" b="0" i="0" dirty="0">
                <a:effectLst/>
                <a:latin typeface="Source Sans 3"/>
              </a:rPr>
              <a:t>Θ(1)</a:t>
            </a:r>
          </a:p>
          <a:p>
            <a:pPr marL="0" indent="0">
              <a:buNone/>
            </a:pPr>
            <a:br>
              <a:rPr lang="el-GR" b="0" i="0" dirty="0">
                <a:effectLst/>
                <a:latin typeface="-apple-system"/>
              </a:rPr>
            </a:br>
            <a:endParaRPr lang="el-GR" b="0" i="0" dirty="0">
              <a:effectLst/>
              <a:latin typeface="-apple-system"/>
            </a:endParaRPr>
          </a:p>
          <a:p>
            <a:endParaRPr lang="en-US" dirty="0"/>
          </a:p>
        </p:txBody>
      </p:sp>
    </p:spTree>
    <p:extLst>
      <p:ext uri="{BB962C8B-B14F-4D97-AF65-F5344CB8AC3E}">
        <p14:creationId xmlns:p14="http://schemas.microsoft.com/office/powerpoint/2010/main" val="7643999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2288</TotalTime>
  <Words>31570</Words>
  <Application>Microsoft Macintosh PowerPoint</Application>
  <PresentationFormat>Widescreen</PresentationFormat>
  <Paragraphs>3246</Paragraphs>
  <Slides>389</Slides>
  <Notes>2</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389</vt:i4>
      </vt:variant>
    </vt:vector>
  </HeadingPairs>
  <TitlesOfParts>
    <vt:vector size="402" baseType="lpstr">
      <vt:lpstr>Arial Unicode MS</vt:lpstr>
      <vt:lpstr>-apple-system</vt:lpstr>
      <vt:lpstr>Aptos</vt:lpstr>
      <vt:lpstr>Aptos Display</vt:lpstr>
      <vt:lpstr>Arial</vt:lpstr>
      <vt:lpstr>Comfortaa</vt:lpstr>
      <vt:lpstr>Consolas</vt:lpstr>
      <vt:lpstr>Google Sans</vt:lpstr>
      <vt:lpstr>Nunito</vt:lpstr>
      <vt:lpstr>Open Sans</vt:lpstr>
      <vt:lpstr>Roboto</vt:lpstr>
      <vt:lpstr>Source Sans 3</vt:lpstr>
      <vt:lpstr>Office Theme</vt:lpstr>
      <vt:lpstr>Programming – Interview Questions</vt:lpstr>
      <vt:lpstr>PowerPoint Presentation</vt:lpstr>
      <vt:lpstr>PowerPoint Presentation</vt:lpstr>
      <vt:lpstr>Operator Overloading in C++</vt:lpstr>
      <vt:lpstr>Key Concepts</vt:lpstr>
      <vt:lpstr>PowerPoint Presentation</vt:lpstr>
      <vt:lpstr>Example Program</vt:lpstr>
      <vt:lpstr>Rules and Limitations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Friend Function in C++</vt:lpstr>
      <vt:lpstr>Key Characteristics</vt:lpstr>
      <vt:lpstr>PowerPoint Presentation</vt:lpstr>
      <vt:lpstr>PowerPoint Presentation</vt:lpstr>
      <vt:lpstr>PowerPoint Presentation</vt:lpstr>
      <vt:lpstr>PowerPoint Presentation</vt:lpstr>
      <vt:lpstr>Pass by Value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 Find the largest number among the three numbers.</vt:lpstr>
      <vt:lpstr>2. Write a Program to check whether a number is prime or not.</vt:lpstr>
      <vt:lpstr>4. Write a Program in C to Swap the values of two variables without using any extra variable.</vt:lpstr>
      <vt:lpstr>5. Write a Program to Replace all 0’s with 1’s in a Number.</vt:lpstr>
      <vt:lpstr>6. Write a Program to convert the binary number into a decimal number.</vt:lpstr>
      <vt:lpstr>7.  Write a Program to check if the year is a leap year or not.</vt:lpstr>
      <vt:lpstr>8. Write a program to Factorial of a Number.</vt:lpstr>
      <vt:lpstr>9. Write a Program to Check if a number is an Armstrong number or not.</vt:lpstr>
      <vt:lpstr>10. Write a program to Find all the roots of a quadratic equation in C.</vt:lpstr>
      <vt:lpstr>11. Write a Program to reverse a number.</vt:lpstr>
      <vt:lpstr>12. Check whether a number is a palindrome.</vt:lpstr>
      <vt:lpstr>13. Write a C Program to check if two numbers are equal without using the comparison operator. </vt:lpstr>
      <vt:lpstr>14. Write a  C program to find the GCD of two numbers.</vt:lpstr>
      <vt:lpstr>15. Write a C program to find the LCM of two numbers.</vt:lpstr>
      <vt:lpstr>Min and Max with no condition no loop</vt:lpstr>
      <vt:lpstr>Print N natual numbers without semi-colon</vt:lpstr>
      <vt:lpstr>19.  Write a Program to create a pyramid pattern using C.</vt:lpstr>
      <vt:lpstr>22. Write a program to reverse an Array.</vt:lpstr>
      <vt:lpstr>23. Write a program to check the repeating elements in C.</vt:lpstr>
      <vt:lpstr>24. Write a Program to print the Maximum and Minimum elements in an array.</vt:lpstr>
      <vt:lpstr>25. Write a Program for the cyclic rotation of an array to k positions.</vt:lpstr>
      <vt:lpstr>26. Write a Program to sort First half in Ascending order and the Second in Descending order.</vt:lpstr>
      <vt:lpstr>27. Write a Program to print sums of all subsets in an array.</vt:lpstr>
      <vt:lpstr>28. Write a Program to Find if there is any subarray with a sum equal to 0.</vt:lpstr>
      <vt:lpstr>29. Write a C program to Implement Kadane's Algorithm</vt:lpstr>
      <vt:lpstr>30. Write a Program to find the transpose of a matrix.</vt:lpstr>
      <vt:lpstr>31. Write a Program to Rotate a matrix by 90 degrees in the clockwise direction in C.</vt:lpstr>
      <vt:lpstr>32. Write a Program to find the Spiral Traversal of a Matrix in C.</vt:lpstr>
      <vt:lpstr>33. Write a program to count the sum of numbers in a string.</vt:lpstr>
      <vt:lpstr>34. Program to calculate the length of the string.</vt:lpstr>
      <vt:lpstr>35. Write a program to check string is a palindrome.</vt:lpstr>
      <vt:lpstr>36. Write a program to print all permutations of a given string in lexicographically sorted order in C.</vt:lpstr>
      <vt:lpstr>37. Write a program to calculate the Power of a Number using Recursion in C.</vt:lpstr>
      <vt:lpstr>38. Write a Code to print the Fibonacci series using recursion.</vt:lpstr>
      <vt:lpstr>39. Write a Program to find the HCF of two Numbers using Recursion.</vt:lpstr>
      <vt:lpstr>40. Write a Program in C to reverse a string using recursion.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 - Overview</vt:lpstr>
      <vt:lpstr>PowerPoint Presentation</vt:lpstr>
      <vt:lpstr>Variables</vt:lpstr>
      <vt:lpstr>Data Types</vt:lpstr>
      <vt:lpstr>1. Basic Data Types</vt:lpstr>
      <vt:lpstr>PowerPoint Presentation</vt:lpstr>
      <vt:lpstr>2. Derived Data Types</vt:lpstr>
      <vt:lpstr>3. User-Defined Data Types</vt:lpstr>
      <vt:lpstr>Identifiers</vt:lpstr>
      <vt:lpstr>Keywords</vt:lpstr>
      <vt:lpstr>PowerPoint Presentation</vt:lpstr>
      <vt:lpstr>Basic Input and Output</vt:lpstr>
      <vt:lpstr>Basic Input and Output</vt:lpstr>
      <vt:lpstr>PowerPoint Presentation</vt:lpstr>
      <vt:lpstr>Format Specifiers </vt:lpstr>
      <vt:lpstr>Escape Sequence</vt:lpstr>
      <vt:lpstr>Operators</vt:lpstr>
      <vt:lpstr>Conditional Statements</vt:lpstr>
      <vt:lpstr>PowerPoint Presentation</vt:lpstr>
      <vt:lpstr>PowerPoint Presentation</vt:lpstr>
      <vt:lpstr>PowerPoint Presentation</vt:lpstr>
      <vt:lpstr>PowerPoint Presentation</vt:lpstr>
      <vt:lpstr>PowerPoint Presentation</vt:lpstr>
      <vt:lpstr>Loops</vt:lpstr>
      <vt:lpstr>2. while Loop</vt:lpstr>
      <vt:lpstr>3. do-while Loop</vt:lpstr>
      <vt:lpstr>Jump Statements</vt:lpstr>
      <vt:lpstr>2. continue Statement</vt:lpstr>
      <vt:lpstr>PowerPoint Presentation</vt:lpstr>
      <vt:lpstr>PowerPoint Presentation</vt:lpstr>
      <vt:lpstr>Arrays</vt:lpstr>
      <vt:lpstr>PowerPoint Presentation</vt:lpstr>
      <vt:lpstr>Strings</vt:lpstr>
      <vt:lpstr>PowerPoint Presentation</vt:lpstr>
      <vt:lpstr>C String Functions </vt:lpstr>
      <vt:lpstr>Pointers</vt:lpstr>
      <vt:lpstr>PowerPoint Presentation</vt:lpstr>
      <vt:lpstr>PowerPoint Presentation</vt:lpstr>
      <vt:lpstr>Functions</vt:lpstr>
      <vt:lpstr>PowerPoint Presentation</vt:lpstr>
      <vt:lpstr>PowerPoint Presentation</vt:lpstr>
      <vt:lpstr>PowerPoint Presentation</vt:lpstr>
      <vt:lpstr>Type of Function</vt:lpstr>
      <vt:lpstr>Dynamic Memory Management</vt:lpstr>
      <vt:lpstr>PowerPoint Presentation</vt:lpstr>
      <vt:lpstr>Structures</vt:lpstr>
      <vt:lpstr>PowerPoint Presentation</vt:lpstr>
      <vt:lpstr>PowerPoint Presentation</vt:lpstr>
      <vt:lpstr>Union</vt:lpstr>
      <vt:lpstr>PowerPoint Presentation</vt:lpstr>
      <vt:lpstr>Enumeration (enum)</vt:lpstr>
      <vt:lpstr>PowerPoint Presentation</vt:lpstr>
      <vt:lpstr>C Math Functions</vt:lpstr>
      <vt:lpstr>Stack</vt:lpstr>
      <vt:lpstr>Theoretical Questions</vt:lpstr>
      <vt:lpstr>Implementation and Design Questions</vt:lpstr>
      <vt:lpstr>Coding Challenges</vt:lpstr>
      <vt:lpstr>Queue</vt:lpstr>
      <vt:lpstr>Conceptual and Theoretical Questions</vt:lpstr>
      <vt:lpstr>Implementation and Problem-Solving Questions</vt:lpstr>
      <vt:lpstr>Linked List</vt:lpstr>
      <vt:lpstr>Foundational Questions</vt:lpstr>
      <vt:lpstr>Problem-Solving Questions</vt:lpstr>
      <vt:lpstr>Tree Data Structure</vt:lpstr>
      <vt:lpstr>Conceptual &amp; Theoretical Questions</vt:lpstr>
      <vt:lpstr>Problem-Solving &amp; Coding Questions</vt:lpstr>
      <vt:lpstr>Advanced &amp; Specialized Questions</vt:lpstr>
      <vt:lpstr>Binary Tree Data Structure</vt:lpstr>
      <vt:lpstr>Conceptual Questions</vt:lpstr>
      <vt:lpstr>Algorithm &amp; Coding Questions</vt:lpstr>
      <vt:lpstr>Advanced &amp; Specialized Topics</vt:lpstr>
      <vt:lpstr>Binary Search Tree </vt:lpstr>
      <vt:lpstr>AVL Tree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Algorithm</vt:lpstr>
      <vt:lpstr>Specifications of Algorithms</vt:lpstr>
      <vt:lpstr>Recursive Algorithm</vt:lpstr>
      <vt:lpstr>Performance Analysis</vt:lpstr>
      <vt:lpstr>Time Complexity</vt:lpstr>
      <vt:lpstr>PowerPoint Presentation</vt:lpstr>
      <vt:lpstr>Asymptotic Notations</vt:lpstr>
      <vt:lpstr>Asymptotic Notations</vt:lpstr>
      <vt:lpstr>PowerPoint Presentation</vt:lpstr>
      <vt:lpstr>Linear &amp; Non-Linear Data Structures</vt:lpstr>
      <vt:lpstr>Single Linked List</vt:lpstr>
      <vt:lpstr>PowerPoint Presentation</vt:lpstr>
      <vt:lpstr>Operations on Single Linked List</vt:lpstr>
      <vt:lpstr>Insertion</vt:lpstr>
      <vt:lpstr>Inserting At Beginning of the list</vt:lpstr>
      <vt:lpstr>Inserting At End of the list</vt:lpstr>
      <vt:lpstr>Inserting At Specific location in the list (After a Node)</vt:lpstr>
      <vt:lpstr>Deletion</vt:lpstr>
      <vt:lpstr>Deleting from Beginning of the list</vt:lpstr>
      <vt:lpstr>Deleting from End of the list</vt:lpstr>
      <vt:lpstr>Deleting a Specific Node from the list</vt:lpstr>
      <vt:lpstr>Displaying a Single Linked List</vt:lpstr>
      <vt:lpstr>Circular Linked List</vt:lpstr>
      <vt:lpstr>Operations</vt:lpstr>
      <vt:lpstr>Insertion</vt:lpstr>
      <vt:lpstr>Inserting At Beginning of the list </vt:lpstr>
      <vt:lpstr>Inserting At End of the list</vt:lpstr>
      <vt:lpstr>Inserting At Specific location in the list (After a Node)</vt:lpstr>
      <vt:lpstr>Deletion</vt:lpstr>
      <vt:lpstr>Deleting from Beginning of the list</vt:lpstr>
      <vt:lpstr>Deleting from End of the list</vt:lpstr>
      <vt:lpstr>Deleting a Specific Node from the list</vt:lpstr>
      <vt:lpstr>Displaying a circular Linked List</vt:lpstr>
      <vt:lpstr>Double Linked List</vt:lpstr>
      <vt:lpstr>Operations on Double Linked List</vt:lpstr>
      <vt:lpstr>Insertion</vt:lpstr>
      <vt:lpstr>Inserting At Beginning of the list</vt:lpstr>
      <vt:lpstr>Inserting At End of the list</vt:lpstr>
      <vt:lpstr>Inserting At Specific location in the list (After a Node)</vt:lpstr>
      <vt:lpstr>Deletion</vt:lpstr>
      <vt:lpstr>Deleting from Beginning of the list</vt:lpstr>
      <vt:lpstr>Deleting from End of the list</vt:lpstr>
      <vt:lpstr>Deleting a Specific Node from the list</vt:lpstr>
      <vt:lpstr>Displaying a Double Linked List</vt:lpstr>
      <vt:lpstr>Arrays</vt:lpstr>
      <vt:lpstr>PowerPoint Presentation</vt:lpstr>
      <vt:lpstr>Types of Arrays</vt:lpstr>
      <vt:lpstr>Sparse Matrix</vt:lpstr>
      <vt:lpstr>PowerPoint Presentation</vt:lpstr>
      <vt:lpstr>PowerPoint Presentation</vt:lpstr>
      <vt:lpstr>PowerPoint Presentation</vt:lpstr>
      <vt:lpstr>Stack ADT</vt:lpstr>
      <vt:lpstr>Operations on a Stack</vt:lpstr>
      <vt:lpstr>push(value) - Inserting value into the stack</vt:lpstr>
      <vt:lpstr>pop() - Delete a value from the Stack</vt:lpstr>
      <vt:lpstr>display() - Displays the elements of a Stack</vt:lpstr>
      <vt:lpstr>Stack Using Linked List</vt:lpstr>
      <vt:lpstr>Stack Operations using Linked List</vt:lpstr>
      <vt:lpstr>push(value) - Inserting an element into the Stack</vt:lpstr>
      <vt:lpstr>pop() - Deleting an Element from a Stack</vt:lpstr>
      <vt:lpstr>display() - Displaying stack of elements</vt:lpstr>
      <vt:lpstr>Expressions</vt:lpstr>
      <vt:lpstr>Infix Expression</vt:lpstr>
      <vt:lpstr>Postfix Expression</vt:lpstr>
      <vt:lpstr>Prefix Expression</vt:lpstr>
      <vt:lpstr>Infix to Postfix Conversion</vt:lpstr>
      <vt:lpstr>Example</vt:lpstr>
      <vt:lpstr>Infix to Postfix Conversion using Stack Data Structure</vt:lpstr>
      <vt:lpstr>Postfix Expression Evaluation</vt:lpstr>
      <vt:lpstr>Postfix Expression Evaluation using Stack Data Structure</vt:lpstr>
      <vt:lpstr>Queue ADT</vt:lpstr>
      <vt:lpstr>Operations on a Queue</vt:lpstr>
      <vt:lpstr>Queue Datastructure Using Array</vt:lpstr>
      <vt:lpstr>enQueue(value) - Inserting value into the queue</vt:lpstr>
      <vt:lpstr>deQueue() - Deleting a value from the Queue</vt:lpstr>
      <vt:lpstr>display() - Displays the elements of a Queue</vt:lpstr>
      <vt:lpstr>Queue Using Linked List</vt:lpstr>
      <vt:lpstr>Operations of Queue Using Linked List</vt:lpstr>
      <vt:lpstr>enQueue(value) - Inserting an element into the Queue</vt:lpstr>
      <vt:lpstr>deQueue() - Deleting an Element from Queue</vt:lpstr>
      <vt:lpstr>display() - Displaying the elements of Queue</vt:lpstr>
      <vt:lpstr>isEmpty()</vt:lpstr>
      <vt:lpstr>isFull()</vt:lpstr>
      <vt:lpstr>Circular Queue Datastructure</vt:lpstr>
      <vt:lpstr>Circular Queue Datastructure</vt:lpstr>
      <vt:lpstr>enQueue(value) - Inserting value into the Circular Queue</vt:lpstr>
      <vt:lpstr>deQueue() - Deleting a value from the Circular Queue</vt:lpstr>
      <vt:lpstr>display() - Displays the elements of a Circular Queue</vt:lpstr>
      <vt:lpstr>Double Ended Queue Datastructure</vt:lpstr>
      <vt:lpstr>Input Restricted Double Ended Queue</vt:lpstr>
      <vt:lpstr>Output Restricted Double Ended Queue</vt:lpstr>
      <vt:lpstr>Tree - Terminology</vt:lpstr>
      <vt:lpstr>PowerPoint Presentation</vt:lpstr>
      <vt:lpstr>1. Root</vt:lpstr>
      <vt:lpstr>2. Edge</vt:lpstr>
      <vt:lpstr>3. Parent</vt:lpstr>
      <vt:lpstr>4. Child</vt:lpstr>
      <vt:lpstr>5. Siblings</vt:lpstr>
      <vt:lpstr>6. Leaf</vt:lpstr>
      <vt:lpstr>7. Internal Nodes</vt:lpstr>
      <vt:lpstr>8. Degree</vt:lpstr>
      <vt:lpstr>9. Level</vt:lpstr>
      <vt:lpstr>10. Height</vt:lpstr>
      <vt:lpstr>11. Depth</vt:lpstr>
      <vt:lpstr>12. Path</vt:lpstr>
      <vt:lpstr>13. Sub Tree</vt:lpstr>
      <vt:lpstr>Tree Representations</vt:lpstr>
      <vt:lpstr>PowerPoint Presentation</vt:lpstr>
      <vt:lpstr>PowerPoint Presentation</vt:lpstr>
      <vt:lpstr>Binary Tree Datastructure</vt:lpstr>
      <vt:lpstr>1. Strictly Binary Tree</vt:lpstr>
      <vt:lpstr>PowerPoint Presentation</vt:lpstr>
      <vt:lpstr>2. Complete Binary Tree</vt:lpstr>
      <vt:lpstr>Full Binary Tree</vt:lpstr>
      <vt:lpstr>3. Extended Binary Tree</vt:lpstr>
      <vt:lpstr>Binary Tree Representations</vt:lpstr>
      <vt:lpstr>1. Array Representation of Binary Tree</vt:lpstr>
      <vt:lpstr>2. Linked List Representation of Binary Tree</vt:lpstr>
      <vt:lpstr>Binary Tree Traversals</vt:lpstr>
      <vt:lpstr>1. In - Order Traversal ( leftChild - root - rightChild )</vt:lpstr>
      <vt:lpstr>2. Pre - Order Traversal ( root - leftChild - rightChild )</vt:lpstr>
      <vt:lpstr>3. Post - Order Traversal ( leftChild - rightChild - root )</vt:lpstr>
      <vt:lpstr>Threaded Binary Trees</vt:lpstr>
      <vt:lpstr>PowerPoint Presentation</vt:lpstr>
      <vt:lpstr>Threaded Binary Trees</vt:lpstr>
      <vt:lpstr>Binary Search Tree</vt:lpstr>
      <vt:lpstr>PowerPoint Presentation</vt:lpstr>
      <vt:lpstr>Operations on a Binary Search Tree</vt:lpstr>
      <vt:lpstr>Search Operation in BST</vt:lpstr>
      <vt:lpstr>Insertion Operation in BST</vt:lpstr>
      <vt:lpstr>Deletion Operation in BST</vt:lpstr>
      <vt:lpstr>Case 1: Deleting a leaf node</vt:lpstr>
      <vt:lpstr>Case 2: Deleting a node with one child</vt:lpstr>
      <vt:lpstr>Case 3: Deleting a node with two children</vt:lpstr>
      <vt:lpstr>PowerPoint Presentation</vt:lpstr>
      <vt:lpstr>AVL Tree Datastructure</vt:lpstr>
      <vt:lpstr>AVL Tree Rotations</vt:lpstr>
      <vt:lpstr>Single Left Rotation (LL Rotation)</vt:lpstr>
      <vt:lpstr>Single Right Rotation (RR Rotation)</vt:lpstr>
      <vt:lpstr>Left Right Rotation (LR Rotation)</vt:lpstr>
      <vt:lpstr>Right Left Rotation (RL Rotation)</vt:lpstr>
      <vt:lpstr>Operations on an AVL Tree</vt:lpstr>
      <vt:lpstr>Search Operation in AVL Tree</vt:lpstr>
      <vt:lpstr>Insertion Operation in AVL Tree</vt:lpstr>
      <vt:lpstr>PowerPoint Presentation</vt:lpstr>
      <vt:lpstr>PowerPoint Presentation</vt:lpstr>
      <vt:lpstr>Deletion Operation in AVL Tree</vt:lpstr>
      <vt:lpstr>Red - Black Tree Datastructure</vt:lpstr>
      <vt:lpstr>Linked List MCQs</vt:lpstr>
      <vt:lpstr>Linked List MCQs</vt:lpstr>
      <vt:lpstr>Linked List MCQs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NAVEEN KUMAR</dc:creator>
  <cp:lastModifiedBy>NAVEEN KUMAR</cp:lastModifiedBy>
  <cp:revision>400</cp:revision>
  <dcterms:created xsi:type="dcterms:W3CDTF">2026-01-23T07:20:28Z</dcterms:created>
  <dcterms:modified xsi:type="dcterms:W3CDTF">2026-02-05T15:19:54Z</dcterms:modified>
</cp:coreProperties>
</file>