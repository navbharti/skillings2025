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85" r:id="rId3"/>
    <p:sldId id="258" r:id="rId4"/>
    <p:sldId id="286" r:id="rId5"/>
    <p:sldId id="284" r:id="rId6"/>
    <p:sldId id="260" r:id="rId7"/>
    <p:sldId id="287" r:id="rId8"/>
    <p:sldId id="288" r:id="rId9"/>
    <p:sldId id="259" r:id="rId10"/>
    <p:sldId id="261" r:id="rId11"/>
    <p:sldId id="262" r:id="rId12"/>
    <p:sldId id="263" r:id="rId13"/>
    <p:sldId id="264" r:id="rId14"/>
    <p:sldId id="265" r:id="rId15"/>
    <p:sldId id="268" r:id="rId16"/>
    <p:sldId id="269" r:id="rId17"/>
    <p:sldId id="289" r:id="rId18"/>
    <p:sldId id="291" r:id="rId19"/>
    <p:sldId id="266" r:id="rId20"/>
    <p:sldId id="267" r:id="rId21"/>
    <p:sldId id="271" r:id="rId22"/>
    <p:sldId id="272" r:id="rId23"/>
    <p:sldId id="273" r:id="rId24"/>
    <p:sldId id="274" r:id="rId25"/>
    <p:sldId id="275" r:id="rId26"/>
    <p:sldId id="276" r:id="rId27"/>
    <p:sldId id="293" r:id="rId28"/>
    <p:sldId id="294" r:id="rId29"/>
    <p:sldId id="270" r:id="rId30"/>
    <p:sldId id="295" r:id="rId31"/>
    <p:sldId id="296" r:id="rId32"/>
    <p:sldId id="297" r:id="rId33"/>
    <p:sldId id="29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67"/>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C6C5A9-3723-0A47-9355-AA4B3D039076}" type="datetimeFigureOut">
              <a:rPr lang="en-US" smtClean="0"/>
              <a:t>4/15/26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62C2B0-42C1-6B44-9EBE-264E985F854A}" type="slidenum">
              <a:rPr lang="en-US" smtClean="0"/>
              <a:t>‹#›</a:t>
            </a:fld>
            <a:endParaRPr lang="en-US"/>
          </a:p>
        </p:txBody>
      </p:sp>
    </p:spTree>
    <p:extLst>
      <p:ext uri="{BB962C8B-B14F-4D97-AF65-F5344CB8AC3E}">
        <p14:creationId xmlns:p14="http://schemas.microsoft.com/office/powerpoint/2010/main" val="3007260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8a46e3392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8a46e3392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8a46e33928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8a46e33928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8a46e33928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8a46e33928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8a46e33928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8a46e33928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8a46e33928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8a46e33928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8a46e33928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8a46e33928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8a46e33928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8a46e33928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8a46e33928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8a46e3392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8a46e33928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8a46e33928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8a46e33928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8a46e33928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8a46e33928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8a46e33928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8a46e33928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8a46e33928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8a46e33928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8a46e33928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8a46e33928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8a46e33928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A08AE-B199-642F-D7C0-93E0D0E9FDF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E11454D-5BE7-97F5-E002-DBE199CEE4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74D280A-34E1-4D61-63C6-C333F211D6A6}"/>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996A46DD-4A5F-293C-D169-A02205A616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E30E2-93FC-27CD-BF57-3A718AC19F6A}"/>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480861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6A450-0331-69A9-CC2B-52073D28E7D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AE451E6-AD30-FAB7-4229-00FA5306842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A30B7A0-CE88-76FA-AFF7-EA3CC20D6E18}"/>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5E0E50A9-A2B7-5842-45E4-5785BDD3CA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7F5ABA-5DC7-1DFB-9799-F9325CBA2AE8}"/>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751900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70963-1C15-EB86-1871-ACEEBA89D8A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12FBB9E-B12A-08FB-DD78-04CF609D9B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641A9D-3250-3622-ADBB-990ECF0107C8}"/>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662CE46A-05E0-ACB9-FEC2-529E3ADF5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ECD09F-6E2F-E4D2-3A9D-2E32473F7C12}"/>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266064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5FFAA-FE26-5139-738A-36D734FE96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E2BEB8F-A19E-FF4A-D2C9-052AB3C0FEB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EBB091D-EE26-811B-D25C-6FBB2962895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79D6ED5-691F-5D2B-E592-61D6D39768A9}"/>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6" name="Footer Placeholder 5">
            <a:extLst>
              <a:ext uri="{FF2B5EF4-FFF2-40B4-BE49-F238E27FC236}">
                <a16:creationId xmlns:a16="http://schemas.microsoft.com/office/drawing/2014/main" id="{EF40F33B-7C48-CFC4-0305-09DE12B18A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F2C661-A2A4-A27A-38B9-D1C082B7DA6F}"/>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941210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7E0A-7816-8328-FD6B-4D29D6C0234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1BA3B38-94F1-2784-EAEA-DDC2346032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96D3300-A2C2-4D77-178F-A6CACD829AD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DAB947D-2E1A-84FC-350B-16F96C7BDF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1C759F1-3B1F-7EA9-F33E-8D23B292BC1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C7B43A7-D93B-6573-C0EB-1770E5D843DB}"/>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8" name="Footer Placeholder 7">
            <a:extLst>
              <a:ext uri="{FF2B5EF4-FFF2-40B4-BE49-F238E27FC236}">
                <a16:creationId xmlns:a16="http://schemas.microsoft.com/office/drawing/2014/main" id="{96EFB0D3-76FD-F721-6841-2C6C58102A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4C4564-47C8-AD57-7590-916831964832}"/>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2743493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3002F-74F2-E973-BF47-25F5A685BCE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60F0C4C-D4A4-CC4B-0413-9CE1B3E0FFC7}"/>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4" name="Footer Placeholder 3">
            <a:extLst>
              <a:ext uri="{FF2B5EF4-FFF2-40B4-BE49-F238E27FC236}">
                <a16:creationId xmlns:a16="http://schemas.microsoft.com/office/drawing/2014/main" id="{FD8F9449-5263-A5C8-056A-1FADB00DEF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7EC67B-C78D-CA16-3C03-042AC0A61782}"/>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151976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652D2F-F36F-81DB-0840-CAE6C7F11103}"/>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3" name="Footer Placeholder 2">
            <a:extLst>
              <a:ext uri="{FF2B5EF4-FFF2-40B4-BE49-F238E27FC236}">
                <a16:creationId xmlns:a16="http://schemas.microsoft.com/office/drawing/2014/main" id="{5B093125-10CD-E5CF-F175-57AE6FC42D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F44145-D8E6-9BBF-477F-49A9A33CACDF}"/>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699138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1D055-FA16-5579-978B-0E36A40127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C0B1B8B-BE85-1505-4B9C-C828B6E57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B8E7727-91E8-AC6D-247B-C99235A194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DE474A9-5357-5D58-5BD3-E943B156DD3F}"/>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6" name="Footer Placeholder 5">
            <a:extLst>
              <a:ext uri="{FF2B5EF4-FFF2-40B4-BE49-F238E27FC236}">
                <a16:creationId xmlns:a16="http://schemas.microsoft.com/office/drawing/2014/main" id="{61896105-E08C-054E-C3FF-08EBA65337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ABA857-1FF5-AEA4-17A6-B6D1DD264105}"/>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2628863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36063-FAB4-4ADB-3B9C-3346D507CB9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01842BF-4465-93B9-D4F9-87A1ECD7DD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915410-A370-7999-69E2-23E9EDC6D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1343D2-C3A9-5F44-8B2A-97A2859EE314}"/>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6" name="Footer Placeholder 5">
            <a:extLst>
              <a:ext uri="{FF2B5EF4-FFF2-40B4-BE49-F238E27FC236}">
                <a16:creationId xmlns:a16="http://schemas.microsoft.com/office/drawing/2014/main" id="{6443031A-975B-C170-E005-DCE3F5577C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E68B98-8090-4872-C696-D1547321D5F0}"/>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247487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3873E-D195-BA05-829B-E29F3F08B17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488BF20-E892-1053-79C4-A51331A8989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139A39D-D99F-B775-D366-C4B74614A342}"/>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B37FFE19-3F5C-D984-4554-3F6F87992E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6EBB0C-F9F2-78DA-2B17-A5F3BD0B99EE}"/>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4269709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D27894-BBB4-8C3F-E3EE-3FEC9A7657C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1309870-C2C7-15B8-80B9-085713D6E67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C813177-7499-68D0-E652-8EA096A6E7F2}"/>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9F2966D3-70F5-96FD-3EA0-B1E08D1E0F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F91232-D74E-45D2-B034-543CFECF3845}"/>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1455708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11889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DD4160-E8B8-6B57-C59C-8D4CC3C754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4F512C9-68AD-6177-414C-05951DB5A7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53CD8ED-B890-C556-BFFC-C404174581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87CEA07D-651D-7D05-20A3-342BAEB86F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73F3F9-7DED-75CA-CCE7-0D2B35C7BF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707CAA-2DDF-384A-828C-DC5D71B584C9}" type="slidenum">
              <a:rPr lang="en-US" smtClean="0"/>
              <a:t>‹#›</a:t>
            </a:fld>
            <a:endParaRPr lang="en-US"/>
          </a:p>
        </p:txBody>
      </p:sp>
    </p:spTree>
    <p:extLst>
      <p:ext uri="{BB962C8B-B14F-4D97-AF65-F5344CB8AC3E}">
        <p14:creationId xmlns:p14="http://schemas.microsoft.com/office/powerpoint/2010/main" val="344239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machine-learning/backpropagation-in-neural-network/"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hyperlink" Target="https://www.geeksforgeeks.org/machine-learning/Leaky-Relu-Activation-Function-in-Deep-Learning/" TargetMode="External"/><Relationship Id="rId3" Type="http://schemas.openxmlformats.org/officeDocument/2006/relationships/hyperlink" Target="https://www.geeksforgeeks.org/machine-learning/derivative-of-the-sigmoid-function/" TargetMode="External"/><Relationship Id="rId7" Type="http://schemas.openxmlformats.org/officeDocument/2006/relationships/hyperlink" Target="https://www.geeksforgeeks.org/deep-learning/the-role-of-softmax-in-neural-networks-detailed-explanation-and-applications/"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hyperlink" Target="https://www.geeksforgeeks.org/deep-learning/tanh-activation-in-neural-network/" TargetMode="External"/><Relationship Id="rId5" Type="http://schemas.openxmlformats.org/officeDocument/2006/relationships/hyperlink" Target="https://www.geeksforgeeks.org/deep-learning/vanishing-and-exploding-gradients-problems-in-deep-learning/" TargetMode="External"/><Relationship Id="rId4" Type="http://schemas.openxmlformats.org/officeDocument/2006/relationships/hyperlink" Target="https://www.geeksforgeeks.org/deep-learning/relu-activation-function-in-deep-learning/"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0DAF7-722D-8427-1B45-CD4A91A4ABDA}"/>
              </a:ext>
            </a:extLst>
          </p:cNvPr>
          <p:cNvSpPr>
            <a:spLocks noGrp="1"/>
          </p:cNvSpPr>
          <p:nvPr>
            <p:ph type="ctrTitle"/>
          </p:nvPr>
        </p:nvSpPr>
        <p:spPr/>
        <p:txBody>
          <a:bodyPr/>
          <a:lstStyle/>
          <a:p>
            <a:r>
              <a:rPr lang="en-US" dirty="0"/>
              <a:t>Neural Network</a:t>
            </a:r>
          </a:p>
        </p:txBody>
      </p:sp>
      <p:sp>
        <p:nvSpPr>
          <p:cNvPr id="3" name="Subtitle 2">
            <a:extLst>
              <a:ext uri="{FF2B5EF4-FFF2-40B4-BE49-F238E27FC236}">
                <a16:creationId xmlns:a16="http://schemas.microsoft.com/office/drawing/2014/main" id="{379E38A6-3849-818A-2A94-539CE7C0635C}"/>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2242597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p:nvPr/>
        </p:nvSpPr>
        <p:spPr>
          <a:xfrm>
            <a:off x="461300" y="522800"/>
            <a:ext cx="1399200" cy="845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t>Data</a:t>
            </a:r>
            <a:endParaRPr sz="2400"/>
          </a:p>
        </p:txBody>
      </p:sp>
      <p:sp>
        <p:nvSpPr>
          <p:cNvPr id="74" name="Google Shape;74;p16"/>
          <p:cNvSpPr/>
          <p:nvPr/>
        </p:nvSpPr>
        <p:spPr>
          <a:xfrm>
            <a:off x="2683267" y="522800"/>
            <a:ext cx="2006433" cy="845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dirty="0"/>
              <a:t>Information</a:t>
            </a:r>
            <a:endParaRPr sz="2400" dirty="0"/>
          </a:p>
        </p:txBody>
      </p:sp>
      <p:sp>
        <p:nvSpPr>
          <p:cNvPr id="75" name="Google Shape;75;p16"/>
          <p:cNvSpPr/>
          <p:nvPr/>
        </p:nvSpPr>
        <p:spPr>
          <a:xfrm>
            <a:off x="6367044" y="1922100"/>
            <a:ext cx="2317589" cy="95719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dirty="0"/>
              <a:t>Adv. Processing (Query)</a:t>
            </a:r>
            <a:endParaRPr sz="2400" dirty="0"/>
          </a:p>
        </p:txBody>
      </p:sp>
      <p:sp>
        <p:nvSpPr>
          <p:cNvPr id="76" name="Google Shape;76;p16"/>
          <p:cNvSpPr/>
          <p:nvPr/>
        </p:nvSpPr>
        <p:spPr>
          <a:xfrm>
            <a:off x="6535267" y="276800"/>
            <a:ext cx="1940400" cy="1091600"/>
          </a:xfrm>
          <a:prstGeom prst="can">
            <a:avLst>
              <a:gd name="adj" fmla="val 25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t>DB of Information</a:t>
            </a:r>
            <a:endParaRPr sz="2400"/>
          </a:p>
        </p:txBody>
      </p:sp>
      <p:sp>
        <p:nvSpPr>
          <p:cNvPr id="77" name="Google Shape;77;p16"/>
          <p:cNvSpPr txBox="1"/>
          <p:nvPr/>
        </p:nvSpPr>
        <p:spPr>
          <a:xfrm>
            <a:off x="7205667" y="1199267"/>
            <a:ext cx="599600" cy="923289"/>
          </a:xfrm>
          <a:prstGeom prst="rect">
            <a:avLst/>
          </a:prstGeom>
          <a:noFill/>
          <a:ln>
            <a:noFill/>
          </a:ln>
        </p:spPr>
        <p:txBody>
          <a:bodyPr spcFirstLastPara="1" wrap="square" lIns="121900" tIns="121900" rIns="121900" bIns="121900" anchor="t" anchorCtr="0">
            <a:spAutoFit/>
          </a:bodyPr>
          <a:lstStyle/>
          <a:p>
            <a:r>
              <a:rPr lang="en" sz="4400">
                <a:solidFill>
                  <a:schemeClr val="dk2"/>
                </a:solidFill>
              </a:rPr>
              <a:t>+</a:t>
            </a:r>
            <a:endParaRPr sz="4400">
              <a:solidFill>
                <a:schemeClr val="dk2"/>
              </a:solidFill>
            </a:endParaRPr>
          </a:p>
        </p:txBody>
      </p:sp>
      <p:cxnSp>
        <p:nvCxnSpPr>
          <p:cNvPr id="78" name="Google Shape;78;p16"/>
          <p:cNvCxnSpPr>
            <a:cxnSpLocks/>
            <a:endCxn id="74" idx="1"/>
          </p:cNvCxnSpPr>
          <p:nvPr/>
        </p:nvCxnSpPr>
        <p:spPr>
          <a:xfrm flipV="1">
            <a:off x="1860500" y="945600"/>
            <a:ext cx="822767" cy="23200"/>
          </a:xfrm>
          <a:prstGeom prst="straightConnector1">
            <a:avLst/>
          </a:prstGeom>
          <a:noFill/>
          <a:ln w="9525" cap="flat" cmpd="sng">
            <a:solidFill>
              <a:schemeClr val="dk2"/>
            </a:solidFill>
            <a:prstDash val="solid"/>
            <a:round/>
            <a:headEnd type="none" w="med" len="med"/>
            <a:tailEnd type="triangle" w="med" len="med"/>
          </a:ln>
        </p:spPr>
      </p:cxnSp>
      <p:cxnSp>
        <p:nvCxnSpPr>
          <p:cNvPr id="79" name="Google Shape;79;p16"/>
          <p:cNvCxnSpPr>
            <a:endCxn id="76" idx="2"/>
          </p:cNvCxnSpPr>
          <p:nvPr/>
        </p:nvCxnSpPr>
        <p:spPr>
          <a:xfrm rot="10800000" flipH="1">
            <a:off x="4689667" y="822600"/>
            <a:ext cx="1845600" cy="134400"/>
          </a:xfrm>
          <a:prstGeom prst="straightConnector1">
            <a:avLst/>
          </a:prstGeom>
          <a:noFill/>
          <a:ln w="9525" cap="flat" cmpd="sng">
            <a:solidFill>
              <a:schemeClr val="dk2"/>
            </a:solidFill>
            <a:prstDash val="solid"/>
            <a:round/>
            <a:headEnd type="none" w="med" len="med"/>
            <a:tailEnd type="triangle" w="med" len="med"/>
          </a:ln>
        </p:spPr>
      </p:cxnSp>
      <p:cxnSp>
        <p:nvCxnSpPr>
          <p:cNvPr id="80" name="Google Shape;80;p16"/>
          <p:cNvCxnSpPr>
            <a:cxnSpLocks/>
            <a:stCxn id="74" idx="3"/>
            <a:endCxn id="75" idx="1"/>
          </p:cNvCxnSpPr>
          <p:nvPr/>
        </p:nvCxnSpPr>
        <p:spPr>
          <a:xfrm>
            <a:off x="4689700" y="945600"/>
            <a:ext cx="1677344" cy="1455096"/>
          </a:xfrm>
          <a:prstGeom prst="straightConnector1">
            <a:avLst/>
          </a:prstGeom>
          <a:noFill/>
          <a:ln w="9525" cap="flat" cmpd="sng">
            <a:solidFill>
              <a:schemeClr val="dk2"/>
            </a:solidFill>
            <a:prstDash val="solid"/>
            <a:round/>
            <a:headEnd type="none" w="med" len="med"/>
            <a:tailEnd type="triangle" w="med" len="med"/>
          </a:ln>
        </p:spPr>
      </p:cxnSp>
      <p:sp>
        <p:nvSpPr>
          <p:cNvPr id="81" name="Google Shape;81;p16"/>
          <p:cNvSpPr/>
          <p:nvPr/>
        </p:nvSpPr>
        <p:spPr>
          <a:xfrm>
            <a:off x="10016867" y="466900"/>
            <a:ext cx="2006400" cy="845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t>Intelligence</a:t>
            </a:r>
            <a:endParaRPr sz="2400"/>
          </a:p>
        </p:txBody>
      </p:sp>
      <p:sp>
        <p:nvSpPr>
          <p:cNvPr id="82" name="Google Shape;82;p16"/>
          <p:cNvSpPr/>
          <p:nvPr/>
        </p:nvSpPr>
        <p:spPr>
          <a:xfrm>
            <a:off x="8805433" y="1922100"/>
            <a:ext cx="1299200" cy="845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dirty="0"/>
              <a:t>Human</a:t>
            </a:r>
            <a:endParaRPr sz="2400" dirty="0"/>
          </a:p>
        </p:txBody>
      </p:sp>
      <p:sp>
        <p:nvSpPr>
          <p:cNvPr id="83" name="Google Shape;83;p16"/>
          <p:cNvSpPr/>
          <p:nvPr/>
        </p:nvSpPr>
        <p:spPr>
          <a:xfrm>
            <a:off x="10570233" y="1922100"/>
            <a:ext cx="1540800" cy="845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dirty="0"/>
              <a:t>Non-Human</a:t>
            </a:r>
            <a:endParaRPr sz="2400" dirty="0"/>
          </a:p>
        </p:txBody>
      </p:sp>
      <p:sp>
        <p:nvSpPr>
          <p:cNvPr id="84" name="Google Shape;84;p16"/>
          <p:cNvSpPr/>
          <p:nvPr/>
        </p:nvSpPr>
        <p:spPr>
          <a:xfrm>
            <a:off x="7443044" y="4412475"/>
            <a:ext cx="2317589" cy="95719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dirty="0"/>
              <a:t>Human Intelligence</a:t>
            </a:r>
            <a:endParaRPr sz="2400" dirty="0"/>
          </a:p>
        </p:txBody>
      </p:sp>
      <p:sp>
        <p:nvSpPr>
          <p:cNvPr id="85" name="Google Shape;85;p16"/>
          <p:cNvSpPr/>
          <p:nvPr/>
        </p:nvSpPr>
        <p:spPr>
          <a:xfrm>
            <a:off x="10104633" y="4412475"/>
            <a:ext cx="2006400" cy="95719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t>Artificial Intelligence</a:t>
            </a:r>
            <a:endParaRPr sz="2400"/>
          </a:p>
        </p:txBody>
      </p:sp>
      <p:cxnSp>
        <p:nvCxnSpPr>
          <p:cNvPr id="86" name="Google Shape;86;p16"/>
          <p:cNvCxnSpPr>
            <a:cxnSpLocks/>
            <a:endCxn id="81" idx="1"/>
          </p:cNvCxnSpPr>
          <p:nvPr/>
        </p:nvCxnSpPr>
        <p:spPr>
          <a:xfrm flipV="1">
            <a:off x="8488467" y="889750"/>
            <a:ext cx="1528400" cy="50"/>
          </a:xfrm>
          <a:prstGeom prst="straightConnector1">
            <a:avLst/>
          </a:prstGeom>
          <a:noFill/>
          <a:ln w="9525" cap="flat" cmpd="sng">
            <a:solidFill>
              <a:schemeClr val="dk2"/>
            </a:solidFill>
            <a:prstDash val="solid"/>
            <a:round/>
            <a:headEnd type="none" w="med" len="med"/>
            <a:tailEnd type="triangle" w="med" len="med"/>
          </a:ln>
        </p:spPr>
      </p:cxnSp>
      <p:cxnSp>
        <p:nvCxnSpPr>
          <p:cNvPr id="87" name="Google Shape;87;p16"/>
          <p:cNvCxnSpPr>
            <a:endCxn id="83" idx="0"/>
          </p:cNvCxnSpPr>
          <p:nvPr/>
        </p:nvCxnSpPr>
        <p:spPr>
          <a:xfrm>
            <a:off x="10875033" y="1312500"/>
            <a:ext cx="465600" cy="609600"/>
          </a:xfrm>
          <a:prstGeom prst="straightConnector1">
            <a:avLst/>
          </a:prstGeom>
          <a:noFill/>
          <a:ln w="9525" cap="flat" cmpd="sng">
            <a:solidFill>
              <a:schemeClr val="dk2"/>
            </a:solidFill>
            <a:prstDash val="solid"/>
            <a:round/>
            <a:headEnd type="none" w="med" len="med"/>
            <a:tailEnd type="triangle" w="med" len="med"/>
          </a:ln>
        </p:spPr>
      </p:cxnSp>
      <p:cxnSp>
        <p:nvCxnSpPr>
          <p:cNvPr id="88" name="Google Shape;88;p16"/>
          <p:cNvCxnSpPr>
            <a:cxnSpLocks/>
            <a:stCxn id="81" idx="2"/>
            <a:endCxn id="82" idx="0"/>
          </p:cNvCxnSpPr>
          <p:nvPr/>
        </p:nvCxnSpPr>
        <p:spPr>
          <a:xfrm flipH="1">
            <a:off x="9455033" y="1312600"/>
            <a:ext cx="1565034" cy="609500"/>
          </a:xfrm>
          <a:prstGeom prst="straightConnector1">
            <a:avLst/>
          </a:prstGeom>
          <a:noFill/>
          <a:ln w="9525" cap="flat" cmpd="sng">
            <a:solidFill>
              <a:schemeClr val="dk2"/>
            </a:solidFill>
            <a:prstDash val="solid"/>
            <a:round/>
            <a:headEnd type="none" w="med" len="med"/>
            <a:tailEnd type="triangle" w="med" len="med"/>
          </a:ln>
        </p:spPr>
      </p:cxnSp>
      <p:cxnSp>
        <p:nvCxnSpPr>
          <p:cNvPr id="89" name="Google Shape;89;p16"/>
          <p:cNvCxnSpPr>
            <a:cxnSpLocks/>
            <a:endCxn id="85" idx="0"/>
          </p:cNvCxnSpPr>
          <p:nvPr/>
        </p:nvCxnSpPr>
        <p:spPr>
          <a:xfrm flipH="1">
            <a:off x="11107833" y="2767667"/>
            <a:ext cx="232800" cy="1644808"/>
          </a:xfrm>
          <a:prstGeom prst="straightConnector1">
            <a:avLst/>
          </a:prstGeom>
          <a:noFill/>
          <a:ln w="9525" cap="flat" cmpd="sng">
            <a:solidFill>
              <a:schemeClr val="dk2"/>
            </a:solidFill>
            <a:prstDash val="solid"/>
            <a:round/>
            <a:headEnd type="none" w="med" len="med"/>
            <a:tailEnd type="triangle" w="med" len="med"/>
          </a:ln>
        </p:spPr>
      </p:cxnSp>
      <p:cxnSp>
        <p:nvCxnSpPr>
          <p:cNvPr id="90" name="Google Shape;90;p16"/>
          <p:cNvCxnSpPr>
            <a:cxnSpLocks/>
            <a:endCxn id="84" idx="0"/>
          </p:cNvCxnSpPr>
          <p:nvPr/>
        </p:nvCxnSpPr>
        <p:spPr>
          <a:xfrm flipH="1">
            <a:off x="8601839" y="2767667"/>
            <a:ext cx="809594" cy="1644808"/>
          </a:xfrm>
          <a:prstGeom prst="straightConnector1">
            <a:avLst/>
          </a:prstGeom>
          <a:noFill/>
          <a:ln w="9525" cap="flat" cmpd="sng">
            <a:solidFill>
              <a:schemeClr val="dk2"/>
            </a:solidFill>
            <a:prstDash val="solid"/>
            <a:round/>
            <a:headEnd type="none" w="med" len="med"/>
            <a:tailEnd type="triangle" w="med" len="med"/>
          </a:ln>
        </p:spPr>
      </p:cxnSp>
      <p:pic>
        <p:nvPicPr>
          <p:cNvPr id="91" name="Google Shape;91;p16"/>
          <p:cNvPicPr preferRelativeResize="0"/>
          <p:nvPr/>
        </p:nvPicPr>
        <p:blipFill>
          <a:blip r:embed="rId3">
            <a:alphaModFix/>
          </a:blip>
          <a:stretch>
            <a:fillRect/>
          </a:stretch>
        </p:blipFill>
        <p:spPr>
          <a:xfrm>
            <a:off x="141700" y="1922099"/>
            <a:ext cx="5759744" cy="466653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2F170F-8DA4-CCBC-C34E-33BB510DEE30}"/>
              </a:ext>
            </a:extLst>
          </p:cNvPr>
          <p:cNvSpPr txBox="1"/>
          <p:nvPr/>
        </p:nvSpPr>
        <p:spPr>
          <a:xfrm>
            <a:off x="1632858" y="1267636"/>
            <a:ext cx="9339943" cy="923330"/>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Arthur Samuel</a:t>
            </a:r>
            <a:r>
              <a:rPr lang="en-US" dirty="0">
                <a:latin typeface="Arial" panose="020B0604020202020204" pitchFamily="34" charset="0"/>
                <a:cs typeface="Arial" panose="020B0604020202020204" pitchFamily="34" charset="0"/>
              </a:rPr>
              <a:t>, a pioneer in the field of artificial intelligence and computer gaming, coined the term </a:t>
            </a:r>
            <a:r>
              <a:rPr lang="en-US" b="1" dirty="0">
                <a:latin typeface="Arial" panose="020B0604020202020204" pitchFamily="34" charset="0"/>
                <a:cs typeface="Arial" panose="020B0604020202020204" pitchFamily="34" charset="0"/>
              </a:rPr>
              <a:t>“Machine Learning”</a:t>
            </a:r>
            <a:r>
              <a:rPr lang="en-US" dirty="0">
                <a:latin typeface="Arial" panose="020B0604020202020204" pitchFamily="34" charset="0"/>
                <a:cs typeface="Arial" panose="020B0604020202020204" pitchFamily="34" charset="0"/>
              </a:rPr>
              <a:t> as – </a:t>
            </a:r>
            <a:r>
              <a:rPr lang="en-US" b="1" dirty="0">
                <a:latin typeface="Arial" panose="020B0604020202020204" pitchFamily="34" charset="0"/>
                <a:cs typeface="Arial" panose="020B0604020202020204" pitchFamily="34" charset="0"/>
              </a:rPr>
              <a:t>“Field of study that gives computers the capability to learn without being explicitly programmed”</a:t>
            </a:r>
            <a:r>
              <a:rPr lang="en-US" dirty="0">
                <a:latin typeface="Arial" panose="020B0604020202020204" pitchFamily="34" charset="0"/>
                <a:cs typeface="Arial" panose="020B0604020202020204" pitchFamily="34" charset="0"/>
              </a:rPr>
              <a:t>.</a:t>
            </a:r>
          </a:p>
        </p:txBody>
      </p:sp>
      <p:sp>
        <p:nvSpPr>
          <p:cNvPr id="5" name="TextBox 4">
            <a:extLst>
              <a:ext uri="{FF2B5EF4-FFF2-40B4-BE49-F238E27FC236}">
                <a16:creationId xmlns:a16="http://schemas.microsoft.com/office/drawing/2014/main" id="{82D61A57-91B5-987C-26CF-5ED0FAB6D1AF}"/>
              </a:ext>
            </a:extLst>
          </p:cNvPr>
          <p:cNvSpPr txBox="1"/>
          <p:nvPr/>
        </p:nvSpPr>
        <p:spPr>
          <a:xfrm>
            <a:off x="1632858" y="679378"/>
            <a:ext cx="5834742" cy="584775"/>
          </a:xfrm>
          <a:prstGeom prst="rect">
            <a:avLst/>
          </a:prstGeom>
          <a:noFill/>
        </p:spPr>
        <p:txBody>
          <a:bodyPr wrap="square" rtlCol="0">
            <a:spAutoFit/>
          </a:bodyPr>
          <a:lstStyle/>
          <a:p>
            <a:r>
              <a:rPr lang="en-US" sz="3200" b="1" dirty="0"/>
              <a:t>Machine Learning </a:t>
            </a:r>
          </a:p>
        </p:txBody>
      </p:sp>
      <p:sp>
        <p:nvSpPr>
          <p:cNvPr id="6" name="TextBox 5">
            <a:extLst>
              <a:ext uri="{FF2B5EF4-FFF2-40B4-BE49-F238E27FC236}">
                <a16:creationId xmlns:a16="http://schemas.microsoft.com/office/drawing/2014/main" id="{27BDC85F-A145-A134-EB32-D5DB1E10E75D}"/>
              </a:ext>
            </a:extLst>
          </p:cNvPr>
          <p:cNvSpPr txBox="1"/>
          <p:nvPr/>
        </p:nvSpPr>
        <p:spPr>
          <a:xfrm>
            <a:off x="1632858" y="2351314"/>
            <a:ext cx="7772399" cy="1077218"/>
          </a:xfrm>
          <a:prstGeom prst="rect">
            <a:avLst/>
          </a:prstGeom>
          <a:noFill/>
        </p:spPr>
        <p:txBody>
          <a:bodyPr wrap="square" rtlCol="0">
            <a:spAutoFit/>
          </a:bodyPr>
          <a:lstStyle/>
          <a:p>
            <a:r>
              <a:rPr lang="en-US" sz="3200" b="1" dirty="0"/>
              <a:t>How it is different from traditional Programming: </a:t>
            </a:r>
          </a:p>
        </p:txBody>
      </p:sp>
      <p:sp>
        <p:nvSpPr>
          <p:cNvPr id="7" name="TextBox 6">
            <a:extLst>
              <a:ext uri="{FF2B5EF4-FFF2-40B4-BE49-F238E27FC236}">
                <a16:creationId xmlns:a16="http://schemas.microsoft.com/office/drawing/2014/main" id="{9A7137ED-A877-327B-9525-EDF7FF3226C2}"/>
              </a:ext>
            </a:extLst>
          </p:cNvPr>
          <p:cNvSpPr txBox="1"/>
          <p:nvPr/>
        </p:nvSpPr>
        <p:spPr>
          <a:xfrm>
            <a:off x="1632858" y="3724402"/>
            <a:ext cx="5205264" cy="2031325"/>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Arial" panose="020B0604020202020204" pitchFamily="34" charset="0"/>
                <a:cs typeface="Arial" panose="020B0604020202020204" pitchFamily="34" charset="0"/>
              </a:rPr>
              <a:t>In Traditional Programming, we feed the Input, Program logic and run the program to get output.</a:t>
            </a:r>
          </a:p>
          <a:p>
            <a:pPr marL="285750" indent="-285750">
              <a:buFont typeface="Wingdings" panose="05000000000000000000" pitchFamily="2" charset="2"/>
              <a:buChar char="Ø"/>
            </a:pPr>
            <a:r>
              <a:rPr lang="en-US" dirty="0">
                <a:latin typeface="Arial" panose="020B0604020202020204" pitchFamily="34" charset="0"/>
                <a:cs typeface="Arial" panose="020B0604020202020204" pitchFamily="34" charset="0"/>
              </a:rPr>
              <a:t>In Machine Learning, we feed the input, output and run it on machine during training and the </a:t>
            </a:r>
            <a:r>
              <a:rPr lang="en-US" b="1" i="1" dirty="0">
                <a:latin typeface="Arial" panose="020B0604020202020204" pitchFamily="34" charset="0"/>
                <a:cs typeface="Arial" panose="020B0604020202020204" pitchFamily="34" charset="0"/>
              </a:rPr>
              <a:t>machine creates its own logic</a:t>
            </a:r>
            <a:r>
              <a:rPr lang="en-US" dirty="0">
                <a:latin typeface="Arial" panose="020B0604020202020204" pitchFamily="34" charset="0"/>
                <a:cs typeface="Arial" panose="020B0604020202020204" pitchFamily="34" charset="0"/>
              </a:rPr>
              <a:t>, which is being evaluated while testing.</a:t>
            </a:r>
          </a:p>
        </p:txBody>
      </p:sp>
      <p:pic>
        <p:nvPicPr>
          <p:cNvPr id="8" name="Picture 7">
            <a:extLst>
              <a:ext uri="{FF2B5EF4-FFF2-40B4-BE49-F238E27FC236}">
                <a16:creationId xmlns:a16="http://schemas.microsoft.com/office/drawing/2014/main" id="{7C6FBB9D-619C-CB60-6E4E-F6F685FF4BE7}"/>
              </a:ext>
            </a:extLst>
          </p:cNvPr>
          <p:cNvPicPr>
            <a:picLocks noChangeAspect="1"/>
          </p:cNvPicPr>
          <p:nvPr/>
        </p:nvPicPr>
        <p:blipFill>
          <a:blip r:embed="rId2"/>
          <a:stretch>
            <a:fillRect/>
          </a:stretch>
        </p:blipFill>
        <p:spPr>
          <a:xfrm>
            <a:off x="7636091" y="3255820"/>
            <a:ext cx="3538331" cy="2968487"/>
          </a:xfrm>
          <a:prstGeom prst="rect">
            <a:avLst/>
          </a:prstGeom>
        </p:spPr>
      </p:pic>
    </p:spTree>
    <p:extLst>
      <p:ext uri="{BB962C8B-B14F-4D97-AF65-F5344CB8AC3E}">
        <p14:creationId xmlns:p14="http://schemas.microsoft.com/office/powerpoint/2010/main" val="105699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97" name="Google Shape;97;p17"/>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98" name="Google Shape;98;p17"/>
          <p:cNvPicPr preferRelativeResize="0"/>
          <p:nvPr/>
        </p:nvPicPr>
        <p:blipFill>
          <a:blip r:embed="rId3">
            <a:alphaModFix/>
          </a:blip>
          <a:stretch>
            <a:fillRect/>
          </a:stretch>
        </p:blipFill>
        <p:spPr>
          <a:xfrm>
            <a:off x="2848670" y="0"/>
            <a:ext cx="6494661"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9CA2F48F-2E5B-99BD-9175-75557978D6A6}"/>
              </a:ext>
            </a:extLst>
          </p:cNvPr>
          <p:cNvSpPr>
            <a:spLocks noGrp="1" noChangeArrowheads="1"/>
          </p:cNvSpPr>
          <p:nvPr>
            <p:ph type="title"/>
          </p:nvPr>
        </p:nvSpPr>
        <p:spPr>
          <a:xfrm>
            <a:off x="685800" y="609600"/>
            <a:ext cx="7772400" cy="1143000"/>
          </a:xfrm>
        </p:spPr>
        <p:txBody>
          <a:bodyPr>
            <a:normAutofit fontScale="90000"/>
          </a:bodyPr>
          <a:lstStyle/>
          <a:p>
            <a:r>
              <a:rPr lang="en-US" altLang="en-US"/>
              <a:t>When are ML algorithms NOT needed?</a:t>
            </a:r>
          </a:p>
        </p:txBody>
      </p:sp>
      <p:sp>
        <p:nvSpPr>
          <p:cNvPr id="8" name="Rectangle 3">
            <a:extLst>
              <a:ext uri="{FF2B5EF4-FFF2-40B4-BE49-F238E27FC236}">
                <a16:creationId xmlns:a16="http://schemas.microsoft.com/office/drawing/2014/main" id="{B15B4BEA-A8EC-7151-46BF-E833AA332124}"/>
              </a:ext>
            </a:extLst>
          </p:cNvPr>
          <p:cNvSpPr txBox="1">
            <a:spLocks noChangeArrowheads="1"/>
          </p:cNvSpPr>
          <p:nvPr/>
        </p:nvSpPr>
        <p:spPr>
          <a:xfrm>
            <a:off x="685800" y="1981200"/>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t>When the relationships between all relevant system variables (input, output, and hidden) is adequately understood!</a:t>
            </a:r>
          </a:p>
          <a:p>
            <a:endParaRPr lang="en-US" altLang="en-US"/>
          </a:p>
          <a:p>
            <a:r>
              <a:rPr lang="en-US" altLang="en-US"/>
              <a:t>This is NOT the case for many </a:t>
            </a:r>
            <a:r>
              <a:rPr lang="en-US" altLang="en-US" i="1"/>
              <a:t>complex</a:t>
            </a:r>
            <a:r>
              <a:rPr lang="en-US" altLang="en-US"/>
              <a:t> real systems!</a:t>
            </a:r>
          </a:p>
        </p:txBody>
      </p:sp>
    </p:spTree>
    <p:extLst>
      <p:ext uri="{BB962C8B-B14F-4D97-AF65-F5344CB8AC3E}">
        <p14:creationId xmlns:p14="http://schemas.microsoft.com/office/powerpoint/2010/main" val="3652853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blinds(horizontal)">
                                      <p:cBhvr>
                                        <p:cTn id="1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5C2CDE-8756-B9B5-9DEE-490ECFB25629}"/>
              </a:ext>
            </a:extLst>
          </p:cNvPr>
          <p:cNvSpPr txBox="1"/>
          <p:nvPr/>
        </p:nvSpPr>
        <p:spPr>
          <a:xfrm>
            <a:off x="1523999" y="761999"/>
            <a:ext cx="892628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Terminologies that one should know before starting Machine Learning</a:t>
            </a:r>
            <a:r>
              <a:rPr lang="en-US" b="1" dirty="0"/>
              <a:t>:</a:t>
            </a:r>
            <a:endParaRPr lang="en-US" dirty="0"/>
          </a:p>
        </p:txBody>
      </p:sp>
      <p:sp>
        <p:nvSpPr>
          <p:cNvPr id="5" name="TextBox 4">
            <a:extLst>
              <a:ext uri="{FF2B5EF4-FFF2-40B4-BE49-F238E27FC236}">
                <a16:creationId xmlns:a16="http://schemas.microsoft.com/office/drawing/2014/main" id="{B55801F4-3E4E-DBB1-DF8F-D88E6885EABA}"/>
              </a:ext>
            </a:extLst>
          </p:cNvPr>
          <p:cNvSpPr txBox="1"/>
          <p:nvPr/>
        </p:nvSpPr>
        <p:spPr>
          <a:xfrm>
            <a:off x="740228" y="1589315"/>
            <a:ext cx="9710057" cy="6186309"/>
          </a:xfrm>
          <a:prstGeom prst="rect">
            <a:avLst/>
          </a:prstGeom>
          <a:noFill/>
        </p:spPr>
        <p:txBody>
          <a:bodyPr wrap="square" rtlCol="0">
            <a:spAutoFit/>
          </a:bodyPr>
          <a:lstStyle/>
          <a:p>
            <a:pPr marL="742950" lvl="1" indent="-285750">
              <a:buFont typeface="Wingdings" panose="05000000000000000000" pitchFamily="2" charset="2"/>
              <a:buChar char="q"/>
            </a:pPr>
            <a:r>
              <a:rPr lang="en-US" b="1" dirty="0"/>
              <a:t>Model:</a:t>
            </a:r>
            <a:r>
              <a:rPr lang="en-US" dirty="0"/>
              <a:t> A model is a </a:t>
            </a:r>
            <a:r>
              <a:rPr lang="en-US" b="1" dirty="0"/>
              <a:t>specific representation</a:t>
            </a:r>
            <a:r>
              <a:rPr lang="en-US" dirty="0"/>
              <a:t> learned from data by applying some machine learning algorithm. A model is also called </a:t>
            </a:r>
            <a:r>
              <a:rPr lang="en-US" b="1" dirty="0"/>
              <a:t>hypothesis</a:t>
            </a:r>
            <a:r>
              <a:rPr lang="en-US" dirty="0"/>
              <a:t>.</a:t>
            </a:r>
          </a:p>
          <a:p>
            <a:pPr lvl="1"/>
            <a:endParaRPr lang="en-US" dirty="0"/>
          </a:p>
          <a:p>
            <a:pPr marL="742950" lvl="1" indent="-285750">
              <a:buFont typeface="Wingdings" panose="05000000000000000000" pitchFamily="2" charset="2"/>
              <a:buChar char="q"/>
            </a:pPr>
            <a:r>
              <a:rPr lang="en-US" b="1" dirty="0"/>
              <a:t>Feature:</a:t>
            </a:r>
            <a:r>
              <a:rPr lang="en-US" dirty="0"/>
              <a:t> A feature is an individual measurable property of our data. A set of numeric features can be conveniently described by a </a:t>
            </a:r>
            <a:r>
              <a:rPr lang="en-US" b="1" dirty="0"/>
              <a:t>feature vector</a:t>
            </a:r>
            <a:r>
              <a:rPr lang="en-US" dirty="0"/>
              <a:t>. Feature vectors are fed as input to the model. For example, in order to predict a fruit, there may be features like color, smell, taste, </a:t>
            </a:r>
            <a:r>
              <a:rPr lang="en-US" b="1" dirty="0"/>
              <a:t>etc.</a:t>
            </a:r>
            <a:r>
              <a:rPr lang="en-US" dirty="0"/>
              <a:t> </a:t>
            </a:r>
          </a:p>
          <a:p>
            <a:pPr lvl="1"/>
            <a:endParaRPr lang="en-US" dirty="0"/>
          </a:p>
          <a:p>
            <a:pPr marL="742950" lvl="1" indent="-285750">
              <a:buFont typeface="Wingdings" panose="05000000000000000000" pitchFamily="2" charset="2"/>
              <a:buChar char="q"/>
            </a:pPr>
            <a:r>
              <a:rPr lang="en-US" b="1" dirty="0"/>
              <a:t>Target(Label): </a:t>
            </a:r>
            <a:r>
              <a:rPr lang="en-US" dirty="0"/>
              <a:t>A target variable or label is the value to be predicted by our model. For the fruit example discussed in the features section, the label with each set of input would be the name of the fruit like apple, orange, banana, etc.</a:t>
            </a:r>
          </a:p>
          <a:p>
            <a:pPr marL="742950" lvl="1" indent="-285750" fontAlgn="base">
              <a:buFont typeface="Wingdings" panose="05000000000000000000" pitchFamily="2" charset="2"/>
              <a:buChar char="q"/>
            </a:pPr>
            <a:r>
              <a:rPr lang="en-US" b="1" dirty="0"/>
              <a:t>Training:</a:t>
            </a:r>
            <a:r>
              <a:rPr lang="en-US" dirty="0"/>
              <a:t> The idea is to give a set of inputs(features) and it’s expected outputs(labels), so after training, we will have a model (hypothesis) that will then map new data to one of the categories trained on.</a:t>
            </a:r>
          </a:p>
          <a:p>
            <a:pPr lvl="1" fontAlgn="base"/>
            <a:endParaRPr lang="en-US" dirty="0"/>
          </a:p>
          <a:p>
            <a:pPr marL="742950" lvl="1" indent="-285750" fontAlgn="base">
              <a:buFont typeface="Wingdings" panose="05000000000000000000" pitchFamily="2" charset="2"/>
              <a:buChar char="q"/>
            </a:pPr>
            <a:r>
              <a:rPr lang="en-US" b="1" dirty="0"/>
              <a:t>Prediction:</a:t>
            </a:r>
            <a:r>
              <a:rPr lang="en-US" dirty="0"/>
              <a:t> Once our model is ready, it can be fed a set of inputs to which it will provide a predicted output(label).</a:t>
            </a:r>
          </a:p>
          <a:p>
            <a:pPr lvl="1" fontAlgn="base"/>
            <a:endParaRPr lang="en-US" dirty="0"/>
          </a:p>
          <a:p>
            <a:br>
              <a:rPr lang="en-US" dirty="0"/>
            </a:br>
            <a:endParaRPr lang="en-US" dirty="0"/>
          </a:p>
          <a:p>
            <a:pPr lvl="1"/>
            <a:endParaRPr lang="en-US" dirty="0"/>
          </a:p>
        </p:txBody>
      </p:sp>
    </p:spTree>
    <p:extLst>
      <p:ext uri="{BB962C8B-B14F-4D97-AF65-F5344CB8AC3E}">
        <p14:creationId xmlns:p14="http://schemas.microsoft.com/office/powerpoint/2010/main" val="1438941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104" name="Google Shape;104;p18"/>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05" name="Google Shape;105;p18"/>
          <p:cNvPicPr preferRelativeResize="0"/>
          <p:nvPr/>
        </p:nvPicPr>
        <p:blipFill>
          <a:blip r:embed="rId3">
            <a:alphaModFix/>
          </a:blip>
          <a:stretch>
            <a:fillRect/>
          </a:stretch>
        </p:blipFill>
        <p:spPr>
          <a:xfrm>
            <a:off x="1" y="916782"/>
            <a:ext cx="12192004" cy="50244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111" name="Google Shape;111;p19"/>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12" name="Google Shape;112;p19"/>
          <p:cNvPicPr preferRelativeResize="0"/>
          <p:nvPr/>
        </p:nvPicPr>
        <p:blipFill>
          <a:blip r:embed="rId3">
            <a:alphaModFix/>
          </a:blip>
          <a:stretch>
            <a:fillRect/>
          </a:stretch>
        </p:blipFill>
        <p:spPr>
          <a:xfrm>
            <a:off x="1" y="224904"/>
            <a:ext cx="12191999" cy="640819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758B7C-63E5-C829-27F4-8793D6B998F8}"/>
              </a:ext>
            </a:extLst>
          </p:cNvPr>
          <p:cNvSpPr txBox="1"/>
          <p:nvPr/>
        </p:nvSpPr>
        <p:spPr>
          <a:xfrm>
            <a:off x="1153886" y="812354"/>
            <a:ext cx="8273143" cy="646331"/>
          </a:xfrm>
          <a:prstGeom prst="rect">
            <a:avLst/>
          </a:prstGeom>
          <a:noFill/>
        </p:spPr>
        <p:txBody>
          <a:bodyPr wrap="square" rtlCol="0">
            <a:spAutoFit/>
          </a:bodyPr>
          <a:lstStyle/>
          <a:p>
            <a:pPr lvl="1" fontAlgn="base"/>
            <a:r>
              <a:rPr lang="en-US" b="1" dirty="0"/>
              <a:t>Types of Learning </a:t>
            </a:r>
            <a:endParaRPr lang="en-US" dirty="0"/>
          </a:p>
          <a:p>
            <a:endParaRPr lang="en-US" b="1" dirty="0"/>
          </a:p>
        </p:txBody>
      </p:sp>
      <p:sp>
        <p:nvSpPr>
          <p:cNvPr id="5" name="TextBox 4">
            <a:extLst>
              <a:ext uri="{FF2B5EF4-FFF2-40B4-BE49-F238E27FC236}">
                <a16:creationId xmlns:a16="http://schemas.microsoft.com/office/drawing/2014/main" id="{520D1F70-CFC0-BC92-49CB-86BC7DCCF278}"/>
              </a:ext>
            </a:extLst>
          </p:cNvPr>
          <p:cNvSpPr txBox="1"/>
          <p:nvPr/>
        </p:nvSpPr>
        <p:spPr>
          <a:xfrm>
            <a:off x="1328058" y="1458685"/>
            <a:ext cx="6988628"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Supervised Learning</a:t>
            </a:r>
          </a:p>
          <a:p>
            <a:pPr marL="285750" indent="-285750">
              <a:buFont typeface="Arial" panose="020B0604020202020204" pitchFamily="34" charset="0"/>
              <a:buChar char="•"/>
            </a:pPr>
            <a:r>
              <a:rPr lang="en-US" b="1" dirty="0"/>
              <a:t>Unsupervised Learning </a:t>
            </a:r>
          </a:p>
          <a:p>
            <a:pPr marL="285750" indent="-285750">
              <a:buFont typeface="Arial" panose="020B0604020202020204" pitchFamily="34" charset="0"/>
              <a:buChar char="•"/>
            </a:pPr>
            <a:r>
              <a:rPr lang="en-US" b="1" dirty="0"/>
              <a:t>Semi-Supervised Learning</a:t>
            </a:r>
          </a:p>
        </p:txBody>
      </p:sp>
      <p:sp>
        <p:nvSpPr>
          <p:cNvPr id="6" name="TextBox 5">
            <a:extLst>
              <a:ext uri="{FF2B5EF4-FFF2-40B4-BE49-F238E27FC236}">
                <a16:creationId xmlns:a16="http://schemas.microsoft.com/office/drawing/2014/main" id="{E10919A5-3555-5AC9-A6C9-E43B74910584}"/>
              </a:ext>
            </a:extLst>
          </p:cNvPr>
          <p:cNvSpPr txBox="1"/>
          <p:nvPr/>
        </p:nvSpPr>
        <p:spPr>
          <a:xfrm>
            <a:off x="1153886" y="2964596"/>
            <a:ext cx="9731828" cy="1200329"/>
          </a:xfrm>
          <a:prstGeom prst="rect">
            <a:avLst/>
          </a:prstGeom>
          <a:noFill/>
        </p:spPr>
        <p:txBody>
          <a:bodyPr wrap="square" rtlCol="0">
            <a:spAutoFit/>
          </a:bodyPr>
          <a:lstStyle/>
          <a:p>
            <a:pPr marL="342900" indent="-342900">
              <a:buFont typeface="+mj-lt"/>
              <a:buAutoNum type="arabicPeriod"/>
            </a:pPr>
            <a:r>
              <a:rPr lang="en-US" b="1" dirty="0"/>
              <a:t>Supervised Learning</a:t>
            </a:r>
            <a:r>
              <a:rPr lang="en-US" dirty="0"/>
              <a:t>: Supervised learning is when the model is getting trained on a labelled dataset. </a:t>
            </a:r>
            <a:r>
              <a:rPr lang="en-US" b="1" dirty="0"/>
              <a:t>Labelled</a:t>
            </a:r>
            <a:r>
              <a:rPr lang="en-US" dirty="0"/>
              <a:t> dataset is one which have both input and output parameters. In this type of learning both training and validation datasets are labelled as shown in the figures below.</a:t>
            </a:r>
          </a:p>
        </p:txBody>
      </p:sp>
      <p:pic>
        <p:nvPicPr>
          <p:cNvPr id="7" name="Picture 6">
            <a:extLst>
              <a:ext uri="{FF2B5EF4-FFF2-40B4-BE49-F238E27FC236}">
                <a16:creationId xmlns:a16="http://schemas.microsoft.com/office/drawing/2014/main" id="{AAA92776-A6AD-6C3E-F390-5E0656ABA38B}"/>
              </a:ext>
            </a:extLst>
          </p:cNvPr>
          <p:cNvPicPr>
            <a:picLocks noChangeAspect="1"/>
          </p:cNvPicPr>
          <p:nvPr/>
        </p:nvPicPr>
        <p:blipFill>
          <a:blip r:embed="rId2"/>
          <a:stretch>
            <a:fillRect/>
          </a:stretch>
        </p:blipFill>
        <p:spPr>
          <a:xfrm>
            <a:off x="1545771" y="4164925"/>
            <a:ext cx="7728857" cy="2693075"/>
          </a:xfrm>
          <a:prstGeom prst="rect">
            <a:avLst/>
          </a:prstGeom>
        </p:spPr>
      </p:pic>
      <p:sp>
        <p:nvSpPr>
          <p:cNvPr id="8" name="TextBox 7">
            <a:extLst>
              <a:ext uri="{FF2B5EF4-FFF2-40B4-BE49-F238E27FC236}">
                <a16:creationId xmlns:a16="http://schemas.microsoft.com/office/drawing/2014/main" id="{AE6AB3F8-362D-ADBC-7B43-0F955365DC99}"/>
              </a:ext>
            </a:extLst>
          </p:cNvPr>
          <p:cNvSpPr txBox="1"/>
          <p:nvPr/>
        </p:nvSpPr>
        <p:spPr>
          <a:xfrm>
            <a:off x="2545491" y="6166022"/>
            <a:ext cx="1915297" cy="369332"/>
          </a:xfrm>
          <a:prstGeom prst="rect">
            <a:avLst/>
          </a:prstGeom>
          <a:noFill/>
        </p:spPr>
        <p:txBody>
          <a:bodyPr wrap="square" rtlCol="0">
            <a:spAutoFit/>
          </a:bodyPr>
          <a:lstStyle/>
          <a:p>
            <a:r>
              <a:rPr lang="en-US" b="1" dirty="0"/>
              <a:t>Classification</a:t>
            </a:r>
          </a:p>
        </p:txBody>
      </p:sp>
      <p:sp>
        <p:nvSpPr>
          <p:cNvPr id="9" name="TextBox 8">
            <a:extLst>
              <a:ext uri="{FF2B5EF4-FFF2-40B4-BE49-F238E27FC236}">
                <a16:creationId xmlns:a16="http://schemas.microsoft.com/office/drawing/2014/main" id="{776A996C-2280-93EA-8005-ADD434DDC353}"/>
              </a:ext>
            </a:extLst>
          </p:cNvPr>
          <p:cNvSpPr txBox="1"/>
          <p:nvPr/>
        </p:nvSpPr>
        <p:spPr>
          <a:xfrm>
            <a:off x="6487297" y="6166022"/>
            <a:ext cx="1829389" cy="369332"/>
          </a:xfrm>
          <a:prstGeom prst="rect">
            <a:avLst/>
          </a:prstGeom>
          <a:noFill/>
        </p:spPr>
        <p:txBody>
          <a:bodyPr wrap="square" rtlCol="0">
            <a:spAutoFit/>
          </a:bodyPr>
          <a:lstStyle/>
          <a:p>
            <a:r>
              <a:rPr lang="en-US" b="1" dirty="0"/>
              <a:t>Regression</a:t>
            </a:r>
          </a:p>
        </p:txBody>
      </p:sp>
    </p:spTree>
    <p:extLst>
      <p:ext uri="{BB962C8B-B14F-4D97-AF65-F5344CB8AC3E}">
        <p14:creationId xmlns:p14="http://schemas.microsoft.com/office/powerpoint/2010/main" val="389526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7FFB3-1690-55D6-2D47-AA59E9FC7D32}"/>
              </a:ext>
            </a:extLst>
          </p:cNvPr>
          <p:cNvSpPr txBox="1"/>
          <p:nvPr/>
        </p:nvSpPr>
        <p:spPr>
          <a:xfrm>
            <a:off x="1754658" y="630195"/>
            <a:ext cx="8377881" cy="923330"/>
          </a:xfrm>
          <a:prstGeom prst="rect">
            <a:avLst/>
          </a:prstGeom>
          <a:noFill/>
        </p:spPr>
        <p:txBody>
          <a:bodyPr wrap="square" rtlCol="0">
            <a:spAutoFit/>
          </a:bodyPr>
          <a:lstStyle/>
          <a:p>
            <a:r>
              <a:rPr lang="en-US" b="1" dirty="0"/>
              <a:t>Types of Supervised Learning:</a:t>
            </a:r>
          </a:p>
          <a:p>
            <a:pPr marL="742950" lvl="1" indent="-285750">
              <a:buFont typeface="Arial" panose="020B0604020202020204" pitchFamily="34" charset="0"/>
              <a:buChar char="•"/>
            </a:pPr>
            <a:r>
              <a:rPr lang="en-US" b="1" dirty="0"/>
              <a:t>Classification </a:t>
            </a:r>
          </a:p>
          <a:p>
            <a:pPr marL="742950" lvl="1" indent="-285750">
              <a:buFont typeface="Arial" panose="020B0604020202020204" pitchFamily="34" charset="0"/>
              <a:buChar char="•"/>
            </a:pPr>
            <a:r>
              <a:rPr lang="en-US" b="1" dirty="0"/>
              <a:t>Regression</a:t>
            </a:r>
            <a:endParaRPr lang="en-US" dirty="0"/>
          </a:p>
        </p:txBody>
      </p:sp>
      <p:sp>
        <p:nvSpPr>
          <p:cNvPr id="5" name="TextBox 4">
            <a:extLst>
              <a:ext uri="{FF2B5EF4-FFF2-40B4-BE49-F238E27FC236}">
                <a16:creationId xmlns:a16="http://schemas.microsoft.com/office/drawing/2014/main" id="{8448FD5A-ED0B-875A-80D9-5F2E908845A9}"/>
              </a:ext>
            </a:extLst>
          </p:cNvPr>
          <p:cNvSpPr txBox="1"/>
          <p:nvPr/>
        </p:nvSpPr>
        <p:spPr>
          <a:xfrm>
            <a:off x="1186248" y="1655805"/>
            <a:ext cx="8736227" cy="1754326"/>
          </a:xfrm>
          <a:prstGeom prst="rect">
            <a:avLst/>
          </a:prstGeom>
          <a:noFill/>
        </p:spPr>
        <p:txBody>
          <a:bodyPr wrap="square" rtlCol="0">
            <a:spAutoFit/>
          </a:bodyPr>
          <a:lstStyle/>
          <a:p>
            <a:r>
              <a:rPr lang="en-US" b="1" dirty="0"/>
              <a:t>Classification</a:t>
            </a:r>
            <a:r>
              <a:rPr lang="en-US" dirty="0"/>
              <a:t> : It is a Supervised Learning task where output is having defined labels(discrete value). For example in above Figure A, Output – Purchased has defined labels i.e. 0 or 1 ; 1 means the customer will purchase and 0 means that customer won’t purchase. It can be either binary or multi class classification. In </a:t>
            </a:r>
            <a:r>
              <a:rPr lang="en-US" b="1" dirty="0"/>
              <a:t>binary</a:t>
            </a:r>
            <a:r>
              <a:rPr lang="en-US" dirty="0"/>
              <a:t> classification, model predicts either 0 or 1 ; yes or no but in case of </a:t>
            </a:r>
            <a:r>
              <a:rPr lang="en-US" b="1" dirty="0"/>
              <a:t>multi class </a:t>
            </a:r>
            <a:r>
              <a:rPr lang="en-US" dirty="0"/>
              <a:t>classification, model predicts more than one class.</a:t>
            </a:r>
          </a:p>
        </p:txBody>
      </p:sp>
      <p:sp>
        <p:nvSpPr>
          <p:cNvPr id="6" name="TextBox 5">
            <a:extLst>
              <a:ext uri="{FF2B5EF4-FFF2-40B4-BE49-F238E27FC236}">
                <a16:creationId xmlns:a16="http://schemas.microsoft.com/office/drawing/2014/main" id="{0FFBA650-CC92-F7A8-3065-AEFB4C82235C}"/>
              </a:ext>
            </a:extLst>
          </p:cNvPr>
          <p:cNvSpPr txBox="1"/>
          <p:nvPr/>
        </p:nvSpPr>
        <p:spPr>
          <a:xfrm>
            <a:off x="1186248" y="3410131"/>
            <a:ext cx="8476736" cy="646331"/>
          </a:xfrm>
          <a:prstGeom prst="rect">
            <a:avLst/>
          </a:prstGeom>
          <a:noFill/>
        </p:spPr>
        <p:txBody>
          <a:bodyPr wrap="square" rtlCol="0">
            <a:spAutoFit/>
          </a:bodyPr>
          <a:lstStyle/>
          <a:p>
            <a:r>
              <a:rPr lang="en-US" b="1" dirty="0"/>
              <a:t>Example:</a:t>
            </a:r>
            <a:r>
              <a:rPr lang="en-US" dirty="0"/>
              <a:t> Gmail classifies mails in more than one classes like social, promotions, updates, offers.</a:t>
            </a:r>
          </a:p>
        </p:txBody>
      </p:sp>
      <p:sp>
        <p:nvSpPr>
          <p:cNvPr id="7" name="TextBox 6">
            <a:extLst>
              <a:ext uri="{FF2B5EF4-FFF2-40B4-BE49-F238E27FC236}">
                <a16:creationId xmlns:a16="http://schemas.microsoft.com/office/drawing/2014/main" id="{C887CCC8-CDC8-0B91-3E49-5A7561AECC20}"/>
              </a:ext>
            </a:extLst>
          </p:cNvPr>
          <p:cNvSpPr txBox="1"/>
          <p:nvPr/>
        </p:nvSpPr>
        <p:spPr>
          <a:xfrm>
            <a:off x="1136819" y="4148794"/>
            <a:ext cx="8785655" cy="2031325"/>
          </a:xfrm>
          <a:prstGeom prst="rect">
            <a:avLst/>
          </a:prstGeom>
          <a:noFill/>
        </p:spPr>
        <p:txBody>
          <a:bodyPr wrap="square" rtlCol="0">
            <a:spAutoFit/>
          </a:bodyPr>
          <a:lstStyle/>
          <a:p>
            <a:pPr fontAlgn="base"/>
            <a:r>
              <a:rPr lang="en-US" b="1" dirty="0"/>
              <a:t>Regression : </a:t>
            </a:r>
            <a:r>
              <a:rPr lang="en-US" dirty="0"/>
              <a:t>It is a Supervised Learning task where output is having continuous value.</a:t>
            </a:r>
            <a:br>
              <a:rPr lang="en-US" dirty="0"/>
            </a:br>
            <a:r>
              <a:rPr lang="en-US" dirty="0"/>
              <a:t>Example in before regression Figure, Output – Wind Speed is not having any discrete value but is continuous in the particular range. The goal here is to predict a value as much closer to actual output value as our model can and then evaluation is done by calculating error value. The smaller the error the greater the accuracy of our regression model.</a:t>
            </a:r>
          </a:p>
        </p:txBody>
      </p:sp>
    </p:spTree>
    <p:extLst>
      <p:ext uri="{BB962C8B-B14F-4D97-AF65-F5344CB8AC3E}">
        <p14:creationId xmlns:p14="http://schemas.microsoft.com/office/powerpoint/2010/main" val="2045201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3C90C-D4E4-9AD1-F73B-337AD02E64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90829C0-C352-6426-F0F2-E36F85F018C1}"/>
              </a:ext>
            </a:extLst>
          </p:cNvPr>
          <p:cNvSpPr txBox="1"/>
          <p:nvPr/>
        </p:nvSpPr>
        <p:spPr>
          <a:xfrm>
            <a:off x="1705232" y="790833"/>
            <a:ext cx="4040660" cy="369332"/>
          </a:xfrm>
          <a:prstGeom prst="rect">
            <a:avLst/>
          </a:prstGeom>
          <a:noFill/>
        </p:spPr>
        <p:txBody>
          <a:bodyPr wrap="square" rtlCol="0">
            <a:spAutoFit/>
          </a:bodyPr>
          <a:lstStyle/>
          <a:p>
            <a:r>
              <a:rPr lang="en-US" b="1" dirty="0"/>
              <a:t>Unsupervised Learning</a:t>
            </a:r>
            <a:r>
              <a:rPr lang="en-US" dirty="0"/>
              <a:t>:</a:t>
            </a:r>
          </a:p>
        </p:txBody>
      </p:sp>
      <p:sp>
        <p:nvSpPr>
          <p:cNvPr id="3" name="TextBox 2">
            <a:extLst>
              <a:ext uri="{FF2B5EF4-FFF2-40B4-BE49-F238E27FC236}">
                <a16:creationId xmlns:a16="http://schemas.microsoft.com/office/drawing/2014/main" id="{C98A8E7D-B9D2-F9CA-6DD1-B4CDF123974C}"/>
              </a:ext>
            </a:extLst>
          </p:cNvPr>
          <p:cNvSpPr txBox="1"/>
          <p:nvPr/>
        </p:nvSpPr>
        <p:spPr>
          <a:xfrm>
            <a:off x="1705232" y="1160165"/>
            <a:ext cx="8328454" cy="1754326"/>
          </a:xfrm>
          <a:prstGeom prst="rect">
            <a:avLst/>
          </a:prstGeom>
          <a:noFill/>
        </p:spPr>
        <p:txBody>
          <a:bodyPr wrap="square" rtlCol="0">
            <a:spAutoFit/>
          </a:bodyPr>
          <a:lstStyle/>
          <a:p>
            <a:r>
              <a:rPr lang="en-US" dirty="0"/>
              <a:t>Unsupervised learning is the training of machine using information that is neither classified nor labeled and allowing the algorithm to act on that information without guidance. Here the task of machine is to group unsorted information according to similarities, patterns and differences without any prior training of data. Unsupervised machine learning is more challenging than supervised learning due to the absence of labels.</a:t>
            </a:r>
          </a:p>
        </p:txBody>
      </p:sp>
      <p:sp>
        <p:nvSpPr>
          <p:cNvPr id="4" name="TextBox 3">
            <a:extLst>
              <a:ext uri="{FF2B5EF4-FFF2-40B4-BE49-F238E27FC236}">
                <a16:creationId xmlns:a16="http://schemas.microsoft.com/office/drawing/2014/main" id="{8D9198AF-2CC2-F50D-45E5-926619D3C6DD}"/>
              </a:ext>
            </a:extLst>
          </p:cNvPr>
          <p:cNvSpPr txBox="1"/>
          <p:nvPr/>
        </p:nvSpPr>
        <p:spPr>
          <a:xfrm>
            <a:off x="1705232" y="3311611"/>
            <a:ext cx="3904736" cy="1477328"/>
          </a:xfrm>
          <a:prstGeom prst="rect">
            <a:avLst/>
          </a:prstGeom>
          <a:noFill/>
        </p:spPr>
        <p:txBody>
          <a:bodyPr wrap="square" rtlCol="0">
            <a:spAutoFit/>
          </a:bodyPr>
          <a:lstStyle/>
          <a:p>
            <a:r>
              <a:rPr lang="en-US" b="1" dirty="0"/>
              <a:t>Types of Unsupervised Learning</a:t>
            </a:r>
            <a:r>
              <a:rPr lang="en-US" dirty="0"/>
              <a:t>:</a:t>
            </a:r>
          </a:p>
          <a:p>
            <a:endParaRPr lang="en-US" dirty="0"/>
          </a:p>
          <a:p>
            <a:pPr marL="742950" lvl="1" indent="-285750">
              <a:buFont typeface="Wingdings" panose="05000000000000000000" pitchFamily="2" charset="2"/>
              <a:buChar char="q"/>
            </a:pPr>
            <a:r>
              <a:rPr lang="en-US" b="1" dirty="0"/>
              <a:t>Clustering</a:t>
            </a:r>
            <a:r>
              <a:rPr lang="en-US" dirty="0"/>
              <a:t> </a:t>
            </a:r>
          </a:p>
          <a:p>
            <a:pPr lvl="1"/>
            <a:endParaRPr lang="en-US" dirty="0"/>
          </a:p>
          <a:p>
            <a:pPr marL="742950" lvl="1" indent="-285750">
              <a:buFont typeface="Wingdings" panose="05000000000000000000" pitchFamily="2" charset="2"/>
              <a:buChar char="q"/>
            </a:pPr>
            <a:r>
              <a:rPr lang="en-US" b="1" dirty="0"/>
              <a:t>Association</a:t>
            </a:r>
          </a:p>
        </p:txBody>
      </p:sp>
    </p:spTree>
    <p:extLst>
      <p:ext uri="{BB962C8B-B14F-4D97-AF65-F5344CB8AC3E}">
        <p14:creationId xmlns:p14="http://schemas.microsoft.com/office/powerpoint/2010/main" val="1677333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CF957-1136-1650-08A3-A78B84F948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859BDD-A84C-2859-6C7F-5CE5E6AE635C}"/>
              </a:ext>
            </a:extLst>
          </p:cNvPr>
          <p:cNvSpPr txBox="1"/>
          <p:nvPr/>
        </p:nvSpPr>
        <p:spPr>
          <a:xfrm>
            <a:off x="1482811" y="1359243"/>
            <a:ext cx="8229600" cy="2862322"/>
          </a:xfrm>
          <a:prstGeom prst="rect">
            <a:avLst/>
          </a:prstGeom>
          <a:noFill/>
        </p:spPr>
        <p:txBody>
          <a:bodyPr wrap="square" rtlCol="0">
            <a:spAutoFit/>
          </a:bodyPr>
          <a:lstStyle/>
          <a:p>
            <a:r>
              <a:rPr lang="en-US" b="1" dirty="0"/>
              <a:t>Clustering</a:t>
            </a:r>
            <a:r>
              <a:rPr lang="en-US" dirty="0"/>
              <a:t>: A clustering problem is where you want to discover the inherent groupings in the data, such as grouping customers by purchasing behavior.</a:t>
            </a:r>
          </a:p>
          <a:p>
            <a:endParaRPr lang="en-US" dirty="0"/>
          </a:p>
          <a:p>
            <a:endParaRPr lang="en-US" dirty="0"/>
          </a:p>
          <a:p>
            <a:r>
              <a:rPr lang="en-US" b="1" dirty="0"/>
              <a:t>Association</a:t>
            </a:r>
            <a:r>
              <a:rPr lang="en-US" dirty="0"/>
              <a:t>:  An association rule learning problem is where you want to discover rules that describe large portions of your data, such as people that buy X also tend to buy Y.</a:t>
            </a:r>
          </a:p>
          <a:p>
            <a:endParaRPr lang="en-US" dirty="0"/>
          </a:p>
          <a:p>
            <a:endParaRPr lang="en-US" dirty="0"/>
          </a:p>
        </p:txBody>
      </p:sp>
      <p:sp>
        <p:nvSpPr>
          <p:cNvPr id="3" name="TextBox 2">
            <a:extLst>
              <a:ext uri="{FF2B5EF4-FFF2-40B4-BE49-F238E27FC236}">
                <a16:creationId xmlns:a16="http://schemas.microsoft.com/office/drawing/2014/main" id="{5F8AED7B-D6A8-3D2D-8641-3391AF3E4105}"/>
              </a:ext>
            </a:extLst>
          </p:cNvPr>
          <p:cNvSpPr txBox="1"/>
          <p:nvPr/>
        </p:nvSpPr>
        <p:spPr>
          <a:xfrm>
            <a:off x="1482811" y="3731741"/>
            <a:ext cx="7179275" cy="1200329"/>
          </a:xfrm>
          <a:prstGeom prst="rect">
            <a:avLst/>
          </a:prstGeom>
          <a:noFill/>
        </p:spPr>
        <p:txBody>
          <a:bodyPr wrap="square" rtlCol="0">
            <a:spAutoFit/>
          </a:bodyPr>
          <a:lstStyle/>
          <a:p>
            <a:pPr fontAlgn="base"/>
            <a:r>
              <a:rPr lang="en-US" b="1" dirty="0"/>
              <a:t>Examples</a:t>
            </a:r>
            <a:r>
              <a:rPr lang="en-US" dirty="0"/>
              <a:t> of unsupervised learning algorithms are:</a:t>
            </a:r>
          </a:p>
          <a:p>
            <a:pPr lvl="1" fontAlgn="base"/>
            <a:endParaRPr lang="en-US" dirty="0"/>
          </a:p>
          <a:p>
            <a:pPr marL="742950" lvl="1" indent="-285750" fontAlgn="base">
              <a:buFont typeface="Wingdings" panose="05000000000000000000" pitchFamily="2" charset="2"/>
              <a:buChar char="q"/>
            </a:pPr>
            <a:r>
              <a:rPr lang="en-US" dirty="0"/>
              <a:t>k-means for clustering problems.</a:t>
            </a:r>
          </a:p>
          <a:p>
            <a:pPr marL="742950" lvl="1" indent="-285750" fontAlgn="base">
              <a:buFont typeface="Wingdings" panose="05000000000000000000" pitchFamily="2" charset="2"/>
              <a:buChar char="q"/>
            </a:pPr>
            <a:r>
              <a:rPr lang="en-US" dirty="0"/>
              <a:t>Apriori algorithm for association rule learning problems</a:t>
            </a:r>
          </a:p>
        </p:txBody>
      </p:sp>
      <p:sp>
        <p:nvSpPr>
          <p:cNvPr id="4" name="TextBox 3">
            <a:extLst>
              <a:ext uri="{FF2B5EF4-FFF2-40B4-BE49-F238E27FC236}">
                <a16:creationId xmlns:a16="http://schemas.microsoft.com/office/drawing/2014/main" id="{DA5C8292-4B58-7D9C-9603-5B5643AEB7A4}"/>
              </a:ext>
            </a:extLst>
          </p:cNvPr>
          <p:cNvSpPr txBox="1"/>
          <p:nvPr/>
        </p:nvSpPr>
        <p:spPr>
          <a:xfrm>
            <a:off x="1482811" y="5103674"/>
            <a:ext cx="7871254" cy="1754326"/>
          </a:xfrm>
          <a:prstGeom prst="rect">
            <a:avLst/>
          </a:prstGeom>
          <a:noFill/>
        </p:spPr>
        <p:txBody>
          <a:bodyPr wrap="square" rtlCol="0">
            <a:spAutoFit/>
          </a:bodyPr>
          <a:lstStyle/>
          <a:p>
            <a:r>
              <a:rPr lang="en-US" dirty="0"/>
              <a:t>The most basic disadvantage of any </a:t>
            </a:r>
            <a:r>
              <a:rPr lang="en-US" b="1" dirty="0"/>
              <a:t>Supervised Learning</a:t>
            </a:r>
            <a:r>
              <a:rPr lang="en-US" dirty="0"/>
              <a:t> algorithm is that the dataset has to be hand-labeled either by a Machine Learning Engineer or a Data Scientist. This is a very </a:t>
            </a:r>
            <a:r>
              <a:rPr lang="en-US" i="1" dirty="0"/>
              <a:t>costly process</a:t>
            </a:r>
            <a:r>
              <a:rPr lang="en-US" dirty="0"/>
              <a:t>, especially when dealing with large volumes of data. The most basic disadvantage of any </a:t>
            </a:r>
            <a:r>
              <a:rPr lang="en-US" b="1" dirty="0"/>
              <a:t>Unsupervised Learning</a:t>
            </a:r>
            <a:r>
              <a:rPr lang="en-US" dirty="0"/>
              <a:t> is that it’s </a:t>
            </a:r>
            <a:r>
              <a:rPr lang="en-US" b="1" dirty="0"/>
              <a:t>application spectrum is limited</a:t>
            </a:r>
            <a:r>
              <a:rPr lang="en-US" dirty="0"/>
              <a:t>.</a:t>
            </a:r>
          </a:p>
        </p:txBody>
      </p:sp>
    </p:spTree>
    <p:extLst>
      <p:ext uri="{BB962C8B-B14F-4D97-AF65-F5344CB8AC3E}">
        <p14:creationId xmlns:p14="http://schemas.microsoft.com/office/powerpoint/2010/main" val="943680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E13E8-912F-024A-6723-CEB86133A6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3EB22B-55FD-0D29-2DB8-1A5BA393C3AF}"/>
              </a:ext>
            </a:extLst>
          </p:cNvPr>
          <p:cNvSpPr txBox="1"/>
          <p:nvPr/>
        </p:nvSpPr>
        <p:spPr>
          <a:xfrm>
            <a:off x="1680518" y="766119"/>
            <a:ext cx="4819135" cy="369332"/>
          </a:xfrm>
          <a:prstGeom prst="rect">
            <a:avLst/>
          </a:prstGeom>
          <a:noFill/>
        </p:spPr>
        <p:txBody>
          <a:bodyPr wrap="square" rtlCol="0">
            <a:spAutoFit/>
          </a:bodyPr>
          <a:lstStyle/>
          <a:p>
            <a:r>
              <a:rPr lang="en-US" b="1" dirty="0"/>
              <a:t>Semi-supervised machine learning:</a:t>
            </a:r>
          </a:p>
        </p:txBody>
      </p:sp>
      <p:sp>
        <p:nvSpPr>
          <p:cNvPr id="3" name="TextBox 2">
            <a:extLst>
              <a:ext uri="{FF2B5EF4-FFF2-40B4-BE49-F238E27FC236}">
                <a16:creationId xmlns:a16="http://schemas.microsoft.com/office/drawing/2014/main" id="{D6BB82EC-003B-669B-50FC-74234D7CF13A}"/>
              </a:ext>
            </a:extLst>
          </p:cNvPr>
          <p:cNvSpPr txBox="1"/>
          <p:nvPr/>
        </p:nvSpPr>
        <p:spPr>
          <a:xfrm>
            <a:off x="1680518" y="1216773"/>
            <a:ext cx="9266314" cy="1200329"/>
          </a:xfrm>
          <a:prstGeom prst="rect">
            <a:avLst/>
          </a:prstGeom>
          <a:noFill/>
        </p:spPr>
        <p:txBody>
          <a:bodyPr wrap="square" rtlCol="0">
            <a:spAutoFit/>
          </a:bodyPr>
          <a:lstStyle/>
          <a:p>
            <a:r>
              <a:rPr lang="en-US" dirty="0"/>
              <a:t>To counter these disadvantages, the concept of </a:t>
            </a:r>
            <a:r>
              <a:rPr lang="en-US" b="1" dirty="0"/>
              <a:t>Semi-Supervised Learning</a:t>
            </a:r>
            <a:r>
              <a:rPr lang="en-US" dirty="0"/>
              <a:t> was introduced. In this type of learning, the algorithm is trained upon a combination of labeled and unlabeled data. Typically, this combination will contain a very small amount of labeled data and a very large amount of unlabeled data.</a:t>
            </a:r>
          </a:p>
        </p:txBody>
      </p:sp>
      <p:pic>
        <p:nvPicPr>
          <p:cNvPr id="4" name="Picture 3">
            <a:extLst>
              <a:ext uri="{FF2B5EF4-FFF2-40B4-BE49-F238E27FC236}">
                <a16:creationId xmlns:a16="http://schemas.microsoft.com/office/drawing/2014/main" id="{8E388137-3AC8-2B93-233D-6A2A5C3055BD}"/>
              </a:ext>
            </a:extLst>
          </p:cNvPr>
          <p:cNvPicPr>
            <a:picLocks noChangeAspect="1"/>
          </p:cNvPicPr>
          <p:nvPr/>
        </p:nvPicPr>
        <p:blipFill>
          <a:blip r:embed="rId2"/>
          <a:stretch>
            <a:fillRect/>
          </a:stretch>
        </p:blipFill>
        <p:spPr>
          <a:xfrm>
            <a:off x="6499653" y="2498424"/>
            <a:ext cx="4890052" cy="4384660"/>
          </a:xfrm>
          <a:prstGeom prst="rect">
            <a:avLst/>
          </a:prstGeom>
        </p:spPr>
      </p:pic>
      <p:sp>
        <p:nvSpPr>
          <p:cNvPr id="5" name="TextBox 4">
            <a:extLst>
              <a:ext uri="{FF2B5EF4-FFF2-40B4-BE49-F238E27FC236}">
                <a16:creationId xmlns:a16="http://schemas.microsoft.com/office/drawing/2014/main" id="{76F83BBF-1F03-8A14-1F60-AE11740AA9CB}"/>
              </a:ext>
            </a:extLst>
          </p:cNvPr>
          <p:cNvSpPr txBox="1"/>
          <p:nvPr/>
        </p:nvSpPr>
        <p:spPr>
          <a:xfrm>
            <a:off x="2372139" y="3167270"/>
            <a:ext cx="4280452" cy="2308324"/>
          </a:xfrm>
          <a:prstGeom prst="rect">
            <a:avLst/>
          </a:prstGeom>
          <a:noFill/>
        </p:spPr>
        <p:txBody>
          <a:bodyPr wrap="square" rtlCol="0">
            <a:spAutoFit/>
          </a:bodyPr>
          <a:lstStyle/>
          <a:p>
            <a:pPr marL="285750" indent="-285750">
              <a:buFont typeface="Arial" panose="020B0604020202020204" pitchFamily="34" charset="0"/>
              <a:buChar char="•"/>
            </a:pPr>
            <a:r>
              <a:rPr lang="en-US" dirty="0"/>
              <a:t>In semi supervised learning labelled data is used to learn a model and using that model unlabeled data is labelled called pseudo labelling now using whole data model is trained for further use</a:t>
            </a:r>
          </a:p>
          <a:p>
            <a:endParaRPr lang="en-IN" dirty="0"/>
          </a:p>
        </p:txBody>
      </p:sp>
    </p:spTree>
    <p:extLst>
      <p:ext uri="{BB962C8B-B14F-4D97-AF65-F5344CB8AC3E}">
        <p14:creationId xmlns:p14="http://schemas.microsoft.com/office/powerpoint/2010/main" val="3874795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3CD9B-D382-0590-934C-E6E50BED61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42D614-6DAD-ACD7-3EDF-F9485FD840EB}"/>
              </a:ext>
            </a:extLst>
          </p:cNvPr>
          <p:cNvSpPr txBox="1"/>
          <p:nvPr/>
        </p:nvSpPr>
        <p:spPr>
          <a:xfrm>
            <a:off x="2167677" y="4165422"/>
            <a:ext cx="9316279" cy="2585323"/>
          </a:xfrm>
          <a:prstGeom prst="rect">
            <a:avLst/>
          </a:prstGeom>
          <a:noFill/>
        </p:spPr>
        <p:txBody>
          <a:bodyPr wrap="square" rtlCol="0">
            <a:spAutoFit/>
          </a:bodyPr>
          <a:lstStyle/>
          <a:p>
            <a:pPr fontAlgn="base"/>
            <a:r>
              <a:rPr lang="en-US" dirty="0"/>
              <a:t> </a:t>
            </a:r>
          </a:p>
          <a:p>
            <a:pPr fontAlgn="base"/>
            <a:endParaRPr lang="en-US" dirty="0"/>
          </a:p>
          <a:p>
            <a:pPr fontAlgn="base"/>
            <a:endParaRPr lang="en-US" dirty="0"/>
          </a:p>
          <a:p>
            <a:pPr fontAlgn="base"/>
            <a:endParaRPr lang="en-US" dirty="0"/>
          </a:p>
          <a:p>
            <a:pPr fontAlgn="base"/>
            <a:r>
              <a:rPr lang="en-US" dirty="0"/>
              <a:t>Intuitively, one may imagine the three types of learning algorithms as Supervised learning where a student is under the supervision of a teacher at both home and school, Unsupervised learning where a student has to figure out a concept himself and Semi-Supervised learning where a teacher teaches a few concepts in class and gives questions as homework which are based on similar concepts.</a:t>
            </a:r>
            <a:endParaRPr lang="en-IN" dirty="0"/>
          </a:p>
        </p:txBody>
      </p:sp>
      <p:pic>
        <p:nvPicPr>
          <p:cNvPr id="3" name="Picture 2" descr="Image result for semi supervised learning">
            <a:extLst>
              <a:ext uri="{FF2B5EF4-FFF2-40B4-BE49-F238E27FC236}">
                <a16:creationId xmlns:a16="http://schemas.microsoft.com/office/drawing/2014/main" id="{6681E072-DE9E-B218-831E-B01F2F5B3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228" y="1233538"/>
            <a:ext cx="5123543" cy="36285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615A552-6B88-B716-059F-706C2F20E791}"/>
              </a:ext>
            </a:extLst>
          </p:cNvPr>
          <p:cNvSpPr txBox="1"/>
          <p:nvPr/>
        </p:nvSpPr>
        <p:spPr>
          <a:xfrm>
            <a:off x="2322286" y="246743"/>
            <a:ext cx="7460343" cy="646331"/>
          </a:xfrm>
          <a:prstGeom prst="rect">
            <a:avLst/>
          </a:prstGeom>
          <a:noFill/>
        </p:spPr>
        <p:txBody>
          <a:bodyPr wrap="square" rtlCol="0">
            <a:spAutoFit/>
          </a:bodyPr>
          <a:lstStyle/>
          <a:p>
            <a:r>
              <a:rPr lang="en-US" dirty="0"/>
              <a:t>Model with </a:t>
            </a:r>
            <a:r>
              <a:rPr lang="en-US" dirty="0" err="1"/>
              <a:t>labellled</a:t>
            </a:r>
            <a:r>
              <a:rPr lang="en-US" dirty="0"/>
              <a:t> data and model with both labelled and </a:t>
            </a:r>
            <a:r>
              <a:rPr lang="en-US" dirty="0" err="1"/>
              <a:t>unlabelled</a:t>
            </a:r>
            <a:r>
              <a:rPr lang="en-US" dirty="0"/>
              <a:t> data</a:t>
            </a:r>
          </a:p>
        </p:txBody>
      </p:sp>
    </p:spTree>
    <p:extLst>
      <p:ext uri="{BB962C8B-B14F-4D97-AF65-F5344CB8AC3E}">
        <p14:creationId xmlns:p14="http://schemas.microsoft.com/office/powerpoint/2010/main" val="2708348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1BD6-A640-9FF3-7B5E-B07D12FDB7C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A1A7A4-D0D6-0411-AC2E-02105A9A57FF}"/>
              </a:ext>
            </a:extLst>
          </p:cNvPr>
          <p:cNvSpPr/>
          <p:nvPr/>
        </p:nvSpPr>
        <p:spPr>
          <a:xfrm>
            <a:off x="2398060" y="1216920"/>
            <a:ext cx="7206782" cy="4708981"/>
          </a:xfrm>
          <a:prstGeom prst="rect">
            <a:avLst/>
          </a:prstGeom>
        </p:spPr>
        <p:txBody>
          <a:bodyPr wrap="square">
            <a:spAutoFit/>
          </a:bodyPr>
          <a:lstStyle/>
          <a:p>
            <a:pPr algn="l"/>
            <a:r>
              <a:rPr lang="en-IN" sz="2000" dirty="0"/>
              <a:t>from </a:t>
            </a:r>
            <a:r>
              <a:rPr lang="en-IN" sz="2000" dirty="0" err="1"/>
              <a:t>sklearn</a:t>
            </a:r>
            <a:r>
              <a:rPr lang="en-IN" sz="2000" dirty="0"/>
              <a:t> import </a:t>
            </a:r>
            <a:r>
              <a:rPr lang="en-IN" sz="2000" dirty="0" err="1"/>
              <a:t>linear_model</a:t>
            </a:r>
            <a:endParaRPr lang="en-IN" sz="2000" dirty="0"/>
          </a:p>
          <a:p>
            <a:pPr algn="l"/>
            <a:endParaRPr lang="en-IN" sz="2000" dirty="0"/>
          </a:p>
          <a:p>
            <a:pPr algn="l"/>
            <a:r>
              <a:rPr lang="en-IN" sz="2000" dirty="0" err="1"/>
              <a:t>regr</a:t>
            </a:r>
            <a:r>
              <a:rPr lang="en-IN" sz="2000" dirty="0"/>
              <a:t> = </a:t>
            </a:r>
            <a:r>
              <a:rPr lang="en-IN" sz="2000" dirty="0" err="1"/>
              <a:t>linear_model.LinearRegression</a:t>
            </a:r>
            <a:r>
              <a:rPr lang="en-IN" sz="2000" dirty="0"/>
              <a:t>()</a:t>
            </a:r>
          </a:p>
          <a:p>
            <a:pPr algn="l"/>
            <a:endParaRPr lang="en-IN" sz="2000" dirty="0"/>
          </a:p>
          <a:p>
            <a:pPr algn="l"/>
            <a:r>
              <a:rPr lang="en-IN" sz="2000" dirty="0" err="1"/>
              <a:t>train_x</a:t>
            </a:r>
            <a:r>
              <a:rPr lang="en-IN" sz="2000" dirty="0"/>
              <a:t> = </a:t>
            </a:r>
            <a:r>
              <a:rPr lang="en-IN" sz="2000" dirty="0" err="1"/>
              <a:t>np.asanyarray</a:t>
            </a:r>
            <a:r>
              <a:rPr lang="en-IN" sz="2000" dirty="0"/>
              <a:t>(train[['ENGINESIZE']])</a:t>
            </a:r>
          </a:p>
          <a:p>
            <a:pPr algn="l"/>
            <a:endParaRPr lang="en-IN" sz="2000" dirty="0"/>
          </a:p>
          <a:p>
            <a:pPr algn="l"/>
            <a:r>
              <a:rPr lang="en-IN" sz="2000" dirty="0" err="1"/>
              <a:t>train_y</a:t>
            </a:r>
            <a:r>
              <a:rPr lang="en-IN" sz="2000" dirty="0"/>
              <a:t> = </a:t>
            </a:r>
            <a:r>
              <a:rPr lang="en-IN" sz="2000" dirty="0" err="1"/>
              <a:t>np.asanyarray</a:t>
            </a:r>
            <a:r>
              <a:rPr lang="en-IN" sz="2000" dirty="0"/>
              <a:t>(train[['CO2EMISSIONS']])</a:t>
            </a:r>
          </a:p>
          <a:p>
            <a:pPr algn="l"/>
            <a:endParaRPr lang="en-IN" sz="2000" dirty="0"/>
          </a:p>
          <a:p>
            <a:pPr algn="l"/>
            <a:r>
              <a:rPr lang="en-IN" sz="2000" dirty="0" err="1"/>
              <a:t>regr.fit</a:t>
            </a:r>
            <a:r>
              <a:rPr lang="en-IN" sz="2000" dirty="0"/>
              <a:t> (</a:t>
            </a:r>
            <a:r>
              <a:rPr lang="en-IN" sz="2000" dirty="0" err="1"/>
              <a:t>train_x</a:t>
            </a:r>
            <a:r>
              <a:rPr lang="en-IN" sz="2000" dirty="0"/>
              <a:t>, </a:t>
            </a:r>
            <a:r>
              <a:rPr lang="en-IN" sz="2000" dirty="0" err="1"/>
              <a:t>train_y</a:t>
            </a:r>
            <a:r>
              <a:rPr lang="en-IN" sz="2000" dirty="0"/>
              <a:t>)</a:t>
            </a:r>
          </a:p>
          <a:p>
            <a:pPr algn="l"/>
            <a:endParaRPr lang="en-IN" sz="2000" dirty="0"/>
          </a:p>
          <a:p>
            <a:pPr algn="l"/>
            <a:r>
              <a:rPr lang="en-IN" sz="2000" dirty="0"/>
              <a:t># The coefficients</a:t>
            </a:r>
          </a:p>
          <a:p>
            <a:pPr algn="l"/>
            <a:endParaRPr lang="en-IN" sz="2000" dirty="0"/>
          </a:p>
          <a:p>
            <a:pPr algn="l"/>
            <a:r>
              <a:rPr lang="en-IN" sz="2000" dirty="0"/>
              <a:t>print ('Coefficients: ', </a:t>
            </a:r>
            <a:r>
              <a:rPr lang="en-IN" sz="2000" dirty="0" err="1"/>
              <a:t>regr.coef</a:t>
            </a:r>
            <a:r>
              <a:rPr lang="en-IN" sz="2000" dirty="0"/>
              <a:t>_)</a:t>
            </a:r>
          </a:p>
          <a:p>
            <a:pPr algn="l"/>
            <a:r>
              <a:rPr lang="en-IN" sz="2000" dirty="0"/>
              <a:t>print ('Intercept: ',</a:t>
            </a:r>
            <a:r>
              <a:rPr lang="en-IN" sz="2000" dirty="0" err="1"/>
              <a:t>regr.intercept</a:t>
            </a:r>
            <a:r>
              <a:rPr lang="en-IN" sz="2000" dirty="0"/>
              <a:t>_)</a:t>
            </a:r>
          </a:p>
          <a:p>
            <a:pPr algn="l"/>
            <a:endParaRPr lang="en-IN" sz="2000" dirty="0"/>
          </a:p>
        </p:txBody>
      </p:sp>
    </p:spTree>
    <p:extLst>
      <p:ext uri="{BB962C8B-B14F-4D97-AF65-F5344CB8AC3E}">
        <p14:creationId xmlns:p14="http://schemas.microsoft.com/office/powerpoint/2010/main" val="2591805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71A96F-20B4-E04D-4F3E-1971460074C2}"/>
              </a:ext>
            </a:extLst>
          </p:cNvPr>
          <p:cNvSpPr/>
          <p:nvPr/>
        </p:nvSpPr>
        <p:spPr>
          <a:xfrm>
            <a:off x="3078816" y="939574"/>
            <a:ext cx="6929438" cy="5016758"/>
          </a:xfrm>
          <a:prstGeom prst="rect">
            <a:avLst/>
          </a:prstGeom>
        </p:spPr>
        <p:txBody>
          <a:bodyPr wrap="square">
            <a:spAutoFit/>
          </a:bodyPr>
          <a:lstStyle/>
          <a:p>
            <a:pPr algn="l"/>
            <a:r>
              <a:rPr lang="en-IN" sz="2000" dirty="0"/>
              <a:t>from </a:t>
            </a:r>
            <a:r>
              <a:rPr lang="en-IN" sz="2000" dirty="0" err="1"/>
              <a:t>sklearn</a:t>
            </a:r>
            <a:r>
              <a:rPr lang="en-IN" sz="2000" dirty="0"/>
              <a:t> import </a:t>
            </a:r>
            <a:r>
              <a:rPr lang="en-IN" sz="2000" dirty="0" err="1"/>
              <a:t>linear_model</a:t>
            </a:r>
            <a:endParaRPr lang="en-IN" sz="2000" dirty="0"/>
          </a:p>
          <a:p>
            <a:pPr algn="l"/>
            <a:endParaRPr lang="en-IN" sz="2000" dirty="0"/>
          </a:p>
          <a:p>
            <a:pPr algn="l"/>
            <a:r>
              <a:rPr lang="en-IN" sz="2000" dirty="0" err="1"/>
              <a:t>regr</a:t>
            </a:r>
            <a:r>
              <a:rPr lang="en-IN" sz="2000" dirty="0"/>
              <a:t> = </a:t>
            </a:r>
            <a:r>
              <a:rPr lang="en-IN" sz="2000" dirty="0" err="1"/>
              <a:t>linear_model.LinearRegression</a:t>
            </a:r>
            <a:r>
              <a:rPr lang="en-IN" sz="2000" dirty="0"/>
              <a:t>()</a:t>
            </a:r>
          </a:p>
          <a:p>
            <a:pPr algn="l"/>
            <a:endParaRPr lang="en-IN" sz="2000" dirty="0"/>
          </a:p>
          <a:p>
            <a:pPr algn="l"/>
            <a:r>
              <a:rPr lang="en-IN" sz="2000" dirty="0" err="1"/>
              <a:t>train_x</a:t>
            </a:r>
            <a:r>
              <a:rPr lang="en-IN" sz="2000" dirty="0"/>
              <a:t> = </a:t>
            </a:r>
            <a:r>
              <a:rPr lang="en-IN" sz="2000" dirty="0" err="1"/>
              <a:t>np.asanyarray</a:t>
            </a:r>
            <a:r>
              <a:rPr lang="en-IN" sz="2000" dirty="0"/>
              <a:t>(train[['ENGINESIZE','CYLINDERS']])</a:t>
            </a:r>
          </a:p>
          <a:p>
            <a:pPr algn="l"/>
            <a:endParaRPr lang="en-IN" sz="2000" dirty="0"/>
          </a:p>
          <a:p>
            <a:pPr algn="l"/>
            <a:r>
              <a:rPr lang="en-IN" sz="2000" dirty="0" err="1"/>
              <a:t>train_y</a:t>
            </a:r>
            <a:r>
              <a:rPr lang="en-IN" sz="2000" dirty="0"/>
              <a:t> = </a:t>
            </a:r>
            <a:r>
              <a:rPr lang="en-IN" sz="2000" dirty="0" err="1"/>
              <a:t>np.asanyarray</a:t>
            </a:r>
            <a:r>
              <a:rPr lang="en-IN" sz="2000" dirty="0"/>
              <a:t>(train[['CO2EMISSIONS']])</a:t>
            </a:r>
          </a:p>
          <a:p>
            <a:pPr algn="l"/>
            <a:endParaRPr lang="en-IN" sz="2000" dirty="0"/>
          </a:p>
          <a:p>
            <a:pPr algn="l"/>
            <a:r>
              <a:rPr lang="en-IN" sz="2000" dirty="0" err="1"/>
              <a:t>regr.fit</a:t>
            </a:r>
            <a:r>
              <a:rPr lang="en-IN" sz="2000" dirty="0"/>
              <a:t> (</a:t>
            </a:r>
            <a:r>
              <a:rPr lang="en-IN" sz="2000" dirty="0" err="1"/>
              <a:t>train_x</a:t>
            </a:r>
            <a:r>
              <a:rPr lang="en-IN" sz="2000" dirty="0"/>
              <a:t>, </a:t>
            </a:r>
            <a:r>
              <a:rPr lang="en-IN" sz="2000" dirty="0" err="1"/>
              <a:t>train_y</a:t>
            </a:r>
            <a:r>
              <a:rPr lang="en-IN" sz="2000" dirty="0"/>
              <a:t>)</a:t>
            </a:r>
          </a:p>
          <a:p>
            <a:pPr algn="l"/>
            <a:endParaRPr lang="en-IN" sz="2000" dirty="0"/>
          </a:p>
          <a:p>
            <a:pPr algn="l"/>
            <a:r>
              <a:rPr lang="en-IN" sz="2000" dirty="0"/>
              <a:t># The coefficients</a:t>
            </a:r>
          </a:p>
          <a:p>
            <a:pPr algn="l"/>
            <a:endParaRPr lang="en-IN" sz="2000" dirty="0"/>
          </a:p>
          <a:p>
            <a:pPr algn="l"/>
            <a:r>
              <a:rPr lang="en-IN" sz="2000" dirty="0"/>
              <a:t>print ('Coefficients: ', </a:t>
            </a:r>
            <a:r>
              <a:rPr lang="en-IN" sz="2000" dirty="0" err="1"/>
              <a:t>regr.coef</a:t>
            </a:r>
            <a:r>
              <a:rPr lang="en-IN" sz="2000" dirty="0"/>
              <a:t>_)</a:t>
            </a:r>
          </a:p>
          <a:p>
            <a:pPr algn="l"/>
            <a:r>
              <a:rPr lang="en-IN" sz="2000" dirty="0"/>
              <a:t>print ('Intercept: ',</a:t>
            </a:r>
            <a:r>
              <a:rPr lang="en-IN" sz="2000" dirty="0" err="1"/>
              <a:t>regr.intercept</a:t>
            </a:r>
            <a:r>
              <a:rPr lang="en-IN" sz="2000" dirty="0"/>
              <a:t>_)</a:t>
            </a:r>
          </a:p>
          <a:p>
            <a:pPr algn="l"/>
            <a:endParaRPr lang="en-IN" sz="2000" dirty="0"/>
          </a:p>
        </p:txBody>
      </p:sp>
    </p:spTree>
    <p:extLst>
      <p:ext uri="{BB962C8B-B14F-4D97-AF65-F5344CB8AC3E}">
        <p14:creationId xmlns:p14="http://schemas.microsoft.com/office/powerpoint/2010/main" val="2955637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Biological Neuron vs Mathematical Neuron</a:t>
            </a:r>
            <a:endParaRPr/>
          </a:p>
        </p:txBody>
      </p:sp>
      <p:sp>
        <p:nvSpPr>
          <p:cNvPr id="118" name="Google Shape;118;p20"/>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19" name="Google Shape;119;p20"/>
          <p:cNvPicPr preferRelativeResize="0"/>
          <p:nvPr/>
        </p:nvPicPr>
        <p:blipFill>
          <a:blip r:embed="rId3">
            <a:alphaModFix/>
          </a:blip>
          <a:stretch>
            <a:fillRect/>
          </a:stretch>
        </p:blipFill>
        <p:spPr>
          <a:xfrm>
            <a:off x="0" y="1441991"/>
            <a:ext cx="12192000" cy="6096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132" name="Google Shape;132;p22"/>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33" name="Google Shape;133;p22"/>
          <p:cNvPicPr preferRelativeResize="0"/>
          <p:nvPr/>
        </p:nvPicPr>
        <p:blipFill>
          <a:blip r:embed="rId3">
            <a:alphaModFix/>
          </a:blip>
          <a:stretch>
            <a:fillRect/>
          </a:stretch>
        </p:blipFill>
        <p:spPr>
          <a:xfrm>
            <a:off x="0" y="795872"/>
            <a:ext cx="12192000" cy="526626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3"/>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139" name="Google Shape;139;p23"/>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40" name="Google Shape;140;p23"/>
          <p:cNvPicPr preferRelativeResize="0"/>
          <p:nvPr/>
        </p:nvPicPr>
        <p:blipFill>
          <a:blip r:embed="rId3">
            <a:alphaModFix/>
          </a:blip>
          <a:stretch>
            <a:fillRect/>
          </a:stretch>
        </p:blipFill>
        <p:spPr>
          <a:xfrm>
            <a:off x="1016000" y="889000"/>
            <a:ext cx="10160000" cy="5080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146" name="Google Shape;146;p24"/>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47" name="Google Shape;147;p24"/>
          <p:cNvPicPr preferRelativeResize="0"/>
          <p:nvPr/>
        </p:nvPicPr>
        <p:blipFill>
          <a:blip r:embed="rId3">
            <a:alphaModFix/>
          </a:blip>
          <a:stretch>
            <a:fillRect/>
          </a:stretch>
        </p:blipFill>
        <p:spPr>
          <a:xfrm>
            <a:off x="1016000" y="228600"/>
            <a:ext cx="10160000" cy="6400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3F2EF-AF6D-326D-B256-F6AF1ADBC5B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717033EB-5E32-C189-D8B6-1D4E59A7F4BE}"/>
              </a:ext>
            </a:extLst>
          </p:cNvPr>
          <p:cNvSpPr>
            <a:spLocks noGrp="1" noChangeArrowheads="1"/>
          </p:cNvSpPr>
          <p:nvPr>
            <p:ph type="title"/>
          </p:nvPr>
        </p:nvSpPr>
        <p:spPr>
          <a:xfrm>
            <a:off x="457200" y="274638"/>
            <a:ext cx="8229600" cy="1143000"/>
          </a:xfrm>
        </p:spPr>
        <p:txBody>
          <a:bodyPr/>
          <a:lstStyle/>
          <a:p>
            <a:r>
              <a:rPr lang="en-US" altLang="en-US"/>
              <a:t>Artificial Neuron</a:t>
            </a:r>
          </a:p>
        </p:txBody>
      </p:sp>
      <p:grpSp>
        <p:nvGrpSpPr>
          <p:cNvPr id="3" name="Group 39">
            <a:extLst>
              <a:ext uri="{FF2B5EF4-FFF2-40B4-BE49-F238E27FC236}">
                <a16:creationId xmlns:a16="http://schemas.microsoft.com/office/drawing/2014/main" id="{B01E3BB0-B578-1E52-C411-2FA77DAA72A9}"/>
              </a:ext>
            </a:extLst>
          </p:cNvPr>
          <p:cNvGrpSpPr>
            <a:grpSpLocks/>
          </p:cNvGrpSpPr>
          <p:nvPr/>
        </p:nvGrpSpPr>
        <p:grpSpPr bwMode="auto">
          <a:xfrm>
            <a:off x="533400" y="1295400"/>
            <a:ext cx="8077200" cy="4840288"/>
            <a:chOff x="336" y="816"/>
            <a:chExt cx="5088" cy="3049"/>
          </a:xfrm>
        </p:grpSpPr>
        <p:grpSp>
          <p:nvGrpSpPr>
            <p:cNvPr id="4" name="Group 6">
              <a:extLst>
                <a:ext uri="{FF2B5EF4-FFF2-40B4-BE49-F238E27FC236}">
                  <a16:creationId xmlns:a16="http://schemas.microsoft.com/office/drawing/2014/main" id="{41D31A9E-DF0F-037F-7590-2BF8A1D3064D}"/>
                </a:ext>
              </a:extLst>
            </p:cNvPr>
            <p:cNvGrpSpPr>
              <a:grpSpLocks/>
            </p:cNvGrpSpPr>
            <p:nvPr/>
          </p:nvGrpSpPr>
          <p:grpSpPr bwMode="auto">
            <a:xfrm>
              <a:off x="1104" y="1392"/>
              <a:ext cx="3408" cy="1488"/>
              <a:chOff x="1200" y="1584"/>
              <a:chExt cx="3408" cy="1488"/>
            </a:xfrm>
          </p:grpSpPr>
          <p:sp>
            <p:nvSpPr>
              <p:cNvPr id="16" name="Oval 7">
                <a:extLst>
                  <a:ext uri="{FF2B5EF4-FFF2-40B4-BE49-F238E27FC236}">
                    <a16:creationId xmlns:a16="http://schemas.microsoft.com/office/drawing/2014/main" id="{13DC6F62-70A4-CC54-F668-DD5623F477A2}"/>
                  </a:ext>
                </a:extLst>
              </p:cNvPr>
              <p:cNvSpPr>
                <a:spLocks noChangeArrowheads="1"/>
              </p:cNvSpPr>
              <p:nvPr/>
            </p:nvSpPr>
            <p:spPr bwMode="auto">
              <a:xfrm>
                <a:off x="2352" y="1920"/>
                <a:ext cx="672" cy="672"/>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8">
                <a:extLst>
                  <a:ext uri="{FF2B5EF4-FFF2-40B4-BE49-F238E27FC236}">
                    <a16:creationId xmlns:a16="http://schemas.microsoft.com/office/drawing/2014/main" id="{12457448-A310-5F90-6B5D-44108DB30746}"/>
                  </a:ext>
                </a:extLst>
              </p:cNvPr>
              <p:cNvSpPr>
                <a:spLocks noChangeShapeType="1"/>
              </p:cNvSpPr>
              <p:nvPr/>
            </p:nvSpPr>
            <p:spPr bwMode="auto">
              <a:xfrm>
                <a:off x="1920" y="1584"/>
                <a:ext cx="576"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9">
                <a:extLst>
                  <a:ext uri="{FF2B5EF4-FFF2-40B4-BE49-F238E27FC236}">
                    <a16:creationId xmlns:a16="http://schemas.microsoft.com/office/drawing/2014/main" id="{9EF81959-5E4E-2AA8-91EE-F2D0B43A96F4}"/>
                  </a:ext>
                </a:extLst>
              </p:cNvPr>
              <p:cNvSpPr>
                <a:spLocks noChangeShapeType="1"/>
              </p:cNvSpPr>
              <p:nvPr/>
            </p:nvSpPr>
            <p:spPr bwMode="auto">
              <a:xfrm>
                <a:off x="1920" y="1968"/>
                <a:ext cx="43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0">
                <a:extLst>
                  <a:ext uri="{FF2B5EF4-FFF2-40B4-BE49-F238E27FC236}">
                    <a16:creationId xmlns:a16="http://schemas.microsoft.com/office/drawing/2014/main" id="{0A37A423-928F-3608-DDBB-26AFD56DFCAD}"/>
                  </a:ext>
                </a:extLst>
              </p:cNvPr>
              <p:cNvSpPr>
                <a:spLocks noChangeShapeType="1"/>
              </p:cNvSpPr>
              <p:nvPr/>
            </p:nvSpPr>
            <p:spPr bwMode="auto">
              <a:xfrm flipH="1">
                <a:off x="1200" y="1968"/>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1">
                <a:extLst>
                  <a:ext uri="{FF2B5EF4-FFF2-40B4-BE49-F238E27FC236}">
                    <a16:creationId xmlns:a16="http://schemas.microsoft.com/office/drawing/2014/main" id="{A0EE3AFE-EC17-EFA6-94AC-123206DE51CB}"/>
                  </a:ext>
                </a:extLst>
              </p:cNvPr>
              <p:cNvSpPr>
                <a:spLocks noChangeShapeType="1"/>
              </p:cNvSpPr>
              <p:nvPr/>
            </p:nvSpPr>
            <p:spPr bwMode="auto">
              <a:xfrm flipH="1">
                <a:off x="1200" y="1584"/>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2">
                <a:extLst>
                  <a:ext uri="{FF2B5EF4-FFF2-40B4-BE49-F238E27FC236}">
                    <a16:creationId xmlns:a16="http://schemas.microsoft.com/office/drawing/2014/main" id="{C25EB760-9D9A-E777-D533-40137BEA7A26}"/>
                  </a:ext>
                </a:extLst>
              </p:cNvPr>
              <p:cNvSpPr>
                <a:spLocks noChangeShapeType="1"/>
              </p:cNvSpPr>
              <p:nvPr/>
            </p:nvSpPr>
            <p:spPr bwMode="auto">
              <a:xfrm flipV="1">
                <a:off x="1920" y="2448"/>
                <a:ext cx="48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3">
                <a:extLst>
                  <a:ext uri="{FF2B5EF4-FFF2-40B4-BE49-F238E27FC236}">
                    <a16:creationId xmlns:a16="http://schemas.microsoft.com/office/drawing/2014/main" id="{8BC1A2EF-9219-67D1-A9A1-71AA1C4FE1C7}"/>
                  </a:ext>
                </a:extLst>
              </p:cNvPr>
              <p:cNvSpPr>
                <a:spLocks noChangeShapeType="1"/>
              </p:cNvSpPr>
              <p:nvPr/>
            </p:nvSpPr>
            <p:spPr bwMode="auto">
              <a:xfrm flipH="1">
                <a:off x="1200" y="2688"/>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14">
                <a:extLst>
                  <a:ext uri="{FF2B5EF4-FFF2-40B4-BE49-F238E27FC236}">
                    <a16:creationId xmlns:a16="http://schemas.microsoft.com/office/drawing/2014/main" id="{7D3916A6-780B-1C67-5C83-AA42644BBCBA}"/>
                  </a:ext>
                </a:extLst>
              </p:cNvPr>
              <p:cNvSpPr>
                <a:spLocks noChangeShapeType="1"/>
              </p:cNvSpPr>
              <p:nvPr/>
            </p:nvSpPr>
            <p:spPr bwMode="auto">
              <a:xfrm flipH="1">
                <a:off x="1200" y="3072"/>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Oval 15">
                <a:extLst>
                  <a:ext uri="{FF2B5EF4-FFF2-40B4-BE49-F238E27FC236}">
                    <a16:creationId xmlns:a16="http://schemas.microsoft.com/office/drawing/2014/main" id="{A0C46112-2E44-B96B-F4AE-3ECF86E8A550}"/>
                  </a:ext>
                </a:extLst>
              </p:cNvPr>
              <p:cNvSpPr>
                <a:spLocks noChangeArrowheads="1"/>
              </p:cNvSpPr>
              <p:nvPr/>
            </p:nvSpPr>
            <p:spPr bwMode="auto">
              <a:xfrm>
                <a:off x="1584" y="2112"/>
                <a:ext cx="48" cy="48"/>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Oval 16">
                <a:extLst>
                  <a:ext uri="{FF2B5EF4-FFF2-40B4-BE49-F238E27FC236}">
                    <a16:creationId xmlns:a16="http://schemas.microsoft.com/office/drawing/2014/main" id="{798AF907-F9DC-02D5-CE2A-E2D08EABFC23}"/>
                  </a:ext>
                </a:extLst>
              </p:cNvPr>
              <p:cNvSpPr>
                <a:spLocks noChangeArrowheads="1"/>
              </p:cNvSpPr>
              <p:nvPr/>
            </p:nvSpPr>
            <p:spPr bwMode="auto">
              <a:xfrm>
                <a:off x="1584" y="230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Oval 17">
                <a:extLst>
                  <a:ext uri="{FF2B5EF4-FFF2-40B4-BE49-F238E27FC236}">
                    <a16:creationId xmlns:a16="http://schemas.microsoft.com/office/drawing/2014/main" id="{BDA274E9-035A-34F5-12B5-A739921E9AFF}"/>
                  </a:ext>
                </a:extLst>
              </p:cNvPr>
              <p:cNvSpPr>
                <a:spLocks noChangeArrowheads="1"/>
              </p:cNvSpPr>
              <p:nvPr/>
            </p:nvSpPr>
            <p:spPr bwMode="auto">
              <a:xfrm>
                <a:off x="1584" y="249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18">
                <a:extLst>
                  <a:ext uri="{FF2B5EF4-FFF2-40B4-BE49-F238E27FC236}">
                    <a16:creationId xmlns:a16="http://schemas.microsoft.com/office/drawing/2014/main" id="{07A93FF1-0CA6-B43C-9C6C-DC847EFB5070}"/>
                  </a:ext>
                </a:extLst>
              </p:cNvPr>
              <p:cNvSpPr>
                <a:spLocks noChangeShapeType="1"/>
              </p:cNvSpPr>
              <p:nvPr/>
            </p:nvSpPr>
            <p:spPr bwMode="auto">
              <a:xfrm flipV="1">
                <a:off x="1968" y="2544"/>
                <a:ext cx="528"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Text Box 19">
                <a:extLst>
                  <a:ext uri="{FF2B5EF4-FFF2-40B4-BE49-F238E27FC236}">
                    <a16:creationId xmlns:a16="http://schemas.microsoft.com/office/drawing/2014/main" id="{A4DD647D-296B-CAF4-D0D7-A0CC18BC2734}"/>
                  </a:ext>
                </a:extLst>
              </p:cNvPr>
              <p:cNvSpPr txBox="1">
                <a:spLocks noChangeArrowheads="1"/>
              </p:cNvSpPr>
              <p:nvPr/>
            </p:nvSpPr>
            <p:spPr bwMode="auto">
              <a:xfrm>
                <a:off x="2496" y="2016"/>
                <a:ext cx="38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l-GR" altLang="en-US" sz="4400" b="1">
                    <a:latin typeface="Times New Roman" panose="02020603050405020304" pitchFamily="18" charset="0"/>
                    <a:cs typeface="Times New Roman" panose="02020603050405020304" pitchFamily="18" charset="0"/>
                  </a:rPr>
                  <a:t>Σ</a:t>
                </a:r>
              </a:p>
            </p:txBody>
          </p:sp>
          <p:sp>
            <p:nvSpPr>
              <p:cNvPr id="29" name="Oval 20">
                <a:extLst>
                  <a:ext uri="{FF2B5EF4-FFF2-40B4-BE49-F238E27FC236}">
                    <a16:creationId xmlns:a16="http://schemas.microsoft.com/office/drawing/2014/main" id="{68C36F96-5E42-A8C9-E4B3-BE916821A507}"/>
                  </a:ext>
                </a:extLst>
              </p:cNvPr>
              <p:cNvSpPr>
                <a:spLocks noChangeArrowheads="1"/>
              </p:cNvSpPr>
              <p:nvPr/>
            </p:nvSpPr>
            <p:spPr bwMode="auto">
              <a:xfrm>
                <a:off x="3408" y="1920"/>
                <a:ext cx="672" cy="672"/>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21">
                <a:extLst>
                  <a:ext uri="{FF2B5EF4-FFF2-40B4-BE49-F238E27FC236}">
                    <a16:creationId xmlns:a16="http://schemas.microsoft.com/office/drawing/2014/main" id="{DE930700-A336-1053-DE76-1E0A20488DAB}"/>
                  </a:ext>
                </a:extLst>
              </p:cNvPr>
              <p:cNvSpPr>
                <a:spLocks noChangeShapeType="1"/>
              </p:cNvSpPr>
              <p:nvPr/>
            </p:nvSpPr>
            <p:spPr bwMode="auto">
              <a:xfrm>
                <a:off x="3024" y="2256"/>
                <a:ext cx="38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22">
                <a:extLst>
                  <a:ext uri="{FF2B5EF4-FFF2-40B4-BE49-F238E27FC236}">
                    <a16:creationId xmlns:a16="http://schemas.microsoft.com/office/drawing/2014/main" id="{4C0DDF5D-14E1-3575-42E4-D729E0CD3ABE}"/>
                  </a:ext>
                </a:extLst>
              </p:cNvPr>
              <p:cNvSpPr>
                <a:spLocks noChangeShapeType="1"/>
              </p:cNvSpPr>
              <p:nvPr/>
            </p:nvSpPr>
            <p:spPr bwMode="auto">
              <a:xfrm>
                <a:off x="4080" y="2256"/>
                <a:ext cx="52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Text Box 23">
                <a:extLst>
                  <a:ext uri="{FF2B5EF4-FFF2-40B4-BE49-F238E27FC236}">
                    <a16:creationId xmlns:a16="http://schemas.microsoft.com/office/drawing/2014/main" id="{1B3C33F5-115D-602E-6C61-5C48DCE67573}"/>
                  </a:ext>
                </a:extLst>
              </p:cNvPr>
              <p:cNvSpPr txBox="1">
                <a:spLocks noChangeArrowheads="1"/>
              </p:cNvSpPr>
              <p:nvPr/>
            </p:nvSpPr>
            <p:spPr bwMode="auto">
              <a:xfrm>
                <a:off x="3408" y="2016"/>
                <a:ext cx="62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latin typeface="Times New Roman" panose="02020603050405020304" pitchFamily="18" charset="0"/>
                    <a:cs typeface="Times New Roman" panose="02020603050405020304" pitchFamily="18" charset="0"/>
                  </a:rPr>
                  <a:t> f(n)</a:t>
                </a:r>
                <a:endParaRPr lang="el-GR" altLang="en-US" sz="3600">
                  <a:latin typeface="Times New Roman" panose="02020603050405020304" pitchFamily="18" charset="0"/>
                  <a:cs typeface="Times New Roman" panose="02020603050405020304" pitchFamily="18" charset="0"/>
                </a:endParaRPr>
              </a:p>
            </p:txBody>
          </p:sp>
        </p:grpSp>
        <p:graphicFrame>
          <p:nvGraphicFramePr>
            <p:cNvPr id="5" name="Object 25">
              <a:extLst>
                <a:ext uri="{FF2B5EF4-FFF2-40B4-BE49-F238E27FC236}">
                  <a16:creationId xmlns:a16="http://schemas.microsoft.com/office/drawing/2014/main" id="{825A4BB1-E12C-82B6-07B2-4A099AFE9CB7}"/>
                </a:ext>
              </a:extLst>
            </p:cNvPr>
            <p:cNvGraphicFramePr>
              <a:graphicFrameLocks noChangeAspect="1"/>
            </p:cNvGraphicFramePr>
            <p:nvPr/>
          </p:nvGraphicFramePr>
          <p:xfrm>
            <a:off x="432" y="816"/>
            <a:ext cx="1792" cy="2560"/>
          </p:xfrm>
          <a:graphic>
            <a:graphicData uri="http://schemas.openxmlformats.org/presentationml/2006/ole">
              <mc:AlternateContent xmlns:mc="http://schemas.openxmlformats.org/markup-compatibility/2006">
                <mc:Choice xmlns:v="urn:schemas-microsoft-com:vml" Requires="v">
                  <p:oleObj name="Equation" r:id="rId2" imgW="4102100" imgH="5854700" progId="Equation.DSMT4">
                    <p:embed/>
                  </p:oleObj>
                </mc:Choice>
                <mc:Fallback>
                  <p:oleObj name="Equation" r:id="rId2" imgW="4102100" imgH="5854700" progId="Equation.DSMT4">
                    <p:embed/>
                    <p:pic>
                      <p:nvPicPr>
                        <p:cNvPr id="5145" name="Object 25">
                          <a:extLst>
                            <a:ext uri="{FF2B5EF4-FFF2-40B4-BE49-F238E27FC236}">
                              <a16:creationId xmlns:a16="http://schemas.microsoft.com/office/drawing/2014/main" id="{63217396-C961-FFC6-C1B3-0FE4DF144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816"/>
                          <a:ext cx="1792" cy="2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26">
              <a:extLst>
                <a:ext uri="{FF2B5EF4-FFF2-40B4-BE49-F238E27FC236}">
                  <a16:creationId xmlns:a16="http://schemas.microsoft.com/office/drawing/2014/main" id="{7B38F04B-4471-1F77-E816-2359FAA9AB8F}"/>
                </a:ext>
              </a:extLst>
            </p:cNvPr>
            <p:cNvSpPr txBox="1">
              <a:spLocks noChangeArrowheads="1"/>
            </p:cNvSpPr>
            <p:nvPr/>
          </p:nvSpPr>
          <p:spPr bwMode="auto">
            <a:xfrm>
              <a:off x="1344" y="110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W</a:t>
              </a:r>
            </a:p>
          </p:txBody>
        </p:sp>
        <p:sp>
          <p:nvSpPr>
            <p:cNvPr id="7" name="Text Box 27">
              <a:extLst>
                <a:ext uri="{FF2B5EF4-FFF2-40B4-BE49-F238E27FC236}">
                  <a16:creationId xmlns:a16="http://schemas.microsoft.com/office/drawing/2014/main" id="{6692126C-BF68-F4B6-87E5-2DC354FFE5DB}"/>
                </a:ext>
              </a:extLst>
            </p:cNvPr>
            <p:cNvSpPr txBox="1">
              <a:spLocks noChangeArrowheads="1"/>
            </p:cNvSpPr>
            <p:nvPr/>
          </p:nvSpPr>
          <p:spPr bwMode="auto">
            <a:xfrm>
              <a:off x="1344" y="14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W</a:t>
              </a:r>
            </a:p>
          </p:txBody>
        </p:sp>
        <p:sp>
          <p:nvSpPr>
            <p:cNvPr id="8" name="Text Box 28">
              <a:extLst>
                <a:ext uri="{FF2B5EF4-FFF2-40B4-BE49-F238E27FC236}">
                  <a16:creationId xmlns:a16="http://schemas.microsoft.com/office/drawing/2014/main" id="{A68E0E96-E21E-5FB8-8FEB-28D774F4CB5F}"/>
                </a:ext>
              </a:extLst>
            </p:cNvPr>
            <p:cNvSpPr txBox="1">
              <a:spLocks noChangeArrowheads="1"/>
            </p:cNvSpPr>
            <p:nvPr/>
          </p:nvSpPr>
          <p:spPr bwMode="auto">
            <a:xfrm>
              <a:off x="1344" y="254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W</a:t>
              </a:r>
            </a:p>
          </p:txBody>
        </p:sp>
        <p:sp>
          <p:nvSpPr>
            <p:cNvPr id="9" name="Text Box 29">
              <a:extLst>
                <a:ext uri="{FF2B5EF4-FFF2-40B4-BE49-F238E27FC236}">
                  <a16:creationId xmlns:a16="http://schemas.microsoft.com/office/drawing/2014/main" id="{B786497E-6858-A2FD-FF50-DFD5D59D9BDB}"/>
                </a:ext>
              </a:extLst>
            </p:cNvPr>
            <p:cNvSpPr txBox="1">
              <a:spLocks noChangeArrowheads="1"/>
            </p:cNvSpPr>
            <p:nvPr/>
          </p:nvSpPr>
          <p:spPr bwMode="auto">
            <a:xfrm>
              <a:off x="1344" y="292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W</a:t>
              </a:r>
            </a:p>
          </p:txBody>
        </p:sp>
        <p:sp>
          <p:nvSpPr>
            <p:cNvPr id="10" name="Text Box 32">
              <a:extLst>
                <a:ext uri="{FF2B5EF4-FFF2-40B4-BE49-F238E27FC236}">
                  <a16:creationId xmlns:a16="http://schemas.microsoft.com/office/drawing/2014/main" id="{3B36018D-9D10-ADFD-BA38-8413F41EF9F9}"/>
                </a:ext>
              </a:extLst>
            </p:cNvPr>
            <p:cNvSpPr txBox="1">
              <a:spLocks noChangeArrowheads="1"/>
            </p:cNvSpPr>
            <p:nvPr/>
          </p:nvSpPr>
          <p:spPr bwMode="auto">
            <a:xfrm>
              <a:off x="4560" y="1920"/>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Outputs</a:t>
              </a:r>
            </a:p>
          </p:txBody>
        </p:sp>
        <p:sp>
          <p:nvSpPr>
            <p:cNvPr id="11" name="Text Box 34">
              <a:extLst>
                <a:ext uri="{FF2B5EF4-FFF2-40B4-BE49-F238E27FC236}">
                  <a16:creationId xmlns:a16="http://schemas.microsoft.com/office/drawing/2014/main" id="{3619E4B3-62C9-7D61-1E7A-9D68D55D8E15}"/>
                </a:ext>
              </a:extLst>
            </p:cNvPr>
            <p:cNvSpPr txBox="1">
              <a:spLocks noChangeArrowheads="1"/>
            </p:cNvSpPr>
            <p:nvPr/>
          </p:nvSpPr>
          <p:spPr bwMode="auto">
            <a:xfrm>
              <a:off x="3072" y="2544"/>
              <a:ext cx="1104"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Activation </a:t>
              </a:r>
            </a:p>
            <a:p>
              <a:pPr>
                <a:spcBef>
                  <a:spcPct val="50000"/>
                </a:spcBef>
              </a:pPr>
              <a:r>
                <a:rPr lang="en-US" altLang="en-US" sz="2400"/>
                <a:t>Function</a:t>
              </a:r>
            </a:p>
          </p:txBody>
        </p:sp>
        <p:sp>
          <p:nvSpPr>
            <p:cNvPr id="12" name="Text Box 35">
              <a:extLst>
                <a:ext uri="{FF2B5EF4-FFF2-40B4-BE49-F238E27FC236}">
                  <a16:creationId xmlns:a16="http://schemas.microsoft.com/office/drawing/2014/main" id="{39E193A5-CC8C-6CA9-F3E2-AD361A0B7291}"/>
                </a:ext>
              </a:extLst>
            </p:cNvPr>
            <p:cNvSpPr txBox="1">
              <a:spLocks noChangeArrowheads="1"/>
            </p:cNvSpPr>
            <p:nvPr/>
          </p:nvSpPr>
          <p:spPr bwMode="auto">
            <a:xfrm>
              <a:off x="336" y="1488"/>
              <a:ext cx="192" cy="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1"/>
                <a:t>INPUTS</a:t>
              </a:r>
            </a:p>
          </p:txBody>
        </p:sp>
        <p:sp>
          <p:nvSpPr>
            <p:cNvPr id="13" name="Text Box 36">
              <a:extLst>
                <a:ext uri="{FF2B5EF4-FFF2-40B4-BE49-F238E27FC236}">
                  <a16:creationId xmlns:a16="http://schemas.microsoft.com/office/drawing/2014/main" id="{95494625-5C1B-3A09-FC6E-B7565FD4D62C}"/>
                </a:ext>
              </a:extLst>
            </p:cNvPr>
            <p:cNvSpPr txBox="1">
              <a:spLocks noChangeArrowheads="1"/>
            </p:cNvSpPr>
            <p:nvPr/>
          </p:nvSpPr>
          <p:spPr bwMode="auto">
            <a:xfrm>
              <a:off x="518" y="3577"/>
              <a:ext cx="9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W</a:t>
              </a:r>
              <a:r>
                <a:rPr lang="en-US" altLang="en-US" sz="2000" b="1"/>
                <a:t>=Weight</a:t>
              </a:r>
            </a:p>
          </p:txBody>
        </p:sp>
        <p:sp>
          <p:nvSpPr>
            <p:cNvPr id="14" name="Oval 37">
              <a:extLst>
                <a:ext uri="{FF2B5EF4-FFF2-40B4-BE49-F238E27FC236}">
                  <a16:creationId xmlns:a16="http://schemas.microsoft.com/office/drawing/2014/main" id="{62F04744-C86B-1402-83EB-C853DEBAEEB0}"/>
                </a:ext>
              </a:extLst>
            </p:cNvPr>
            <p:cNvSpPr>
              <a:spLocks noChangeArrowheads="1"/>
            </p:cNvSpPr>
            <p:nvPr/>
          </p:nvSpPr>
          <p:spPr bwMode="auto">
            <a:xfrm>
              <a:off x="1776" y="960"/>
              <a:ext cx="2640" cy="244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Text Box 38">
              <a:extLst>
                <a:ext uri="{FF2B5EF4-FFF2-40B4-BE49-F238E27FC236}">
                  <a16:creationId xmlns:a16="http://schemas.microsoft.com/office/drawing/2014/main" id="{34F88F23-20C0-8D29-9EAF-4C86624A62CE}"/>
                </a:ext>
              </a:extLst>
            </p:cNvPr>
            <p:cNvSpPr txBox="1">
              <a:spLocks noChangeArrowheads="1"/>
            </p:cNvSpPr>
            <p:nvPr/>
          </p:nvSpPr>
          <p:spPr bwMode="auto">
            <a:xfrm>
              <a:off x="2880" y="1232"/>
              <a:ext cx="67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t>Neuron</a:t>
              </a:r>
            </a:p>
          </p:txBody>
        </p:sp>
      </p:grpSp>
    </p:spTree>
    <p:extLst>
      <p:ext uri="{BB962C8B-B14F-4D97-AF65-F5344CB8AC3E}">
        <p14:creationId xmlns:p14="http://schemas.microsoft.com/office/powerpoint/2010/main" val="1955676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DC1BF-22C4-10D7-0542-8296FF664CA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1F42F851-87C9-E834-005E-73A704F8B9C4}"/>
              </a:ext>
            </a:extLst>
          </p:cNvPr>
          <p:cNvSpPr>
            <a:spLocks noGrp="1" noChangeArrowheads="1"/>
          </p:cNvSpPr>
          <p:nvPr>
            <p:ph type="title"/>
          </p:nvPr>
        </p:nvSpPr>
        <p:spPr>
          <a:xfrm>
            <a:off x="457200" y="274638"/>
            <a:ext cx="8229600" cy="1143000"/>
          </a:xfrm>
        </p:spPr>
        <p:txBody>
          <a:bodyPr/>
          <a:lstStyle/>
          <a:p>
            <a:r>
              <a:rPr lang="en-US" altLang="en-US"/>
              <a:t>Types of networks</a:t>
            </a:r>
          </a:p>
        </p:txBody>
      </p:sp>
      <p:grpSp>
        <p:nvGrpSpPr>
          <p:cNvPr id="3" name="Group 6">
            <a:extLst>
              <a:ext uri="{FF2B5EF4-FFF2-40B4-BE49-F238E27FC236}">
                <a16:creationId xmlns:a16="http://schemas.microsoft.com/office/drawing/2014/main" id="{BE1BF1C2-9B55-1A6C-A29F-EAF9FBE58E3F}"/>
              </a:ext>
            </a:extLst>
          </p:cNvPr>
          <p:cNvGrpSpPr>
            <a:grpSpLocks/>
          </p:cNvGrpSpPr>
          <p:nvPr/>
        </p:nvGrpSpPr>
        <p:grpSpPr bwMode="auto">
          <a:xfrm>
            <a:off x="381000" y="1371600"/>
            <a:ext cx="3200400" cy="2514600"/>
            <a:chOff x="1392" y="1344"/>
            <a:chExt cx="2208" cy="1920"/>
          </a:xfrm>
        </p:grpSpPr>
        <p:sp>
          <p:nvSpPr>
            <p:cNvPr id="4" name="Oval 7">
              <a:extLst>
                <a:ext uri="{FF2B5EF4-FFF2-40B4-BE49-F238E27FC236}">
                  <a16:creationId xmlns:a16="http://schemas.microsoft.com/office/drawing/2014/main" id="{9AF7989C-F4CF-FA42-9A09-CEF6F521F254}"/>
                </a:ext>
              </a:extLst>
            </p:cNvPr>
            <p:cNvSpPr>
              <a:spLocks noChangeArrowheads="1"/>
            </p:cNvSpPr>
            <p:nvPr/>
          </p:nvSpPr>
          <p:spPr bwMode="auto">
            <a:xfrm>
              <a:off x="2496" y="1344"/>
              <a:ext cx="336" cy="33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Oval 8">
              <a:extLst>
                <a:ext uri="{FF2B5EF4-FFF2-40B4-BE49-F238E27FC236}">
                  <a16:creationId xmlns:a16="http://schemas.microsoft.com/office/drawing/2014/main" id="{268EA81D-A9F7-64A6-A31B-59E431292A6F}"/>
                </a:ext>
              </a:extLst>
            </p:cNvPr>
            <p:cNvSpPr>
              <a:spLocks noChangeArrowheads="1"/>
            </p:cNvSpPr>
            <p:nvPr/>
          </p:nvSpPr>
          <p:spPr bwMode="auto">
            <a:xfrm>
              <a:off x="2496" y="2928"/>
              <a:ext cx="336" cy="336"/>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9">
              <a:extLst>
                <a:ext uri="{FF2B5EF4-FFF2-40B4-BE49-F238E27FC236}">
                  <a16:creationId xmlns:a16="http://schemas.microsoft.com/office/drawing/2014/main" id="{D71CF741-FFC6-3A3F-5BD4-56FB4C1CC837}"/>
                </a:ext>
              </a:extLst>
            </p:cNvPr>
            <p:cNvSpPr>
              <a:spLocks noChangeArrowheads="1"/>
            </p:cNvSpPr>
            <p:nvPr/>
          </p:nvSpPr>
          <p:spPr bwMode="auto">
            <a:xfrm>
              <a:off x="2496" y="2400"/>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10">
              <a:extLst>
                <a:ext uri="{FF2B5EF4-FFF2-40B4-BE49-F238E27FC236}">
                  <a16:creationId xmlns:a16="http://schemas.microsoft.com/office/drawing/2014/main" id="{B6CF0851-1F9B-2BD5-CA52-47675FC6BD28}"/>
                </a:ext>
              </a:extLst>
            </p:cNvPr>
            <p:cNvSpPr>
              <a:spLocks noChangeArrowheads="1"/>
            </p:cNvSpPr>
            <p:nvPr/>
          </p:nvSpPr>
          <p:spPr bwMode="auto">
            <a:xfrm>
              <a:off x="2496" y="1872"/>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11">
              <a:extLst>
                <a:ext uri="{FF2B5EF4-FFF2-40B4-BE49-F238E27FC236}">
                  <a16:creationId xmlns:a16="http://schemas.microsoft.com/office/drawing/2014/main" id="{E695211F-9894-8E9C-5C6D-12CCB1DB63AF}"/>
                </a:ext>
              </a:extLst>
            </p:cNvPr>
            <p:cNvSpPr>
              <a:spLocks noChangeArrowheads="1"/>
            </p:cNvSpPr>
            <p:nvPr/>
          </p:nvSpPr>
          <p:spPr bwMode="auto">
            <a:xfrm>
              <a:off x="1392" y="148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2">
              <a:extLst>
                <a:ext uri="{FF2B5EF4-FFF2-40B4-BE49-F238E27FC236}">
                  <a16:creationId xmlns:a16="http://schemas.microsoft.com/office/drawing/2014/main" id="{2FC87166-B392-893A-D218-3ED524B84E09}"/>
                </a:ext>
              </a:extLst>
            </p:cNvPr>
            <p:cNvSpPr>
              <a:spLocks noChangeArrowheads="1"/>
            </p:cNvSpPr>
            <p:nvPr/>
          </p:nvSpPr>
          <p:spPr bwMode="auto">
            <a:xfrm>
              <a:off x="1392" y="19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Oval 13">
              <a:extLst>
                <a:ext uri="{FF2B5EF4-FFF2-40B4-BE49-F238E27FC236}">
                  <a16:creationId xmlns:a16="http://schemas.microsoft.com/office/drawing/2014/main" id="{85EAABFE-C707-B043-B466-1C4CD2AEAAB6}"/>
                </a:ext>
              </a:extLst>
            </p:cNvPr>
            <p:cNvSpPr>
              <a:spLocks noChangeArrowheads="1"/>
            </p:cNvSpPr>
            <p:nvPr/>
          </p:nvSpPr>
          <p:spPr bwMode="auto">
            <a:xfrm>
              <a:off x="1392" y="24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14">
              <a:extLst>
                <a:ext uri="{FF2B5EF4-FFF2-40B4-BE49-F238E27FC236}">
                  <a16:creationId xmlns:a16="http://schemas.microsoft.com/office/drawing/2014/main" id="{1E3CF5AF-F5D3-B78A-3DA7-FC3B2FA7C121}"/>
                </a:ext>
              </a:extLst>
            </p:cNvPr>
            <p:cNvSpPr>
              <a:spLocks noChangeArrowheads="1"/>
            </p:cNvSpPr>
            <p:nvPr/>
          </p:nvSpPr>
          <p:spPr bwMode="auto">
            <a:xfrm>
              <a:off x="1392" y="302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15">
              <a:extLst>
                <a:ext uri="{FF2B5EF4-FFF2-40B4-BE49-F238E27FC236}">
                  <a16:creationId xmlns:a16="http://schemas.microsoft.com/office/drawing/2014/main" id="{D8D61162-8DCD-B799-1DEE-BD4572425ADF}"/>
                </a:ext>
              </a:extLst>
            </p:cNvPr>
            <p:cNvSpPr>
              <a:spLocks noChangeShapeType="1"/>
            </p:cNvSpPr>
            <p:nvPr/>
          </p:nvSpPr>
          <p:spPr bwMode="auto">
            <a:xfrm>
              <a:off x="1488" y="153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6">
              <a:extLst>
                <a:ext uri="{FF2B5EF4-FFF2-40B4-BE49-F238E27FC236}">
                  <a16:creationId xmlns:a16="http://schemas.microsoft.com/office/drawing/2014/main" id="{7AB93379-3816-3AE4-C37A-1614C4AB6106}"/>
                </a:ext>
              </a:extLst>
            </p:cNvPr>
            <p:cNvSpPr>
              <a:spLocks noChangeShapeType="1"/>
            </p:cNvSpPr>
            <p:nvPr/>
          </p:nvSpPr>
          <p:spPr bwMode="auto">
            <a:xfrm>
              <a:off x="1488" y="1536"/>
              <a:ext cx="100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7">
              <a:extLst>
                <a:ext uri="{FF2B5EF4-FFF2-40B4-BE49-F238E27FC236}">
                  <a16:creationId xmlns:a16="http://schemas.microsoft.com/office/drawing/2014/main" id="{839950D4-D064-7580-F32D-088DC7037D26}"/>
                </a:ext>
              </a:extLst>
            </p:cNvPr>
            <p:cNvSpPr>
              <a:spLocks noChangeShapeType="1"/>
            </p:cNvSpPr>
            <p:nvPr/>
          </p:nvSpPr>
          <p:spPr bwMode="auto">
            <a:xfrm>
              <a:off x="1488" y="1536"/>
              <a:ext cx="1008" cy="105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8">
              <a:extLst>
                <a:ext uri="{FF2B5EF4-FFF2-40B4-BE49-F238E27FC236}">
                  <a16:creationId xmlns:a16="http://schemas.microsoft.com/office/drawing/2014/main" id="{6D27AA86-68E0-6E0B-12E6-8B0CB25AA9A3}"/>
                </a:ext>
              </a:extLst>
            </p:cNvPr>
            <p:cNvSpPr>
              <a:spLocks noChangeShapeType="1"/>
            </p:cNvSpPr>
            <p:nvPr/>
          </p:nvSpPr>
          <p:spPr bwMode="auto">
            <a:xfrm>
              <a:off x="1488" y="1536"/>
              <a:ext cx="1008" cy="15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9">
              <a:extLst>
                <a:ext uri="{FF2B5EF4-FFF2-40B4-BE49-F238E27FC236}">
                  <a16:creationId xmlns:a16="http://schemas.microsoft.com/office/drawing/2014/main" id="{DC2F0A67-86C3-AE4D-AAA5-D415BABF6892}"/>
                </a:ext>
              </a:extLst>
            </p:cNvPr>
            <p:cNvSpPr>
              <a:spLocks noChangeShapeType="1"/>
            </p:cNvSpPr>
            <p:nvPr/>
          </p:nvSpPr>
          <p:spPr bwMode="auto">
            <a:xfrm flipV="1">
              <a:off x="1488" y="1536"/>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20">
              <a:extLst>
                <a:ext uri="{FF2B5EF4-FFF2-40B4-BE49-F238E27FC236}">
                  <a16:creationId xmlns:a16="http://schemas.microsoft.com/office/drawing/2014/main" id="{CDA8D822-12CB-9181-2282-D0F031449A08}"/>
                </a:ext>
              </a:extLst>
            </p:cNvPr>
            <p:cNvSpPr>
              <a:spLocks noChangeShapeType="1"/>
            </p:cNvSpPr>
            <p:nvPr/>
          </p:nvSpPr>
          <p:spPr bwMode="auto">
            <a:xfrm>
              <a:off x="1488" y="201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21">
              <a:extLst>
                <a:ext uri="{FF2B5EF4-FFF2-40B4-BE49-F238E27FC236}">
                  <a16:creationId xmlns:a16="http://schemas.microsoft.com/office/drawing/2014/main" id="{5BCF74FB-8593-B4EC-4C2D-9D4D9C1081FB}"/>
                </a:ext>
              </a:extLst>
            </p:cNvPr>
            <p:cNvSpPr>
              <a:spLocks noChangeShapeType="1"/>
            </p:cNvSpPr>
            <p:nvPr/>
          </p:nvSpPr>
          <p:spPr bwMode="auto">
            <a:xfrm>
              <a:off x="1488" y="2016"/>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22">
              <a:extLst>
                <a:ext uri="{FF2B5EF4-FFF2-40B4-BE49-F238E27FC236}">
                  <a16:creationId xmlns:a16="http://schemas.microsoft.com/office/drawing/2014/main" id="{1E00E2E3-E623-C575-9B43-F453E1C0CC22}"/>
                </a:ext>
              </a:extLst>
            </p:cNvPr>
            <p:cNvSpPr>
              <a:spLocks noChangeShapeType="1"/>
            </p:cNvSpPr>
            <p:nvPr/>
          </p:nvSpPr>
          <p:spPr bwMode="auto">
            <a:xfrm>
              <a:off x="1488" y="2016"/>
              <a:ext cx="1008" cy="110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3">
              <a:extLst>
                <a:ext uri="{FF2B5EF4-FFF2-40B4-BE49-F238E27FC236}">
                  <a16:creationId xmlns:a16="http://schemas.microsoft.com/office/drawing/2014/main" id="{09D3E79C-922C-0A17-9F76-2FFE6B063F22}"/>
                </a:ext>
              </a:extLst>
            </p:cNvPr>
            <p:cNvSpPr>
              <a:spLocks noChangeShapeType="1"/>
            </p:cNvSpPr>
            <p:nvPr/>
          </p:nvSpPr>
          <p:spPr bwMode="auto">
            <a:xfrm flipV="1">
              <a:off x="1488" y="1536"/>
              <a:ext cx="1008" cy="10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4">
              <a:extLst>
                <a:ext uri="{FF2B5EF4-FFF2-40B4-BE49-F238E27FC236}">
                  <a16:creationId xmlns:a16="http://schemas.microsoft.com/office/drawing/2014/main" id="{AA05BD34-07E7-C34A-1E03-FAF0F7F0FDA4}"/>
                </a:ext>
              </a:extLst>
            </p:cNvPr>
            <p:cNvSpPr>
              <a:spLocks noChangeShapeType="1"/>
            </p:cNvSpPr>
            <p:nvPr/>
          </p:nvSpPr>
          <p:spPr bwMode="auto">
            <a:xfrm flipV="1">
              <a:off x="1488" y="2064"/>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25">
              <a:extLst>
                <a:ext uri="{FF2B5EF4-FFF2-40B4-BE49-F238E27FC236}">
                  <a16:creationId xmlns:a16="http://schemas.microsoft.com/office/drawing/2014/main" id="{E5179E94-B77F-1424-5DFC-84BCFF5EB9C4}"/>
                </a:ext>
              </a:extLst>
            </p:cNvPr>
            <p:cNvSpPr>
              <a:spLocks noChangeShapeType="1"/>
            </p:cNvSpPr>
            <p:nvPr/>
          </p:nvSpPr>
          <p:spPr bwMode="auto">
            <a:xfrm>
              <a:off x="1488" y="2544"/>
              <a:ext cx="105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26">
              <a:extLst>
                <a:ext uri="{FF2B5EF4-FFF2-40B4-BE49-F238E27FC236}">
                  <a16:creationId xmlns:a16="http://schemas.microsoft.com/office/drawing/2014/main" id="{FC680ED9-309F-CEB0-3884-C98EC4485C4E}"/>
                </a:ext>
              </a:extLst>
            </p:cNvPr>
            <p:cNvSpPr>
              <a:spLocks noChangeShapeType="1"/>
            </p:cNvSpPr>
            <p:nvPr/>
          </p:nvSpPr>
          <p:spPr bwMode="auto">
            <a:xfrm>
              <a:off x="1488" y="2544"/>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7">
              <a:extLst>
                <a:ext uri="{FF2B5EF4-FFF2-40B4-BE49-F238E27FC236}">
                  <a16:creationId xmlns:a16="http://schemas.microsoft.com/office/drawing/2014/main" id="{5C70EF6B-FA45-753E-0206-33D05669893B}"/>
                </a:ext>
              </a:extLst>
            </p:cNvPr>
            <p:cNvSpPr>
              <a:spLocks noChangeShapeType="1"/>
            </p:cNvSpPr>
            <p:nvPr/>
          </p:nvSpPr>
          <p:spPr bwMode="auto">
            <a:xfrm flipV="1">
              <a:off x="1488" y="1536"/>
              <a:ext cx="1008" cy="15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8">
              <a:extLst>
                <a:ext uri="{FF2B5EF4-FFF2-40B4-BE49-F238E27FC236}">
                  <a16:creationId xmlns:a16="http://schemas.microsoft.com/office/drawing/2014/main" id="{5D676F39-FE04-CB08-DAFE-86DC3DBE1583}"/>
                </a:ext>
              </a:extLst>
            </p:cNvPr>
            <p:cNvSpPr>
              <a:spLocks noChangeShapeType="1"/>
            </p:cNvSpPr>
            <p:nvPr/>
          </p:nvSpPr>
          <p:spPr bwMode="auto">
            <a:xfrm flipV="1">
              <a:off x="1488" y="2112"/>
              <a:ext cx="1008" cy="9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9">
              <a:extLst>
                <a:ext uri="{FF2B5EF4-FFF2-40B4-BE49-F238E27FC236}">
                  <a16:creationId xmlns:a16="http://schemas.microsoft.com/office/drawing/2014/main" id="{BB630336-FF70-2E71-2AEE-6539DB724DA1}"/>
                </a:ext>
              </a:extLst>
            </p:cNvPr>
            <p:cNvSpPr>
              <a:spLocks noChangeShapeType="1"/>
            </p:cNvSpPr>
            <p:nvPr/>
          </p:nvSpPr>
          <p:spPr bwMode="auto">
            <a:xfrm flipV="1">
              <a:off x="1488" y="2592"/>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30">
              <a:extLst>
                <a:ext uri="{FF2B5EF4-FFF2-40B4-BE49-F238E27FC236}">
                  <a16:creationId xmlns:a16="http://schemas.microsoft.com/office/drawing/2014/main" id="{CBCEC125-3404-3312-D58E-A130F495574E}"/>
                </a:ext>
              </a:extLst>
            </p:cNvPr>
            <p:cNvSpPr>
              <a:spLocks noChangeShapeType="1"/>
            </p:cNvSpPr>
            <p:nvPr/>
          </p:nvSpPr>
          <p:spPr bwMode="auto">
            <a:xfrm>
              <a:off x="1488" y="3072"/>
              <a:ext cx="1008"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31">
              <a:extLst>
                <a:ext uri="{FF2B5EF4-FFF2-40B4-BE49-F238E27FC236}">
                  <a16:creationId xmlns:a16="http://schemas.microsoft.com/office/drawing/2014/main" id="{A6AA67BE-414E-341D-586B-D897DA4454D2}"/>
                </a:ext>
              </a:extLst>
            </p:cNvPr>
            <p:cNvSpPr>
              <a:spLocks noChangeShapeType="1"/>
            </p:cNvSpPr>
            <p:nvPr/>
          </p:nvSpPr>
          <p:spPr bwMode="auto">
            <a:xfrm>
              <a:off x="2832" y="1536"/>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32">
              <a:extLst>
                <a:ext uri="{FF2B5EF4-FFF2-40B4-BE49-F238E27FC236}">
                  <a16:creationId xmlns:a16="http://schemas.microsoft.com/office/drawing/2014/main" id="{CF7A5E54-23B9-2137-6FCB-0F9D7C1C5FCA}"/>
                </a:ext>
              </a:extLst>
            </p:cNvPr>
            <p:cNvSpPr>
              <a:spLocks noChangeShapeType="1"/>
            </p:cNvSpPr>
            <p:nvPr/>
          </p:nvSpPr>
          <p:spPr bwMode="auto">
            <a:xfrm>
              <a:off x="2832" y="2064"/>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33">
              <a:extLst>
                <a:ext uri="{FF2B5EF4-FFF2-40B4-BE49-F238E27FC236}">
                  <a16:creationId xmlns:a16="http://schemas.microsoft.com/office/drawing/2014/main" id="{D72F2CCF-194C-404C-F0E5-DDF0D7A3584D}"/>
                </a:ext>
              </a:extLst>
            </p:cNvPr>
            <p:cNvSpPr>
              <a:spLocks noChangeShapeType="1"/>
            </p:cNvSpPr>
            <p:nvPr/>
          </p:nvSpPr>
          <p:spPr bwMode="auto">
            <a:xfrm>
              <a:off x="2832" y="2592"/>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34">
              <a:extLst>
                <a:ext uri="{FF2B5EF4-FFF2-40B4-BE49-F238E27FC236}">
                  <a16:creationId xmlns:a16="http://schemas.microsoft.com/office/drawing/2014/main" id="{D742DE48-948A-BFE4-FA54-B3118304E1C6}"/>
                </a:ext>
              </a:extLst>
            </p:cNvPr>
            <p:cNvSpPr>
              <a:spLocks noChangeShapeType="1"/>
            </p:cNvSpPr>
            <p:nvPr/>
          </p:nvSpPr>
          <p:spPr bwMode="auto">
            <a:xfrm>
              <a:off x="2832" y="3120"/>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2" name="Group 35">
            <a:extLst>
              <a:ext uri="{FF2B5EF4-FFF2-40B4-BE49-F238E27FC236}">
                <a16:creationId xmlns:a16="http://schemas.microsoft.com/office/drawing/2014/main" id="{70ED7CBC-38FE-1E32-6571-1603CC748723}"/>
              </a:ext>
            </a:extLst>
          </p:cNvPr>
          <p:cNvGrpSpPr>
            <a:grpSpLocks/>
          </p:cNvGrpSpPr>
          <p:nvPr/>
        </p:nvGrpSpPr>
        <p:grpSpPr bwMode="auto">
          <a:xfrm>
            <a:off x="4648200" y="1600200"/>
            <a:ext cx="3733800" cy="2209800"/>
            <a:chOff x="1392" y="1344"/>
            <a:chExt cx="3072" cy="1920"/>
          </a:xfrm>
        </p:grpSpPr>
        <p:sp>
          <p:nvSpPr>
            <p:cNvPr id="33" name="Oval 36">
              <a:extLst>
                <a:ext uri="{FF2B5EF4-FFF2-40B4-BE49-F238E27FC236}">
                  <a16:creationId xmlns:a16="http://schemas.microsoft.com/office/drawing/2014/main" id="{4DCFB26C-215D-337D-AAA0-4EF0407243DB}"/>
                </a:ext>
              </a:extLst>
            </p:cNvPr>
            <p:cNvSpPr>
              <a:spLocks noChangeArrowheads="1"/>
            </p:cNvSpPr>
            <p:nvPr/>
          </p:nvSpPr>
          <p:spPr bwMode="auto">
            <a:xfrm>
              <a:off x="2496" y="1344"/>
              <a:ext cx="336" cy="33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Oval 37">
              <a:extLst>
                <a:ext uri="{FF2B5EF4-FFF2-40B4-BE49-F238E27FC236}">
                  <a16:creationId xmlns:a16="http://schemas.microsoft.com/office/drawing/2014/main" id="{E71AEEB6-D4CF-8B6C-E7DC-5B0526561CB6}"/>
                </a:ext>
              </a:extLst>
            </p:cNvPr>
            <p:cNvSpPr>
              <a:spLocks noChangeArrowheads="1"/>
            </p:cNvSpPr>
            <p:nvPr/>
          </p:nvSpPr>
          <p:spPr bwMode="auto">
            <a:xfrm>
              <a:off x="2496" y="2928"/>
              <a:ext cx="336" cy="336"/>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Oval 38">
              <a:extLst>
                <a:ext uri="{FF2B5EF4-FFF2-40B4-BE49-F238E27FC236}">
                  <a16:creationId xmlns:a16="http://schemas.microsoft.com/office/drawing/2014/main" id="{4EF39B77-7213-5294-6578-03D1C2150EB6}"/>
                </a:ext>
              </a:extLst>
            </p:cNvPr>
            <p:cNvSpPr>
              <a:spLocks noChangeArrowheads="1"/>
            </p:cNvSpPr>
            <p:nvPr/>
          </p:nvSpPr>
          <p:spPr bwMode="auto">
            <a:xfrm>
              <a:off x="2496" y="2400"/>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Oval 39">
              <a:extLst>
                <a:ext uri="{FF2B5EF4-FFF2-40B4-BE49-F238E27FC236}">
                  <a16:creationId xmlns:a16="http://schemas.microsoft.com/office/drawing/2014/main" id="{8D2420FF-C2A2-48A4-962A-A635CFE34BFE}"/>
                </a:ext>
              </a:extLst>
            </p:cNvPr>
            <p:cNvSpPr>
              <a:spLocks noChangeArrowheads="1"/>
            </p:cNvSpPr>
            <p:nvPr/>
          </p:nvSpPr>
          <p:spPr bwMode="auto">
            <a:xfrm>
              <a:off x="2496" y="1872"/>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Oval 40">
              <a:extLst>
                <a:ext uri="{FF2B5EF4-FFF2-40B4-BE49-F238E27FC236}">
                  <a16:creationId xmlns:a16="http://schemas.microsoft.com/office/drawing/2014/main" id="{84A825AC-270F-D911-0603-9C5115F095DD}"/>
                </a:ext>
              </a:extLst>
            </p:cNvPr>
            <p:cNvSpPr>
              <a:spLocks noChangeArrowheads="1"/>
            </p:cNvSpPr>
            <p:nvPr/>
          </p:nvSpPr>
          <p:spPr bwMode="auto">
            <a:xfrm>
              <a:off x="1392" y="148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Oval 41">
              <a:extLst>
                <a:ext uri="{FF2B5EF4-FFF2-40B4-BE49-F238E27FC236}">
                  <a16:creationId xmlns:a16="http://schemas.microsoft.com/office/drawing/2014/main" id="{35C18E70-CB2C-7565-4F02-3996D8259981}"/>
                </a:ext>
              </a:extLst>
            </p:cNvPr>
            <p:cNvSpPr>
              <a:spLocks noChangeArrowheads="1"/>
            </p:cNvSpPr>
            <p:nvPr/>
          </p:nvSpPr>
          <p:spPr bwMode="auto">
            <a:xfrm>
              <a:off x="1392" y="19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Oval 42">
              <a:extLst>
                <a:ext uri="{FF2B5EF4-FFF2-40B4-BE49-F238E27FC236}">
                  <a16:creationId xmlns:a16="http://schemas.microsoft.com/office/drawing/2014/main" id="{30589494-7D86-81BC-7503-98134B463359}"/>
                </a:ext>
              </a:extLst>
            </p:cNvPr>
            <p:cNvSpPr>
              <a:spLocks noChangeArrowheads="1"/>
            </p:cNvSpPr>
            <p:nvPr/>
          </p:nvSpPr>
          <p:spPr bwMode="auto">
            <a:xfrm>
              <a:off x="1392" y="24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Oval 43">
              <a:extLst>
                <a:ext uri="{FF2B5EF4-FFF2-40B4-BE49-F238E27FC236}">
                  <a16:creationId xmlns:a16="http://schemas.microsoft.com/office/drawing/2014/main" id="{37983EED-0688-4E77-9B75-462335CEB48F}"/>
                </a:ext>
              </a:extLst>
            </p:cNvPr>
            <p:cNvSpPr>
              <a:spLocks noChangeArrowheads="1"/>
            </p:cNvSpPr>
            <p:nvPr/>
          </p:nvSpPr>
          <p:spPr bwMode="auto">
            <a:xfrm>
              <a:off x="1392" y="302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Line 44">
              <a:extLst>
                <a:ext uri="{FF2B5EF4-FFF2-40B4-BE49-F238E27FC236}">
                  <a16:creationId xmlns:a16="http://schemas.microsoft.com/office/drawing/2014/main" id="{6FEF812A-86F2-A4D3-C93A-64768CC04846}"/>
                </a:ext>
              </a:extLst>
            </p:cNvPr>
            <p:cNvSpPr>
              <a:spLocks noChangeShapeType="1"/>
            </p:cNvSpPr>
            <p:nvPr/>
          </p:nvSpPr>
          <p:spPr bwMode="auto">
            <a:xfrm>
              <a:off x="1488" y="153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45">
              <a:extLst>
                <a:ext uri="{FF2B5EF4-FFF2-40B4-BE49-F238E27FC236}">
                  <a16:creationId xmlns:a16="http://schemas.microsoft.com/office/drawing/2014/main" id="{83DC63EF-3647-BE4D-08D3-3F05CCF11E5F}"/>
                </a:ext>
              </a:extLst>
            </p:cNvPr>
            <p:cNvSpPr>
              <a:spLocks noChangeShapeType="1"/>
            </p:cNvSpPr>
            <p:nvPr/>
          </p:nvSpPr>
          <p:spPr bwMode="auto">
            <a:xfrm>
              <a:off x="1488" y="1536"/>
              <a:ext cx="100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46">
              <a:extLst>
                <a:ext uri="{FF2B5EF4-FFF2-40B4-BE49-F238E27FC236}">
                  <a16:creationId xmlns:a16="http://schemas.microsoft.com/office/drawing/2014/main" id="{655C47A7-7E48-F734-8C09-1DE9515096C3}"/>
                </a:ext>
              </a:extLst>
            </p:cNvPr>
            <p:cNvSpPr>
              <a:spLocks noChangeShapeType="1"/>
            </p:cNvSpPr>
            <p:nvPr/>
          </p:nvSpPr>
          <p:spPr bwMode="auto">
            <a:xfrm>
              <a:off x="1488" y="1536"/>
              <a:ext cx="1008" cy="105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47">
              <a:extLst>
                <a:ext uri="{FF2B5EF4-FFF2-40B4-BE49-F238E27FC236}">
                  <a16:creationId xmlns:a16="http://schemas.microsoft.com/office/drawing/2014/main" id="{0CB66967-9E01-AF0B-A592-4329977CA58D}"/>
                </a:ext>
              </a:extLst>
            </p:cNvPr>
            <p:cNvSpPr>
              <a:spLocks noChangeShapeType="1"/>
            </p:cNvSpPr>
            <p:nvPr/>
          </p:nvSpPr>
          <p:spPr bwMode="auto">
            <a:xfrm>
              <a:off x="1488" y="1536"/>
              <a:ext cx="1008" cy="15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48">
              <a:extLst>
                <a:ext uri="{FF2B5EF4-FFF2-40B4-BE49-F238E27FC236}">
                  <a16:creationId xmlns:a16="http://schemas.microsoft.com/office/drawing/2014/main" id="{AE51B5B8-DA0C-B73C-CC28-9A7C160520BB}"/>
                </a:ext>
              </a:extLst>
            </p:cNvPr>
            <p:cNvSpPr>
              <a:spLocks noChangeShapeType="1"/>
            </p:cNvSpPr>
            <p:nvPr/>
          </p:nvSpPr>
          <p:spPr bwMode="auto">
            <a:xfrm flipV="1">
              <a:off x="1488" y="1536"/>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9">
              <a:extLst>
                <a:ext uri="{FF2B5EF4-FFF2-40B4-BE49-F238E27FC236}">
                  <a16:creationId xmlns:a16="http://schemas.microsoft.com/office/drawing/2014/main" id="{6363E6A7-3ABD-3324-6044-2D664A3EEA39}"/>
                </a:ext>
              </a:extLst>
            </p:cNvPr>
            <p:cNvSpPr>
              <a:spLocks noChangeShapeType="1"/>
            </p:cNvSpPr>
            <p:nvPr/>
          </p:nvSpPr>
          <p:spPr bwMode="auto">
            <a:xfrm>
              <a:off x="1488" y="201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50">
              <a:extLst>
                <a:ext uri="{FF2B5EF4-FFF2-40B4-BE49-F238E27FC236}">
                  <a16:creationId xmlns:a16="http://schemas.microsoft.com/office/drawing/2014/main" id="{7E300F0A-712F-7096-3A55-FD9D6BB44F05}"/>
                </a:ext>
              </a:extLst>
            </p:cNvPr>
            <p:cNvSpPr>
              <a:spLocks noChangeShapeType="1"/>
            </p:cNvSpPr>
            <p:nvPr/>
          </p:nvSpPr>
          <p:spPr bwMode="auto">
            <a:xfrm>
              <a:off x="1488" y="2016"/>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51">
              <a:extLst>
                <a:ext uri="{FF2B5EF4-FFF2-40B4-BE49-F238E27FC236}">
                  <a16:creationId xmlns:a16="http://schemas.microsoft.com/office/drawing/2014/main" id="{C3C9AE8A-A311-DE4C-6790-4C9DEF51C55D}"/>
                </a:ext>
              </a:extLst>
            </p:cNvPr>
            <p:cNvSpPr>
              <a:spLocks noChangeShapeType="1"/>
            </p:cNvSpPr>
            <p:nvPr/>
          </p:nvSpPr>
          <p:spPr bwMode="auto">
            <a:xfrm>
              <a:off x="1488" y="2016"/>
              <a:ext cx="1008" cy="110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52">
              <a:extLst>
                <a:ext uri="{FF2B5EF4-FFF2-40B4-BE49-F238E27FC236}">
                  <a16:creationId xmlns:a16="http://schemas.microsoft.com/office/drawing/2014/main" id="{DA6D4D01-3862-2A8C-41A8-38673A718BD0}"/>
                </a:ext>
              </a:extLst>
            </p:cNvPr>
            <p:cNvSpPr>
              <a:spLocks noChangeShapeType="1"/>
            </p:cNvSpPr>
            <p:nvPr/>
          </p:nvSpPr>
          <p:spPr bwMode="auto">
            <a:xfrm flipV="1">
              <a:off x="1488" y="1536"/>
              <a:ext cx="1008" cy="10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53">
              <a:extLst>
                <a:ext uri="{FF2B5EF4-FFF2-40B4-BE49-F238E27FC236}">
                  <a16:creationId xmlns:a16="http://schemas.microsoft.com/office/drawing/2014/main" id="{1C311795-75F5-EA90-2FDC-0D907D49B3A4}"/>
                </a:ext>
              </a:extLst>
            </p:cNvPr>
            <p:cNvSpPr>
              <a:spLocks noChangeShapeType="1"/>
            </p:cNvSpPr>
            <p:nvPr/>
          </p:nvSpPr>
          <p:spPr bwMode="auto">
            <a:xfrm flipV="1">
              <a:off x="1488" y="2064"/>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54">
              <a:extLst>
                <a:ext uri="{FF2B5EF4-FFF2-40B4-BE49-F238E27FC236}">
                  <a16:creationId xmlns:a16="http://schemas.microsoft.com/office/drawing/2014/main" id="{9350B3E7-A9E8-46FF-8404-7E3A5BBBFF07}"/>
                </a:ext>
              </a:extLst>
            </p:cNvPr>
            <p:cNvSpPr>
              <a:spLocks noChangeShapeType="1"/>
            </p:cNvSpPr>
            <p:nvPr/>
          </p:nvSpPr>
          <p:spPr bwMode="auto">
            <a:xfrm>
              <a:off x="1488" y="2544"/>
              <a:ext cx="105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Line 55">
              <a:extLst>
                <a:ext uri="{FF2B5EF4-FFF2-40B4-BE49-F238E27FC236}">
                  <a16:creationId xmlns:a16="http://schemas.microsoft.com/office/drawing/2014/main" id="{15BFC2D2-6A49-147D-7FEF-4A458057C77E}"/>
                </a:ext>
              </a:extLst>
            </p:cNvPr>
            <p:cNvSpPr>
              <a:spLocks noChangeShapeType="1"/>
            </p:cNvSpPr>
            <p:nvPr/>
          </p:nvSpPr>
          <p:spPr bwMode="auto">
            <a:xfrm>
              <a:off x="1488" y="2544"/>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Line 56">
              <a:extLst>
                <a:ext uri="{FF2B5EF4-FFF2-40B4-BE49-F238E27FC236}">
                  <a16:creationId xmlns:a16="http://schemas.microsoft.com/office/drawing/2014/main" id="{EF9FAB61-7866-25BB-D4A6-1784C5B7D217}"/>
                </a:ext>
              </a:extLst>
            </p:cNvPr>
            <p:cNvSpPr>
              <a:spLocks noChangeShapeType="1"/>
            </p:cNvSpPr>
            <p:nvPr/>
          </p:nvSpPr>
          <p:spPr bwMode="auto">
            <a:xfrm flipV="1">
              <a:off x="1488" y="1536"/>
              <a:ext cx="1008" cy="15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57">
              <a:extLst>
                <a:ext uri="{FF2B5EF4-FFF2-40B4-BE49-F238E27FC236}">
                  <a16:creationId xmlns:a16="http://schemas.microsoft.com/office/drawing/2014/main" id="{4D3C24F1-D004-A327-DF57-D69D543DD52C}"/>
                </a:ext>
              </a:extLst>
            </p:cNvPr>
            <p:cNvSpPr>
              <a:spLocks noChangeShapeType="1"/>
            </p:cNvSpPr>
            <p:nvPr/>
          </p:nvSpPr>
          <p:spPr bwMode="auto">
            <a:xfrm flipV="1">
              <a:off x="1488" y="2112"/>
              <a:ext cx="1008" cy="9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58">
              <a:extLst>
                <a:ext uri="{FF2B5EF4-FFF2-40B4-BE49-F238E27FC236}">
                  <a16:creationId xmlns:a16="http://schemas.microsoft.com/office/drawing/2014/main" id="{24B8E92D-1CCB-21FD-B8F8-AB92E3DA068C}"/>
                </a:ext>
              </a:extLst>
            </p:cNvPr>
            <p:cNvSpPr>
              <a:spLocks noChangeShapeType="1"/>
            </p:cNvSpPr>
            <p:nvPr/>
          </p:nvSpPr>
          <p:spPr bwMode="auto">
            <a:xfrm flipV="1">
              <a:off x="1488" y="2592"/>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59">
              <a:extLst>
                <a:ext uri="{FF2B5EF4-FFF2-40B4-BE49-F238E27FC236}">
                  <a16:creationId xmlns:a16="http://schemas.microsoft.com/office/drawing/2014/main" id="{BB33FD9E-63A2-A2BD-4222-5934CB83D55F}"/>
                </a:ext>
              </a:extLst>
            </p:cNvPr>
            <p:cNvSpPr>
              <a:spLocks noChangeShapeType="1"/>
            </p:cNvSpPr>
            <p:nvPr/>
          </p:nvSpPr>
          <p:spPr bwMode="auto">
            <a:xfrm>
              <a:off x="1488" y="3072"/>
              <a:ext cx="1008"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Oval 60">
              <a:extLst>
                <a:ext uri="{FF2B5EF4-FFF2-40B4-BE49-F238E27FC236}">
                  <a16:creationId xmlns:a16="http://schemas.microsoft.com/office/drawing/2014/main" id="{4E68B345-08CE-3E25-4A0A-465F09C91FBC}"/>
                </a:ext>
              </a:extLst>
            </p:cNvPr>
            <p:cNvSpPr>
              <a:spLocks noChangeArrowheads="1"/>
            </p:cNvSpPr>
            <p:nvPr/>
          </p:nvSpPr>
          <p:spPr bwMode="auto">
            <a:xfrm>
              <a:off x="3456" y="2688"/>
              <a:ext cx="336" cy="336"/>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Oval 61">
              <a:extLst>
                <a:ext uri="{FF2B5EF4-FFF2-40B4-BE49-F238E27FC236}">
                  <a16:creationId xmlns:a16="http://schemas.microsoft.com/office/drawing/2014/main" id="{C3D82D13-6C7F-7384-B1AD-40B446E79066}"/>
                </a:ext>
              </a:extLst>
            </p:cNvPr>
            <p:cNvSpPr>
              <a:spLocks noChangeArrowheads="1"/>
            </p:cNvSpPr>
            <p:nvPr/>
          </p:nvSpPr>
          <p:spPr bwMode="auto">
            <a:xfrm>
              <a:off x="3456" y="1680"/>
              <a:ext cx="336" cy="336"/>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Line 62">
              <a:extLst>
                <a:ext uri="{FF2B5EF4-FFF2-40B4-BE49-F238E27FC236}">
                  <a16:creationId xmlns:a16="http://schemas.microsoft.com/office/drawing/2014/main" id="{162D35B2-E7F0-27B2-8260-73853D953089}"/>
                </a:ext>
              </a:extLst>
            </p:cNvPr>
            <p:cNvSpPr>
              <a:spLocks noChangeShapeType="1"/>
            </p:cNvSpPr>
            <p:nvPr/>
          </p:nvSpPr>
          <p:spPr bwMode="auto">
            <a:xfrm>
              <a:off x="2832" y="1536"/>
              <a:ext cx="62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63">
              <a:extLst>
                <a:ext uri="{FF2B5EF4-FFF2-40B4-BE49-F238E27FC236}">
                  <a16:creationId xmlns:a16="http://schemas.microsoft.com/office/drawing/2014/main" id="{1907E0F4-AB6C-60FC-BC0B-E9B6EFDB4BC7}"/>
                </a:ext>
              </a:extLst>
            </p:cNvPr>
            <p:cNvSpPr>
              <a:spLocks noChangeShapeType="1"/>
            </p:cNvSpPr>
            <p:nvPr/>
          </p:nvSpPr>
          <p:spPr bwMode="auto">
            <a:xfrm>
              <a:off x="2832" y="1536"/>
              <a:ext cx="624" cy="13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64">
              <a:extLst>
                <a:ext uri="{FF2B5EF4-FFF2-40B4-BE49-F238E27FC236}">
                  <a16:creationId xmlns:a16="http://schemas.microsoft.com/office/drawing/2014/main" id="{E40FB4F3-2144-5ECE-BE1B-CE119114F1B3}"/>
                </a:ext>
              </a:extLst>
            </p:cNvPr>
            <p:cNvSpPr>
              <a:spLocks noChangeShapeType="1"/>
            </p:cNvSpPr>
            <p:nvPr/>
          </p:nvSpPr>
          <p:spPr bwMode="auto">
            <a:xfrm flipV="1">
              <a:off x="2832" y="1824"/>
              <a:ext cx="62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65">
              <a:extLst>
                <a:ext uri="{FF2B5EF4-FFF2-40B4-BE49-F238E27FC236}">
                  <a16:creationId xmlns:a16="http://schemas.microsoft.com/office/drawing/2014/main" id="{AC3A5AD6-9578-87D2-037A-0D1D9C7DA54C}"/>
                </a:ext>
              </a:extLst>
            </p:cNvPr>
            <p:cNvSpPr>
              <a:spLocks noChangeShapeType="1"/>
            </p:cNvSpPr>
            <p:nvPr/>
          </p:nvSpPr>
          <p:spPr bwMode="auto">
            <a:xfrm>
              <a:off x="2832" y="2064"/>
              <a:ext cx="624" cy="8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 name="Line 66">
              <a:extLst>
                <a:ext uri="{FF2B5EF4-FFF2-40B4-BE49-F238E27FC236}">
                  <a16:creationId xmlns:a16="http://schemas.microsoft.com/office/drawing/2014/main" id="{DF9C620A-07E3-DC36-BED3-3E33B56AE710}"/>
                </a:ext>
              </a:extLst>
            </p:cNvPr>
            <p:cNvSpPr>
              <a:spLocks noChangeShapeType="1"/>
            </p:cNvSpPr>
            <p:nvPr/>
          </p:nvSpPr>
          <p:spPr bwMode="auto">
            <a:xfrm flipV="1">
              <a:off x="2832" y="1824"/>
              <a:ext cx="624" cy="76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67">
              <a:extLst>
                <a:ext uri="{FF2B5EF4-FFF2-40B4-BE49-F238E27FC236}">
                  <a16:creationId xmlns:a16="http://schemas.microsoft.com/office/drawing/2014/main" id="{48C71149-592B-AAB1-DC0B-A410CC662E8A}"/>
                </a:ext>
              </a:extLst>
            </p:cNvPr>
            <p:cNvSpPr>
              <a:spLocks noChangeShapeType="1"/>
            </p:cNvSpPr>
            <p:nvPr/>
          </p:nvSpPr>
          <p:spPr bwMode="auto">
            <a:xfrm>
              <a:off x="2832" y="2592"/>
              <a:ext cx="62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68">
              <a:extLst>
                <a:ext uri="{FF2B5EF4-FFF2-40B4-BE49-F238E27FC236}">
                  <a16:creationId xmlns:a16="http://schemas.microsoft.com/office/drawing/2014/main" id="{9CBA392D-A2DC-637C-FBD0-AABF637A2E39}"/>
                </a:ext>
              </a:extLst>
            </p:cNvPr>
            <p:cNvSpPr>
              <a:spLocks noChangeShapeType="1"/>
            </p:cNvSpPr>
            <p:nvPr/>
          </p:nvSpPr>
          <p:spPr bwMode="auto">
            <a:xfrm flipV="1">
              <a:off x="2832" y="1872"/>
              <a:ext cx="624" cy="12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69">
              <a:extLst>
                <a:ext uri="{FF2B5EF4-FFF2-40B4-BE49-F238E27FC236}">
                  <a16:creationId xmlns:a16="http://schemas.microsoft.com/office/drawing/2014/main" id="{E4C11868-5402-AB9F-6467-E800A531F6D9}"/>
                </a:ext>
              </a:extLst>
            </p:cNvPr>
            <p:cNvSpPr>
              <a:spLocks noChangeShapeType="1"/>
            </p:cNvSpPr>
            <p:nvPr/>
          </p:nvSpPr>
          <p:spPr bwMode="auto">
            <a:xfrm flipV="1">
              <a:off x="2832" y="2880"/>
              <a:ext cx="62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Line 70">
              <a:extLst>
                <a:ext uri="{FF2B5EF4-FFF2-40B4-BE49-F238E27FC236}">
                  <a16:creationId xmlns:a16="http://schemas.microsoft.com/office/drawing/2014/main" id="{1F525962-C289-CE4F-E596-22DDB6C7DADD}"/>
                </a:ext>
              </a:extLst>
            </p:cNvPr>
            <p:cNvSpPr>
              <a:spLocks noChangeShapeType="1"/>
            </p:cNvSpPr>
            <p:nvPr/>
          </p:nvSpPr>
          <p:spPr bwMode="auto">
            <a:xfrm>
              <a:off x="3792" y="1872"/>
              <a:ext cx="6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Line 71">
              <a:extLst>
                <a:ext uri="{FF2B5EF4-FFF2-40B4-BE49-F238E27FC236}">
                  <a16:creationId xmlns:a16="http://schemas.microsoft.com/office/drawing/2014/main" id="{CB3EBCAE-9AB8-453D-6CF8-3A8A551AF271}"/>
                </a:ext>
              </a:extLst>
            </p:cNvPr>
            <p:cNvSpPr>
              <a:spLocks noChangeShapeType="1"/>
            </p:cNvSpPr>
            <p:nvPr/>
          </p:nvSpPr>
          <p:spPr bwMode="auto">
            <a:xfrm>
              <a:off x="3792" y="2880"/>
              <a:ext cx="6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9" name="Text Box 72">
            <a:extLst>
              <a:ext uri="{FF2B5EF4-FFF2-40B4-BE49-F238E27FC236}">
                <a16:creationId xmlns:a16="http://schemas.microsoft.com/office/drawing/2014/main" id="{BE5ACDB1-7C3A-00F6-F245-4DD669C986F5}"/>
              </a:ext>
            </a:extLst>
          </p:cNvPr>
          <p:cNvSpPr txBox="1">
            <a:spLocks noChangeArrowheads="1"/>
          </p:cNvSpPr>
          <p:nvPr/>
        </p:nvSpPr>
        <p:spPr bwMode="auto">
          <a:xfrm>
            <a:off x="457200" y="4343400"/>
            <a:ext cx="3200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400" b="1"/>
              <a:t>Multiple Inputs and Single Layer</a:t>
            </a:r>
          </a:p>
        </p:txBody>
      </p:sp>
      <p:sp>
        <p:nvSpPr>
          <p:cNvPr id="70" name="Text Box 73">
            <a:extLst>
              <a:ext uri="{FF2B5EF4-FFF2-40B4-BE49-F238E27FC236}">
                <a16:creationId xmlns:a16="http://schemas.microsoft.com/office/drawing/2014/main" id="{727641FE-748B-F020-F85C-166234D6E2B7}"/>
              </a:ext>
            </a:extLst>
          </p:cNvPr>
          <p:cNvSpPr txBox="1">
            <a:spLocks noChangeArrowheads="1"/>
          </p:cNvSpPr>
          <p:nvPr/>
        </p:nvSpPr>
        <p:spPr bwMode="auto">
          <a:xfrm>
            <a:off x="4572000" y="4419600"/>
            <a:ext cx="289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400" b="1"/>
              <a:t>Multiple Inputs and layers</a:t>
            </a:r>
          </a:p>
        </p:txBody>
      </p:sp>
    </p:spTree>
    <p:extLst>
      <p:ext uri="{BB962C8B-B14F-4D97-AF65-F5344CB8AC3E}">
        <p14:creationId xmlns:p14="http://schemas.microsoft.com/office/powerpoint/2010/main" val="4026934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A4244-6BE2-61B5-598D-13A20FA3667E}"/>
            </a:ext>
          </a:extLst>
        </p:cNvPr>
        <p:cNvGrpSpPr/>
        <p:nvPr/>
      </p:nvGrpSpPr>
      <p:grpSpPr>
        <a:xfrm>
          <a:off x="0" y="0"/>
          <a:ext cx="0" cy="0"/>
          <a:chOff x="0" y="0"/>
          <a:chExt cx="0" cy="0"/>
        </a:xfrm>
      </p:grpSpPr>
      <p:sp>
        <p:nvSpPr>
          <p:cNvPr id="2" name="Rectangle 4">
            <a:extLst>
              <a:ext uri="{FF2B5EF4-FFF2-40B4-BE49-F238E27FC236}">
                <a16:creationId xmlns:a16="http://schemas.microsoft.com/office/drawing/2014/main" id="{D67B428C-5F29-8CD5-04AD-388F7AD40161}"/>
              </a:ext>
            </a:extLst>
          </p:cNvPr>
          <p:cNvSpPr>
            <a:spLocks noGrp="1" noChangeArrowheads="1"/>
          </p:cNvSpPr>
          <p:nvPr>
            <p:ph type="title"/>
          </p:nvPr>
        </p:nvSpPr>
        <p:spPr>
          <a:xfrm>
            <a:off x="457200" y="274638"/>
            <a:ext cx="8229600" cy="1143000"/>
          </a:xfrm>
        </p:spPr>
        <p:txBody>
          <a:bodyPr/>
          <a:lstStyle/>
          <a:p>
            <a:r>
              <a:rPr lang="en-US" altLang="en-US"/>
              <a:t>   Types of Networks – Contd.</a:t>
            </a:r>
          </a:p>
        </p:txBody>
      </p:sp>
      <p:grpSp>
        <p:nvGrpSpPr>
          <p:cNvPr id="3" name="Group 6">
            <a:extLst>
              <a:ext uri="{FF2B5EF4-FFF2-40B4-BE49-F238E27FC236}">
                <a16:creationId xmlns:a16="http://schemas.microsoft.com/office/drawing/2014/main" id="{F1640362-2A96-A089-EFCB-3E6276C2BB44}"/>
              </a:ext>
            </a:extLst>
          </p:cNvPr>
          <p:cNvGrpSpPr>
            <a:grpSpLocks/>
          </p:cNvGrpSpPr>
          <p:nvPr/>
        </p:nvGrpSpPr>
        <p:grpSpPr bwMode="auto">
          <a:xfrm>
            <a:off x="1524000" y="1981200"/>
            <a:ext cx="4953000" cy="3505200"/>
            <a:chOff x="1392" y="1344"/>
            <a:chExt cx="2208" cy="1920"/>
          </a:xfrm>
        </p:grpSpPr>
        <p:sp>
          <p:nvSpPr>
            <p:cNvPr id="4" name="Oval 7">
              <a:extLst>
                <a:ext uri="{FF2B5EF4-FFF2-40B4-BE49-F238E27FC236}">
                  <a16:creationId xmlns:a16="http://schemas.microsoft.com/office/drawing/2014/main" id="{29351056-E8C8-3446-4AAC-B476B31294F2}"/>
                </a:ext>
              </a:extLst>
            </p:cNvPr>
            <p:cNvSpPr>
              <a:spLocks noChangeArrowheads="1"/>
            </p:cNvSpPr>
            <p:nvPr/>
          </p:nvSpPr>
          <p:spPr bwMode="auto">
            <a:xfrm>
              <a:off x="2496" y="1344"/>
              <a:ext cx="336" cy="33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Oval 8">
              <a:extLst>
                <a:ext uri="{FF2B5EF4-FFF2-40B4-BE49-F238E27FC236}">
                  <a16:creationId xmlns:a16="http://schemas.microsoft.com/office/drawing/2014/main" id="{9385E50C-ABC7-5702-B33A-58029B50A015}"/>
                </a:ext>
              </a:extLst>
            </p:cNvPr>
            <p:cNvSpPr>
              <a:spLocks noChangeArrowheads="1"/>
            </p:cNvSpPr>
            <p:nvPr/>
          </p:nvSpPr>
          <p:spPr bwMode="auto">
            <a:xfrm>
              <a:off x="2496" y="2928"/>
              <a:ext cx="336" cy="336"/>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9">
              <a:extLst>
                <a:ext uri="{FF2B5EF4-FFF2-40B4-BE49-F238E27FC236}">
                  <a16:creationId xmlns:a16="http://schemas.microsoft.com/office/drawing/2014/main" id="{729EC5AD-6E35-6342-F33E-281993984918}"/>
                </a:ext>
              </a:extLst>
            </p:cNvPr>
            <p:cNvSpPr>
              <a:spLocks noChangeArrowheads="1"/>
            </p:cNvSpPr>
            <p:nvPr/>
          </p:nvSpPr>
          <p:spPr bwMode="auto">
            <a:xfrm>
              <a:off x="2496" y="2400"/>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10">
              <a:extLst>
                <a:ext uri="{FF2B5EF4-FFF2-40B4-BE49-F238E27FC236}">
                  <a16:creationId xmlns:a16="http://schemas.microsoft.com/office/drawing/2014/main" id="{AE18C561-A698-9695-E431-BA5506FD5972}"/>
                </a:ext>
              </a:extLst>
            </p:cNvPr>
            <p:cNvSpPr>
              <a:spLocks noChangeArrowheads="1"/>
            </p:cNvSpPr>
            <p:nvPr/>
          </p:nvSpPr>
          <p:spPr bwMode="auto">
            <a:xfrm>
              <a:off x="2496" y="1872"/>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11">
              <a:extLst>
                <a:ext uri="{FF2B5EF4-FFF2-40B4-BE49-F238E27FC236}">
                  <a16:creationId xmlns:a16="http://schemas.microsoft.com/office/drawing/2014/main" id="{DBA92A05-87AC-CEDC-5F05-D34F2C268469}"/>
                </a:ext>
              </a:extLst>
            </p:cNvPr>
            <p:cNvSpPr>
              <a:spLocks noChangeArrowheads="1"/>
            </p:cNvSpPr>
            <p:nvPr/>
          </p:nvSpPr>
          <p:spPr bwMode="auto">
            <a:xfrm>
              <a:off x="1392" y="148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2">
              <a:extLst>
                <a:ext uri="{FF2B5EF4-FFF2-40B4-BE49-F238E27FC236}">
                  <a16:creationId xmlns:a16="http://schemas.microsoft.com/office/drawing/2014/main" id="{3B4AE7FD-0606-7CCC-CEF7-82801530AB74}"/>
                </a:ext>
              </a:extLst>
            </p:cNvPr>
            <p:cNvSpPr>
              <a:spLocks noChangeArrowheads="1"/>
            </p:cNvSpPr>
            <p:nvPr/>
          </p:nvSpPr>
          <p:spPr bwMode="auto">
            <a:xfrm>
              <a:off x="1392" y="19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Oval 13">
              <a:extLst>
                <a:ext uri="{FF2B5EF4-FFF2-40B4-BE49-F238E27FC236}">
                  <a16:creationId xmlns:a16="http://schemas.microsoft.com/office/drawing/2014/main" id="{0E177F67-C993-6737-8135-63685B1C07FF}"/>
                </a:ext>
              </a:extLst>
            </p:cNvPr>
            <p:cNvSpPr>
              <a:spLocks noChangeArrowheads="1"/>
            </p:cNvSpPr>
            <p:nvPr/>
          </p:nvSpPr>
          <p:spPr bwMode="auto">
            <a:xfrm>
              <a:off x="1392" y="24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14">
              <a:extLst>
                <a:ext uri="{FF2B5EF4-FFF2-40B4-BE49-F238E27FC236}">
                  <a16:creationId xmlns:a16="http://schemas.microsoft.com/office/drawing/2014/main" id="{DB3B5594-F1C6-456C-852B-AC5D540244FF}"/>
                </a:ext>
              </a:extLst>
            </p:cNvPr>
            <p:cNvSpPr>
              <a:spLocks noChangeArrowheads="1"/>
            </p:cNvSpPr>
            <p:nvPr/>
          </p:nvSpPr>
          <p:spPr bwMode="auto">
            <a:xfrm>
              <a:off x="1392" y="302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15">
              <a:extLst>
                <a:ext uri="{FF2B5EF4-FFF2-40B4-BE49-F238E27FC236}">
                  <a16:creationId xmlns:a16="http://schemas.microsoft.com/office/drawing/2014/main" id="{BA08DA11-1326-9F85-2BED-E9EC1711F5FF}"/>
                </a:ext>
              </a:extLst>
            </p:cNvPr>
            <p:cNvSpPr>
              <a:spLocks noChangeShapeType="1"/>
            </p:cNvSpPr>
            <p:nvPr/>
          </p:nvSpPr>
          <p:spPr bwMode="auto">
            <a:xfrm>
              <a:off x="1488" y="153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6">
              <a:extLst>
                <a:ext uri="{FF2B5EF4-FFF2-40B4-BE49-F238E27FC236}">
                  <a16:creationId xmlns:a16="http://schemas.microsoft.com/office/drawing/2014/main" id="{81E38A6C-794A-326C-C638-14B67F4F67D5}"/>
                </a:ext>
              </a:extLst>
            </p:cNvPr>
            <p:cNvSpPr>
              <a:spLocks noChangeShapeType="1"/>
            </p:cNvSpPr>
            <p:nvPr/>
          </p:nvSpPr>
          <p:spPr bwMode="auto">
            <a:xfrm>
              <a:off x="1488" y="1536"/>
              <a:ext cx="100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7">
              <a:extLst>
                <a:ext uri="{FF2B5EF4-FFF2-40B4-BE49-F238E27FC236}">
                  <a16:creationId xmlns:a16="http://schemas.microsoft.com/office/drawing/2014/main" id="{53C1A66F-C9EA-711B-191D-C052607948C9}"/>
                </a:ext>
              </a:extLst>
            </p:cNvPr>
            <p:cNvSpPr>
              <a:spLocks noChangeShapeType="1"/>
            </p:cNvSpPr>
            <p:nvPr/>
          </p:nvSpPr>
          <p:spPr bwMode="auto">
            <a:xfrm>
              <a:off x="1488" y="1536"/>
              <a:ext cx="1008" cy="105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8">
              <a:extLst>
                <a:ext uri="{FF2B5EF4-FFF2-40B4-BE49-F238E27FC236}">
                  <a16:creationId xmlns:a16="http://schemas.microsoft.com/office/drawing/2014/main" id="{93DF8704-06FA-01E7-9581-F498AAD05D19}"/>
                </a:ext>
              </a:extLst>
            </p:cNvPr>
            <p:cNvSpPr>
              <a:spLocks noChangeShapeType="1"/>
            </p:cNvSpPr>
            <p:nvPr/>
          </p:nvSpPr>
          <p:spPr bwMode="auto">
            <a:xfrm>
              <a:off x="1488" y="1536"/>
              <a:ext cx="1008" cy="15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9">
              <a:extLst>
                <a:ext uri="{FF2B5EF4-FFF2-40B4-BE49-F238E27FC236}">
                  <a16:creationId xmlns:a16="http://schemas.microsoft.com/office/drawing/2014/main" id="{8DC49B2F-FDF7-F959-2C6D-FAFF820AD215}"/>
                </a:ext>
              </a:extLst>
            </p:cNvPr>
            <p:cNvSpPr>
              <a:spLocks noChangeShapeType="1"/>
            </p:cNvSpPr>
            <p:nvPr/>
          </p:nvSpPr>
          <p:spPr bwMode="auto">
            <a:xfrm flipV="1">
              <a:off x="1488" y="1536"/>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20">
              <a:extLst>
                <a:ext uri="{FF2B5EF4-FFF2-40B4-BE49-F238E27FC236}">
                  <a16:creationId xmlns:a16="http://schemas.microsoft.com/office/drawing/2014/main" id="{1FECDDE1-7367-B7A7-7788-ABC0B368F776}"/>
                </a:ext>
              </a:extLst>
            </p:cNvPr>
            <p:cNvSpPr>
              <a:spLocks noChangeShapeType="1"/>
            </p:cNvSpPr>
            <p:nvPr/>
          </p:nvSpPr>
          <p:spPr bwMode="auto">
            <a:xfrm>
              <a:off x="1488" y="201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21">
              <a:extLst>
                <a:ext uri="{FF2B5EF4-FFF2-40B4-BE49-F238E27FC236}">
                  <a16:creationId xmlns:a16="http://schemas.microsoft.com/office/drawing/2014/main" id="{C972AA96-AA06-1070-FB21-B731AA6C9666}"/>
                </a:ext>
              </a:extLst>
            </p:cNvPr>
            <p:cNvSpPr>
              <a:spLocks noChangeShapeType="1"/>
            </p:cNvSpPr>
            <p:nvPr/>
          </p:nvSpPr>
          <p:spPr bwMode="auto">
            <a:xfrm>
              <a:off x="1488" y="2016"/>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22">
              <a:extLst>
                <a:ext uri="{FF2B5EF4-FFF2-40B4-BE49-F238E27FC236}">
                  <a16:creationId xmlns:a16="http://schemas.microsoft.com/office/drawing/2014/main" id="{5A81FB02-7DF9-2713-5521-F2BBAFE10DBF}"/>
                </a:ext>
              </a:extLst>
            </p:cNvPr>
            <p:cNvSpPr>
              <a:spLocks noChangeShapeType="1"/>
            </p:cNvSpPr>
            <p:nvPr/>
          </p:nvSpPr>
          <p:spPr bwMode="auto">
            <a:xfrm>
              <a:off x="1488" y="2016"/>
              <a:ext cx="1008" cy="110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3">
              <a:extLst>
                <a:ext uri="{FF2B5EF4-FFF2-40B4-BE49-F238E27FC236}">
                  <a16:creationId xmlns:a16="http://schemas.microsoft.com/office/drawing/2014/main" id="{AA9FF98C-CCC2-392D-F6ED-FD2EA5ED5B21}"/>
                </a:ext>
              </a:extLst>
            </p:cNvPr>
            <p:cNvSpPr>
              <a:spLocks noChangeShapeType="1"/>
            </p:cNvSpPr>
            <p:nvPr/>
          </p:nvSpPr>
          <p:spPr bwMode="auto">
            <a:xfrm flipV="1">
              <a:off x="1488" y="1536"/>
              <a:ext cx="1008" cy="10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4">
              <a:extLst>
                <a:ext uri="{FF2B5EF4-FFF2-40B4-BE49-F238E27FC236}">
                  <a16:creationId xmlns:a16="http://schemas.microsoft.com/office/drawing/2014/main" id="{DE587F89-56F3-91FC-DBD3-71D2A59E74EE}"/>
                </a:ext>
              </a:extLst>
            </p:cNvPr>
            <p:cNvSpPr>
              <a:spLocks noChangeShapeType="1"/>
            </p:cNvSpPr>
            <p:nvPr/>
          </p:nvSpPr>
          <p:spPr bwMode="auto">
            <a:xfrm flipV="1">
              <a:off x="1488" y="2064"/>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25">
              <a:extLst>
                <a:ext uri="{FF2B5EF4-FFF2-40B4-BE49-F238E27FC236}">
                  <a16:creationId xmlns:a16="http://schemas.microsoft.com/office/drawing/2014/main" id="{7D270798-F353-2667-6F26-5C8923B55E9D}"/>
                </a:ext>
              </a:extLst>
            </p:cNvPr>
            <p:cNvSpPr>
              <a:spLocks noChangeShapeType="1"/>
            </p:cNvSpPr>
            <p:nvPr/>
          </p:nvSpPr>
          <p:spPr bwMode="auto">
            <a:xfrm>
              <a:off x="1488" y="2544"/>
              <a:ext cx="105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26">
              <a:extLst>
                <a:ext uri="{FF2B5EF4-FFF2-40B4-BE49-F238E27FC236}">
                  <a16:creationId xmlns:a16="http://schemas.microsoft.com/office/drawing/2014/main" id="{8BDE56B3-E806-2231-A1AA-072C778B093C}"/>
                </a:ext>
              </a:extLst>
            </p:cNvPr>
            <p:cNvSpPr>
              <a:spLocks noChangeShapeType="1"/>
            </p:cNvSpPr>
            <p:nvPr/>
          </p:nvSpPr>
          <p:spPr bwMode="auto">
            <a:xfrm>
              <a:off x="1488" y="2544"/>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7">
              <a:extLst>
                <a:ext uri="{FF2B5EF4-FFF2-40B4-BE49-F238E27FC236}">
                  <a16:creationId xmlns:a16="http://schemas.microsoft.com/office/drawing/2014/main" id="{875528D5-A644-3FBC-01DF-E7A8DC2AB73A}"/>
                </a:ext>
              </a:extLst>
            </p:cNvPr>
            <p:cNvSpPr>
              <a:spLocks noChangeShapeType="1"/>
            </p:cNvSpPr>
            <p:nvPr/>
          </p:nvSpPr>
          <p:spPr bwMode="auto">
            <a:xfrm flipV="1">
              <a:off x="1488" y="1536"/>
              <a:ext cx="1008" cy="15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8">
              <a:extLst>
                <a:ext uri="{FF2B5EF4-FFF2-40B4-BE49-F238E27FC236}">
                  <a16:creationId xmlns:a16="http://schemas.microsoft.com/office/drawing/2014/main" id="{B3171FD3-B581-CF2C-2B4A-18811A739416}"/>
                </a:ext>
              </a:extLst>
            </p:cNvPr>
            <p:cNvSpPr>
              <a:spLocks noChangeShapeType="1"/>
            </p:cNvSpPr>
            <p:nvPr/>
          </p:nvSpPr>
          <p:spPr bwMode="auto">
            <a:xfrm flipV="1">
              <a:off x="1488" y="2112"/>
              <a:ext cx="1008" cy="9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9">
              <a:extLst>
                <a:ext uri="{FF2B5EF4-FFF2-40B4-BE49-F238E27FC236}">
                  <a16:creationId xmlns:a16="http://schemas.microsoft.com/office/drawing/2014/main" id="{49970623-39D8-03C4-8BF3-529D2AA002F4}"/>
                </a:ext>
              </a:extLst>
            </p:cNvPr>
            <p:cNvSpPr>
              <a:spLocks noChangeShapeType="1"/>
            </p:cNvSpPr>
            <p:nvPr/>
          </p:nvSpPr>
          <p:spPr bwMode="auto">
            <a:xfrm flipV="1">
              <a:off x="1488" y="2592"/>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30">
              <a:extLst>
                <a:ext uri="{FF2B5EF4-FFF2-40B4-BE49-F238E27FC236}">
                  <a16:creationId xmlns:a16="http://schemas.microsoft.com/office/drawing/2014/main" id="{7C0AD2B0-1653-DC54-E2DB-DFAA04E8817D}"/>
                </a:ext>
              </a:extLst>
            </p:cNvPr>
            <p:cNvSpPr>
              <a:spLocks noChangeShapeType="1"/>
            </p:cNvSpPr>
            <p:nvPr/>
          </p:nvSpPr>
          <p:spPr bwMode="auto">
            <a:xfrm>
              <a:off x="1488" y="3072"/>
              <a:ext cx="1008"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31">
              <a:extLst>
                <a:ext uri="{FF2B5EF4-FFF2-40B4-BE49-F238E27FC236}">
                  <a16:creationId xmlns:a16="http://schemas.microsoft.com/office/drawing/2014/main" id="{9B15B996-3BBC-C70C-7092-E81ED96CD57B}"/>
                </a:ext>
              </a:extLst>
            </p:cNvPr>
            <p:cNvSpPr>
              <a:spLocks noChangeShapeType="1"/>
            </p:cNvSpPr>
            <p:nvPr/>
          </p:nvSpPr>
          <p:spPr bwMode="auto">
            <a:xfrm>
              <a:off x="2832" y="1536"/>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32">
              <a:extLst>
                <a:ext uri="{FF2B5EF4-FFF2-40B4-BE49-F238E27FC236}">
                  <a16:creationId xmlns:a16="http://schemas.microsoft.com/office/drawing/2014/main" id="{3795EA32-79F1-8E4D-2298-23C5036219A1}"/>
                </a:ext>
              </a:extLst>
            </p:cNvPr>
            <p:cNvSpPr>
              <a:spLocks noChangeShapeType="1"/>
            </p:cNvSpPr>
            <p:nvPr/>
          </p:nvSpPr>
          <p:spPr bwMode="auto">
            <a:xfrm>
              <a:off x="2832" y="2064"/>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33">
              <a:extLst>
                <a:ext uri="{FF2B5EF4-FFF2-40B4-BE49-F238E27FC236}">
                  <a16:creationId xmlns:a16="http://schemas.microsoft.com/office/drawing/2014/main" id="{5A346C0C-EDEA-DD71-281C-1B7062DD2BDF}"/>
                </a:ext>
              </a:extLst>
            </p:cNvPr>
            <p:cNvSpPr>
              <a:spLocks noChangeShapeType="1"/>
            </p:cNvSpPr>
            <p:nvPr/>
          </p:nvSpPr>
          <p:spPr bwMode="auto">
            <a:xfrm>
              <a:off x="2832" y="2592"/>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34">
              <a:extLst>
                <a:ext uri="{FF2B5EF4-FFF2-40B4-BE49-F238E27FC236}">
                  <a16:creationId xmlns:a16="http://schemas.microsoft.com/office/drawing/2014/main" id="{960E2885-09BE-224E-5C38-719E61B65D88}"/>
                </a:ext>
              </a:extLst>
            </p:cNvPr>
            <p:cNvSpPr>
              <a:spLocks noChangeShapeType="1"/>
            </p:cNvSpPr>
            <p:nvPr/>
          </p:nvSpPr>
          <p:spPr bwMode="auto">
            <a:xfrm>
              <a:off x="2832" y="3120"/>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2" name="Line 35">
            <a:extLst>
              <a:ext uri="{FF2B5EF4-FFF2-40B4-BE49-F238E27FC236}">
                <a16:creationId xmlns:a16="http://schemas.microsoft.com/office/drawing/2014/main" id="{895128FF-DD51-1658-95E7-7657753448C2}"/>
              </a:ext>
            </a:extLst>
          </p:cNvPr>
          <p:cNvSpPr>
            <a:spLocks noChangeShapeType="1"/>
          </p:cNvSpPr>
          <p:nvPr/>
        </p:nvSpPr>
        <p:spPr bwMode="auto">
          <a:xfrm flipV="1">
            <a:off x="5410200" y="1600200"/>
            <a:ext cx="0" cy="6858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37">
            <a:extLst>
              <a:ext uri="{FF2B5EF4-FFF2-40B4-BE49-F238E27FC236}">
                <a16:creationId xmlns:a16="http://schemas.microsoft.com/office/drawing/2014/main" id="{3459F0CC-C0E0-0E56-05C0-8F7C0D79A9FA}"/>
              </a:ext>
            </a:extLst>
          </p:cNvPr>
          <p:cNvSpPr>
            <a:spLocks noChangeShapeType="1"/>
          </p:cNvSpPr>
          <p:nvPr/>
        </p:nvSpPr>
        <p:spPr bwMode="auto">
          <a:xfrm flipH="1">
            <a:off x="3733800" y="1600200"/>
            <a:ext cx="167640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38">
            <a:extLst>
              <a:ext uri="{FF2B5EF4-FFF2-40B4-BE49-F238E27FC236}">
                <a16:creationId xmlns:a16="http://schemas.microsoft.com/office/drawing/2014/main" id="{0767B243-54E6-1B77-ACF4-6374A9096E0A}"/>
              </a:ext>
            </a:extLst>
          </p:cNvPr>
          <p:cNvSpPr>
            <a:spLocks noChangeShapeType="1"/>
          </p:cNvSpPr>
          <p:nvPr/>
        </p:nvSpPr>
        <p:spPr bwMode="auto">
          <a:xfrm>
            <a:off x="3733800" y="1600200"/>
            <a:ext cx="381000" cy="4572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9">
            <a:extLst>
              <a:ext uri="{FF2B5EF4-FFF2-40B4-BE49-F238E27FC236}">
                <a16:creationId xmlns:a16="http://schemas.microsoft.com/office/drawing/2014/main" id="{E90A87A0-5C66-59B4-5D49-AD0928213A41}"/>
              </a:ext>
            </a:extLst>
          </p:cNvPr>
          <p:cNvSpPr>
            <a:spLocks noChangeShapeType="1"/>
          </p:cNvSpPr>
          <p:nvPr/>
        </p:nvSpPr>
        <p:spPr bwMode="auto">
          <a:xfrm flipV="1">
            <a:off x="5410200" y="2743200"/>
            <a:ext cx="0" cy="5334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40">
            <a:extLst>
              <a:ext uri="{FF2B5EF4-FFF2-40B4-BE49-F238E27FC236}">
                <a16:creationId xmlns:a16="http://schemas.microsoft.com/office/drawing/2014/main" id="{E25164E5-72F2-E2E2-EAF4-78A1563988B9}"/>
              </a:ext>
            </a:extLst>
          </p:cNvPr>
          <p:cNvSpPr>
            <a:spLocks noChangeShapeType="1"/>
          </p:cNvSpPr>
          <p:nvPr/>
        </p:nvSpPr>
        <p:spPr bwMode="auto">
          <a:xfrm flipH="1">
            <a:off x="3962400" y="2743200"/>
            <a:ext cx="144780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41">
            <a:extLst>
              <a:ext uri="{FF2B5EF4-FFF2-40B4-BE49-F238E27FC236}">
                <a16:creationId xmlns:a16="http://schemas.microsoft.com/office/drawing/2014/main" id="{F2D45423-E520-CE4E-8094-2BD3EBDA16BA}"/>
              </a:ext>
            </a:extLst>
          </p:cNvPr>
          <p:cNvSpPr>
            <a:spLocks noChangeShapeType="1"/>
          </p:cNvSpPr>
          <p:nvPr/>
        </p:nvSpPr>
        <p:spPr bwMode="auto">
          <a:xfrm>
            <a:off x="3962400" y="2743200"/>
            <a:ext cx="228600" cy="3048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42">
            <a:extLst>
              <a:ext uri="{FF2B5EF4-FFF2-40B4-BE49-F238E27FC236}">
                <a16:creationId xmlns:a16="http://schemas.microsoft.com/office/drawing/2014/main" id="{3A5D41CD-460C-0BC3-6199-9AE28E2A62F9}"/>
              </a:ext>
            </a:extLst>
          </p:cNvPr>
          <p:cNvSpPr>
            <a:spLocks noChangeShapeType="1"/>
          </p:cNvSpPr>
          <p:nvPr/>
        </p:nvSpPr>
        <p:spPr bwMode="auto">
          <a:xfrm flipV="1">
            <a:off x="5410200" y="3733800"/>
            <a:ext cx="0" cy="5334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43">
            <a:extLst>
              <a:ext uri="{FF2B5EF4-FFF2-40B4-BE49-F238E27FC236}">
                <a16:creationId xmlns:a16="http://schemas.microsoft.com/office/drawing/2014/main" id="{BDC502A1-2C1B-7899-3112-8B06F80B2417}"/>
              </a:ext>
            </a:extLst>
          </p:cNvPr>
          <p:cNvSpPr>
            <a:spLocks noChangeShapeType="1"/>
          </p:cNvSpPr>
          <p:nvPr/>
        </p:nvSpPr>
        <p:spPr bwMode="auto">
          <a:xfrm flipH="1">
            <a:off x="4038600" y="3733800"/>
            <a:ext cx="137160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44">
            <a:extLst>
              <a:ext uri="{FF2B5EF4-FFF2-40B4-BE49-F238E27FC236}">
                <a16:creationId xmlns:a16="http://schemas.microsoft.com/office/drawing/2014/main" id="{F8C9B800-F133-26D5-57B6-875D8C4A450C}"/>
              </a:ext>
            </a:extLst>
          </p:cNvPr>
          <p:cNvSpPr>
            <a:spLocks noChangeShapeType="1"/>
          </p:cNvSpPr>
          <p:nvPr/>
        </p:nvSpPr>
        <p:spPr bwMode="auto">
          <a:xfrm>
            <a:off x="4038600" y="3733800"/>
            <a:ext cx="228600" cy="2286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45">
            <a:extLst>
              <a:ext uri="{FF2B5EF4-FFF2-40B4-BE49-F238E27FC236}">
                <a16:creationId xmlns:a16="http://schemas.microsoft.com/office/drawing/2014/main" id="{66F7347E-0E67-E63A-47D2-78F5D47197C8}"/>
              </a:ext>
            </a:extLst>
          </p:cNvPr>
          <p:cNvSpPr>
            <a:spLocks noChangeShapeType="1"/>
          </p:cNvSpPr>
          <p:nvPr/>
        </p:nvSpPr>
        <p:spPr bwMode="auto">
          <a:xfrm flipV="1">
            <a:off x="5410200" y="4724400"/>
            <a:ext cx="0" cy="5334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46">
            <a:extLst>
              <a:ext uri="{FF2B5EF4-FFF2-40B4-BE49-F238E27FC236}">
                <a16:creationId xmlns:a16="http://schemas.microsoft.com/office/drawing/2014/main" id="{1F376D0C-945B-D8CA-44F4-C37B6E32DD0C}"/>
              </a:ext>
            </a:extLst>
          </p:cNvPr>
          <p:cNvSpPr>
            <a:spLocks noChangeShapeType="1"/>
          </p:cNvSpPr>
          <p:nvPr/>
        </p:nvSpPr>
        <p:spPr bwMode="auto">
          <a:xfrm flipH="1">
            <a:off x="3962400" y="4724400"/>
            <a:ext cx="144780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47">
            <a:extLst>
              <a:ext uri="{FF2B5EF4-FFF2-40B4-BE49-F238E27FC236}">
                <a16:creationId xmlns:a16="http://schemas.microsoft.com/office/drawing/2014/main" id="{C05DDC19-EA46-AEA1-86F2-458AB0C09592}"/>
              </a:ext>
            </a:extLst>
          </p:cNvPr>
          <p:cNvSpPr>
            <a:spLocks noChangeShapeType="1"/>
          </p:cNvSpPr>
          <p:nvPr/>
        </p:nvSpPr>
        <p:spPr bwMode="auto">
          <a:xfrm>
            <a:off x="3962400" y="4724400"/>
            <a:ext cx="228600" cy="1524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Text Box 48">
            <a:extLst>
              <a:ext uri="{FF2B5EF4-FFF2-40B4-BE49-F238E27FC236}">
                <a16:creationId xmlns:a16="http://schemas.microsoft.com/office/drawing/2014/main" id="{90C21F63-13AB-4FCE-DDDE-6E1EF522ABAD}"/>
              </a:ext>
            </a:extLst>
          </p:cNvPr>
          <p:cNvSpPr txBox="1">
            <a:spLocks noChangeArrowheads="1"/>
          </p:cNvSpPr>
          <p:nvPr/>
        </p:nvSpPr>
        <p:spPr bwMode="auto">
          <a:xfrm>
            <a:off x="6705600" y="14478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Feedback</a:t>
            </a:r>
          </a:p>
        </p:txBody>
      </p:sp>
      <p:sp>
        <p:nvSpPr>
          <p:cNvPr id="45" name="Line 49">
            <a:extLst>
              <a:ext uri="{FF2B5EF4-FFF2-40B4-BE49-F238E27FC236}">
                <a16:creationId xmlns:a16="http://schemas.microsoft.com/office/drawing/2014/main" id="{AE0F6049-D4BB-C7F6-D731-FE3EBB6F1F5B}"/>
              </a:ext>
            </a:extLst>
          </p:cNvPr>
          <p:cNvSpPr>
            <a:spLocks noChangeShapeType="1"/>
          </p:cNvSpPr>
          <p:nvPr/>
        </p:nvSpPr>
        <p:spPr bwMode="auto">
          <a:xfrm flipH="1">
            <a:off x="5562600" y="1676400"/>
            <a:ext cx="121920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Text Box 50">
            <a:extLst>
              <a:ext uri="{FF2B5EF4-FFF2-40B4-BE49-F238E27FC236}">
                <a16:creationId xmlns:a16="http://schemas.microsoft.com/office/drawing/2014/main" id="{1536FDC5-5B8B-BF0C-381B-90225858AF83}"/>
              </a:ext>
            </a:extLst>
          </p:cNvPr>
          <p:cNvSpPr txBox="1">
            <a:spLocks noChangeArrowheads="1"/>
          </p:cNvSpPr>
          <p:nvPr/>
        </p:nvSpPr>
        <p:spPr bwMode="auto">
          <a:xfrm>
            <a:off x="2667000" y="5791200"/>
            <a:ext cx="3568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t>Recurrent Networks</a:t>
            </a:r>
          </a:p>
        </p:txBody>
      </p:sp>
    </p:spTree>
    <p:extLst>
      <p:ext uri="{BB962C8B-B14F-4D97-AF65-F5344CB8AC3E}">
        <p14:creationId xmlns:p14="http://schemas.microsoft.com/office/powerpoint/2010/main" val="98193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7DF3B48A-2228-974D-A690-A4FD176EC73E}"/>
              </a:ext>
            </a:extLst>
          </p:cNvPr>
          <p:cNvSpPr>
            <a:spLocks noGrp="1" noChangeArrowheads="1"/>
          </p:cNvSpPr>
          <p:nvPr>
            <p:ph type="title"/>
          </p:nvPr>
        </p:nvSpPr>
        <p:spPr>
          <a:xfrm>
            <a:off x="457200" y="274638"/>
            <a:ext cx="8229600" cy="1143000"/>
          </a:xfrm>
        </p:spPr>
        <p:txBody>
          <a:bodyPr/>
          <a:lstStyle/>
          <a:p>
            <a:r>
              <a:rPr lang="en-US" altLang="en-US"/>
              <a:t>Multilayer Perceptron</a:t>
            </a:r>
          </a:p>
        </p:txBody>
      </p:sp>
      <p:grpSp>
        <p:nvGrpSpPr>
          <p:cNvPr id="5" name="Group 6">
            <a:extLst>
              <a:ext uri="{FF2B5EF4-FFF2-40B4-BE49-F238E27FC236}">
                <a16:creationId xmlns:a16="http://schemas.microsoft.com/office/drawing/2014/main" id="{41442D65-B9BB-015A-C88B-72D46618A93D}"/>
              </a:ext>
            </a:extLst>
          </p:cNvPr>
          <p:cNvGrpSpPr>
            <a:grpSpLocks/>
          </p:cNvGrpSpPr>
          <p:nvPr/>
        </p:nvGrpSpPr>
        <p:grpSpPr bwMode="auto">
          <a:xfrm>
            <a:off x="533400" y="1752600"/>
            <a:ext cx="7239000" cy="3994150"/>
            <a:chOff x="336" y="1104"/>
            <a:chExt cx="4560" cy="2516"/>
          </a:xfrm>
        </p:grpSpPr>
        <p:sp>
          <p:nvSpPr>
            <p:cNvPr id="6" name="Oval 7">
              <a:extLst>
                <a:ext uri="{FF2B5EF4-FFF2-40B4-BE49-F238E27FC236}">
                  <a16:creationId xmlns:a16="http://schemas.microsoft.com/office/drawing/2014/main" id="{2C185DD7-C850-A65D-79E8-5411B4242A8C}"/>
                </a:ext>
              </a:extLst>
            </p:cNvPr>
            <p:cNvSpPr>
              <a:spLocks noChangeArrowheads="1"/>
            </p:cNvSpPr>
            <p:nvPr/>
          </p:nvSpPr>
          <p:spPr bwMode="auto">
            <a:xfrm>
              <a:off x="1584" y="1104"/>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8">
              <a:extLst>
                <a:ext uri="{FF2B5EF4-FFF2-40B4-BE49-F238E27FC236}">
                  <a16:creationId xmlns:a16="http://schemas.microsoft.com/office/drawing/2014/main" id="{29723AF4-E283-40AF-112D-6DD15BC6BFC9}"/>
                </a:ext>
              </a:extLst>
            </p:cNvPr>
            <p:cNvSpPr>
              <a:spLocks noChangeArrowheads="1"/>
            </p:cNvSpPr>
            <p:nvPr/>
          </p:nvSpPr>
          <p:spPr bwMode="auto">
            <a:xfrm>
              <a:off x="4080" y="1872"/>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9">
              <a:extLst>
                <a:ext uri="{FF2B5EF4-FFF2-40B4-BE49-F238E27FC236}">
                  <a16:creationId xmlns:a16="http://schemas.microsoft.com/office/drawing/2014/main" id="{0705DB31-2C3D-8A90-56A8-4F2951A22AED}"/>
                </a:ext>
              </a:extLst>
            </p:cNvPr>
            <p:cNvSpPr>
              <a:spLocks noChangeArrowheads="1"/>
            </p:cNvSpPr>
            <p:nvPr/>
          </p:nvSpPr>
          <p:spPr bwMode="auto">
            <a:xfrm>
              <a:off x="1584" y="1536"/>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0">
              <a:extLst>
                <a:ext uri="{FF2B5EF4-FFF2-40B4-BE49-F238E27FC236}">
                  <a16:creationId xmlns:a16="http://schemas.microsoft.com/office/drawing/2014/main" id="{6311B47B-A264-A60A-8126-EFC241986BF8}"/>
                </a:ext>
              </a:extLst>
            </p:cNvPr>
            <p:cNvSpPr>
              <a:spLocks noChangeArrowheads="1"/>
            </p:cNvSpPr>
            <p:nvPr/>
          </p:nvSpPr>
          <p:spPr bwMode="auto">
            <a:xfrm>
              <a:off x="1584" y="1920"/>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Oval 11">
              <a:extLst>
                <a:ext uri="{FF2B5EF4-FFF2-40B4-BE49-F238E27FC236}">
                  <a16:creationId xmlns:a16="http://schemas.microsoft.com/office/drawing/2014/main" id="{50A6000C-7ED6-8171-A322-AEBA4F556A26}"/>
                </a:ext>
              </a:extLst>
            </p:cNvPr>
            <p:cNvSpPr>
              <a:spLocks noChangeArrowheads="1"/>
            </p:cNvSpPr>
            <p:nvPr/>
          </p:nvSpPr>
          <p:spPr bwMode="auto">
            <a:xfrm>
              <a:off x="1584" y="2832"/>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12">
              <a:extLst>
                <a:ext uri="{FF2B5EF4-FFF2-40B4-BE49-F238E27FC236}">
                  <a16:creationId xmlns:a16="http://schemas.microsoft.com/office/drawing/2014/main" id="{9872BBCA-B46C-6D49-8A80-5AC2509D3959}"/>
                </a:ext>
              </a:extLst>
            </p:cNvPr>
            <p:cNvSpPr>
              <a:spLocks noChangeArrowheads="1"/>
            </p:cNvSpPr>
            <p:nvPr/>
          </p:nvSpPr>
          <p:spPr bwMode="auto">
            <a:xfrm>
              <a:off x="2976" y="1152"/>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Oval 13">
              <a:extLst>
                <a:ext uri="{FF2B5EF4-FFF2-40B4-BE49-F238E27FC236}">
                  <a16:creationId xmlns:a16="http://schemas.microsoft.com/office/drawing/2014/main" id="{DB1F1464-122E-3135-1C6E-5A04E3786B0F}"/>
                </a:ext>
              </a:extLst>
            </p:cNvPr>
            <p:cNvSpPr>
              <a:spLocks noChangeArrowheads="1"/>
            </p:cNvSpPr>
            <p:nvPr/>
          </p:nvSpPr>
          <p:spPr bwMode="auto">
            <a:xfrm>
              <a:off x="2976" y="1536"/>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Oval 14">
              <a:extLst>
                <a:ext uri="{FF2B5EF4-FFF2-40B4-BE49-F238E27FC236}">
                  <a16:creationId xmlns:a16="http://schemas.microsoft.com/office/drawing/2014/main" id="{89925844-AA57-2ACF-77CE-220BB5ADDE9B}"/>
                </a:ext>
              </a:extLst>
            </p:cNvPr>
            <p:cNvSpPr>
              <a:spLocks noChangeArrowheads="1"/>
            </p:cNvSpPr>
            <p:nvPr/>
          </p:nvSpPr>
          <p:spPr bwMode="auto">
            <a:xfrm>
              <a:off x="2976" y="1920"/>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Oval 15">
              <a:extLst>
                <a:ext uri="{FF2B5EF4-FFF2-40B4-BE49-F238E27FC236}">
                  <a16:creationId xmlns:a16="http://schemas.microsoft.com/office/drawing/2014/main" id="{F67EC538-BC40-03C7-0737-70BA04DA1D5D}"/>
                </a:ext>
              </a:extLst>
            </p:cNvPr>
            <p:cNvSpPr>
              <a:spLocks noChangeArrowheads="1"/>
            </p:cNvSpPr>
            <p:nvPr/>
          </p:nvSpPr>
          <p:spPr bwMode="auto">
            <a:xfrm>
              <a:off x="4080" y="2304"/>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Oval 16">
              <a:extLst>
                <a:ext uri="{FF2B5EF4-FFF2-40B4-BE49-F238E27FC236}">
                  <a16:creationId xmlns:a16="http://schemas.microsoft.com/office/drawing/2014/main" id="{FBDB658A-1BC8-B8F4-E6B6-363FABADE433}"/>
                </a:ext>
              </a:extLst>
            </p:cNvPr>
            <p:cNvSpPr>
              <a:spLocks noChangeArrowheads="1"/>
            </p:cNvSpPr>
            <p:nvPr/>
          </p:nvSpPr>
          <p:spPr bwMode="auto">
            <a:xfrm>
              <a:off x="2976" y="2832"/>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17">
              <a:extLst>
                <a:ext uri="{FF2B5EF4-FFF2-40B4-BE49-F238E27FC236}">
                  <a16:creationId xmlns:a16="http://schemas.microsoft.com/office/drawing/2014/main" id="{1A9E4B12-4B29-CBD9-FD9C-C85537C97D4F}"/>
                </a:ext>
              </a:extLst>
            </p:cNvPr>
            <p:cNvSpPr>
              <a:spLocks noChangeArrowheads="1"/>
            </p:cNvSpPr>
            <p:nvPr/>
          </p:nvSpPr>
          <p:spPr bwMode="auto">
            <a:xfrm>
              <a:off x="4080" y="1440"/>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18">
              <a:extLst>
                <a:ext uri="{FF2B5EF4-FFF2-40B4-BE49-F238E27FC236}">
                  <a16:creationId xmlns:a16="http://schemas.microsoft.com/office/drawing/2014/main" id="{C964B6E7-7525-38AB-8309-72552C07A8ED}"/>
                </a:ext>
              </a:extLst>
            </p:cNvPr>
            <p:cNvSpPr>
              <a:spLocks noChangeArrowheads="1"/>
            </p:cNvSpPr>
            <p:nvPr/>
          </p:nvSpPr>
          <p:spPr bwMode="auto">
            <a:xfrm>
              <a:off x="480" y="12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Oval 19">
              <a:extLst>
                <a:ext uri="{FF2B5EF4-FFF2-40B4-BE49-F238E27FC236}">
                  <a16:creationId xmlns:a16="http://schemas.microsoft.com/office/drawing/2014/main" id="{7774AF35-8908-73BA-5A3C-D4366109AB49}"/>
                </a:ext>
              </a:extLst>
            </p:cNvPr>
            <p:cNvSpPr>
              <a:spLocks noChangeArrowheads="1"/>
            </p:cNvSpPr>
            <p:nvPr/>
          </p:nvSpPr>
          <p:spPr bwMode="auto">
            <a:xfrm>
              <a:off x="480" y="1632"/>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20">
              <a:extLst>
                <a:ext uri="{FF2B5EF4-FFF2-40B4-BE49-F238E27FC236}">
                  <a16:creationId xmlns:a16="http://schemas.microsoft.com/office/drawing/2014/main" id="{4E4FAD22-9432-550F-FCF3-D3E31B829B4F}"/>
                </a:ext>
              </a:extLst>
            </p:cNvPr>
            <p:cNvSpPr>
              <a:spLocks noChangeArrowheads="1"/>
            </p:cNvSpPr>
            <p:nvPr/>
          </p:nvSpPr>
          <p:spPr bwMode="auto">
            <a:xfrm>
              <a:off x="480" y="192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21">
              <a:extLst>
                <a:ext uri="{FF2B5EF4-FFF2-40B4-BE49-F238E27FC236}">
                  <a16:creationId xmlns:a16="http://schemas.microsoft.com/office/drawing/2014/main" id="{8E317DDF-8D19-6ACD-6670-CE9217A2F854}"/>
                </a:ext>
              </a:extLst>
            </p:cNvPr>
            <p:cNvSpPr>
              <a:spLocks noChangeArrowheads="1"/>
            </p:cNvSpPr>
            <p:nvPr/>
          </p:nvSpPr>
          <p:spPr bwMode="auto">
            <a:xfrm>
              <a:off x="480" y="292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Oval 22">
              <a:extLst>
                <a:ext uri="{FF2B5EF4-FFF2-40B4-BE49-F238E27FC236}">
                  <a16:creationId xmlns:a16="http://schemas.microsoft.com/office/drawing/2014/main" id="{A52F4601-D197-2A51-FC3B-940985ECCF24}"/>
                </a:ext>
              </a:extLst>
            </p:cNvPr>
            <p:cNvSpPr>
              <a:spLocks noChangeArrowheads="1"/>
            </p:cNvSpPr>
            <p:nvPr/>
          </p:nvSpPr>
          <p:spPr bwMode="auto">
            <a:xfrm>
              <a:off x="528" y="23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23">
              <a:extLst>
                <a:ext uri="{FF2B5EF4-FFF2-40B4-BE49-F238E27FC236}">
                  <a16:creationId xmlns:a16="http://schemas.microsoft.com/office/drawing/2014/main" id="{1E148EBE-FB56-C805-1D06-4E7332D715F6}"/>
                </a:ext>
              </a:extLst>
            </p:cNvPr>
            <p:cNvSpPr>
              <a:spLocks noChangeArrowheads="1"/>
            </p:cNvSpPr>
            <p:nvPr/>
          </p:nvSpPr>
          <p:spPr bwMode="auto">
            <a:xfrm>
              <a:off x="528" y="244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24">
              <a:extLst>
                <a:ext uri="{FF2B5EF4-FFF2-40B4-BE49-F238E27FC236}">
                  <a16:creationId xmlns:a16="http://schemas.microsoft.com/office/drawing/2014/main" id="{25E55D89-1644-E92E-D189-E47AB69A8F45}"/>
                </a:ext>
              </a:extLst>
            </p:cNvPr>
            <p:cNvSpPr>
              <a:spLocks noChangeArrowheads="1"/>
            </p:cNvSpPr>
            <p:nvPr/>
          </p:nvSpPr>
          <p:spPr bwMode="auto">
            <a:xfrm>
              <a:off x="528" y="254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25">
              <a:extLst>
                <a:ext uri="{FF2B5EF4-FFF2-40B4-BE49-F238E27FC236}">
                  <a16:creationId xmlns:a16="http://schemas.microsoft.com/office/drawing/2014/main" id="{B1BA84FF-EA95-2D38-81C6-B3AF6524AD1A}"/>
                </a:ext>
              </a:extLst>
            </p:cNvPr>
            <p:cNvSpPr>
              <a:spLocks noChangeArrowheads="1"/>
            </p:cNvSpPr>
            <p:nvPr/>
          </p:nvSpPr>
          <p:spPr bwMode="auto">
            <a:xfrm>
              <a:off x="3072" y="23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Oval 26">
              <a:extLst>
                <a:ext uri="{FF2B5EF4-FFF2-40B4-BE49-F238E27FC236}">
                  <a16:creationId xmlns:a16="http://schemas.microsoft.com/office/drawing/2014/main" id="{E11B286F-CE27-0BF2-919F-4604E9FDC990}"/>
                </a:ext>
              </a:extLst>
            </p:cNvPr>
            <p:cNvSpPr>
              <a:spLocks noChangeArrowheads="1"/>
            </p:cNvSpPr>
            <p:nvPr/>
          </p:nvSpPr>
          <p:spPr bwMode="auto">
            <a:xfrm>
              <a:off x="1680" y="23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Oval 27">
              <a:extLst>
                <a:ext uri="{FF2B5EF4-FFF2-40B4-BE49-F238E27FC236}">
                  <a16:creationId xmlns:a16="http://schemas.microsoft.com/office/drawing/2014/main" id="{D0FCB589-2DC5-1020-D4CA-A3DEBA55ED40}"/>
                </a:ext>
              </a:extLst>
            </p:cNvPr>
            <p:cNvSpPr>
              <a:spLocks noChangeArrowheads="1"/>
            </p:cNvSpPr>
            <p:nvPr/>
          </p:nvSpPr>
          <p:spPr bwMode="auto">
            <a:xfrm>
              <a:off x="1680" y="244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Oval 28">
              <a:extLst>
                <a:ext uri="{FF2B5EF4-FFF2-40B4-BE49-F238E27FC236}">
                  <a16:creationId xmlns:a16="http://schemas.microsoft.com/office/drawing/2014/main" id="{223F5780-197B-5A2E-60BD-9133D0F53BC4}"/>
                </a:ext>
              </a:extLst>
            </p:cNvPr>
            <p:cNvSpPr>
              <a:spLocks noChangeArrowheads="1"/>
            </p:cNvSpPr>
            <p:nvPr/>
          </p:nvSpPr>
          <p:spPr bwMode="auto">
            <a:xfrm>
              <a:off x="1680" y="254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Oval 29">
              <a:extLst>
                <a:ext uri="{FF2B5EF4-FFF2-40B4-BE49-F238E27FC236}">
                  <a16:creationId xmlns:a16="http://schemas.microsoft.com/office/drawing/2014/main" id="{66DCE82F-E358-847D-CBBD-CF2453A0B507}"/>
                </a:ext>
              </a:extLst>
            </p:cNvPr>
            <p:cNvSpPr>
              <a:spLocks noChangeArrowheads="1"/>
            </p:cNvSpPr>
            <p:nvPr/>
          </p:nvSpPr>
          <p:spPr bwMode="auto">
            <a:xfrm>
              <a:off x="3072" y="244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Oval 30">
              <a:extLst>
                <a:ext uri="{FF2B5EF4-FFF2-40B4-BE49-F238E27FC236}">
                  <a16:creationId xmlns:a16="http://schemas.microsoft.com/office/drawing/2014/main" id="{343EF980-A00B-C590-420E-BAC83F9F4E56}"/>
                </a:ext>
              </a:extLst>
            </p:cNvPr>
            <p:cNvSpPr>
              <a:spLocks noChangeArrowheads="1"/>
            </p:cNvSpPr>
            <p:nvPr/>
          </p:nvSpPr>
          <p:spPr bwMode="auto">
            <a:xfrm>
              <a:off x="3072" y="254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31">
              <a:extLst>
                <a:ext uri="{FF2B5EF4-FFF2-40B4-BE49-F238E27FC236}">
                  <a16:creationId xmlns:a16="http://schemas.microsoft.com/office/drawing/2014/main" id="{E90C8CBC-CD9E-EDA8-5149-3C42670F7247}"/>
                </a:ext>
              </a:extLst>
            </p:cNvPr>
            <p:cNvSpPr>
              <a:spLocks noChangeShapeType="1"/>
            </p:cNvSpPr>
            <p:nvPr/>
          </p:nvSpPr>
          <p:spPr bwMode="auto">
            <a:xfrm flipV="1">
              <a:off x="576" y="1248"/>
              <a:ext cx="100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32">
              <a:extLst>
                <a:ext uri="{FF2B5EF4-FFF2-40B4-BE49-F238E27FC236}">
                  <a16:creationId xmlns:a16="http://schemas.microsoft.com/office/drawing/2014/main" id="{673FE884-F2E9-5ABF-3EFF-690A71DDE649}"/>
                </a:ext>
              </a:extLst>
            </p:cNvPr>
            <p:cNvSpPr>
              <a:spLocks noChangeShapeType="1"/>
            </p:cNvSpPr>
            <p:nvPr/>
          </p:nvSpPr>
          <p:spPr bwMode="auto">
            <a:xfrm>
              <a:off x="576" y="1344"/>
              <a:ext cx="100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33">
              <a:extLst>
                <a:ext uri="{FF2B5EF4-FFF2-40B4-BE49-F238E27FC236}">
                  <a16:creationId xmlns:a16="http://schemas.microsoft.com/office/drawing/2014/main" id="{60E4AB27-C2DD-4612-66FB-45C588D9957F}"/>
                </a:ext>
              </a:extLst>
            </p:cNvPr>
            <p:cNvSpPr>
              <a:spLocks noChangeShapeType="1"/>
            </p:cNvSpPr>
            <p:nvPr/>
          </p:nvSpPr>
          <p:spPr bwMode="auto">
            <a:xfrm>
              <a:off x="576" y="1344"/>
              <a:ext cx="1008" cy="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34">
              <a:extLst>
                <a:ext uri="{FF2B5EF4-FFF2-40B4-BE49-F238E27FC236}">
                  <a16:creationId xmlns:a16="http://schemas.microsoft.com/office/drawing/2014/main" id="{838B8B10-30D8-DF9B-D21D-00882F5D3EDE}"/>
                </a:ext>
              </a:extLst>
            </p:cNvPr>
            <p:cNvSpPr>
              <a:spLocks noChangeShapeType="1"/>
            </p:cNvSpPr>
            <p:nvPr/>
          </p:nvSpPr>
          <p:spPr bwMode="auto">
            <a:xfrm>
              <a:off x="576" y="1344"/>
              <a:ext cx="1008" cy="16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35">
              <a:extLst>
                <a:ext uri="{FF2B5EF4-FFF2-40B4-BE49-F238E27FC236}">
                  <a16:creationId xmlns:a16="http://schemas.microsoft.com/office/drawing/2014/main" id="{62F6A5F4-6CBD-B71A-15DB-42624CA8A8F8}"/>
                </a:ext>
              </a:extLst>
            </p:cNvPr>
            <p:cNvSpPr>
              <a:spLocks noChangeShapeType="1"/>
            </p:cNvSpPr>
            <p:nvPr/>
          </p:nvSpPr>
          <p:spPr bwMode="auto">
            <a:xfrm flipV="1">
              <a:off x="576" y="1248"/>
              <a:ext cx="100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6">
              <a:extLst>
                <a:ext uri="{FF2B5EF4-FFF2-40B4-BE49-F238E27FC236}">
                  <a16:creationId xmlns:a16="http://schemas.microsoft.com/office/drawing/2014/main" id="{8DD4040A-E2C1-BE0B-BB66-A8DC40F4F991}"/>
                </a:ext>
              </a:extLst>
            </p:cNvPr>
            <p:cNvSpPr>
              <a:spLocks noChangeShapeType="1"/>
            </p:cNvSpPr>
            <p:nvPr/>
          </p:nvSpPr>
          <p:spPr bwMode="auto">
            <a:xfrm flipV="1">
              <a:off x="576" y="1632"/>
              <a:ext cx="1008"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37">
              <a:extLst>
                <a:ext uri="{FF2B5EF4-FFF2-40B4-BE49-F238E27FC236}">
                  <a16:creationId xmlns:a16="http://schemas.microsoft.com/office/drawing/2014/main" id="{F1AF4494-C545-C2D1-5938-D2316D63CB78}"/>
                </a:ext>
              </a:extLst>
            </p:cNvPr>
            <p:cNvSpPr>
              <a:spLocks noChangeShapeType="1"/>
            </p:cNvSpPr>
            <p:nvPr/>
          </p:nvSpPr>
          <p:spPr bwMode="auto">
            <a:xfrm>
              <a:off x="576" y="1680"/>
              <a:ext cx="1008"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38">
              <a:extLst>
                <a:ext uri="{FF2B5EF4-FFF2-40B4-BE49-F238E27FC236}">
                  <a16:creationId xmlns:a16="http://schemas.microsoft.com/office/drawing/2014/main" id="{363A737C-5577-8C36-B6F1-3CFE02B6CDDE}"/>
                </a:ext>
              </a:extLst>
            </p:cNvPr>
            <p:cNvSpPr>
              <a:spLocks noChangeShapeType="1"/>
            </p:cNvSpPr>
            <p:nvPr/>
          </p:nvSpPr>
          <p:spPr bwMode="auto">
            <a:xfrm>
              <a:off x="576" y="1680"/>
              <a:ext cx="1008" cy="1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39">
              <a:extLst>
                <a:ext uri="{FF2B5EF4-FFF2-40B4-BE49-F238E27FC236}">
                  <a16:creationId xmlns:a16="http://schemas.microsoft.com/office/drawing/2014/main" id="{C6A0A65F-E80B-FDBD-B55E-06C110E7FF6B}"/>
                </a:ext>
              </a:extLst>
            </p:cNvPr>
            <p:cNvSpPr>
              <a:spLocks noChangeShapeType="1"/>
            </p:cNvSpPr>
            <p:nvPr/>
          </p:nvSpPr>
          <p:spPr bwMode="auto">
            <a:xfrm flipV="1">
              <a:off x="576" y="1248"/>
              <a:ext cx="1008" cy="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40">
              <a:extLst>
                <a:ext uri="{FF2B5EF4-FFF2-40B4-BE49-F238E27FC236}">
                  <a16:creationId xmlns:a16="http://schemas.microsoft.com/office/drawing/2014/main" id="{0640BEFB-A379-71A8-3992-62A9A2D0BDF3}"/>
                </a:ext>
              </a:extLst>
            </p:cNvPr>
            <p:cNvSpPr>
              <a:spLocks noChangeShapeType="1"/>
            </p:cNvSpPr>
            <p:nvPr/>
          </p:nvSpPr>
          <p:spPr bwMode="auto">
            <a:xfrm flipV="1">
              <a:off x="576" y="1632"/>
              <a:ext cx="1008"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41">
              <a:extLst>
                <a:ext uri="{FF2B5EF4-FFF2-40B4-BE49-F238E27FC236}">
                  <a16:creationId xmlns:a16="http://schemas.microsoft.com/office/drawing/2014/main" id="{7D6E6C17-9309-5AB1-39CB-FDC129ECCFA9}"/>
                </a:ext>
              </a:extLst>
            </p:cNvPr>
            <p:cNvSpPr>
              <a:spLocks noChangeShapeType="1"/>
            </p:cNvSpPr>
            <p:nvPr/>
          </p:nvSpPr>
          <p:spPr bwMode="auto">
            <a:xfrm>
              <a:off x="576" y="1968"/>
              <a:ext cx="100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42">
              <a:extLst>
                <a:ext uri="{FF2B5EF4-FFF2-40B4-BE49-F238E27FC236}">
                  <a16:creationId xmlns:a16="http://schemas.microsoft.com/office/drawing/2014/main" id="{8B31EB39-3CF1-FE29-637C-4ECDE7394F30}"/>
                </a:ext>
              </a:extLst>
            </p:cNvPr>
            <p:cNvSpPr>
              <a:spLocks noChangeShapeType="1"/>
            </p:cNvSpPr>
            <p:nvPr/>
          </p:nvSpPr>
          <p:spPr bwMode="auto">
            <a:xfrm>
              <a:off x="576" y="1968"/>
              <a:ext cx="1008" cy="10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43">
              <a:extLst>
                <a:ext uri="{FF2B5EF4-FFF2-40B4-BE49-F238E27FC236}">
                  <a16:creationId xmlns:a16="http://schemas.microsoft.com/office/drawing/2014/main" id="{55E68C27-9B1F-29D4-0EF9-11DF0A774F2A}"/>
                </a:ext>
              </a:extLst>
            </p:cNvPr>
            <p:cNvSpPr>
              <a:spLocks noChangeShapeType="1"/>
            </p:cNvSpPr>
            <p:nvPr/>
          </p:nvSpPr>
          <p:spPr bwMode="auto">
            <a:xfrm flipV="1">
              <a:off x="576" y="1248"/>
              <a:ext cx="1008" cy="17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44">
              <a:extLst>
                <a:ext uri="{FF2B5EF4-FFF2-40B4-BE49-F238E27FC236}">
                  <a16:creationId xmlns:a16="http://schemas.microsoft.com/office/drawing/2014/main" id="{3A2D6C94-7D48-1329-545F-A1177F4A841A}"/>
                </a:ext>
              </a:extLst>
            </p:cNvPr>
            <p:cNvSpPr>
              <a:spLocks noChangeShapeType="1"/>
            </p:cNvSpPr>
            <p:nvPr/>
          </p:nvSpPr>
          <p:spPr bwMode="auto">
            <a:xfrm flipV="1">
              <a:off x="576" y="1632"/>
              <a:ext cx="1008" cy="13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45">
              <a:extLst>
                <a:ext uri="{FF2B5EF4-FFF2-40B4-BE49-F238E27FC236}">
                  <a16:creationId xmlns:a16="http://schemas.microsoft.com/office/drawing/2014/main" id="{42076688-F2F3-CF41-DEB2-30D61FC7147F}"/>
                </a:ext>
              </a:extLst>
            </p:cNvPr>
            <p:cNvSpPr>
              <a:spLocks noChangeShapeType="1"/>
            </p:cNvSpPr>
            <p:nvPr/>
          </p:nvSpPr>
          <p:spPr bwMode="auto">
            <a:xfrm flipV="1">
              <a:off x="576" y="2064"/>
              <a:ext cx="1008" cy="9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46">
              <a:extLst>
                <a:ext uri="{FF2B5EF4-FFF2-40B4-BE49-F238E27FC236}">
                  <a16:creationId xmlns:a16="http://schemas.microsoft.com/office/drawing/2014/main" id="{724B24B3-69A2-25A0-02DE-AADCDAEE49D4}"/>
                </a:ext>
              </a:extLst>
            </p:cNvPr>
            <p:cNvSpPr>
              <a:spLocks noChangeShapeType="1"/>
            </p:cNvSpPr>
            <p:nvPr/>
          </p:nvSpPr>
          <p:spPr bwMode="auto">
            <a:xfrm>
              <a:off x="576" y="297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7">
              <a:extLst>
                <a:ext uri="{FF2B5EF4-FFF2-40B4-BE49-F238E27FC236}">
                  <a16:creationId xmlns:a16="http://schemas.microsoft.com/office/drawing/2014/main" id="{B120A140-0200-2438-3B36-D85395795B73}"/>
                </a:ext>
              </a:extLst>
            </p:cNvPr>
            <p:cNvSpPr>
              <a:spLocks noChangeShapeType="1"/>
            </p:cNvSpPr>
            <p:nvPr/>
          </p:nvSpPr>
          <p:spPr bwMode="auto">
            <a:xfrm>
              <a:off x="1872" y="1248"/>
              <a:ext cx="110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8">
              <a:extLst>
                <a:ext uri="{FF2B5EF4-FFF2-40B4-BE49-F238E27FC236}">
                  <a16:creationId xmlns:a16="http://schemas.microsoft.com/office/drawing/2014/main" id="{7FA386AC-22E5-2FF1-1F30-DAA8F013A9EE}"/>
                </a:ext>
              </a:extLst>
            </p:cNvPr>
            <p:cNvSpPr>
              <a:spLocks noChangeShapeType="1"/>
            </p:cNvSpPr>
            <p:nvPr/>
          </p:nvSpPr>
          <p:spPr bwMode="auto">
            <a:xfrm>
              <a:off x="1872" y="1248"/>
              <a:ext cx="1104"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49">
              <a:extLst>
                <a:ext uri="{FF2B5EF4-FFF2-40B4-BE49-F238E27FC236}">
                  <a16:creationId xmlns:a16="http://schemas.microsoft.com/office/drawing/2014/main" id="{3E36753C-F86F-BFD5-15F6-9A71BD3E251F}"/>
                </a:ext>
              </a:extLst>
            </p:cNvPr>
            <p:cNvSpPr>
              <a:spLocks noChangeShapeType="1"/>
            </p:cNvSpPr>
            <p:nvPr/>
          </p:nvSpPr>
          <p:spPr bwMode="auto">
            <a:xfrm>
              <a:off x="1872" y="1248"/>
              <a:ext cx="1104" cy="8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50">
              <a:extLst>
                <a:ext uri="{FF2B5EF4-FFF2-40B4-BE49-F238E27FC236}">
                  <a16:creationId xmlns:a16="http://schemas.microsoft.com/office/drawing/2014/main" id="{9FAE2322-6A67-BF6D-B5FD-372B7015EA4D}"/>
                </a:ext>
              </a:extLst>
            </p:cNvPr>
            <p:cNvSpPr>
              <a:spLocks noChangeShapeType="1"/>
            </p:cNvSpPr>
            <p:nvPr/>
          </p:nvSpPr>
          <p:spPr bwMode="auto">
            <a:xfrm>
              <a:off x="1872" y="1248"/>
              <a:ext cx="1104" cy="17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51">
              <a:extLst>
                <a:ext uri="{FF2B5EF4-FFF2-40B4-BE49-F238E27FC236}">
                  <a16:creationId xmlns:a16="http://schemas.microsoft.com/office/drawing/2014/main" id="{2FDAA939-C865-4A19-C674-5B0D3EB72998}"/>
                </a:ext>
              </a:extLst>
            </p:cNvPr>
            <p:cNvSpPr>
              <a:spLocks noChangeShapeType="1"/>
            </p:cNvSpPr>
            <p:nvPr/>
          </p:nvSpPr>
          <p:spPr bwMode="auto">
            <a:xfrm flipV="1">
              <a:off x="1872" y="1248"/>
              <a:ext cx="1104"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52">
              <a:extLst>
                <a:ext uri="{FF2B5EF4-FFF2-40B4-BE49-F238E27FC236}">
                  <a16:creationId xmlns:a16="http://schemas.microsoft.com/office/drawing/2014/main" id="{DFAA5715-4D00-D576-49E7-35198DCB6682}"/>
                </a:ext>
              </a:extLst>
            </p:cNvPr>
            <p:cNvSpPr>
              <a:spLocks noChangeShapeType="1"/>
            </p:cNvSpPr>
            <p:nvPr/>
          </p:nvSpPr>
          <p:spPr bwMode="auto">
            <a:xfrm>
              <a:off x="1872" y="1680"/>
              <a:ext cx="110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Line 53">
              <a:extLst>
                <a:ext uri="{FF2B5EF4-FFF2-40B4-BE49-F238E27FC236}">
                  <a16:creationId xmlns:a16="http://schemas.microsoft.com/office/drawing/2014/main" id="{CF2ACE0A-021B-5DC7-0C44-4D2C7D2FDA03}"/>
                </a:ext>
              </a:extLst>
            </p:cNvPr>
            <p:cNvSpPr>
              <a:spLocks noChangeShapeType="1"/>
            </p:cNvSpPr>
            <p:nvPr/>
          </p:nvSpPr>
          <p:spPr bwMode="auto">
            <a:xfrm>
              <a:off x="1872" y="1680"/>
              <a:ext cx="1104"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Line 54">
              <a:extLst>
                <a:ext uri="{FF2B5EF4-FFF2-40B4-BE49-F238E27FC236}">
                  <a16:creationId xmlns:a16="http://schemas.microsoft.com/office/drawing/2014/main" id="{6B4B9B14-B7A8-67F3-9210-8E94B3835E4F}"/>
                </a:ext>
              </a:extLst>
            </p:cNvPr>
            <p:cNvSpPr>
              <a:spLocks noChangeShapeType="1"/>
            </p:cNvSpPr>
            <p:nvPr/>
          </p:nvSpPr>
          <p:spPr bwMode="auto">
            <a:xfrm>
              <a:off x="1872" y="1680"/>
              <a:ext cx="1104" cy="1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55">
              <a:extLst>
                <a:ext uri="{FF2B5EF4-FFF2-40B4-BE49-F238E27FC236}">
                  <a16:creationId xmlns:a16="http://schemas.microsoft.com/office/drawing/2014/main" id="{33084D48-095B-7D01-A50A-09D2ECD8712E}"/>
                </a:ext>
              </a:extLst>
            </p:cNvPr>
            <p:cNvSpPr>
              <a:spLocks noChangeShapeType="1"/>
            </p:cNvSpPr>
            <p:nvPr/>
          </p:nvSpPr>
          <p:spPr bwMode="auto">
            <a:xfrm flipV="1">
              <a:off x="1872" y="1248"/>
              <a:ext cx="1056" cy="76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56">
              <a:extLst>
                <a:ext uri="{FF2B5EF4-FFF2-40B4-BE49-F238E27FC236}">
                  <a16:creationId xmlns:a16="http://schemas.microsoft.com/office/drawing/2014/main" id="{B77BEF97-E37E-CB99-DEAD-E5E0AA056F63}"/>
                </a:ext>
              </a:extLst>
            </p:cNvPr>
            <p:cNvSpPr>
              <a:spLocks noChangeShapeType="1"/>
            </p:cNvSpPr>
            <p:nvPr/>
          </p:nvSpPr>
          <p:spPr bwMode="auto">
            <a:xfrm flipV="1">
              <a:off x="1872" y="1680"/>
              <a:ext cx="110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57">
              <a:extLst>
                <a:ext uri="{FF2B5EF4-FFF2-40B4-BE49-F238E27FC236}">
                  <a16:creationId xmlns:a16="http://schemas.microsoft.com/office/drawing/2014/main" id="{6A55E05D-4D84-1967-EBCB-D587C7BFD6F6}"/>
                </a:ext>
              </a:extLst>
            </p:cNvPr>
            <p:cNvSpPr>
              <a:spLocks noChangeShapeType="1"/>
            </p:cNvSpPr>
            <p:nvPr/>
          </p:nvSpPr>
          <p:spPr bwMode="auto">
            <a:xfrm>
              <a:off x="1872" y="2016"/>
              <a:ext cx="1104"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58">
              <a:extLst>
                <a:ext uri="{FF2B5EF4-FFF2-40B4-BE49-F238E27FC236}">
                  <a16:creationId xmlns:a16="http://schemas.microsoft.com/office/drawing/2014/main" id="{A6E87735-5F98-7DF7-E1D8-78D78D555BED}"/>
                </a:ext>
              </a:extLst>
            </p:cNvPr>
            <p:cNvSpPr>
              <a:spLocks noChangeShapeType="1"/>
            </p:cNvSpPr>
            <p:nvPr/>
          </p:nvSpPr>
          <p:spPr bwMode="auto">
            <a:xfrm>
              <a:off x="1872" y="2016"/>
              <a:ext cx="1104" cy="9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59">
              <a:extLst>
                <a:ext uri="{FF2B5EF4-FFF2-40B4-BE49-F238E27FC236}">
                  <a16:creationId xmlns:a16="http://schemas.microsoft.com/office/drawing/2014/main" id="{A762C7B5-02F6-582A-8FD8-2AF83AC8A9BD}"/>
                </a:ext>
              </a:extLst>
            </p:cNvPr>
            <p:cNvSpPr>
              <a:spLocks noChangeShapeType="1"/>
            </p:cNvSpPr>
            <p:nvPr/>
          </p:nvSpPr>
          <p:spPr bwMode="auto">
            <a:xfrm flipV="1">
              <a:off x="1872" y="1248"/>
              <a:ext cx="1104" cy="17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60">
              <a:extLst>
                <a:ext uri="{FF2B5EF4-FFF2-40B4-BE49-F238E27FC236}">
                  <a16:creationId xmlns:a16="http://schemas.microsoft.com/office/drawing/2014/main" id="{8E6C325F-63C7-405F-DFAE-16EDB3CB8793}"/>
                </a:ext>
              </a:extLst>
            </p:cNvPr>
            <p:cNvSpPr>
              <a:spLocks noChangeShapeType="1"/>
            </p:cNvSpPr>
            <p:nvPr/>
          </p:nvSpPr>
          <p:spPr bwMode="auto">
            <a:xfrm flipV="1">
              <a:off x="1872" y="1680"/>
              <a:ext cx="1104" cy="1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61">
              <a:extLst>
                <a:ext uri="{FF2B5EF4-FFF2-40B4-BE49-F238E27FC236}">
                  <a16:creationId xmlns:a16="http://schemas.microsoft.com/office/drawing/2014/main" id="{8EF6E60F-52AA-912F-C872-07FE8D2340FE}"/>
                </a:ext>
              </a:extLst>
            </p:cNvPr>
            <p:cNvSpPr>
              <a:spLocks noChangeShapeType="1"/>
            </p:cNvSpPr>
            <p:nvPr/>
          </p:nvSpPr>
          <p:spPr bwMode="auto">
            <a:xfrm flipV="1">
              <a:off x="1872" y="2064"/>
              <a:ext cx="1104" cy="9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62">
              <a:extLst>
                <a:ext uri="{FF2B5EF4-FFF2-40B4-BE49-F238E27FC236}">
                  <a16:creationId xmlns:a16="http://schemas.microsoft.com/office/drawing/2014/main" id="{D45804EA-2CF8-8332-965A-387AD7C5CDDB}"/>
                </a:ext>
              </a:extLst>
            </p:cNvPr>
            <p:cNvSpPr>
              <a:spLocks noChangeShapeType="1"/>
            </p:cNvSpPr>
            <p:nvPr/>
          </p:nvSpPr>
          <p:spPr bwMode="auto">
            <a:xfrm>
              <a:off x="1872" y="2976"/>
              <a:ext cx="110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63">
              <a:extLst>
                <a:ext uri="{FF2B5EF4-FFF2-40B4-BE49-F238E27FC236}">
                  <a16:creationId xmlns:a16="http://schemas.microsoft.com/office/drawing/2014/main" id="{CEAC1D2F-6EC1-443E-EBCB-E6E33118CC32}"/>
                </a:ext>
              </a:extLst>
            </p:cNvPr>
            <p:cNvSpPr>
              <a:spLocks noChangeShapeType="1"/>
            </p:cNvSpPr>
            <p:nvPr/>
          </p:nvSpPr>
          <p:spPr bwMode="auto">
            <a:xfrm>
              <a:off x="3264" y="1248"/>
              <a:ext cx="81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 name="Line 64">
              <a:extLst>
                <a:ext uri="{FF2B5EF4-FFF2-40B4-BE49-F238E27FC236}">
                  <a16:creationId xmlns:a16="http://schemas.microsoft.com/office/drawing/2014/main" id="{DFAA8344-2C96-699E-8BF6-9EF3137A8AF8}"/>
                </a:ext>
              </a:extLst>
            </p:cNvPr>
            <p:cNvSpPr>
              <a:spLocks noChangeShapeType="1"/>
            </p:cNvSpPr>
            <p:nvPr/>
          </p:nvSpPr>
          <p:spPr bwMode="auto">
            <a:xfrm>
              <a:off x="3264" y="1248"/>
              <a:ext cx="816" cy="76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65">
              <a:extLst>
                <a:ext uri="{FF2B5EF4-FFF2-40B4-BE49-F238E27FC236}">
                  <a16:creationId xmlns:a16="http://schemas.microsoft.com/office/drawing/2014/main" id="{9125E06B-9C99-6CED-C2F6-B04B056CFE74}"/>
                </a:ext>
              </a:extLst>
            </p:cNvPr>
            <p:cNvSpPr>
              <a:spLocks noChangeShapeType="1"/>
            </p:cNvSpPr>
            <p:nvPr/>
          </p:nvSpPr>
          <p:spPr bwMode="auto">
            <a:xfrm>
              <a:off x="3264" y="1248"/>
              <a:ext cx="816" cy="115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66">
              <a:extLst>
                <a:ext uri="{FF2B5EF4-FFF2-40B4-BE49-F238E27FC236}">
                  <a16:creationId xmlns:a16="http://schemas.microsoft.com/office/drawing/2014/main" id="{0109FE58-D3D0-58A1-EBF3-A0950EF863EB}"/>
                </a:ext>
              </a:extLst>
            </p:cNvPr>
            <p:cNvSpPr>
              <a:spLocks noChangeShapeType="1"/>
            </p:cNvSpPr>
            <p:nvPr/>
          </p:nvSpPr>
          <p:spPr bwMode="auto">
            <a:xfrm flipV="1">
              <a:off x="3264" y="1584"/>
              <a:ext cx="81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67">
              <a:extLst>
                <a:ext uri="{FF2B5EF4-FFF2-40B4-BE49-F238E27FC236}">
                  <a16:creationId xmlns:a16="http://schemas.microsoft.com/office/drawing/2014/main" id="{A0B90137-2E2E-218A-41DE-AE48F7FB8879}"/>
                </a:ext>
              </a:extLst>
            </p:cNvPr>
            <p:cNvSpPr>
              <a:spLocks noChangeShapeType="1"/>
            </p:cNvSpPr>
            <p:nvPr/>
          </p:nvSpPr>
          <p:spPr bwMode="auto">
            <a:xfrm>
              <a:off x="3264" y="1680"/>
              <a:ext cx="81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Line 68">
              <a:extLst>
                <a:ext uri="{FF2B5EF4-FFF2-40B4-BE49-F238E27FC236}">
                  <a16:creationId xmlns:a16="http://schemas.microsoft.com/office/drawing/2014/main" id="{56912B6C-A65D-D2A0-EC21-FDB5FCB7D10C}"/>
                </a:ext>
              </a:extLst>
            </p:cNvPr>
            <p:cNvSpPr>
              <a:spLocks noChangeShapeType="1"/>
            </p:cNvSpPr>
            <p:nvPr/>
          </p:nvSpPr>
          <p:spPr bwMode="auto">
            <a:xfrm>
              <a:off x="3264" y="1680"/>
              <a:ext cx="816" cy="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Line 69">
              <a:extLst>
                <a:ext uri="{FF2B5EF4-FFF2-40B4-BE49-F238E27FC236}">
                  <a16:creationId xmlns:a16="http://schemas.microsoft.com/office/drawing/2014/main" id="{2C448409-7990-09B9-3322-CFD16E66850B}"/>
                </a:ext>
              </a:extLst>
            </p:cNvPr>
            <p:cNvSpPr>
              <a:spLocks noChangeShapeType="1"/>
            </p:cNvSpPr>
            <p:nvPr/>
          </p:nvSpPr>
          <p:spPr bwMode="auto">
            <a:xfrm flipV="1">
              <a:off x="3264" y="1584"/>
              <a:ext cx="816"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Line 70">
              <a:extLst>
                <a:ext uri="{FF2B5EF4-FFF2-40B4-BE49-F238E27FC236}">
                  <a16:creationId xmlns:a16="http://schemas.microsoft.com/office/drawing/2014/main" id="{273A1CF2-5210-7E2C-A403-E86F6119E4D0}"/>
                </a:ext>
              </a:extLst>
            </p:cNvPr>
            <p:cNvSpPr>
              <a:spLocks noChangeShapeType="1"/>
            </p:cNvSpPr>
            <p:nvPr/>
          </p:nvSpPr>
          <p:spPr bwMode="auto">
            <a:xfrm flipV="1">
              <a:off x="3264" y="2016"/>
              <a:ext cx="81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 name="Line 71">
              <a:extLst>
                <a:ext uri="{FF2B5EF4-FFF2-40B4-BE49-F238E27FC236}">
                  <a16:creationId xmlns:a16="http://schemas.microsoft.com/office/drawing/2014/main" id="{9D2AD37F-FD69-8E1D-2D91-E670DC888932}"/>
                </a:ext>
              </a:extLst>
            </p:cNvPr>
            <p:cNvSpPr>
              <a:spLocks noChangeShapeType="1"/>
            </p:cNvSpPr>
            <p:nvPr/>
          </p:nvSpPr>
          <p:spPr bwMode="auto">
            <a:xfrm>
              <a:off x="3264" y="2064"/>
              <a:ext cx="81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72">
              <a:extLst>
                <a:ext uri="{FF2B5EF4-FFF2-40B4-BE49-F238E27FC236}">
                  <a16:creationId xmlns:a16="http://schemas.microsoft.com/office/drawing/2014/main" id="{BBE7C980-D2D8-FD0E-BCB6-097CAF5AACD7}"/>
                </a:ext>
              </a:extLst>
            </p:cNvPr>
            <p:cNvSpPr>
              <a:spLocks noChangeShapeType="1"/>
            </p:cNvSpPr>
            <p:nvPr/>
          </p:nvSpPr>
          <p:spPr bwMode="auto">
            <a:xfrm flipV="1">
              <a:off x="3264" y="1632"/>
              <a:ext cx="816" cy="13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Line 73">
              <a:extLst>
                <a:ext uri="{FF2B5EF4-FFF2-40B4-BE49-F238E27FC236}">
                  <a16:creationId xmlns:a16="http://schemas.microsoft.com/office/drawing/2014/main" id="{49DF0E06-C791-2ED0-E4DC-E7C44189E430}"/>
                </a:ext>
              </a:extLst>
            </p:cNvPr>
            <p:cNvSpPr>
              <a:spLocks noChangeShapeType="1"/>
            </p:cNvSpPr>
            <p:nvPr/>
          </p:nvSpPr>
          <p:spPr bwMode="auto">
            <a:xfrm flipV="1">
              <a:off x="3264" y="2016"/>
              <a:ext cx="816" cy="9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Line 74">
              <a:extLst>
                <a:ext uri="{FF2B5EF4-FFF2-40B4-BE49-F238E27FC236}">
                  <a16:creationId xmlns:a16="http://schemas.microsoft.com/office/drawing/2014/main" id="{E9CBE11E-3E95-8808-8E03-EFEC66E3BC62}"/>
                </a:ext>
              </a:extLst>
            </p:cNvPr>
            <p:cNvSpPr>
              <a:spLocks noChangeShapeType="1"/>
            </p:cNvSpPr>
            <p:nvPr/>
          </p:nvSpPr>
          <p:spPr bwMode="auto">
            <a:xfrm flipV="1">
              <a:off x="3264" y="2400"/>
              <a:ext cx="816"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Line 75">
              <a:extLst>
                <a:ext uri="{FF2B5EF4-FFF2-40B4-BE49-F238E27FC236}">
                  <a16:creationId xmlns:a16="http://schemas.microsoft.com/office/drawing/2014/main" id="{5C428CDC-B700-391F-0477-11BDB5219FE1}"/>
                </a:ext>
              </a:extLst>
            </p:cNvPr>
            <p:cNvSpPr>
              <a:spLocks noChangeShapeType="1"/>
            </p:cNvSpPr>
            <p:nvPr/>
          </p:nvSpPr>
          <p:spPr bwMode="auto">
            <a:xfrm>
              <a:off x="4368" y="1584"/>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Line 76">
              <a:extLst>
                <a:ext uri="{FF2B5EF4-FFF2-40B4-BE49-F238E27FC236}">
                  <a16:creationId xmlns:a16="http://schemas.microsoft.com/office/drawing/2014/main" id="{7B26D7E8-B0A1-F749-F745-8C2BB967106C}"/>
                </a:ext>
              </a:extLst>
            </p:cNvPr>
            <p:cNvSpPr>
              <a:spLocks noChangeShapeType="1"/>
            </p:cNvSpPr>
            <p:nvPr/>
          </p:nvSpPr>
          <p:spPr bwMode="auto">
            <a:xfrm>
              <a:off x="4368" y="2016"/>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Line 77">
              <a:extLst>
                <a:ext uri="{FF2B5EF4-FFF2-40B4-BE49-F238E27FC236}">
                  <a16:creationId xmlns:a16="http://schemas.microsoft.com/office/drawing/2014/main" id="{8851F66F-7BDD-4FBB-085E-C0BC384ECC26}"/>
                </a:ext>
              </a:extLst>
            </p:cNvPr>
            <p:cNvSpPr>
              <a:spLocks noChangeShapeType="1"/>
            </p:cNvSpPr>
            <p:nvPr/>
          </p:nvSpPr>
          <p:spPr bwMode="auto">
            <a:xfrm>
              <a:off x="4368" y="2448"/>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 name="Text Box 78">
              <a:extLst>
                <a:ext uri="{FF2B5EF4-FFF2-40B4-BE49-F238E27FC236}">
                  <a16:creationId xmlns:a16="http://schemas.microsoft.com/office/drawing/2014/main" id="{6E40D9DB-5F83-A930-EEB5-55765FDCCE03}"/>
                </a:ext>
              </a:extLst>
            </p:cNvPr>
            <p:cNvSpPr txBox="1">
              <a:spLocks noChangeArrowheads="1"/>
            </p:cNvSpPr>
            <p:nvPr/>
          </p:nvSpPr>
          <p:spPr bwMode="auto">
            <a:xfrm>
              <a:off x="336" y="3168"/>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Inputs</a:t>
              </a:r>
            </a:p>
          </p:txBody>
        </p:sp>
        <p:sp>
          <p:nvSpPr>
            <p:cNvPr id="78" name="Text Box 79">
              <a:extLst>
                <a:ext uri="{FF2B5EF4-FFF2-40B4-BE49-F238E27FC236}">
                  <a16:creationId xmlns:a16="http://schemas.microsoft.com/office/drawing/2014/main" id="{19725A71-473F-F3A1-7842-05CBFFDC8747}"/>
                </a:ext>
              </a:extLst>
            </p:cNvPr>
            <p:cNvSpPr txBox="1">
              <a:spLocks noChangeArrowheads="1"/>
            </p:cNvSpPr>
            <p:nvPr/>
          </p:nvSpPr>
          <p:spPr bwMode="auto">
            <a:xfrm>
              <a:off x="1392" y="3216"/>
              <a:ext cx="100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First Hidden layer</a:t>
              </a:r>
            </a:p>
          </p:txBody>
        </p:sp>
        <p:sp>
          <p:nvSpPr>
            <p:cNvPr id="79" name="Text Box 80">
              <a:extLst>
                <a:ext uri="{FF2B5EF4-FFF2-40B4-BE49-F238E27FC236}">
                  <a16:creationId xmlns:a16="http://schemas.microsoft.com/office/drawing/2014/main" id="{B1E65DC8-88AF-054A-CFF1-8F39FF6F68F7}"/>
                </a:ext>
              </a:extLst>
            </p:cNvPr>
            <p:cNvSpPr txBox="1">
              <a:spLocks noChangeArrowheads="1"/>
            </p:cNvSpPr>
            <p:nvPr/>
          </p:nvSpPr>
          <p:spPr bwMode="auto">
            <a:xfrm>
              <a:off x="2688" y="3216"/>
              <a:ext cx="106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a:t>Second Hidden Layer</a:t>
              </a:r>
            </a:p>
          </p:txBody>
        </p:sp>
        <p:sp>
          <p:nvSpPr>
            <p:cNvPr id="80" name="Text Box 81">
              <a:extLst>
                <a:ext uri="{FF2B5EF4-FFF2-40B4-BE49-F238E27FC236}">
                  <a16:creationId xmlns:a16="http://schemas.microsoft.com/office/drawing/2014/main" id="{C571FBC7-D0E9-2FEA-B6DD-29984C4DFD4A}"/>
                </a:ext>
              </a:extLst>
            </p:cNvPr>
            <p:cNvSpPr txBox="1">
              <a:spLocks noChangeArrowheads="1"/>
            </p:cNvSpPr>
            <p:nvPr/>
          </p:nvSpPr>
          <p:spPr bwMode="auto">
            <a:xfrm>
              <a:off x="4032" y="2976"/>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Output Layer</a:t>
              </a:r>
            </a:p>
          </p:txBody>
        </p:sp>
      </p:grpSp>
    </p:spTree>
    <p:extLst>
      <p:ext uri="{BB962C8B-B14F-4D97-AF65-F5344CB8AC3E}">
        <p14:creationId xmlns:p14="http://schemas.microsoft.com/office/powerpoint/2010/main" val="2820592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89351-AD84-5660-3A22-225F7C94E43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E3C5C96-B8E3-DEA7-15FE-7C190C4F6E5A}"/>
              </a:ext>
            </a:extLst>
          </p:cNvPr>
          <p:cNvSpPr>
            <a:spLocks noGrp="1" noChangeArrowheads="1"/>
          </p:cNvSpPr>
          <p:nvPr>
            <p:ph type="title"/>
          </p:nvPr>
        </p:nvSpPr>
        <p:spPr>
          <a:xfrm>
            <a:off x="457200" y="274638"/>
            <a:ext cx="8229600" cy="1143000"/>
          </a:xfrm>
        </p:spPr>
        <p:txBody>
          <a:bodyPr>
            <a:normAutofit fontScale="90000"/>
          </a:bodyPr>
          <a:lstStyle/>
          <a:p>
            <a:r>
              <a:rPr lang="en-US" altLang="en-US" sz="4000"/>
              <a:t>Signal Flow</a:t>
            </a:r>
            <a:br>
              <a:rPr lang="en-US" altLang="en-US" sz="4000"/>
            </a:br>
            <a:r>
              <a:rPr lang="en-US" altLang="en-US" sz="4000"/>
              <a:t>Backpropagation of Errors</a:t>
            </a:r>
          </a:p>
        </p:txBody>
      </p:sp>
      <p:grpSp>
        <p:nvGrpSpPr>
          <p:cNvPr id="3" name="Group 4">
            <a:extLst>
              <a:ext uri="{FF2B5EF4-FFF2-40B4-BE49-F238E27FC236}">
                <a16:creationId xmlns:a16="http://schemas.microsoft.com/office/drawing/2014/main" id="{C6C2C96D-3A9B-99EE-20FA-DB572E353D57}"/>
              </a:ext>
            </a:extLst>
          </p:cNvPr>
          <p:cNvGrpSpPr>
            <a:grpSpLocks/>
          </p:cNvGrpSpPr>
          <p:nvPr/>
        </p:nvGrpSpPr>
        <p:grpSpPr bwMode="auto">
          <a:xfrm>
            <a:off x="457200" y="2133600"/>
            <a:ext cx="7543800" cy="3643313"/>
            <a:chOff x="288" y="1344"/>
            <a:chExt cx="4752" cy="2295"/>
          </a:xfrm>
        </p:grpSpPr>
        <p:sp>
          <p:nvSpPr>
            <p:cNvPr id="4" name="Oval 5">
              <a:extLst>
                <a:ext uri="{FF2B5EF4-FFF2-40B4-BE49-F238E27FC236}">
                  <a16:creationId xmlns:a16="http://schemas.microsoft.com/office/drawing/2014/main" id="{83F30F00-FCEE-C41F-0EC1-51F2CD37089A}"/>
                </a:ext>
              </a:extLst>
            </p:cNvPr>
            <p:cNvSpPr>
              <a:spLocks noChangeArrowheads="1"/>
            </p:cNvSpPr>
            <p:nvPr/>
          </p:nvSpPr>
          <p:spPr bwMode="auto">
            <a:xfrm>
              <a:off x="1344" y="1344"/>
              <a:ext cx="528" cy="48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Oval 6">
              <a:extLst>
                <a:ext uri="{FF2B5EF4-FFF2-40B4-BE49-F238E27FC236}">
                  <a16:creationId xmlns:a16="http://schemas.microsoft.com/office/drawing/2014/main" id="{E63BBDBC-71AE-19D4-55D2-3509B978B700}"/>
                </a:ext>
              </a:extLst>
            </p:cNvPr>
            <p:cNvSpPr>
              <a:spLocks noChangeArrowheads="1"/>
            </p:cNvSpPr>
            <p:nvPr/>
          </p:nvSpPr>
          <p:spPr bwMode="auto">
            <a:xfrm>
              <a:off x="3888" y="1776"/>
              <a:ext cx="528" cy="48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7">
              <a:extLst>
                <a:ext uri="{FF2B5EF4-FFF2-40B4-BE49-F238E27FC236}">
                  <a16:creationId xmlns:a16="http://schemas.microsoft.com/office/drawing/2014/main" id="{D8392AD3-4FB1-8730-65C5-C268BE4FB254}"/>
                </a:ext>
              </a:extLst>
            </p:cNvPr>
            <p:cNvSpPr>
              <a:spLocks noChangeArrowheads="1"/>
            </p:cNvSpPr>
            <p:nvPr/>
          </p:nvSpPr>
          <p:spPr bwMode="auto">
            <a:xfrm>
              <a:off x="1344" y="2352"/>
              <a:ext cx="528" cy="48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8">
              <a:extLst>
                <a:ext uri="{FF2B5EF4-FFF2-40B4-BE49-F238E27FC236}">
                  <a16:creationId xmlns:a16="http://schemas.microsoft.com/office/drawing/2014/main" id="{65DBA37A-D8D9-ACAF-3979-435564E6CB1A}"/>
                </a:ext>
              </a:extLst>
            </p:cNvPr>
            <p:cNvSpPr>
              <a:spLocks noChangeShapeType="1"/>
            </p:cNvSpPr>
            <p:nvPr/>
          </p:nvSpPr>
          <p:spPr bwMode="auto">
            <a:xfrm>
              <a:off x="1872" y="1536"/>
              <a:ext cx="13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9">
              <a:extLst>
                <a:ext uri="{FF2B5EF4-FFF2-40B4-BE49-F238E27FC236}">
                  <a16:creationId xmlns:a16="http://schemas.microsoft.com/office/drawing/2014/main" id="{F6596FF6-A034-8AD9-6259-555E5BCA5DB2}"/>
                </a:ext>
              </a:extLst>
            </p:cNvPr>
            <p:cNvSpPr>
              <a:spLocks noChangeShapeType="1"/>
            </p:cNvSpPr>
            <p:nvPr/>
          </p:nvSpPr>
          <p:spPr bwMode="auto">
            <a:xfrm>
              <a:off x="1872" y="2640"/>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0">
              <a:extLst>
                <a:ext uri="{FF2B5EF4-FFF2-40B4-BE49-F238E27FC236}">
                  <a16:creationId xmlns:a16="http://schemas.microsoft.com/office/drawing/2014/main" id="{34C9B97B-EB77-CE42-7093-F5B55BBA0804}"/>
                </a:ext>
              </a:extLst>
            </p:cNvPr>
            <p:cNvSpPr>
              <a:spLocks noChangeShapeType="1"/>
            </p:cNvSpPr>
            <p:nvPr/>
          </p:nvSpPr>
          <p:spPr bwMode="auto">
            <a:xfrm>
              <a:off x="3216" y="1536"/>
              <a:ext cx="72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1">
              <a:extLst>
                <a:ext uri="{FF2B5EF4-FFF2-40B4-BE49-F238E27FC236}">
                  <a16:creationId xmlns:a16="http://schemas.microsoft.com/office/drawing/2014/main" id="{780B4AB0-4B02-BD8D-6362-346C95B9464D}"/>
                </a:ext>
              </a:extLst>
            </p:cNvPr>
            <p:cNvSpPr>
              <a:spLocks noChangeShapeType="1"/>
            </p:cNvSpPr>
            <p:nvPr/>
          </p:nvSpPr>
          <p:spPr bwMode="auto">
            <a:xfrm flipV="1">
              <a:off x="3264" y="2208"/>
              <a:ext cx="76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2">
              <a:extLst>
                <a:ext uri="{FF2B5EF4-FFF2-40B4-BE49-F238E27FC236}">
                  <a16:creationId xmlns:a16="http://schemas.microsoft.com/office/drawing/2014/main" id="{E9E3FD27-4C0E-9FA6-E9A4-6E7542CFE627}"/>
                </a:ext>
              </a:extLst>
            </p:cNvPr>
            <p:cNvSpPr>
              <a:spLocks noChangeShapeType="1"/>
            </p:cNvSpPr>
            <p:nvPr/>
          </p:nvSpPr>
          <p:spPr bwMode="auto">
            <a:xfrm>
              <a:off x="4416" y="2016"/>
              <a:ext cx="62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13">
              <a:extLst>
                <a:ext uri="{FF2B5EF4-FFF2-40B4-BE49-F238E27FC236}">
                  <a16:creationId xmlns:a16="http://schemas.microsoft.com/office/drawing/2014/main" id="{6EBFAB06-81AC-5356-2343-974D14CC2CE9}"/>
                </a:ext>
              </a:extLst>
            </p:cNvPr>
            <p:cNvSpPr>
              <a:spLocks noChangeShapeType="1"/>
            </p:cNvSpPr>
            <p:nvPr/>
          </p:nvSpPr>
          <p:spPr bwMode="auto">
            <a:xfrm flipH="1">
              <a:off x="3216" y="2160"/>
              <a:ext cx="720" cy="38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4">
              <a:extLst>
                <a:ext uri="{FF2B5EF4-FFF2-40B4-BE49-F238E27FC236}">
                  <a16:creationId xmlns:a16="http://schemas.microsoft.com/office/drawing/2014/main" id="{B3D97C07-273C-DC54-DCDE-02613CB7D923}"/>
                </a:ext>
              </a:extLst>
            </p:cNvPr>
            <p:cNvSpPr>
              <a:spLocks noChangeShapeType="1"/>
            </p:cNvSpPr>
            <p:nvPr/>
          </p:nvSpPr>
          <p:spPr bwMode="auto">
            <a:xfrm flipH="1">
              <a:off x="1872" y="2544"/>
              <a:ext cx="1344"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5">
              <a:extLst>
                <a:ext uri="{FF2B5EF4-FFF2-40B4-BE49-F238E27FC236}">
                  <a16:creationId xmlns:a16="http://schemas.microsoft.com/office/drawing/2014/main" id="{04BA3D7C-5039-59E7-8954-433F37001178}"/>
                </a:ext>
              </a:extLst>
            </p:cNvPr>
            <p:cNvSpPr>
              <a:spLocks noChangeShapeType="1"/>
            </p:cNvSpPr>
            <p:nvPr/>
          </p:nvSpPr>
          <p:spPr bwMode="auto">
            <a:xfrm flipH="1" flipV="1">
              <a:off x="3216" y="1680"/>
              <a:ext cx="672" cy="2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6">
              <a:extLst>
                <a:ext uri="{FF2B5EF4-FFF2-40B4-BE49-F238E27FC236}">
                  <a16:creationId xmlns:a16="http://schemas.microsoft.com/office/drawing/2014/main" id="{C788CAE1-BFC2-A91C-3F26-523970D5E607}"/>
                </a:ext>
              </a:extLst>
            </p:cNvPr>
            <p:cNvSpPr>
              <a:spLocks noChangeShapeType="1"/>
            </p:cNvSpPr>
            <p:nvPr/>
          </p:nvSpPr>
          <p:spPr bwMode="auto">
            <a:xfrm flipH="1">
              <a:off x="1872" y="1680"/>
              <a:ext cx="1344"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7">
              <a:extLst>
                <a:ext uri="{FF2B5EF4-FFF2-40B4-BE49-F238E27FC236}">
                  <a16:creationId xmlns:a16="http://schemas.microsoft.com/office/drawing/2014/main" id="{2CD118DA-6D2C-E3E8-E11E-AF26F9F51B71}"/>
                </a:ext>
              </a:extLst>
            </p:cNvPr>
            <p:cNvSpPr>
              <a:spLocks noChangeShapeType="1"/>
            </p:cNvSpPr>
            <p:nvPr/>
          </p:nvSpPr>
          <p:spPr bwMode="auto">
            <a:xfrm flipH="1">
              <a:off x="4368" y="2112"/>
              <a:ext cx="624"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8">
              <a:extLst>
                <a:ext uri="{FF2B5EF4-FFF2-40B4-BE49-F238E27FC236}">
                  <a16:creationId xmlns:a16="http://schemas.microsoft.com/office/drawing/2014/main" id="{420E794C-DDC2-66DA-DC46-F562AF18B0B4}"/>
                </a:ext>
              </a:extLst>
            </p:cNvPr>
            <p:cNvSpPr>
              <a:spLocks noChangeShapeType="1"/>
            </p:cNvSpPr>
            <p:nvPr/>
          </p:nvSpPr>
          <p:spPr bwMode="auto">
            <a:xfrm>
              <a:off x="288" y="1536"/>
              <a:ext cx="105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9">
              <a:extLst>
                <a:ext uri="{FF2B5EF4-FFF2-40B4-BE49-F238E27FC236}">
                  <a16:creationId xmlns:a16="http://schemas.microsoft.com/office/drawing/2014/main" id="{2EA0DA6B-8FC4-DB39-55F3-0B595A8617FC}"/>
                </a:ext>
              </a:extLst>
            </p:cNvPr>
            <p:cNvSpPr>
              <a:spLocks noChangeShapeType="1"/>
            </p:cNvSpPr>
            <p:nvPr/>
          </p:nvSpPr>
          <p:spPr bwMode="auto">
            <a:xfrm>
              <a:off x="336" y="2688"/>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20">
              <a:extLst>
                <a:ext uri="{FF2B5EF4-FFF2-40B4-BE49-F238E27FC236}">
                  <a16:creationId xmlns:a16="http://schemas.microsoft.com/office/drawing/2014/main" id="{50294829-710F-82F1-2DA8-E66A39BF1985}"/>
                </a:ext>
              </a:extLst>
            </p:cNvPr>
            <p:cNvSpPr>
              <a:spLocks noChangeShapeType="1"/>
            </p:cNvSpPr>
            <p:nvPr/>
          </p:nvSpPr>
          <p:spPr bwMode="auto">
            <a:xfrm flipH="1">
              <a:off x="288" y="1680"/>
              <a:ext cx="1056"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1">
              <a:extLst>
                <a:ext uri="{FF2B5EF4-FFF2-40B4-BE49-F238E27FC236}">
                  <a16:creationId xmlns:a16="http://schemas.microsoft.com/office/drawing/2014/main" id="{3A29E5D5-032E-9881-341C-950B4206E1C1}"/>
                </a:ext>
              </a:extLst>
            </p:cNvPr>
            <p:cNvSpPr>
              <a:spLocks noChangeShapeType="1"/>
            </p:cNvSpPr>
            <p:nvPr/>
          </p:nvSpPr>
          <p:spPr bwMode="auto">
            <a:xfrm flipH="1">
              <a:off x="384" y="2544"/>
              <a:ext cx="960"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2">
              <a:extLst>
                <a:ext uri="{FF2B5EF4-FFF2-40B4-BE49-F238E27FC236}">
                  <a16:creationId xmlns:a16="http://schemas.microsoft.com/office/drawing/2014/main" id="{0A4D2B85-F205-9CA4-CE1E-5432980611ED}"/>
                </a:ext>
              </a:extLst>
            </p:cNvPr>
            <p:cNvSpPr>
              <a:spLocks noChangeShapeType="1"/>
            </p:cNvSpPr>
            <p:nvPr/>
          </p:nvSpPr>
          <p:spPr bwMode="auto">
            <a:xfrm>
              <a:off x="2016" y="3312"/>
              <a:ext cx="81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Text Box 23">
              <a:extLst>
                <a:ext uri="{FF2B5EF4-FFF2-40B4-BE49-F238E27FC236}">
                  <a16:creationId xmlns:a16="http://schemas.microsoft.com/office/drawing/2014/main" id="{05FCE5B9-58EB-E9B1-3BA0-D7E7582B48FA}"/>
                </a:ext>
              </a:extLst>
            </p:cNvPr>
            <p:cNvSpPr txBox="1">
              <a:spLocks noChangeArrowheads="1"/>
            </p:cNvSpPr>
            <p:nvPr/>
          </p:nvSpPr>
          <p:spPr bwMode="auto">
            <a:xfrm>
              <a:off x="3024" y="3168"/>
              <a:ext cx="14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Function Signals</a:t>
              </a:r>
            </a:p>
          </p:txBody>
        </p:sp>
        <p:sp>
          <p:nvSpPr>
            <p:cNvPr id="23" name="Line 24">
              <a:extLst>
                <a:ext uri="{FF2B5EF4-FFF2-40B4-BE49-F238E27FC236}">
                  <a16:creationId xmlns:a16="http://schemas.microsoft.com/office/drawing/2014/main" id="{AE46772B-6A7B-C7C5-74D8-14D2AF02DA2D}"/>
                </a:ext>
              </a:extLst>
            </p:cNvPr>
            <p:cNvSpPr>
              <a:spLocks noChangeShapeType="1"/>
            </p:cNvSpPr>
            <p:nvPr/>
          </p:nvSpPr>
          <p:spPr bwMode="auto">
            <a:xfrm flipH="1">
              <a:off x="1968" y="3552"/>
              <a:ext cx="816"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Text Box 25">
              <a:extLst>
                <a:ext uri="{FF2B5EF4-FFF2-40B4-BE49-F238E27FC236}">
                  <a16:creationId xmlns:a16="http://schemas.microsoft.com/office/drawing/2014/main" id="{538ACFFE-949D-C818-7CCC-AF03B8AFDD82}"/>
                </a:ext>
              </a:extLst>
            </p:cNvPr>
            <p:cNvSpPr txBox="1">
              <a:spLocks noChangeArrowheads="1"/>
            </p:cNvSpPr>
            <p:nvPr/>
          </p:nvSpPr>
          <p:spPr bwMode="auto">
            <a:xfrm>
              <a:off x="3024" y="3408"/>
              <a:ext cx="10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Error Signals</a:t>
              </a:r>
            </a:p>
          </p:txBody>
        </p:sp>
      </p:grpSp>
    </p:spTree>
    <p:extLst>
      <p:ext uri="{BB962C8B-B14F-4D97-AF65-F5344CB8AC3E}">
        <p14:creationId xmlns:p14="http://schemas.microsoft.com/office/powerpoint/2010/main" val="1478343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A838E-0B06-7899-8A87-C95CE5C3C593}"/>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A67ECAE-AFAA-A0D5-B136-AC7CF822CB39}"/>
              </a:ext>
            </a:extLst>
          </p:cNvPr>
          <p:cNvSpPr>
            <a:spLocks noGrp="1" noChangeArrowheads="1"/>
          </p:cNvSpPr>
          <p:nvPr>
            <p:ph type="title"/>
          </p:nvPr>
        </p:nvSpPr>
        <p:spPr>
          <a:xfrm>
            <a:off x="457200" y="274638"/>
            <a:ext cx="8229600" cy="1143000"/>
          </a:xfrm>
        </p:spPr>
        <p:txBody>
          <a:bodyPr/>
          <a:lstStyle/>
          <a:p>
            <a:r>
              <a:rPr lang="en-US" altLang="en-US" dirty="0"/>
              <a:t>Improving performance</a:t>
            </a:r>
          </a:p>
        </p:txBody>
      </p:sp>
      <p:sp>
        <p:nvSpPr>
          <p:cNvPr id="3" name="Rectangle 3">
            <a:extLst>
              <a:ext uri="{FF2B5EF4-FFF2-40B4-BE49-F238E27FC236}">
                <a16:creationId xmlns:a16="http://schemas.microsoft.com/office/drawing/2014/main" id="{E595AB72-50DB-C92A-92BB-CC5A20171AB3}"/>
              </a:ext>
            </a:extLst>
          </p:cNvPr>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t>Changing the number of layers and number of neurons in each layer. </a:t>
            </a:r>
          </a:p>
          <a:p>
            <a:r>
              <a:rPr lang="en-US" altLang="en-US"/>
              <a:t>Variation in Transfer functions.</a:t>
            </a:r>
          </a:p>
          <a:p>
            <a:r>
              <a:rPr lang="en-US" altLang="en-US"/>
              <a:t>Changing the learning rate. </a:t>
            </a:r>
          </a:p>
          <a:p>
            <a:r>
              <a:rPr lang="en-US" altLang="en-US"/>
              <a:t>Training for longer times.</a:t>
            </a:r>
          </a:p>
          <a:p>
            <a:r>
              <a:rPr lang="en-US" altLang="en-US"/>
              <a:t> Type of pre-processing and post-processing.</a:t>
            </a:r>
          </a:p>
          <a:p>
            <a:endParaRPr lang="en-US" altLang="en-US" dirty="0"/>
          </a:p>
        </p:txBody>
      </p:sp>
    </p:spTree>
    <p:extLst>
      <p:ext uri="{BB962C8B-B14F-4D97-AF65-F5344CB8AC3E}">
        <p14:creationId xmlns:p14="http://schemas.microsoft.com/office/powerpoint/2010/main" val="71010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Artificial Neural Network</a:t>
            </a:r>
            <a:endParaRPr/>
          </a:p>
        </p:txBody>
      </p:sp>
      <p:sp>
        <p:nvSpPr>
          <p:cNvPr id="153" name="Google Shape;153;p25"/>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buClr>
                <a:schemeClr val="dk1"/>
              </a:buClr>
              <a:buSzPts val="1100"/>
              <a:buNone/>
            </a:pPr>
            <a:r>
              <a:rPr lang="en" b="1">
                <a:solidFill>
                  <a:srgbClr val="273239"/>
                </a:solidFill>
                <a:highlight>
                  <a:srgbClr val="FFFFFF"/>
                </a:highlight>
                <a:latin typeface="Nunito"/>
                <a:ea typeface="Nunito"/>
                <a:cs typeface="Nunito"/>
                <a:sym typeface="Nunito"/>
              </a:rPr>
              <a:t>Key Components of an ANN</a:t>
            </a:r>
            <a:endParaRPr b="1">
              <a:solidFill>
                <a:srgbClr val="273239"/>
              </a:solidFill>
              <a:highlight>
                <a:srgbClr val="FFFFFF"/>
              </a:highlight>
              <a:latin typeface="Nunito"/>
              <a:ea typeface="Nunito"/>
              <a:cs typeface="Nunito"/>
              <a:sym typeface="Nunito"/>
            </a:endParaRPr>
          </a:p>
          <a:p>
            <a:pPr marL="914377" indent="-419090">
              <a:lnSpc>
                <a:spcPct val="158000"/>
              </a:lnSpc>
              <a:buClr>
                <a:srgbClr val="273239"/>
              </a:buClr>
              <a:buSzPts val="1350"/>
              <a:buFont typeface="Nunito"/>
              <a:buChar char="●"/>
            </a:pPr>
            <a:r>
              <a:rPr lang="en" sz="1800" b="1">
                <a:solidFill>
                  <a:srgbClr val="273239"/>
                </a:solidFill>
                <a:highlight>
                  <a:srgbClr val="FFFFFF"/>
                </a:highlight>
                <a:latin typeface="Nunito"/>
                <a:ea typeface="Nunito"/>
                <a:cs typeface="Nunito"/>
                <a:sym typeface="Nunito"/>
              </a:rPr>
              <a:t>Input Layer:</a:t>
            </a:r>
            <a:r>
              <a:rPr lang="en" sz="1800">
                <a:solidFill>
                  <a:srgbClr val="273239"/>
                </a:solidFill>
                <a:highlight>
                  <a:srgbClr val="FFFFFF"/>
                </a:highlight>
                <a:latin typeface="Nunito"/>
                <a:ea typeface="Nunito"/>
                <a:cs typeface="Nunito"/>
                <a:sym typeface="Nunito"/>
              </a:rPr>
              <a:t> This is where the network receives information. For example, in an image recognition task, the input could be an image.</a:t>
            </a:r>
            <a:endParaRPr sz="1800">
              <a:solidFill>
                <a:srgbClr val="273239"/>
              </a:solidFill>
              <a:highlight>
                <a:srgbClr val="FFFFFF"/>
              </a:highlight>
              <a:latin typeface="Nunito"/>
              <a:ea typeface="Nunito"/>
              <a:cs typeface="Nunito"/>
              <a:sym typeface="Nunito"/>
            </a:endParaRPr>
          </a:p>
          <a:p>
            <a:pPr marL="914377" indent="-419090">
              <a:lnSpc>
                <a:spcPct val="158000"/>
              </a:lnSpc>
              <a:buClr>
                <a:srgbClr val="273239"/>
              </a:buClr>
              <a:buSzPts val="1350"/>
              <a:buFont typeface="Nunito"/>
              <a:buChar char="●"/>
            </a:pPr>
            <a:r>
              <a:rPr lang="en" sz="1800" b="1">
                <a:solidFill>
                  <a:srgbClr val="273239"/>
                </a:solidFill>
                <a:highlight>
                  <a:srgbClr val="FFFFFF"/>
                </a:highlight>
                <a:latin typeface="Nunito"/>
                <a:ea typeface="Nunito"/>
                <a:cs typeface="Nunito"/>
                <a:sym typeface="Nunito"/>
              </a:rPr>
              <a:t>Hidden Layers:</a:t>
            </a:r>
            <a:r>
              <a:rPr lang="en" sz="1800">
                <a:solidFill>
                  <a:srgbClr val="273239"/>
                </a:solidFill>
                <a:highlight>
                  <a:srgbClr val="FFFFFF"/>
                </a:highlight>
                <a:latin typeface="Nunito"/>
                <a:ea typeface="Nunito"/>
                <a:cs typeface="Nunito"/>
                <a:sym typeface="Nunito"/>
              </a:rPr>
              <a:t> These layers process the data received from the input layer. The more hidden layers there are, the more complex patterns the network can learn and understand. Each hidden layer transforms the data into more abstract information.</a:t>
            </a:r>
            <a:endParaRPr sz="1800">
              <a:solidFill>
                <a:srgbClr val="273239"/>
              </a:solidFill>
              <a:highlight>
                <a:srgbClr val="FFFFFF"/>
              </a:highlight>
              <a:latin typeface="Nunito"/>
              <a:ea typeface="Nunito"/>
              <a:cs typeface="Nunito"/>
              <a:sym typeface="Nunito"/>
            </a:endParaRPr>
          </a:p>
          <a:p>
            <a:pPr marL="914377" indent="-419090">
              <a:lnSpc>
                <a:spcPct val="158000"/>
              </a:lnSpc>
              <a:buClr>
                <a:srgbClr val="273239"/>
              </a:buClr>
              <a:buSzPts val="1350"/>
              <a:buFont typeface="Nunito"/>
              <a:buChar char="●"/>
            </a:pPr>
            <a:r>
              <a:rPr lang="en" sz="1800" b="1">
                <a:solidFill>
                  <a:srgbClr val="273239"/>
                </a:solidFill>
                <a:highlight>
                  <a:srgbClr val="FFFFFF"/>
                </a:highlight>
                <a:latin typeface="Nunito"/>
                <a:ea typeface="Nunito"/>
                <a:cs typeface="Nunito"/>
                <a:sym typeface="Nunito"/>
              </a:rPr>
              <a:t>Output Layer:</a:t>
            </a:r>
            <a:r>
              <a:rPr lang="en" sz="1800">
                <a:solidFill>
                  <a:srgbClr val="273239"/>
                </a:solidFill>
                <a:highlight>
                  <a:srgbClr val="FFFFFF"/>
                </a:highlight>
                <a:latin typeface="Nunito"/>
                <a:ea typeface="Nunito"/>
                <a:cs typeface="Nunito"/>
                <a:sym typeface="Nunito"/>
              </a:rPr>
              <a:t> This is where the final decision or prediction is made. For example, after processing an image, the output layer might decide whether it’s a cat or a dog.</a:t>
            </a:r>
            <a:endParaRPr sz="1800">
              <a:solidFill>
                <a:srgbClr val="273239"/>
              </a:solidFill>
              <a:highlight>
                <a:srgbClr val="FFFFFF"/>
              </a:highlight>
              <a:latin typeface="Nunito"/>
              <a:ea typeface="Nunito"/>
              <a:cs typeface="Nunito"/>
              <a:sym typeface="Nunito"/>
            </a:endParaRPr>
          </a:p>
          <a:p>
            <a:pPr marL="0" indent="0">
              <a:spcBef>
                <a:spcPts val="2400"/>
              </a:spcBef>
              <a:spcAft>
                <a:spcPts val="160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lnSpc>
                <a:spcPct val="115000"/>
              </a:lnSpc>
            </a:pPr>
            <a:r>
              <a:rPr lang="en" sz="2400" b="1">
                <a:solidFill>
                  <a:srgbClr val="273239"/>
                </a:solidFill>
                <a:highlight>
                  <a:srgbClr val="FFFFFF"/>
                </a:highlight>
                <a:latin typeface="Nunito"/>
                <a:ea typeface="Nunito"/>
                <a:cs typeface="Nunito"/>
                <a:sym typeface="Nunito"/>
              </a:rPr>
              <a:t>Working of Artificial Neural Networks</a:t>
            </a:r>
            <a:endParaRPr sz="2400" b="1">
              <a:solidFill>
                <a:srgbClr val="273239"/>
              </a:solidFill>
              <a:highlight>
                <a:srgbClr val="FFFFFF"/>
              </a:highlight>
              <a:latin typeface="Nunito"/>
              <a:ea typeface="Nunito"/>
              <a:cs typeface="Nunito"/>
              <a:sym typeface="Nunito"/>
            </a:endParaRPr>
          </a:p>
        </p:txBody>
      </p:sp>
      <p:sp>
        <p:nvSpPr>
          <p:cNvPr id="159" name="Google Shape;159;p26"/>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0" indent="0">
              <a:lnSpc>
                <a:spcPct val="95000"/>
              </a:lnSpc>
              <a:buClr>
                <a:schemeClr val="dk1"/>
              </a:buClr>
              <a:buSzPts val="1100"/>
              <a:buNone/>
            </a:pPr>
            <a:r>
              <a:rPr lang="en" sz="1933">
                <a:solidFill>
                  <a:srgbClr val="273239"/>
                </a:solidFill>
                <a:highlight>
                  <a:srgbClr val="FFFFFF"/>
                </a:highlight>
                <a:latin typeface="Nunito"/>
                <a:ea typeface="Nunito"/>
                <a:cs typeface="Nunito"/>
                <a:sym typeface="Nunito"/>
              </a:rPr>
              <a:t>ANNs work by learning patterns in data through a process called </a:t>
            </a:r>
            <a:r>
              <a:rPr lang="en" sz="1933" b="1">
                <a:solidFill>
                  <a:srgbClr val="273239"/>
                </a:solidFill>
                <a:highlight>
                  <a:srgbClr val="FFFFFF"/>
                </a:highlight>
                <a:latin typeface="Nunito"/>
                <a:ea typeface="Nunito"/>
                <a:cs typeface="Nunito"/>
                <a:sym typeface="Nunito"/>
              </a:rPr>
              <a:t>training</a:t>
            </a:r>
            <a:r>
              <a:rPr lang="en" sz="1933">
                <a:solidFill>
                  <a:srgbClr val="273239"/>
                </a:solidFill>
                <a:highlight>
                  <a:srgbClr val="FFFFFF"/>
                </a:highlight>
                <a:latin typeface="Nunito"/>
                <a:ea typeface="Nunito"/>
                <a:cs typeface="Nunito"/>
                <a:sym typeface="Nunito"/>
              </a:rPr>
              <a:t>. During training, the network </a:t>
            </a:r>
            <a:r>
              <a:rPr lang="en" sz="1933" b="1">
                <a:solidFill>
                  <a:srgbClr val="273239"/>
                </a:solidFill>
                <a:highlight>
                  <a:srgbClr val="FFFFFF"/>
                </a:highlight>
                <a:latin typeface="Nunito"/>
                <a:ea typeface="Nunito"/>
                <a:cs typeface="Nunito"/>
                <a:sym typeface="Nunito"/>
              </a:rPr>
              <a:t>adjusts</a:t>
            </a:r>
            <a:r>
              <a:rPr lang="en" sz="1933">
                <a:solidFill>
                  <a:srgbClr val="273239"/>
                </a:solidFill>
                <a:highlight>
                  <a:srgbClr val="FFFFFF"/>
                </a:highlight>
                <a:latin typeface="Nunito"/>
                <a:ea typeface="Nunito"/>
                <a:cs typeface="Nunito"/>
                <a:sym typeface="Nunito"/>
              </a:rPr>
              <a:t> itself to improve its </a:t>
            </a:r>
            <a:r>
              <a:rPr lang="en" sz="1933" b="1">
                <a:solidFill>
                  <a:srgbClr val="273239"/>
                </a:solidFill>
                <a:highlight>
                  <a:srgbClr val="FFFFFF"/>
                </a:highlight>
                <a:latin typeface="Nunito"/>
                <a:ea typeface="Nunito"/>
                <a:cs typeface="Nunito"/>
                <a:sym typeface="Nunito"/>
              </a:rPr>
              <a:t>accuracy</a:t>
            </a:r>
            <a:r>
              <a:rPr lang="en" sz="1933">
                <a:solidFill>
                  <a:srgbClr val="273239"/>
                </a:solidFill>
                <a:highlight>
                  <a:srgbClr val="FFFFFF"/>
                </a:highlight>
                <a:latin typeface="Nunito"/>
                <a:ea typeface="Nunito"/>
                <a:cs typeface="Nunito"/>
                <a:sym typeface="Nunito"/>
              </a:rPr>
              <a:t> by comparing its </a:t>
            </a:r>
            <a:r>
              <a:rPr lang="en" sz="1933" b="1">
                <a:solidFill>
                  <a:srgbClr val="273239"/>
                </a:solidFill>
                <a:highlight>
                  <a:srgbClr val="FFFFFF"/>
                </a:highlight>
                <a:latin typeface="Nunito"/>
                <a:ea typeface="Nunito"/>
                <a:cs typeface="Nunito"/>
                <a:sym typeface="Nunito"/>
              </a:rPr>
              <a:t>predictions</a:t>
            </a:r>
            <a:r>
              <a:rPr lang="en" sz="1933">
                <a:solidFill>
                  <a:srgbClr val="273239"/>
                </a:solidFill>
                <a:highlight>
                  <a:srgbClr val="FFFFFF"/>
                </a:highlight>
                <a:latin typeface="Nunito"/>
                <a:ea typeface="Nunito"/>
                <a:cs typeface="Nunito"/>
                <a:sym typeface="Nunito"/>
              </a:rPr>
              <a:t> with the </a:t>
            </a:r>
            <a:r>
              <a:rPr lang="en" sz="1933" b="1">
                <a:solidFill>
                  <a:srgbClr val="273239"/>
                </a:solidFill>
                <a:highlight>
                  <a:srgbClr val="FFFFFF"/>
                </a:highlight>
                <a:latin typeface="Nunito"/>
                <a:ea typeface="Nunito"/>
                <a:cs typeface="Nunito"/>
                <a:sym typeface="Nunito"/>
              </a:rPr>
              <a:t>actual</a:t>
            </a:r>
            <a:r>
              <a:rPr lang="en" sz="1933">
                <a:solidFill>
                  <a:srgbClr val="273239"/>
                </a:solidFill>
                <a:highlight>
                  <a:srgbClr val="FFFFFF"/>
                </a:highlight>
                <a:latin typeface="Nunito"/>
                <a:ea typeface="Nunito"/>
                <a:cs typeface="Nunito"/>
                <a:sym typeface="Nunito"/>
              </a:rPr>
              <a:t> results.</a:t>
            </a:r>
            <a:endParaRPr sz="1933">
              <a:solidFill>
                <a:srgbClr val="273239"/>
              </a:solidFill>
              <a:highlight>
                <a:srgbClr val="FFFFFF"/>
              </a:highlight>
              <a:latin typeface="Nunito"/>
              <a:ea typeface="Nunito"/>
              <a:cs typeface="Nunito"/>
              <a:sym typeface="Nunito"/>
            </a:endParaRPr>
          </a:p>
          <a:p>
            <a:pPr marL="0" indent="0">
              <a:lnSpc>
                <a:spcPct val="95000"/>
              </a:lnSpc>
              <a:spcBef>
                <a:spcPts val="1067"/>
              </a:spcBef>
              <a:buClr>
                <a:schemeClr val="dk1"/>
              </a:buClr>
              <a:buSzPts val="1100"/>
              <a:buNone/>
            </a:pPr>
            <a:r>
              <a:rPr lang="en" sz="1933">
                <a:solidFill>
                  <a:srgbClr val="273239"/>
                </a:solidFill>
                <a:highlight>
                  <a:srgbClr val="FFFFFF"/>
                </a:highlight>
                <a:latin typeface="Nunito"/>
                <a:ea typeface="Nunito"/>
                <a:cs typeface="Nunito"/>
                <a:sym typeface="Nunito"/>
              </a:rPr>
              <a:t>Lets see how the learning process works:</a:t>
            </a:r>
            <a:endParaRPr sz="1933">
              <a:solidFill>
                <a:srgbClr val="273239"/>
              </a:solidFill>
              <a:highlight>
                <a:srgbClr val="FFFFFF"/>
              </a:highlight>
              <a:latin typeface="Nunito"/>
              <a:ea typeface="Nunito"/>
              <a:cs typeface="Nunito"/>
              <a:sym typeface="Nunito"/>
            </a:endParaRPr>
          </a:p>
          <a:p>
            <a:pPr marL="914377" indent="-427556">
              <a:lnSpc>
                <a:spcPct val="138000"/>
              </a:lnSpc>
              <a:spcBef>
                <a:spcPts val="1067"/>
              </a:spcBef>
              <a:buClr>
                <a:srgbClr val="273239"/>
              </a:buClr>
              <a:buSzPts val="1450"/>
              <a:buFont typeface="Nunito"/>
              <a:buChar char="●"/>
            </a:pPr>
            <a:r>
              <a:rPr lang="en" sz="1933" b="1">
                <a:solidFill>
                  <a:srgbClr val="273239"/>
                </a:solidFill>
                <a:highlight>
                  <a:srgbClr val="FFFFFF"/>
                </a:highlight>
                <a:latin typeface="Nunito"/>
                <a:ea typeface="Nunito"/>
                <a:cs typeface="Nunito"/>
                <a:sym typeface="Nunito"/>
              </a:rPr>
              <a:t>Input Layer</a:t>
            </a:r>
            <a:r>
              <a:rPr lang="en" sz="1933">
                <a:solidFill>
                  <a:srgbClr val="273239"/>
                </a:solidFill>
                <a:highlight>
                  <a:srgbClr val="FFFFFF"/>
                </a:highlight>
                <a:latin typeface="Nunito"/>
                <a:ea typeface="Nunito"/>
                <a:cs typeface="Nunito"/>
                <a:sym typeface="Nunito"/>
              </a:rPr>
              <a:t>: Data such as an image, text or number is fed into the network through the input layer.</a:t>
            </a:r>
            <a:endParaRPr sz="1933">
              <a:solidFill>
                <a:srgbClr val="273239"/>
              </a:solidFill>
              <a:highlight>
                <a:srgbClr val="FFFFFF"/>
              </a:highlight>
              <a:latin typeface="Nunito"/>
              <a:ea typeface="Nunito"/>
              <a:cs typeface="Nunito"/>
              <a:sym typeface="Nunito"/>
            </a:endParaRPr>
          </a:p>
          <a:p>
            <a:pPr marL="914377" indent="-427556">
              <a:lnSpc>
                <a:spcPct val="138000"/>
              </a:lnSpc>
              <a:buClr>
                <a:srgbClr val="273239"/>
              </a:buClr>
              <a:buSzPts val="1450"/>
              <a:buFont typeface="Nunito"/>
              <a:buChar char="●"/>
            </a:pPr>
            <a:r>
              <a:rPr lang="en" sz="1933" b="1">
                <a:solidFill>
                  <a:srgbClr val="273239"/>
                </a:solidFill>
                <a:highlight>
                  <a:srgbClr val="FFFFFF"/>
                </a:highlight>
                <a:latin typeface="Nunito"/>
                <a:ea typeface="Nunito"/>
                <a:cs typeface="Nunito"/>
                <a:sym typeface="Nunito"/>
              </a:rPr>
              <a:t>Hidden Layers</a:t>
            </a:r>
            <a:r>
              <a:rPr lang="en" sz="1933">
                <a:solidFill>
                  <a:srgbClr val="273239"/>
                </a:solidFill>
                <a:highlight>
                  <a:srgbClr val="FFFFFF"/>
                </a:highlight>
                <a:latin typeface="Nunito"/>
                <a:ea typeface="Nunito"/>
                <a:cs typeface="Nunito"/>
                <a:sym typeface="Nunito"/>
              </a:rPr>
              <a:t>: Each neuron in the hidden layers performs some calculation on the input, passing the result to the next layer. The data is transformed and abstracted at each layer.</a:t>
            </a:r>
            <a:endParaRPr sz="1933">
              <a:solidFill>
                <a:srgbClr val="273239"/>
              </a:solidFill>
              <a:highlight>
                <a:srgbClr val="FFFFFF"/>
              </a:highlight>
              <a:latin typeface="Nunito"/>
              <a:ea typeface="Nunito"/>
              <a:cs typeface="Nunito"/>
              <a:sym typeface="Nunito"/>
            </a:endParaRPr>
          </a:p>
          <a:p>
            <a:pPr marL="914377" indent="-427556">
              <a:lnSpc>
                <a:spcPct val="138000"/>
              </a:lnSpc>
              <a:buClr>
                <a:srgbClr val="273239"/>
              </a:buClr>
              <a:buSzPts val="1450"/>
              <a:buFont typeface="Nunito"/>
              <a:buChar char="●"/>
            </a:pPr>
            <a:r>
              <a:rPr lang="en" sz="1933" b="1">
                <a:solidFill>
                  <a:srgbClr val="273239"/>
                </a:solidFill>
                <a:highlight>
                  <a:srgbClr val="FFFFFF"/>
                </a:highlight>
                <a:latin typeface="Nunito"/>
                <a:ea typeface="Nunito"/>
                <a:cs typeface="Nunito"/>
                <a:sym typeface="Nunito"/>
              </a:rPr>
              <a:t>Output Layer</a:t>
            </a:r>
            <a:r>
              <a:rPr lang="en" sz="1933">
                <a:solidFill>
                  <a:srgbClr val="273239"/>
                </a:solidFill>
                <a:highlight>
                  <a:srgbClr val="FFFFFF"/>
                </a:highlight>
                <a:latin typeface="Nunito"/>
                <a:ea typeface="Nunito"/>
                <a:cs typeface="Nunito"/>
                <a:sym typeface="Nunito"/>
              </a:rPr>
              <a:t>: After passing through all the layers, the network gives its final prediction like classifying an image as a cat or a dog.</a:t>
            </a:r>
            <a:endParaRPr sz="1933">
              <a:solidFill>
                <a:srgbClr val="273239"/>
              </a:solidFill>
              <a:highlight>
                <a:srgbClr val="FFFFFF"/>
              </a:highlight>
              <a:latin typeface="Nunito"/>
              <a:ea typeface="Nunito"/>
              <a:cs typeface="Nunito"/>
              <a:sym typeface="Nunito"/>
            </a:endParaRPr>
          </a:p>
          <a:p>
            <a:pPr marL="0" indent="0">
              <a:lnSpc>
                <a:spcPct val="95000"/>
              </a:lnSpc>
              <a:spcBef>
                <a:spcPts val="2400"/>
              </a:spcBef>
              <a:buClr>
                <a:schemeClr val="dk1"/>
              </a:buClr>
              <a:buSzPts val="1100"/>
              <a:buNone/>
            </a:pPr>
            <a:r>
              <a:rPr lang="en" sz="1933">
                <a:solidFill>
                  <a:srgbClr val="273239"/>
                </a:solidFill>
                <a:highlight>
                  <a:srgbClr val="FFFFFF"/>
                </a:highlight>
                <a:latin typeface="Nunito"/>
                <a:ea typeface="Nunito"/>
                <a:cs typeface="Nunito"/>
                <a:sym typeface="Nunito"/>
              </a:rPr>
              <a:t>The process of </a:t>
            </a:r>
            <a:r>
              <a:rPr lang="en" sz="1933" u="sng">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backpropagation </a:t>
            </a:r>
            <a:r>
              <a:rPr lang="en" sz="1933">
                <a:solidFill>
                  <a:srgbClr val="273239"/>
                </a:solidFill>
                <a:highlight>
                  <a:srgbClr val="FFFFFF"/>
                </a:highlight>
                <a:latin typeface="Nunito"/>
                <a:ea typeface="Nunito"/>
                <a:cs typeface="Nunito"/>
                <a:sym typeface="Nunito"/>
              </a:rPr>
              <a:t>is used to adjust the weights between neurons. When the network makes a mistake, the weights are updated to reduce the error and improve the next prediction.</a:t>
            </a:r>
            <a:endParaRPr sz="1933">
              <a:solidFill>
                <a:srgbClr val="273239"/>
              </a:solidFill>
              <a:highlight>
                <a:srgbClr val="FFFFFF"/>
              </a:highlight>
              <a:latin typeface="Nunito"/>
              <a:ea typeface="Nunito"/>
              <a:cs typeface="Nunito"/>
              <a:sym typeface="Nunito"/>
            </a:endParaRPr>
          </a:p>
          <a:p>
            <a:pPr marL="0" indent="0">
              <a:lnSpc>
                <a:spcPct val="95000"/>
              </a:lnSpc>
              <a:spcBef>
                <a:spcPts val="1067"/>
              </a:spcBef>
              <a:spcAft>
                <a:spcPts val="1600"/>
              </a:spcAft>
              <a:buNone/>
            </a:pPr>
            <a:endParaRPr sz="2533"/>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lnSpc>
                <a:spcPct val="115000"/>
              </a:lnSpc>
            </a:pPr>
            <a:r>
              <a:rPr lang="en" sz="2400" b="1">
                <a:solidFill>
                  <a:srgbClr val="273239"/>
                </a:solidFill>
                <a:highlight>
                  <a:srgbClr val="FFFFFF"/>
                </a:highlight>
                <a:latin typeface="Nunito"/>
                <a:ea typeface="Nunito"/>
                <a:cs typeface="Nunito"/>
                <a:sym typeface="Nunito"/>
              </a:rPr>
              <a:t>Common Activation Functions in ANNs</a:t>
            </a:r>
            <a:endParaRPr sz="2400" b="1">
              <a:solidFill>
                <a:srgbClr val="273239"/>
              </a:solidFill>
              <a:highlight>
                <a:srgbClr val="FFFFFF"/>
              </a:highlight>
              <a:latin typeface="Nunito"/>
              <a:ea typeface="Nunito"/>
              <a:cs typeface="Nunito"/>
              <a:sym typeface="Nunito"/>
            </a:endParaRPr>
          </a:p>
        </p:txBody>
      </p:sp>
      <p:sp>
        <p:nvSpPr>
          <p:cNvPr id="165" name="Google Shape;165;p27"/>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0" indent="0">
              <a:buClr>
                <a:schemeClr val="dk1"/>
              </a:buClr>
              <a:buSzPts val="853"/>
              <a:buNone/>
            </a:pPr>
            <a:r>
              <a:rPr lang="en" sz="1795">
                <a:solidFill>
                  <a:srgbClr val="273239"/>
                </a:solidFill>
                <a:highlight>
                  <a:srgbClr val="FFFFFF"/>
                </a:highlight>
                <a:latin typeface="Nunito"/>
                <a:ea typeface="Nunito"/>
                <a:cs typeface="Nunito"/>
                <a:sym typeface="Nunito"/>
              </a:rPr>
              <a:t>Activation functions are important in neural networks because they introduce non-linearity and helps the network to learn complex patterns. Lets see some common activation functions used in ANNs:</a:t>
            </a:r>
            <a:endParaRPr sz="1795">
              <a:solidFill>
                <a:srgbClr val="273239"/>
              </a:solidFill>
              <a:highlight>
                <a:srgbClr val="FFFFFF"/>
              </a:highlight>
              <a:latin typeface="Nunito"/>
              <a:ea typeface="Nunito"/>
              <a:cs typeface="Nunito"/>
              <a:sym typeface="Nunito"/>
            </a:endParaRPr>
          </a:p>
          <a:p>
            <a:pPr marL="914377" indent="-418772">
              <a:lnSpc>
                <a:spcPct val="158000"/>
              </a:lnSpc>
              <a:spcBef>
                <a:spcPts val="1067"/>
              </a:spcBef>
              <a:buClr>
                <a:srgbClr val="273239"/>
              </a:buClr>
              <a:buSzPts val="1346"/>
              <a:buFont typeface="Nunito"/>
              <a:buAutoNum type="arabicPeriod"/>
            </a:pPr>
            <a:r>
              <a:rPr lang="en" sz="1795" b="1" u="sng">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Sigmoid Function</a:t>
            </a:r>
            <a:r>
              <a:rPr lang="en" sz="1795" b="1">
                <a:solidFill>
                  <a:srgbClr val="273239"/>
                </a:solidFill>
                <a:highlight>
                  <a:srgbClr val="FFFFFF"/>
                </a:highlight>
                <a:latin typeface="Nunito"/>
                <a:ea typeface="Nunito"/>
                <a:cs typeface="Nunito"/>
                <a:sym typeface="Nunito"/>
              </a:rPr>
              <a:t>: </a:t>
            </a:r>
            <a:r>
              <a:rPr lang="en" sz="1795">
                <a:solidFill>
                  <a:srgbClr val="273239"/>
                </a:solidFill>
                <a:highlight>
                  <a:srgbClr val="FFFFFF"/>
                </a:highlight>
                <a:latin typeface="Nunito"/>
                <a:ea typeface="Nunito"/>
                <a:cs typeface="Nunito"/>
                <a:sym typeface="Nunito"/>
              </a:rPr>
              <a:t>Outputs values between 0 and 1. It is used in binary classification tasks like deciding if an image is a cat or not.</a:t>
            </a:r>
            <a:endParaRPr sz="1795">
              <a:solidFill>
                <a:srgbClr val="273239"/>
              </a:solidFill>
              <a:highlight>
                <a:srgbClr val="FFFFFF"/>
              </a:highlight>
              <a:latin typeface="Nunito"/>
              <a:ea typeface="Nunito"/>
              <a:cs typeface="Nunito"/>
              <a:sym typeface="Nunito"/>
            </a:endParaRPr>
          </a:p>
          <a:p>
            <a:pPr marL="914377" indent="-418772">
              <a:lnSpc>
                <a:spcPct val="158000"/>
              </a:lnSpc>
              <a:buClr>
                <a:srgbClr val="273239"/>
              </a:buClr>
              <a:buSzPts val="1346"/>
              <a:buFont typeface="Nunito"/>
              <a:buAutoNum type="arabicPeriod"/>
            </a:pPr>
            <a:r>
              <a:rPr lang="en" sz="1795" b="1" u="sng">
                <a:solidFill>
                  <a:srgbClr val="357960"/>
                </a:solidFill>
                <a:highlight>
                  <a:srgbClr val="FFFFFF"/>
                </a:highlight>
                <a:latin typeface="Nunito"/>
                <a:ea typeface="Nunito"/>
                <a:cs typeface="Nunito"/>
                <a:sym typeface="Nunito"/>
                <a:hlinkClick r:id="rId4">
                  <a:extLst>
                    <a:ext uri="{A12FA001-AC4F-418D-AE19-62706E023703}">
                      <ahyp:hlinkClr xmlns:ahyp="http://schemas.microsoft.com/office/drawing/2018/hyperlinkcolor" val="tx"/>
                    </a:ext>
                  </a:extLst>
                </a:hlinkClick>
              </a:rPr>
              <a:t>ReLU (Rectified Linear Unit)</a:t>
            </a:r>
            <a:r>
              <a:rPr lang="en" sz="1795" b="1">
                <a:solidFill>
                  <a:srgbClr val="273239"/>
                </a:solidFill>
                <a:highlight>
                  <a:srgbClr val="FFFFFF"/>
                </a:highlight>
                <a:latin typeface="Nunito"/>
                <a:ea typeface="Nunito"/>
                <a:cs typeface="Nunito"/>
                <a:sym typeface="Nunito"/>
              </a:rPr>
              <a:t>: </a:t>
            </a:r>
            <a:r>
              <a:rPr lang="en" sz="1795">
                <a:solidFill>
                  <a:srgbClr val="273239"/>
                </a:solidFill>
                <a:highlight>
                  <a:srgbClr val="FFFFFF"/>
                </a:highlight>
                <a:latin typeface="Nunito"/>
                <a:ea typeface="Nunito"/>
                <a:cs typeface="Nunito"/>
                <a:sym typeface="Nunito"/>
              </a:rPr>
              <a:t>A popular choice for hidden layers, it returns the input if positive and zero otherwise. It helps to solve the </a:t>
            </a:r>
            <a:r>
              <a:rPr lang="en" sz="1795" u="sng">
                <a:solidFill>
                  <a:srgbClr val="357960"/>
                </a:solidFill>
                <a:highlight>
                  <a:srgbClr val="FFFFFF"/>
                </a:highlight>
                <a:latin typeface="Nunito"/>
                <a:ea typeface="Nunito"/>
                <a:cs typeface="Nunito"/>
                <a:sym typeface="Nunito"/>
                <a:hlinkClick r:id="rId5">
                  <a:extLst>
                    <a:ext uri="{A12FA001-AC4F-418D-AE19-62706E023703}">
                      <ahyp:hlinkClr xmlns:ahyp="http://schemas.microsoft.com/office/drawing/2018/hyperlinkcolor" val="tx"/>
                    </a:ext>
                  </a:extLst>
                </a:hlinkClick>
              </a:rPr>
              <a:t>vanishing gradient problem</a:t>
            </a:r>
            <a:r>
              <a:rPr lang="en" sz="1795">
                <a:solidFill>
                  <a:srgbClr val="273239"/>
                </a:solidFill>
                <a:highlight>
                  <a:srgbClr val="FFFFFF"/>
                </a:highlight>
                <a:latin typeface="Nunito"/>
                <a:ea typeface="Nunito"/>
                <a:cs typeface="Nunito"/>
                <a:sym typeface="Nunito"/>
              </a:rPr>
              <a:t>.</a:t>
            </a:r>
            <a:endParaRPr sz="1795">
              <a:solidFill>
                <a:srgbClr val="273239"/>
              </a:solidFill>
              <a:highlight>
                <a:srgbClr val="FFFFFF"/>
              </a:highlight>
              <a:latin typeface="Nunito"/>
              <a:ea typeface="Nunito"/>
              <a:cs typeface="Nunito"/>
              <a:sym typeface="Nunito"/>
            </a:endParaRPr>
          </a:p>
          <a:p>
            <a:pPr marL="914377" indent="-418772">
              <a:lnSpc>
                <a:spcPct val="158000"/>
              </a:lnSpc>
              <a:buClr>
                <a:srgbClr val="273239"/>
              </a:buClr>
              <a:buSzPts val="1346"/>
              <a:buFont typeface="Nunito"/>
              <a:buAutoNum type="arabicPeriod"/>
            </a:pPr>
            <a:r>
              <a:rPr lang="en" sz="1795" b="1" u="sng">
                <a:solidFill>
                  <a:srgbClr val="357960"/>
                </a:solidFill>
                <a:highlight>
                  <a:srgbClr val="FFFFFF"/>
                </a:highlight>
                <a:latin typeface="Nunito"/>
                <a:ea typeface="Nunito"/>
                <a:cs typeface="Nunito"/>
                <a:sym typeface="Nunito"/>
                <a:hlinkClick r:id="rId6">
                  <a:extLst>
                    <a:ext uri="{A12FA001-AC4F-418D-AE19-62706E023703}">
                      <ahyp:hlinkClr xmlns:ahyp="http://schemas.microsoft.com/office/drawing/2018/hyperlinkcolor" val="tx"/>
                    </a:ext>
                  </a:extLst>
                </a:hlinkClick>
              </a:rPr>
              <a:t>Tanh (Hyperbolic Tangent)</a:t>
            </a:r>
            <a:r>
              <a:rPr lang="en" sz="1795" b="1">
                <a:solidFill>
                  <a:srgbClr val="273239"/>
                </a:solidFill>
                <a:highlight>
                  <a:srgbClr val="FFFFFF"/>
                </a:highlight>
                <a:latin typeface="Nunito"/>
                <a:ea typeface="Nunito"/>
                <a:cs typeface="Nunito"/>
                <a:sym typeface="Nunito"/>
              </a:rPr>
              <a:t>:</a:t>
            </a:r>
            <a:r>
              <a:rPr lang="en" sz="1795">
                <a:solidFill>
                  <a:srgbClr val="273239"/>
                </a:solidFill>
                <a:highlight>
                  <a:srgbClr val="FFFFFF"/>
                </a:highlight>
                <a:latin typeface="Nunito"/>
                <a:ea typeface="Nunito"/>
                <a:cs typeface="Nunito"/>
                <a:sym typeface="Nunito"/>
              </a:rPr>
              <a:t> Similar to sigmoid but outputs values between -1 and 1. It is used in hidden layers when a broader range of outputs is needed.</a:t>
            </a:r>
            <a:endParaRPr sz="1795">
              <a:solidFill>
                <a:srgbClr val="273239"/>
              </a:solidFill>
              <a:highlight>
                <a:srgbClr val="FFFFFF"/>
              </a:highlight>
              <a:latin typeface="Nunito"/>
              <a:ea typeface="Nunito"/>
              <a:cs typeface="Nunito"/>
              <a:sym typeface="Nunito"/>
            </a:endParaRPr>
          </a:p>
          <a:p>
            <a:pPr marL="914377" indent="-418772">
              <a:lnSpc>
                <a:spcPct val="158000"/>
              </a:lnSpc>
              <a:buClr>
                <a:srgbClr val="273239"/>
              </a:buClr>
              <a:buSzPts val="1346"/>
              <a:buFont typeface="Nunito"/>
              <a:buAutoNum type="arabicPeriod"/>
            </a:pPr>
            <a:r>
              <a:rPr lang="en" sz="1795" b="1" u="sng">
                <a:solidFill>
                  <a:srgbClr val="357960"/>
                </a:solidFill>
                <a:highlight>
                  <a:srgbClr val="FFFFFF"/>
                </a:highlight>
                <a:latin typeface="Nunito"/>
                <a:ea typeface="Nunito"/>
                <a:cs typeface="Nunito"/>
                <a:sym typeface="Nunito"/>
                <a:hlinkClick r:id="rId7">
                  <a:extLst>
                    <a:ext uri="{A12FA001-AC4F-418D-AE19-62706E023703}">
                      <ahyp:hlinkClr xmlns:ahyp="http://schemas.microsoft.com/office/drawing/2018/hyperlinkcolor" val="tx"/>
                    </a:ext>
                  </a:extLst>
                </a:hlinkClick>
              </a:rPr>
              <a:t>Softmax</a:t>
            </a:r>
            <a:r>
              <a:rPr lang="en" sz="1795" b="1">
                <a:solidFill>
                  <a:srgbClr val="273239"/>
                </a:solidFill>
                <a:highlight>
                  <a:srgbClr val="FFFFFF"/>
                </a:highlight>
                <a:latin typeface="Nunito"/>
                <a:ea typeface="Nunito"/>
                <a:cs typeface="Nunito"/>
                <a:sym typeface="Nunito"/>
              </a:rPr>
              <a:t>:</a:t>
            </a:r>
            <a:r>
              <a:rPr lang="en" sz="1795">
                <a:solidFill>
                  <a:srgbClr val="273239"/>
                </a:solidFill>
                <a:highlight>
                  <a:srgbClr val="FFFFFF"/>
                </a:highlight>
                <a:latin typeface="Nunito"/>
                <a:ea typeface="Nunito"/>
                <a:cs typeface="Nunito"/>
                <a:sym typeface="Nunito"/>
              </a:rPr>
              <a:t> Converts raw outputs into probabilities used in the final layer of a network for multi-class classification tasks.</a:t>
            </a:r>
            <a:endParaRPr sz="1795">
              <a:solidFill>
                <a:srgbClr val="273239"/>
              </a:solidFill>
              <a:highlight>
                <a:srgbClr val="FFFFFF"/>
              </a:highlight>
              <a:latin typeface="Nunito"/>
              <a:ea typeface="Nunito"/>
              <a:cs typeface="Nunito"/>
              <a:sym typeface="Nunito"/>
            </a:endParaRPr>
          </a:p>
          <a:p>
            <a:pPr marL="914377" indent="-418772">
              <a:lnSpc>
                <a:spcPct val="158000"/>
              </a:lnSpc>
              <a:buClr>
                <a:srgbClr val="273239"/>
              </a:buClr>
              <a:buSzPts val="1346"/>
              <a:buFont typeface="Nunito"/>
              <a:buAutoNum type="arabicPeriod"/>
            </a:pPr>
            <a:r>
              <a:rPr lang="en" sz="1795" b="1" u="sng">
                <a:solidFill>
                  <a:srgbClr val="357960"/>
                </a:solidFill>
                <a:highlight>
                  <a:srgbClr val="FFFFFF"/>
                </a:highlight>
                <a:latin typeface="Nunito"/>
                <a:ea typeface="Nunito"/>
                <a:cs typeface="Nunito"/>
                <a:sym typeface="Nunito"/>
                <a:hlinkClick r:id="rId8">
                  <a:extLst>
                    <a:ext uri="{A12FA001-AC4F-418D-AE19-62706E023703}">
                      <ahyp:hlinkClr xmlns:ahyp="http://schemas.microsoft.com/office/drawing/2018/hyperlinkcolor" val="tx"/>
                    </a:ext>
                  </a:extLst>
                </a:hlinkClick>
              </a:rPr>
              <a:t>Leaky ReLU</a:t>
            </a:r>
            <a:r>
              <a:rPr lang="en" sz="1795" b="1">
                <a:solidFill>
                  <a:srgbClr val="273239"/>
                </a:solidFill>
                <a:highlight>
                  <a:srgbClr val="FFFFFF"/>
                </a:highlight>
                <a:latin typeface="Nunito"/>
                <a:ea typeface="Nunito"/>
                <a:cs typeface="Nunito"/>
                <a:sym typeface="Nunito"/>
              </a:rPr>
              <a:t>:</a:t>
            </a:r>
            <a:r>
              <a:rPr lang="en" sz="1795">
                <a:solidFill>
                  <a:srgbClr val="273239"/>
                </a:solidFill>
                <a:highlight>
                  <a:srgbClr val="FFFFFF"/>
                </a:highlight>
                <a:latin typeface="Nunito"/>
                <a:ea typeface="Nunito"/>
                <a:cs typeface="Nunito"/>
                <a:sym typeface="Nunito"/>
              </a:rPr>
              <a:t> A variant of ReLU that allows small negative values for inputs helps in preventing “dead neurons” during training.</a:t>
            </a:r>
            <a:endParaRPr sz="1795">
              <a:solidFill>
                <a:srgbClr val="273239"/>
              </a:solidFill>
              <a:highlight>
                <a:srgbClr val="FFFFFF"/>
              </a:highlight>
              <a:latin typeface="Nunito"/>
              <a:ea typeface="Nunito"/>
              <a:cs typeface="Nunito"/>
              <a:sym typeface="Nunito"/>
            </a:endParaRPr>
          </a:p>
          <a:p>
            <a:pPr marL="0" indent="0">
              <a:spcBef>
                <a:spcPts val="2400"/>
              </a:spcBef>
              <a:spcAft>
                <a:spcPts val="1600"/>
              </a:spcAft>
              <a:buSzPts val="853"/>
              <a:buNone/>
            </a:pPr>
            <a:endParaRPr sz="226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lnSpc>
                <a:spcPct val="115000"/>
              </a:lnSpc>
            </a:pPr>
            <a:r>
              <a:rPr lang="en" sz="2400" b="1">
                <a:solidFill>
                  <a:srgbClr val="273239"/>
                </a:solidFill>
                <a:highlight>
                  <a:srgbClr val="FFFFFF"/>
                </a:highlight>
                <a:latin typeface="Nunito"/>
                <a:ea typeface="Nunito"/>
                <a:cs typeface="Nunito"/>
                <a:sym typeface="Nunito"/>
              </a:rPr>
              <a:t>Optimization Algorithms in ANN Training</a:t>
            </a:r>
            <a:endParaRPr sz="2400" b="1">
              <a:solidFill>
                <a:srgbClr val="273239"/>
              </a:solidFill>
              <a:highlight>
                <a:srgbClr val="FFFFFF"/>
              </a:highlight>
              <a:latin typeface="Nunito"/>
              <a:ea typeface="Nunito"/>
              <a:cs typeface="Nunito"/>
              <a:sym typeface="Nunito"/>
            </a:endParaRPr>
          </a:p>
        </p:txBody>
      </p:sp>
      <p:sp>
        <p:nvSpPr>
          <p:cNvPr id="171" name="Google Shape;171;p28"/>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0" indent="0">
              <a:lnSpc>
                <a:spcPct val="95000"/>
              </a:lnSpc>
              <a:buClr>
                <a:schemeClr val="dk1"/>
              </a:buClr>
              <a:buSzPts val="1018"/>
              <a:buNone/>
            </a:pPr>
            <a:r>
              <a:rPr lang="en" sz="2199">
                <a:solidFill>
                  <a:srgbClr val="273239"/>
                </a:solidFill>
                <a:highlight>
                  <a:srgbClr val="FFFFFF"/>
                </a:highlight>
                <a:latin typeface="Nunito"/>
                <a:ea typeface="Nunito"/>
                <a:cs typeface="Nunito"/>
                <a:sym typeface="Nunito"/>
              </a:rPr>
              <a:t>Optimization algorithms adjust the weights of a neural network during training to minimize errors. The goal is to make the network’s predictions more accurate. Lets see key algorithms:</a:t>
            </a:r>
            <a:endParaRPr sz="2199">
              <a:solidFill>
                <a:srgbClr val="273239"/>
              </a:solidFill>
              <a:highlight>
                <a:srgbClr val="FFFFFF"/>
              </a:highlight>
              <a:latin typeface="Nunito"/>
              <a:ea typeface="Nunito"/>
              <a:cs typeface="Nunito"/>
              <a:sym typeface="Nunito"/>
            </a:endParaRPr>
          </a:p>
          <a:p>
            <a:pPr marL="914377" indent="-444384">
              <a:lnSpc>
                <a:spcPct val="138000"/>
              </a:lnSpc>
              <a:spcBef>
                <a:spcPts val="1067"/>
              </a:spcBef>
              <a:buClr>
                <a:srgbClr val="273239"/>
              </a:buClr>
              <a:buSzPts val="1649"/>
              <a:buFont typeface="Nunito"/>
              <a:buAutoNum type="arabicPeriod"/>
            </a:pPr>
            <a:r>
              <a:rPr lang="en" sz="2199" b="1">
                <a:solidFill>
                  <a:srgbClr val="273239"/>
                </a:solidFill>
                <a:highlight>
                  <a:srgbClr val="FFFFFF"/>
                </a:highlight>
                <a:latin typeface="Nunito"/>
                <a:ea typeface="Nunito"/>
                <a:cs typeface="Nunito"/>
                <a:sym typeface="Nunito"/>
              </a:rPr>
              <a:t>Gradient Descent: </a:t>
            </a:r>
            <a:r>
              <a:rPr lang="en" sz="2199">
                <a:solidFill>
                  <a:srgbClr val="273239"/>
                </a:solidFill>
                <a:highlight>
                  <a:srgbClr val="FFFFFF"/>
                </a:highlight>
                <a:latin typeface="Nunito"/>
                <a:ea typeface="Nunito"/>
                <a:cs typeface="Nunito"/>
                <a:sym typeface="Nunito"/>
              </a:rPr>
              <a:t>Most basic optimization algorithm that updates weights by calculating the gradient of the loss function.</a:t>
            </a:r>
            <a:endParaRPr sz="2199">
              <a:solidFill>
                <a:srgbClr val="273239"/>
              </a:solidFill>
              <a:highlight>
                <a:srgbClr val="FFFFFF"/>
              </a:highlight>
              <a:latin typeface="Nunito"/>
              <a:ea typeface="Nunito"/>
              <a:cs typeface="Nunito"/>
              <a:sym typeface="Nunito"/>
            </a:endParaRPr>
          </a:p>
          <a:p>
            <a:pPr marL="914377" indent="-444384">
              <a:lnSpc>
                <a:spcPct val="138000"/>
              </a:lnSpc>
              <a:buClr>
                <a:srgbClr val="273239"/>
              </a:buClr>
              <a:buSzPts val="1649"/>
              <a:buFont typeface="Nunito"/>
              <a:buAutoNum type="arabicPeriod"/>
            </a:pPr>
            <a:r>
              <a:rPr lang="en" sz="2199" b="1">
                <a:solidFill>
                  <a:srgbClr val="273239"/>
                </a:solidFill>
                <a:highlight>
                  <a:srgbClr val="FFFFFF"/>
                </a:highlight>
                <a:latin typeface="Nunito"/>
                <a:ea typeface="Nunito"/>
                <a:cs typeface="Nunito"/>
                <a:sym typeface="Nunito"/>
              </a:rPr>
              <a:t>Adam (Adaptive Moment Estimation):</a:t>
            </a:r>
            <a:r>
              <a:rPr lang="en" sz="2199">
                <a:solidFill>
                  <a:srgbClr val="273239"/>
                </a:solidFill>
                <a:highlight>
                  <a:srgbClr val="FFFFFF"/>
                </a:highlight>
                <a:latin typeface="Nunito"/>
                <a:ea typeface="Nunito"/>
                <a:cs typeface="Nunito"/>
                <a:sym typeface="Nunito"/>
              </a:rPr>
              <a:t> An efficient version of gradient descent that adapts learning rates for each weight used in deep learning.</a:t>
            </a:r>
            <a:endParaRPr sz="2199">
              <a:solidFill>
                <a:srgbClr val="273239"/>
              </a:solidFill>
              <a:highlight>
                <a:srgbClr val="FFFFFF"/>
              </a:highlight>
              <a:latin typeface="Nunito"/>
              <a:ea typeface="Nunito"/>
              <a:cs typeface="Nunito"/>
              <a:sym typeface="Nunito"/>
            </a:endParaRPr>
          </a:p>
          <a:p>
            <a:pPr marL="914377" indent="-444384">
              <a:lnSpc>
                <a:spcPct val="138000"/>
              </a:lnSpc>
              <a:buClr>
                <a:srgbClr val="273239"/>
              </a:buClr>
              <a:buSzPts val="1649"/>
              <a:buFont typeface="Nunito"/>
              <a:buAutoNum type="arabicPeriod"/>
            </a:pPr>
            <a:r>
              <a:rPr lang="en" sz="2199" b="1">
                <a:solidFill>
                  <a:srgbClr val="273239"/>
                </a:solidFill>
                <a:highlight>
                  <a:srgbClr val="FFFFFF"/>
                </a:highlight>
                <a:latin typeface="Nunito"/>
                <a:ea typeface="Nunito"/>
                <a:cs typeface="Nunito"/>
                <a:sym typeface="Nunito"/>
              </a:rPr>
              <a:t>RMSprop: </a:t>
            </a:r>
            <a:r>
              <a:rPr lang="en" sz="2199">
                <a:solidFill>
                  <a:srgbClr val="273239"/>
                </a:solidFill>
                <a:highlight>
                  <a:srgbClr val="FFFFFF"/>
                </a:highlight>
                <a:latin typeface="Nunito"/>
                <a:ea typeface="Nunito"/>
                <a:cs typeface="Nunito"/>
                <a:sym typeface="Nunito"/>
              </a:rPr>
              <a:t>A variation of gradient descent that adjusts the learning rate based on the average of recent gradients, it is useful in training recurrent neural networks (RNNs).</a:t>
            </a:r>
            <a:endParaRPr sz="2199">
              <a:solidFill>
                <a:srgbClr val="273239"/>
              </a:solidFill>
              <a:highlight>
                <a:srgbClr val="FFFFFF"/>
              </a:highlight>
              <a:latin typeface="Nunito"/>
              <a:ea typeface="Nunito"/>
              <a:cs typeface="Nunito"/>
              <a:sym typeface="Nunito"/>
            </a:endParaRPr>
          </a:p>
          <a:p>
            <a:pPr marL="914377" indent="-444384">
              <a:lnSpc>
                <a:spcPct val="138000"/>
              </a:lnSpc>
              <a:buClr>
                <a:srgbClr val="273239"/>
              </a:buClr>
              <a:buSzPts val="1649"/>
              <a:buFont typeface="Nunito"/>
              <a:buAutoNum type="arabicPeriod"/>
            </a:pPr>
            <a:r>
              <a:rPr lang="en" sz="2199" b="1">
                <a:solidFill>
                  <a:srgbClr val="273239"/>
                </a:solidFill>
                <a:highlight>
                  <a:srgbClr val="FFFFFF"/>
                </a:highlight>
                <a:latin typeface="Nunito"/>
                <a:ea typeface="Nunito"/>
                <a:cs typeface="Nunito"/>
                <a:sym typeface="Nunito"/>
              </a:rPr>
              <a:t>Stochastic Gradient Descent (SGD):</a:t>
            </a:r>
            <a:r>
              <a:rPr lang="en" sz="2199">
                <a:solidFill>
                  <a:srgbClr val="273239"/>
                </a:solidFill>
                <a:highlight>
                  <a:srgbClr val="FFFFFF"/>
                </a:highlight>
                <a:latin typeface="Nunito"/>
                <a:ea typeface="Nunito"/>
                <a:cs typeface="Nunito"/>
                <a:sym typeface="Nunito"/>
              </a:rPr>
              <a:t> Updates weights using one sample at a time helps in making it faster but more noisy.</a:t>
            </a:r>
            <a:endParaRPr sz="2199">
              <a:solidFill>
                <a:srgbClr val="273239"/>
              </a:solidFill>
              <a:highlight>
                <a:srgbClr val="FFFFFF"/>
              </a:highlight>
              <a:latin typeface="Nunito"/>
              <a:ea typeface="Nunito"/>
              <a:cs typeface="Nunito"/>
              <a:sym typeface="Nunito"/>
            </a:endParaRPr>
          </a:p>
          <a:p>
            <a:pPr marL="0" indent="0">
              <a:lnSpc>
                <a:spcPct val="95000"/>
              </a:lnSpc>
              <a:spcBef>
                <a:spcPts val="2400"/>
              </a:spcBef>
              <a:spcAft>
                <a:spcPts val="1600"/>
              </a:spcAft>
              <a:buSzPts val="1018"/>
              <a:buNone/>
            </a:pPr>
            <a:endParaRPr sz="2753"/>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lnSpc>
                <a:spcPct val="115000"/>
              </a:lnSpc>
            </a:pPr>
            <a:r>
              <a:rPr lang="en" sz="2400" b="1">
                <a:solidFill>
                  <a:srgbClr val="273239"/>
                </a:solidFill>
                <a:highlight>
                  <a:srgbClr val="FFFFFF"/>
                </a:highlight>
                <a:latin typeface="Nunito"/>
                <a:ea typeface="Nunito"/>
                <a:cs typeface="Nunito"/>
                <a:sym typeface="Nunito"/>
              </a:rPr>
              <a:t>Applications of Artificial Neural Networks</a:t>
            </a:r>
            <a:endParaRPr sz="2400" b="1">
              <a:solidFill>
                <a:srgbClr val="273239"/>
              </a:solidFill>
              <a:highlight>
                <a:srgbClr val="FFFFFF"/>
              </a:highlight>
              <a:latin typeface="Nunito"/>
              <a:ea typeface="Nunito"/>
              <a:cs typeface="Nunito"/>
              <a:sym typeface="Nunito"/>
            </a:endParaRPr>
          </a:p>
        </p:txBody>
      </p:sp>
      <p:sp>
        <p:nvSpPr>
          <p:cNvPr id="177" name="Google Shape;177;p29"/>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Social Media: </a:t>
            </a:r>
            <a:r>
              <a:rPr lang="en" sz="1528">
                <a:solidFill>
                  <a:srgbClr val="273239"/>
                </a:solidFill>
                <a:highlight>
                  <a:srgbClr val="FFFFFF"/>
                </a:highlight>
                <a:latin typeface="Nunito"/>
                <a:ea typeface="Nunito"/>
                <a:cs typeface="Nunito"/>
                <a:sym typeface="Nunito"/>
              </a:rPr>
              <a:t>ANNs help social media platforms suggest friends and relevant content by analyzing user profiles, interests and interactions. They also assist in targeted advertising which ensures users to see ads tailored to their preferences.</a:t>
            </a:r>
            <a:endParaRPr sz="1528">
              <a:solidFill>
                <a:srgbClr val="273239"/>
              </a:solidFill>
              <a:highlight>
                <a:srgbClr val="FFFFFF"/>
              </a:highlight>
              <a:latin typeface="Nunito"/>
              <a:ea typeface="Nunito"/>
              <a:cs typeface="Nunito"/>
              <a:sym typeface="Nunito"/>
            </a:endParaRPr>
          </a:p>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Marketing and Sales:</a:t>
            </a:r>
            <a:r>
              <a:rPr lang="en" sz="1528">
                <a:solidFill>
                  <a:srgbClr val="273239"/>
                </a:solidFill>
                <a:highlight>
                  <a:srgbClr val="FFFFFF"/>
                </a:highlight>
                <a:latin typeface="Nunito"/>
                <a:ea typeface="Nunito"/>
                <a:cs typeface="Nunito"/>
                <a:sym typeface="Nunito"/>
              </a:rPr>
              <a:t> E-commerce sites like Amazon use ANNs to recommend products based on browsing history. They also personalize offers, predict customer behavior and segment customers for more effective marketing campaigns.</a:t>
            </a:r>
            <a:endParaRPr sz="1528">
              <a:solidFill>
                <a:srgbClr val="273239"/>
              </a:solidFill>
              <a:highlight>
                <a:srgbClr val="FFFFFF"/>
              </a:highlight>
              <a:latin typeface="Nunito"/>
              <a:ea typeface="Nunito"/>
              <a:cs typeface="Nunito"/>
              <a:sym typeface="Nunito"/>
            </a:endParaRPr>
          </a:p>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Healthcare: </a:t>
            </a:r>
            <a:r>
              <a:rPr lang="en" sz="1528">
                <a:solidFill>
                  <a:srgbClr val="273239"/>
                </a:solidFill>
                <a:highlight>
                  <a:srgbClr val="FFFFFF"/>
                </a:highlight>
                <a:latin typeface="Nunito"/>
                <a:ea typeface="Nunito"/>
                <a:cs typeface="Nunito"/>
                <a:sym typeface="Nunito"/>
              </a:rPr>
              <a:t>ANNs are used in medical imaging for detecting diseases like cancer and they assist in diagnosing conditions with accuracy similar to doctors. Additionally, they predict health risks and recommend personalized treatment plans.</a:t>
            </a:r>
            <a:endParaRPr sz="1528">
              <a:solidFill>
                <a:srgbClr val="273239"/>
              </a:solidFill>
              <a:highlight>
                <a:srgbClr val="FFFFFF"/>
              </a:highlight>
              <a:latin typeface="Nunito"/>
              <a:ea typeface="Nunito"/>
              <a:cs typeface="Nunito"/>
              <a:sym typeface="Nunito"/>
            </a:endParaRPr>
          </a:p>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Personal Assistants:</a:t>
            </a:r>
            <a:r>
              <a:rPr lang="en" sz="1528">
                <a:solidFill>
                  <a:srgbClr val="273239"/>
                </a:solidFill>
                <a:highlight>
                  <a:srgbClr val="FFFFFF"/>
                </a:highlight>
                <a:latin typeface="Nunito"/>
                <a:ea typeface="Nunito"/>
                <a:cs typeface="Nunito"/>
                <a:sym typeface="Nunito"/>
              </a:rPr>
              <a:t> Virtual assistants like Siri and Alexa use ANNs to process natural language, understand voice commands and respond accordingly. They help manage tasks like setting reminders helps in making calls and answering queries.</a:t>
            </a:r>
            <a:endParaRPr sz="1528">
              <a:solidFill>
                <a:srgbClr val="273239"/>
              </a:solidFill>
              <a:highlight>
                <a:srgbClr val="FFFFFF"/>
              </a:highlight>
              <a:latin typeface="Nunito"/>
              <a:ea typeface="Nunito"/>
              <a:cs typeface="Nunito"/>
              <a:sym typeface="Nunito"/>
            </a:endParaRPr>
          </a:p>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Customer Support:</a:t>
            </a:r>
            <a:r>
              <a:rPr lang="en" sz="1528">
                <a:solidFill>
                  <a:srgbClr val="273239"/>
                </a:solidFill>
                <a:highlight>
                  <a:srgbClr val="FFFFFF"/>
                </a:highlight>
                <a:latin typeface="Nunito"/>
                <a:ea typeface="Nunito"/>
                <a:cs typeface="Nunito"/>
                <a:sym typeface="Nunito"/>
              </a:rPr>
              <a:t> ANNs power chatbots and automated customer service systems that analyze customer queries and provide accurate responses helps in improving efficiency in handling customer inquiries.</a:t>
            </a:r>
            <a:endParaRPr sz="1528">
              <a:solidFill>
                <a:srgbClr val="273239"/>
              </a:solidFill>
              <a:highlight>
                <a:srgbClr val="FFFFFF"/>
              </a:highlight>
              <a:latin typeface="Nunito"/>
              <a:ea typeface="Nunito"/>
              <a:cs typeface="Nunito"/>
              <a:sym typeface="Nunito"/>
            </a:endParaRPr>
          </a:p>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Finance: </a:t>
            </a:r>
            <a:r>
              <a:rPr lang="en" sz="1528">
                <a:solidFill>
                  <a:srgbClr val="273239"/>
                </a:solidFill>
                <a:highlight>
                  <a:srgbClr val="FFFFFF"/>
                </a:highlight>
                <a:latin typeface="Nunito"/>
                <a:ea typeface="Nunito"/>
                <a:cs typeface="Nunito"/>
                <a:sym typeface="Nunito"/>
              </a:rPr>
              <a:t>In the financial industry, they are used for fraud detection, credit scoring and predicting market trends by analyzing large sets of transaction data and spotting anomalies.</a:t>
            </a:r>
            <a:endParaRPr sz="1528">
              <a:solidFill>
                <a:srgbClr val="273239"/>
              </a:solidFill>
              <a:highlight>
                <a:srgbClr val="FFFFFF"/>
              </a:highlight>
              <a:latin typeface="Nunito"/>
              <a:ea typeface="Nunito"/>
              <a:cs typeface="Nunito"/>
              <a:sym typeface="Nunito"/>
            </a:endParaRPr>
          </a:p>
          <a:p>
            <a:pPr marL="0" indent="0">
              <a:lnSpc>
                <a:spcPct val="95000"/>
              </a:lnSpc>
              <a:spcBef>
                <a:spcPts val="2400"/>
              </a:spcBef>
              <a:spcAft>
                <a:spcPts val="1600"/>
              </a:spcAft>
              <a:buSzPts val="853"/>
              <a:buNone/>
            </a:pPr>
            <a:endParaRPr sz="1993"/>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lnSpc>
                <a:spcPct val="115000"/>
              </a:lnSpc>
            </a:pPr>
            <a:r>
              <a:rPr lang="en" sz="2400" b="1">
                <a:solidFill>
                  <a:srgbClr val="273239"/>
                </a:solidFill>
                <a:highlight>
                  <a:srgbClr val="FFFFFF"/>
                </a:highlight>
                <a:latin typeface="Nunito"/>
                <a:ea typeface="Nunito"/>
                <a:cs typeface="Nunito"/>
                <a:sym typeface="Nunito"/>
              </a:rPr>
              <a:t>Challenges in Artificial Neural Networks</a:t>
            </a:r>
            <a:endParaRPr sz="2400" b="1">
              <a:solidFill>
                <a:srgbClr val="273239"/>
              </a:solidFill>
              <a:highlight>
                <a:srgbClr val="FFFFFF"/>
              </a:highlight>
              <a:latin typeface="Nunito"/>
              <a:ea typeface="Nunito"/>
              <a:cs typeface="Nunito"/>
              <a:sym typeface="Nunito"/>
            </a:endParaRPr>
          </a:p>
        </p:txBody>
      </p:sp>
      <p:sp>
        <p:nvSpPr>
          <p:cNvPr id="183" name="Google Shape;183;p30"/>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914377" indent="-401839">
              <a:lnSpc>
                <a:spcPct val="15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Data Dependency: </a:t>
            </a:r>
            <a:r>
              <a:rPr lang="en" sz="1528">
                <a:solidFill>
                  <a:srgbClr val="273239"/>
                </a:solidFill>
                <a:highlight>
                  <a:srgbClr val="FFFFFF"/>
                </a:highlight>
                <a:latin typeface="Nunito"/>
                <a:ea typeface="Nunito"/>
                <a:cs typeface="Nunito"/>
                <a:sym typeface="Nunito"/>
              </a:rPr>
              <a:t>ANNs require large amounts of high-quality data to train effectively. Gathering and cleaning sufficient data can be time-consuming, expensive and often impractical especially in industries with limited access to quality data.</a:t>
            </a:r>
            <a:endParaRPr sz="1528">
              <a:solidFill>
                <a:srgbClr val="273239"/>
              </a:solidFill>
              <a:highlight>
                <a:srgbClr val="FFFFFF"/>
              </a:highlight>
              <a:latin typeface="Nunito"/>
              <a:ea typeface="Nunito"/>
              <a:cs typeface="Nunito"/>
              <a:sym typeface="Nunito"/>
            </a:endParaRPr>
          </a:p>
          <a:p>
            <a:pPr marL="914377" indent="-401839">
              <a:lnSpc>
                <a:spcPct val="15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Computational Power:</a:t>
            </a:r>
            <a:r>
              <a:rPr lang="en" sz="1528">
                <a:solidFill>
                  <a:srgbClr val="273239"/>
                </a:solidFill>
                <a:highlight>
                  <a:srgbClr val="FFFFFF"/>
                </a:highlight>
                <a:latin typeface="Nunito"/>
                <a:ea typeface="Nunito"/>
                <a:cs typeface="Nunito"/>
                <a:sym typeface="Nunito"/>
              </a:rPr>
              <a:t> Training deep neural networks with many layers, demands significant computational resources. High-performance hardware (e.g GPUs) is often required which makes it expensive and resource-intensive.</a:t>
            </a:r>
            <a:endParaRPr sz="1528">
              <a:solidFill>
                <a:srgbClr val="273239"/>
              </a:solidFill>
              <a:highlight>
                <a:srgbClr val="FFFFFF"/>
              </a:highlight>
              <a:latin typeface="Nunito"/>
              <a:ea typeface="Nunito"/>
              <a:cs typeface="Nunito"/>
              <a:sym typeface="Nunito"/>
            </a:endParaRPr>
          </a:p>
          <a:p>
            <a:pPr marL="914377" indent="-401839">
              <a:lnSpc>
                <a:spcPct val="15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Overfitting:</a:t>
            </a:r>
            <a:r>
              <a:rPr lang="en" sz="1528">
                <a:solidFill>
                  <a:srgbClr val="273239"/>
                </a:solidFill>
                <a:highlight>
                  <a:srgbClr val="FFFFFF"/>
                </a:highlight>
                <a:latin typeface="Nunito"/>
                <a:ea typeface="Nunito"/>
                <a:cs typeface="Nunito"/>
                <a:sym typeface="Nunito"/>
              </a:rPr>
              <a:t> It can easily overfit to the training data which means they perform well on the training set but poorly on new, unseen data. This challenge arises when the model learns to memorize rather than generalize, reducing its real-world applicability.</a:t>
            </a:r>
            <a:endParaRPr sz="1528">
              <a:solidFill>
                <a:srgbClr val="273239"/>
              </a:solidFill>
              <a:highlight>
                <a:srgbClr val="FFFFFF"/>
              </a:highlight>
              <a:latin typeface="Nunito"/>
              <a:ea typeface="Nunito"/>
              <a:cs typeface="Nunito"/>
              <a:sym typeface="Nunito"/>
            </a:endParaRPr>
          </a:p>
          <a:p>
            <a:pPr marL="914377" indent="-401839">
              <a:lnSpc>
                <a:spcPct val="15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Interpretability:</a:t>
            </a:r>
            <a:r>
              <a:rPr lang="en" sz="1528">
                <a:solidFill>
                  <a:srgbClr val="273239"/>
                </a:solidFill>
                <a:highlight>
                  <a:srgbClr val="FFFFFF"/>
                </a:highlight>
                <a:latin typeface="Nunito"/>
                <a:ea typeface="Nunito"/>
                <a:cs typeface="Nunito"/>
                <a:sym typeface="Nunito"/>
              </a:rPr>
              <a:t> They are often referred to as "black boxes." It is difficult to understand how they make decisions which is a problem in fields like healthcare and finance where explainability and transparency are important.</a:t>
            </a:r>
            <a:endParaRPr sz="1528">
              <a:solidFill>
                <a:srgbClr val="273239"/>
              </a:solidFill>
              <a:highlight>
                <a:srgbClr val="FFFFFF"/>
              </a:highlight>
              <a:latin typeface="Nunito"/>
              <a:ea typeface="Nunito"/>
              <a:cs typeface="Nunito"/>
              <a:sym typeface="Nunito"/>
            </a:endParaRPr>
          </a:p>
          <a:p>
            <a:pPr marL="914377" indent="-401839">
              <a:lnSpc>
                <a:spcPct val="15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Training Time:</a:t>
            </a:r>
            <a:r>
              <a:rPr lang="en" sz="1528">
                <a:solidFill>
                  <a:srgbClr val="273239"/>
                </a:solidFill>
                <a:highlight>
                  <a:srgbClr val="FFFFFF"/>
                </a:highlight>
                <a:latin typeface="Nunito"/>
                <a:ea typeface="Nunito"/>
                <a:cs typeface="Nunito"/>
                <a:sym typeface="Nunito"/>
              </a:rPr>
              <a:t> Training ANNs can take a long time, especially for deep learning models with many layers and vast datasets. This lengthy training process can delay the deployment of models and hinder their use in time-sensitive applications.</a:t>
            </a:r>
            <a:endParaRPr sz="1528">
              <a:solidFill>
                <a:srgbClr val="273239"/>
              </a:solidFill>
              <a:highlight>
                <a:srgbClr val="FFFFFF"/>
              </a:highlight>
              <a:latin typeface="Nunito"/>
              <a:ea typeface="Nunito"/>
              <a:cs typeface="Nunito"/>
              <a:sym typeface="Nunito"/>
            </a:endParaRPr>
          </a:p>
          <a:p>
            <a:pPr marL="0" indent="0">
              <a:spcBef>
                <a:spcPts val="2400"/>
              </a:spcBef>
              <a:spcAft>
                <a:spcPts val="1600"/>
              </a:spcAft>
              <a:buSzPts val="853"/>
              <a:buNone/>
            </a:pPr>
            <a:endParaRPr sz="1993"/>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886-98C2-49E7-EC58-1533960C031D}"/>
              </a:ext>
            </a:extLst>
          </p:cNvPr>
          <p:cNvSpPr>
            <a:spLocks noGrp="1"/>
          </p:cNvSpPr>
          <p:nvPr>
            <p:ph type="title"/>
          </p:nvPr>
        </p:nvSpPr>
        <p:spPr>
          <a:xfrm>
            <a:off x="838200" y="2620645"/>
            <a:ext cx="10515600" cy="1325563"/>
          </a:xfrm>
        </p:spPr>
        <p:txBody>
          <a:bodyPr/>
          <a:lstStyle/>
          <a:p>
            <a:pPr algn="ctr"/>
            <a:r>
              <a:rPr lang="en-US" dirty="0"/>
              <a:t>Thank You ALL!!!</a:t>
            </a:r>
          </a:p>
        </p:txBody>
      </p:sp>
    </p:spTree>
    <p:extLst>
      <p:ext uri="{BB962C8B-B14F-4D97-AF65-F5344CB8AC3E}">
        <p14:creationId xmlns:p14="http://schemas.microsoft.com/office/powerpoint/2010/main" val="1783527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2287</Words>
  <Application>Microsoft Macintosh PowerPoint</Application>
  <PresentationFormat>Widescreen</PresentationFormat>
  <Paragraphs>174</Paragraphs>
  <Slides>33</Slides>
  <Notes>14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1" baseType="lpstr">
      <vt:lpstr>Aptos</vt:lpstr>
      <vt:lpstr>Aptos Display</vt:lpstr>
      <vt:lpstr>Arial</vt:lpstr>
      <vt:lpstr>Nunito</vt:lpstr>
      <vt:lpstr>Times New Roman</vt:lpstr>
      <vt:lpstr>Wingdings</vt:lpstr>
      <vt:lpstr>Office Theme</vt:lpstr>
      <vt:lpstr>Equation</vt:lpstr>
      <vt:lpstr>Neural Network</vt:lpstr>
      <vt:lpstr>PowerPoint Presentation</vt:lpstr>
      <vt:lpstr>PowerPoint Presentation</vt:lpstr>
      <vt:lpstr>PowerPoint Presentation</vt:lpstr>
      <vt:lpstr>When are ML algorithms NOT needed?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Biological Neuron vs Mathematical Neuron</vt:lpstr>
      <vt:lpstr>PowerPoint Presentation</vt:lpstr>
      <vt:lpstr>PowerPoint Presentation</vt:lpstr>
      <vt:lpstr>PowerPoint Presentation</vt:lpstr>
      <vt:lpstr>Artificial Neuron</vt:lpstr>
      <vt:lpstr>Types of networks</vt:lpstr>
      <vt:lpstr>   Types of Networks – Contd.</vt:lpstr>
      <vt:lpstr>Multilayer Perceptron</vt:lpstr>
      <vt:lpstr>Signal Flow Backpropagation of Errors</vt:lpstr>
      <vt:lpstr>Improving performance</vt:lpstr>
      <vt:lpstr>Artificial Neural Network</vt:lpstr>
      <vt:lpstr>Working of Artificial Neural Networks</vt:lpstr>
      <vt:lpstr>Common Activation Functions in ANNs</vt:lpstr>
      <vt:lpstr>Optimization Algorithms in ANN Training</vt:lpstr>
      <vt:lpstr>Applications of Artificial Neural Networks</vt:lpstr>
      <vt:lpstr>Challenges in Artificial Neural Networks</vt:lpstr>
      <vt:lpstr>Thank You 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23</cp:revision>
  <dcterms:created xsi:type="dcterms:W3CDTF">2026-04-15T06:20:57Z</dcterms:created>
  <dcterms:modified xsi:type="dcterms:W3CDTF">2026-04-15T08:16:45Z</dcterms:modified>
</cp:coreProperties>
</file>