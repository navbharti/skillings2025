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9" r:id="rId4"/>
    <p:sldId id="260" r:id="rId5"/>
    <p:sldId id="257" r:id="rId6"/>
    <p:sldId id="267" r:id="rId7"/>
    <p:sldId id="268" r:id="rId8"/>
    <p:sldId id="258" r:id="rId9"/>
    <p:sldId id="262" r:id="rId10"/>
    <p:sldId id="266" r:id="rId11"/>
    <p:sldId id="263" r:id="rId12"/>
    <p:sldId id="264" r:id="rId13"/>
    <p:sldId id="265" r:id="rId14"/>
    <p:sldId id="272" r:id="rId15"/>
    <p:sldId id="261" r:id="rId16"/>
    <p:sldId id="269" r:id="rId17"/>
    <p:sldId id="270" r:id="rId18"/>
    <p:sldId id="271" r:id="rId19"/>
    <p:sldId id="273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9127-5104-5D87-FAB5-8A12A4223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65377-E99A-9C42-1758-05A712D42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D2FC-60E3-EA64-10A1-C3C95AE3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34314-B78F-718C-0D00-269D59A4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F822C-1629-627D-7357-804B7C0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5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E9B9-22D8-D97B-38B0-537D29CB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DE6E-617F-C11F-11C6-0CB4B6FD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7D6D8-AB17-5993-1E12-886E148C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BC31-7E4D-6EA6-ABDB-ECACD2DB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4111-2820-C8E1-F237-155BEEA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4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2EC7-AC1F-8B8D-8594-B13D3A6B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360F2-060C-F6F0-2611-266B236FC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CD409-54D0-88DE-5E85-6DEA83B0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74D8-9861-E4FB-30BC-AC7CADD3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CDA29-327A-8F6A-3C85-EF20A4A0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3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CEEE-6817-4A0E-1695-4217B04D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0F94-BBBC-3D14-F875-8C152CF90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B19AD-8AE0-CFE4-2D45-CA227B18E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939B-B429-28D0-0A8C-26C79829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6A761-E660-1B09-1DFB-74BE629D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A3F2F-623A-1F5A-1358-818C56C8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96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90F2-D8CD-D083-CF71-9CF7138BB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9867C-59C4-BD34-EBCF-383217789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0D388-1BAF-C123-B9B2-FF115684E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0DB2C-5AA4-DE12-9A19-5D2ED131A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8A3D2-A00E-2D76-DF08-8E37A4669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E8E31-0790-E061-DC95-E79E7E7E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54B89-4480-EF42-4B25-35DF6FCD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327735-D754-0B6D-5285-462D2E34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4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C616-76D0-4DAD-7EFA-56DA6A5A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C337A-659D-3C36-C7A8-1FAE5BDD6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5A81B-7D8E-73CA-554F-E742960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851FC-CBAF-4F40-8D6F-CCA30BAC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3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E8825-9BE6-0BAE-BFAB-28177E4F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471DA-984D-A569-2A9F-22778BBC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E68E-12E7-E17D-49EA-EFA14317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4B886-1E7B-B8D9-261A-95CD6551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993F-EBFC-7B9D-11D8-CD945653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B9A9D-3809-4E03-F93C-FAA62F41B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0E8D6-1833-0526-15D6-7B14272B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1CABC-2B48-7583-24D9-AA6AD2B4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5E1DB-E1FA-6E06-23D9-2AF18FB0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D267-888B-076B-71A1-D1777FBB8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3F864-2EBD-3CCD-5E70-A9CF912BC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0A81E-A5E8-723B-CEAB-2CEDEBAF4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9AA6A-59B3-378E-18C7-61A26C8E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5A1C1-364A-7F1A-8257-9CA1F760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73F7D-AF18-497D-44D1-E6625D15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2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35B1-E515-F1A4-054E-90093145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2DC78-75A8-F5A2-3F92-2A20DF47C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5710A-BEF6-0469-F040-B88CED2F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671D8-BFE4-7FB9-DFFD-24AEF44B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10B80-11D5-788D-5E88-F8F1058F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0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F4CC1-0F0E-0233-EFC1-3611117F8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F8945-28A6-99F7-B620-90E04FC67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E7435-01A4-4D6A-604D-B1D91E41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E4F74-FFA5-FF3D-ECFC-9F6E6F13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9DE8-E732-D4E5-5E5D-7951A8F1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7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9D95E-DF4B-9655-B190-A42CF490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8058D-61B9-295D-5C4C-87FDB181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4EEF-6275-3B38-0894-10E8D7693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A5F3C-AFB6-5E43-BAAB-694710148FA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BFC47-7157-C6D7-BD68-FAAEE5FBD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55FE-C60E-80F1-DF0B-4440FA585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78AD9-0342-0544-A87A-112D5667B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7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6BE2-77F2-16B7-E765-2B6012092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Hadoop Ecosystem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6D532-4509-E205-B2D1-28C494177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Naveen Kumar</a:t>
            </a:r>
          </a:p>
        </p:txBody>
      </p:sp>
    </p:spTree>
    <p:extLst>
      <p:ext uri="{BB962C8B-B14F-4D97-AF65-F5344CB8AC3E}">
        <p14:creationId xmlns:p14="http://schemas.microsoft.com/office/powerpoint/2010/main" val="81275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58B2-3B11-79C8-AE1F-99B74301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CDE3-78C4-345D-16D9-AD3F7F457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adoop">
            <a:extLst>
              <a:ext uri="{FF2B5EF4-FFF2-40B4-BE49-F238E27FC236}">
                <a16:creationId xmlns:a16="http://schemas.microsoft.com/office/drawing/2014/main" id="{B8F2ED42-6C71-38FA-1E5E-47CD4124E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8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7601-23A1-6BC9-1DF8-1F2BF8F7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start </a:t>
            </a:r>
            <a:r>
              <a:rPr lang="en-US" dirty="0" err="1"/>
              <a:t>haddop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C066-9633-811C-5EB6-6A86F687C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Cd /home/username/Hadoop</a:t>
            </a:r>
          </a:p>
          <a:p>
            <a:r>
              <a:rPr lang="en-US" dirty="0"/>
              <a:t>bin/Hadoop </a:t>
            </a:r>
            <a:r>
              <a:rPr lang="en-US" dirty="0" err="1"/>
              <a:t>namenode</a:t>
            </a:r>
            <a:r>
              <a:rPr lang="en-US" dirty="0"/>
              <a:t> –format</a:t>
            </a:r>
          </a:p>
          <a:p>
            <a:r>
              <a:rPr lang="en-US" dirty="0" err="1"/>
              <a:t>sbin</a:t>
            </a:r>
            <a:r>
              <a:rPr lang="en-US" dirty="0"/>
              <a:t>/start-</a:t>
            </a:r>
            <a:r>
              <a:rPr lang="en-US" dirty="0" err="1"/>
              <a:t>all.sh</a:t>
            </a:r>
            <a:endParaRPr lang="en-US" dirty="0"/>
          </a:p>
          <a:p>
            <a:r>
              <a:rPr lang="en-US" dirty="0" err="1"/>
              <a:t>Jps</a:t>
            </a:r>
            <a:endParaRPr lang="en-US" dirty="0"/>
          </a:p>
          <a:p>
            <a:endParaRPr lang="en-US" dirty="0"/>
          </a:p>
          <a:p>
            <a:r>
              <a:rPr lang="en-US" dirty="0"/>
              <a:t>Services:</a:t>
            </a:r>
          </a:p>
          <a:p>
            <a:pPr lvl="1"/>
            <a:r>
              <a:rPr lang="en-US" dirty="0" err="1"/>
              <a:t>Namenode</a:t>
            </a:r>
            <a:endParaRPr lang="en-US" dirty="0"/>
          </a:p>
          <a:p>
            <a:pPr lvl="1"/>
            <a:r>
              <a:rPr lang="en-US" dirty="0" err="1"/>
              <a:t>Datanode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Secondarynamenode</a:t>
            </a:r>
            <a:endParaRPr lang="en-US" dirty="0"/>
          </a:p>
          <a:p>
            <a:pPr lvl="1"/>
            <a:r>
              <a:rPr lang="en-US" dirty="0" err="1"/>
              <a:t>nodemanager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12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C969-3D74-8597-F8CE-35CBE5CA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B78D-0403-79A1-5A0B-E67F1A9C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Hadoop distributed filesystem </a:t>
            </a:r>
            <a:r>
              <a:rPr lang="en-US" dirty="0">
                <a:sym typeface="Wingdings" pitchFamily="2" charset="2"/>
              </a:rPr>
              <a:t> store data</a:t>
            </a:r>
          </a:p>
          <a:p>
            <a:r>
              <a:rPr lang="en-US" dirty="0">
                <a:sym typeface="Wingdings" pitchFamily="2" charset="2"/>
              </a:rPr>
              <a:t>Filesystem  Directory  Subdirectory  file  data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4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F29-80FD-AE4B-A11A-0F6D2938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</a:t>
            </a:r>
            <a:r>
              <a:rPr lang="en-US" dirty="0" err="1"/>
              <a:t>dfs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A295-9D64-907D-DBCE-5324F5537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 err="1">
                <a:effectLst/>
                <a:latin typeface="Google Sans"/>
              </a:rPr>
              <a:t>hdfs</a:t>
            </a:r>
            <a:r>
              <a:rPr lang="en-IN" b="1" u="none" strike="noStrike" dirty="0">
                <a:effectLst/>
                <a:latin typeface="Google Sans"/>
              </a:rPr>
              <a:t> </a:t>
            </a:r>
            <a:r>
              <a:rPr lang="en-IN" b="1" u="none" strike="noStrike" dirty="0" err="1">
                <a:effectLst/>
                <a:latin typeface="Google Sans"/>
              </a:rPr>
              <a:t>dfs</a:t>
            </a:r>
            <a:r>
              <a:rPr lang="en-IN" dirty="0"/>
              <a:t> command line utility interacts directly with the </a:t>
            </a:r>
            <a:r>
              <a:rPr lang="en-IN" b="1" u="none" strike="noStrike" dirty="0">
                <a:effectLst/>
                <a:latin typeface="Google Sans"/>
              </a:rPr>
              <a:t>Hadoop Distributed File System (HDFS)</a:t>
            </a:r>
            <a:r>
              <a:rPr lang="en-IN" dirty="0"/>
              <a:t> and shares a nearly identical syntax with standard Linux/Unix shell operations.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F1F13-1C43-6653-CF14-A443A24677BC}"/>
              </a:ext>
            </a:extLst>
          </p:cNvPr>
          <p:cNvSpPr txBox="1"/>
          <p:nvPr/>
        </p:nvSpPr>
        <p:spPr>
          <a:xfrm>
            <a:off x="1061357" y="3244334"/>
            <a:ext cx="9715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highlight>
                  <a:srgbClr val="808080"/>
                </a:highlight>
              </a:rPr>
              <a:t>hdfs</a:t>
            </a:r>
            <a:r>
              <a:rPr lang="en-US" sz="3200" dirty="0">
                <a:highlight>
                  <a:srgbClr val="808080"/>
                </a:highlight>
              </a:rPr>
              <a:t> </a:t>
            </a:r>
            <a:r>
              <a:rPr lang="en-US" sz="3200" dirty="0" err="1">
                <a:highlight>
                  <a:srgbClr val="808080"/>
                </a:highlight>
              </a:rPr>
              <a:t>dfs</a:t>
            </a:r>
            <a:r>
              <a:rPr lang="en-US" sz="3200" dirty="0">
                <a:highlight>
                  <a:srgbClr val="808080"/>
                </a:highlight>
              </a:rPr>
              <a:t> -&lt;</a:t>
            </a:r>
            <a:r>
              <a:rPr lang="en-US" sz="3200" dirty="0" err="1">
                <a:highlight>
                  <a:srgbClr val="808080"/>
                </a:highlight>
              </a:rPr>
              <a:t>command_name</a:t>
            </a:r>
            <a:r>
              <a:rPr lang="en-US" sz="3200" dirty="0">
                <a:highlight>
                  <a:srgbClr val="808080"/>
                </a:highlight>
              </a:rPr>
              <a:t>&gt; [options] [arguments]</a:t>
            </a:r>
          </a:p>
        </p:txBody>
      </p:sp>
    </p:spTree>
    <p:extLst>
      <p:ext uri="{BB962C8B-B14F-4D97-AF65-F5344CB8AC3E}">
        <p14:creationId xmlns:p14="http://schemas.microsoft.com/office/powerpoint/2010/main" val="293693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2D5E-1039-4776-E04F-150C2CA39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</a:t>
            </a:r>
            <a:r>
              <a:rPr lang="en-US" dirty="0" err="1"/>
              <a:t>dfs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CD2AC-BBE5-91E5-FF6F-89979FDAA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📂 Directory &amp; File Management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mkdir</a:t>
            </a:r>
            <a:r>
              <a:rPr lang="en-IN" b="0" u="none" strike="noStrike" dirty="0">
                <a:effectLst/>
                <a:latin typeface="Google Sans"/>
              </a:rPr>
              <a:t>: Creates a new directory.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-ls</a:t>
            </a:r>
            <a:r>
              <a:rPr lang="en-IN" b="0" u="none" strike="noStrike" dirty="0">
                <a:effectLst/>
                <a:latin typeface="Google Sans"/>
              </a:rPr>
              <a:t>: Lists files and sub-directories within a specific path.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touchz</a:t>
            </a:r>
            <a:r>
              <a:rPr lang="en-IN" b="0" u="none" strike="noStrike" dirty="0">
                <a:effectLst/>
                <a:latin typeface="Google Sans"/>
              </a:rPr>
              <a:t>: Creates an empty file (0 bytes).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-rm</a:t>
            </a:r>
            <a:r>
              <a:rPr lang="en-IN" b="0" u="none" strike="noStrike" dirty="0">
                <a:effectLst/>
                <a:latin typeface="Google Sans"/>
              </a:rPr>
              <a:t>: Deletes a file.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📤 Data Transfer (Local ⇄ HDFS)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-put / -</a:t>
            </a:r>
            <a:r>
              <a:rPr lang="en-IN" b="1" u="none" strike="noStrike" dirty="0" err="1">
                <a:effectLst/>
                <a:latin typeface="Google Sans"/>
              </a:rPr>
              <a:t>copyFromLocal</a:t>
            </a:r>
            <a:r>
              <a:rPr lang="en-IN" b="0" u="none" strike="noStrike" dirty="0">
                <a:effectLst/>
                <a:latin typeface="Google Sans"/>
              </a:rPr>
              <a:t>: Uploads a file or directory from your local machine to HDFS.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-get / -</a:t>
            </a:r>
            <a:r>
              <a:rPr lang="en-IN" b="1" u="none" strike="noStrike" dirty="0" err="1">
                <a:effectLst/>
                <a:latin typeface="Google Sans"/>
              </a:rPr>
              <a:t>copyToLocal</a:t>
            </a:r>
            <a:r>
              <a:rPr lang="en-IN" b="0" u="none" strike="noStrike" dirty="0">
                <a:effectLst/>
                <a:latin typeface="Google Sans"/>
              </a:rPr>
              <a:t>: Downloads a file from HDFS back to your local filesystem.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getmerge</a:t>
            </a:r>
            <a:r>
              <a:rPr lang="en-IN" b="0" u="none" strike="noStrike" dirty="0">
                <a:effectLst/>
                <a:latin typeface="Google Sans"/>
              </a:rPr>
              <a:t>: Combines multiple files from an HDFS directory into a single local file.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appendToFile</a:t>
            </a:r>
            <a:r>
              <a:rPr lang="en-IN" b="0" u="none" strike="noStrike" dirty="0">
                <a:effectLst/>
                <a:latin typeface="Google Sans"/>
              </a:rPr>
              <a:t>: Appends data from a local file directly onto the end of an existing HDFS file.</a:t>
            </a:r>
          </a:p>
          <a:p>
            <a:pPr lvl="1"/>
            <a:endParaRPr lang="en-IN" dirty="0"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🔄 Internal HDFS Operations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-cp</a:t>
            </a:r>
            <a:r>
              <a:rPr lang="en-IN" b="0" u="none" strike="noStrike" dirty="0">
                <a:effectLst/>
                <a:latin typeface="Google Sans"/>
              </a:rPr>
              <a:t>: Copies a file or folder from one HDFS location to another.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-mv</a:t>
            </a:r>
            <a:r>
              <a:rPr lang="en-IN" b="0" u="none" strike="noStrike" dirty="0">
                <a:effectLst/>
                <a:latin typeface="Google Sans"/>
              </a:rPr>
              <a:t>: Moves or renames a file or directory entirely inside HDFS.</a:t>
            </a:r>
          </a:p>
          <a:p>
            <a:endParaRPr lang="en-IN" b="1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45993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2943-C746-33DD-2FD3-E2B57173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73C4-63DD-3811-4D38-398E9994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</a:t>
            </a:r>
            <a:r>
              <a:rPr lang="en-US" dirty="0" err="1"/>
              <a:t>dfs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4BDD1-E6C6-6E81-147B-652F64756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📄 Viewing &amp; Inspecting Files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-cat</a:t>
            </a:r>
            <a:r>
              <a:rPr lang="en-IN" b="0" u="none" strike="noStrike" dirty="0">
                <a:effectLst/>
                <a:latin typeface="Google Sans"/>
              </a:rPr>
              <a:t>: Outputs the full contents of an HDFS file to </a:t>
            </a:r>
            <a:r>
              <a:rPr lang="en-IN" b="0" u="none" strike="noStrike" dirty="0" err="1">
                <a:effectLst/>
                <a:latin typeface="Google Sans"/>
              </a:rPr>
              <a:t>stdout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-tail</a:t>
            </a:r>
            <a:r>
              <a:rPr lang="en-IN" b="0" u="none" strike="noStrike" dirty="0">
                <a:effectLst/>
                <a:latin typeface="Google Sans"/>
              </a:rPr>
              <a:t>: Displays the final kilobyte of data in a file.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-text</a:t>
            </a:r>
            <a:r>
              <a:rPr lang="en-IN" b="0" u="none" strike="noStrike" dirty="0">
                <a:effectLst/>
                <a:latin typeface="Google Sans"/>
              </a:rPr>
              <a:t>: Outputs a source file as plain text, decoding zipped formats automatically. </a:t>
            </a:r>
            <a:r>
              <a:rPr lang="en-IN" b="1" u="none" strike="noStrike" dirty="0">
                <a:effectLst/>
                <a:latin typeface="Google Sans"/>
              </a:rPr>
              <a:t>-du</a:t>
            </a:r>
            <a:r>
              <a:rPr lang="en-IN" b="0" u="none" strike="noStrike" dirty="0">
                <a:effectLst/>
                <a:latin typeface="Google Sans"/>
              </a:rPr>
              <a:t>: Displays the disk space usage of files and directories.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📊 Disk &amp; System Administration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df</a:t>
            </a:r>
            <a:r>
              <a:rPr lang="en-IN" b="0" u="none" strike="noStrike" dirty="0">
                <a:effectLst/>
                <a:latin typeface="Google Sans"/>
              </a:rPr>
              <a:t>: Shows the total capacity, used space, and remaining space across the entire cluster.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chmod</a:t>
            </a:r>
            <a:r>
              <a:rPr lang="en-IN" b="0" u="none" strike="noStrike" dirty="0">
                <a:effectLst/>
                <a:latin typeface="Google Sans"/>
              </a:rPr>
              <a:t>: Modifies the file access permissions.</a:t>
            </a:r>
          </a:p>
          <a:p>
            <a:pPr lvl="1"/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setrep</a:t>
            </a:r>
            <a:r>
              <a:rPr lang="en-IN" b="0" u="none" strike="noStrike" dirty="0">
                <a:effectLst/>
                <a:latin typeface="Google Sans"/>
              </a:rPr>
              <a:t>: Dynamically adjusts the target replication factor for a specific path.</a:t>
            </a:r>
          </a:p>
          <a:p>
            <a:pPr marL="0" indent="0">
              <a:buNone/>
            </a:pPr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❓ Looking for Help?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0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F5CD-8BB4-21AB-D11F-6C36ED9C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📂 Directory &amp; File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A6D5E-F73C-7345-168A-AFEFA139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mkdir</a:t>
            </a:r>
            <a:r>
              <a:rPr lang="en-IN" b="0" u="none" strike="noStrike" dirty="0">
                <a:effectLst/>
                <a:latin typeface="Google Sans"/>
              </a:rPr>
              <a:t>: Creates a new directory.</a:t>
            </a:r>
          </a:p>
          <a:p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0" i="1" u="none" strike="noStrike" dirty="0">
                <a:effectLst/>
                <a:latin typeface="Google Sans"/>
              </a:rPr>
              <a:t>Use -p to automatically create missing parent directories.</a:t>
            </a:r>
            <a:endParaRPr lang="en-IN" b="0" u="none" strike="noStrike" dirty="0">
              <a:effectLst/>
              <a:latin typeface="Google Sans"/>
            </a:endParaRPr>
          </a:p>
          <a:p>
            <a:endParaRPr lang="en-IN" dirty="0"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-ls</a:t>
            </a:r>
            <a:r>
              <a:rPr lang="en-IN" b="0" u="none" strike="noStrike" dirty="0">
                <a:effectLst/>
                <a:latin typeface="Google Sans"/>
              </a:rPr>
              <a:t>: Lists files and sub-directories within a specific path.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E7439-BD38-977F-1441-555ADB635BAA}"/>
              </a:ext>
            </a:extLst>
          </p:cNvPr>
          <p:cNvSpPr txBox="1"/>
          <p:nvPr/>
        </p:nvSpPr>
        <p:spPr>
          <a:xfrm>
            <a:off x="1187904" y="2493219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mkdir</a:t>
            </a:r>
            <a:r>
              <a:rPr lang="en-US" sz="2800" dirty="0">
                <a:highlight>
                  <a:srgbClr val="808080"/>
                </a:highlight>
              </a:rPr>
              <a:t> /test1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38689-65FA-6ABE-4952-ECF57AEFFF39}"/>
              </a:ext>
            </a:extLst>
          </p:cNvPr>
          <p:cNvSpPr txBox="1"/>
          <p:nvPr/>
        </p:nvSpPr>
        <p:spPr>
          <a:xfrm>
            <a:off x="1187904" y="525274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-ls 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3BD29-6A0C-EE90-C1ED-010B3BB30676}"/>
              </a:ext>
            </a:extLst>
          </p:cNvPr>
          <p:cNvSpPr txBox="1"/>
          <p:nvPr/>
        </p:nvSpPr>
        <p:spPr>
          <a:xfrm>
            <a:off x="1187904" y="5969655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mkdir</a:t>
            </a:r>
            <a:r>
              <a:rPr lang="en-US" sz="2800" dirty="0">
                <a:highlight>
                  <a:srgbClr val="808080"/>
                </a:highlight>
              </a:rPr>
              <a:t> /test1/</a:t>
            </a:r>
            <a:r>
              <a:rPr lang="en-US" sz="2800" dirty="0" err="1">
                <a:highlight>
                  <a:srgbClr val="808080"/>
                </a:highlight>
              </a:rPr>
              <a:t>dataa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AC5AD-0645-49BF-3930-BAD41FB5ADD9}"/>
              </a:ext>
            </a:extLst>
          </p:cNvPr>
          <p:cNvSpPr txBox="1"/>
          <p:nvPr/>
        </p:nvSpPr>
        <p:spPr>
          <a:xfrm>
            <a:off x="6434818" y="5117357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-ls /test1</a:t>
            </a:r>
          </a:p>
        </p:txBody>
      </p:sp>
    </p:spTree>
    <p:extLst>
      <p:ext uri="{BB962C8B-B14F-4D97-AF65-F5344CB8AC3E}">
        <p14:creationId xmlns:p14="http://schemas.microsoft.com/office/powerpoint/2010/main" val="356493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5DFD-BFEF-9A43-A684-BB965396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EFC4-2E1A-8619-B976-CEA9F7ECF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📤 Data Transfer (Local ⇄ HDFS)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B538-7844-13D6-ACB9-33C01A334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file.txt</a:t>
            </a:r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Hdfs</a:t>
            </a:r>
            <a:r>
              <a:rPr lang="en-US" dirty="0">
                <a:sym typeface="Wingdings" pitchFamily="2" charset="2"/>
              </a:rPr>
              <a:t> – test1/data1 --- keep </a:t>
            </a:r>
            <a:r>
              <a:rPr lang="en-US" dirty="0" err="1">
                <a:sym typeface="Wingdings" pitchFamily="2" charset="2"/>
              </a:rPr>
              <a:t>file.txt</a:t>
            </a:r>
            <a:r>
              <a:rPr lang="en-US" dirty="0">
                <a:sym typeface="Wingdings" pitchFamily="2" charset="2"/>
              </a:rPr>
              <a:t> here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21BAC-57BA-7C1C-9DAD-DD6C5182EE80}"/>
              </a:ext>
            </a:extLst>
          </p:cNvPr>
          <p:cNvSpPr txBox="1"/>
          <p:nvPr/>
        </p:nvSpPr>
        <p:spPr>
          <a:xfrm>
            <a:off x="975630" y="2851478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  -put /home/</a:t>
            </a:r>
            <a:r>
              <a:rPr lang="en-US" sz="2800" dirty="0" err="1">
                <a:highlight>
                  <a:srgbClr val="808080"/>
                </a:highlight>
              </a:rPr>
              <a:t>naveen</a:t>
            </a:r>
            <a:r>
              <a:rPr lang="en-US" sz="2800" dirty="0">
                <a:highlight>
                  <a:srgbClr val="808080"/>
                </a:highlight>
              </a:rPr>
              <a:t>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 /test1/data1/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BAC8B-EEBB-05C7-7C26-32E3A5EE3D67}"/>
              </a:ext>
            </a:extLst>
          </p:cNvPr>
          <p:cNvSpPr txBox="1"/>
          <p:nvPr/>
        </p:nvSpPr>
        <p:spPr>
          <a:xfrm>
            <a:off x="975630" y="3577469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  -</a:t>
            </a:r>
            <a:r>
              <a:rPr lang="en-US" sz="2800" dirty="0" err="1">
                <a:highlight>
                  <a:srgbClr val="808080"/>
                </a:highlight>
              </a:rPr>
              <a:t>copyFromLocal</a:t>
            </a:r>
            <a:r>
              <a:rPr lang="en-US" sz="2800" dirty="0">
                <a:highlight>
                  <a:srgbClr val="808080"/>
                </a:highlight>
              </a:rPr>
              <a:t> /home/</a:t>
            </a:r>
            <a:r>
              <a:rPr lang="en-US" sz="2800" dirty="0" err="1">
                <a:highlight>
                  <a:srgbClr val="808080"/>
                </a:highlight>
              </a:rPr>
              <a:t>naveen</a:t>
            </a:r>
            <a:r>
              <a:rPr lang="en-US" sz="2800" dirty="0">
                <a:highlight>
                  <a:srgbClr val="808080"/>
                </a:highlight>
              </a:rPr>
              <a:t>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 /test1/data1/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20EB5-B447-BCA0-1B03-C9ABB0F42C8D}"/>
              </a:ext>
            </a:extLst>
          </p:cNvPr>
          <p:cNvSpPr txBox="1"/>
          <p:nvPr/>
        </p:nvSpPr>
        <p:spPr>
          <a:xfrm>
            <a:off x="975630" y="4303460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–ls /test1/data1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252DA-8BC5-760E-A384-2B3AEC394D8C}"/>
              </a:ext>
            </a:extLst>
          </p:cNvPr>
          <p:cNvSpPr txBox="1"/>
          <p:nvPr/>
        </p:nvSpPr>
        <p:spPr>
          <a:xfrm>
            <a:off x="975630" y="5029451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–get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/home/</a:t>
            </a:r>
            <a:r>
              <a:rPr lang="en-US" sz="2800" dirty="0" err="1">
                <a:highlight>
                  <a:srgbClr val="808080"/>
                </a:highlight>
              </a:rPr>
              <a:t>navee</a:t>
            </a:r>
            <a:r>
              <a:rPr lang="en-US" sz="2800" dirty="0">
                <a:highlight>
                  <a:srgbClr val="808080"/>
                </a:highlight>
              </a:rPr>
              <a:t>/Desktop/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E9E3D-3AEA-2A75-9600-4F7116D6761B}"/>
              </a:ext>
            </a:extLst>
          </p:cNvPr>
          <p:cNvSpPr txBox="1"/>
          <p:nvPr/>
        </p:nvSpPr>
        <p:spPr>
          <a:xfrm>
            <a:off x="975630" y="5871935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</a:t>
            </a:r>
            <a:r>
              <a:rPr lang="en-US" sz="2800" dirty="0" err="1">
                <a:highlight>
                  <a:srgbClr val="808080"/>
                </a:highlight>
              </a:rPr>
              <a:t>copyToLocal</a:t>
            </a:r>
            <a:r>
              <a:rPr lang="en-US" sz="2800" dirty="0">
                <a:highlight>
                  <a:srgbClr val="808080"/>
                </a:highlight>
              </a:rPr>
              <a:t>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/home/</a:t>
            </a:r>
            <a:r>
              <a:rPr lang="en-US" sz="2800" dirty="0" err="1">
                <a:highlight>
                  <a:srgbClr val="808080"/>
                </a:highlight>
              </a:rPr>
              <a:t>navee</a:t>
            </a:r>
            <a:r>
              <a:rPr lang="en-US" sz="2800" dirty="0">
                <a:highlight>
                  <a:srgbClr val="808080"/>
                </a:highlight>
              </a:rPr>
              <a:t>/Desktop/</a:t>
            </a:r>
          </a:p>
        </p:txBody>
      </p:sp>
    </p:spTree>
    <p:extLst>
      <p:ext uri="{BB962C8B-B14F-4D97-AF65-F5344CB8AC3E}">
        <p14:creationId xmlns:p14="http://schemas.microsoft.com/office/powerpoint/2010/main" val="249920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4EEA-0A8C-223B-4542-02CF5A9F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91DC-C517-CD7C-978A-1ACC5FF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📤 Data Transfer (Local ⇄ HDFS)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1662-6A7C-93A1-2C9D-0F434F40C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getmerge</a:t>
            </a:r>
            <a:r>
              <a:rPr lang="en-IN" b="0" u="none" strike="noStrike" dirty="0">
                <a:effectLst/>
                <a:latin typeface="Google Sans"/>
              </a:rPr>
              <a:t>: Combines multiple files from an HDFS directory into a single local file.</a:t>
            </a:r>
          </a:p>
          <a:p>
            <a:endParaRPr lang="en-IN" dirty="0"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appendToFile</a:t>
            </a:r>
            <a:r>
              <a:rPr lang="en-IN" b="0" u="none" strike="noStrike" dirty="0">
                <a:effectLst/>
                <a:latin typeface="Google Sans"/>
              </a:rPr>
              <a:t>: Appends data from a local file directly onto the end of an existing HDFS file.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45613-7937-E545-C75C-633E9498F8F5}"/>
              </a:ext>
            </a:extLst>
          </p:cNvPr>
          <p:cNvSpPr txBox="1"/>
          <p:nvPr/>
        </p:nvSpPr>
        <p:spPr>
          <a:xfrm>
            <a:off x="975630" y="2691254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getmerge</a:t>
            </a:r>
            <a:r>
              <a:rPr lang="en-US" sz="2800" dirty="0">
                <a:highlight>
                  <a:srgbClr val="808080"/>
                </a:highlight>
              </a:rPr>
              <a:t> /user/</a:t>
            </a:r>
            <a:r>
              <a:rPr lang="en-US" sz="2800" dirty="0" err="1">
                <a:highlight>
                  <a:srgbClr val="808080"/>
                </a:highlight>
              </a:rPr>
              <a:t>hadoop</a:t>
            </a:r>
            <a:r>
              <a:rPr lang="en-US" sz="2800" dirty="0">
                <a:highlight>
                  <a:srgbClr val="808080"/>
                </a:highlight>
              </a:rPr>
              <a:t>/logs/ </a:t>
            </a:r>
            <a:r>
              <a:rPr lang="en-US" sz="2800" dirty="0" err="1">
                <a:highlight>
                  <a:srgbClr val="808080"/>
                </a:highlight>
              </a:rPr>
              <a:t>local_combined_logs.txt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A0F9A-AA9D-17B5-A9BC-3D13FE17B22E}"/>
              </a:ext>
            </a:extLst>
          </p:cNvPr>
          <p:cNvSpPr txBox="1"/>
          <p:nvPr/>
        </p:nvSpPr>
        <p:spPr>
          <a:xfrm>
            <a:off x="975630" y="3739684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appendToFile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local_newData.txt</a:t>
            </a:r>
            <a:r>
              <a:rPr lang="en-US" sz="2800" dirty="0">
                <a:highlight>
                  <a:srgbClr val="808080"/>
                </a:highlight>
              </a:rPr>
              <a:t> /user/</a:t>
            </a:r>
            <a:r>
              <a:rPr lang="en-US" sz="2800" dirty="0" err="1">
                <a:highlight>
                  <a:srgbClr val="808080"/>
                </a:highlight>
              </a:rPr>
              <a:t>hadoop</a:t>
            </a:r>
            <a:r>
              <a:rPr lang="en-US" sz="2800" dirty="0">
                <a:highlight>
                  <a:srgbClr val="808080"/>
                </a:highlight>
              </a:rPr>
              <a:t>/</a:t>
            </a:r>
            <a:r>
              <a:rPr lang="en-US" sz="2800" dirty="0" err="1">
                <a:highlight>
                  <a:srgbClr val="808080"/>
                </a:highlight>
              </a:rPr>
              <a:t>existing_file.txt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B427F-C730-0A50-747E-128042CEDA43}"/>
              </a:ext>
            </a:extLst>
          </p:cNvPr>
          <p:cNvSpPr txBox="1"/>
          <p:nvPr/>
        </p:nvSpPr>
        <p:spPr>
          <a:xfrm>
            <a:off x="975630" y="4303460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–ls /test1/data1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2D3E1C-9132-28D3-E6B0-44640C34F29C}"/>
              </a:ext>
            </a:extLst>
          </p:cNvPr>
          <p:cNvSpPr txBox="1"/>
          <p:nvPr/>
        </p:nvSpPr>
        <p:spPr>
          <a:xfrm>
            <a:off x="975630" y="5029451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–get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/home/</a:t>
            </a:r>
            <a:r>
              <a:rPr lang="en-US" sz="2800" dirty="0" err="1">
                <a:highlight>
                  <a:srgbClr val="808080"/>
                </a:highlight>
              </a:rPr>
              <a:t>navee</a:t>
            </a:r>
            <a:r>
              <a:rPr lang="en-US" sz="2800" dirty="0">
                <a:highlight>
                  <a:srgbClr val="808080"/>
                </a:highlight>
              </a:rPr>
              <a:t>/Desktop/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9A25C-729A-AD4E-DABD-376B10FAD0D2}"/>
              </a:ext>
            </a:extLst>
          </p:cNvPr>
          <p:cNvSpPr txBox="1"/>
          <p:nvPr/>
        </p:nvSpPr>
        <p:spPr>
          <a:xfrm>
            <a:off x="975630" y="5871935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</a:t>
            </a:r>
            <a:r>
              <a:rPr lang="en-US" sz="2800" dirty="0" err="1">
                <a:highlight>
                  <a:srgbClr val="808080"/>
                </a:highlight>
              </a:rPr>
              <a:t>copyToLocal</a:t>
            </a:r>
            <a:r>
              <a:rPr lang="en-US" sz="2800" dirty="0">
                <a:highlight>
                  <a:srgbClr val="808080"/>
                </a:highlight>
              </a:rPr>
              <a:t>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/home/</a:t>
            </a:r>
            <a:r>
              <a:rPr lang="en-US" sz="2800" dirty="0" err="1">
                <a:highlight>
                  <a:srgbClr val="808080"/>
                </a:highlight>
              </a:rPr>
              <a:t>navee</a:t>
            </a:r>
            <a:r>
              <a:rPr lang="en-US" sz="2800" dirty="0">
                <a:highlight>
                  <a:srgbClr val="808080"/>
                </a:highlight>
              </a:rPr>
              <a:t>/Desktop/</a:t>
            </a:r>
          </a:p>
        </p:txBody>
      </p:sp>
    </p:spTree>
    <p:extLst>
      <p:ext uri="{BB962C8B-B14F-4D97-AF65-F5344CB8AC3E}">
        <p14:creationId xmlns:p14="http://schemas.microsoft.com/office/powerpoint/2010/main" val="242458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03BE-E575-CCE0-0A37-D4CAAE32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2076-8CEA-3BA8-01B1-439B3EF5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📄 Viewing &amp; Inspecting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E97A-9CA5-0D3D-9E6A-3F1E75C7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BD685-AA00-5359-FB55-0797E1294584}"/>
              </a:ext>
            </a:extLst>
          </p:cNvPr>
          <p:cNvSpPr txBox="1"/>
          <p:nvPr/>
        </p:nvSpPr>
        <p:spPr>
          <a:xfrm>
            <a:off x="1091972" y="3298050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trike="sngStrike" dirty="0">
                <a:highlight>
                  <a:srgbClr val="808080"/>
                </a:highlight>
              </a:rPr>
              <a:t>bin/</a:t>
            </a:r>
            <a:r>
              <a:rPr lang="en-US" sz="2800" strike="sngStrike" dirty="0" err="1">
                <a:highlight>
                  <a:srgbClr val="808080"/>
                </a:highlight>
              </a:rPr>
              <a:t>hdfs</a:t>
            </a:r>
            <a:r>
              <a:rPr lang="en-US" sz="2800" strike="sngStrike" dirty="0">
                <a:highlight>
                  <a:srgbClr val="808080"/>
                </a:highlight>
              </a:rPr>
              <a:t> </a:t>
            </a:r>
            <a:r>
              <a:rPr lang="en-US" sz="2800" strike="sngStrike" dirty="0" err="1">
                <a:highlight>
                  <a:srgbClr val="808080"/>
                </a:highlight>
              </a:rPr>
              <a:t>dfs</a:t>
            </a:r>
            <a:r>
              <a:rPr lang="en-US" sz="2800" strike="sngStrike" dirty="0">
                <a:highlight>
                  <a:srgbClr val="808080"/>
                </a:highlight>
              </a:rPr>
              <a:t> -head /test1/data1/</a:t>
            </a:r>
            <a:r>
              <a:rPr lang="en-US" sz="2800" strike="sngStrike" dirty="0" err="1">
                <a:highlight>
                  <a:srgbClr val="808080"/>
                </a:highlight>
              </a:rPr>
              <a:t>file.txt</a:t>
            </a:r>
            <a:endParaRPr lang="en-US" sz="2800" strike="sngStrike" dirty="0">
              <a:highlight>
                <a:srgbClr val="80808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F809D-7289-413C-7734-5B1959950B75}"/>
              </a:ext>
            </a:extLst>
          </p:cNvPr>
          <p:cNvSpPr txBox="1"/>
          <p:nvPr/>
        </p:nvSpPr>
        <p:spPr>
          <a:xfrm>
            <a:off x="906915" y="2614070"/>
            <a:ext cx="1199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  -cat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C9110-0C0A-B367-964D-906DE6D89E49}"/>
              </a:ext>
            </a:extLst>
          </p:cNvPr>
          <p:cNvSpPr txBox="1"/>
          <p:nvPr/>
        </p:nvSpPr>
        <p:spPr>
          <a:xfrm>
            <a:off x="1059315" y="1978025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lsr</a:t>
            </a:r>
            <a:r>
              <a:rPr lang="en-US" sz="2800" dirty="0">
                <a:highlight>
                  <a:srgbClr val="808080"/>
                </a:highlight>
              </a:rPr>
              <a:t> 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BC000-2475-5E2E-CF9C-6E4B60F03EE6}"/>
              </a:ext>
            </a:extLst>
          </p:cNvPr>
          <p:cNvSpPr txBox="1"/>
          <p:nvPr/>
        </p:nvSpPr>
        <p:spPr>
          <a:xfrm>
            <a:off x="965086" y="4133906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-tail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F4568-41F7-2987-2FF0-BAE0FD5894A7}"/>
              </a:ext>
            </a:extLst>
          </p:cNvPr>
          <p:cNvSpPr txBox="1"/>
          <p:nvPr/>
        </p:nvSpPr>
        <p:spPr>
          <a:xfrm>
            <a:off x="948758" y="4969762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-rm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endParaRPr lang="en-US" sz="2800" dirty="0">
              <a:highlight>
                <a:srgbClr val="80808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29656-0757-2F3C-BF39-E322F18F000D}"/>
              </a:ext>
            </a:extLst>
          </p:cNvPr>
          <p:cNvSpPr txBox="1"/>
          <p:nvPr/>
        </p:nvSpPr>
        <p:spPr>
          <a:xfrm>
            <a:off x="948758" y="5785505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–rm -r /test1/data1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BF93B-5B38-9841-6011-42B19E86963E}"/>
              </a:ext>
            </a:extLst>
          </p:cNvPr>
          <p:cNvSpPr txBox="1"/>
          <p:nvPr/>
        </p:nvSpPr>
        <p:spPr>
          <a:xfrm>
            <a:off x="3432400" y="6343619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-cat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| head n 10</a:t>
            </a:r>
          </a:p>
        </p:txBody>
      </p:sp>
    </p:spTree>
    <p:extLst>
      <p:ext uri="{BB962C8B-B14F-4D97-AF65-F5344CB8AC3E}">
        <p14:creationId xmlns:p14="http://schemas.microsoft.com/office/powerpoint/2010/main" val="28634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AD8E-BECF-AA2F-A9A4-07A4FB16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CFD3-2E33-DC26-B4CD-29754999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🔄 Internal HDFS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FB72-0CC3-A499-6B93-FA93DB88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Hdfs</a:t>
            </a:r>
            <a:r>
              <a:rPr lang="en-US" dirty="0"/>
              <a:t>  -- test1/data1/</a:t>
            </a:r>
            <a:r>
              <a:rPr lang="en-US" dirty="0" err="1"/>
              <a:t>file.txt</a:t>
            </a:r>
            <a:endParaRPr lang="en-US" dirty="0"/>
          </a:p>
          <a:p>
            <a:r>
              <a:rPr lang="en-US" dirty="0" err="1"/>
              <a:t>Hdfs</a:t>
            </a:r>
            <a:r>
              <a:rPr lang="en-US" dirty="0"/>
              <a:t> – test2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58CB1-6977-6B70-D8C1-A416FE1FD430}"/>
              </a:ext>
            </a:extLst>
          </p:cNvPr>
          <p:cNvSpPr txBox="1"/>
          <p:nvPr/>
        </p:nvSpPr>
        <p:spPr>
          <a:xfrm>
            <a:off x="1008289" y="2905780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-cp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/test2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88521-632F-AEAC-DEFD-08FE09F03877}"/>
              </a:ext>
            </a:extLst>
          </p:cNvPr>
          <p:cNvSpPr txBox="1"/>
          <p:nvPr/>
        </p:nvSpPr>
        <p:spPr>
          <a:xfrm>
            <a:off x="1008289" y="3739684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-mv /test1/data1/</a:t>
            </a:r>
            <a:r>
              <a:rPr lang="en-US" sz="2800" dirty="0" err="1">
                <a:highlight>
                  <a:srgbClr val="808080"/>
                </a:highlight>
              </a:rPr>
              <a:t>file.txt</a:t>
            </a:r>
            <a:r>
              <a:rPr lang="en-US" sz="2800" dirty="0">
                <a:highlight>
                  <a:srgbClr val="808080"/>
                </a:highlight>
              </a:rPr>
              <a:t>  /test2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367B4-D595-E604-2088-33A4155D7EAB}"/>
              </a:ext>
            </a:extLst>
          </p:cNvPr>
          <p:cNvSpPr txBox="1"/>
          <p:nvPr/>
        </p:nvSpPr>
        <p:spPr>
          <a:xfrm>
            <a:off x="1008289" y="4696713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-du /test1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7CA66-D01A-827F-39B6-85B48EC8CB3A}"/>
              </a:ext>
            </a:extLst>
          </p:cNvPr>
          <p:cNvSpPr txBox="1"/>
          <p:nvPr/>
        </p:nvSpPr>
        <p:spPr>
          <a:xfrm>
            <a:off x="1008289" y="5547475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df</a:t>
            </a:r>
            <a:r>
              <a:rPr lang="en-US" sz="2800" dirty="0">
                <a:highlight>
                  <a:srgbClr val="808080"/>
                </a:highlight>
              </a:rPr>
              <a:t> -h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BD152-6F6D-020C-7205-B5DF8D874ED0}"/>
              </a:ext>
            </a:extLst>
          </p:cNvPr>
          <p:cNvSpPr txBox="1"/>
          <p:nvPr/>
        </p:nvSpPr>
        <p:spPr>
          <a:xfrm>
            <a:off x="1023529" y="6242895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–count  /</a:t>
            </a:r>
          </a:p>
        </p:txBody>
      </p:sp>
    </p:spTree>
    <p:extLst>
      <p:ext uri="{BB962C8B-B14F-4D97-AF65-F5344CB8AC3E}">
        <p14:creationId xmlns:p14="http://schemas.microsoft.com/office/powerpoint/2010/main" val="317146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FE76-846B-722E-E471-F9568B8D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E71A-5B9B-C5B9-C0BE-A4870C87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📂 Directory &amp; File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1AA2-77EB-2BB3-7B60-DB932ABB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</a:t>
            </a:r>
            <a:r>
              <a:rPr lang="en-US" dirty="0" err="1"/>
              <a:t>chech</a:t>
            </a:r>
            <a:r>
              <a:rPr lang="en-US" dirty="0"/>
              <a:t> whether file is available</a:t>
            </a:r>
          </a:p>
          <a:p>
            <a:endParaRPr lang="en-US" dirty="0"/>
          </a:p>
          <a:p>
            <a:r>
              <a:rPr lang="en-IN" b="1" u="none" strike="noStrike" dirty="0">
                <a:effectLst/>
                <a:latin typeface="Google Sans"/>
              </a:rPr>
              <a:t>-</a:t>
            </a:r>
            <a:r>
              <a:rPr lang="en-IN" b="1" u="none" strike="noStrike" dirty="0" err="1">
                <a:effectLst/>
                <a:latin typeface="Google Sans"/>
              </a:rPr>
              <a:t>touchz</a:t>
            </a:r>
            <a:r>
              <a:rPr lang="en-IN" b="0" u="none" strike="noStrike" dirty="0">
                <a:effectLst/>
                <a:latin typeface="Google Sans"/>
              </a:rPr>
              <a:t>: Creates an empty file (0 bytes).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98FDB-4E85-FA69-2CF0-64A503C2692B}"/>
              </a:ext>
            </a:extLst>
          </p:cNvPr>
          <p:cNvSpPr txBox="1"/>
          <p:nvPr/>
        </p:nvSpPr>
        <p:spPr>
          <a:xfrm>
            <a:off x="1008289" y="1862887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chmod</a:t>
            </a:r>
            <a:r>
              <a:rPr lang="en-US" sz="2800" dirty="0">
                <a:highlight>
                  <a:srgbClr val="808080"/>
                </a:highlight>
              </a:rPr>
              <a:t> 755 /test1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0329C-ED2C-4B7E-8A69-1702027ABE3F}"/>
              </a:ext>
            </a:extLst>
          </p:cNvPr>
          <p:cNvSpPr txBox="1"/>
          <p:nvPr/>
        </p:nvSpPr>
        <p:spPr>
          <a:xfrm>
            <a:off x="923244" y="2697762"/>
            <a:ext cx="10345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trike="sngStrike" dirty="0" err="1">
                <a:highlight>
                  <a:srgbClr val="808080"/>
                </a:highlight>
              </a:rPr>
              <a:t>hdfs</a:t>
            </a:r>
            <a:r>
              <a:rPr lang="en-US" sz="2800" strike="sngStrike" dirty="0">
                <a:highlight>
                  <a:srgbClr val="808080"/>
                </a:highlight>
              </a:rPr>
              <a:t> </a:t>
            </a:r>
            <a:r>
              <a:rPr lang="en-US" sz="2800" strike="sngStrike" dirty="0" err="1">
                <a:highlight>
                  <a:srgbClr val="808080"/>
                </a:highlight>
              </a:rPr>
              <a:t>dfs</a:t>
            </a:r>
            <a:r>
              <a:rPr lang="en-US" sz="2800" strike="sngStrike" dirty="0">
                <a:highlight>
                  <a:srgbClr val="808080"/>
                </a:highlight>
              </a:rPr>
              <a:t> –test  -e /test1/data1/</a:t>
            </a:r>
            <a:r>
              <a:rPr lang="en-US" sz="2800" strike="sngStrike" dirty="0" err="1">
                <a:highlight>
                  <a:srgbClr val="808080"/>
                </a:highlight>
              </a:rPr>
              <a:t>file.txt</a:t>
            </a:r>
            <a:r>
              <a:rPr lang="en-US" sz="2800" strike="sngStrike" dirty="0">
                <a:highlight>
                  <a:srgbClr val="808080"/>
                </a:highlight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DD815-44F1-412C-3FC7-ED39D3E0F3DD}"/>
              </a:ext>
            </a:extLst>
          </p:cNvPr>
          <p:cNvSpPr txBox="1"/>
          <p:nvPr/>
        </p:nvSpPr>
        <p:spPr>
          <a:xfrm>
            <a:off x="838200" y="5036072"/>
            <a:ext cx="10983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808080"/>
                </a:highlight>
              </a:rPr>
              <a:t>bin/</a:t>
            </a:r>
            <a:r>
              <a:rPr lang="en-US" sz="2800" dirty="0" err="1">
                <a:highlight>
                  <a:srgbClr val="808080"/>
                </a:highlight>
              </a:rPr>
              <a:t>hdfs</a:t>
            </a:r>
            <a:r>
              <a:rPr lang="en-US" sz="2800" dirty="0">
                <a:highlight>
                  <a:srgbClr val="808080"/>
                </a:highlight>
              </a:rPr>
              <a:t> </a:t>
            </a:r>
            <a:r>
              <a:rPr lang="en-US" sz="2800" dirty="0" err="1">
                <a:highlight>
                  <a:srgbClr val="808080"/>
                </a:highlight>
              </a:rPr>
              <a:t>dfs</a:t>
            </a:r>
            <a:r>
              <a:rPr lang="en-US" sz="2800" dirty="0">
                <a:highlight>
                  <a:srgbClr val="808080"/>
                </a:highlight>
              </a:rPr>
              <a:t> -</a:t>
            </a:r>
            <a:r>
              <a:rPr lang="en-US" sz="2800" dirty="0" err="1">
                <a:highlight>
                  <a:srgbClr val="808080"/>
                </a:highlight>
              </a:rPr>
              <a:t>touchz</a:t>
            </a:r>
            <a:r>
              <a:rPr lang="en-US" sz="2800" dirty="0">
                <a:highlight>
                  <a:srgbClr val="808080"/>
                </a:highlight>
              </a:rPr>
              <a:t> /user/</a:t>
            </a:r>
            <a:r>
              <a:rPr lang="en-US" sz="2800" dirty="0" err="1">
                <a:highlight>
                  <a:srgbClr val="808080"/>
                </a:highlight>
              </a:rPr>
              <a:t>hadoop</a:t>
            </a:r>
            <a:r>
              <a:rPr lang="en-US" sz="2800" dirty="0">
                <a:highlight>
                  <a:srgbClr val="808080"/>
                </a:highlight>
              </a:rPr>
              <a:t>/</a:t>
            </a:r>
            <a:r>
              <a:rPr lang="en-US" sz="2800" dirty="0" err="1">
                <a:highlight>
                  <a:srgbClr val="808080"/>
                </a:highlight>
              </a:rPr>
              <a:t>empty_file.txt</a:t>
            </a:r>
            <a:endParaRPr lang="en-US" sz="2800" dirty="0"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8434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EF4B-AA1C-AA4A-0824-093F28CA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2B13-4ED5-6DE4-92C6-75C66D00B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3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3587-0675-8F27-7262-C1C3D1A6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Datanode</a:t>
            </a:r>
            <a:r>
              <a:rPr lang="en-US" dirty="0"/>
              <a:t> crashes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2793-2223-A24B-57F1-79C2392DB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92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D165-305D-A5A0-C931-DE054AE5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crashes (passive </a:t>
            </a:r>
            <a:r>
              <a:rPr lang="en-US" dirty="0" err="1"/>
              <a:t>namenodes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D0E6E-B323-658A-660D-CADF757F3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2F66-0541-3B2C-85D7-116CA8DF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8BCF-3CF4-D0F1-D630-29B6D7F5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HDFS </a:t>
            </a:r>
            <a:r>
              <a:rPr lang="en-US" dirty="0">
                <a:sym typeface="Wingdings" pitchFamily="2" charset="2"/>
              </a:rPr>
              <a:t> amazon data  </a:t>
            </a:r>
            <a:endParaRPr lang="en-US" dirty="0"/>
          </a:p>
        </p:txBody>
      </p:sp>
      <p:pic>
        <p:nvPicPr>
          <p:cNvPr id="1026" name="Picture 2" descr="Hadoop Mapper - 4 Steps Learning to MapReduce Mapper - DataFlair">
            <a:extLst>
              <a:ext uri="{FF2B5EF4-FFF2-40B4-BE49-F238E27FC236}">
                <a16:creationId xmlns:a16="http://schemas.microsoft.com/office/drawing/2014/main" id="{0D6AF99F-9039-B07C-78BA-040A00571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48" y="1825625"/>
            <a:ext cx="97282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769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32C7-4600-D77D-200C-05D66D17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DEC2-586A-1FAE-98B1-F87303981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MapReduce Architecture">
            <a:extLst>
              <a:ext uri="{FF2B5EF4-FFF2-40B4-BE49-F238E27FC236}">
                <a16:creationId xmlns:a16="http://schemas.microsoft.com/office/drawing/2014/main" id="{639BB7F3-FA57-8BFD-9390-95359CBB0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9163"/>
            <a:ext cx="12192000" cy="247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32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C296-03AD-0228-67D3-8D845D5F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Sqoop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D523-B2C9-8C55-A041-C4FFD962F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Sqoop installation</a:t>
            </a:r>
          </a:p>
          <a:p>
            <a:r>
              <a:rPr lang="en-US" dirty="0"/>
              <a:t>Sqoop architecture</a:t>
            </a:r>
          </a:p>
          <a:p>
            <a:r>
              <a:rPr lang="en-US" dirty="0" err="1"/>
              <a:t>Sqooop</a:t>
            </a:r>
            <a:r>
              <a:rPr lang="en-US" dirty="0"/>
              <a:t> </a:t>
            </a:r>
            <a:r>
              <a:rPr lang="en-US" dirty="0" err="1"/>
              <a:t>linux</a:t>
            </a:r>
            <a:r>
              <a:rPr lang="en-US" dirty="0"/>
              <a:t> commands</a:t>
            </a:r>
          </a:p>
          <a:p>
            <a:endParaRPr lang="en-US" dirty="0"/>
          </a:p>
          <a:p>
            <a:r>
              <a:rPr lang="en-US" dirty="0" err="1"/>
              <a:t>sqoop</a:t>
            </a:r>
            <a:r>
              <a:rPr lang="en-US" dirty="0"/>
              <a:t> List databases –connect “</a:t>
            </a:r>
            <a:r>
              <a:rPr lang="en-US" dirty="0" err="1"/>
              <a:t>jdbc:mysql</a:t>
            </a:r>
            <a:r>
              <a:rPr lang="en-US" dirty="0"/>
              <a:t>://localhost/” –username root –password admin</a:t>
            </a:r>
          </a:p>
          <a:p>
            <a:endParaRPr lang="en-US" dirty="0"/>
          </a:p>
          <a:p>
            <a:r>
              <a:rPr lang="en-US" dirty="0"/>
              <a:t>List tables</a:t>
            </a:r>
          </a:p>
          <a:p>
            <a:r>
              <a:rPr lang="en-US" dirty="0" err="1"/>
              <a:t>sqoop</a:t>
            </a:r>
            <a:r>
              <a:rPr lang="en-US" dirty="0"/>
              <a:t> list-tables –connect “”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71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A9C2-2782-1388-FE05-72A2CF4F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2F16-1DAA-C1CA-4940-13878803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Sqoop eval –connect “</a:t>
            </a:r>
            <a:r>
              <a:rPr lang="en-US" dirty="0" err="1"/>
              <a:t>jdbc</a:t>
            </a:r>
            <a:r>
              <a:rPr lang="en-US" dirty="0"/>
              <a:t>…” –username root –password admin –query “insert into </a:t>
            </a:r>
            <a:r>
              <a:rPr lang="en-US" dirty="0" err="1"/>
              <a:t>newTable</a:t>
            </a:r>
            <a:r>
              <a:rPr lang="en-US" dirty="0"/>
              <a:t> values(a, data) ()”</a:t>
            </a:r>
          </a:p>
          <a:p>
            <a:endParaRPr lang="en-US" dirty="0"/>
          </a:p>
          <a:p>
            <a:r>
              <a:rPr lang="en-US" dirty="0"/>
              <a:t>Sqoop eval –connect “</a:t>
            </a:r>
            <a:r>
              <a:rPr lang="en-US" dirty="0" err="1"/>
              <a:t>jdbc</a:t>
            </a:r>
            <a:r>
              <a:rPr lang="en-US" dirty="0"/>
              <a:t>…” –username root –password admin –query “insert into </a:t>
            </a:r>
            <a:r>
              <a:rPr lang="en-US" dirty="0" err="1"/>
              <a:t>newTable</a:t>
            </a:r>
            <a:r>
              <a:rPr lang="en-US" dirty="0"/>
              <a:t> values(a, data) ()”</a:t>
            </a:r>
          </a:p>
          <a:p>
            <a:endParaRPr lang="en-US" dirty="0"/>
          </a:p>
          <a:p>
            <a:r>
              <a:rPr lang="en-US" dirty="0"/>
              <a:t>Import (</a:t>
            </a:r>
            <a:r>
              <a:rPr lang="en-US" dirty="0" err="1"/>
              <a:t>mysql</a:t>
            </a:r>
            <a:r>
              <a:rPr lang="en-US" dirty="0"/>
              <a:t> to </a:t>
            </a:r>
            <a:r>
              <a:rPr lang="en-US" dirty="0" err="1"/>
              <a:t>hdfs</a:t>
            </a:r>
            <a:r>
              <a:rPr lang="en-US" dirty="0"/>
              <a:t>)</a:t>
            </a:r>
          </a:p>
          <a:p>
            <a:r>
              <a:rPr lang="en-US" dirty="0"/>
              <a:t>Single table</a:t>
            </a:r>
          </a:p>
          <a:p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sqoop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import --driver 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com.mysql.jdbc.Driver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--connect '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jdbc:mysql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://localhost/amity' --username root --password 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navbharti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--table 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testnew</a:t>
            </a:r>
            <a:r>
              <a:rPr lang="en-IN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--m 1</a:t>
            </a:r>
            <a:endParaRPr lang="en-US" dirty="0"/>
          </a:p>
          <a:p>
            <a:endParaRPr lang="en-US" dirty="0"/>
          </a:p>
          <a:p>
            <a:r>
              <a:rPr lang="en-US" dirty="0"/>
              <a:t>All tables</a:t>
            </a:r>
          </a:p>
          <a:p>
            <a:endParaRPr lang="en-US" dirty="0"/>
          </a:p>
          <a:p>
            <a:r>
              <a:rPr lang="en-US" dirty="0"/>
              <a:t>Conditional import</a:t>
            </a:r>
          </a:p>
          <a:p>
            <a:endParaRPr lang="en-US" dirty="0"/>
          </a:p>
          <a:p>
            <a:r>
              <a:rPr lang="en-US" dirty="0"/>
              <a:t>Target directory</a:t>
            </a:r>
          </a:p>
          <a:p>
            <a:endParaRPr lang="en-US" dirty="0"/>
          </a:p>
          <a:p>
            <a:r>
              <a:rPr lang="en-US" dirty="0"/>
              <a:t>Incremental Import</a:t>
            </a:r>
          </a:p>
        </p:txBody>
      </p:sp>
    </p:spTree>
    <p:extLst>
      <p:ext uri="{BB962C8B-B14F-4D97-AF65-F5344CB8AC3E}">
        <p14:creationId xmlns:p14="http://schemas.microsoft.com/office/powerpoint/2010/main" val="1774226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63BB-59D5-A4F5-0D27-3D0EB621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4165-1541-ED56-E6F7-79FA074CD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643E87-18DA-99C1-E129-30DC64E09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882650"/>
            <a:ext cx="9156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37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F59D-F033-D965-0DB5-D6EC3BE1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Importing data from MySQL to HDFS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F3B94-11F0-A171-A2EF-B0802CE5B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Step 1: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Login into MySQL</a:t>
            </a:r>
          </a:p>
          <a:p>
            <a:pPr algn="just" fontAlgn="base"/>
            <a:r>
              <a:rPr lang="en-IN" dirty="0" err="1"/>
              <a:t>mysql</a:t>
            </a:r>
            <a:r>
              <a:rPr lang="en-IN" dirty="0"/>
              <a:t> -u root –p admin </a:t>
            </a:r>
          </a:p>
          <a:p>
            <a:pPr algn="just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just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Step 2: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Create a database and table and insert data.</a:t>
            </a:r>
          </a:p>
          <a:p>
            <a:pPr algn="just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Step 3: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Create a database and table in the hive where data should be imported.</a:t>
            </a:r>
          </a:p>
          <a:p>
            <a:pPr algn="just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Step 4: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Run below the import command on Hadoop.</a:t>
            </a:r>
          </a:p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96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1110</Words>
  <Application>Microsoft Macintosh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Google Sans</vt:lpstr>
      <vt:lpstr>Menlo</vt:lpstr>
      <vt:lpstr>Nunito</vt:lpstr>
      <vt:lpstr>Wingdings</vt:lpstr>
      <vt:lpstr>Office Theme</vt:lpstr>
      <vt:lpstr>Hadoop Ecosystem</vt:lpstr>
      <vt:lpstr>PowerPoint Presentation</vt:lpstr>
      <vt:lpstr>How to start haddop?</vt:lpstr>
      <vt:lpstr>HDFS</vt:lpstr>
      <vt:lpstr>Hadoop dfs commands</vt:lpstr>
      <vt:lpstr>Hadoop dfs commands</vt:lpstr>
      <vt:lpstr>Hadoop dfs commands</vt:lpstr>
      <vt:lpstr>📂 Directory &amp; File Management</vt:lpstr>
      <vt:lpstr>📤 Data Transfer (Local ⇄ HDFS)</vt:lpstr>
      <vt:lpstr>📤 Data Transfer (Local ⇄ HDFS)</vt:lpstr>
      <vt:lpstr>📄 Viewing &amp; Inspecting Files</vt:lpstr>
      <vt:lpstr>🔄 Internal HDFS Operations</vt:lpstr>
      <vt:lpstr>📂 Directory &amp; File Management</vt:lpstr>
      <vt:lpstr>HDFS Architecture</vt:lpstr>
      <vt:lpstr>Datanode crashes</vt:lpstr>
      <vt:lpstr>Namenode crashes (passive namenodes)</vt:lpstr>
      <vt:lpstr>MapReduce Architecture</vt:lpstr>
      <vt:lpstr>PowerPoint Presentation</vt:lpstr>
      <vt:lpstr>Sqoop installation</vt:lpstr>
      <vt:lpstr>PowerPoint Presentation</vt:lpstr>
      <vt:lpstr>PowerPoint Presentation</vt:lpstr>
      <vt:lpstr>Importing data from MySQL to HDFS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23</cp:revision>
  <dcterms:created xsi:type="dcterms:W3CDTF">2026-08-20T17:19:48Z</dcterms:created>
  <dcterms:modified xsi:type="dcterms:W3CDTF">2026-08-22T02:10:04Z</dcterms:modified>
</cp:coreProperties>
</file>