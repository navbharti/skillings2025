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3" r:id="rId3"/>
    <p:sldId id="294" r:id="rId4"/>
    <p:sldId id="295" r:id="rId5"/>
    <p:sldId id="296" r:id="rId6"/>
    <p:sldId id="260" r:id="rId7"/>
    <p:sldId id="261" r:id="rId8"/>
    <p:sldId id="262" r:id="rId9"/>
    <p:sldId id="263" r:id="rId10"/>
    <p:sldId id="264" r:id="rId11"/>
    <p:sldId id="257" r:id="rId12"/>
    <p:sldId id="258"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65" r:id="rId34"/>
    <p:sldId id="266" r:id="rId35"/>
    <p:sldId id="267" r:id="rId36"/>
    <p:sldId id="268" r:id="rId37"/>
    <p:sldId id="269" r:id="rId38"/>
    <p:sldId id="270" r:id="rId39"/>
    <p:sldId id="271" r:id="rId40"/>
    <p:sldId id="27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geeksforgeeks.org/dsa/breadth-first-search-or-bfs-for-a-graph/" TargetMode="External"/><Relationship Id="rId2" Type="http://schemas.openxmlformats.org/officeDocument/2006/relationships/hyperlink" Target="https://www.geeksforgeeks.org/dsa/depth-first-search-or-dfs-for-a-graph/"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computer-networks/domain-name-system-dns-in-application-layer/" TargetMode="External"/><Relationship Id="rId2" Type="http://schemas.openxmlformats.org/officeDocument/2006/relationships/hyperlink" Target="https://www.geeksforgeeks.org/javascript/dom-document-object-mode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www.geeksforgeeks.org/dsa/trie-insert-and-search/" TargetMode="External"/><Relationship Id="rId3" Type="http://schemas.openxmlformats.org/officeDocument/2006/relationships/hyperlink" Target="https://www.geeksforgeeks.org/dsa/heap-data-structure/" TargetMode="External"/><Relationship Id="rId7" Type="http://schemas.openxmlformats.org/officeDocument/2006/relationships/hyperlink" Target="https://www.geeksforgeeks.org/dsa/search-and-insertion-in-k-dimensional-tree/" TargetMode="External"/><Relationship Id="rId2" Type="http://schemas.openxmlformats.org/officeDocument/2006/relationships/hyperlink" Target="https://www.geeksforgeeks.org/dsa/binary-search-tree-set-1-search-and-insertion/" TargetMode="External"/><Relationship Id="rId1" Type="http://schemas.openxmlformats.org/officeDocument/2006/relationships/slideLayout" Target="../slideLayouts/slideLayout2.xml"/><Relationship Id="rId6" Type="http://schemas.openxmlformats.org/officeDocument/2006/relationships/hyperlink" Target="https://www.geeksforgeeks.org/compiler-design/syntax-directed-translation-in-compiler-design/" TargetMode="External"/><Relationship Id="rId5" Type="http://schemas.openxmlformats.org/officeDocument/2006/relationships/hyperlink" Target="https://www.geeksforgeeks.org/dbms/introduction-of-b-tree/" TargetMode="External"/><Relationship Id="rId10" Type="http://schemas.openxmlformats.org/officeDocument/2006/relationships/hyperlink" Target="https://www.geeksforgeeks.org/dsa/applications-of-minimum-spanning-tree/" TargetMode="External"/><Relationship Id="rId4" Type="http://schemas.openxmlformats.org/officeDocument/2006/relationships/hyperlink" Target="https://www.geeksforgeeks.org/dsa/introduction-of-b-tree-2/" TargetMode="External"/><Relationship Id="rId9" Type="http://schemas.openxmlformats.org/officeDocument/2006/relationships/hyperlink" Target="https://www.geeksforgeeks.org/dsa/pattern-searching-using-suffix-tre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General Tree Data Structure</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9C84-CD3B-A3D4-849E-20E2E453761D}"/>
              </a:ext>
            </a:extLst>
          </p:cNvPr>
          <p:cNvSpPr>
            <a:spLocks noGrp="1"/>
          </p:cNvSpPr>
          <p:nvPr>
            <p:ph type="title"/>
          </p:nvPr>
        </p:nvSpPr>
        <p:spPr/>
        <p:txBody>
          <a:bodyPr/>
          <a:lstStyle/>
          <a:p>
            <a:r>
              <a:rPr lang="en-US" dirty="0"/>
              <a:t>General Tree</a:t>
            </a:r>
          </a:p>
        </p:txBody>
      </p:sp>
      <p:sp>
        <p:nvSpPr>
          <p:cNvPr id="3" name="Content Placeholder 2">
            <a:extLst>
              <a:ext uri="{FF2B5EF4-FFF2-40B4-BE49-F238E27FC236}">
                <a16:creationId xmlns:a16="http://schemas.microsoft.com/office/drawing/2014/main" id="{B0744C3C-4E84-5316-E4B8-1DCF5567E213}"/>
              </a:ext>
            </a:extLst>
          </p:cNvPr>
          <p:cNvSpPr>
            <a:spLocks noGrp="1"/>
          </p:cNvSpPr>
          <p:nvPr>
            <p:ph idx="1"/>
          </p:nvPr>
        </p:nvSpPr>
        <p:spPr/>
        <p:txBody>
          <a:bodyPr>
            <a:normAutofit fontScale="77500" lnSpcReduction="20000"/>
          </a:bodyPr>
          <a:lstStyle/>
          <a:p>
            <a:pPr algn="l"/>
            <a:r>
              <a:rPr lang="en-IN" b="0" i="0" dirty="0">
                <a:solidFill>
                  <a:srgbClr val="212529"/>
                </a:solidFill>
                <a:effectLst/>
                <a:latin typeface="-apple-system"/>
              </a:rPr>
              <a:t>A tree is an abstract data type that stores elements hierarchically. </a:t>
            </a:r>
          </a:p>
          <a:p>
            <a:pPr algn="l"/>
            <a:r>
              <a:rPr lang="en-IN" b="0" i="0" dirty="0">
                <a:solidFill>
                  <a:srgbClr val="212529"/>
                </a:solidFill>
                <a:effectLst/>
                <a:latin typeface="-apple-system"/>
              </a:rPr>
              <a:t>Except for the top element, each element in a tree has a parent element and zero or more children elements. A tree is usually visualized by placing elements inside ovals or rectangles, and by drawing the connections between parents and children with straight lines.</a:t>
            </a:r>
          </a:p>
          <a:p>
            <a:endParaRPr lang="en-IN" b="1" i="0" dirty="0">
              <a:solidFill>
                <a:srgbClr val="273239"/>
              </a:solidFill>
              <a:effectLst/>
              <a:latin typeface="Source Sans 3"/>
            </a:endParaRPr>
          </a:p>
          <a:p>
            <a:pPr algn="l"/>
            <a:r>
              <a:rPr lang="en-IN" b="1" i="0" dirty="0">
                <a:solidFill>
                  <a:srgbClr val="273239"/>
                </a:solidFill>
                <a:effectLst/>
                <a:latin typeface="Source Sans 3"/>
              </a:rPr>
              <a:t>General Tree (Each node can have arbitrary number of children) Level Order Traversal</a:t>
            </a:r>
          </a:p>
          <a:p>
            <a:pPr algn="l"/>
            <a:endParaRPr lang="en-IN" b="0" i="0" dirty="0">
              <a:solidFill>
                <a:srgbClr val="6D6D6D"/>
              </a:solidFill>
              <a:effectLst/>
              <a:latin typeface="Source Sans 3"/>
            </a:endParaRPr>
          </a:p>
          <a:p>
            <a:pPr algn="l" fontAlgn="base"/>
            <a:r>
              <a:rPr lang="en-IN" b="0" i="0" dirty="0">
                <a:solidFill>
                  <a:srgbClr val="273239"/>
                </a:solidFill>
                <a:effectLst/>
                <a:latin typeface="Nunito" pitchFamily="2" charset="77"/>
              </a:rPr>
              <a:t>Given a generic tree, perform a Level order traversal and print all of its nodes</a:t>
            </a:r>
          </a:p>
          <a:p>
            <a:br>
              <a:rPr lang="en-IN" dirty="0"/>
            </a:br>
            <a:br>
              <a:rPr lang="en-IN" b="0" i="0" dirty="0">
                <a:solidFill>
                  <a:srgbClr val="6D6D6D"/>
                </a:solidFill>
                <a:effectLst/>
                <a:latin typeface="Source Sans 3"/>
              </a:rPr>
            </a:br>
            <a:endParaRPr lang="en-IN" b="0" i="0" dirty="0">
              <a:solidFill>
                <a:srgbClr val="6D6D6D"/>
              </a:solidFill>
              <a:effectLst/>
              <a:latin typeface="Source Sans 3"/>
            </a:endParaRPr>
          </a:p>
          <a:p>
            <a:endParaRPr lang="en-US" dirty="0"/>
          </a:p>
        </p:txBody>
      </p:sp>
    </p:spTree>
    <p:extLst>
      <p:ext uri="{BB962C8B-B14F-4D97-AF65-F5344CB8AC3E}">
        <p14:creationId xmlns:p14="http://schemas.microsoft.com/office/powerpoint/2010/main" val="4229352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3126-920C-422B-9A31-31843DD8E9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5AF7FC-75C8-9E1A-BB60-C298176C42C0}"/>
              </a:ext>
            </a:extLst>
          </p:cNvPr>
          <p:cNvSpPr>
            <a:spLocks noGrp="1"/>
          </p:cNvSpPr>
          <p:nvPr>
            <p:ph idx="1"/>
          </p:nvPr>
        </p:nvSpPr>
        <p:spPr/>
        <p:txBody>
          <a:bodyPr/>
          <a:lstStyle/>
          <a:p>
            <a:pPr algn="l"/>
            <a:r>
              <a:rPr lang="en-IN" b="1" i="0" dirty="0">
                <a:solidFill>
                  <a:srgbClr val="212529"/>
                </a:solidFill>
                <a:effectLst/>
                <a:latin typeface="-apple-system"/>
              </a:rPr>
              <a:t>A</a:t>
            </a:r>
            <a:r>
              <a:rPr lang="en-IN" b="0" i="0" dirty="0">
                <a:solidFill>
                  <a:srgbClr val="212529"/>
                </a:solidFill>
                <a:effectLst/>
                <a:latin typeface="-apple-system"/>
              </a:rPr>
              <a:t> tree T as a set of nodes storing elements such that the nodes have a </a:t>
            </a:r>
            <a:r>
              <a:rPr lang="en-IN" b="1" i="0" dirty="0">
                <a:solidFill>
                  <a:srgbClr val="212529"/>
                </a:solidFill>
                <a:effectLst/>
                <a:latin typeface="-apple-system"/>
              </a:rPr>
              <a:t>parent-child relationship</a:t>
            </a:r>
            <a:r>
              <a:rPr lang="en-IN" b="0" i="0" dirty="0">
                <a:solidFill>
                  <a:srgbClr val="212529"/>
                </a:solidFill>
                <a:effectLst/>
                <a:latin typeface="-apple-system"/>
              </a:rPr>
              <a:t> that satisfies the following properties:</a:t>
            </a:r>
          </a:p>
          <a:p>
            <a:pPr algn="l">
              <a:buFont typeface="+mj-lt"/>
              <a:buAutoNum type="arabicPeriod"/>
            </a:pPr>
            <a:r>
              <a:rPr lang="en-IN" b="0" i="0" dirty="0">
                <a:solidFill>
                  <a:srgbClr val="212529"/>
                </a:solidFill>
                <a:effectLst/>
                <a:latin typeface="-apple-system"/>
              </a:rPr>
              <a:t>If T is nonempty, it has a special node, called the </a:t>
            </a:r>
            <a:r>
              <a:rPr lang="en-IN" b="1" i="0" dirty="0">
                <a:solidFill>
                  <a:srgbClr val="212529"/>
                </a:solidFill>
                <a:effectLst/>
                <a:latin typeface="-apple-system"/>
              </a:rPr>
              <a:t>root</a:t>
            </a:r>
            <a:r>
              <a:rPr lang="en-IN" b="0" i="0" dirty="0">
                <a:solidFill>
                  <a:srgbClr val="212529"/>
                </a:solidFill>
                <a:effectLst/>
                <a:latin typeface="-apple-system"/>
              </a:rPr>
              <a:t> of T , that has no parent.</a:t>
            </a:r>
          </a:p>
          <a:p>
            <a:pPr algn="l">
              <a:buFont typeface="+mj-lt"/>
              <a:buAutoNum type="arabicPeriod"/>
            </a:pPr>
            <a:r>
              <a:rPr lang="en-IN" b="0" i="0" dirty="0">
                <a:solidFill>
                  <a:srgbClr val="212529"/>
                </a:solidFill>
                <a:effectLst/>
                <a:latin typeface="-apple-system"/>
              </a:rPr>
              <a:t>Each node v of T different from the root has a unique parent node w; every node with parent w is a </a:t>
            </a:r>
            <a:r>
              <a:rPr lang="en-IN" b="1" i="0" dirty="0">
                <a:solidFill>
                  <a:srgbClr val="212529"/>
                </a:solidFill>
                <a:effectLst/>
                <a:latin typeface="-apple-system"/>
              </a:rPr>
              <a:t>child</a:t>
            </a:r>
            <a:r>
              <a:rPr lang="en-IN" b="0" i="0" dirty="0">
                <a:solidFill>
                  <a:srgbClr val="212529"/>
                </a:solidFill>
                <a:effectLst/>
                <a:latin typeface="-apple-system"/>
              </a:rPr>
              <a:t> of w.</a:t>
            </a:r>
          </a:p>
          <a:p>
            <a:pPr algn="l">
              <a:buFont typeface="+mj-lt"/>
              <a:buAutoNum type="arabicPeriod"/>
            </a:pPr>
            <a:r>
              <a:rPr lang="en-IN" b="0" i="0" dirty="0">
                <a:solidFill>
                  <a:srgbClr val="212529"/>
                </a:solidFill>
                <a:effectLst/>
                <a:latin typeface="-apple-system"/>
              </a:rPr>
              <a:t>Two nodes that are children of the same parent are </a:t>
            </a:r>
            <a:r>
              <a:rPr lang="en-IN" b="1" i="0" dirty="0">
                <a:solidFill>
                  <a:srgbClr val="212529"/>
                </a:solidFill>
                <a:effectLst/>
                <a:latin typeface="-apple-system"/>
              </a:rPr>
              <a:t>siblings</a:t>
            </a:r>
            <a:r>
              <a:rPr lang="en-IN" b="0" i="0" dirty="0">
                <a:solidFill>
                  <a:srgbClr val="212529"/>
                </a:solidFill>
                <a:effectLst/>
                <a:latin typeface="-apple-system"/>
              </a:rPr>
              <a:t>. A node v is </a:t>
            </a:r>
            <a:r>
              <a:rPr lang="en-IN" b="1" i="0" dirty="0">
                <a:solidFill>
                  <a:srgbClr val="212529"/>
                </a:solidFill>
                <a:effectLst/>
                <a:latin typeface="-apple-system"/>
              </a:rPr>
              <a:t>external</a:t>
            </a:r>
            <a:r>
              <a:rPr lang="en-IN" b="0" i="0" dirty="0">
                <a:solidFill>
                  <a:srgbClr val="212529"/>
                </a:solidFill>
                <a:effectLst/>
                <a:latin typeface="-apple-system"/>
              </a:rPr>
              <a:t> if v </a:t>
            </a:r>
            <a:r>
              <a:rPr lang="en-IN" b="1" i="0" dirty="0">
                <a:solidFill>
                  <a:srgbClr val="212529"/>
                </a:solidFill>
                <a:effectLst/>
                <a:latin typeface="-apple-system"/>
              </a:rPr>
              <a:t>has no children</a:t>
            </a:r>
            <a:r>
              <a:rPr lang="en-IN" b="0" i="0" dirty="0">
                <a:solidFill>
                  <a:srgbClr val="212529"/>
                </a:solidFill>
                <a:effectLst/>
                <a:latin typeface="-apple-system"/>
              </a:rPr>
              <a:t>. A node v is </a:t>
            </a:r>
            <a:r>
              <a:rPr lang="en-IN" b="1" i="0" dirty="0">
                <a:solidFill>
                  <a:srgbClr val="212529"/>
                </a:solidFill>
                <a:effectLst/>
                <a:latin typeface="-apple-system"/>
              </a:rPr>
              <a:t>internal</a:t>
            </a:r>
            <a:r>
              <a:rPr lang="en-IN" b="0" i="0" dirty="0">
                <a:solidFill>
                  <a:srgbClr val="212529"/>
                </a:solidFill>
                <a:effectLst/>
                <a:latin typeface="-apple-system"/>
              </a:rPr>
              <a:t> if it </a:t>
            </a:r>
            <a:r>
              <a:rPr lang="en-IN" b="1" i="0" dirty="0">
                <a:solidFill>
                  <a:srgbClr val="212529"/>
                </a:solidFill>
                <a:effectLst/>
                <a:latin typeface="-apple-system"/>
              </a:rPr>
              <a:t>has one or more children</a:t>
            </a:r>
            <a:r>
              <a:rPr lang="en-IN" b="0" i="0" dirty="0">
                <a:solidFill>
                  <a:srgbClr val="212529"/>
                </a:solidFill>
                <a:effectLst/>
                <a:latin typeface="-apple-system"/>
              </a:rPr>
              <a:t>. External nodes are also known as </a:t>
            </a:r>
            <a:r>
              <a:rPr lang="en-IN" b="1" i="0" dirty="0">
                <a:solidFill>
                  <a:srgbClr val="212529"/>
                </a:solidFill>
                <a:effectLst/>
                <a:latin typeface="-apple-system"/>
              </a:rPr>
              <a:t>leaves</a:t>
            </a:r>
            <a:r>
              <a:rPr lang="en-IN" b="0" i="0" dirty="0">
                <a:solidFill>
                  <a:srgbClr val="212529"/>
                </a:solidFill>
                <a:effectLst/>
                <a:latin typeface="-apple-system"/>
              </a:rPr>
              <a:t>.</a:t>
            </a:r>
          </a:p>
          <a:p>
            <a:endParaRPr lang="en-US" dirty="0"/>
          </a:p>
        </p:txBody>
      </p:sp>
    </p:spTree>
    <p:extLst>
      <p:ext uri="{BB962C8B-B14F-4D97-AF65-F5344CB8AC3E}">
        <p14:creationId xmlns:p14="http://schemas.microsoft.com/office/powerpoint/2010/main" val="1877736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B4E4-304A-8339-69BA-57B0BD0041E6}"/>
              </a:ext>
            </a:extLst>
          </p:cNvPr>
          <p:cNvSpPr>
            <a:spLocks noGrp="1"/>
          </p:cNvSpPr>
          <p:nvPr>
            <p:ph type="title"/>
          </p:nvPr>
        </p:nvSpPr>
        <p:spPr/>
        <p:txBody>
          <a:bodyPr/>
          <a:lstStyle/>
          <a:p>
            <a:r>
              <a:rPr lang="en-IN" b="0" i="0" dirty="0">
                <a:solidFill>
                  <a:srgbClr val="212529"/>
                </a:solidFill>
                <a:effectLst/>
                <a:latin typeface="-apple-system"/>
              </a:rPr>
              <a:t>Tree Abstract Data Type</a:t>
            </a:r>
            <a:endParaRPr lang="en-US" dirty="0"/>
          </a:p>
        </p:txBody>
      </p:sp>
      <p:sp>
        <p:nvSpPr>
          <p:cNvPr id="3" name="Content Placeholder 2">
            <a:extLst>
              <a:ext uri="{FF2B5EF4-FFF2-40B4-BE49-F238E27FC236}">
                <a16:creationId xmlns:a16="http://schemas.microsoft.com/office/drawing/2014/main" id="{B1F12454-709D-3415-D022-584B7A651F8A}"/>
              </a:ext>
            </a:extLst>
          </p:cNvPr>
          <p:cNvSpPr>
            <a:spLocks noGrp="1"/>
          </p:cNvSpPr>
          <p:nvPr>
            <p:ph idx="1"/>
          </p:nvPr>
        </p:nvSpPr>
        <p:spPr/>
        <p:txBody>
          <a:bodyPr>
            <a:normAutofit fontScale="70000" lnSpcReduction="20000"/>
          </a:bodyPr>
          <a:lstStyle/>
          <a:p>
            <a:pPr algn="l"/>
            <a:r>
              <a:rPr lang="en-IN" b="0" i="0" dirty="0">
                <a:solidFill>
                  <a:srgbClr val="212529"/>
                </a:solidFill>
                <a:effectLst/>
                <a:latin typeface="-apple-system"/>
              </a:rPr>
              <a:t>A tree ADT using the concept of a position as an abstraction for a node of a tree. An element is stored at each position, and positions satisfy parent-child relationships that define the tree structure.</a:t>
            </a:r>
          </a:p>
          <a:p>
            <a:pPr algn="l">
              <a:buFont typeface="+mj-lt"/>
              <a:buAutoNum type="arabicPeriod"/>
            </a:pPr>
            <a:r>
              <a:rPr lang="en-IN" b="0" i="0" dirty="0">
                <a:solidFill>
                  <a:srgbClr val="212529"/>
                </a:solidFill>
                <a:effectLst/>
                <a:latin typeface="-apple-system"/>
              </a:rPr>
              <a:t>A position object for a tree supports the method:</a:t>
            </a:r>
          </a:p>
          <a:p>
            <a:pPr marL="742950" lvl="1" indent="-285750" algn="l">
              <a:buFont typeface="+mj-lt"/>
              <a:buAutoNum type="arabicPeriod"/>
            </a:pPr>
            <a:r>
              <a:rPr lang="en-IN" b="1" i="0" dirty="0" err="1">
                <a:solidFill>
                  <a:srgbClr val="212529"/>
                </a:solidFill>
                <a:effectLst/>
                <a:latin typeface="-apple-system"/>
              </a:rPr>
              <a:t>getElement</a:t>
            </a:r>
            <a:r>
              <a:rPr lang="en-IN" b="1" i="0" dirty="0">
                <a:solidFill>
                  <a:srgbClr val="212529"/>
                </a:solidFill>
                <a:effectLst/>
                <a:latin typeface="-apple-system"/>
              </a:rPr>
              <a:t>( ):</a:t>
            </a:r>
            <a:r>
              <a:rPr lang="en-IN" b="0" i="0" dirty="0">
                <a:solidFill>
                  <a:srgbClr val="212529"/>
                </a:solidFill>
                <a:effectLst/>
                <a:latin typeface="-apple-system"/>
              </a:rPr>
              <a:t> Returns the element stored at this position.</a:t>
            </a:r>
          </a:p>
          <a:p>
            <a:pPr algn="l">
              <a:buFont typeface="+mj-lt"/>
              <a:buAutoNum type="arabicPeriod"/>
            </a:pPr>
            <a:r>
              <a:rPr lang="en-IN" b="0" i="0" dirty="0">
                <a:solidFill>
                  <a:srgbClr val="212529"/>
                </a:solidFill>
                <a:effectLst/>
                <a:latin typeface="-apple-system"/>
              </a:rPr>
              <a:t>The tree ADT then supports the following accessor methods, allowing a user to navigate the various positions of a tree T:</a:t>
            </a:r>
          </a:p>
          <a:p>
            <a:pPr marL="742950" lvl="1" indent="-285750" algn="l">
              <a:buFont typeface="+mj-lt"/>
              <a:buAutoNum type="arabicPeriod"/>
            </a:pPr>
            <a:r>
              <a:rPr lang="en-IN" b="1" i="0" dirty="0">
                <a:solidFill>
                  <a:srgbClr val="212529"/>
                </a:solidFill>
                <a:effectLst/>
                <a:latin typeface="-apple-system"/>
              </a:rPr>
              <a:t>root( )</a:t>
            </a:r>
            <a:r>
              <a:rPr lang="en-IN" b="0" i="0" dirty="0">
                <a:solidFill>
                  <a:srgbClr val="212529"/>
                </a:solidFill>
                <a:effectLst/>
                <a:latin typeface="-apple-system"/>
              </a:rPr>
              <a:t>: Returns the position of the root of the tree(or null if empty).</a:t>
            </a:r>
          </a:p>
          <a:p>
            <a:pPr marL="742950" lvl="1" indent="-285750" algn="l">
              <a:buFont typeface="+mj-lt"/>
              <a:buAutoNum type="arabicPeriod"/>
            </a:pPr>
            <a:r>
              <a:rPr lang="en-IN" b="1" i="0" dirty="0">
                <a:solidFill>
                  <a:srgbClr val="212529"/>
                </a:solidFill>
                <a:effectLst/>
                <a:latin typeface="-apple-system"/>
              </a:rPr>
              <a:t>parent(p)</a:t>
            </a:r>
            <a:r>
              <a:rPr lang="en-IN" b="0" i="0" dirty="0">
                <a:solidFill>
                  <a:srgbClr val="212529"/>
                </a:solidFill>
                <a:effectLst/>
                <a:latin typeface="-apple-system"/>
              </a:rPr>
              <a:t>: Returns the position of the parent of position p (or null if p is the root).</a:t>
            </a:r>
          </a:p>
          <a:p>
            <a:pPr marL="742950" lvl="1" indent="-285750" algn="l">
              <a:buFont typeface="+mj-lt"/>
              <a:buAutoNum type="arabicPeriod"/>
            </a:pPr>
            <a:r>
              <a:rPr lang="en-IN" b="1" i="0" dirty="0">
                <a:solidFill>
                  <a:srgbClr val="212529"/>
                </a:solidFill>
                <a:effectLst/>
                <a:latin typeface="-apple-system"/>
              </a:rPr>
              <a:t>children(p)</a:t>
            </a:r>
            <a:r>
              <a:rPr lang="en-IN" b="0" i="0" dirty="0">
                <a:solidFill>
                  <a:srgbClr val="212529"/>
                </a:solidFill>
                <a:effectLst/>
                <a:latin typeface="-apple-system"/>
              </a:rPr>
              <a:t>: Returns an </a:t>
            </a:r>
            <a:r>
              <a:rPr lang="en-IN" b="0" i="0" dirty="0" err="1">
                <a:solidFill>
                  <a:srgbClr val="212529"/>
                </a:solidFill>
                <a:effectLst/>
                <a:latin typeface="-apple-system"/>
              </a:rPr>
              <a:t>iterable</a:t>
            </a:r>
            <a:r>
              <a:rPr lang="en-IN" b="0" i="0" dirty="0">
                <a:solidFill>
                  <a:srgbClr val="212529"/>
                </a:solidFill>
                <a:effectLst/>
                <a:latin typeface="-apple-system"/>
              </a:rPr>
              <a:t> collection containing the children of position p (if any).</a:t>
            </a:r>
          </a:p>
          <a:p>
            <a:pPr marL="742950" lvl="1" indent="-285750" algn="l">
              <a:buFont typeface="+mj-lt"/>
              <a:buAutoNum type="arabicPeriod"/>
            </a:pPr>
            <a:r>
              <a:rPr lang="en-IN" b="1" i="0" dirty="0" err="1">
                <a:solidFill>
                  <a:srgbClr val="212529"/>
                </a:solidFill>
                <a:effectLst/>
                <a:latin typeface="-apple-system"/>
              </a:rPr>
              <a:t>numChildren</a:t>
            </a:r>
            <a:r>
              <a:rPr lang="en-IN" b="1" i="0" dirty="0">
                <a:solidFill>
                  <a:srgbClr val="212529"/>
                </a:solidFill>
                <a:effectLst/>
                <a:latin typeface="-apple-system"/>
              </a:rPr>
              <a:t>(p)</a:t>
            </a:r>
            <a:r>
              <a:rPr lang="en-IN" b="0" i="0" dirty="0">
                <a:solidFill>
                  <a:srgbClr val="212529"/>
                </a:solidFill>
                <a:effectLst/>
                <a:latin typeface="-apple-system"/>
              </a:rPr>
              <a:t>: Returns the number of children of position p.</a:t>
            </a:r>
          </a:p>
          <a:p>
            <a:pPr algn="l">
              <a:buFont typeface="+mj-lt"/>
              <a:buAutoNum type="arabicPeriod"/>
            </a:pPr>
            <a:r>
              <a:rPr lang="en-IN" b="0" i="0" dirty="0">
                <a:solidFill>
                  <a:srgbClr val="212529"/>
                </a:solidFill>
                <a:effectLst/>
                <a:latin typeface="-apple-system"/>
              </a:rPr>
              <a:t>If a tree T is ordered, then children(p) reports the children of p in order. In addition to the above fundamental accessor methods, a tree supports the following query methods:</a:t>
            </a:r>
          </a:p>
          <a:p>
            <a:pPr marL="742950" lvl="1" indent="-285750" algn="l">
              <a:buFont typeface="+mj-lt"/>
              <a:buAutoNum type="arabicPeriod"/>
            </a:pPr>
            <a:r>
              <a:rPr lang="en-IN" b="1" i="0" dirty="0" err="1">
                <a:solidFill>
                  <a:srgbClr val="212529"/>
                </a:solidFill>
                <a:effectLst/>
                <a:latin typeface="-apple-system"/>
              </a:rPr>
              <a:t>isInternal</a:t>
            </a:r>
            <a:r>
              <a:rPr lang="en-IN" b="1" i="0" dirty="0">
                <a:solidFill>
                  <a:srgbClr val="212529"/>
                </a:solidFill>
                <a:effectLst/>
                <a:latin typeface="-apple-system"/>
              </a:rPr>
              <a:t>(p)</a:t>
            </a:r>
            <a:r>
              <a:rPr lang="en-IN" b="0" i="0" dirty="0">
                <a:solidFill>
                  <a:srgbClr val="212529"/>
                </a:solidFill>
                <a:effectLst/>
                <a:latin typeface="-apple-system"/>
              </a:rPr>
              <a:t>: Returns true if position p has at least one child.</a:t>
            </a:r>
          </a:p>
          <a:p>
            <a:pPr marL="742950" lvl="1" indent="-285750" algn="l">
              <a:buFont typeface="+mj-lt"/>
              <a:buAutoNum type="arabicPeriod"/>
            </a:pPr>
            <a:r>
              <a:rPr lang="en-IN" b="1" i="0" dirty="0" err="1">
                <a:solidFill>
                  <a:srgbClr val="212529"/>
                </a:solidFill>
                <a:effectLst/>
                <a:latin typeface="-apple-system"/>
              </a:rPr>
              <a:t>isExternal</a:t>
            </a:r>
            <a:r>
              <a:rPr lang="en-IN" b="1" i="0" dirty="0">
                <a:solidFill>
                  <a:srgbClr val="212529"/>
                </a:solidFill>
                <a:effectLst/>
                <a:latin typeface="-apple-system"/>
              </a:rPr>
              <a:t>(p)</a:t>
            </a:r>
            <a:r>
              <a:rPr lang="en-IN" b="0" i="0" dirty="0">
                <a:solidFill>
                  <a:srgbClr val="212529"/>
                </a:solidFill>
                <a:effectLst/>
                <a:latin typeface="-apple-system"/>
              </a:rPr>
              <a:t>: Returns true if position p does not have any children.</a:t>
            </a:r>
          </a:p>
          <a:p>
            <a:pPr marL="742950" lvl="1" indent="-285750" algn="l">
              <a:buFont typeface="+mj-lt"/>
              <a:buAutoNum type="arabicPeriod"/>
            </a:pPr>
            <a:r>
              <a:rPr lang="en-IN" b="1" i="0" dirty="0" err="1">
                <a:solidFill>
                  <a:srgbClr val="212529"/>
                </a:solidFill>
                <a:effectLst/>
                <a:latin typeface="-apple-system"/>
              </a:rPr>
              <a:t>isRoot</a:t>
            </a:r>
            <a:r>
              <a:rPr lang="en-IN" b="1" i="0" dirty="0">
                <a:solidFill>
                  <a:srgbClr val="212529"/>
                </a:solidFill>
                <a:effectLst/>
                <a:latin typeface="-apple-system"/>
              </a:rPr>
              <a:t>(p)</a:t>
            </a:r>
            <a:r>
              <a:rPr lang="en-IN" b="0" i="0" dirty="0">
                <a:solidFill>
                  <a:srgbClr val="212529"/>
                </a:solidFill>
                <a:effectLst/>
                <a:latin typeface="-apple-system"/>
              </a:rPr>
              <a:t>: Returns true if position p is the root of the tree.</a:t>
            </a:r>
          </a:p>
        </p:txBody>
      </p:sp>
    </p:spTree>
    <p:extLst>
      <p:ext uri="{BB962C8B-B14F-4D97-AF65-F5344CB8AC3E}">
        <p14:creationId xmlns:p14="http://schemas.microsoft.com/office/powerpoint/2010/main" val="2213817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AE41A-9B94-911B-F66B-C2BB3338EF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E0272F-2956-A960-9222-A177DBCAAC7B}"/>
              </a:ext>
            </a:extLst>
          </p:cNvPr>
          <p:cNvSpPr>
            <a:spLocks noGrp="1"/>
          </p:cNvSpPr>
          <p:nvPr>
            <p:ph idx="1"/>
          </p:nvPr>
        </p:nvSpPr>
        <p:spPr/>
        <p:txBody>
          <a:bodyPr>
            <a:normAutofit/>
          </a:bodyPr>
          <a:lstStyle/>
          <a:p>
            <a:pPr algn="l">
              <a:buFont typeface="+mj-lt"/>
              <a:buAutoNum type="arabicPeriod"/>
            </a:pPr>
            <a:r>
              <a:rPr lang="en-IN" b="0" i="0">
                <a:solidFill>
                  <a:srgbClr val="212529"/>
                </a:solidFill>
                <a:effectLst/>
                <a:latin typeface="-apple-system"/>
              </a:rPr>
              <a:t>Trees </a:t>
            </a:r>
            <a:r>
              <a:rPr lang="en-IN" b="0" i="0" dirty="0">
                <a:solidFill>
                  <a:srgbClr val="212529"/>
                </a:solidFill>
                <a:effectLst/>
                <a:latin typeface="-apple-system"/>
              </a:rPr>
              <a:t>support a number of more general methods, unrelated to the specific structure of the tree. These </a:t>
            </a:r>
            <a:r>
              <a:rPr lang="en-IN" b="0" i="0" dirty="0" err="1">
                <a:solidFill>
                  <a:srgbClr val="212529"/>
                </a:solidFill>
                <a:effectLst/>
                <a:latin typeface="-apple-system"/>
              </a:rPr>
              <a:t>incude</a:t>
            </a:r>
            <a:r>
              <a:rPr lang="en-IN" b="0" i="0" dirty="0">
                <a:solidFill>
                  <a:srgbClr val="212529"/>
                </a:solidFill>
                <a:effectLst/>
                <a:latin typeface="-apple-system"/>
              </a:rPr>
              <a:t>:</a:t>
            </a:r>
          </a:p>
          <a:p>
            <a:pPr marL="742950" lvl="1" indent="-285750" algn="l">
              <a:buFont typeface="+mj-lt"/>
              <a:buAutoNum type="arabicPeriod"/>
            </a:pPr>
            <a:r>
              <a:rPr lang="en-IN" b="1" i="0" dirty="0">
                <a:solidFill>
                  <a:srgbClr val="212529"/>
                </a:solidFill>
                <a:effectLst/>
                <a:latin typeface="-apple-system"/>
              </a:rPr>
              <a:t>size( )</a:t>
            </a:r>
            <a:r>
              <a:rPr lang="en-IN" b="0" i="0" dirty="0">
                <a:solidFill>
                  <a:srgbClr val="212529"/>
                </a:solidFill>
                <a:effectLst/>
                <a:latin typeface="-apple-system"/>
              </a:rPr>
              <a:t>: Returns the number of positions (and hence elements) that are contained in the tree.</a:t>
            </a:r>
          </a:p>
          <a:p>
            <a:pPr marL="742950" lvl="1" indent="-285750" algn="l">
              <a:buFont typeface="+mj-lt"/>
              <a:buAutoNum type="arabicPeriod"/>
            </a:pPr>
            <a:r>
              <a:rPr lang="en-IN" b="1" i="0" dirty="0" err="1">
                <a:solidFill>
                  <a:srgbClr val="212529"/>
                </a:solidFill>
                <a:effectLst/>
                <a:latin typeface="-apple-system"/>
              </a:rPr>
              <a:t>isEmpty</a:t>
            </a:r>
            <a:r>
              <a:rPr lang="en-IN" b="1" i="0" dirty="0">
                <a:solidFill>
                  <a:srgbClr val="212529"/>
                </a:solidFill>
                <a:effectLst/>
                <a:latin typeface="-apple-system"/>
              </a:rPr>
              <a:t>( )</a:t>
            </a:r>
            <a:r>
              <a:rPr lang="en-IN" b="0" i="0" dirty="0">
                <a:solidFill>
                  <a:srgbClr val="212529"/>
                </a:solidFill>
                <a:effectLst/>
                <a:latin typeface="-apple-system"/>
              </a:rPr>
              <a:t>: Returns true if the tree does not contain any positions (and thus no elements).</a:t>
            </a:r>
          </a:p>
          <a:p>
            <a:pPr marL="742950" lvl="1" indent="-285750" algn="l">
              <a:buFont typeface="+mj-lt"/>
              <a:buAutoNum type="arabicPeriod"/>
            </a:pPr>
            <a:r>
              <a:rPr lang="en-IN" b="1" i="0" dirty="0">
                <a:solidFill>
                  <a:srgbClr val="212529"/>
                </a:solidFill>
                <a:effectLst/>
                <a:latin typeface="-apple-system"/>
              </a:rPr>
              <a:t>iterator( )</a:t>
            </a:r>
            <a:r>
              <a:rPr lang="en-IN" b="0" i="0" dirty="0">
                <a:solidFill>
                  <a:srgbClr val="212529"/>
                </a:solidFill>
                <a:effectLst/>
                <a:latin typeface="-apple-system"/>
              </a:rPr>
              <a:t>: Returns an iterator for all elements in the tree (so that the tree itself is </a:t>
            </a:r>
            <a:r>
              <a:rPr lang="en-IN" b="0" i="0" dirty="0" err="1">
                <a:solidFill>
                  <a:srgbClr val="212529"/>
                </a:solidFill>
                <a:effectLst/>
                <a:latin typeface="-apple-system"/>
              </a:rPr>
              <a:t>Iterable</a:t>
            </a:r>
            <a:r>
              <a:rPr lang="en-IN" b="0" i="0" dirty="0">
                <a:solidFill>
                  <a:srgbClr val="212529"/>
                </a:solidFill>
                <a:effectLst/>
                <a:latin typeface="-apple-system"/>
              </a:rPr>
              <a:t>).</a:t>
            </a:r>
          </a:p>
          <a:p>
            <a:pPr marL="742950" lvl="1" indent="-285750" algn="l">
              <a:buFont typeface="+mj-lt"/>
              <a:buAutoNum type="arabicPeriod"/>
            </a:pPr>
            <a:r>
              <a:rPr lang="en-IN" b="1" i="0" dirty="0">
                <a:solidFill>
                  <a:srgbClr val="212529"/>
                </a:solidFill>
                <a:effectLst/>
                <a:latin typeface="-apple-system"/>
              </a:rPr>
              <a:t>positions( )</a:t>
            </a:r>
            <a:r>
              <a:rPr lang="en-IN" b="0" i="0" dirty="0">
                <a:solidFill>
                  <a:srgbClr val="212529"/>
                </a:solidFill>
                <a:effectLst/>
                <a:latin typeface="-apple-system"/>
              </a:rPr>
              <a:t>: Returns an </a:t>
            </a:r>
            <a:r>
              <a:rPr lang="en-IN" b="0" i="0" dirty="0" err="1">
                <a:solidFill>
                  <a:srgbClr val="212529"/>
                </a:solidFill>
                <a:effectLst/>
                <a:latin typeface="-apple-system"/>
              </a:rPr>
              <a:t>iterable</a:t>
            </a:r>
            <a:r>
              <a:rPr lang="en-IN" b="0" i="0" dirty="0">
                <a:solidFill>
                  <a:srgbClr val="212529"/>
                </a:solidFill>
                <a:effectLst/>
                <a:latin typeface="-apple-system"/>
              </a:rPr>
              <a:t> collection of all positions of the tree.</a:t>
            </a:r>
          </a:p>
          <a:p>
            <a:pPr algn="l"/>
            <a:r>
              <a:rPr lang="en-IN" b="0" i="0" dirty="0">
                <a:solidFill>
                  <a:srgbClr val="212529"/>
                </a:solidFill>
                <a:effectLst/>
                <a:latin typeface="-apple-system"/>
              </a:rPr>
              <a:t>If an invalid position is sent as a parameter to any method of a tree, then an </a:t>
            </a:r>
            <a:r>
              <a:rPr lang="en-IN" b="0" i="0" dirty="0" err="1">
                <a:solidFill>
                  <a:srgbClr val="212529"/>
                </a:solidFill>
                <a:effectLst/>
                <a:latin typeface="-apple-system"/>
              </a:rPr>
              <a:t>IllegalArgumentException</a:t>
            </a:r>
            <a:r>
              <a:rPr lang="en-IN" b="0" i="0" dirty="0">
                <a:solidFill>
                  <a:srgbClr val="212529"/>
                </a:solidFill>
                <a:effectLst/>
                <a:latin typeface="-apple-system"/>
              </a:rPr>
              <a:t> is thrown.</a:t>
            </a:r>
          </a:p>
          <a:p>
            <a:endParaRPr lang="en-US" dirty="0"/>
          </a:p>
        </p:txBody>
      </p:sp>
    </p:spTree>
    <p:extLst>
      <p:ext uri="{BB962C8B-B14F-4D97-AF65-F5344CB8AC3E}">
        <p14:creationId xmlns:p14="http://schemas.microsoft.com/office/powerpoint/2010/main" val="2138807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C7BA7-A79F-509C-2D64-5FEE26081FEF}"/>
              </a:ext>
            </a:extLst>
          </p:cNvPr>
          <p:cNvSpPr>
            <a:spLocks noGrp="1"/>
          </p:cNvSpPr>
          <p:nvPr>
            <p:ph type="title"/>
          </p:nvPr>
        </p:nvSpPr>
        <p:spPr/>
        <p:txBody>
          <a:bodyPr/>
          <a:lstStyle/>
          <a:p>
            <a:r>
              <a:rPr lang="en-US" dirty="0"/>
              <a:t>Internal (non-leaf) vs External (leaf) nodes</a:t>
            </a:r>
          </a:p>
        </p:txBody>
      </p:sp>
      <p:sp>
        <p:nvSpPr>
          <p:cNvPr id="3" name="Content Placeholder 2">
            <a:extLst>
              <a:ext uri="{FF2B5EF4-FFF2-40B4-BE49-F238E27FC236}">
                <a16:creationId xmlns:a16="http://schemas.microsoft.com/office/drawing/2014/main" id="{E89E3D6B-4A42-4B9F-AB40-B37349950955}"/>
              </a:ext>
            </a:extLst>
          </p:cNvPr>
          <p:cNvSpPr>
            <a:spLocks noGrp="1"/>
          </p:cNvSpPr>
          <p:nvPr>
            <p:ph idx="1"/>
          </p:nvPr>
        </p:nvSpPr>
        <p:spPr/>
        <p:txBody>
          <a:bodyPr/>
          <a:lstStyle/>
          <a:p>
            <a:pPr algn="l"/>
            <a:r>
              <a:rPr lang="en-IN" b="0" i="0" dirty="0">
                <a:effectLst/>
                <a:latin typeface="Google Sans"/>
              </a:rPr>
              <a:t>An </a:t>
            </a:r>
            <a:r>
              <a:rPr lang="en-IN" b="1" i="0" dirty="0">
                <a:effectLst/>
                <a:latin typeface="Google Sans"/>
              </a:rPr>
              <a:t>internal node</a:t>
            </a:r>
            <a:r>
              <a:rPr lang="en-IN" b="0" i="0" dirty="0">
                <a:effectLst/>
                <a:latin typeface="Google Sans"/>
              </a:rPr>
              <a:t> has at least one child, while an </a:t>
            </a:r>
            <a:r>
              <a:rPr lang="en-IN" b="1" i="0" dirty="0">
                <a:effectLst/>
                <a:latin typeface="Google Sans"/>
              </a:rPr>
              <a:t>external node</a:t>
            </a:r>
            <a:r>
              <a:rPr lang="en-IN" b="0" i="0" dirty="0">
                <a:effectLst/>
                <a:latin typeface="Google Sans"/>
              </a:rPr>
              <a:t> (also known as a </a:t>
            </a:r>
            <a:r>
              <a:rPr lang="en-IN" b="1" i="0" dirty="0">
                <a:effectLst/>
                <a:latin typeface="Google Sans"/>
              </a:rPr>
              <a:t>leaf node</a:t>
            </a:r>
            <a:r>
              <a:rPr lang="en-IN" b="0" i="0" dirty="0">
                <a:effectLst/>
                <a:latin typeface="Google Sans"/>
              </a:rPr>
              <a:t>) has no children. </a:t>
            </a:r>
            <a:br>
              <a:rPr lang="en-IN" dirty="0"/>
            </a:br>
            <a:endParaRPr lang="en-US" dirty="0"/>
          </a:p>
        </p:txBody>
      </p:sp>
      <p:pic>
        <p:nvPicPr>
          <p:cNvPr id="4098" name="Picture 2" descr="1.webp">
            <a:extLst>
              <a:ext uri="{FF2B5EF4-FFF2-40B4-BE49-F238E27FC236}">
                <a16:creationId xmlns:a16="http://schemas.microsoft.com/office/drawing/2014/main" id="{60EBA145-7381-E42F-C79A-1DD77E53E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3651" y="3043825"/>
            <a:ext cx="7628349" cy="381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940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F08AE-B917-3792-9EC3-649E1145A213}"/>
              </a:ext>
            </a:extLst>
          </p:cNvPr>
          <p:cNvSpPr>
            <a:spLocks noGrp="1"/>
          </p:cNvSpPr>
          <p:nvPr>
            <p:ph type="title"/>
          </p:nvPr>
        </p:nvSpPr>
        <p:spPr/>
        <p:txBody>
          <a:bodyPr/>
          <a:lstStyle/>
          <a:p>
            <a:r>
              <a:rPr lang="en-US" dirty="0"/>
              <a:t>Height of Tree</a:t>
            </a:r>
          </a:p>
        </p:txBody>
      </p:sp>
      <p:sp>
        <p:nvSpPr>
          <p:cNvPr id="3" name="Content Placeholder 2">
            <a:extLst>
              <a:ext uri="{FF2B5EF4-FFF2-40B4-BE49-F238E27FC236}">
                <a16:creationId xmlns:a16="http://schemas.microsoft.com/office/drawing/2014/main" id="{D4D5888F-612E-E8F4-8EBC-35D4D2A0BC38}"/>
              </a:ext>
            </a:extLst>
          </p:cNvPr>
          <p:cNvSpPr>
            <a:spLocks noGrp="1"/>
          </p:cNvSpPr>
          <p:nvPr>
            <p:ph idx="1"/>
          </p:nvPr>
        </p:nvSpPr>
        <p:spPr/>
        <p:txBody>
          <a:bodyPr/>
          <a:lstStyle/>
          <a:p>
            <a:endParaRPr lang="en-US"/>
          </a:p>
        </p:txBody>
      </p:sp>
      <p:pic>
        <p:nvPicPr>
          <p:cNvPr id="5122" name="Picture 2" descr="2.webp">
            <a:extLst>
              <a:ext uri="{FF2B5EF4-FFF2-40B4-BE49-F238E27FC236}">
                <a16:creationId xmlns:a16="http://schemas.microsoft.com/office/drawing/2014/main" id="{6148C323-62A8-6563-DB7E-B8C47C82A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6870" y="2215366"/>
            <a:ext cx="8885129" cy="4442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392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F7980-C3B1-E0E1-3A22-C8AC0BAC80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AB36D6-D2F8-FD24-473F-24AC1D1DAAB8}"/>
              </a:ext>
            </a:extLst>
          </p:cNvPr>
          <p:cNvSpPr>
            <a:spLocks noGrp="1"/>
          </p:cNvSpPr>
          <p:nvPr>
            <p:ph idx="1"/>
          </p:nvPr>
        </p:nvSpPr>
        <p:spPr/>
        <p:txBody>
          <a:bodyPr/>
          <a:lstStyle/>
          <a:p>
            <a:endParaRPr lang="en-US"/>
          </a:p>
        </p:txBody>
      </p:sp>
      <p:pic>
        <p:nvPicPr>
          <p:cNvPr id="6146" name="Picture 2" descr="3.webp">
            <a:extLst>
              <a:ext uri="{FF2B5EF4-FFF2-40B4-BE49-F238E27FC236}">
                <a16:creationId xmlns:a16="http://schemas.microsoft.com/office/drawing/2014/main" id="{FE02A170-2F48-2D8C-8F53-BCF4D281B1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927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26FE-C8F2-587E-9702-25920AA169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12C8E6-7B99-589B-33FF-CA531A6AE7CB}"/>
              </a:ext>
            </a:extLst>
          </p:cNvPr>
          <p:cNvSpPr>
            <a:spLocks noGrp="1"/>
          </p:cNvSpPr>
          <p:nvPr>
            <p:ph idx="1"/>
          </p:nvPr>
        </p:nvSpPr>
        <p:spPr/>
        <p:txBody>
          <a:bodyPr/>
          <a:lstStyle/>
          <a:p>
            <a:endParaRPr lang="en-US"/>
          </a:p>
        </p:txBody>
      </p:sp>
      <p:pic>
        <p:nvPicPr>
          <p:cNvPr id="7170" name="Picture 2" descr="5.webp">
            <a:extLst>
              <a:ext uri="{FF2B5EF4-FFF2-40B4-BE49-F238E27FC236}">
                <a16:creationId xmlns:a16="http://schemas.microsoft.com/office/drawing/2014/main" id="{093CD43B-53F7-A93C-1FFC-FEFE92370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1635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E498-8316-419F-8E2A-27D6166E5A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B261C9-B921-7705-3BAF-C76314D912E2}"/>
              </a:ext>
            </a:extLst>
          </p:cNvPr>
          <p:cNvSpPr>
            <a:spLocks noGrp="1"/>
          </p:cNvSpPr>
          <p:nvPr>
            <p:ph idx="1"/>
          </p:nvPr>
        </p:nvSpPr>
        <p:spPr/>
        <p:txBody>
          <a:bodyPr/>
          <a:lstStyle/>
          <a:p>
            <a:endParaRPr lang="en-US"/>
          </a:p>
        </p:txBody>
      </p:sp>
      <p:pic>
        <p:nvPicPr>
          <p:cNvPr id="8194" name="Picture 2" descr="4.webp">
            <a:extLst>
              <a:ext uri="{FF2B5EF4-FFF2-40B4-BE49-F238E27FC236}">
                <a16:creationId xmlns:a16="http://schemas.microsoft.com/office/drawing/2014/main" id="{E06B3DBA-8800-ECF8-A3A4-DA44109034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774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81AE8-B9F5-F655-FFB2-59D28901C6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BA3FA8-619F-4D85-1B90-597E0158ED78}"/>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A1CBD4A9-38A3-16F3-F5F9-0D47C4A75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656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E21BB-B903-91F9-9BAB-B91CFD0DBC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858C21-4565-95F6-8EDD-AE0DAC61B04D}"/>
              </a:ext>
            </a:extLst>
          </p:cNvPr>
          <p:cNvSpPr>
            <a:spLocks noGrp="1"/>
          </p:cNvSpPr>
          <p:nvPr>
            <p:ph idx="1"/>
          </p:nvPr>
        </p:nvSpPr>
        <p:spPr/>
        <p:txBody>
          <a:bodyPr/>
          <a:lstStyle/>
          <a:p>
            <a:endParaRPr lang="en-US"/>
          </a:p>
        </p:txBody>
      </p:sp>
      <p:pic>
        <p:nvPicPr>
          <p:cNvPr id="2050" name="Picture 2" descr="root">
            <a:extLst>
              <a:ext uri="{FF2B5EF4-FFF2-40B4-BE49-F238E27FC236}">
                <a16:creationId xmlns:a16="http://schemas.microsoft.com/office/drawing/2014/main" id="{632F9E9E-B2F4-1954-BDAB-7CBC47323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117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D8C14-059C-32FB-7551-D08F4CAA28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A9472C-290E-2AF0-48DF-3DC8C2E91A21}"/>
              </a:ext>
            </a:extLst>
          </p:cNvPr>
          <p:cNvSpPr>
            <a:spLocks noGrp="1"/>
          </p:cNvSpPr>
          <p:nvPr>
            <p:ph idx="1"/>
          </p:nvPr>
        </p:nvSpPr>
        <p:spPr/>
        <p:txBody>
          <a:bodyPr/>
          <a:lstStyle/>
          <a:p>
            <a:endParaRPr lang="en-US"/>
          </a:p>
        </p:txBody>
      </p:sp>
      <p:pic>
        <p:nvPicPr>
          <p:cNvPr id="1026" name="Picture 2" descr="Data structures - Binary Tree - Root Node, Internal Nodes,… | Flickr">
            <a:extLst>
              <a:ext uri="{FF2B5EF4-FFF2-40B4-BE49-F238E27FC236}">
                <a16:creationId xmlns:a16="http://schemas.microsoft.com/office/drawing/2014/main" id="{55C4B7EE-EDDC-34A9-5845-E2E716C54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450" y="1460500"/>
            <a:ext cx="6007100" cy="393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212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B24BB-3359-251F-B7E4-3DB3C27A90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7F8C5F-663C-7D59-4EFC-1960FCB28C9D}"/>
              </a:ext>
            </a:extLst>
          </p:cNvPr>
          <p:cNvSpPr>
            <a:spLocks noGrp="1"/>
          </p:cNvSpPr>
          <p:nvPr>
            <p:ph idx="1"/>
          </p:nvPr>
        </p:nvSpPr>
        <p:spPr/>
        <p:txBody>
          <a:bodyPr/>
          <a:lstStyle/>
          <a:p>
            <a:endParaRPr lang="en-US"/>
          </a:p>
        </p:txBody>
      </p:sp>
      <p:pic>
        <p:nvPicPr>
          <p:cNvPr id="2050" name="Picture 2" descr="tree data structure">
            <a:extLst>
              <a:ext uri="{FF2B5EF4-FFF2-40B4-BE49-F238E27FC236}">
                <a16:creationId xmlns:a16="http://schemas.microsoft.com/office/drawing/2014/main" id="{CE7C858E-FFD5-EF0E-18F4-5B30D9623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143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F7A8E-24DD-9778-DF11-A9E580B0379C}"/>
              </a:ext>
            </a:extLst>
          </p:cNvPr>
          <p:cNvSpPr>
            <a:spLocks noGrp="1"/>
          </p:cNvSpPr>
          <p:nvPr>
            <p:ph type="title"/>
          </p:nvPr>
        </p:nvSpPr>
        <p:spPr/>
        <p:txBody>
          <a:bodyPr/>
          <a:lstStyle/>
          <a:p>
            <a:r>
              <a:rPr lang="en-US" dirty="0"/>
              <a:t>Root Node</a:t>
            </a:r>
          </a:p>
        </p:txBody>
      </p:sp>
      <p:sp>
        <p:nvSpPr>
          <p:cNvPr id="3" name="Content Placeholder 2">
            <a:extLst>
              <a:ext uri="{FF2B5EF4-FFF2-40B4-BE49-F238E27FC236}">
                <a16:creationId xmlns:a16="http://schemas.microsoft.com/office/drawing/2014/main" id="{B1508445-4DB4-44E6-4138-8173C1AD163D}"/>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first node is called as </a:t>
            </a:r>
            <a:r>
              <a:rPr lang="en-IN" b="1" i="0" dirty="0">
                <a:solidFill>
                  <a:srgbClr val="333333"/>
                </a:solidFill>
                <a:effectLst/>
                <a:latin typeface="Open Sans" panose="020B0606030504020204" pitchFamily="34" charset="0"/>
              </a:rPr>
              <a:t>Root Node</a:t>
            </a:r>
            <a:r>
              <a:rPr lang="en-IN" b="0" i="0" dirty="0">
                <a:solidFill>
                  <a:srgbClr val="333333"/>
                </a:solidFill>
                <a:effectLst/>
                <a:latin typeface="Open Sans" panose="020B0606030504020204" pitchFamily="34" charset="0"/>
              </a:rPr>
              <a:t>. Every tree must have a root node. We can say that the root node is the origin of the tree data structure. In any tree, there must be only one root node. We never have multiple root nodes in a tree.</a:t>
            </a:r>
          </a:p>
          <a:p>
            <a:br>
              <a:rPr lang="en-IN" dirty="0"/>
            </a:br>
            <a:endParaRPr lang="en-US" dirty="0"/>
          </a:p>
        </p:txBody>
      </p:sp>
      <p:pic>
        <p:nvPicPr>
          <p:cNvPr id="3074" name="Picture 2" descr="tree data structure">
            <a:extLst>
              <a:ext uri="{FF2B5EF4-FFF2-40B4-BE49-F238E27FC236}">
                <a16:creationId xmlns:a16="http://schemas.microsoft.com/office/drawing/2014/main" id="{5D20D56B-E235-BC83-F854-77A1CFEAD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0307" y="3816710"/>
            <a:ext cx="7096342" cy="3041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449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7B01-9812-9806-B0E3-EFC1E7AB2A08}"/>
              </a:ext>
            </a:extLst>
          </p:cNvPr>
          <p:cNvSpPr>
            <a:spLocks noGrp="1"/>
          </p:cNvSpPr>
          <p:nvPr>
            <p:ph type="title"/>
          </p:nvPr>
        </p:nvSpPr>
        <p:spPr/>
        <p:txBody>
          <a:bodyPr/>
          <a:lstStyle/>
          <a:p>
            <a:r>
              <a:rPr lang="en-US" dirty="0"/>
              <a:t>Edge</a:t>
            </a:r>
          </a:p>
        </p:txBody>
      </p:sp>
      <p:sp>
        <p:nvSpPr>
          <p:cNvPr id="3" name="Content Placeholder 2">
            <a:extLst>
              <a:ext uri="{FF2B5EF4-FFF2-40B4-BE49-F238E27FC236}">
                <a16:creationId xmlns:a16="http://schemas.microsoft.com/office/drawing/2014/main" id="{D4504D64-CF7E-547E-ABA3-761C86FA873C}"/>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connecting link between any two nodes is called as </a:t>
            </a:r>
            <a:r>
              <a:rPr lang="en-IN" b="1" i="0" dirty="0">
                <a:solidFill>
                  <a:srgbClr val="333333"/>
                </a:solidFill>
                <a:effectLst/>
                <a:latin typeface="Open Sans" panose="020B0606030504020204" pitchFamily="34" charset="0"/>
              </a:rPr>
              <a:t>EDGE</a:t>
            </a:r>
            <a:r>
              <a:rPr lang="en-IN" b="0" i="0" dirty="0">
                <a:solidFill>
                  <a:srgbClr val="333333"/>
                </a:solidFill>
                <a:effectLst/>
                <a:latin typeface="Open Sans" panose="020B0606030504020204" pitchFamily="34" charset="0"/>
              </a:rPr>
              <a:t>. In a tree with '</a:t>
            </a:r>
            <a:r>
              <a:rPr lang="en-IN" b="1" i="0" dirty="0">
                <a:solidFill>
                  <a:srgbClr val="333333"/>
                </a:solidFill>
                <a:effectLst/>
                <a:latin typeface="Open Sans" panose="020B0606030504020204" pitchFamily="34" charset="0"/>
              </a:rPr>
              <a:t>N</a:t>
            </a:r>
            <a:r>
              <a:rPr lang="en-IN" b="0" i="0" dirty="0">
                <a:solidFill>
                  <a:srgbClr val="333333"/>
                </a:solidFill>
                <a:effectLst/>
                <a:latin typeface="Open Sans" panose="020B0606030504020204" pitchFamily="34" charset="0"/>
              </a:rPr>
              <a:t>' number of nodes there will be a maximum of '</a:t>
            </a:r>
            <a:r>
              <a:rPr lang="en-IN" b="1" i="0" dirty="0">
                <a:solidFill>
                  <a:srgbClr val="333333"/>
                </a:solidFill>
                <a:effectLst/>
                <a:latin typeface="Open Sans" panose="020B0606030504020204" pitchFamily="34" charset="0"/>
              </a:rPr>
              <a:t>N-1</a:t>
            </a:r>
            <a:r>
              <a:rPr lang="en-IN" b="0" i="0" dirty="0">
                <a:solidFill>
                  <a:srgbClr val="333333"/>
                </a:solidFill>
                <a:effectLst/>
                <a:latin typeface="Open Sans" panose="020B0606030504020204" pitchFamily="34" charset="0"/>
              </a:rPr>
              <a:t>' number of edges.</a:t>
            </a:r>
          </a:p>
          <a:p>
            <a:br>
              <a:rPr lang="en-IN" dirty="0"/>
            </a:br>
            <a:endParaRPr lang="en-US" dirty="0"/>
          </a:p>
        </p:txBody>
      </p:sp>
      <p:pic>
        <p:nvPicPr>
          <p:cNvPr id="4098" name="Picture 2" descr="tree data structure">
            <a:extLst>
              <a:ext uri="{FF2B5EF4-FFF2-40B4-BE49-F238E27FC236}">
                <a16:creationId xmlns:a16="http://schemas.microsoft.com/office/drawing/2014/main" id="{FED5F249-FF41-8ACA-8553-74857D2C5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6424"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7118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AFDBA-04A8-7CF6-BA46-8ADE32D41B42}"/>
              </a:ext>
            </a:extLst>
          </p:cNvPr>
          <p:cNvSpPr>
            <a:spLocks noGrp="1"/>
          </p:cNvSpPr>
          <p:nvPr>
            <p:ph type="title"/>
          </p:nvPr>
        </p:nvSpPr>
        <p:spPr/>
        <p:txBody>
          <a:bodyPr/>
          <a:lstStyle/>
          <a:p>
            <a:r>
              <a:rPr lang="en-US" dirty="0"/>
              <a:t>Parent</a:t>
            </a:r>
          </a:p>
        </p:txBody>
      </p:sp>
      <p:sp>
        <p:nvSpPr>
          <p:cNvPr id="3" name="Content Placeholder 2">
            <a:extLst>
              <a:ext uri="{FF2B5EF4-FFF2-40B4-BE49-F238E27FC236}">
                <a16:creationId xmlns:a16="http://schemas.microsoft.com/office/drawing/2014/main" id="{06DF81CD-FBC0-316B-19F0-17B7B7393E65}"/>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node which is a predecessor of any node is called as </a:t>
            </a:r>
            <a:r>
              <a:rPr lang="en-IN" b="1" i="0" dirty="0">
                <a:solidFill>
                  <a:srgbClr val="333333"/>
                </a:solidFill>
                <a:effectLst/>
                <a:latin typeface="Open Sans" panose="020B0606030504020204" pitchFamily="34" charset="0"/>
              </a:rPr>
              <a:t>PARENT NODE</a:t>
            </a:r>
            <a:r>
              <a:rPr lang="en-IN" b="0" i="0" dirty="0">
                <a:solidFill>
                  <a:srgbClr val="333333"/>
                </a:solidFill>
                <a:effectLst/>
                <a:latin typeface="Open Sans" panose="020B0606030504020204" pitchFamily="34" charset="0"/>
              </a:rPr>
              <a:t>. In simple words, the node which has a branch from it to any other node is called a parent node. Parent node can also be defined as "</a:t>
            </a:r>
            <a:r>
              <a:rPr lang="en-IN" b="1" i="0" dirty="0">
                <a:solidFill>
                  <a:srgbClr val="333333"/>
                </a:solidFill>
                <a:effectLst/>
                <a:latin typeface="Open Sans" panose="020B0606030504020204" pitchFamily="34" charset="0"/>
              </a:rPr>
              <a:t>The node which has child / children</a:t>
            </a:r>
            <a:r>
              <a:rPr lang="en-IN" b="0" i="0" dirty="0">
                <a:solidFill>
                  <a:srgbClr val="333333"/>
                </a:solidFill>
                <a:effectLst/>
                <a:latin typeface="Open Sans" panose="020B0606030504020204" pitchFamily="34" charset="0"/>
              </a:rPr>
              <a:t>".</a:t>
            </a:r>
          </a:p>
          <a:p>
            <a:br>
              <a:rPr lang="en-IN" dirty="0"/>
            </a:br>
            <a:endParaRPr lang="en-US" dirty="0"/>
          </a:p>
        </p:txBody>
      </p:sp>
      <p:pic>
        <p:nvPicPr>
          <p:cNvPr id="5122" name="Picture 2" descr="tree data structure">
            <a:extLst>
              <a:ext uri="{FF2B5EF4-FFF2-40B4-BE49-F238E27FC236}">
                <a16:creationId xmlns:a16="http://schemas.microsoft.com/office/drawing/2014/main" id="{9DBC7872-B62C-7DFC-4415-A07AABDCD9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5018" y="3429000"/>
            <a:ext cx="8456982" cy="3624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539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8BC2-6368-B2AF-7BA2-0DBF1D80876E}"/>
              </a:ext>
            </a:extLst>
          </p:cNvPr>
          <p:cNvSpPr>
            <a:spLocks noGrp="1"/>
          </p:cNvSpPr>
          <p:nvPr>
            <p:ph type="title"/>
          </p:nvPr>
        </p:nvSpPr>
        <p:spPr/>
        <p:txBody>
          <a:bodyPr/>
          <a:lstStyle/>
          <a:p>
            <a:r>
              <a:rPr lang="en-US" dirty="0"/>
              <a:t>Child Node</a:t>
            </a:r>
          </a:p>
        </p:txBody>
      </p:sp>
      <p:sp>
        <p:nvSpPr>
          <p:cNvPr id="3" name="Content Placeholder 2">
            <a:extLst>
              <a:ext uri="{FF2B5EF4-FFF2-40B4-BE49-F238E27FC236}">
                <a16:creationId xmlns:a16="http://schemas.microsoft.com/office/drawing/2014/main" id="{6A2A219E-503F-B1C2-5F71-66966B41F8E1}"/>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node which is descendant of any node is called as </a:t>
            </a:r>
            <a:r>
              <a:rPr lang="en-IN" b="1" i="0" dirty="0">
                <a:solidFill>
                  <a:srgbClr val="333333"/>
                </a:solidFill>
                <a:effectLst/>
                <a:latin typeface="Open Sans" panose="020B0606030504020204" pitchFamily="34" charset="0"/>
              </a:rPr>
              <a:t>CHILD Node</a:t>
            </a:r>
            <a:r>
              <a:rPr lang="en-IN" b="0" i="0" dirty="0">
                <a:solidFill>
                  <a:srgbClr val="333333"/>
                </a:solidFill>
                <a:effectLst/>
                <a:latin typeface="Open Sans" panose="020B0606030504020204" pitchFamily="34" charset="0"/>
              </a:rPr>
              <a:t>. In simple words, the node which has a link from its parent node is called as child node. In a tree, any parent node can have any number of child nodes. In a tree, all the nodes except root are child nodes.</a:t>
            </a:r>
          </a:p>
          <a:p>
            <a:br>
              <a:rPr lang="en-IN" dirty="0"/>
            </a:br>
            <a:endParaRPr lang="en-US" dirty="0"/>
          </a:p>
        </p:txBody>
      </p:sp>
      <p:pic>
        <p:nvPicPr>
          <p:cNvPr id="6146" name="Picture 2" descr="tree data structure">
            <a:extLst>
              <a:ext uri="{FF2B5EF4-FFF2-40B4-BE49-F238E27FC236}">
                <a16:creationId xmlns:a16="http://schemas.microsoft.com/office/drawing/2014/main" id="{D6407906-4C42-A247-E3D1-BE86B1334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0889" y="3576638"/>
            <a:ext cx="7656511" cy="3281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992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ACEAC-AE78-85D0-E5DD-BDA850395D2D}"/>
              </a:ext>
            </a:extLst>
          </p:cNvPr>
          <p:cNvSpPr>
            <a:spLocks noGrp="1"/>
          </p:cNvSpPr>
          <p:nvPr>
            <p:ph type="title"/>
          </p:nvPr>
        </p:nvSpPr>
        <p:spPr/>
        <p:txBody>
          <a:bodyPr/>
          <a:lstStyle/>
          <a:p>
            <a:r>
              <a:rPr lang="en-US" dirty="0"/>
              <a:t>Sibling Nodes</a:t>
            </a:r>
          </a:p>
        </p:txBody>
      </p:sp>
      <p:sp>
        <p:nvSpPr>
          <p:cNvPr id="3" name="Content Placeholder 2">
            <a:extLst>
              <a:ext uri="{FF2B5EF4-FFF2-40B4-BE49-F238E27FC236}">
                <a16:creationId xmlns:a16="http://schemas.microsoft.com/office/drawing/2014/main" id="{036FD391-F47A-C460-C80C-DB75035A6460}"/>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nodes which belong to same Parent are called as </a:t>
            </a:r>
            <a:r>
              <a:rPr lang="en-IN" b="1" i="0" dirty="0">
                <a:solidFill>
                  <a:srgbClr val="333333"/>
                </a:solidFill>
                <a:effectLst/>
                <a:latin typeface="Open Sans" panose="020B0606030504020204" pitchFamily="34" charset="0"/>
              </a:rPr>
              <a:t>SIBLINGS</a:t>
            </a:r>
            <a:r>
              <a:rPr lang="en-IN" b="0" i="0" dirty="0">
                <a:solidFill>
                  <a:srgbClr val="333333"/>
                </a:solidFill>
                <a:effectLst/>
                <a:latin typeface="Open Sans" panose="020B0606030504020204" pitchFamily="34" charset="0"/>
              </a:rPr>
              <a:t>. In simple words, the nodes with the same parent are called Sibling nodes.</a:t>
            </a:r>
          </a:p>
          <a:p>
            <a:br>
              <a:rPr lang="en-IN" dirty="0"/>
            </a:br>
            <a:endParaRPr lang="en-US" dirty="0"/>
          </a:p>
        </p:txBody>
      </p:sp>
      <p:pic>
        <p:nvPicPr>
          <p:cNvPr id="7170" name="Picture 2" descr="tree data structure">
            <a:extLst>
              <a:ext uri="{FF2B5EF4-FFF2-40B4-BE49-F238E27FC236}">
                <a16:creationId xmlns:a16="http://schemas.microsoft.com/office/drawing/2014/main" id="{2979E997-657B-1AE0-89BE-A6BC3EEDE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567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739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55EF9-081D-2C41-BD9E-82D09FFA0216}"/>
              </a:ext>
            </a:extLst>
          </p:cNvPr>
          <p:cNvSpPr>
            <a:spLocks noGrp="1"/>
          </p:cNvSpPr>
          <p:nvPr>
            <p:ph type="title"/>
          </p:nvPr>
        </p:nvSpPr>
        <p:spPr/>
        <p:txBody>
          <a:bodyPr/>
          <a:lstStyle/>
          <a:p>
            <a:r>
              <a:rPr lang="en-US" dirty="0"/>
              <a:t>Leaf Nodes</a:t>
            </a:r>
          </a:p>
        </p:txBody>
      </p:sp>
      <p:sp>
        <p:nvSpPr>
          <p:cNvPr id="3" name="Content Placeholder 2">
            <a:extLst>
              <a:ext uri="{FF2B5EF4-FFF2-40B4-BE49-F238E27FC236}">
                <a16:creationId xmlns:a16="http://schemas.microsoft.com/office/drawing/2014/main" id="{FD226EE7-AB4C-F3E4-CFF2-922D7F665536}"/>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In a tree data structure, the node which does not have a child is called as </a:t>
            </a:r>
            <a:r>
              <a:rPr lang="en-IN" b="1" i="0" dirty="0">
                <a:solidFill>
                  <a:srgbClr val="333333"/>
                </a:solidFill>
                <a:effectLst/>
                <a:latin typeface="Open Sans" panose="020B0606030504020204" pitchFamily="34" charset="0"/>
              </a:rPr>
              <a:t>LEAF Node</a:t>
            </a:r>
            <a:r>
              <a:rPr lang="en-IN" b="0" i="0" dirty="0">
                <a:solidFill>
                  <a:srgbClr val="333333"/>
                </a:solidFill>
                <a:effectLst/>
                <a:latin typeface="Open Sans" panose="020B0606030504020204" pitchFamily="34" charset="0"/>
              </a:rPr>
              <a:t>. In simple words, a leaf is a node with no child.</a:t>
            </a:r>
            <a:br>
              <a:rPr lang="en-IN" dirty="0"/>
            </a:br>
            <a:br>
              <a:rPr lang="en-IN" dirty="0"/>
            </a:br>
            <a:r>
              <a:rPr lang="en-IN" b="0" i="0" dirty="0">
                <a:solidFill>
                  <a:srgbClr val="333333"/>
                </a:solidFill>
                <a:effectLst/>
                <a:latin typeface="Open Sans" panose="020B0606030504020204" pitchFamily="34" charset="0"/>
              </a:rPr>
              <a:t>In a tree data structure, the leaf nodes are also called as </a:t>
            </a:r>
            <a:r>
              <a:rPr lang="en-IN" b="1" i="0" dirty="0">
                <a:solidFill>
                  <a:srgbClr val="333333"/>
                </a:solidFill>
                <a:effectLst/>
                <a:latin typeface="Open Sans" panose="020B0606030504020204" pitchFamily="34" charset="0"/>
              </a:rPr>
              <a:t>External Nodes</a:t>
            </a:r>
            <a:r>
              <a:rPr lang="en-IN" b="0" i="0" dirty="0">
                <a:solidFill>
                  <a:srgbClr val="333333"/>
                </a:solidFill>
                <a:effectLst/>
                <a:latin typeface="Open Sans" panose="020B0606030504020204" pitchFamily="34" charset="0"/>
              </a:rPr>
              <a:t>. External node is also a node with no child. In a tree, </a:t>
            </a:r>
            <a:r>
              <a:rPr lang="en-IN" b="0" i="0" u="sng" dirty="0">
                <a:solidFill>
                  <a:srgbClr val="333333"/>
                </a:solidFill>
                <a:effectLst/>
                <a:latin typeface="Open Sans" panose="020B0606030504020204" pitchFamily="34" charset="0"/>
              </a:rPr>
              <a:t>leaf node is also called as '</a:t>
            </a:r>
            <a:r>
              <a:rPr lang="en-IN" b="1" i="0" u="sng" dirty="0">
                <a:solidFill>
                  <a:srgbClr val="333333"/>
                </a:solidFill>
                <a:effectLst/>
                <a:latin typeface="Open Sans" panose="020B0606030504020204" pitchFamily="34" charset="0"/>
              </a:rPr>
              <a:t>Terminal</a:t>
            </a:r>
            <a:r>
              <a:rPr lang="en-IN" b="0" i="0" u="sng" dirty="0">
                <a:solidFill>
                  <a:srgbClr val="333333"/>
                </a:solidFill>
                <a:effectLst/>
                <a:latin typeface="Open Sans" panose="020B0606030504020204" pitchFamily="34" charset="0"/>
              </a:rPr>
              <a:t>' node.</a:t>
            </a:r>
            <a:endParaRPr lang="en-US" dirty="0"/>
          </a:p>
        </p:txBody>
      </p:sp>
    </p:spTree>
    <p:extLst>
      <p:ext uri="{BB962C8B-B14F-4D97-AF65-F5344CB8AC3E}">
        <p14:creationId xmlns:p14="http://schemas.microsoft.com/office/powerpoint/2010/main" val="1093403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3A44-C87B-7A4F-32F1-55D59CC961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97AF96-6349-7681-AE6B-78D7BD174876}"/>
              </a:ext>
            </a:extLst>
          </p:cNvPr>
          <p:cNvSpPr>
            <a:spLocks noGrp="1"/>
          </p:cNvSpPr>
          <p:nvPr>
            <p:ph idx="1"/>
          </p:nvPr>
        </p:nvSpPr>
        <p:spPr/>
        <p:txBody>
          <a:bodyPr/>
          <a:lstStyle/>
          <a:p>
            <a:endParaRPr lang="en-US"/>
          </a:p>
        </p:txBody>
      </p:sp>
      <p:pic>
        <p:nvPicPr>
          <p:cNvPr id="8194" name="Picture 2" descr="tree data structure">
            <a:extLst>
              <a:ext uri="{FF2B5EF4-FFF2-40B4-BE49-F238E27FC236}">
                <a16:creationId xmlns:a16="http://schemas.microsoft.com/office/drawing/2014/main" id="{AFB20F00-C817-020D-A940-B641C6675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598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5D71-0ACC-9BA1-BFB2-49A450D9F31A}"/>
              </a:ext>
            </a:extLst>
          </p:cNvPr>
          <p:cNvSpPr>
            <a:spLocks noGrp="1"/>
          </p:cNvSpPr>
          <p:nvPr>
            <p:ph type="title"/>
          </p:nvPr>
        </p:nvSpPr>
        <p:spPr/>
        <p:txBody>
          <a:bodyPr/>
          <a:lstStyle/>
          <a:p>
            <a:r>
              <a:rPr lang="en-US" dirty="0"/>
              <a:t>Internal Nodes</a:t>
            </a:r>
          </a:p>
        </p:txBody>
      </p:sp>
      <p:sp>
        <p:nvSpPr>
          <p:cNvPr id="3" name="Content Placeholder 2">
            <a:extLst>
              <a:ext uri="{FF2B5EF4-FFF2-40B4-BE49-F238E27FC236}">
                <a16:creationId xmlns:a16="http://schemas.microsoft.com/office/drawing/2014/main" id="{77DAEEED-208D-A23C-9282-0C64D1F673EF}"/>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In a tree data structure, the node which has </a:t>
            </a:r>
            <a:r>
              <a:rPr lang="en-IN" b="0" i="0" dirty="0" err="1">
                <a:solidFill>
                  <a:srgbClr val="333333"/>
                </a:solidFill>
                <a:effectLst/>
                <a:latin typeface="Open Sans" panose="020B0606030504020204" pitchFamily="34" charset="0"/>
              </a:rPr>
              <a:t>atleast</a:t>
            </a:r>
            <a:r>
              <a:rPr lang="en-IN" b="0" i="0" dirty="0">
                <a:solidFill>
                  <a:srgbClr val="333333"/>
                </a:solidFill>
                <a:effectLst/>
                <a:latin typeface="Open Sans" panose="020B0606030504020204" pitchFamily="34" charset="0"/>
              </a:rPr>
              <a:t> one child is called as </a:t>
            </a:r>
            <a:r>
              <a:rPr lang="en-IN" b="1" i="0" dirty="0">
                <a:solidFill>
                  <a:srgbClr val="333333"/>
                </a:solidFill>
                <a:effectLst/>
                <a:latin typeface="Open Sans" panose="020B0606030504020204" pitchFamily="34" charset="0"/>
              </a:rPr>
              <a:t>INTERNAL Node</a:t>
            </a:r>
            <a:r>
              <a:rPr lang="en-IN" b="0" i="0" dirty="0">
                <a:solidFill>
                  <a:srgbClr val="333333"/>
                </a:solidFill>
                <a:effectLst/>
                <a:latin typeface="Open Sans" panose="020B0606030504020204" pitchFamily="34" charset="0"/>
              </a:rPr>
              <a:t>. In simple words, an internal node is a node with </a:t>
            </a:r>
            <a:r>
              <a:rPr lang="en-IN" b="0" i="0" dirty="0" err="1">
                <a:solidFill>
                  <a:srgbClr val="333333"/>
                </a:solidFill>
                <a:effectLst/>
                <a:latin typeface="Open Sans" panose="020B0606030504020204" pitchFamily="34" charset="0"/>
              </a:rPr>
              <a:t>atleast</a:t>
            </a:r>
            <a:r>
              <a:rPr lang="en-IN" b="0" i="0" dirty="0">
                <a:solidFill>
                  <a:srgbClr val="333333"/>
                </a:solidFill>
                <a:effectLst/>
                <a:latin typeface="Open Sans" panose="020B0606030504020204" pitchFamily="34" charset="0"/>
              </a:rPr>
              <a:t> one child.</a:t>
            </a:r>
            <a:br>
              <a:rPr lang="en-IN" dirty="0"/>
            </a:br>
            <a:br>
              <a:rPr lang="en-IN" dirty="0"/>
            </a:br>
            <a:r>
              <a:rPr lang="en-IN" b="0" i="0" dirty="0">
                <a:solidFill>
                  <a:srgbClr val="333333"/>
                </a:solidFill>
                <a:effectLst/>
                <a:latin typeface="Open Sans" panose="020B0606030504020204" pitchFamily="34" charset="0"/>
              </a:rPr>
              <a:t>In a tree data structure, nodes other than leaf nodes are called as </a:t>
            </a:r>
            <a:r>
              <a:rPr lang="en-IN" b="1" i="0" dirty="0">
                <a:solidFill>
                  <a:srgbClr val="333333"/>
                </a:solidFill>
                <a:effectLst/>
                <a:latin typeface="Open Sans" panose="020B0606030504020204" pitchFamily="34" charset="0"/>
              </a:rPr>
              <a:t>Internal Nodes</a:t>
            </a:r>
            <a:r>
              <a:rPr lang="en-IN" b="0" i="0" dirty="0">
                <a:solidFill>
                  <a:srgbClr val="333333"/>
                </a:solidFill>
                <a:effectLst/>
                <a:latin typeface="Open Sans" panose="020B0606030504020204" pitchFamily="34" charset="0"/>
              </a:rPr>
              <a:t>.</a:t>
            </a:r>
            <a:r>
              <a:rPr lang="en-IN" b="1" i="0" u="sng" dirty="0">
                <a:solidFill>
                  <a:srgbClr val="333333"/>
                </a:solidFill>
                <a:effectLst/>
                <a:latin typeface="Open Sans" panose="020B0606030504020204" pitchFamily="34" charset="0"/>
              </a:rPr>
              <a:t> The root node is also said to be Internal Node</a:t>
            </a:r>
            <a:r>
              <a:rPr lang="en-IN" b="0" i="0" dirty="0">
                <a:solidFill>
                  <a:srgbClr val="333333"/>
                </a:solidFill>
                <a:effectLst/>
                <a:latin typeface="Open Sans" panose="020B0606030504020204" pitchFamily="34" charset="0"/>
              </a:rPr>
              <a:t> if the tree has more than one node. </a:t>
            </a:r>
            <a:r>
              <a:rPr lang="en-IN" b="0" i="0" u="sng" dirty="0">
                <a:solidFill>
                  <a:srgbClr val="333333"/>
                </a:solidFill>
                <a:effectLst/>
                <a:latin typeface="Open Sans" panose="020B0606030504020204" pitchFamily="34" charset="0"/>
              </a:rPr>
              <a:t>Internal nodes are also called as '</a:t>
            </a:r>
            <a:r>
              <a:rPr lang="en-IN" b="1" i="0" u="sng" dirty="0">
                <a:solidFill>
                  <a:srgbClr val="333333"/>
                </a:solidFill>
                <a:effectLst/>
                <a:latin typeface="Open Sans" panose="020B0606030504020204" pitchFamily="34" charset="0"/>
              </a:rPr>
              <a:t>Non-Terminal</a:t>
            </a:r>
            <a:r>
              <a:rPr lang="en-IN" b="0" i="0" u="sng" dirty="0">
                <a:solidFill>
                  <a:srgbClr val="333333"/>
                </a:solidFill>
                <a:effectLst/>
                <a:latin typeface="Open Sans" panose="020B0606030504020204" pitchFamily="34" charset="0"/>
              </a:rPr>
              <a:t>' nodes.</a:t>
            </a:r>
            <a:endParaRPr lang="en-US" dirty="0"/>
          </a:p>
        </p:txBody>
      </p:sp>
    </p:spTree>
    <p:extLst>
      <p:ext uri="{BB962C8B-B14F-4D97-AF65-F5344CB8AC3E}">
        <p14:creationId xmlns:p14="http://schemas.microsoft.com/office/powerpoint/2010/main" val="3502047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DB5B-C4D4-26E8-0065-1A255B1333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C7FA47-695F-E714-9BC1-752C9A11CBBC}"/>
              </a:ext>
            </a:extLst>
          </p:cNvPr>
          <p:cNvSpPr>
            <a:spLocks noGrp="1"/>
          </p:cNvSpPr>
          <p:nvPr>
            <p:ph idx="1"/>
          </p:nvPr>
        </p:nvSpPr>
        <p:spPr/>
        <p:txBody>
          <a:bodyPr/>
          <a:lstStyle/>
          <a:p>
            <a:endParaRPr lang="en-US"/>
          </a:p>
        </p:txBody>
      </p:sp>
      <p:pic>
        <p:nvPicPr>
          <p:cNvPr id="9218" name="Picture 2" descr="tree data structure">
            <a:extLst>
              <a:ext uri="{FF2B5EF4-FFF2-40B4-BE49-F238E27FC236}">
                <a16:creationId xmlns:a16="http://schemas.microsoft.com/office/drawing/2014/main" id="{E1FF3556-A01C-ADE8-7FFE-695958C22C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384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F960-9105-E2FB-3765-A93560F2B714}"/>
              </a:ext>
            </a:extLst>
          </p:cNvPr>
          <p:cNvSpPr>
            <a:spLocks noGrp="1"/>
          </p:cNvSpPr>
          <p:nvPr>
            <p:ph type="title"/>
          </p:nvPr>
        </p:nvSpPr>
        <p:spPr/>
        <p:txBody>
          <a:bodyPr/>
          <a:lstStyle/>
          <a:p>
            <a:r>
              <a:rPr lang="en-US" dirty="0"/>
              <a:t>Degree on a Node</a:t>
            </a:r>
          </a:p>
        </p:txBody>
      </p:sp>
      <p:sp>
        <p:nvSpPr>
          <p:cNvPr id="3" name="Content Placeholder 2">
            <a:extLst>
              <a:ext uri="{FF2B5EF4-FFF2-40B4-BE49-F238E27FC236}">
                <a16:creationId xmlns:a16="http://schemas.microsoft.com/office/drawing/2014/main" id="{E9D5047D-8DD7-1AF4-583D-F97B60E24D5D}"/>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total number of children of a node is called as </a:t>
            </a:r>
            <a:r>
              <a:rPr lang="en-IN" b="1" i="0" dirty="0">
                <a:solidFill>
                  <a:srgbClr val="333333"/>
                </a:solidFill>
                <a:effectLst/>
                <a:latin typeface="Open Sans" panose="020B0606030504020204" pitchFamily="34" charset="0"/>
              </a:rPr>
              <a:t>DEGREE</a:t>
            </a:r>
            <a:r>
              <a:rPr lang="en-IN" b="0" i="0" dirty="0">
                <a:solidFill>
                  <a:srgbClr val="333333"/>
                </a:solidFill>
                <a:effectLst/>
                <a:latin typeface="Open Sans" panose="020B0606030504020204" pitchFamily="34" charset="0"/>
              </a:rPr>
              <a:t> of that Node. </a:t>
            </a:r>
          </a:p>
          <a:p>
            <a:pPr algn="just"/>
            <a:r>
              <a:rPr lang="en-IN" b="0" i="0" dirty="0">
                <a:solidFill>
                  <a:srgbClr val="333333"/>
                </a:solidFill>
                <a:effectLst/>
                <a:latin typeface="Open Sans" panose="020B0606030504020204" pitchFamily="34" charset="0"/>
              </a:rPr>
              <a:t>The highest degree of a node among all the nodes in a tree is called as '</a:t>
            </a:r>
            <a:r>
              <a:rPr lang="en-IN" b="1" i="0" dirty="0">
                <a:solidFill>
                  <a:srgbClr val="333333"/>
                </a:solidFill>
                <a:effectLst/>
                <a:latin typeface="Open Sans" panose="020B0606030504020204" pitchFamily="34" charset="0"/>
              </a:rPr>
              <a:t>Degree of Tree</a:t>
            </a:r>
            <a:r>
              <a:rPr lang="en-IN" b="0" i="0" dirty="0">
                <a:solidFill>
                  <a:srgbClr val="333333"/>
                </a:solidFill>
                <a:effectLst/>
                <a:latin typeface="Open Sans" panose="020B0606030504020204" pitchFamily="34" charset="0"/>
              </a:rPr>
              <a:t>’</a:t>
            </a:r>
            <a:r>
              <a:rPr lang="en-US" b="0" i="0" dirty="0">
                <a:solidFill>
                  <a:srgbClr val="333333"/>
                </a:solidFill>
                <a:effectLst/>
                <a:latin typeface="Open Sans" panose="020B0606030504020204" pitchFamily="34" charset="0"/>
              </a:rPr>
              <a:t>.</a:t>
            </a:r>
            <a:endParaRPr lang="en-IN" b="0" i="0" dirty="0">
              <a:solidFill>
                <a:srgbClr val="333333"/>
              </a:solidFill>
              <a:effectLst/>
              <a:latin typeface="Open Sans" panose="020B0606030504020204" pitchFamily="34" charset="0"/>
            </a:endParaRPr>
          </a:p>
        </p:txBody>
      </p:sp>
    </p:spTree>
    <p:extLst>
      <p:ext uri="{BB962C8B-B14F-4D97-AF65-F5344CB8AC3E}">
        <p14:creationId xmlns:p14="http://schemas.microsoft.com/office/powerpoint/2010/main" val="3354291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194C-9C3A-D569-B4A8-AD050E0E96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5958FF-1256-E7C0-E506-66AC092E5DEC}"/>
              </a:ext>
            </a:extLst>
          </p:cNvPr>
          <p:cNvSpPr>
            <a:spLocks noGrp="1"/>
          </p:cNvSpPr>
          <p:nvPr>
            <p:ph idx="1"/>
          </p:nvPr>
        </p:nvSpPr>
        <p:spPr/>
        <p:txBody>
          <a:bodyPr/>
          <a:lstStyle/>
          <a:p>
            <a:endParaRPr lang="en-US"/>
          </a:p>
        </p:txBody>
      </p:sp>
      <p:pic>
        <p:nvPicPr>
          <p:cNvPr id="11266" name="Picture 2" descr="tree data structure">
            <a:extLst>
              <a:ext uri="{FF2B5EF4-FFF2-40B4-BE49-F238E27FC236}">
                <a16:creationId xmlns:a16="http://schemas.microsoft.com/office/drawing/2014/main" id="{88108C2A-BA6A-A05F-0906-E9F1FF60A3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695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20799-2571-6E22-19E4-47A1A121CF32}"/>
              </a:ext>
            </a:extLst>
          </p:cNvPr>
          <p:cNvSpPr>
            <a:spLocks noGrp="1"/>
          </p:cNvSpPr>
          <p:nvPr>
            <p:ph type="title"/>
          </p:nvPr>
        </p:nvSpPr>
        <p:spPr/>
        <p:txBody>
          <a:bodyPr/>
          <a:lstStyle/>
          <a:p>
            <a:r>
              <a:rPr lang="en-US" dirty="0"/>
              <a:t>Level</a:t>
            </a:r>
          </a:p>
        </p:txBody>
      </p:sp>
      <p:sp>
        <p:nvSpPr>
          <p:cNvPr id="3" name="Content Placeholder 2">
            <a:extLst>
              <a:ext uri="{FF2B5EF4-FFF2-40B4-BE49-F238E27FC236}">
                <a16:creationId xmlns:a16="http://schemas.microsoft.com/office/drawing/2014/main" id="{F12FCAE1-14F7-E076-DD5D-93D86C7009B1}"/>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root node is said to be at </a:t>
            </a:r>
            <a:r>
              <a:rPr lang="en-IN" b="1" i="0" dirty="0">
                <a:solidFill>
                  <a:srgbClr val="333333"/>
                </a:solidFill>
                <a:effectLst/>
                <a:latin typeface="Open Sans" panose="020B0606030504020204" pitchFamily="34" charset="0"/>
              </a:rPr>
              <a:t>Level 0</a:t>
            </a:r>
            <a:r>
              <a:rPr lang="en-IN" b="0" i="0" dirty="0">
                <a:solidFill>
                  <a:srgbClr val="333333"/>
                </a:solidFill>
                <a:effectLst/>
                <a:latin typeface="Open Sans" panose="020B0606030504020204" pitchFamily="34" charset="0"/>
              </a:rPr>
              <a:t> and the children of root node are at </a:t>
            </a:r>
            <a:r>
              <a:rPr lang="en-IN" b="1" i="0" dirty="0">
                <a:solidFill>
                  <a:srgbClr val="333333"/>
                </a:solidFill>
                <a:effectLst/>
                <a:latin typeface="Open Sans" panose="020B0606030504020204" pitchFamily="34" charset="0"/>
              </a:rPr>
              <a:t>Level 1</a:t>
            </a:r>
            <a:r>
              <a:rPr lang="en-IN" b="0" i="0" dirty="0">
                <a:solidFill>
                  <a:srgbClr val="333333"/>
                </a:solidFill>
                <a:effectLst/>
                <a:latin typeface="Open Sans" panose="020B0606030504020204" pitchFamily="34" charset="0"/>
              </a:rPr>
              <a:t> and the children of the nodes which are at Level 1 will be at </a:t>
            </a:r>
            <a:r>
              <a:rPr lang="en-IN" b="1" i="0" dirty="0">
                <a:solidFill>
                  <a:srgbClr val="333333"/>
                </a:solidFill>
                <a:effectLst/>
                <a:latin typeface="Open Sans" panose="020B0606030504020204" pitchFamily="34" charset="0"/>
              </a:rPr>
              <a:t>Level 2</a:t>
            </a:r>
            <a:r>
              <a:rPr lang="en-IN" b="0" i="0" dirty="0">
                <a:solidFill>
                  <a:srgbClr val="333333"/>
                </a:solidFill>
                <a:effectLst/>
                <a:latin typeface="Open Sans" panose="020B0606030504020204" pitchFamily="34" charset="0"/>
              </a:rPr>
              <a:t> and so on... </a:t>
            </a:r>
          </a:p>
          <a:p>
            <a:pPr algn="just"/>
            <a:r>
              <a:rPr lang="en-IN" b="0" i="0" dirty="0">
                <a:solidFill>
                  <a:srgbClr val="333333"/>
                </a:solidFill>
                <a:effectLst/>
                <a:latin typeface="Open Sans" panose="020B0606030504020204" pitchFamily="34" charset="0"/>
              </a:rPr>
              <a:t>In a tree each step from top to bottom is called as a Level and the Level count starts with '0' and incremented by one at each level (Step).</a:t>
            </a:r>
          </a:p>
        </p:txBody>
      </p:sp>
    </p:spTree>
    <p:extLst>
      <p:ext uri="{BB962C8B-B14F-4D97-AF65-F5344CB8AC3E}">
        <p14:creationId xmlns:p14="http://schemas.microsoft.com/office/powerpoint/2010/main" val="966247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378F4-C9D5-A0ED-F59D-FD262C34B5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9C68EC-00FC-AC7E-2B30-630A206D690B}"/>
              </a:ext>
            </a:extLst>
          </p:cNvPr>
          <p:cNvSpPr>
            <a:spLocks noGrp="1"/>
          </p:cNvSpPr>
          <p:nvPr>
            <p:ph idx="1"/>
          </p:nvPr>
        </p:nvSpPr>
        <p:spPr/>
        <p:txBody>
          <a:bodyPr/>
          <a:lstStyle/>
          <a:p>
            <a:endParaRPr lang="en-US"/>
          </a:p>
        </p:txBody>
      </p:sp>
      <p:pic>
        <p:nvPicPr>
          <p:cNvPr id="12290" name="Picture 2" descr="tree data structure">
            <a:extLst>
              <a:ext uri="{FF2B5EF4-FFF2-40B4-BE49-F238E27FC236}">
                <a16:creationId xmlns:a16="http://schemas.microsoft.com/office/drawing/2014/main" id="{8E467694-F0DF-6E4D-F5F7-0DDCD37A1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176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8691-3360-4FAB-CAA9-DC4CD6C136EF}"/>
              </a:ext>
            </a:extLst>
          </p:cNvPr>
          <p:cNvSpPr>
            <a:spLocks noGrp="1"/>
          </p:cNvSpPr>
          <p:nvPr>
            <p:ph type="title"/>
          </p:nvPr>
        </p:nvSpPr>
        <p:spPr/>
        <p:txBody>
          <a:bodyPr/>
          <a:lstStyle/>
          <a:p>
            <a:r>
              <a:rPr lang="en-US" dirty="0"/>
              <a:t>Height</a:t>
            </a:r>
          </a:p>
        </p:txBody>
      </p:sp>
      <p:sp>
        <p:nvSpPr>
          <p:cNvPr id="3" name="Content Placeholder 2">
            <a:extLst>
              <a:ext uri="{FF2B5EF4-FFF2-40B4-BE49-F238E27FC236}">
                <a16:creationId xmlns:a16="http://schemas.microsoft.com/office/drawing/2014/main" id="{031B2F21-CADC-0173-C47D-294F35F13421}"/>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The total number of edges from leaf node to a particular node in the longest path is called as </a:t>
            </a:r>
            <a:r>
              <a:rPr lang="en-IN" b="1" i="0" dirty="0">
                <a:solidFill>
                  <a:srgbClr val="333333"/>
                </a:solidFill>
                <a:effectLst/>
                <a:latin typeface="Open Sans" panose="020B0606030504020204" pitchFamily="34" charset="0"/>
              </a:rPr>
              <a:t>HEIGHT</a:t>
            </a:r>
            <a:r>
              <a:rPr lang="en-IN" b="0" i="0" dirty="0">
                <a:solidFill>
                  <a:srgbClr val="333333"/>
                </a:solidFill>
                <a:effectLst/>
                <a:latin typeface="Open Sans" panose="020B0606030504020204" pitchFamily="34" charset="0"/>
              </a:rPr>
              <a:t> of that Node. </a:t>
            </a:r>
            <a:r>
              <a:rPr lang="en-IN" b="0" i="0" u="sng" dirty="0">
                <a:solidFill>
                  <a:srgbClr val="333333"/>
                </a:solidFill>
                <a:effectLst/>
                <a:latin typeface="Open Sans" panose="020B0606030504020204" pitchFamily="34" charset="0"/>
              </a:rPr>
              <a:t>In a tree, height of the root node is said to be </a:t>
            </a:r>
            <a:r>
              <a:rPr lang="en-IN" b="1" i="0" u="sng" dirty="0">
                <a:solidFill>
                  <a:srgbClr val="333333"/>
                </a:solidFill>
                <a:effectLst/>
                <a:latin typeface="Open Sans" panose="020B0606030504020204" pitchFamily="34" charset="0"/>
              </a:rPr>
              <a:t>height of the tree</a:t>
            </a:r>
            <a:r>
              <a:rPr lang="en-IN" b="0" i="0" dirty="0">
                <a:solidFill>
                  <a:srgbClr val="333333"/>
                </a:solidFill>
                <a:effectLst/>
                <a:latin typeface="Open Sans" panose="020B0606030504020204" pitchFamily="34" charset="0"/>
              </a:rPr>
              <a:t>. In a tree, </a:t>
            </a:r>
            <a:r>
              <a:rPr lang="en-IN" b="1" i="0" u="sng" dirty="0">
                <a:solidFill>
                  <a:srgbClr val="333333"/>
                </a:solidFill>
                <a:effectLst/>
                <a:latin typeface="Open Sans" panose="020B0606030504020204" pitchFamily="34" charset="0"/>
              </a:rPr>
              <a:t>height of all leaf nodes is '0'.</a:t>
            </a:r>
            <a:endParaRPr lang="en-US" dirty="0"/>
          </a:p>
        </p:txBody>
      </p:sp>
      <p:pic>
        <p:nvPicPr>
          <p:cNvPr id="13314" name="Picture 2" descr="tree data structure">
            <a:extLst>
              <a:ext uri="{FF2B5EF4-FFF2-40B4-BE49-F238E27FC236}">
                <a16:creationId xmlns:a16="http://schemas.microsoft.com/office/drawing/2014/main" id="{322FB2C8-6E70-9D53-AADF-DD4C4D1ED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311526"/>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155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9EBF-243C-E9DC-5393-FBA9BD516EA1}"/>
              </a:ext>
            </a:extLst>
          </p:cNvPr>
          <p:cNvSpPr>
            <a:spLocks noGrp="1"/>
          </p:cNvSpPr>
          <p:nvPr>
            <p:ph type="title"/>
          </p:nvPr>
        </p:nvSpPr>
        <p:spPr/>
        <p:txBody>
          <a:bodyPr/>
          <a:lstStyle/>
          <a:p>
            <a:r>
              <a:rPr lang="en-US" dirty="0"/>
              <a:t>Depth </a:t>
            </a:r>
          </a:p>
        </p:txBody>
      </p:sp>
      <p:sp>
        <p:nvSpPr>
          <p:cNvPr id="3" name="Content Placeholder 2">
            <a:extLst>
              <a:ext uri="{FF2B5EF4-FFF2-40B4-BE49-F238E27FC236}">
                <a16:creationId xmlns:a16="http://schemas.microsoft.com/office/drawing/2014/main" id="{58F78F98-223E-3F0C-88EF-8F5EE4C4A517}"/>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total number of </a:t>
            </a:r>
            <a:r>
              <a:rPr lang="en-IN" b="0" i="0" dirty="0" err="1">
                <a:solidFill>
                  <a:srgbClr val="333333"/>
                </a:solidFill>
                <a:effectLst/>
                <a:latin typeface="Open Sans" panose="020B0606030504020204" pitchFamily="34" charset="0"/>
              </a:rPr>
              <a:t>egdes</a:t>
            </a:r>
            <a:r>
              <a:rPr lang="en-IN" b="0" i="0" dirty="0">
                <a:solidFill>
                  <a:srgbClr val="333333"/>
                </a:solidFill>
                <a:effectLst/>
                <a:latin typeface="Open Sans" panose="020B0606030504020204" pitchFamily="34" charset="0"/>
              </a:rPr>
              <a:t> from root node to a particular node is called as </a:t>
            </a:r>
            <a:r>
              <a:rPr lang="en-IN" b="1" i="0" dirty="0">
                <a:solidFill>
                  <a:srgbClr val="333333"/>
                </a:solidFill>
                <a:effectLst/>
                <a:latin typeface="Open Sans" panose="020B0606030504020204" pitchFamily="34" charset="0"/>
              </a:rPr>
              <a:t>DEPTH</a:t>
            </a:r>
            <a:r>
              <a:rPr lang="en-IN" b="0" i="0" dirty="0">
                <a:solidFill>
                  <a:srgbClr val="333333"/>
                </a:solidFill>
                <a:effectLst/>
                <a:latin typeface="Open Sans" panose="020B0606030504020204" pitchFamily="34" charset="0"/>
              </a:rPr>
              <a:t> of that Node. </a:t>
            </a:r>
          </a:p>
          <a:p>
            <a:pPr algn="just"/>
            <a:r>
              <a:rPr lang="en-IN" b="0" i="0" u="sng" dirty="0">
                <a:solidFill>
                  <a:srgbClr val="333333"/>
                </a:solidFill>
                <a:effectLst/>
                <a:latin typeface="Open Sans" panose="020B0606030504020204" pitchFamily="34" charset="0"/>
              </a:rPr>
              <a:t>The total number of edges from root node to a leaf node in the longest path is said to be </a:t>
            </a:r>
            <a:r>
              <a:rPr lang="en-IN" b="1" i="0" u="sng" dirty="0">
                <a:solidFill>
                  <a:srgbClr val="333333"/>
                </a:solidFill>
                <a:effectLst/>
                <a:latin typeface="Open Sans" panose="020B0606030504020204" pitchFamily="34" charset="0"/>
              </a:rPr>
              <a:t>Depth of the tree</a:t>
            </a:r>
            <a:r>
              <a:rPr lang="en-IN" b="0" i="0" dirty="0">
                <a:solidFill>
                  <a:srgbClr val="333333"/>
                </a:solidFill>
                <a:effectLst/>
                <a:latin typeface="Open Sans" panose="020B0606030504020204" pitchFamily="34" charset="0"/>
              </a:rPr>
              <a:t>. </a:t>
            </a:r>
          </a:p>
          <a:p>
            <a:pPr algn="just"/>
            <a:r>
              <a:rPr lang="en-IN" b="0" i="0" dirty="0">
                <a:solidFill>
                  <a:srgbClr val="333333"/>
                </a:solidFill>
                <a:effectLst/>
                <a:latin typeface="Open Sans" panose="020B0606030504020204" pitchFamily="34" charset="0"/>
              </a:rPr>
              <a:t>In simple words, the highest depth of any leaf node in a tree is said to be depth of that tree. </a:t>
            </a:r>
          </a:p>
          <a:p>
            <a:pPr algn="just"/>
            <a:r>
              <a:rPr lang="en-IN" b="0" i="0" dirty="0">
                <a:solidFill>
                  <a:srgbClr val="333333"/>
                </a:solidFill>
                <a:effectLst/>
                <a:latin typeface="Open Sans" panose="020B0606030504020204" pitchFamily="34" charset="0"/>
              </a:rPr>
              <a:t>In a tree, </a:t>
            </a:r>
            <a:r>
              <a:rPr lang="en-IN" b="1" i="0" u="sng" dirty="0">
                <a:solidFill>
                  <a:srgbClr val="333333"/>
                </a:solidFill>
                <a:effectLst/>
                <a:latin typeface="Open Sans" panose="020B0606030504020204" pitchFamily="34" charset="0"/>
              </a:rPr>
              <a:t>depth of the root node is '0'.</a:t>
            </a:r>
            <a:endParaRPr lang="en-IN" b="0" i="0" dirty="0">
              <a:solidFill>
                <a:srgbClr val="333333"/>
              </a:solidFill>
              <a:effectLst/>
              <a:latin typeface="Open Sans" panose="020B0606030504020204" pitchFamily="34" charset="0"/>
            </a:endParaRPr>
          </a:p>
          <a:p>
            <a:br>
              <a:rPr lang="en-IN" dirty="0"/>
            </a:br>
            <a:endParaRPr lang="en-US" dirty="0"/>
          </a:p>
        </p:txBody>
      </p:sp>
    </p:spTree>
    <p:extLst>
      <p:ext uri="{BB962C8B-B14F-4D97-AF65-F5344CB8AC3E}">
        <p14:creationId xmlns:p14="http://schemas.microsoft.com/office/powerpoint/2010/main" val="2233378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06102-F657-3F03-74D3-060E60C0DC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BDFFD3-F27A-771A-49BE-F7F30F98253D}"/>
              </a:ext>
            </a:extLst>
          </p:cNvPr>
          <p:cNvSpPr>
            <a:spLocks noGrp="1"/>
          </p:cNvSpPr>
          <p:nvPr>
            <p:ph idx="1"/>
          </p:nvPr>
        </p:nvSpPr>
        <p:spPr/>
        <p:txBody>
          <a:bodyPr/>
          <a:lstStyle/>
          <a:p>
            <a:endParaRPr lang="en-US"/>
          </a:p>
        </p:txBody>
      </p:sp>
      <p:pic>
        <p:nvPicPr>
          <p:cNvPr id="14338" name="Picture 2" descr="tree data structure">
            <a:extLst>
              <a:ext uri="{FF2B5EF4-FFF2-40B4-BE49-F238E27FC236}">
                <a16:creationId xmlns:a16="http://schemas.microsoft.com/office/drawing/2014/main" id="{F6F6D373-3CE0-D323-AFCB-BD2106065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630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05AEF-95FA-0A6A-C5EA-17FF5021B7FE}"/>
              </a:ext>
            </a:extLst>
          </p:cNvPr>
          <p:cNvSpPr>
            <a:spLocks noGrp="1"/>
          </p:cNvSpPr>
          <p:nvPr>
            <p:ph type="title"/>
          </p:nvPr>
        </p:nvSpPr>
        <p:spPr/>
        <p:txBody>
          <a:bodyPr/>
          <a:lstStyle/>
          <a:p>
            <a:r>
              <a:rPr lang="en-US" dirty="0"/>
              <a:t>Path</a:t>
            </a:r>
          </a:p>
        </p:txBody>
      </p:sp>
      <p:sp>
        <p:nvSpPr>
          <p:cNvPr id="3" name="Content Placeholder 2">
            <a:extLst>
              <a:ext uri="{FF2B5EF4-FFF2-40B4-BE49-F238E27FC236}">
                <a16:creationId xmlns:a16="http://schemas.microsoft.com/office/drawing/2014/main" id="{1C21F155-386A-F805-B130-6D71727A0186}"/>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sequence of Nodes and Edges from one node to another node is called as </a:t>
            </a:r>
            <a:r>
              <a:rPr lang="en-IN" b="1" i="0" dirty="0">
                <a:solidFill>
                  <a:srgbClr val="333333"/>
                </a:solidFill>
                <a:effectLst/>
                <a:latin typeface="Open Sans" panose="020B0606030504020204" pitchFamily="34" charset="0"/>
              </a:rPr>
              <a:t>PATH</a:t>
            </a:r>
            <a:r>
              <a:rPr lang="en-IN" b="0" i="0" dirty="0">
                <a:solidFill>
                  <a:srgbClr val="333333"/>
                </a:solidFill>
                <a:effectLst/>
                <a:latin typeface="Open Sans" panose="020B0606030504020204" pitchFamily="34" charset="0"/>
              </a:rPr>
              <a:t> between that two Nodes. </a:t>
            </a:r>
            <a:r>
              <a:rPr lang="en-IN" b="1" i="0" u="sng" dirty="0">
                <a:solidFill>
                  <a:srgbClr val="333333"/>
                </a:solidFill>
                <a:effectLst/>
                <a:latin typeface="Open Sans" panose="020B0606030504020204" pitchFamily="34" charset="0"/>
              </a:rPr>
              <a:t>Length of a Path</a:t>
            </a:r>
            <a:r>
              <a:rPr lang="en-IN" b="0" i="0" u="sng" dirty="0">
                <a:solidFill>
                  <a:srgbClr val="333333"/>
                </a:solidFill>
                <a:effectLst/>
                <a:latin typeface="Open Sans" panose="020B0606030504020204" pitchFamily="34" charset="0"/>
              </a:rPr>
              <a:t> is total number of nodes in that path.</a:t>
            </a:r>
            <a:r>
              <a:rPr lang="en-IN" b="0" i="0" dirty="0">
                <a:solidFill>
                  <a:srgbClr val="333333"/>
                </a:solidFill>
                <a:effectLst/>
                <a:latin typeface="Open Sans" panose="020B0606030504020204" pitchFamily="34" charset="0"/>
              </a:rPr>
              <a:t> In below example </a:t>
            </a:r>
            <a:r>
              <a:rPr lang="en-IN" b="1" i="0" dirty="0">
                <a:solidFill>
                  <a:srgbClr val="333333"/>
                </a:solidFill>
                <a:effectLst/>
                <a:latin typeface="Open Sans" panose="020B0606030504020204" pitchFamily="34" charset="0"/>
              </a:rPr>
              <a:t>the path A - B - E - J has length 4</a:t>
            </a:r>
            <a:r>
              <a:rPr lang="en-IN" b="0" i="0" dirty="0">
                <a:solidFill>
                  <a:srgbClr val="333333"/>
                </a:solidFill>
                <a:effectLst/>
                <a:latin typeface="Open Sans" panose="020B0606030504020204" pitchFamily="34" charset="0"/>
              </a:rPr>
              <a:t>.</a:t>
            </a:r>
          </a:p>
          <a:p>
            <a:br>
              <a:rPr lang="en-IN" dirty="0"/>
            </a:br>
            <a:endParaRPr lang="en-US" dirty="0"/>
          </a:p>
        </p:txBody>
      </p:sp>
      <p:pic>
        <p:nvPicPr>
          <p:cNvPr id="15362" name="Picture 2" descr="tree data structure">
            <a:extLst>
              <a:ext uri="{FF2B5EF4-FFF2-40B4-BE49-F238E27FC236}">
                <a16:creationId xmlns:a16="http://schemas.microsoft.com/office/drawing/2014/main" id="{A25D8107-F672-F61B-A8CF-AF14FCCDD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120" y="3250244"/>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652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CCBF-A28F-A53B-EBDC-D2E3FA12F18A}"/>
              </a:ext>
            </a:extLst>
          </p:cNvPr>
          <p:cNvSpPr>
            <a:spLocks noGrp="1"/>
          </p:cNvSpPr>
          <p:nvPr>
            <p:ph type="title"/>
          </p:nvPr>
        </p:nvSpPr>
        <p:spPr/>
        <p:txBody>
          <a:bodyPr/>
          <a:lstStyle/>
          <a:p>
            <a:r>
              <a:rPr lang="en-US"/>
              <a:t>Sub-Tree</a:t>
            </a:r>
          </a:p>
        </p:txBody>
      </p:sp>
      <p:sp>
        <p:nvSpPr>
          <p:cNvPr id="3" name="Content Placeholder 2">
            <a:extLst>
              <a:ext uri="{FF2B5EF4-FFF2-40B4-BE49-F238E27FC236}">
                <a16:creationId xmlns:a16="http://schemas.microsoft.com/office/drawing/2014/main" id="{A1237499-4E4F-5CB9-9E16-3AF625B15992}"/>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each child from a node forms a subtree recursively. Every child node will form a subtree on its parent node.</a:t>
            </a:r>
          </a:p>
        </p:txBody>
      </p:sp>
    </p:spTree>
    <p:extLst>
      <p:ext uri="{BB962C8B-B14F-4D97-AF65-F5344CB8AC3E}">
        <p14:creationId xmlns:p14="http://schemas.microsoft.com/office/powerpoint/2010/main" val="3085228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6790-E39D-CC3F-1341-417C7BDC90E9}"/>
              </a:ext>
            </a:extLst>
          </p:cNvPr>
          <p:cNvSpPr>
            <a:spLocks noGrp="1"/>
          </p:cNvSpPr>
          <p:nvPr>
            <p:ph type="title"/>
          </p:nvPr>
        </p:nvSpPr>
        <p:spPr/>
        <p:txBody>
          <a:bodyPr>
            <a:normAutofit/>
          </a:bodyPr>
          <a:lstStyle/>
          <a:p>
            <a:r>
              <a:rPr lang="en-IN" b="1" i="0" dirty="0">
                <a:solidFill>
                  <a:srgbClr val="273239"/>
                </a:solidFill>
                <a:effectLst/>
                <a:latin typeface="Nunito" pitchFamily="2" charset="77"/>
              </a:rPr>
              <a:t>Terminologies In Tree Data Structure:</a:t>
            </a:r>
            <a:endParaRPr lang="en-US" dirty="0"/>
          </a:p>
        </p:txBody>
      </p:sp>
      <p:sp>
        <p:nvSpPr>
          <p:cNvPr id="3" name="Content Placeholder 2">
            <a:extLst>
              <a:ext uri="{FF2B5EF4-FFF2-40B4-BE49-F238E27FC236}">
                <a16:creationId xmlns:a16="http://schemas.microsoft.com/office/drawing/2014/main" id="{7730FEB5-0121-2F1B-BD76-03A2F63DD34C}"/>
              </a:ext>
            </a:extLst>
          </p:cNvPr>
          <p:cNvSpPr>
            <a:spLocks noGrp="1"/>
          </p:cNvSpPr>
          <p:nvPr>
            <p:ph idx="1"/>
          </p:nvPr>
        </p:nvSpPr>
        <p:spPr/>
        <p:txBody>
          <a:bodyPr>
            <a:normAutofit fontScale="92500" lnSpcReduction="20000"/>
          </a:bodyPr>
          <a:lstStyle/>
          <a:p>
            <a:pPr algn="l" fontAlgn="base">
              <a:buFont typeface="Arial" panose="020B0604020202020204" pitchFamily="34" charset="0"/>
              <a:buChar char="•"/>
            </a:pPr>
            <a:r>
              <a:rPr lang="en-IN" sz="1800" b="1" i="0" dirty="0">
                <a:solidFill>
                  <a:srgbClr val="273239"/>
                </a:solidFill>
                <a:effectLst/>
                <a:latin typeface="Nunito" pitchFamily="2" charset="77"/>
              </a:rPr>
              <a:t>Parent Node: </a:t>
            </a:r>
            <a:r>
              <a:rPr lang="en-IN" sz="1800" b="0" i="0" dirty="0">
                <a:solidFill>
                  <a:srgbClr val="273239"/>
                </a:solidFill>
                <a:effectLst/>
                <a:latin typeface="Nunito" pitchFamily="2" charset="77"/>
              </a:rPr>
              <a:t>A node that is an immediate predecessor of another node. Example: 35 is the parent of 3 and 6.</a:t>
            </a:r>
          </a:p>
          <a:p>
            <a:pPr algn="l" fontAlgn="base">
              <a:buFont typeface="Arial" panose="020B0604020202020204" pitchFamily="34" charset="0"/>
              <a:buChar char="•"/>
            </a:pPr>
            <a:r>
              <a:rPr lang="en-IN" sz="1800" b="1" i="0" dirty="0">
                <a:solidFill>
                  <a:srgbClr val="273239"/>
                </a:solidFill>
                <a:effectLst/>
                <a:latin typeface="Nunito" pitchFamily="2" charset="77"/>
              </a:rPr>
              <a:t>Child Node:</a:t>
            </a:r>
            <a:r>
              <a:rPr lang="en-IN" sz="1800" b="0" i="0" dirty="0">
                <a:solidFill>
                  <a:srgbClr val="273239"/>
                </a:solidFill>
                <a:effectLst/>
                <a:latin typeface="Nunito" pitchFamily="2" charset="77"/>
              </a:rPr>
              <a:t> A node that is an immediate successor of another node. Example: 3 and 6 are children of 35.</a:t>
            </a:r>
          </a:p>
          <a:p>
            <a:pPr algn="l" fontAlgn="base">
              <a:buFont typeface="Arial" panose="020B0604020202020204" pitchFamily="34" charset="0"/>
              <a:buChar char="•"/>
            </a:pPr>
            <a:r>
              <a:rPr lang="en-IN" sz="1800" b="1" i="0" dirty="0">
                <a:solidFill>
                  <a:srgbClr val="273239"/>
                </a:solidFill>
                <a:effectLst/>
                <a:latin typeface="Nunito" pitchFamily="2" charset="77"/>
              </a:rPr>
              <a:t>Root Node:</a:t>
            </a:r>
            <a:r>
              <a:rPr lang="en-IN" sz="1800" b="0" i="0" dirty="0">
                <a:solidFill>
                  <a:srgbClr val="273239"/>
                </a:solidFill>
                <a:effectLst/>
                <a:latin typeface="Nunito" pitchFamily="2" charset="77"/>
              </a:rPr>
              <a:t> The topmost node in a tree, which does not have a parent. Example: 15 is the root node.</a:t>
            </a:r>
          </a:p>
          <a:p>
            <a:pPr algn="l" fontAlgn="base">
              <a:buFont typeface="Arial" panose="020B0604020202020204" pitchFamily="34" charset="0"/>
              <a:buChar char="•"/>
            </a:pPr>
            <a:r>
              <a:rPr lang="en-IN" sz="1800" b="1" i="0" dirty="0">
                <a:solidFill>
                  <a:srgbClr val="273239"/>
                </a:solidFill>
                <a:effectLst/>
                <a:latin typeface="Nunito" pitchFamily="2" charset="77"/>
              </a:rPr>
              <a:t>Leaf Node (External Node):</a:t>
            </a:r>
            <a:r>
              <a:rPr lang="en-IN" sz="1800" b="0" i="0" dirty="0">
                <a:solidFill>
                  <a:srgbClr val="273239"/>
                </a:solidFill>
                <a:effectLst/>
                <a:latin typeface="Nunito" pitchFamily="2" charset="77"/>
              </a:rPr>
              <a:t> Nodes that do not have any children. Example: 1, 10, 12, 5, 7, 7 are leaf nodes.</a:t>
            </a:r>
          </a:p>
          <a:p>
            <a:pPr algn="l" fontAlgn="base">
              <a:buFont typeface="Arial" panose="020B0604020202020204" pitchFamily="34" charset="0"/>
              <a:buChar char="•"/>
            </a:pPr>
            <a:r>
              <a:rPr lang="en-IN" sz="1800" b="1" i="0" dirty="0">
                <a:solidFill>
                  <a:srgbClr val="273239"/>
                </a:solidFill>
                <a:effectLst/>
                <a:latin typeface="Nunito" pitchFamily="2" charset="77"/>
              </a:rPr>
              <a:t>Ancestor:</a:t>
            </a:r>
            <a:r>
              <a:rPr lang="en-IN" sz="1800" b="0" i="0" dirty="0">
                <a:solidFill>
                  <a:srgbClr val="273239"/>
                </a:solidFill>
                <a:effectLst/>
                <a:latin typeface="Nunito" pitchFamily="2" charset="77"/>
              </a:rPr>
              <a:t> Any node on the path from the root to a given node (excluding the node itself). Example: 15 and 35 are ancestors of 10.</a:t>
            </a:r>
          </a:p>
          <a:p>
            <a:pPr algn="l" fontAlgn="base">
              <a:buFont typeface="Arial" panose="020B0604020202020204" pitchFamily="34" charset="0"/>
              <a:buChar char="•"/>
            </a:pPr>
            <a:r>
              <a:rPr lang="en-IN" sz="1800" b="1" i="0" dirty="0">
                <a:solidFill>
                  <a:srgbClr val="273239"/>
                </a:solidFill>
                <a:effectLst/>
                <a:latin typeface="Nunito" pitchFamily="2" charset="77"/>
              </a:rPr>
              <a:t>Descendant:</a:t>
            </a:r>
            <a:r>
              <a:rPr lang="en-IN" sz="1800" b="0" i="0" dirty="0">
                <a:solidFill>
                  <a:srgbClr val="273239"/>
                </a:solidFill>
                <a:effectLst/>
                <a:latin typeface="Nunito" pitchFamily="2" charset="77"/>
              </a:rPr>
              <a:t> A node x is a descendant of another node y if y is an ancestor of x. Example: 1, 10, and 6 are descendants of 35.</a:t>
            </a:r>
          </a:p>
          <a:p>
            <a:pPr algn="l" fontAlgn="base">
              <a:buFont typeface="Arial" panose="020B0604020202020204" pitchFamily="34" charset="0"/>
              <a:buChar char="•"/>
            </a:pPr>
            <a:r>
              <a:rPr lang="en-IN" sz="1800" b="1" i="0" dirty="0">
                <a:solidFill>
                  <a:srgbClr val="273239"/>
                </a:solidFill>
                <a:effectLst/>
                <a:latin typeface="Nunito" pitchFamily="2" charset="77"/>
              </a:rPr>
              <a:t>Sibling:</a:t>
            </a:r>
            <a:r>
              <a:rPr lang="en-IN" sz="1800" b="0" i="0" dirty="0">
                <a:solidFill>
                  <a:srgbClr val="273239"/>
                </a:solidFill>
                <a:effectLst/>
                <a:latin typeface="Nunito" pitchFamily="2" charset="77"/>
              </a:rPr>
              <a:t> Nodes that share the same parent. Example: 1 and 10 are siblings, and 5 and 7 are siblings.</a:t>
            </a:r>
          </a:p>
          <a:p>
            <a:pPr algn="l" fontAlgn="base">
              <a:buFont typeface="Arial" panose="020B0604020202020204" pitchFamily="34" charset="0"/>
              <a:buChar char="•"/>
            </a:pPr>
            <a:r>
              <a:rPr lang="en-IN" sz="1800" b="1" i="0" dirty="0">
                <a:solidFill>
                  <a:srgbClr val="273239"/>
                </a:solidFill>
                <a:effectLst/>
                <a:latin typeface="Nunito" pitchFamily="2" charset="77"/>
              </a:rPr>
              <a:t>Level of a Node:</a:t>
            </a:r>
            <a:r>
              <a:rPr lang="en-IN" sz="1800" b="0" i="0" dirty="0">
                <a:solidFill>
                  <a:srgbClr val="273239"/>
                </a:solidFill>
                <a:effectLst/>
                <a:latin typeface="Nunito" pitchFamily="2" charset="77"/>
              </a:rPr>
              <a:t> The number of edges in the path from the root to that </a:t>
            </a:r>
            <a:r>
              <a:rPr lang="en-IN" sz="1800" b="0" i="0" dirty="0" err="1">
                <a:solidFill>
                  <a:srgbClr val="273239"/>
                </a:solidFill>
                <a:effectLst/>
                <a:latin typeface="Nunito" pitchFamily="2" charset="77"/>
              </a:rPr>
              <a:t>node.The</a:t>
            </a:r>
            <a:r>
              <a:rPr lang="en-IN" sz="1800" b="0" i="0" dirty="0">
                <a:solidFill>
                  <a:srgbClr val="273239"/>
                </a:solidFill>
                <a:effectLst/>
                <a:latin typeface="Nunito" pitchFamily="2" charset="77"/>
              </a:rPr>
              <a:t> root node is at level 0.</a:t>
            </a:r>
          </a:p>
          <a:p>
            <a:pPr algn="l" fontAlgn="base">
              <a:buFont typeface="Arial" panose="020B0604020202020204" pitchFamily="34" charset="0"/>
              <a:buChar char="•"/>
            </a:pPr>
            <a:r>
              <a:rPr lang="en-IN" sz="1800" b="1" i="0" dirty="0">
                <a:solidFill>
                  <a:srgbClr val="273239"/>
                </a:solidFill>
                <a:effectLst/>
                <a:latin typeface="Nunito" pitchFamily="2" charset="77"/>
              </a:rPr>
              <a:t>Internal Node:</a:t>
            </a:r>
            <a:r>
              <a:rPr lang="en-IN" sz="1800" b="0" i="0" dirty="0">
                <a:solidFill>
                  <a:srgbClr val="273239"/>
                </a:solidFill>
                <a:effectLst/>
                <a:latin typeface="Nunito" pitchFamily="2" charset="77"/>
              </a:rPr>
              <a:t> A node with at least one child.</a:t>
            </a:r>
          </a:p>
          <a:p>
            <a:pPr algn="l" fontAlgn="base">
              <a:buFont typeface="Arial" panose="020B0604020202020204" pitchFamily="34" charset="0"/>
              <a:buChar char="•"/>
            </a:pPr>
            <a:r>
              <a:rPr lang="en-IN" sz="1800" b="1" i="0" dirty="0" err="1">
                <a:solidFill>
                  <a:srgbClr val="273239"/>
                </a:solidFill>
                <a:effectLst/>
                <a:latin typeface="Nunito" pitchFamily="2" charset="77"/>
              </a:rPr>
              <a:t>Neighbor</a:t>
            </a:r>
            <a:r>
              <a:rPr lang="en-IN" sz="1800" b="1" i="0" dirty="0">
                <a:solidFill>
                  <a:srgbClr val="273239"/>
                </a:solidFill>
                <a:effectLst/>
                <a:latin typeface="Nunito" pitchFamily="2" charset="77"/>
              </a:rPr>
              <a:t> of a Node:</a:t>
            </a:r>
            <a:r>
              <a:rPr lang="en-IN" sz="1800" b="0" i="0" dirty="0">
                <a:solidFill>
                  <a:srgbClr val="273239"/>
                </a:solidFill>
                <a:effectLst/>
                <a:latin typeface="Nunito" pitchFamily="2" charset="77"/>
              </a:rPr>
              <a:t> The parent or children of a node.</a:t>
            </a:r>
          </a:p>
          <a:p>
            <a:pPr algn="l" fontAlgn="base">
              <a:buFont typeface="Arial" panose="020B0604020202020204" pitchFamily="34" charset="0"/>
              <a:buChar char="•"/>
            </a:pPr>
            <a:r>
              <a:rPr lang="en-IN" sz="1800" b="1" i="0" dirty="0">
                <a:solidFill>
                  <a:srgbClr val="273239"/>
                </a:solidFill>
                <a:effectLst/>
                <a:latin typeface="Nunito" pitchFamily="2" charset="77"/>
              </a:rPr>
              <a:t>Subtree:</a:t>
            </a:r>
            <a:r>
              <a:rPr lang="en-IN" sz="1800" b="0" i="0" dirty="0">
                <a:solidFill>
                  <a:srgbClr val="273239"/>
                </a:solidFill>
                <a:effectLst/>
                <a:latin typeface="Nunito" pitchFamily="2" charset="77"/>
              </a:rPr>
              <a:t>  A node and all its descendants form a subtree.</a:t>
            </a:r>
          </a:p>
          <a:p>
            <a:endParaRPr lang="en-US" sz="1800" dirty="0"/>
          </a:p>
        </p:txBody>
      </p:sp>
    </p:spTree>
    <p:extLst>
      <p:ext uri="{BB962C8B-B14F-4D97-AF65-F5344CB8AC3E}">
        <p14:creationId xmlns:p14="http://schemas.microsoft.com/office/powerpoint/2010/main" val="540074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85F0B-4AE6-118B-8B18-23281630748A}"/>
              </a:ext>
            </a:extLst>
          </p:cNvPr>
          <p:cNvSpPr>
            <a:spLocks noGrp="1"/>
          </p:cNvSpPr>
          <p:nvPr>
            <p:ph type="title"/>
          </p:nvPr>
        </p:nvSpPr>
        <p:spPr/>
        <p:txBody>
          <a:bodyPr/>
          <a:lstStyle/>
          <a:p>
            <a:r>
              <a:rPr lang="en-US" dirty="0"/>
              <a:t>Note in Tree</a:t>
            </a:r>
          </a:p>
        </p:txBody>
      </p:sp>
      <p:sp>
        <p:nvSpPr>
          <p:cNvPr id="3" name="Content Placeholder 2">
            <a:extLst>
              <a:ext uri="{FF2B5EF4-FFF2-40B4-BE49-F238E27FC236}">
                <a16:creationId xmlns:a16="http://schemas.microsoft.com/office/drawing/2014/main" id="{F3EA77CA-31ED-7D08-DF9D-7744A340C043}"/>
              </a:ext>
            </a:extLst>
          </p:cNvPr>
          <p:cNvSpPr>
            <a:spLocks noGrp="1"/>
          </p:cNvSpPr>
          <p:nvPr>
            <p:ph idx="1"/>
          </p:nvPr>
        </p:nvSpPr>
        <p:spPr/>
        <p:txBody>
          <a:bodyPr>
            <a:normAutofit fontScale="92500" lnSpcReduction="20000"/>
          </a:bodyPr>
          <a:lstStyle/>
          <a:p>
            <a:r>
              <a:rPr lang="en-US" dirty="0"/>
              <a:t>// Node structure for tree</a:t>
            </a:r>
          </a:p>
          <a:p>
            <a:r>
              <a:rPr lang="en-US" dirty="0"/>
              <a:t>class Node {</a:t>
            </a:r>
          </a:p>
          <a:p>
            <a:r>
              <a:rPr lang="en-US" dirty="0"/>
              <a:t>    int data;</a:t>
            </a:r>
          </a:p>
          <a:p>
            <a:r>
              <a:rPr lang="en-US" dirty="0"/>
              <a:t>    List&lt;Node&gt; children;</a:t>
            </a:r>
          </a:p>
          <a:p>
            <a:endParaRPr lang="en-US" dirty="0"/>
          </a:p>
          <a:p>
            <a:r>
              <a:rPr lang="en-US" dirty="0"/>
              <a:t>    Node(int x) {</a:t>
            </a:r>
          </a:p>
          <a:p>
            <a:r>
              <a:rPr lang="en-US" dirty="0"/>
              <a:t>        data = x;</a:t>
            </a:r>
          </a:p>
          <a:p>
            <a:r>
              <a:rPr lang="en-US" dirty="0"/>
              <a:t>        children = new </a:t>
            </a:r>
            <a:r>
              <a:rPr lang="en-US" dirty="0" err="1"/>
              <a:t>ArrayList</a:t>
            </a:r>
            <a:r>
              <a:rPr lang="en-US" dirty="0"/>
              <a:t>&lt;&gt;();</a:t>
            </a:r>
          </a:p>
          <a:p>
            <a:r>
              <a:rPr lang="en-US" dirty="0"/>
              <a:t>    }</a:t>
            </a:r>
          </a:p>
          <a:p>
            <a:r>
              <a:rPr lang="en-US" dirty="0"/>
              <a:t>}</a:t>
            </a:r>
          </a:p>
        </p:txBody>
      </p:sp>
    </p:spTree>
    <p:extLst>
      <p:ext uri="{BB962C8B-B14F-4D97-AF65-F5344CB8AC3E}">
        <p14:creationId xmlns:p14="http://schemas.microsoft.com/office/powerpoint/2010/main" val="3071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E46D4-D0B2-6C91-3317-924EA047B8F1}"/>
              </a:ext>
            </a:extLst>
          </p:cNvPr>
          <p:cNvSpPr>
            <a:spLocks noGrp="1"/>
          </p:cNvSpPr>
          <p:nvPr>
            <p:ph type="title"/>
          </p:nvPr>
        </p:nvSpPr>
        <p:spPr/>
        <p:txBody>
          <a:bodyPr/>
          <a:lstStyle/>
          <a:p>
            <a:r>
              <a:rPr lang="en-IN" b="1" i="0" dirty="0">
                <a:solidFill>
                  <a:srgbClr val="273239"/>
                </a:solidFill>
                <a:effectLst/>
                <a:latin typeface="Nunito" pitchFamily="2" charset="77"/>
              </a:rPr>
              <a:t>Types of Tree Data Structures</a:t>
            </a:r>
            <a:endParaRPr lang="en-US" dirty="0"/>
          </a:p>
        </p:txBody>
      </p:sp>
      <p:sp>
        <p:nvSpPr>
          <p:cNvPr id="3" name="Content Placeholder 2">
            <a:extLst>
              <a:ext uri="{FF2B5EF4-FFF2-40B4-BE49-F238E27FC236}">
                <a16:creationId xmlns:a16="http://schemas.microsoft.com/office/drawing/2014/main" id="{7AA84867-C6E7-42B4-25F1-1610E49AAE7D}"/>
              </a:ext>
            </a:extLst>
          </p:cNvPr>
          <p:cNvSpPr>
            <a:spLocks noGrp="1"/>
          </p:cNvSpPr>
          <p:nvPr>
            <p:ph idx="1"/>
          </p:nvPr>
        </p:nvSpPr>
        <p:spPr/>
        <p:txBody>
          <a:bodyPr>
            <a:normAutofit/>
          </a:bodyPr>
          <a:lstStyle/>
          <a:p>
            <a:pPr algn="l" rtl="0" fontAlgn="base"/>
            <a:r>
              <a:rPr lang="en-IN" sz="1600" b="0" i="0" dirty="0">
                <a:solidFill>
                  <a:srgbClr val="273239"/>
                </a:solidFill>
                <a:effectLst/>
                <a:latin typeface="Nunito" pitchFamily="2" charset="77"/>
              </a:rPr>
              <a:t>Tree data structures can be classified based on the number of children each node can have.</a:t>
            </a:r>
          </a:p>
          <a:p>
            <a:pPr algn="l" fontAlgn="base"/>
            <a:r>
              <a:rPr lang="en-IN" sz="1600" b="1" i="0" dirty="0">
                <a:solidFill>
                  <a:srgbClr val="273239"/>
                </a:solidFill>
                <a:effectLst/>
                <a:latin typeface="Nunito" pitchFamily="2" charset="77"/>
              </a:rPr>
              <a:t>Binary Tree:</a:t>
            </a:r>
          </a:p>
          <a:p>
            <a:pPr algn="l" rtl="0" fontAlgn="base"/>
            <a:r>
              <a:rPr lang="en-IN" sz="1600" b="0" i="0" dirty="0">
                <a:solidFill>
                  <a:srgbClr val="273239"/>
                </a:solidFill>
                <a:effectLst/>
                <a:latin typeface="Nunito" pitchFamily="2" charset="77"/>
              </a:rPr>
              <a:t>Each node can have a maximum of two children.</a:t>
            </a:r>
          </a:p>
          <a:p>
            <a:pPr algn="l" fontAlgn="base">
              <a:buFont typeface="Arial" panose="020B0604020202020204" pitchFamily="34" charset="0"/>
              <a:buChar char="•"/>
            </a:pPr>
            <a:r>
              <a:rPr lang="en-IN" sz="1600" b="1" i="0" dirty="0">
                <a:solidFill>
                  <a:srgbClr val="273239"/>
                </a:solidFill>
                <a:effectLst/>
                <a:latin typeface="Nunito" pitchFamily="2" charset="77"/>
              </a:rPr>
              <a:t>Full Binary Tree</a:t>
            </a:r>
            <a:r>
              <a:rPr lang="en-IN" sz="1600" b="0" i="0" dirty="0">
                <a:solidFill>
                  <a:srgbClr val="273239"/>
                </a:solidFill>
                <a:effectLst/>
                <a:latin typeface="Nunito" pitchFamily="2" charset="77"/>
              </a:rPr>
              <a:t> – every node has either 0 or 2 children.</a:t>
            </a:r>
          </a:p>
          <a:p>
            <a:pPr algn="l" fontAlgn="base">
              <a:buFont typeface="Arial" panose="020B0604020202020204" pitchFamily="34" charset="0"/>
              <a:buChar char="•"/>
            </a:pPr>
            <a:r>
              <a:rPr lang="en-IN" sz="1600" b="1" i="0" dirty="0">
                <a:solidFill>
                  <a:srgbClr val="273239"/>
                </a:solidFill>
                <a:effectLst/>
                <a:latin typeface="Nunito" pitchFamily="2" charset="77"/>
              </a:rPr>
              <a:t>Complete Binary Tree</a:t>
            </a:r>
            <a:r>
              <a:rPr lang="en-IN" sz="1600" b="0" i="0" dirty="0">
                <a:solidFill>
                  <a:srgbClr val="273239"/>
                </a:solidFill>
                <a:effectLst/>
                <a:latin typeface="Nunito" pitchFamily="2" charset="77"/>
              </a:rPr>
              <a:t> – all levels are fully filled except possibly the last, which is filled from left to right.</a:t>
            </a:r>
          </a:p>
          <a:p>
            <a:pPr algn="l" fontAlgn="base">
              <a:buFont typeface="Arial" panose="020B0604020202020204" pitchFamily="34" charset="0"/>
              <a:buChar char="•"/>
            </a:pPr>
            <a:r>
              <a:rPr lang="en-IN" sz="1600" b="1" i="0" dirty="0">
                <a:solidFill>
                  <a:srgbClr val="273239"/>
                </a:solidFill>
                <a:effectLst/>
                <a:latin typeface="Nunito" pitchFamily="2" charset="77"/>
              </a:rPr>
              <a:t>Balanced Binary Tree </a:t>
            </a:r>
            <a:r>
              <a:rPr lang="en-IN" sz="1600" b="0" i="0" dirty="0">
                <a:solidFill>
                  <a:srgbClr val="273239"/>
                </a:solidFill>
                <a:effectLst/>
                <a:latin typeface="Nunito" pitchFamily="2" charset="77"/>
              </a:rPr>
              <a:t>– height difference between left and right subtrees of every node is minimal.</a:t>
            </a:r>
          </a:p>
          <a:p>
            <a:pPr algn="l" fontAlgn="base"/>
            <a:r>
              <a:rPr lang="en-IN" sz="1600" b="1" i="0" dirty="0">
                <a:solidFill>
                  <a:srgbClr val="273239"/>
                </a:solidFill>
                <a:effectLst/>
                <a:latin typeface="Nunito" pitchFamily="2" charset="77"/>
              </a:rPr>
              <a:t>Ternary Tree:</a:t>
            </a:r>
          </a:p>
          <a:p>
            <a:pPr algn="l" rtl="0" fontAlgn="base"/>
            <a:r>
              <a:rPr lang="en-IN" sz="1600" b="0" i="0" dirty="0">
                <a:solidFill>
                  <a:srgbClr val="273239"/>
                </a:solidFill>
                <a:effectLst/>
                <a:latin typeface="Nunito" pitchFamily="2" charset="77"/>
              </a:rPr>
              <a:t>Each node can have at most three children, often </a:t>
            </a:r>
            <a:r>
              <a:rPr lang="en-IN" sz="1600" b="0" i="0" dirty="0" err="1">
                <a:solidFill>
                  <a:srgbClr val="273239"/>
                </a:solidFill>
                <a:effectLst/>
                <a:latin typeface="Nunito" pitchFamily="2" charset="77"/>
              </a:rPr>
              <a:t>labeled</a:t>
            </a:r>
            <a:r>
              <a:rPr lang="en-IN" sz="1600" b="0" i="0" dirty="0">
                <a:solidFill>
                  <a:srgbClr val="273239"/>
                </a:solidFill>
                <a:effectLst/>
                <a:latin typeface="Nunito" pitchFamily="2" charset="77"/>
              </a:rPr>
              <a:t> as left, middle, and right.</a:t>
            </a:r>
          </a:p>
          <a:p>
            <a:pPr algn="l" fontAlgn="base"/>
            <a:r>
              <a:rPr lang="en-IN" sz="1600" b="1" i="0" dirty="0">
                <a:solidFill>
                  <a:srgbClr val="273239"/>
                </a:solidFill>
                <a:effectLst/>
                <a:latin typeface="Nunito" pitchFamily="2" charset="77"/>
              </a:rPr>
              <a:t>N-</a:t>
            </a:r>
            <a:r>
              <a:rPr lang="en-IN" sz="1600" b="1" i="0" dirty="0" err="1">
                <a:solidFill>
                  <a:srgbClr val="273239"/>
                </a:solidFill>
                <a:effectLst/>
                <a:latin typeface="Nunito" pitchFamily="2" charset="77"/>
              </a:rPr>
              <a:t>ary</a:t>
            </a:r>
            <a:r>
              <a:rPr lang="en-IN" sz="1600" b="1" i="0" dirty="0">
                <a:solidFill>
                  <a:srgbClr val="273239"/>
                </a:solidFill>
                <a:effectLst/>
                <a:latin typeface="Nunito" pitchFamily="2" charset="77"/>
              </a:rPr>
              <a:t> Tree (or Generic Tree):</a:t>
            </a:r>
          </a:p>
          <a:p>
            <a:pPr algn="l" fontAlgn="base">
              <a:buFont typeface="Arial" panose="020B0604020202020204" pitchFamily="34" charset="0"/>
              <a:buChar char="•"/>
            </a:pPr>
            <a:r>
              <a:rPr lang="en-IN" sz="1600" b="0" i="0" dirty="0">
                <a:solidFill>
                  <a:srgbClr val="273239"/>
                </a:solidFill>
                <a:effectLst/>
                <a:latin typeface="Nunito" pitchFamily="2" charset="77"/>
              </a:rPr>
              <a:t>Each node can have any number of children.</a:t>
            </a:r>
          </a:p>
          <a:p>
            <a:pPr algn="l" fontAlgn="base">
              <a:buFont typeface="Arial" panose="020B0604020202020204" pitchFamily="34" charset="0"/>
              <a:buChar char="•"/>
            </a:pPr>
            <a:r>
              <a:rPr lang="en-IN" sz="1600" b="0" i="0" dirty="0">
                <a:solidFill>
                  <a:srgbClr val="273239"/>
                </a:solidFill>
                <a:effectLst/>
                <a:latin typeface="Nunito" pitchFamily="2" charset="77"/>
              </a:rPr>
              <a:t>Each node typically contains: Some data , A list of references to its children (duplicates are not allowed).</a:t>
            </a:r>
          </a:p>
          <a:p>
            <a:pPr algn="l" fontAlgn="base">
              <a:buFont typeface="Arial" panose="020B0604020202020204" pitchFamily="34" charset="0"/>
              <a:buChar char="•"/>
            </a:pPr>
            <a:r>
              <a:rPr lang="en-IN" sz="1600" b="0" i="0" dirty="0">
                <a:solidFill>
                  <a:srgbClr val="273239"/>
                </a:solidFill>
                <a:effectLst/>
                <a:latin typeface="Nunito" pitchFamily="2" charset="77"/>
              </a:rPr>
              <a:t>Unlike linked lists, nodes store references to multiple child nodes.</a:t>
            </a:r>
          </a:p>
          <a:p>
            <a:endParaRPr lang="en-US" sz="1600" dirty="0"/>
          </a:p>
        </p:txBody>
      </p:sp>
    </p:spTree>
    <p:extLst>
      <p:ext uri="{BB962C8B-B14F-4D97-AF65-F5344CB8AC3E}">
        <p14:creationId xmlns:p14="http://schemas.microsoft.com/office/powerpoint/2010/main" val="4153218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628E-0DB2-AE8B-1AD7-C65C14727208}"/>
              </a:ext>
            </a:extLst>
          </p:cNvPr>
          <p:cNvSpPr>
            <a:spLocks noGrp="1"/>
          </p:cNvSpPr>
          <p:nvPr>
            <p:ph type="title"/>
          </p:nvPr>
        </p:nvSpPr>
        <p:spPr/>
        <p:txBody>
          <a:bodyPr>
            <a:normAutofit/>
          </a:bodyPr>
          <a:lstStyle/>
          <a:p>
            <a:r>
              <a:rPr lang="en-IN" b="1" i="0" dirty="0">
                <a:solidFill>
                  <a:srgbClr val="273239"/>
                </a:solidFill>
                <a:effectLst/>
                <a:latin typeface="Nunito" pitchFamily="2" charset="77"/>
              </a:rPr>
              <a:t>Basic Operations Of Tree Data Structure</a:t>
            </a:r>
            <a:endParaRPr lang="en-US" dirty="0"/>
          </a:p>
        </p:txBody>
      </p:sp>
      <p:sp>
        <p:nvSpPr>
          <p:cNvPr id="3" name="Content Placeholder 2">
            <a:extLst>
              <a:ext uri="{FF2B5EF4-FFF2-40B4-BE49-F238E27FC236}">
                <a16:creationId xmlns:a16="http://schemas.microsoft.com/office/drawing/2014/main" id="{D3E5B75F-F417-0501-CFC3-237B7D52C292}"/>
              </a:ext>
            </a:extLst>
          </p:cNvPr>
          <p:cNvSpPr>
            <a:spLocks noGrp="1"/>
          </p:cNvSpPr>
          <p:nvPr>
            <p:ph idx="1"/>
          </p:nvPr>
        </p:nvSpPr>
        <p:spPr/>
        <p:txBody>
          <a:bodyPr/>
          <a:lstStyle/>
          <a:p>
            <a:pPr algn="l" fontAlgn="base">
              <a:buFont typeface="Arial" panose="020B0604020202020204" pitchFamily="34" charset="0"/>
              <a:buChar char="•"/>
            </a:pPr>
            <a:r>
              <a:rPr lang="en-IN" b="1" i="0" dirty="0">
                <a:solidFill>
                  <a:srgbClr val="273239"/>
                </a:solidFill>
                <a:effectLst/>
                <a:latin typeface="Nunito" pitchFamily="2" charset="77"/>
              </a:rPr>
              <a:t>Create</a:t>
            </a:r>
            <a:r>
              <a:rPr lang="en-IN" b="0" i="0" dirty="0">
                <a:solidFill>
                  <a:srgbClr val="273239"/>
                </a:solidFill>
                <a:effectLst/>
                <a:latin typeface="Nunito" pitchFamily="2" charset="77"/>
              </a:rPr>
              <a:t> – create a tree in the data structure.</a:t>
            </a:r>
          </a:p>
          <a:p>
            <a:pPr algn="l" fontAlgn="base">
              <a:buFont typeface="Arial" panose="020B0604020202020204" pitchFamily="34" charset="0"/>
              <a:buChar char="•"/>
            </a:pPr>
            <a:r>
              <a:rPr lang="en-IN" b="1" i="0" dirty="0">
                <a:solidFill>
                  <a:srgbClr val="273239"/>
                </a:solidFill>
                <a:effectLst/>
                <a:latin typeface="Nunito" pitchFamily="2" charset="77"/>
              </a:rPr>
              <a:t>Insert</a:t>
            </a:r>
            <a:r>
              <a:rPr lang="en-IN" b="0" i="0" dirty="0">
                <a:solidFill>
                  <a:srgbClr val="273239"/>
                </a:solidFill>
                <a:effectLst/>
                <a:latin typeface="Nunito" pitchFamily="2" charset="77"/>
              </a:rPr>
              <a:t> − Inserts data in a tree.</a:t>
            </a:r>
          </a:p>
          <a:p>
            <a:pPr algn="l" fontAlgn="base">
              <a:buFont typeface="Arial" panose="020B0604020202020204" pitchFamily="34" charset="0"/>
              <a:buChar char="•"/>
            </a:pPr>
            <a:r>
              <a:rPr lang="en-IN" b="1" i="0" dirty="0">
                <a:solidFill>
                  <a:srgbClr val="273239"/>
                </a:solidFill>
                <a:effectLst/>
                <a:latin typeface="Nunito" pitchFamily="2" charset="77"/>
              </a:rPr>
              <a:t>Search</a:t>
            </a:r>
            <a:r>
              <a:rPr lang="en-IN" b="0" i="0" dirty="0">
                <a:solidFill>
                  <a:srgbClr val="273239"/>
                </a:solidFill>
                <a:effectLst/>
                <a:latin typeface="Nunito" pitchFamily="2" charset="77"/>
              </a:rPr>
              <a:t> − Searches specific data in a tree to check whether it is present or not.</a:t>
            </a:r>
          </a:p>
          <a:p>
            <a:pPr algn="l" fontAlgn="base">
              <a:buFont typeface="Arial" panose="020B0604020202020204" pitchFamily="34" charset="0"/>
              <a:buChar char="•"/>
            </a:pPr>
            <a:r>
              <a:rPr lang="en-IN" b="1" i="0" dirty="0">
                <a:solidFill>
                  <a:srgbClr val="273239"/>
                </a:solidFill>
                <a:effectLst/>
                <a:latin typeface="Nunito" pitchFamily="2" charset="77"/>
              </a:rPr>
              <a:t>Traversal</a:t>
            </a:r>
            <a:r>
              <a:rPr lang="en-IN" b="0" i="0" dirty="0">
                <a:solidFill>
                  <a:srgbClr val="273239"/>
                </a:solidFill>
                <a:effectLst/>
                <a:latin typeface="Nunito" pitchFamily="2" charset="77"/>
              </a:rPr>
              <a:t>:</a:t>
            </a:r>
            <a:br>
              <a:rPr lang="en-IN" b="0" i="0" dirty="0">
                <a:solidFill>
                  <a:srgbClr val="273239"/>
                </a:solidFill>
                <a:effectLst/>
                <a:latin typeface="Nunito" pitchFamily="2" charset="77"/>
              </a:rPr>
            </a:br>
            <a:r>
              <a:rPr lang="en-IN" b="0" i="0" u="sng" dirty="0">
                <a:solidFill>
                  <a:srgbClr val="357960"/>
                </a:solidFill>
                <a:effectLst/>
                <a:latin typeface="Nunito" pitchFamily="2" charset="77"/>
                <a:hlinkClick r:id="rId2"/>
              </a:rPr>
              <a:t>Depth-First-Search Traversal</a:t>
            </a:r>
            <a:br>
              <a:rPr lang="en-IN" b="0" i="0" u="sng" dirty="0">
                <a:solidFill>
                  <a:srgbClr val="357960"/>
                </a:solidFill>
                <a:effectLst/>
                <a:latin typeface="Nunito" pitchFamily="2" charset="77"/>
                <a:hlinkClick r:id="rId2"/>
              </a:rPr>
            </a:br>
            <a:r>
              <a:rPr lang="en-IN" b="0" i="0" u="sng" dirty="0">
                <a:solidFill>
                  <a:srgbClr val="357960"/>
                </a:solidFill>
                <a:effectLst/>
                <a:latin typeface="Nunito" pitchFamily="2" charset="77"/>
                <a:hlinkClick r:id="rId3"/>
              </a:rPr>
              <a:t>Breadth-First-Search Traversal</a:t>
            </a:r>
            <a:endParaRPr lang="en-IN" b="0" i="0" dirty="0">
              <a:solidFill>
                <a:srgbClr val="273239"/>
              </a:solidFill>
              <a:effectLst/>
              <a:latin typeface="Nunito" pitchFamily="2" charset="77"/>
            </a:endParaRPr>
          </a:p>
          <a:p>
            <a:endParaRPr lang="en-US" dirty="0"/>
          </a:p>
        </p:txBody>
      </p:sp>
    </p:spTree>
    <p:extLst>
      <p:ext uri="{BB962C8B-B14F-4D97-AF65-F5344CB8AC3E}">
        <p14:creationId xmlns:p14="http://schemas.microsoft.com/office/powerpoint/2010/main" val="27890093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1CED9-7E23-8483-6CA0-06D21F6C9060}"/>
              </a:ext>
            </a:extLst>
          </p:cNvPr>
          <p:cNvSpPr>
            <a:spLocks noGrp="1"/>
          </p:cNvSpPr>
          <p:nvPr>
            <p:ph type="title"/>
          </p:nvPr>
        </p:nvSpPr>
        <p:spPr/>
        <p:txBody>
          <a:bodyPr/>
          <a:lstStyle/>
          <a:p>
            <a:r>
              <a:rPr lang="en-IN" b="1" i="0" dirty="0">
                <a:solidFill>
                  <a:srgbClr val="273239"/>
                </a:solidFill>
                <a:effectLst/>
                <a:latin typeface="Nunito" pitchFamily="2" charset="77"/>
              </a:rPr>
              <a:t>Properties of Tree Data Structure:</a:t>
            </a:r>
            <a:endParaRPr lang="en-US" dirty="0"/>
          </a:p>
        </p:txBody>
      </p:sp>
      <p:sp>
        <p:nvSpPr>
          <p:cNvPr id="3" name="Content Placeholder 2">
            <a:extLst>
              <a:ext uri="{FF2B5EF4-FFF2-40B4-BE49-F238E27FC236}">
                <a16:creationId xmlns:a16="http://schemas.microsoft.com/office/drawing/2014/main" id="{7FC43C8E-692C-5B96-4611-D7B4EF08BB50}"/>
              </a:ext>
            </a:extLst>
          </p:cNvPr>
          <p:cNvSpPr>
            <a:spLocks noGrp="1"/>
          </p:cNvSpPr>
          <p:nvPr>
            <p:ph idx="1"/>
          </p:nvPr>
        </p:nvSpPr>
        <p:spPr/>
        <p:txBody>
          <a:bodyPr>
            <a:normAutofit fontScale="85000" lnSpcReduction="10000"/>
          </a:bodyPr>
          <a:lstStyle/>
          <a:p>
            <a:pPr algn="l" fontAlgn="base">
              <a:buFont typeface="Arial" panose="020B0604020202020204" pitchFamily="34" charset="0"/>
              <a:buChar char="•"/>
            </a:pPr>
            <a:r>
              <a:rPr lang="en-IN" b="1" i="0" dirty="0">
                <a:solidFill>
                  <a:srgbClr val="273239"/>
                </a:solidFill>
                <a:effectLst/>
                <a:latin typeface="Nunito" pitchFamily="2" charset="77"/>
              </a:rPr>
              <a:t>Number of edges</a:t>
            </a:r>
            <a:r>
              <a:rPr lang="en-IN" b="0" i="0" dirty="0">
                <a:solidFill>
                  <a:srgbClr val="273239"/>
                </a:solidFill>
                <a:effectLst/>
                <a:latin typeface="Nunito" pitchFamily="2" charset="77"/>
              </a:rPr>
              <a:t>: An edge is the connection between two nodes. A tree with N nodes will always have N - 1 edges. There is exactly one path from any node to any other node in the tree.</a:t>
            </a:r>
          </a:p>
          <a:p>
            <a:pPr algn="l" fontAlgn="base">
              <a:buFont typeface="Arial" panose="020B0604020202020204" pitchFamily="34" charset="0"/>
              <a:buChar char="•"/>
            </a:pPr>
            <a:r>
              <a:rPr lang="en-IN" b="1" i="0" dirty="0">
                <a:solidFill>
                  <a:srgbClr val="273239"/>
                </a:solidFill>
                <a:effectLst/>
                <a:latin typeface="Nunito" pitchFamily="2" charset="77"/>
              </a:rPr>
              <a:t>Depth of a node: </a:t>
            </a:r>
            <a:r>
              <a:rPr lang="en-IN" b="0" i="0" dirty="0">
                <a:solidFill>
                  <a:srgbClr val="273239"/>
                </a:solidFill>
                <a:effectLst/>
                <a:latin typeface="Nunito" pitchFamily="2" charset="77"/>
              </a:rPr>
              <a:t>The depth of a node is the length of the path from the root to that node. Each edge in the path adds 1 unit to the length. Equivalently, it is the number of edges from the root to the node.</a:t>
            </a:r>
          </a:p>
          <a:p>
            <a:pPr algn="l" fontAlgn="base">
              <a:buFont typeface="Arial" panose="020B0604020202020204" pitchFamily="34" charset="0"/>
              <a:buChar char="•"/>
            </a:pPr>
            <a:r>
              <a:rPr lang="en-IN" b="1" i="0" dirty="0">
                <a:solidFill>
                  <a:srgbClr val="273239"/>
                </a:solidFill>
                <a:effectLst/>
                <a:latin typeface="Nunito" pitchFamily="2" charset="77"/>
              </a:rPr>
              <a:t>Height of the tree: </a:t>
            </a:r>
            <a:r>
              <a:rPr lang="en-IN" b="0" i="0" dirty="0">
                <a:solidFill>
                  <a:srgbClr val="273239"/>
                </a:solidFill>
                <a:effectLst/>
                <a:latin typeface="Nunito" pitchFamily="2" charset="77"/>
              </a:rPr>
              <a:t>The height of the tree is the length of the longest path from the root to any leaf node.</a:t>
            </a:r>
          </a:p>
          <a:p>
            <a:pPr algn="l" fontAlgn="base">
              <a:buFont typeface="Arial" panose="020B0604020202020204" pitchFamily="34" charset="0"/>
              <a:buChar char="•"/>
            </a:pPr>
            <a:r>
              <a:rPr lang="en-IN" b="1" i="0" dirty="0">
                <a:solidFill>
                  <a:srgbClr val="273239"/>
                </a:solidFill>
                <a:effectLst/>
                <a:latin typeface="Nunito" pitchFamily="2" charset="77"/>
              </a:rPr>
              <a:t>Degree of a node: </a:t>
            </a:r>
            <a:r>
              <a:rPr lang="en-IN" b="0" i="0" dirty="0">
                <a:solidFill>
                  <a:srgbClr val="273239"/>
                </a:solidFill>
                <a:effectLst/>
                <a:latin typeface="Nunito" pitchFamily="2" charset="77"/>
              </a:rPr>
              <a:t>The degree of a node is the number of subtrees attached to it (i.e., the number of children it has).</a:t>
            </a:r>
            <a:br>
              <a:rPr lang="en-IN" b="0" i="0" dirty="0">
                <a:solidFill>
                  <a:srgbClr val="273239"/>
                </a:solidFill>
                <a:effectLst/>
                <a:latin typeface="Nunito" pitchFamily="2" charset="77"/>
              </a:rPr>
            </a:br>
            <a:r>
              <a:rPr lang="en-IN" b="0" i="0" dirty="0">
                <a:solidFill>
                  <a:srgbClr val="273239"/>
                </a:solidFill>
                <a:effectLst/>
                <a:latin typeface="Nunito" pitchFamily="2" charset="77"/>
              </a:rPr>
              <a:t>A leaf node has a degree of 0.</a:t>
            </a:r>
            <a:br>
              <a:rPr lang="en-IN" b="0" i="0" dirty="0">
                <a:solidFill>
                  <a:srgbClr val="273239"/>
                </a:solidFill>
                <a:effectLst/>
                <a:latin typeface="Nunito" pitchFamily="2" charset="77"/>
              </a:rPr>
            </a:br>
            <a:r>
              <a:rPr lang="en-IN" b="0" i="0" dirty="0">
                <a:solidFill>
                  <a:srgbClr val="273239"/>
                </a:solidFill>
                <a:effectLst/>
                <a:latin typeface="Nunito" pitchFamily="2" charset="77"/>
              </a:rPr>
              <a:t>The degree of the tree is the maximum degree among all nodes in the tree.</a:t>
            </a:r>
          </a:p>
          <a:p>
            <a:endParaRPr lang="en-US" dirty="0"/>
          </a:p>
        </p:txBody>
      </p:sp>
    </p:spTree>
    <p:extLst>
      <p:ext uri="{BB962C8B-B14F-4D97-AF65-F5344CB8AC3E}">
        <p14:creationId xmlns:p14="http://schemas.microsoft.com/office/powerpoint/2010/main" val="34127533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7C917-F556-4E04-7D44-AE73762FAF44}"/>
              </a:ext>
            </a:extLst>
          </p:cNvPr>
          <p:cNvSpPr>
            <a:spLocks noGrp="1"/>
          </p:cNvSpPr>
          <p:nvPr>
            <p:ph type="title"/>
          </p:nvPr>
        </p:nvSpPr>
        <p:spPr/>
        <p:txBody>
          <a:bodyPr/>
          <a:lstStyle/>
          <a:p>
            <a:r>
              <a:rPr lang="en-US" dirty="0"/>
              <a:t>General Applications</a:t>
            </a:r>
          </a:p>
        </p:txBody>
      </p:sp>
      <p:sp>
        <p:nvSpPr>
          <p:cNvPr id="3" name="Content Placeholder 2">
            <a:extLst>
              <a:ext uri="{FF2B5EF4-FFF2-40B4-BE49-F238E27FC236}">
                <a16:creationId xmlns:a16="http://schemas.microsoft.com/office/drawing/2014/main" id="{6BEFF288-EF6B-F497-7262-E2A59800F9E9}"/>
              </a:ext>
            </a:extLst>
          </p:cNvPr>
          <p:cNvSpPr>
            <a:spLocks noGrp="1"/>
          </p:cNvSpPr>
          <p:nvPr>
            <p:ph idx="1"/>
          </p:nvPr>
        </p:nvSpPr>
        <p:spPr/>
        <p:txBody>
          <a:bodyPr>
            <a:normAutofit fontScale="62500" lnSpcReduction="20000"/>
          </a:bodyPr>
          <a:lstStyle/>
          <a:p>
            <a:pPr algn="l" fontAlgn="base">
              <a:buFont typeface="Arial" panose="020B0604020202020204" pitchFamily="34" charset="0"/>
              <a:buChar char="•"/>
            </a:pPr>
            <a:r>
              <a:rPr lang="en-IN" b="1" i="0" dirty="0">
                <a:solidFill>
                  <a:srgbClr val="273239"/>
                </a:solidFill>
                <a:effectLst/>
                <a:latin typeface="Nunito" pitchFamily="2" charset="77"/>
              </a:rPr>
              <a:t>Hierarchical Structure</a:t>
            </a:r>
            <a:r>
              <a:rPr lang="en-IN" b="0" i="0" dirty="0">
                <a:solidFill>
                  <a:srgbClr val="273239"/>
                </a:solidFill>
                <a:effectLst/>
                <a:latin typeface="Nunito" pitchFamily="2" charset="77"/>
              </a:rPr>
              <a:t>: One reason to use trees might be because you want to store information that naturally forms a hierarchy. For example, the file system on a computer: The</a:t>
            </a:r>
            <a:r>
              <a:rPr lang="en-IN" b="0" i="0" u="sng" dirty="0">
                <a:solidFill>
                  <a:srgbClr val="357960"/>
                </a:solidFill>
                <a:effectLst/>
                <a:latin typeface="Nunito" pitchFamily="2" charset="77"/>
                <a:hlinkClick r:id="rId2"/>
              </a:rPr>
              <a:t> DOM mode</a:t>
            </a:r>
            <a:r>
              <a:rPr lang="en-IN" b="0" i="0" dirty="0">
                <a:solidFill>
                  <a:srgbClr val="273239"/>
                </a:solidFill>
                <a:effectLst/>
                <a:latin typeface="Nunito" pitchFamily="2" charset="77"/>
              </a:rPr>
              <a:t>l of an HTML page is also tree where we have html tag as root, head and body its children and these tags, then have their own children. </a:t>
            </a:r>
            <a:r>
              <a:rPr lang="en-IN" b="0" i="0" u="sng" dirty="0">
                <a:solidFill>
                  <a:srgbClr val="357960"/>
                </a:solidFill>
                <a:effectLst/>
                <a:latin typeface="Nunito" pitchFamily="2" charset="77"/>
                <a:hlinkClick r:id="rId3"/>
              </a:rPr>
              <a:t>DNS System</a:t>
            </a:r>
            <a:r>
              <a:rPr lang="en-IN" b="0" i="0" dirty="0">
                <a:solidFill>
                  <a:srgbClr val="273239"/>
                </a:solidFill>
                <a:effectLst/>
                <a:latin typeface="Nunito" pitchFamily="2" charset="77"/>
              </a:rPr>
              <a:t> is also example where we have natural hierarchy.</a:t>
            </a:r>
          </a:p>
          <a:p>
            <a:pPr algn="l" fontAlgn="base">
              <a:buFont typeface="Arial" panose="020B0604020202020204" pitchFamily="34" charset="0"/>
              <a:buChar char="•"/>
            </a:pPr>
            <a:r>
              <a:rPr lang="en-IN" b="1" i="0" dirty="0">
                <a:solidFill>
                  <a:srgbClr val="273239"/>
                </a:solidFill>
                <a:effectLst/>
                <a:latin typeface="Nunito" pitchFamily="2" charset="77"/>
              </a:rPr>
              <a:t>Searching Efficiency:</a:t>
            </a:r>
            <a:r>
              <a:rPr lang="en-IN" b="0" i="0" dirty="0">
                <a:solidFill>
                  <a:srgbClr val="273239"/>
                </a:solidFill>
                <a:effectLst/>
                <a:latin typeface="Nunito" pitchFamily="2" charset="77"/>
              </a:rPr>
              <a:t> Trees provide an efficient way to search for data. For example, in a binary search tree, searching for a value takes time proportional to the logarithm of the number of elements, which is much faster than searching in a linear data structure like an array or a linked list.</a:t>
            </a:r>
          </a:p>
          <a:p>
            <a:pPr algn="l" fontAlgn="base">
              <a:buFont typeface="Arial" panose="020B0604020202020204" pitchFamily="34" charset="0"/>
              <a:buChar char="•"/>
            </a:pPr>
            <a:r>
              <a:rPr lang="en-IN" b="1" i="0" dirty="0">
                <a:solidFill>
                  <a:srgbClr val="273239"/>
                </a:solidFill>
                <a:effectLst/>
                <a:latin typeface="Nunito" pitchFamily="2" charset="77"/>
              </a:rPr>
              <a:t>Sorting: </a:t>
            </a:r>
            <a:r>
              <a:rPr lang="en-IN" b="0" i="0" dirty="0">
                <a:solidFill>
                  <a:srgbClr val="273239"/>
                </a:solidFill>
                <a:effectLst/>
                <a:latin typeface="Nunito" pitchFamily="2" charset="77"/>
              </a:rPr>
              <a:t>Trees can be used to sort data efficiently. For example, in a self-balancing binary search tree, the data is automatically sorted as it is inserted into the tree, making it easy to find the minimum, maximum, and other values in the tree.</a:t>
            </a:r>
          </a:p>
          <a:p>
            <a:pPr algn="l" fontAlgn="base">
              <a:buFont typeface="Arial" panose="020B0604020202020204" pitchFamily="34" charset="0"/>
              <a:buChar char="•"/>
            </a:pPr>
            <a:r>
              <a:rPr lang="en-IN" b="1" i="0" dirty="0">
                <a:solidFill>
                  <a:srgbClr val="273239"/>
                </a:solidFill>
                <a:effectLst/>
                <a:latin typeface="Nunito" pitchFamily="2" charset="77"/>
              </a:rPr>
              <a:t>Dynamic Data: </a:t>
            </a:r>
            <a:r>
              <a:rPr lang="en-IN" b="0" i="0" dirty="0">
                <a:solidFill>
                  <a:srgbClr val="273239"/>
                </a:solidFill>
                <a:effectLst/>
                <a:latin typeface="Nunito" pitchFamily="2" charset="77"/>
              </a:rPr>
              <a:t>Trees are dynamic data structures, which means that they can grow and shrink as needed. This makes them well-suited for applications where the data changes frequently, such as in real-time systems.</a:t>
            </a:r>
          </a:p>
          <a:p>
            <a:pPr algn="l" fontAlgn="base">
              <a:buFont typeface="Arial" panose="020B0604020202020204" pitchFamily="34" charset="0"/>
              <a:buChar char="•"/>
            </a:pPr>
            <a:r>
              <a:rPr lang="en-IN" b="1" i="0" dirty="0">
                <a:solidFill>
                  <a:srgbClr val="273239"/>
                </a:solidFill>
                <a:effectLst/>
                <a:latin typeface="Nunito" pitchFamily="2" charset="77"/>
              </a:rPr>
              <a:t>Efficient Insertion and Deletion: </a:t>
            </a:r>
            <a:r>
              <a:rPr lang="en-IN" b="0" i="0" dirty="0">
                <a:solidFill>
                  <a:srgbClr val="273239"/>
                </a:solidFill>
                <a:effectLst/>
                <a:latin typeface="Nunito" pitchFamily="2" charset="77"/>
              </a:rPr>
              <a:t>Trees provide efficient algorithms for inserting and deleting data, which is important in many applications where data needs to be added or removed frequently.</a:t>
            </a:r>
          </a:p>
          <a:p>
            <a:pPr algn="l" fontAlgn="base">
              <a:buFont typeface="Arial" panose="020B0604020202020204" pitchFamily="34" charset="0"/>
              <a:buChar char="•"/>
            </a:pPr>
            <a:r>
              <a:rPr lang="en-IN" b="1" i="0" dirty="0">
                <a:solidFill>
                  <a:srgbClr val="273239"/>
                </a:solidFill>
                <a:effectLst/>
                <a:latin typeface="Nunito" pitchFamily="2" charset="77"/>
              </a:rPr>
              <a:t>Easy to Implement: </a:t>
            </a:r>
            <a:r>
              <a:rPr lang="en-IN" b="0" i="0" dirty="0">
                <a:solidFill>
                  <a:srgbClr val="273239"/>
                </a:solidFill>
                <a:effectLst/>
                <a:latin typeface="Nunito" pitchFamily="2" charset="77"/>
              </a:rPr>
              <a:t>Trees are relatively easy to implement, especially when compared to other data structures like graphs. This makes them a popular choice for many programming projects.</a:t>
            </a:r>
          </a:p>
          <a:p>
            <a:endParaRPr lang="en-US" dirty="0"/>
          </a:p>
        </p:txBody>
      </p:sp>
    </p:spTree>
    <p:extLst>
      <p:ext uri="{BB962C8B-B14F-4D97-AF65-F5344CB8AC3E}">
        <p14:creationId xmlns:p14="http://schemas.microsoft.com/office/powerpoint/2010/main" val="1137261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8C792-999D-4682-2F06-DA4057CF340B}"/>
              </a:ext>
            </a:extLst>
          </p:cNvPr>
          <p:cNvSpPr>
            <a:spLocks noGrp="1"/>
          </p:cNvSpPr>
          <p:nvPr>
            <p:ph type="title"/>
          </p:nvPr>
        </p:nvSpPr>
        <p:spPr/>
        <p:txBody>
          <a:bodyPr>
            <a:normAutofit/>
          </a:bodyPr>
          <a:lstStyle/>
          <a:p>
            <a:r>
              <a:rPr lang="en-IN" b="1" i="0" dirty="0">
                <a:solidFill>
                  <a:srgbClr val="273239"/>
                </a:solidFill>
                <a:effectLst/>
                <a:latin typeface="Nunito" pitchFamily="2" charset="77"/>
              </a:rPr>
              <a:t>Other Applications of Tree Data Structure</a:t>
            </a:r>
            <a:endParaRPr lang="en-US" dirty="0"/>
          </a:p>
        </p:txBody>
      </p:sp>
      <p:sp>
        <p:nvSpPr>
          <p:cNvPr id="3" name="Content Placeholder 2">
            <a:extLst>
              <a:ext uri="{FF2B5EF4-FFF2-40B4-BE49-F238E27FC236}">
                <a16:creationId xmlns:a16="http://schemas.microsoft.com/office/drawing/2014/main" id="{F2FD5DEB-4F66-D588-EEB5-8B390AECA901}"/>
              </a:ext>
            </a:extLst>
          </p:cNvPr>
          <p:cNvSpPr>
            <a:spLocks noGrp="1"/>
          </p:cNvSpPr>
          <p:nvPr>
            <p:ph idx="1"/>
          </p:nvPr>
        </p:nvSpPr>
        <p:spPr/>
        <p:txBody>
          <a:bodyPr>
            <a:normAutofit fontScale="55000" lnSpcReduction="20000"/>
          </a:bodyPr>
          <a:lstStyle/>
          <a:p>
            <a:pPr algn="l" fontAlgn="base">
              <a:buFont typeface="+mj-lt"/>
              <a:buAutoNum type="arabicPeriod"/>
            </a:pPr>
            <a:r>
              <a:rPr lang="en-IN" b="0" i="0" dirty="0">
                <a:solidFill>
                  <a:srgbClr val="273239"/>
                </a:solidFill>
                <a:effectLst/>
                <a:latin typeface="Nunito" pitchFamily="2" charset="77"/>
              </a:rPr>
              <a:t>Store hierarchical data, like folder structure, organization structure, XML/HTML data.</a:t>
            </a:r>
          </a:p>
          <a:p>
            <a:pPr algn="l" fontAlgn="base">
              <a:buFont typeface="+mj-lt"/>
              <a:buAutoNum type="arabicPeriod" startAt="2"/>
            </a:pPr>
            <a:r>
              <a:rPr lang="en-IN" b="0" i="0" u="sng" dirty="0">
                <a:solidFill>
                  <a:srgbClr val="357960"/>
                </a:solidFill>
                <a:effectLst/>
                <a:latin typeface="Nunito" pitchFamily="2" charset="77"/>
                <a:hlinkClick r:id="rId2"/>
              </a:rPr>
              <a:t>Binary Search Tree</a:t>
            </a:r>
            <a:r>
              <a:rPr lang="en-IN" b="0" i="0" dirty="0">
                <a:solidFill>
                  <a:srgbClr val="273239"/>
                </a:solidFill>
                <a:effectLst/>
                <a:latin typeface="Nunito" pitchFamily="2" charset="77"/>
              </a:rPr>
              <a:t> is a tree that allows fast search, insert, delete on a sorted data. It also allows finding closest item</a:t>
            </a:r>
          </a:p>
          <a:p>
            <a:pPr algn="l" fontAlgn="base">
              <a:buFont typeface="+mj-lt"/>
              <a:buAutoNum type="arabicPeriod" startAt="3"/>
            </a:pPr>
            <a:r>
              <a:rPr lang="en-IN" b="0" i="0" u="sng" dirty="0">
                <a:solidFill>
                  <a:srgbClr val="357960"/>
                </a:solidFill>
                <a:effectLst/>
                <a:latin typeface="Nunito" pitchFamily="2" charset="77"/>
                <a:hlinkClick r:id="rId3"/>
              </a:rPr>
              <a:t>Heap</a:t>
            </a:r>
            <a:r>
              <a:rPr lang="en-IN" b="0" i="0" dirty="0">
                <a:solidFill>
                  <a:srgbClr val="273239"/>
                </a:solidFill>
                <a:effectLst/>
                <a:latin typeface="Nunito" pitchFamily="2" charset="77"/>
              </a:rPr>
              <a:t> is a tree data structure which is implemented using arrays and used to implement priority queues.</a:t>
            </a:r>
          </a:p>
          <a:p>
            <a:pPr algn="l" fontAlgn="base">
              <a:buFont typeface="+mj-lt"/>
              <a:buAutoNum type="arabicPeriod" startAt="4"/>
            </a:pPr>
            <a:r>
              <a:rPr lang="en-IN" b="0" i="0" u="sng" dirty="0">
                <a:solidFill>
                  <a:srgbClr val="357960"/>
                </a:solidFill>
                <a:effectLst/>
                <a:latin typeface="Nunito" pitchFamily="2" charset="77"/>
                <a:hlinkClick r:id="rId4"/>
              </a:rPr>
              <a:t>B-Tree</a:t>
            </a:r>
            <a:r>
              <a:rPr lang="en-IN" b="0" i="0" dirty="0">
                <a:solidFill>
                  <a:srgbClr val="273239"/>
                </a:solidFill>
                <a:effectLst/>
                <a:latin typeface="Nunito" pitchFamily="2" charset="77"/>
              </a:rPr>
              <a:t> and</a:t>
            </a:r>
            <a:r>
              <a:rPr lang="en-IN" b="0" i="0" u="sng" dirty="0">
                <a:solidFill>
                  <a:srgbClr val="357960"/>
                </a:solidFill>
                <a:effectLst/>
                <a:latin typeface="Nunito" pitchFamily="2" charset="77"/>
                <a:hlinkClick r:id="rId5"/>
              </a:rPr>
              <a:t> B+ Tree</a:t>
            </a:r>
            <a:r>
              <a:rPr lang="en-IN" b="0" i="0" dirty="0">
                <a:solidFill>
                  <a:srgbClr val="273239"/>
                </a:solidFill>
                <a:effectLst/>
                <a:latin typeface="Nunito" pitchFamily="2" charset="77"/>
              </a:rPr>
              <a:t> : They are used to implement indexing in databases.</a:t>
            </a:r>
          </a:p>
          <a:p>
            <a:pPr algn="l" fontAlgn="base">
              <a:buFont typeface="+mj-lt"/>
              <a:buAutoNum type="arabicPeriod" startAt="5"/>
            </a:pPr>
            <a:r>
              <a:rPr lang="en-IN" b="0" i="0" u="sng" dirty="0">
                <a:solidFill>
                  <a:srgbClr val="357960"/>
                </a:solidFill>
                <a:effectLst/>
                <a:latin typeface="Nunito" pitchFamily="2" charset="77"/>
                <a:hlinkClick r:id="rId6"/>
              </a:rPr>
              <a:t>Syntax Tree</a:t>
            </a:r>
            <a:r>
              <a:rPr lang="en-IN" b="0" i="0" dirty="0">
                <a:solidFill>
                  <a:srgbClr val="273239"/>
                </a:solidFill>
                <a:effectLst/>
                <a:latin typeface="Nunito" pitchFamily="2" charset="77"/>
              </a:rPr>
              <a:t>:  Scanning, parsing , generation of code and evaluation of arithmetic expressions in Compiler design.</a:t>
            </a:r>
          </a:p>
          <a:p>
            <a:pPr algn="l" fontAlgn="base">
              <a:buFont typeface="+mj-lt"/>
              <a:buAutoNum type="arabicPeriod" startAt="6"/>
            </a:pPr>
            <a:r>
              <a:rPr lang="en-IN" b="0" i="0" u="sng" dirty="0">
                <a:solidFill>
                  <a:srgbClr val="357960"/>
                </a:solidFill>
                <a:effectLst/>
                <a:latin typeface="Nunito" pitchFamily="2" charset="77"/>
                <a:hlinkClick r:id="rId7"/>
              </a:rPr>
              <a:t>K-D Tree: </a:t>
            </a:r>
            <a:r>
              <a:rPr lang="en-IN" b="0" i="0" dirty="0">
                <a:solidFill>
                  <a:srgbClr val="273239"/>
                </a:solidFill>
                <a:effectLst/>
                <a:latin typeface="Nunito" pitchFamily="2" charset="77"/>
              </a:rPr>
              <a:t>A space partitioning tree used to organize points in K dimensional space.</a:t>
            </a:r>
          </a:p>
          <a:p>
            <a:pPr algn="l" fontAlgn="base">
              <a:buFont typeface="+mj-lt"/>
              <a:buAutoNum type="arabicPeriod" startAt="7"/>
            </a:pPr>
            <a:r>
              <a:rPr lang="en-IN" b="0" i="0" u="sng" dirty="0">
                <a:solidFill>
                  <a:srgbClr val="357960"/>
                </a:solidFill>
                <a:effectLst/>
                <a:latin typeface="Nunito" pitchFamily="2" charset="77"/>
                <a:hlinkClick r:id="rId8"/>
              </a:rPr>
              <a:t>Trie</a:t>
            </a:r>
            <a:r>
              <a:rPr lang="en-IN" b="0" i="0" dirty="0">
                <a:solidFill>
                  <a:srgbClr val="273239"/>
                </a:solidFill>
                <a:effectLst/>
                <a:latin typeface="Nunito" pitchFamily="2" charset="77"/>
              </a:rPr>
              <a:t> : Used to implement dictionaries with prefix lookup.</a:t>
            </a:r>
          </a:p>
          <a:p>
            <a:pPr algn="l" fontAlgn="base">
              <a:buFont typeface="+mj-lt"/>
              <a:buAutoNum type="arabicPeriod" startAt="8"/>
            </a:pPr>
            <a:r>
              <a:rPr lang="en-IN" b="0" i="0" u="sng" dirty="0">
                <a:solidFill>
                  <a:srgbClr val="357960"/>
                </a:solidFill>
                <a:effectLst/>
                <a:latin typeface="Nunito" pitchFamily="2" charset="77"/>
                <a:hlinkClick r:id="rId9"/>
              </a:rPr>
              <a:t>Suffix Tree</a:t>
            </a:r>
            <a:r>
              <a:rPr lang="en-IN" b="0" i="0" dirty="0">
                <a:solidFill>
                  <a:srgbClr val="273239"/>
                </a:solidFill>
                <a:effectLst/>
                <a:latin typeface="Nunito" pitchFamily="2" charset="77"/>
              </a:rPr>
              <a:t> : For quick pattern searching in a fixed text.</a:t>
            </a:r>
          </a:p>
          <a:p>
            <a:pPr algn="l" fontAlgn="base">
              <a:buFont typeface="+mj-lt"/>
              <a:buAutoNum type="arabicPeriod" startAt="9"/>
            </a:pPr>
            <a:r>
              <a:rPr lang="en-IN" b="0" i="0" u="sng" dirty="0">
                <a:solidFill>
                  <a:srgbClr val="357960"/>
                </a:solidFill>
                <a:effectLst/>
                <a:latin typeface="Nunito" pitchFamily="2" charset="77"/>
                <a:hlinkClick r:id="rId10"/>
              </a:rPr>
              <a:t>Spanning Trees</a:t>
            </a:r>
            <a:r>
              <a:rPr lang="en-IN" b="0" i="0" dirty="0">
                <a:solidFill>
                  <a:srgbClr val="273239"/>
                </a:solidFill>
                <a:effectLst/>
                <a:latin typeface="Nunito" pitchFamily="2" charset="77"/>
              </a:rPr>
              <a:t> and shortest path trees are used in routers and bridges respectively in computer networks</a:t>
            </a:r>
          </a:p>
          <a:p>
            <a:pPr algn="l" fontAlgn="base">
              <a:buFont typeface="+mj-lt"/>
              <a:buAutoNum type="arabicPeriod" startAt="10"/>
            </a:pPr>
            <a:r>
              <a:rPr lang="en-IN" b="0" i="0" dirty="0">
                <a:solidFill>
                  <a:srgbClr val="273239"/>
                </a:solidFill>
                <a:effectLst/>
                <a:latin typeface="Nunito" pitchFamily="2" charset="77"/>
              </a:rPr>
              <a:t>As a workflow for compositing digital images for visual effects.</a:t>
            </a:r>
          </a:p>
          <a:p>
            <a:pPr algn="l" fontAlgn="base">
              <a:buFont typeface="+mj-lt"/>
              <a:buAutoNum type="arabicPeriod" startAt="11"/>
            </a:pPr>
            <a:r>
              <a:rPr lang="en-IN" b="0" i="0" dirty="0">
                <a:solidFill>
                  <a:srgbClr val="273239"/>
                </a:solidFill>
                <a:effectLst/>
                <a:latin typeface="Nunito" pitchFamily="2" charset="77"/>
              </a:rPr>
              <a:t>Decision trees.</a:t>
            </a:r>
          </a:p>
          <a:p>
            <a:pPr algn="l" fontAlgn="base">
              <a:buFont typeface="+mj-lt"/>
              <a:buAutoNum type="arabicPeriod" startAt="12"/>
            </a:pPr>
            <a:r>
              <a:rPr lang="en-IN" b="0" i="0" dirty="0">
                <a:solidFill>
                  <a:srgbClr val="273239"/>
                </a:solidFill>
                <a:effectLst/>
                <a:latin typeface="Nunito" pitchFamily="2" charset="77"/>
              </a:rPr>
              <a:t>Organization chart of a large organization.</a:t>
            </a:r>
          </a:p>
          <a:p>
            <a:pPr algn="l" fontAlgn="base">
              <a:buFont typeface="+mj-lt"/>
              <a:buAutoNum type="arabicPeriod" startAt="13"/>
            </a:pPr>
            <a:r>
              <a:rPr lang="en-IN" b="0" i="0" dirty="0">
                <a:solidFill>
                  <a:srgbClr val="273239"/>
                </a:solidFill>
                <a:effectLst/>
                <a:latin typeface="Nunito" pitchFamily="2" charset="77"/>
              </a:rPr>
              <a:t>In XML parser.</a:t>
            </a:r>
          </a:p>
          <a:p>
            <a:endParaRPr lang="en-US" dirty="0"/>
          </a:p>
        </p:txBody>
      </p:sp>
    </p:spTree>
    <p:extLst>
      <p:ext uri="{BB962C8B-B14F-4D97-AF65-F5344CB8AC3E}">
        <p14:creationId xmlns:p14="http://schemas.microsoft.com/office/powerpoint/2010/main" val="23390473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0DEF-1D86-288E-22CA-36CCC1172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BD1E8-4E8D-178C-7A47-49AA6F0FE7C5}"/>
              </a:ext>
            </a:extLst>
          </p:cNvPr>
          <p:cNvSpPr>
            <a:spLocks noGrp="1"/>
          </p:cNvSpPr>
          <p:nvPr>
            <p:ph type="title"/>
          </p:nvPr>
        </p:nvSpPr>
        <p:spPr/>
        <p:txBody>
          <a:bodyPr>
            <a:normAutofit/>
          </a:bodyPr>
          <a:lstStyle/>
          <a:p>
            <a:r>
              <a:rPr lang="en-IN" b="1" i="0" dirty="0">
                <a:solidFill>
                  <a:srgbClr val="273239"/>
                </a:solidFill>
                <a:effectLst/>
                <a:latin typeface="Nunito" pitchFamily="2" charset="77"/>
              </a:rPr>
              <a:t>Other Applications of Tree Data Structure</a:t>
            </a:r>
            <a:endParaRPr lang="en-US" dirty="0"/>
          </a:p>
        </p:txBody>
      </p:sp>
      <p:sp>
        <p:nvSpPr>
          <p:cNvPr id="3" name="Content Placeholder 2">
            <a:extLst>
              <a:ext uri="{FF2B5EF4-FFF2-40B4-BE49-F238E27FC236}">
                <a16:creationId xmlns:a16="http://schemas.microsoft.com/office/drawing/2014/main" id="{C7117DEA-F928-5532-AD06-1248F6228333}"/>
              </a:ext>
            </a:extLst>
          </p:cNvPr>
          <p:cNvSpPr>
            <a:spLocks noGrp="1"/>
          </p:cNvSpPr>
          <p:nvPr>
            <p:ph idx="1"/>
          </p:nvPr>
        </p:nvSpPr>
        <p:spPr/>
        <p:txBody>
          <a:bodyPr>
            <a:normAutofit fontScale="47500" lnSpcReduction="20000"/>
          </a:bodyPr>
          <a:lstStyle/>
          <a:p>
            <a:pPr algn="l" fontAlgn="base">
              <a:buFont typeface="+mj-lt"/>
              <a:buAutoNum type="arabicPeriod" startAt="14"/>
            </a:pPr>
            <a:r>
              <a:rPr lang="en-IN" b="0" i="0">
                <a:solidFill>
                  <a:srgbClr val="273239"/>
                </a:solidFill>
                <a:effectLst/>
                <a:latin typeface="Nunito" pitchFamily="2" charset="77"/>
              </a:rPr>
              <a:t>Machine </a:t>
            </a:r>
            <a:r>
              <a:rPr lang="en-IN" b="0" i="0" dirty="0">
                <a:solidFill>
                  <a:srgbClr val="273239"/>
                </a:solidFill>
                <a:effectLst/>
                <a:latin typeface="Nunito" pitchFamily="2" charset="77"/>
              </a:rPr>
              <a:t>learning algorithm.</a:t>
            </a:r>
          </a:p>
          <a:p>
            <a:pPr algn="l" fontAlgn="base">
              <a:buFont typeface="+mj-lt"/>
              <a:buAutoNum type="arabicPeriod" startAt="15"/>
            </a:pPr>
            <a:r>
              <a:rPr lang="en-IN" b="0" i="0" dirty="0">
                <a:solidFill>
                  <a:srgbClr val="273239"/>
                </a:solidFill>
                <a:effectLst/>
                <a:latin typeface="Nunito" pitchFamily="2" charset="77"/>
              </a:rPr>
              <a:t>For indexing in database.</a:t>
            </a:r>
          </a:p>
          <a:p>
            <a:pPr algn="l" fontAlgn="base">
              <a:buFont typeface="+mj-lt"/>
              <a:buAutoNum type="arabicPeriod" startAt="16"/>
            </a:pPr>
            <a:r>
              <a:rPr lang="en-IN" b="0" i="0" dirty="0">
                <a:solidFill>
                  <a:srgbClr val="273239"/>
                </a:solidFill>
                <a:effectLst/>
                <a:latin typeface="Nunito" pitchFamily="2" charset="77"/>
              </a:rPr>
              <a:t>IN server like DNS (Domain Name Server)</a:t>
            </a:r>
          </a:p>
          <a:p>
            <a:pPr algn="l" fontAlgn="base">
              <a:buFont typeface="+mj-lt"/>
              <a:buAutoNum type="arabicPeriod" startAt="17"/>
            </a:pPr>
            <a:r>
              <a:rPr lang="en-IN" b="0" i="0" dirty="0">
                <a:solidFill>
                  <a:srgbClr val="273239"/>
                </a:solidFill>
                <a:effectLst/>
                <a:latin typeface="Nunito" pitchFamily="2" charset="77"/>
              </a:rPr>
              <a:t>In Computer Graphics.</a:t>
            </a:r>
          </a:p>
          <a:p>
            <a:pPr algn="l" fontAlgn="base">
              <a:buFont typeface="+mj-lt"/>
              <a:buAutoNum type="arabicPeriod" startAt="18"/>
            </a:pPr>
            <a:r>
              <a:rPr lang="en-IN" b="0" i="0" dirty="0">
                <a:solidFill>
                  <a:srgbClr val="273239"/>
                </a:solidFill>
                <a:effectLst/>
                <a:latin typeface="Nunito" pitchFamily="2" charset="77"/>
              </a:rPr>
              <a:t>To evaluate an expression.</a:t>
            </a:r>
          </a:p>
          <a:p>
            <a:pPr algn="l" fontAlgn="base">
              <a:buFont typeface="+mj-lt"/>
              <a:buAutoNum type="arabicPeriod" startAt="19"/>
            </a:pPr>
            <a:r>
              <a:rPr lang="en-IN" b="0" i="0" dirty="0">
                <a:solidFill>
                  <a:srgbClr val="273239"/>
                </a:solidFill>
                <a:effectLst/>
                <a:latin typeface="Nunito" pitchFamily="2" charset="77"/>
              </a:rPr>
              <a:t>In chess game to store </a:t>
            </a:r>
            <a:r>
              <a:rPr lang="en-IN" b="0" i="0" dirty="0" err="1">
                <a:solidFill>
                  <a:srgbClr val="273239"/>
                </a:solidFill>
                <a:effectLst/>
                <a:latin typeface="Nunito" pitchFamily="2" charset="77"/>
              </a:rPr>
              <a:t>defense</a:t>
            </a:r>
            <a:r>
              <a:rPr lang="en-IN" b="0" i="0" dirty="0">
                <a:solidFill>
                  <a:srgbClr val="273239"/>
                </a:solidFill>
                <a:effectLst/>
                <a:latin typeface="Nunito" pitchFamily="2" charset="77"/>
              </a:rPr>
              <a:t> moves of player.</a:t>
            </a:r>
          </a:p>
          <a:p>
            <a:pPr algn="l" fontAlgn="base">
              <a:buFont typeface="+mj-lt"/>
              <a:buAutoNum type="arabicPeriod" startAt="20"/>
            </a:pPr>
            <a:r>
              <a:rPr lang="en-IN" b="0" i="0" dirty="0">
                <a:solidFill>
                  <a:srgbClr val="273239"/>
                </a:solidFill>
                <a:effectLst/>
                <a:latin typeface="Nunito" pitchFamily="2" charset="77"/>
              </a:rPr>
              <a:t>In java virtual machine.</a:t>
            </a:r>
          </a:p>
          <a:p>
            <a:pPr algn="l" fontAlgn="base">
              <a:buFont typeface="+mj-lt"/>
              <a:buAutoNum type="arabicPeriod" startAt="21"/>
            </a:pPr>
            <a:r>
              <a:rPr lang="en-IN" b="0" i="0" dirty="0">
                <a:solidFill>
                  <a:srgbClr val="273239"/>
                </a:solidFill>
                <a:effectLst/>
                <a:latin typeface="Nunito" pitchFamily="2" charset="77"/>
              </a:rPr>
              <a:t>Tree data structures are used to organize and manage files and directories in a file system. Each file and directory is represented as a node in the tree, with parent-child relationships indicating the hierarchical structure of the file system.</a:t>
            </a:r>
          </a:p>
          <a:p>
            <a:pPr algn="l" fontAlgn="base">
              <a:buFont typeface="+mj-lt"/>
              <a:buAutoNum type="arabicPeriod" startAt="22"/>
            </a:pPr>
            <a:r>
              <a:rPr lang="en-IN" b="0" i="0" dirty="0">
                <a:solidFill>
                  <a:srgbClr val="273239"/>
                </a:solidFill>
                <a:effectLst/>
                <a:latin typeface="Nunito" pitchFamily="2" charset="77"/>
              </a:rPr>
              <a:t>Tree data structures are often used in parsing, such as in compilers and interpreters, to represent the structure of a program or a document.</a:t>
            </a:r>
          </a:p>
          <a:p>
            <a:pPr algn="l" fontAlgn="base">
              <a:buFont typeface="+mj-lt"/>
              <a:buAutoNum type="arabicPeriod" startAt="23"/>
            </a:pPr>
            <a:r>
              <a:rPr lang="en-IN" b="0" i="0" dirty="0">
                <a:solidFill>
                  <a:srgbClr val="273239"/>
                </a:solidFill>
                <a:effectLst/>
                <a:latin typeface="Nunito" pitchFamily="2" charset="77"/>
              </a:rPr>
              <a:t>Tree data structures, such as binary search trees, are commonly used to implement efficient searching and sorting algorithms.</a:t>
            </a:r>
          </a:p>
          <a:p>
            <a:pPr algn="l" fontAlgn="base">
              <a:buFont typeface="+mj-lt"/>
              <a:buAutoNum type="arabicPeriod" startAt="24"/>
            </a:pPr>
            <a:r>
              <a:rPr lang="en-IN" b="0" i="0" dirty="0">
                <a:solidFill>
                  <a:srgbClr val="273239"/>
                </a:solidFill>
                <a:effectLst/>
                <a:latin typeface="Nunito" pitchFamily="2" charset="77"/>
              </a:rPr>
              <a:t> Graphics and UI design</a:t>
            </a:r>
          </a:p>
          <a:p>
            <a:pPr algn="l" fontAlgn="base">
              <a:buFont typeface="+mj-lt"/>
              <a:buAutoNum type="arabicPeriod" startAt="25"/>
            </a:pPr>
            <a:r>
              <a:rPr lang="en-IN" b="0" i="0" dirty="0">
                <a:solidFill>
                  <a:srgbClr val="273239"/>
                </a:solidFill>
                <a:effectLst/>
                <a:latin typeface="Nunito" pitchFamily="2" charset="77"/>
              </a:rPr>
              <a:t> Tree data structures are commonly used in decision-making algorithms in artificial intelligence, such as game-playing algorithms, expert systems, and decision trees.</a:t>
            </a:r>
          </a:p>
          <a:p>
            <a:pPr algn="l" fontAlgn="base">
              <a:buFont typeface="+mj-lt"/>
              <a:buAutoNum type="arabicPeriod" startAt="26"/>
            </a:pPr>
            <a:r>
              <a:rPr lang="en-IN" b="0" i="0" dirty="0">
                <a:solidFill>
                  <a:srgbClr val="273239"/>
                </a:solidFill>
                <a:effectLst/>
                <a:latin typeface="Nunito" pitchFamily="2" charset="77"/>
              </a:rPr>
              <a:t>Tree data structures can be used to represent the topology of a network and to calculate routing tables for efficient data transmission.</a:t>
            </a:r>
          </a:p>
          <a:p>
            <a:endParaRPr lang="en-US" dirty="0"/>
          </a:p>
        </p:txBody>
      </p:sp>
    </p:spTree>
    <p:extLst>
      <p:ext uri="{BB962C8B-B14F-4D97-AF65-F5344CB8AC3E}">
        <p14:creationId xmlns:p14="http://schemas.microsoft.com/office/powerpoint/2010/main" val="3863862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2326</TotalTime>
  <Words>2739</Words>
  <Application>Microsoft Macintosh PowerPoint</Application>
  <PresentationFormat>Widescreen</PresentationFormat>
  <Paragraphs>158</Paragraphs>
  <Slides>40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-apple-system</vt:lpstr>
      <vt:lpstr>Aptos</vt:lpstr>
      <vt:lpstr>Aptos Display</vt:lpstr>
      <vt:lpstr>Arial</vt:lpstr>
      <vt:lpstr>Google Sans</vt:lpstr>
      <vt:lpstr>Nunito</vt:lpstr>
      <vt:lpstr>Open Sans</vt:lpstr>
      <vt:lpstr>Source Sans 3</vt:lpstr>
      <vt:lpstr>Office Theme</vt:lpstr>
      <vt:lpstr>General Tree Data Structure</vt:lpstr>
      <vt:lpstr>General Tree</vt:lpstr>
      <vt:lpstr>PowerPoint Presentation</vt:lpstr>
      <vt:lpstr>Tree Abstract Data Type</vt:lpstr>
      <vt:lpstr>PowerPoint Presentation</vt:lpstr>
      <vt:lpstr>Internal (non-leaf) vs External (leaf) nodes</vt:lpstr>
      <vt:lpstr>Height of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Root Node</vt:lpstr>
      <vt:lpstr>Edge</vt:lpstr>
      <vt:lpstr>Parent</vt:lpstr>
      <vt:lpstr>Child Node</vt:lpstr>
      <vt:lpstr>Sibling Nodes</vt:lpstr>
      <vt:lpstr>Leaf Nodes</vt:lpstr>
      <vt:lpstr>PowerPoint Presentation</vt:lpstr>
      <vt:lpstr>Internal Nodes</vt:lpstr>
      <vt:lpstr>PowerPoint Presentation</vt:lpstr>
      <vt:lpstr>Degree on a Node</vt:lpstr>
      <vt:lpstr>PowerPoint Presentation</vt:lpstr>
      <vt:lpstr>Level</vt:lpstr>
      <vt:lpstr>PowerPoint Presentation</vt:lpstr>
      <vt:lpstr>Height</vt:lpstr>
      <vt:lpstr>Depth </vt:lpstr>
      <vt:lpstr>PowerPoint Presentation</vt:lpstr>
      <vt:lpstr>Path</vt:lpstr>
      <vt:lpstr>Sub-Tree</vt:lpstr>
      <vt:lpstr>Terminologies In Tree Data Structure:</vt:lpstr>
      <vt:lpstr>Note in Tree</vt:lpstr>
      <vt:lpstr>Types of Tree Data Structures</vt:lpstr>
      <vt:lpstr>Basic Operations Of Tree Data Structure</vt:lpstr>
      <vt:lpstr>Properties of Tree Data Structure:</vt:lpstr>
      <vt:lpstr>General Applications</vt:lpstr>
      <vt:lpstr>Other Applications of Tree Data Structure</vt:lpstr>
      <vt:lpstr>Other Applications of Tree Data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116</cp:revision>
  <dcterms:created xsi:type="dcterms:W3CDTF">2026-01-15T04:12:31Z</dcterms:created>
  <dcterms:modified xsi:type="dcterms:W3CDTF">2026-03-10T05:10:23Z</dcterms:modified>
</cp:coreProperties>
</file>